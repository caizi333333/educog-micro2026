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rawings/vmlDrawing1.vml" ContentType="application/vnd.openxmlformats-officedocument.vmlDrawing"/>
  <Override PartName="/ppt/drawings/vmlDrawing10.vml" ContentType="application/vnd.openxmlformats-officedocument.vmlDrawing"/>
  <Override PartName="/ppt/drawings/vmlDrawing11.vml" ContentType="application/vnd.openxmlformats-officedocument.vmlDrawing"/>
  <Override PartName="/ppt/drawings/vmlDrawing12.vml" ContentType="application/vnd.openxmlformats-officedocument.vmlDrawing"/>
  <Override PartName="/ppt/drawings/vmlDrawing13.vml" ContentType="application/vnd.openxmlformats-officedocument.vmlDrawing"/>
  <Override PartName="/ppt/drawings/vmlDrawing14.vml" ContentType="application/vnd.openxmlformats-officedocument.vmlDrawing"/>
  <Override PartName="/ppt/drawings/vmlDrawing15.vml" ContentType="application/vnd.openxmlformats-officedocument.vmlDrawing"/>
  <Override PartName="/ppt/drawings/vmlDrawing16.vml" ContentType="application/vnd.openxmlformats-officedocument.vmlDrawing"/>
  <Override PartName="/ppt/drawings/vmlDrawing17.vml" ContentType="application/vnd.openxmlformats-officedocument.vmlDrawing"/>
  <Override PartName="/ppt/drawings/vmlDrawing2.vml" ContentType="application/vnd.openxmlformats-officedocument.vmlDrawing"/>
  <Override PartName="/ppt/drawings/vmlDrawing3.vml" ContentType="application/vnd.openxmlformats-officedocument.vmlDrawing"/>
  <Override PartName="/ppt/drawings/vmlDrawing4.vml" ContentType="application/vnd.openxmlformats-officedocument.vmlDrawing"/>
  <Override PartName="/ppt/drawings/vmlDrawing5.vml" ContentType="application/vnd.openxmlformats-officedocument.vmlDrawing"/>
  <Override PartName="/ppt/drawings/vmlDrawing6.vml" ContentType="application/vnd.openxmlformats-officedocument.vmlDrawing"/>
  <Override PartName="/ppt/drawings/vmlDrawing7.vml" ContentType="application/vnd.openxmlformats-officedocument.vmlDrawing"/>
  <Override PartName="/ppt/drawings/vmlDrawing8.vml" ContentType="application/vnd.openxmlformats-officedocument.vmlDrawing"/>
  <Override PartName="/ppt/drawings/vmlDrawing9.vml" ContentType="application/vnd.openxmlformats-officedocument.vmlDrawing"/>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2" r:id="rId3"/>
    <p:sldMasterId id="2147483675" r:id="rId4"/>
    <p:sldMasterId id="2147483687" r:id="rId5"/>
    <p:sldMasterId id="2147483700" r:id="rId6"/>
    <p:sldMasterId id="2147483714" r:id="rId7"/>
    <p:sldMasterId id="2147483728" r:id="rId8"/>
    <p:sldMasterId id="2147483742" r:id="rId9"/>
    <p:sldMasterId id="2147483755" r:id="rId10"/>
    <p:sldMasterId id="2147483769" r:id="rId11"/>
    <p:sldMasterId id="2147483782" r:id="rId12"/>
    <p:sldMasterId id="2147483796" r:id="rId13"/>
    <p:sldMasterId id="2147483810" r:id="rId14"/>
    <p:sldMasterId id="2147483824" r:id="rId15"/>
  </p:sldMasterIdLst>
  <p:notesMasterIdLst>
    <p:notesMasterId r:id="rId17"/>
  </p:notesMasterIdLst>
  <p:handoutMasterIdLst>
    <p:handoutMasterId r:id="rId149"/>
  </p:handoutMasterIdLst>
  <p:sldIdLst>
    <p:sldId id="1101" r:id="rId16"/>
    <p:sldId id="374" r:id="rId18"/>
    <p:sldId id="744" r:id="rId19"/>
    <p:sldId id="745" r:id="rId20"/>
    <p:sldId id="468" r:id="rId21"/>
    <p:sldId id="532" r:id="rId22"/>
    <p:sldId id="533" r:id="rId23"/>
    <p:sldId id="469" r:id="rId24"/>
    <p:sldId id="537" r:id="rId25"/>
    <p:sldId id="538" r:id="rId26"/>
    <p:sldId id="470" r:id="rId27"/>
    <p:sldId id="639" r:id="rId28"/>
    <p:sldId id="640" r:id="rId29"/>
    <p:sldId id="641" r:id="rId30"/>
    <p:sldId id="642" r:id="rId31"/>
    <p:sldId id="643" r:id="rId32"/>
    <p:sldId id="644" r:id="rId33"/>
    <p:sldId id="645" r:id="rId34"/>
    <p:sldId id="413" r:id="rId35"/>
    <p:sldId id="535" r:id="rId36"/>
    <p:sldId id="414" r:id="rId37"/>
    <p:sldId id="471" r:id="rId38"/>
    <p:sldId id="536" r:id="rId39"/>
    <p:sldId id="419" r:id="rId40"/>
    <p:sldId id="473" r:id="rId41"/>
    <p:sldId id="420" r:id="rId42"/>
    <p:sldId id="474" r:id="rId43"/>
    <p:sldId id="415" r:id="rId44"/>
    <p:sldId id="476" r:id="rId45"/>
    <p:sldId id="1102" r:id="rId154"/>
    <p:sldId id="417" r:id="rId46"/>
    <p:sldId id="475" r:id="rId47"/>
    <p:sldId id="477" r:id="rId48"/>
    <p:sldId id="1103" r:id="rId155"/>
    <p:sldId id="859" r:id="rId49"/>
    <p:sldId id="858" r:id="rId50"/>
    <p:sldId id="416" r:id="rId51"/>
    <p:sldId id="418" r:id="rId52"/>
    <p:sldId id="421" r:id="rId53"/>
    <p:sldId id="422" r:id="rId54"/>
    <p:sldId id="480" r:id="rId55"/>
    <p:sldId id="481" r:id="rId56"/>
    <p:sldId id="482" r:id="rId57"/>
    <p:sldId id="483" r:id="rId58"/>
    <p:sldId id="484" r:id="rId59"/>
    <p:sldId id="485" r:id="rId60"/>
    <p:sldId id="860" r:id="rId61"/>
    <p:sldId id="486" r:id="rId62"/>
    <p:sldId id="487" r:id="rId63"/>
    <p:sldId id="488" r:id="rId64"/>
    <p:sldId id="490" r:id="rId65"/>
    <p:sldId id="489" r:id="rId66"/>
    <p:sldId id="946" r:id="rId67"/>
    <p:sldId id="429" r:id="rId68"/>
    <p:sldId id="430" r:id="rId69"/>
    <p:sldId id="425" r:id="rId70"/>
    <p:sldId id="491" r:id="rId71"/>
    <p:sldId id="947" r:id="rId72"/>
    <p:sldId id="540" r:id="rId73"/>
    <p:sldId id="539" r:id="rId74"/>
    <p:sldId id="494" r:id="rId75"/>
    <p:sldId id="495" r:id="rId76"/>
    <p:sldId id="496" r:id="rId77"/>
    <p:sldId id="427" r:id="rId78"/>
    <p:sldId id="431" r:id="rId79"/>
    <p:sldId id="432" r:id="rId80"/>
    <p:sldId id="953" r:id="rId81"/>
    <p:sldId id="951" r:id="rId82"/>
    <p:sldId id="952" r:id="rId83"/>
    <p:sldId id="955" r:id="rId84"/>
    <p:sldId id="1018" r:id="rId85"/>
    <p:sldId id="1019" r:id="rId86"/>
    <p:sldId id="433" r:id="rId87"/>
    <p:sldId id="434" r:id="rId88"/>
    <p:sldId id="436" r:id="rId89"/>
    <p:sldId id="498" r:id="rId90"/>
    <p:sldId id="437" r:id="rId91"/>
    <p:sldId id="438" r:id="rId92"/>
    <p:sldId id="439" r:id="rId93"/>
    <p:sldId id="948" r:id="rId94"/>
    <p:sldId id="949" r:id="rId95"/>
    <p:sldId id="445" r:id="rId96"/>
    <p:sldId id="950" r:id="rId97"/>
    <p:sldId id="440" r:id="rId98"/>
    <p:sldId id="441" r:id="rId99"/>
    <p:sldId id="442" r:id="rId100"/>
    <p:sldId id="501" r:id="rId101"/>
    <p:sldId id="502" r:id="rId102"/>
    <p:sldId id="503" r:id="rId103"/>
    <p:sldId id="504" r:id="rId104"/>
    <p:sldId id="448" r:id="rId105"/>
    <p:sldId id="506" r:id="rId106"/>
    <p:sldId id="507" r:id="rId107"/>
    <p:sldId id="508" r:id="rId108"/>
    <p:sldId id="509" r:id="rId109"/>
    <p:sldId id="449" r:id="rId110"/>
    <p:sldId id="1029" r:id="rId111"/>
    <p:sldId id="510" r:id="rId112"/>
    <p:sldId id="511" r:id="rId113"/>
    <p:sldId id="512" r:id="rId114"/>
    <p:sldId id="513" r:id="rId115"/>
    <p:sldId id="514" r:id="rId116"/>
    <p:sldId id="515" r:id="rId117"/>
    <p:sldId id="1025" r:id="rId118"/>
    <p:sldId id="1026" r:id="rId119"/>
    <p:sldId id="454" r:id="rId120"/>
    <p:sldId id="455" r:id="rId121"/>
    <p:sldId id="456" r:id="rId122"/>
    <p:sldId id="457" r:id="rId123"/>
    <p:sldId id="458" r:id="rId124"/>
    <p:sldId id="459" r:id="rId125"/>
    <p:sldId id="460" r:id="rId126"/>
    <p:sldId id="1027" r:id="rId127"/>
    <p:sldId id="462" r:id="rId128"/>
    <p:sldId id="527" r:id="rId129"/>
    <p:sldId id="541" r:id="rId130"/>
    <p:sldId id="464" r:id="rId131"/>
    <p:sldId id="542" r:id="rId132"/>
    <p:sldId id="543" r:id="rId133"/>
    <p:sldId id="1020" r:id="rId134"/>
    <p:sldId id="1021" r:id="rId135"/>
    <p:sldId id="1022" r:id="rId136"/>
    <p:sldId id="1023" r:id="rId137"/>
    <p:sldId id="1024" r:id="rId138"/>
    <p:sldId id="1090" r:id="rId139"/>
    <p:sldId id="466" r:id="rId140"/>
    <p:sldId id="530" r:id="rId141"/>
    <p:sldId id="531" r:id="rId142"/>
    <p:sldId id="1077" r:id="rId143"/>
    <p:sldId id="1078" r:id="rId144"/>
    <p:sldId id="1079" r:id="rId145"/>
    <p:sldId id="1080" r:id="rId146"/>
    <p:sldId id="1081" r:id="rId147"/>
    <p:sldId id="1082" r:id="rId148"/>
  </p:sldIdLst>
  <p:sldSz cx="9144000" cy="6858000" type="screen4x3"/>
  <p:notesSz cx="6858000" cy="9144000"/>
  <p:custDataLst>
    <p:tags r:id="rId153"/>
  </p:custDataLst>
  <p:defaultTextStyle>
    <a:defPPr>
      <a:defRPr lang="zh-CN"/>
    </a:defPPr>
    <a:lvl1pPr marL="0" lvl="0" indent="0" algn="l" defTabSz="914400" rtl="0" eaLnBrk="1" fontAlgn="base" latinLnBrk="0" hangingPunct="1">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1pPr>
    <a:lvl2pPr marL="457200" lvl="1" indent="0" algn="l" defTabSz="914400" rtl="0" eaLnBrk="1" fontAlgn="base" latinLnBrk="0" hangingPunct="1">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2pPr>
    <a:lvl3pPr marL="914400" lvl="2" indent="0" algn="l" defTabSz="914400" rtl="0" eaLnBrk="1" fontAlgn="base" latinLnBrk="0" hangingPunct="1">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3pPr>
    <a:lvl4pPr marL="1371600" lvl="3" indent="0" algn="l" defTabSz="914400" rtl="0" eaLnBrk="1" fontAlgn="base" latinLnBrk="0" hangingPunct="1">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4pPr>
    <a:lvl5pPr marL="1828800" lvl="4" indent="0" algn="l" defTabSz="914400" rtl="0" eaLnBrk="1" fontAlgn="base" latinLnBrk="0" hangingPunct="1">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5pPr>
    <a:lvl6pPr marL="2286000" lvl="5" indent="0" algn="l" defTabSz="914400" rtl="0" eaLnBrk="1" fontAlgn="base" latinLnBrk="0" hangingPunct="1">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6pPr>
    <a:lvl7pPr marL="2743200" lvl="6" indent="0" algn="l" defTabSz="914400" rtl="0" eaLnBrk="1" fontAlgn="base" latinLnBrk="0" hangingPunct="1">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7pPr>
    <a:lvl8pPr marL="3200400" lvl="7" indent="0" algn="l" defTabSz="914400" rtl="0" eaLnBrk="1" fontAlgn="base" latinLnBrk="0" hangingPunct="1">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8pPr>
    <a:lvl9pPr marL="3657600" lvl="8" indent="0" algn="l" defTabSz="914400" rtl="0" eaLnBrk="1" fontAlgn="base" latinLnBrk="0" hangingPunct="1">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9pPr>
  </p:defaultTextStyle>
  <p:extLst>
    <p:ext uri="{EFAFB233-063F-42B5-8137-9DF3F51BA10A}">
      <p15:sldGuideLst xmlns:p15="http://schemas.microsoft.com/office/powerpoint/2012/main">
        <p15:guide id="1" orient="horz" pos="2072" userDrawn="1">
          <p15:clr>
            <a:srgbClr val="A4A3A4"/>
          </p15:clr>
        </p15:guide>
        <p15:guide id="2" pos="289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66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462"/>
    <p:restoredTop sz="94529"/>
  </p:normalViewPr>
  <p:slideViewPr>
    <p:cSldViewPr showGuides="1">
      <p:cViewPr>
        <p:scale>
          <a:sx n="75" d="100"/>
          <a:sy n="75" d="100"/>
        </p:scale>
        <p:origin x="-1752" y="-198"/>
      </p:cViewPr>
      <p:guideLst>
        <p:guide orient="horz" pos="2072"/>
        <p:guide pos="2895"/>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 Target="slides/slide1.xml"/><Relationship Id="rId17" Type="http://schemas.openxmlformats.org/officeDocument/2006/relationships/notesMaster" Target="notesMasters/notesMaster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 Id="rId23" Type="http://schemas.openxmlformats.org/officeDocument/2006/relationships/slide" Target="slides/slide7.xml"/><Relationship Id="rId24" Type="http://schemas.openxmlformats.org/officeDocument/2006/relationships/slide" Target="slides/slide8.xml"/><Relationship Id="rId25" Type="http://schemas.openxmlformats.org/officeDocument/2006/relationships/slide" Target="slides/slide9.xml"/><Relationship Id="rId26" Type="http://schemas.openxmlformats.org/officeDocument/2006/relationships/slide" Target="slides/slide10.xml"/><Relationship Id="rId27" Type="http://schemas.openxmlformats.org/officeDocument/2006/relationships/slide" Target="slides/slide11.xml"/><Relationship Id="rId28" Type="http://schemas.openxmlformats.org/officeDocument/2006/relationships/slide" Target="slides/slide12.xml"/><Relationship Id="rId29" Type="http://schemas.openxmlformats.org/officeDocument/2006/relationships/slide" Target="slides/slide13.xml"/><Relationship Id="rId30" Type="http://schemas.openxmlformats.org/officeDocument/2006/relationships/slide" Target="slides/slide14.xml"/><Relationship Id="rId31" Type="http://schemas.openxmlformats.org/officeDocument/2006/relationships/slide" Target="slides/slide15.xml"/><Relationship Id="rId32" Type="http://schemas.openxmlformats.org/officeDocument/2006/relationships/slide" Target="slides/slide16.xml"/><Relationship Id="rId33" Type="http://schemas.openxmlformats.org/officeDocument/2006/relationships/slide" Target="slides/slide17.xml"/><Relationship Id="rId34" Type="http://schemas.openxmlformats.org/officeDocument/2006/relationships/slide" Target="slides/slide18.xml"/><Relationship Id="rId35" Type="http://schemas.openxmlformats.org/officeDocument/2006/relationships/slide" Target="slides/slide19.xml"/><Relationship Id="rId36" Type="http://schemas.openxmlformats.org/officeDocument/2006/relationships/slide" Target="slides/slide20.xml"/><Relationship Id="rId37" Type="http://schemas.openxmlformats.org/officeDocument/2006/relationships/slide" Target="slides/slide21.xml"/><Relationship Id="rId38" Type="http://schemas.openxmlformats.org/officeDocument/2006/relationships/slide" Target="slides/slide22.xml"/><Relationship Id="rId39" Type="http://schemas.openxmlformats.org/officeDocument/2006/relationships/slide" Target="slides/slide23.xml"/><Relationship Id="rId40" Type="http://schemas.openxmlformats.org/officeDocument/2006/relationships/slide" Target="slides/slide24.xml"/><Relationship Id="rId41" Type="http://schemas.openxmlformats.org/officeDocument/2006/relationships/slide" Target="slides/slide25.xml"/><Relationship Id="rId42" Type="http://schemas.openxmlformats.org/officeDocument/2006/relationships/slide" Target="slides/slide26.xml"/><Relationship Id="rId43" Type="http://schemas.openxmlformats.org/officeDocument/2006/relationships/slide" Target="slides/slide27.xml"/><Relationship Id="rId44" Type="http://schemas.openxmlformats.org/officeDocument/2006/relationships/slide" Target="slides/slide28.xml"/><Relationship Id="rId45" Type="http://schemas.openxmlformats.org/officeDocument/2006/relationships/slide" Target="slides/slide29.xml"/><Relationship Id="rId46" Type="http://schemas.openxmlformats.org/officeDocument/2006/relationships/slide" Target="slides/slide30.xml"/><Relationship Id="rId47" Type="http://schemas.openxmlformats.org/officeDocument/2006/relationships/slide" Target="slides/slide31.xml"/><Relationship Id="rId48" Type="http://schemas.openxmlformats.org/officeDocument/2006/relationships/slide" Target="slides/slide32.xml"/><Relationship Id="rId49" Type="http://schemas.openxmlformats.org/officeDocument/2006/relationships/slide" Target="slides/slide33.xml"/><Relationship Id="rId50" Type="http://schemas.openxmlformats.org/officeDocument/2006/relationships/slide" Target="slides/slide34.xml"/><Relationship Id="rId51" Type="http://schemas.openxmlformats.org/officeDocument/2006/relationships/slide" Target="slides/slide35.xml"/><Relationship Id="rId52" Type="http://schemas.openxmlformats.org/officeDocument/2006/relationships/slide" Target="slides/slide36.xml"/><Relationship Id="rId53" Type="http://schemas.openxmlformats.org/officeDocument/2006/relationships/slide" Target="slides/slide37.xml"/><Relationship Id="rId54" Type="http://schemas.openxmlformats.org/officeDocument/2006/relationships/slide" Target="slides/slide38.xml"/><Relationship Id="rId55" Type="http://schemas.openxmlformats.org/officeDocument/2006/relationships/slide" Target="slides/slide39.xml"/><Relationship Id="rId56" Type="http://schemas.openxmlformats.org/officeDocument/2006/relationships/slide" Target="slides/slide40.xml"/><Relationship Id="rId57" Type="http://schemas.openxmlformats.org/officeDocument/2006/relationships/slide" Target="slides/slide41.xml"/><Relationship Id="rId58" Type="http://schemas.openxmlformats.org/officeDocument/2006/relationships/slide" Target="slides/slide42.xml"/><Relationship Id="rId59" Type="http://schemas.openxmlformats.org/officeDocument/2006/relationships/slide" Target="slides/slide43.xml"/><Relationship Id="rId60" Type="http://schemas.openxmlformats.org/officeDocument/2006/relationships/slide" Target="slides/slide44.xml"/><Relationship Id="rId61" Type="http://schemas.openxmlformats.org/officeDocument/2006/relationships/slide" Target="slides/slide45.xml"/><Relationship Id="rId62" Type="http://schemas.openxmlformats.org/officeDocument/2006/relationships/slide" Target="slides/slide46.xml"/><Relationship Id="rId63" Type="http://schemas.openxmlformats.org/officeDocument/2006/relationships/slide" Target="slides/slide47.xml"/><Relationship Id="rId64" Type="http://schemas.openxmlformats.org/officeDocument/2006/relationships/slide" Target="slides/slide48.xml"/><Relationship Id="rId65" Type="http://schemas.openxmlformats.org/officeDocument/2006/relationships/slide" Target="slides/slide49.xml"/><Relationship Id="rId66" Type="http://schemas.openxmlformats.org/officeDocument/2006/relationships/slide" Target="slides/slide50.xml"/><Relationship Id="rId67" Type="http://schemas.openxmlformats.org/officeDocument/2006/relationships/slide" Target="slides/slide51.xml"/><Relationship Id="rId68" Type="http://schemas.openxmlformats.org/officeDocument/2006/relationships/slide" Target="slides/slide52.xml"/><Relationship Id="rId69" Type="http://schemas.openxmlformats.org/officeDocument/2006/relationships/slide" Target="slides/slide53.xml"/><Relationship Id="rId70" Type="http://schemas.openxmlformats.org/officeDocument/2006/relationships/slide" Target="slides/slide54.xml"/><Relationship Id="rId71" Type="http://schemas.openxmlformats.org/officeDocument/2006/relationships/slide" Target="slides/slide55.xml"/><Relationship Id="rId72" Type="http://schemas.openxmlformats.org/officeDocument/2006/relationships/slide" Target="slides/slide56.xml"/><Relationship Id="rId73" Type="http://schemas.openxmlformats.org/officeDocument/2006/relationships/slide" Target="slides/slide57.xml"/><Relationship Id="rId74" Type="http://schemas.openxmlformats.org/officeDocument/2006/relationships/slide" Target="slides/slide58.xml"/><Relationship Id="rId75" Type="http://schemas.openxmlformats.org/officeDocument/2006/relationships/slide" Target="slides/slide59.xml"/><Relationship Id="rId76" Type="http://schemas.openxmlformats.org/officeDocument/2006/relationships/slide" Target="slides/slide60.xml"/><Relationship Id="rId77" Type="http://schemas.openxmlformats.org/officeDocument/2006/relationships/slide" Target="slides/slide61.xml"/><Relationship Id="rId78" Type="http://schemas.openxmlformats.org/officeDocument/2006/relationships/slide" Target="slides/slide62.xml"/><Relationship Id="rId79" Type="http://schemas.openxmlformats.org/officeDocument/2006/relationships/slide" Target="slides/slide63.xml"/><Relationship Id="rId80" Type="http://schemas.openxmlformats.org/officeDocument/2006/relationships/slide" Target="slides/slide64.xml"/><Relationship Id="rId81" Type="http://schemas.openxmlformats.org/officeDocument/2006/relationships/slide" Target="slides/slide65.xml"/><Relationship Id="rId82" Type="http://schemas.openxmlformats.org/officeDocument/2006/relationships/slide" Target="slides/slide66.xml"/><Relationship Id="rId83" Type="http://schemas.openxmlformats.org/officeDocument/2006/relationships/slide" Target="slides/slide67.xml"/><Relationship Id="rId84" Type="http://schemas.openxmlformats.org/officeDocument/2006/relationships/slide" Target="slides/slide68.xml"/><Relationship Id="rId85" Type="http://schemas.openxmlformats.org/officeDocument/2006/relationships/slide" Target="slides/slide69.xml"/><Relationship Id="rId86" Type="http://schemas.openxmlformats.org/officeDocument/2006/relationships/slide" Target="slides/slide70.xml"/><Relationship Id="rId87" Type="http://schemas.openxmlformats.org/officeDocument/2006/relationships/slide" Target="slides/slide71.xml"/><Relationship Id="rId88" Type="http://schemas.openxmlformats.org/officeDocument/2006/relationships/slide" Target="slides/slide72.xml"/><Relationship Id="rId89" Type="http://schemas.openxmlformats.org/officeDocument/2006/relationships/slide" Target="slides/slide73.xml"/><Relationship Id="rId90" Type="http://schemas.openxmlformats.org/officeDocument/2006/relationships/slide" Target="slides/slide74.xml"/><Relationship Id="rId91" Type="http://schemas.openxmlformats.org/officeDocument/2006/relationships/slide" Target="slides/slide75.xml"/><Relationship Id="rId92" Type="http://schemas.openxmlformats.org/officeDocument/2006/relationships/slide" Target="slides/slide76.xml"/><Relationship Id="rId93" Type="http://schemas.openxmlformats.org/officeDocument/2006/relationships/slide" Target="slides/slide77.xml"/><Relationship Id="rId94" Type="http://schemas.openxmlformats.org/officeDocument/2006/relationships/slide" Target="slides/slide78.xml"/><Relationship Id="rId95" Type="http://schemas.openxmlformats.org/officeDocument/2006/relationships/slide" Target="slides/slide79.xml"/><Relationship Id="rId96" Type="http://schemas.openxmlformats.org/officeDocument/2006/relationships/slide" Target="slides/slide80.xml"/><Relationship Id="rId97" Type="http://schemas.openxmlformats.org/officeDocument/2006/relationships/slide" Target="slides/slide81.xml"/><Relationship Id="rId98" Type="http://schemas.openxmlformats.org/officeDocument/2006/relationships/slide" Target="slides/slide82.xml"/><Relationship Id="rId99" Type="http://schemas.openxmlformats.org/officeDocument/2006/relationships/slide" Target="slides/slide83.xml"/><Relationship Id="rId100" Type="http://schemas.openxmlformats.org/officeDocument/2006/relationships/slide" Target="slides/slide84.xml"/><Relationship Id="rId101" Type="http://schemas.openxmlformats.org/officeDocument/2006/relationships/slide" Target="slides/slide85.xml"/><Relationship Id="rId102" Type="http://schemas.openxmlformats.org/officeDocument/2006/relationships/slide" Target="slides/slide86.xml"/><Relationship Id="rId103" Type="http://schemas.openxmlformats.org/officeDocument/2006/relationships/slide" Target="slides/slide87.xml"/><Relationship Id="rId104" Type="http://schemas.openxmlformats.org/officeDocument/2006/relationships/slide" Target="slides/slide88.xml"/><Relationship Id="rId105" Type="http://schemas.openxmlformats.org/officeDocument/2006/relationships/slide" Target="slides/slide89.xml"/><Relationship Id="rId106" Type="http://schemas.openxmlformats.org/officeDocument/2006/relationships/slide" Target="slides/slide90.xml"/><Relationship Id="rId107" Type="http://schemas.openxmlformats.org/officeDocument/2006/relationships/slide" Target="slides/slide91.xml"/><Relationship Id="rId108" Type="http://schemas.openxmlformats.org/officeDocument/2006/relationships/slide" Target="slides/slide92.xml"/><Relationship Id="rId109" Type="http://schemas.openxmlformats.org/officeDocument/2006/relationships/slide" Target="slides/slide93.xml"/><Relationship Id="rId110" Type="http://schemas.openxmlformats.org/officeDocument/2006/relationships/slide" Target="slides/slide94.xml"/><Relationship Id="rId111" Type="http://schemas.openxmlformats.org/officeDocument/2006/relationships/slide" Target="slides/slide95.xml"/><Relationship Id="rId112" Type="http://schemas.openxmlformats.org/officeDocument/2006/relationships/slide" Target="slides/slide96.xml"/><Relationship Id="rId113" Type="http://schemas.openxmlformats.org/officeDocument/2006/relationships/slide" Target="slides/slide97.xml"/><Relationship Id="rId114" Type="http://schemas.openxmlformats.org/officeDocument/2006/relationships/slide" Target="slides/slide98.xml"/><Relationship Id="rId115" Type="http://schemas.openxmlformats.org/officeDocument/2006/relationships/slide" Target="slides/slide99.xml"/><Relationship Id="rId116" Type="http://schemas.openxmlformats.org/officeDocument/2006/relationships/slide" Target="slides/slide100.xml"/><Relationship Id="rId117" Type="http://schemas.openxmlformats.org/officeDocument/2006/relationships/slide" Target="slides/slide101.xml"/><Relationship Id="rId118" Type="http://schemas.openxmlformats.org/officeDocument/2006/relationships/slide" Target="slides/slide102.xml"/><Relationship Id="rId119" Type="http://schemas.openxmlformats.org/officeDocument/2006/relationships/slide" Target="slides/slide103.xml"/><Relationship Id="rId120" Type="http://schemas.openxmlformats.org/officeDocument/2006/relationships/slide" Target="slides/slide104.xml"/><Relationship Id="rId121" Type="http://schemas.openxmlformats.org/officeDocument/2006/relationships/slide" Target="slides/slide105.xml"/><Relationship Id="rId122" Type="http://schemas.openxmlformats.org/officeDocument/2006/relationships/slide" Target="slides/slide106.xml"/><Relationship Id="rId123" Type="http://schemas.openxmlformats.org/officeDocument/2006/relationships/slide" Target="slides/slide107.xml"/><Relationship Id="rId124" Type="http://schemas.openxmlformats.org/officeDocument/2006/relationships/slide" Target="slides/slide108.xml"/><Relationship Id="rId125" Type="http://schemas.openxmlformats.org/officeDocument/2006/relationships/slide" Target="slides/slide109.xml"/><Relationship Id="rId126" Type="http://schemas.openxmlformats.org/officeDocument/2006/relationships/slide" Target="slides/slide110.xml"/><Relationship Id="rId127" Type="http://schemas.openxmlformats.org/officeDocument/2006/relationships/slide" Target="slides/slide111.xml"/><Relationship Id="rId128" Type="http://schemas.openxmlformats.org/officeDocument/2006/relationships/slide" Target="slides/slide112.xml"/><Relationship Id="rId129" Type="http://schemas.openxmlformats.org/officeDocument/2006/relationships/slide" Target="slides/slide113.xml"/><Relationship Id="rId130" Type="http://schemas.openxmlformats.org/officeDocument/2006/relationships/slide" Target="slides/slide114.xml"/><Relationship Id="rId131" Type="http://schemas.openxmlformats.org/officeDocument/2006/relationships/slide" Target="slides/slide115.xml"/><Relationship Id="rId132" Type="http://schemas.openxmlformats.org/officeDocument/2006/relationships/slide" Target="slides/slide116.xml"/><Relationship Id="rId133" Type="http://schemas.openxmlformats.org/officeDocument/2006/relationships/slide" Target="slides/slide117.xml"/><Relationship Id="rId134" Type="http://schemas.openxmlformats.org/officeDocument/2006/relationships/slide" Target="slides/slide118.xml"/><Relationship Id="rId135" Type="http://schemas.openxmlformats.org/officeDocument/2006/relationships/slide" Target="slides/slide119.xml"/><Relationship Id="rId136" Type="http://schemas.openxmlformats.org/officeDocument/2006/relationships/slide" Target="slides/slide120.xml"/><Relationship Id="rId137" Type="http://schemas.openxmlformats.org/officeDocument/2006/relationships/slide" Target="slides/slide121.xml"/><Relationship Id="rId138" Type="http://schemas.openxmlformats.org/officeDocument/2006/relationships/slide" Target="slides/slide122.xml"/><Relationship Id="rId139" Type="http://schemas.openxmlformats.org/officeDocument/2006/relationships/slide" Target="slides/slide123.xml"/><Relationship Id="rId140" Type="http://schemas.openxmlformats.org/officeDocument/2006/relationships/slide" Target="slides/slide124.xml"/><Relationship Id="rId141" Type="http://schemas.openxmlformats.org/officeDocument/2006/relationships/slide" Target="slides/slide125.xml"/><Relationship Id="rId142" Type="http://schemas.openxmlformats.org/officeDocument/2006/relationships/slide" Target="slides/slide126.xml"/><Relationship Id="rId143" Type="http://schemas.openxmlformats.org/officeDocument/2006/relationships/slide" Target="slides/slide127.xml"/><Relationship Id="rId144" Type="http://schemas.openxmlformats.org/officeDocument/2006/relationships/slide" Target="slides/slide128.xml"/><Relationship Id="rId145" Type="http://schemas.openxmlformats.org/officeDocument/2006/relationships/slide" Target="slides/slide129.xml"/><Relationship Id="rId146" Type="http://schemas.openxmlformats.org/officeDocument/2006/relationships/slide" Target="slides/slide130.xml"/><Relationship Id="rId147" Type="http://schemas.openxmlformats.org/officeDocument/2006/relationships/slide" Target="slides/slide131.xml"/><Relationship Id="rId148" Type="http://schemas.openxmlformats.org/officeDocument/2006/relationships/slide" Target="slides/slide132.xml"/><Relationship Id="rId149" Type="http://schemas.openxmlformats.org/officeDocument/2006/relationships/handoutMaster" Target="handoutMasters/handoutMaster1.xml"/><Relationship Id="rId150" Type="http://schemas.openxmlformats.org/officeDocument/2006/relationships/presProps" Target="presProps.xml"/><Relationship Id="rId151" Type="http://schemas.openxmlformats.org/officeDocument/2006/relationships/viewProps" Target="viewProps.xml"/><Relationship Id="rId152" Type="http://schemas.openxmlformats.org/officeDocument/2006/relationships/tableStyles" Target="tableStyles.xml"/><Relationship Id="rId153" Type="http://schemas.openxmlformats.org/officeDocument/2006/relationships/tags" Target="tags/tag1.xml"/><Relationship Id="rId154" Type="http://schemas.openxmlformats.org/officeDocument/2006/relationships/slide" Target="slides/slide133.xml"/><Relationship Id="rId155" Type="http://schemas.openxmlformats.org/officeDocument/2006/relationships/slide" Target="slides/slide13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6.emf"/><Relationship Id="rId2" Type="http://schemas.openxmlformats.org/officeDocument/2006/relationships/image" Target="../media/image17.emf"/><Relationship Id="rId3" Type="http://schemas.openxmlformats.org/officeDocument/2006/relationships/image" Target="../media/image18.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6.wmf"/><Relationship Id="rId2" Type="http://schemas.openxmlformats.org/officeDocument/2006/relationships/image" Target="../media/image27.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9.wmf"/><Relationship Id="rId2" Type="http://schemas.openxmlformats.org/officeDocument/2006/relationships/image" Target="../media/image30.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945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spcBef>
                <a:spcPct val="0"/>
              </a:spcBef>
              <a:buClrTx/>
              <a:buFontTx/>
              <a:buNone/>
              <a:defRPr sz="1200" b="0">
                <a:ea typeface="宋体"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9459"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buClrTx/>
              <a:buFontTx/>
              <a:buNone/>
              <a:defRPr sz="1200" b="0">
                <a:ea typeface="宋体"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1A77E61-37CF-4C97-BAB5-6BFA35675C22}"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9460"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spcBef>
                <a:spcPct val="0"/>
              </a:spcBef>
              <a:buClrTx/>
              <a:buFontTx/>
              <a:buNone/>
              <a:defRPr sz="1200" b="0">
                <a:ea typeface="宋体"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9461"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fontAlgn="base" hangingPunct="1">
              <a:buClrTx/>
              <a:buFontTx/>
              <a:buNone/>
            </a:pPr>
            <a:fld id="{9A0DB2DC-4C9A-4742-B13C-FB6460FD3503}" type="slidenum">
              <a:rPr lang="en-US" altLang="zh-CN" sz="1200" b="0" strike="noStrike" noProof="1" dirty="0">
                <a:latin typeface="Times New Roman" panose="02020503050405090304" pitchFamily="18" charset="0"/>
                <a:ea typeface="宋体" pitchFamily="2" charset="-122"/>
                <a:cs typeface="+mn-cs"/>
              </a:rPr>
            </a:fld>
            <a:endParaRPr lang="en-US" altLang="zh-CN" sz="1200" b="0" strike="noStrike" noProof="1" dirty="0">
              <a:ea typeface="宋体"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741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spcBef>
                <a:spcPct val="0"/>
              </a:spcBef>
              <a:buClrTx/>
              <a:buFontTx/>
              <a:buNone/>
              <a:defRPr sz="1200" b="0">
                <a:ea typeface="宋体"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7411"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buClrTx/>
              <a:buFontTx/>
              <a:buNone/>
              <a:defRPr sz="1200" b="0">
                <a:ea typeface="宋体"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28676" name="Rectangle 4"/>
          <p:cNvSpPr>
            <a:spLocks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7413"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dirty="0" smtClean="0">
                <a:ln>
                  <a:noFill/>
                </a:ln>
                <a:solidFill>
                  <a:schemeClr val="tx1"/>
                </a:solidFill>
                <a:effectLst/>
                <a:uLnTx/>
                <a:uFillTx/>
                <a:latin typeface="Times New Roman" panose="02020503050405090304" pitchFamily="18" charset="0"/>
                <a:ea typeface="宋体" pitchFamily="2" charset="-122"/>
                <a:cs typeface="+mn-cs"/>
              </a:rPr>
              <a:t>单击此处编辑母版文本样式</a:t>
            </a:r>
            <a:endParaRPr kumimoji="1" lang="zh-CN" altLang="en-US" sz="1200" b="0" i="0" u="none" strike="noStrike" kern="1200" cap="none" spc="0" normalizeH="0" baseline="0" noProof="0" dirty="0" smtClean="0">
              <a:ln>
                <a:noFill/>
              </a:ln>
              <a:solidFill>
                <a:schemeClr val="tx1"/>
              </a:solidFill>
              <a:effectLst/>
              <a:uLnTx/>
              <a:uFillTx/>
              <a:latin typeface="Times New Roman" panose="02020503050405090304" pitchFamily="18" charset="0"/>
              <a:ea typeface="宋体"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dirty="0" smtClean="0">
                <a:ln>
                  <a:noFill/>
                </a:ln>
                <a:solidFill>
                  <a:schemeClr val="tx1"/>
                </a:solidFill>
                <a:effectLst/>
                <a:uLnTx/>
                <a:uFillTx/>
                <a:latin typeface="Times New Roman" panose="02020503050405090304" pitchFamily="18" charset="0"/>
                <a:ea typeface="宋体" pitchFamily="2" charset="-122"/>
                <a:cs typeface="+mn-cs"/>
              </a:rPr>
              <a:t>第二级</a:t>
            </a:r>
            <a:endParaRPr kumimoji="1" lang="zh-CN" altLang="en-US" sz="1200" b="0" i="0" u="none" strike="noStrike" kern="1200" cap="none" spc="0" normalizeH="0" baseline="0" noProof="0" dirty="0" smtClean="0">
              <a:ln>
                <a:noFill/>
              </a:ln>
              <a:solidFill>
                <a:schemeClr val="tx1"/>
              </a:solidFill>
              <a:effectLst/>
              <a:uLnTx/>
              <a:uFillTx/>
              <a:latin typeface="Times New Roman" panose="02020503050405090304" pitchFamily="18" charset="0"/>
              <a:ea typeface="宋体"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dirty="0" smtClean="0">
                <a:ln>
                  <a:noFill/>
                </a:ln>
                <a:solidFill>
                  <a:schemeClr val="tx1"/>
                </a:solidFill>
                <a:effectLst/>
                <a:uLnTx/>
                <a:uFillTx/>
                <a:latin typeface="Times New Roman" panose="02020503050405090304" pitchFamily="18" charset="0"/>
                <a:ea typeface="宋体" pitchFamily="2" charset="-122"/>
                <a:cs typeface="+mn-cs"/>
              </a:rPr>
              <a:t>第三级</a:t>
            </a:r>
            <a:endParaRPr kumimoji="1" lang="zh-CN" altLang="en-US" sz="1200" b="0" i="0" u="none" strike="noStrike" kern="1200" cap="none" spc="0" normalizeH="0" baseline="0" noProof="0" dirty="0" smtClean="0">
              <a:ln>
                <a:noFill/>
              </a:ln>
              <a:solidFill>
                <a:schemeClr val="tx1"/>
              </a:solidFill>
              <a:effectLst/>
              <a:uLnTx/>
              <a:uFillTx/>
              <a:latin typeface="Times New Roman" panose="02020503050405090304" pitchFamily="18" charset="0"/>
              <a:ea typeface="宋体"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dirty="0" smtClean="0">
                <a:ln>
                  <a:noFill/>
                </a:ln>
                <a:solidFill>
                  <a:schemeClr val="tx1"/>
                </a:solidFill>
                <a:effectLst/>
                <a:uLnTx/>
                <a:uFillTx/>
                <a:latin typeface="Times New Roman" panose="02020503050405090304" pitchFamily="18" charset="0"/>
                <a:ea typeface="宋体" pitchFamily="2" charset="-122"/>
                <a:cs typeface="+mn-cs"/>
              </a:rPr>
              <a:t>第四级</a:t>
            </a:r>
            <a:endParaRPr kumimoji="1" lang="zh-CN" altLang="en-US" sz="1200" b="0" i="0" u="none" strike="noStrike" kern="1200" cap="none" spc="0" normalizeH="0" baseline="0" noProof="0" dirty="0" smtClean="0">
              <a:ln>
                <a:noFill/>
              </a:ln>
              <a:solidFill>
                <a:schemeClr val="tx1"/>
              </a:solidFill>
              <a:effectLst/>
              <a:uLnTx/>
              <a:uFillTx/>
              <a:latin typeface="Times New Roman" panose="02020503050405090304" pitchFamily="18" charset="0"/>
              <a:ea typeface="宋体"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dirty="0" smtClean="0">
                <a:ln>
                  <a:noFill/>
                </a:ln>
                <a:solidFill>
                  <a:schemeClr val="tx1"/>
                </a:solidFill>
                <a:effectLst/>
                <a:uLnTx/>
                <a:uFillTx/>
                <a:latin typeface="Times New Roman" panose="02020503050405090304" pitchFamily="18" charset="0"/>
                <a:ea typeface="宋体" pitchFamily="2" charset="-122"/>
                <a:cs typeface="+mn-cs"/>
              </a:rPr>
              <a:t>第五级</a:t>
            </a:r>
            <a:endParaRPr kumimoji="1" lang="zh-CN" altLang="en-US" sz="1200" b="0" i="0" u="none" strike="noStrike" kern="1200" cap="none" spc="0" normalizeH="0" baseline="0" noProof="0" dirty="0" smtClean="0">
              <a:ln>
                <a:noFill/>
              </a:ln>
              <a:solidFill>
                <a:schemeClr val="tx1"/>
              </a:solidFill>
              <a:effectLst/>
              <a:uLnTx/>
              <a:uFillTx/>
              <a:latin typeface="Times New Roman" panose="02020503050405090304" pitchFamily="18" charset="0"/>
              <a:ea typeface="宋体" pitchFamily="2" charset="-122"/>
              <a:cs typeface="+mn-cs"/>
            </a:endParaRPr>
          </a:p>
        </p:txBody>
      </p:sp>
      <p:sp>
        <p:nvSpPr>
          <p:cNvPr id="17414"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spcBef>
                <a:spcPct val="0"/>
              </a:spcBef>
              <a:buClrTx/>
              <a:buFontTx/>
              <a:buNone/>
              <a:defRPr sz="1200" b="0">
                <a:ea typeface="宋体"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7415"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fontAlgn="base" hangingPunct="1">
              <a:buClrTx/>
              <a:buFontTx/>
              <a:buNone/>
            </a:pPr>
            <a:fld id="{9A0DB2DC-4C9A-4742-B13C-FB6460FD3503}" type="slidenum">
              <a:rPr lang="en-US" altLang="zh-CN" sz="1200" b="0" strike="noStrike" noProof="1" dirty="0">
                <a:latin typeface="Times New Roman" panose="02020503050405090304" pitchFamily="18" charset="0"/>
                <a:ea typeface="宋体" pitchFamily="2" charset="-122"/>
                <a:cs typeface="+mn-cs"/>
              </a:rPr>
            </a:fld>
            <a:endParaRPr lang="en-US" altLang="zh-CN" sz="1200" b="0" strike="noStrike" noProof="1" dirty="0">
              <a:ea typeface="宋体" pitchFamily="2" charset="-122"/>
            </a:endParaRPr>
          </a:p>
        </p:txBody>
      </p:sp>
    </p:spTree>
  </p:cSld>
  <p:clrMap bg1="lt1" tx1="dk1" bg2="lt2" tx2="dk2" accent1="accent1" accent2="accent2" accent3="accent3" accent4="accent4" accent5="accent5" accent6="accent6" hlink="hlink" folHlink="folHlink"/>
  <p:hf sldNum="0" hdr="0" ftr="0"/>
  <p:notesStyle>
    <a:lvl1pPr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slide" Target="../slides/slide80.xml"/><Relationship Id="rId2"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slide" Target="../slides/slide81.xml"/><Relationship Id="rId2"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slide" Target="../slides/slide82.xml"/><Relationship Id="rId2"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slide" Target="../slides/slide83.xml"/><Relationship Id="rId2"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slide" Target="../slides/slide84.xml"/><Relationship Id="rId2"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slide" Target="../slides/slide85.xml"/><Relationship Id="rId2"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slide" Target="../slides/slide86.xml"/><Relationship Id="rId2"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slide" Target="../slides/slide87.xml"/><Relationship Id="rId2"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slide" Target="../slides/slide88.xml"/><Relationship Id="rId2"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slide" Target="../slides/slide89.xml"/><Relationship Id="rId2"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slide" Target="../slides/slide90.xml"/><Relationship Id="rId2"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slide" Target="../slides/slide91.xml"/><Relationship Id="rId2"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slide" Target="../slides/slide92.xml"/><Relationship Id="rId2"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slide" Target="../slides/slide93.xml"/><Relationship Id="rId2"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slide" Target="../slides/slide94.xml"/><Relationship Id="rId2"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slide" Target="../slides/slide95.xml"/><Relationship Id="rId2"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85346" name="幻灯片图像占位符 1"/>
          <p:cNvSpPr>
            <a:spLocks noGrp="1" noRot="1" noChangeAspect="1" noTextEdit="1"/>
          </p:cNvSpPr>
          <p:nvPr>
            <p:ph type="sldImg"/>
          </p:nvPr>
        </p:nvSpPr>
        <p:spPr/>
      </p:sp>
      <p:sp>
        <p:nvSpPr>
          <p:cNvPr id="185347" name="备注占位符 2"/>
          <p:cNvSpPr>
            <a:spLocks noGrp="1" noRot="1"/>
          </p:cNvSpPr>
          <p:nvPr>
            <p:ph type="body"/>
          </p:nvPr>
        </p:nvSpPr>
        <p:spPr/>
        <p:txBody>
          <a:bodyPr wrap="square" lIns="91440" tIns="45720" rIns="91440" bIns="45720" anchor="t" anchorCtr="0"/>
          <a:p>
            <a:pPr lvl="0"/>
            <a:endParaRPr lang="zh-CN" altLang="en-US" dirty="0">
              <a:ea typeface="宋体" pitchFamily="2" charset="-122"/>
            </a:endParaRPr>
          </a:p>
        </p:txBody>
      </p:sp>
      <p:sp>
        <p:nvSpPr>
          <p:cNvPr id="185348" name="灯片编号占位符 3"/>
          <p:cNvSpPr>
            <a:spLocks noGrp="1"/>
          </p:cNvSpPr>
          <p:nvPr/>
        </p:nvSpPr>
        <p:spPr>
          <a:xfrm>
            <a:off x="3884613" y="8685213"/>
            <a:ext cx="2971800" cy="457200"/>
          </a:xfrm>
          <a:prstGeom prst="rect">
            <a:avLst/>
          </a:prstGeom>
          <a:noFill/>
          <a:ln w="9525">
            <a:noFill/>
          </a:ln>
        </p:spPr>
        <p:txBody>
          <a:bodyPr anchor="b" anchorCtr="0"/>
          <a:p>
            <a:pPr lvl="0" algn="r"/>
            <a:fld id="{9A0DB2DC-4C9A-4742-B13C-FB6460FD3503}" type="slidenum">
              <a:rPr lang="zh-CN" altLang="en-US" dirty="0">
                <a:latin typeface="Calibri" panose="020F0502020204030204" pitchFamily="34" charset="0"/>
                <a:ea typeface="宋体" pitchFamily="2" charset="-122"/>
              </a:rPr>
            </a:fld>
            <a:endParaRPr lang="zh-CN" altLang="en-US" dirty="0">
              <a:latin typeface="Calibri" panose="020F0502020204030204" pitchFamily="34" charset="0"/>
              <a:ea typeface="宋体"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t>【讲法】复习页，30 秒带过：操作数在寄存器里，指令里写的是寄存器名。</a:t>
            </a:r>
          </a:p>
          <a:p>
            <a:r>
              <a:t>【演示】互动台①“同一个 30H 四连对比”第 3 条 MOV A,R0，先猜后验。</a:t>
            </a:r>
          </a:p>
          <a:p>
            <a:r>
              <a:t>【话术】“Rn 是本子，本子上写着什么就拿什么。”</a:t>
            </a:r>
          </a:p>
          <a:p>
            <a:r>
              <a:t>【易错点】R0~R7 属于哪个组由 PSW 的 RS1、RS0 决定；不要把 R0 和 00H 单元画等号（当前组为 0 组时才重合）。</a:t>
            </a:r>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t>【讲法】复习页：指令里给的是 8 位地址（门牌号），去片内 RAM 低 128 字节或 SFR 取。</a:t>
            </a:r>
          </a:p>
          <a:p>
            <a:r>
              <a:t>【演示】互动台① MOV A,30H：拿 30H 当门牌。</a:t>
            </a:r>
          </a:p>
          <a:p>
            <a:r>
              <a:t>【话术】“没有 #、也没有 @ 的 8 位数，就是门牌。”</a:t>
            </a:r>
          </a:p>
          <a:p>
            <a:r>
              <a:t>【易错点】MOV A,P0 和 MOV A,80H 是同一条指令：SFR 用名字只是让人看得懂，汇编后仍是 80H。</a:t>
            </a:r>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t>【讲法】只讲 80C51 口径：(1) 内部 RAM 00H~7FH；(2) SFR——可用地址也可用名字；(3) 位地址空间留给第七种寻址。</a:t>
            </a:r>
          </a:p>
          <a:p>
            <a:r>
              <a:t>【话术】“直接寻址够得着的地方就两块：低 128 字节和 SFR。”</a:t>
            </a:r>
          </a:p>
          <a:p>
            <a:r>
              <a:t>【提醒】本页只讲 80C51，不扯其他型号的高 128 字节，免得学生混。</a:t>
            </a:r>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t>【讲法】复习：数就在指令里，前面带 #。</a:t>
            </a:r>
          </a:p>
          <a:p>
            <a:r>
              <a:t>【演示】互动台① MOV A,#30H：# 是数，不是门牌。</a:t>
            </a:r>
          </a:p>
          <a:p>
            <a:r>
              <a:t>【易错点】① # 只能做源操作数；② MOV DPTR,#2100H 的立即数是 16 位，高字节进 DPH、低字节进 DPL；③ 8 位目的装不下 16 位立即数（如 MOV A,#1000H）是非法的——练习 3.2 第 1 题会考。</a:t>
            </a:r>
          </a:p>
          <a:p>
            <a:r>
              <a:t>【话术】“看见 #，脑子里就念'数'。”</a:t>
            </a:r>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t>【讲法】这张表按目的操作数分四组，把字节数和周期一起看：带立即数、带直接地址的多占一个字节。</a:t>
            </a:r>
          </a:p>
          <a:p>
            <a:r>
              <a:t>【易错点】MOV A,Rn 1 字节 1 周期，MOV A,direct 2 字节 1 周期——字节数和周期不是一回事。</a:t>
            </a:r>
          </a:p>
          <a:p>
            <a:r>
              <a:t>【提醒】不逐条念，让学生找规律：带 # 或 direct 的多一个字节。</a:t>
            </a:r>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幻灯片图像占位符 1"/>
          <p:cNvSpPr>
            <a:spLocks noTextEdit="1"/>
          </p:cNvSpPr>
          <p:nvPr>
            <p:ph type="sldImg"/>
          </p:nvPr>
        </p:nvSpPr>
        <p:spPr/>
      </p:sp>
      <p:sp>
        <p:nvSpPr>
          <p:cNvPr id="68610" name="文本占位符 2"/>
          <p:cNvSpPr/>
          <p:nvPr>
            <p:ph type="body"/>
          </p:nvPr>
        </p:nvSpPr>
        <p:spPr/>
        <p:txBody>
          <a:bodyPr wrap="square" lIns="91440" tIns="45720" rIns="91440" bIns="45720" anchor="t" anchorCtr="0"/>
          <a:p>
            <a:r>
              <a:t>【讲法】以 A 为目的 4 条：源分别是 Rn、direct、@Ri、#data。下面四条实例让学生先说寻址方式再说结果。</a:t>
            </a:r>
          </a:p>
          <a:p>
            <a:r>
              <a:t>【演示】互动台③点 A 行四格，各跑一条看 A 的变化。</a:t>
            </a:r>
          </a:p>
          <a:p>
            <a:r>
              <a:t>【易错点】MOV A,#78H 把 78H 当数装进 A；MOV A,78H 是去 78H 单元取。</a:t>
            </a:r>
          </a:p>
        </p:txBody>
      </p:sp>
      <p:sp>
        <p:nvSpPr>
          <p:cNvPr id="4" name="日期占位符 3"/>
          <p:cNvSpPr>
            <a:spLocks noGrp="1"/>
          </p:cNvSpPr>
          <p:nvPr>
            <p:ph type="dt" sz="half" idx="1"/>
          </p:nvPr>
        </p:nvSpPr>
        <p:spPr/>
        <p:txBody>
          <a:bodyPr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t>【讲法】Rn 为目的 3 条：源 A、direct、#data。注意没有 MOV Rn,Rn、没有 MOV Rn,@Ri。</a:t>
            </a:r>
          </a:p>
          <a:p>
            <a:r>
              <a:t>【易错点】MOV R1,#30 是十进制 30（=1EH），不是 30H；MOV R6,#01101100B 是二进制。</a:t>
            </a:r>
          </a:p>
          <a:p>
            <a:r>
              <a:t>【演示】互动台③ Rn 行，再点 Rn→Rn 那格看“✗ 不通”。</a:t>
            </a:r>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t>【讲法】direct 为目的 5 条，源最全：A、Rn、direct、@Ri、#data。MOV direct1,direct2 是唯一一条 RAM 到 RAM 直接复制的指令，3 字节 2 周期。</a:t>
            </a:r>
          </a:p>
          <a:p>
            <a:r>
              <a:t>【易错点】MOV P1,R2 的 P1 是 SFR 直接寻址；MOV TL0,@R1 目的 SFR 直接、源间接。</a:t>
            </a:r>
          </a:p>
          <a:p>
            <a:r>
              <a:t>【演示】互动台③ direct 行。</a:t>
            </a:r>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t>【讲法】@Ri 为目的 3 条：源 A、direct、#data。没有 MOV @Ri,Rn、没有 MOV @Ri,@Ri。</a:t>
            </a:r>
          </a:p>
          <a:p>
            <a:r>
              <a:t>【易错点】MOV @R0,SBUF 目的是 R0 指向的单元，源是 SFR 直接寻址；MOV @R0,#0D6H 以字母开头的十六进制要补 0。</a:t>
            </a:r>
          </a:p>
          <a:p>
            <a:r>
              <a:t>【演示】互动台③ @Ri 行。</a:t>
            </a:r>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t>【讲法】三条指令三种源寻址：A（寄存器）、20H（直接）、#33H（立即）。</a:t>
            </a:r>
          </a:p>
          <a:p>
            <a:r>
              <a:t>【演示】互动台③单步看 R0/R1/R2。</a:t>
            </a:r>
          </a:p>
          <a:p>
            <a:r>
              <a:t>【话术】“先说寻址，再报结果。”</a:t>
            </a:r>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t>【讲法】五条指令都以 direct 为目的，源分别是 A、R0、33H、@R1、#55H。重点第 3 条 MOV 32H,33H 取 33H 单元的内容 44H；第 4 条 MOV 34H,@R1 经 R1=36H 取到 33H。</a:t>
            </a:r>
          </a:p>
          <a:p>
            <a:r>
              <a:t>【易错点】MOV 32H,33H 不是把 33H 这个数送 32H，是把 33H 单元的内容送过去。</a:t>
            </a:r>
          </a:p>
          <a:p>
            <a:r>
              <a:t>【演示】互动台③单步看 RAM。</a:t>
            </a:r>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t>【讲法】设 (50H)=44H，五条单步：R1=50H；A=44H；(30H)=44H；(20H)=20H；(44H)=44H。</a:t>
            </a:r>
          </a:p>
          <a:p>
            <a:r>
              <a:t>【易错点】最后一条 MOV 44H,30H 是取 30H 单元内容送 44H 单元，不是送 30H 这个数。</a:t>
            </a:r>
          </a:p>
          <a:p>
            <a:r>
              <a:t>【演示】互动台③单步看 RAM；赶时间就直接报结果。</a:t>
            </a:r>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t>【讲法】MOV DPTR,#data16 是唯一一条 16 位传送：高字节进 DPH、低字节进 DPL；等价于两条 MOV DPH / MOV DPL。</a:t>
            </a:r>
          </a:p>
          <a:p>
            <a:r>
              <a:t>【易错点】只能装立即数，没有 MOV DPTR,direct。</a:t>
            </a:r>
          </a:p>
          <a:p>
            <a:r>
              <a:t>【话术】“DPTR 是两个 8 位寄存器拼的 16 位指针，一条指令就能装满。”</a:t>
            </a:r>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t>【讲法】不通的路第一条：Rn 与 Rn、Rn 与 @Ri 之间不能直接传——一条指令里不能同时出现两个工作寄存器。要传就绕道 A：MOV A,@R1 再 MOV R5,A。</a:t>
            </a:r>
          </a:p>
          <a:p>
            <a:r>
              <a:t>【板书】画 4×4 路线矩阵（A / Rn / direct / @Ri），Rn↔Rn、Rn↔@Ri、@Ri↔@Ri 三格打 ✗。</a:t>
            </a:r>
          </a:p>
          <a:p>
            <a:r>
              <a:t>【话术】“工作寄存器之间要搬东西，必须经过 A 中转。”</a:t>
            </a:r>
          </a:p>
          <a:p>
            <a:r>
              <a:t>【演示】互动台③路线表点 ✗ 格看绕法。</a:t>
            </a:r>
          </a:p>
          <a:p>
            <a:r>
              <a:t>【易错点】MOV R1,R2、MOV R2,@R0 非法——练习 3.2 第 2、3 题。</a:t>
            </a:r>
          </a:p>
          <a:p>
            <a:r>
              <a:t>【提醒】雷区：不画矩阵，练习 3.2 第 2、3 题照错。</a:t>
            </a:r>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t>【讲法】MOV A,ACC 可编码为 E5 E0，A 数值不变；MOV A,@R2 不可编码。R0=80H 时 MOV A,@R0 不访问 P0，80C51 未实现该片内RAM地址，不演示其数值。读取P0使用 MOV A,P0 或 MOV A,80H。</a:t>
            </a:r>
          </a:p>
          <a:p>
            <a:r>
              <a:t>【话术】“@ 够不着 SFR——80H 以上的门牌只认直接寻址。”</a:t>
            </a:r>
          </a:p>
          <a:p>
            <a:r>
              <a:t>【板书】低 128B：直接/间接都行；SFR：只能直接。</a:t>
            </a:r>
          </a:p>
          <a:p>
            <a:r>
              <a:t>【易错点】① 80H~FFH 用 @Ri 访问在 80C51 上读不到 SFR；② MOV A,@R2 是练习 3.2 第 4 题。</a:t>
            </a:r>
          </a:p>
          <a:p>
            <a:r>
              <a:t>【演示】互动台③判对错题库里的 MOV A,@R2、MOV A,@R0（R0=80H）。</a:t>
            </a:r>
          </a:p>
          <a:p>
            <a:r>
              <a:t>【提醒】三级弃车：只讲前三条。</a:t>
            </a:r>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t>【讲法】五条顺序执行，让学生先在纸上写每步结果，最后问 (21H)=？</a:t>
            </a:r>
          </a:p>
          <a:p>
            <a:r>
              <a:t>【话术】“一步一步写，别跳。”</a:t>
            </a:r>
          </a:p>
          <a:p>
            <a:r>
              <a:t>【易错点】MOV @R0,4FH 目的是 R0 指向的 20H 单元，源是 4FH 单元的内容 30H；最后 MOV 21H,20H 复制 20H 单元内容。</a:t>
            </a:r>
          </a:p>
          <a:p>
            <a:r>
              <a:t>【演示】互动台③单步台逐条跑，对比学生答案。</a:t>
            </a:r>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t>【讲法】对答案：A=30H、(4FH)=30H、R0=20H、(20H)=30H、(21H)=30H。</a:t>
            </a:r>
          </a:p>
          <a:p>
            <a:r>
              <a:t>【话术】“五条下来所有地方都是 30H——复制不是搬家。”</a:t>
            </a:r>
          </a:p>
          <a:p>
            <a:r>
              <a:t>【易错点】R0=20H 是地址，(20H)=30H 是内容，别混。</a:t>
            </a:r>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幻灯片图像占位符 1"/>
          <p:cNvSpPr>
            <a:spLocks noTextEdit="1"/>
          </p:cNvSpPr>
          <p:nvPr>
            <p:ph type="sldImg"/>
          </p:nvPr>
        </p:nvSpPr>
        <p:spPr/>
      </p:sp>
      <p:sp>
        <p:nvSpPr>
          <p:cNvPr id="81922" name="文本占位符 2"/>
          <p:cNvSpPr/>
          <p:nvPr>
            <p:ph type="body"/>
          </p:nvPr>
        </p:nvSpPr>
        <p:spPr/>
        <p:txBody>
          <a:bodyPr wrap="square" lIns="91440" tIns="45720" rIns="91440" bIns="45720" anchor="t" anchorCtr="0"/>
          <a:p>
            <a:r>
              <a:t>【讲法】8 题判对错，逐题抢答。错因：1 立即数超 255；2 两个工作寄存器；3 Rn 与 @Ri 同在一条指令；4 @R2 非法；5、6、7 正确；8 直接地址只有 8 位，2000H 超范围。</a:t>
            </a:r>
          </a:p>
          <a:p>
            <a:r>
              <a:t>【演示】互动台③判对错 8 题抢答（引擎汇编器真判）。</a:t>
            </a:r>
          </a:p>
          <a:p>
            <a:r>
              <a:t>【话术】“错的题先说错在哪一条规矩上。”</a:t>
            </a:r>
          </a:p>
          <a:p>
            <a:r>
              <a:t>【易错点】第 6 题 MOV 61H,@R0 是对的（direct 为目的、@Ri 为源），别和第 3 题混；第 8 题片内直接地址 ≤ FFH，要访问 2000H 得用 MOVX。</a:t>
            </a:r>
          </a:p>
          <a:p>
            <a:r>
              <a:t>【板书】三条不通的路 + 两条限制（@ 只能 R0/R1；SFR 只能直接）。</a:t>
            </a:r>
          </a:p>
          <a:p>
            <a:r>
              <a:t>【提醒】小结三句：七种寻址看符号；相对寻址以下一条为基准；MOV 不通的路记三条。作业 3 从作业库抽题。预告：MOVX、MOVC、堆栈、交换。</a:t>
            </a:r>
          </a:p>
        </p:txBody>
      </p:sp>
      <p:sp>
        <p:nvSpPr>
          <p:cNvPr id="4" name="日期占位符 3"/>
          <p:cNvSpPr>
            <a:spLocks noGrp="1"/>
          </p:cNvSpPr>
          <p:nvPr>
            <p:ph type="dt" sz="half" idx="1"/>
          </p:nvPr>
        </p:nvSpPr>
        <p:spPr/>
        <p:txBody>
          <a:bodyPr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09" name="幻灯片图像占位符 1"/>
          <p:cNvSpPr>
            <a:spLocks noTextEdit="1"/>
          </p:cNvSpPr>
          <p:nvPr>
            <p:ph type="sldImg"/>
          </p:nvPr>
        </p:nvSpPr>
        <p:spPr/>
      </p:sp>
      <p:sp>
        <p:nvSpPr>
          <p:cNvPr id="119810" name="文本占位符 2"/>
          <p:cNvSpPr/>
          <p:nvPr>
            <p:ph type="body"/>
          </p:nvPr>
        </p:nvSpPr>
        <p:spPr/>
        <p:txBody>
          <a:bodyPr wrap="square" lIns="91440" tIns="45720" rIns="91440" bIns="45720" anchor="t" anchorCtr="0"/>
          <a:p>
            <a:pPr lvl="0"/>
            <a:endParaRPr lang="zh-CN" altLang="en-US"/>
          </a:p>
        </p:txBody>
      </p:sp>
      <p:sp>
        <p:nvSpPr>
          <p:cNvPr id="4" name="日期占位符 3"/>
          <p:cNvSpPr>
            <a:spLocks noGrp="1"/>
          </p:cNvSpPr>
          <p:nvPr>
            <p:ph type="dt" sz="half" idx="1"/>
          </p:nvPr>
        </p:nvSpPr>
        <p:spPr/>
        <p:txBody>
          <a:bodyPr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954E7A-0E82-4DD2-8F88-68444C46A3F3}" type="datetime1">
              <a:rPr kumimoji="1"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3" sz="quarter"/>
          </p:nvPr>
        </p:nvSpPr>
        <p:spPr/>
        <p:txBody>
          <a:bodyPr/>
          <a:lstStyle/>
          <a:p>
            <a:r>
              <a:t>【讲法】负偏移三步：① 取完 2 字节 PC=1002H；② 0F6H 最高位为 1 是负数，取反（09H）加一（0AH），即 −10；③ 1002H−0AH=0FF8H。再看 SJMP $：机器码 80 FE，FE=−2，1002H−2=1000H，跳回自己——常用来原地等待。</a:t>
            </a:r>
          </a:p>
          <a:p>
            <a:r>
              <a:t>【话术】“往回跳就是从脚下往回数格子，数 10 格落在 0FF8H。”</a:t>
            </a:r>
          </a:p>
          <a:p>
            <a:r>
              <a:t>【板书】格子图照页面；补码换算：F6H → 取反 09H → 加一 0AH。</a:t>
            </a:r>
          </a:p>
          <a:p>
            <a:r>
              <a:t>【易错点】① 不要用 1000H 去减；② 负数补码换算容易忘“加一”；③ $ 表示“本条指令的地址”，不是“下一条”。</a:t>
            </a:r>
          </a:p>
          <a:p>
            <a:r>
              <a:t>【演示】互动台② PC 尺子拖到 −10 看落点，再点“SJMP $ 一键演示”。</a:t>
            </a:r>
          </a:p>
          <a:p>
            <a:r>
              <a:t>【提醒】本页是第 4 章 $ 伪指令、第 6 章 DJNZ 循环（往回跳）的伏笔。</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3" sz="quarter"/>
          </p:nvPr>
        </p:nvSpPr>
        <p:spPr/>
        <p:txBody>
          <a:bodyPr/>
          <a:lstStyle/>
          <a:p>
            <a:r>
              <a:t>【讲法】七步从上往下过：先找 #（立即）；再找 @——带 A+ 是基址加变址、不带是寄存器间接；然后看 Rn/A/DPTR（寄存器）；转移指令里的标号/rel（相对）；bit/名.位（位）；剩下的 8 位地址都是直接。右侧两条热身：MOV 30H,@R1 源间接、目的直接；JB ACC.7,NEXT 中 ACC.7 位寻址、NEXT 相对寻址。</a:t>
            </a:r>
          </a:p>
          <a:p>
            <a:r>
              <a:t>【话术】“一条指令有两个操作数，就要判两次——源一次、目的一次。”</a:t>
            </a:r>
          </a:p>
          <a:p>
            <a:r>
              <a:t>【板书】七行口诀照页面抄一遍，让学生跟着念。</a:t>
            </a:r>
          </a:p>
          <a:p>
            <a:r>
              <a:t>【演示】互动台②“七种寻址辨认器”：练习 3.1 的 7 条 + 8 条加题逐题抢答计分。</a:t>
            </a:r>
          </a:p>
          <a:p>
            <a:r>
              <a:t>【易错点】① MOV A,#30H 的目的 A 是寄存器寻址，别只答源；② CLR C 是位寻址（C 是位）；③ MOVC A,@A+DPTR 源是基址加变址，目的是寄存器。</a:t>
            </a:r>
          </a:p>
          <a:p>
            <a:r>
              <a:t>【提醒】口诀顺序就是判题顺序：先 # 后 @，不会漏。</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3" sz="quarter"/>
          </p:nvPr>
        </p:nvSpPr>
        <p:spPr/>
        <p:txBody>
          <a:bodyPr/>
          <a:lstStyle/>
          <a:p>
            <a:r>
              <a:t>【讲法】开场一句话定主线：前四种寻址都是“拿着门牌去取”；今天剩下三种——两种“门牌要现算”（变址：基址+偏移；相对：脚下+步数），一种“门牌精确到一位”（位寻址）。七种认齐，再进指令系统第一大类“搬运”（数据传送）。</a:t>
            </a:r>
          </a:p>
          <a:p>
            <a:r>
              <a:t>【话术】“寻址方式只回答一个问题：操作数在哪儿、怎么找到它。”</a:t>
            </a:r>
          </a:p>
          <a:p>
            <a:r>
              <a:t>【板书】左侧竖列七种名字，讲完一种打一个勾，今天要把后三个勾打满。</a:t>
            </a:r>
          </a:p>
          <a:p>
            <a:r>
              <a:t>【提醒】本页顺序（变址、位、相对）与后面讲解顺序（五变址、六相对、七位）不同，口头说明“顺序不重要，认符号才重要”。</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3" sz="quarter"/>
          </p:nvPr>
        </p:nvSpPr>
        <p:spPr/>
        <p:txBody>
          <a:bodyPr/>
          <a:lstStyle/>
          <a:p>
            <a:r>
              <a:t>【讲法】复习：“门牌的门牌”：寄存器里装的不是数，是地址。</a:t>
            </a:r>
          </a:p>
          <a:p>
            <a:r>
              <a:t>【演示】互动台① MOV A,@R0：先看 R0 里是 30H，再去 30H 单元取 5AH。</a:t>
            </a:r>
          </a:p>
          <a:p>
            <a:r>
              <a:t>【话术】“@ 念作'去'——去 R0 指的那家。”</a:t>
            </a:r>
          </a:p>
          <a:p>
            <a:r>
              <a:t>【板书】两级箭头：R0 → 30H → 5AH。</a:t>
            </a:r>
          </a:p>
          <a:p>
            <a:r>
              <a:t>【易错点】MOV A,R0 与 MOV A,@R0 只差一个 @，结果一个是 30H、一个是 5AH，先猜后验。</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3" sz="quarter"/>
          </p:nvPr>
        </p:nvSpPr>
        <p:spPr/>
        <p:txBody>
          <a:bodyPr/>
          <a:lstStyle/>
          <a:p>
            <a:r>
              <a:t>【讲法】三块地方：片内 RAM 用 @Ri；片外 RAM 用 @DPTR（64KB）或 @Ri（低 256 字节），指令是 MOVX；堆栈区用 SP（PUSH/POP 也是间接寻址）。</a:t>
            </a:r>
          </a:p>
          <a:p>
            <a:r>
              <a:t>【易错点】间址寄存器只有 R0、R1、DPTR（SP 隐含），@R2 非法——练习 3.2 第 4 题。</a:t>
            </a:r>
          </a:p>
          <a:p>
            <a:r>
              <a:t>【提醒】SFR 不能用 @Ri 访问：MOV R0,#80H 再 MOV A,@R0 读不到 P0——留到“五条注意”第 (5) 条再强调一次。</a:t>
            </a:r>
          </a:p>
          <a:p>
            <a:r>
              <a:t>【话术】口诀收束前四种：# 是数、无号是门牌、Rn 是本子、@ 是门牌的门牌。</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3" sz="quarter"/>
          </p:nvPr>
        </p:nvSpPr>
        <p:spPr/>
        <p:txBody>
          <a:bodyPr/>
          <a:lstStyle/>
          <a:p>
            <a:r>
              <a:t>【讲法】先讲“为什么要现算门牌”：查表时表头固定（基址），第几项在变（偏移），所以地址 = 基址 + 偏移。基址寄存器只能是 DPTR 或 PC，变址寄存器只能是 A，相加得 16 位地址去读程序存储器。例 3-5：(A)=0FH、(DPTR)=2400H → 2400H+0FH=240FH，取出 88H 送 A。</a:t>
            </a:r>
          </a:p>
          <a:p>
            <a:r>
              <a:t>【演示】互动台②“变址动画”：拖 A 从 00H 到 0FH，看指针在 16 格表里挪，落到 240FH。</a:t>
            </a:r>
          </a:p>
          <a:p>
            <a:r>
              <a:t>【话术】“DPTR 是表头，A 是第几个；A 一变，指针就挪。”</a:t>
            </a:r>
          </a:p>
          <a:p>
            <a:r>
              <a:t>【板书】竖式：2400H + 000FH = 240FH；旁边写“表在 ROM 里，只查不改”。</a:t>
            </a:r>
          </a:p>
          <a:p>
            <a:r>
              <a:t>【易错点】① 指令是 MOVC 不是 MOV，不存在 MOV A,@A+DPTR；② 读出的 88H 覆盖了 A 原来的 0FH——A 既当偏移又装结果；③ 相加是 16 位加 8 位，A 不带符号（0~255）。</a:t>
            </a:r>
          </a:p>
          <a:p>
            <a:r>
              <a:t>【提醒】讲完立刻过渡下一页的两个点破：只能读程序存储器、PC 做基址只有 256B。</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3" sz="quarter"/>
          </p:nvPr>
        </p:nvSpPr>
        <p:spPr/>
        <p:txBody>
          <a:bodyPr/>
          <a:lstStyle/>
          <a:p>
            <a:r>
              <a:t>【讲法】两个点破：① 只能读程序存储器——表刻在墙上，只查不改，所以没有“写”的变址指令；② PC 做基址时范围只有 256B，表必须紧跟在指令后面；DPTR 做基址可达 64KB，用前先赋值。三条指令：MOVC A,@A+DPTR、MOVC A,@A+PC、JMP @A+DPTR。</a:t>
            </a:r>
          </a:p>
          <a:p>
            <a:r>
              <a:t>【演示】互动台②三条指令切换；JMP @A+DPTR 看落点（散转）；再故意输入 MOV A,@A+DPTR，引擎报错——证明“没有这条”。</a:t>
            </a:r>
          </a:p>
          <a:p>
            <a:r>
              <a:t>【话术】“MOVC 的 C 就是 Code——读代码区；查表只读不写。”</a:t>
            </a:r>
          </a:p>
          <a:p>
            <a:r>
              <a:t>【板书】ROM ｜ 表头 DPTR ｜ 第 A 项 → 结果进 A。</a:t>
            </a:r>
          </a:p>
          <a:p>
            <a:r>
              <a:t>【易错点】① MOVC A,@A+PC 里的 PC 是取完本条指令后的值（下一条指令地址），与相对寻址的“基准”是同一个概念，先埋伏笔；② 查表指令归在数据传送类，3.3 节还会见；③ 不要与 MOVX 混：MOVX 读片外 RAM 用 @DPTR，没有 A+。</a:t>
            </a:r>
          </a:p>
          <a:p>
            <a:r>
              <a:t>【提醒】雷区：这里不点破“只能读 ROM”，下节 MOVC/MOVX 必混。</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3" sz="quarter"/>
          </p:nvPr>
        </p:nvSpPr>
        <p:spPr/>
        <p:txBody>
          <a:bodyPr/>
          <a:lstStyle/>
          <a:p>
            <a:r>
              <a:t>【讲法】关键一句说死：基准是下一条指令的地址，不是转移指令自己的地址。公式：目的地址 = 转移指令地址 + 指令字节数 + rel。rel 是 8 位补码，范围 −128~+127：正数向后（高地址）跳，负数向前（低地址）跳。</a:t>
            </a:r>
          </a:p>
          <a:p>
            <a:r>
              <a:t>【话术】“CPU 取完指令，PC 已经指到下一条了——脚下在哪儿，就从哪儿数步数。”</a:t>
            </a:r>
          </a:p>
          <a:p>
            <a:r>
              <a:t>【板书】三行：源地址 1000H → +2 字节 → 1002H（基准）→ +rel。</a:t>
            </a:r>
          </a:p>
          <a:p>
            <a:r>
              <a:t>【易错点】① 最常见错误：拿 1000H 当基准算成 1075H；② rel 用补码，看最高位判正负；③ 相对寻址只出现在 SJMP、JC、JZ、DJNZ、CJNE 等相对转移指令里，LJMP/AJMP 不是。</a:t>
            </a:r>
          </a:p>
          <a:p>
            <a:r>
              <a:t>【演示】互动台②“PC 尺子”：拖 rel 滑块 −128~+127 看落点，灰色“你以为的路”就是 1075H 那条错路。</a:t>
            </a:r>
          </a:p>
          <a:p>
            <a:r>
              <a:t>【提醒】雷区：这一句不说死，必有人算成 1075H。</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3" sz="quarter"/>
          </p:nvPr>
        </p:nvSpPr>
        <p:spPr/>
        <p:txBody>
          <a:bodyPr/>
          <a:lstStyle/>
          <a:p>
            <a:r>
              <a:t>【讲法】按图走三步：① JC rel 在 1000H，2 字节（40H 75H）；② 取完指令 PC=1002H；③ 1002H+75H=1077H，Cy=1 才跳。</a:t>
            </a:r>
          </a:p>
          <a:p>
            <a:r>
              <a:t>【话术】“先问：这条指令几个字节？再问：rel 正还是负？最后才做加法。”</a:t>
            </a:r>
          </a:p>
          <a:p>
            <a:r>
              <a:t>【板书】1000H + 2 = 1002H；1002H + 75H = 1077H。</a:t>
            </a:r>
          </a:p>
          <a:p>
            <a:r>
              <a:t>【易错点】① Cy=0 时不跳，顺序执行 1002H 处的指令；② 75H 最高位为 0，是正数；③ “离源地址不要超过 −128~+127”——超过就得改用 LJMP/AJMP。</a:t>
            </a:r>
          </a:p>
          <a:p>
            <a:r>
              <a:t>【演示】互动台② PC 尺子设 rel=75H 对答案，再把 rel 拨到负数，过渡到下一页。</a:t>
            </a:r>
          </a:p>
          <a:p>
            <a:r>
              <a:t>【提醒】下一页专讲往回跳，这里不要抢。</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3" sz="quarter"/>
          </p:nvPr>
        </p:nvSpPr>
        <p:spPr/>
        <p:txBody>
          <a:bodyPr/>
          <a:lstStyle/>
          <a:p>
            <a:r>
              <a:t>【讲法】位寻址=位的直接寻址：指令里给的是位地址（或“寄存器名.位”），精确到一位。两块空间：片内 RAM 20H~2FH 共 128 位（位地址 00H~7FH）；SFR 中字节地址能被 8 整除的才可位寻址，共 83 位；合计 211 个位地址。例 3-7：MOV C,00H——00H 是 20H 单元的第 0 位，不是 00H 单元；执行后 Cy=1。</a:t>
            </a:r>
          </a:p>
          <a:p>
            <a:r>
              <a:t>【演示】互动台②“位地图”：点格子显示位地址、所在字节.位；例 3-7 跑一次看 CY。</a:t>
            </a:r>
          </a:p>
          <a:p>
            <a:r>
              <a:t>【话术】“位地址 00H 和字节地址 00H 是两张不同的地图。”</a:t>
            </a:r>
          </a:p>
          <a:p>
            <a:r>
              <a:t>【板书】20H 单元画 8 个格子，从高到低标 07H…00H。</a:t>
            </a:r>
          </a:p>
          <a:p>
            <a:r>
              <a:t>【易错点】① 位地址与字节地址同名不同义，看指令：操作数是 C 或位操作指令里的 8 位数才是位地址；② 位地址 = (字节地址−20H)×8 + 位号；③ MOV C,00H 的 C 是进位位 Cy，不是寄存器 B 旁边那个“C”。</a:t>
            </a:r>
          </a:p>
          <a:p>
            <a:r>
              <a:t>【提醒】雷区：这里不讲清，第七节位操作全乱。</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3" sz="quarter"/>
          </p:nvPr>
        </p:nvSpPr>
        <p:spPr/>
        <p:txBody>
          <a:bodyPr/>
          <a:lstStyle/>
          <a:p>
            <a:r>
              <a:t>【讲法】两种等价写法：位地址（如 40H）、单元地址.位（如 (28H).0）。SFR 位有四种表示：位地址 D5H、位名 F0、(D0H).5、PSW.5——四种都指同一位。</a:t>
            </a:r>
          </a:p>
          <a:p>
            <a:r>
              <a:t>【话术】“写法再多，汇编后都是同一个 8 位位地址。”</a:t>
            </a:r>
          </a:p>
          <a:p>
            <a:r>
              <a:t>【板书】PSW.5 = F0 = D5H = (D0H).5。</a:t>
            </a:r>
          </a:p>
          <a:p>
            <a:r>
              <a:t>【易错点】① SFR 可位寻址的条件：字节地址能被 8 整除（80H、88H、90H、98H、A0H、A8H、B0H、B8H、D0H、E0H、F0H）；② P1.0 这种写法最常用，考试常给位地址反推在哪个字节；③ 位寻址区 20H~2FH 对应位地址 00H~7FH，要对得上。</a:t>
            </a:r>
          </a:p>
          <a:p>
            <a:r>
              <a:t>【演示】互动台②位地图点 PSW 一行，看四种写法同时亮。</a:t>
            </a:r>
          </a:p>
          <a:p>
            <a:r>
              <a:t>【提醒】三级弃车：赶时间只讲“位地址 / 名.位”两种。</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3" sz="quarter"/>
          </p:nvPr>
        </p:nvSpPr>
        <p:spPr/>
        <p:txBody>
          <a:bodyPr/>
          <a:lstStyle/>
          <a:p>
            <a:r>
              <a:t>【讲法】逐行过表，每行问两个问题：“变量长什么样？到哪儿取？”。第 7 行位寻址区是 20H~2FH（128 位）+ SFR 83 位。</a:t>
            </a:r>
          </a:p>
          <a:p>
            <a:r>
              <a:t>【板书】“看符号定寻址”七步：# → 立即；@A+ → 基址加变址；@Ri/@DPTR → 寄存器间接；Rn/A/DPTR → 寄存器；标号/rel → 相对；bit/名.位 → 位；剩下的 8 位地址 → 直接（下一页展开）。</a:t>
            </a:r>
          </a:p>
          <a:p>
            <a:r>
              <a:t>【话术】“七种寻址两头：寄存器/立即最快，间接/变址最灵活。”</a:t>
            </a:r>
          </a:p>
          <a:p>
            <a:r>
              <a:t>【易错点】① 第 5 行是“基址加变址”，不要再叫“变址间接”；② 相对寻址的变量是 PC+rel，不是地址本身；③ 立即寻址的数就在指令里，所以“寻址空间”是程序存储器。</a:t>
            </a:r>
          </a:p>
          <a:p>
            <a:r>
              <a:t>【提醒】上课按 2FH 讲。</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3" sz="quarter"/>
          </p:nvPr>
        </p:nvSpPr>
        <p:spPr/>
        <p:txBody>
          <a:bodyPr/>
          <a:lstStyle/>
          <a:p>
            <a:r>
              <a:t>【讲法】抢答：七条逐条判源/目的寻址方式。</a:t>
            </a:r>
          </a:p>
          <a:p>
            <a:r>
              <a:t>【演示】互动台②辨认器计分，或按页面逐条口答。</a:t>
            </a:r>
          </a:p>
          <a:p>
            <a:r>
              <a:t>【易错点】第 4 条 JZ rel 只有一个操作数（相对）；第 5 条 CLR C 是位寻址；第 7 条 MOVC 源是基址加变址。</a:t>
            </a:r>
          </a:p>
          <a:p>
            <a:r>
              <a:t>【提醒】先让学生说，再翻下一页对答案。</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3" sz="quarter"/>
          </p:nvPr>
        </p:nvSpPr>
        <p:spPr/>
        <p:txBody>
          <a:bodyPr/>
          <a:lstStyle/>
          <a:p>
            <a:r>
              <a:t>【讲法】对答案，每条补一句“为什么”。</a:t>
            </a:r>
          </a:p>
          <a:p>
            <a:r>
              <a:t>【话术】“答错的那条，回头看口诀页是哪一步漏了。”</a:t>
            </a:r>
          </a:p>
          <a:p>
            <a:r>
              <a:t>【提醒】收束第 1 节：七种寻址看符号。课间休息，预告下半节判题 + 数据传送。</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3" sz="quarter"/>
          </p:nvPr>
        </p:nvSpPr>
        <p:spPr/>
        <p:txBody>
          <a:bodyPr/>
          <a:lstStyle/>
          <a:p>
            <a:r>
              <a:t>【讲法】111 条按功能分五大类，第一类数据传送最常用。今天开第一类。</a:t>
            </a:r>
          </a:p>
          <a:p>
            <a:r>
              <a:t>【话术】“指令系统像一本工具书，先学会翻目录。”</a:t>
            </a:r>
          </a:p>
          <a:p>
            <a:r>
              <a:t>【提醒】本页不带节号；3-3 是下一页的数据传送。</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3" sz="quarter"/>
          </p:nvPr>
        </p:nvSpPr>
        <p:spPr/>
        <p:txBody>
          <a:bodyPr/>
          <a:lstStyle/>
          <a:p>
            <a:r>
              <a:t>【讲法】总览：数据传送类共 29 条，书上分 7 小类（以 A 为一方 6、不以 A 为一方 5、立即数置数 5、片外 RAM 4、查表 2、交换 5、进出栈 2）。本页按功能列 5 组（内部/外部/交换/堆栈/查表），是同一批 29 条的另一种分法。“复制”性质：源不变；不影响 Cy、Ac、OV（P 例外，随 A 变）。今天只拿下片内的 16 条 MOV。</a:t>
            </a:r>
          </a:p>
          <a:p>
            <a:r>
              <a:t>【话术】“MOV 是复制不是搬家——搬完原处还在。”</a:t>
            </a:r>
          </a:p>
          <a:p>
            <a:r>
              <a:t>【易错点】P 随 A 的奇偶变化，所以“数据传送不影响标志位”要加一句“P 除外”。</a:t>
            </a:r>
          </a:p>
          <a:p>
            <a:r>
              <a:t>【演示】互动台③总览卡：29 条 7 小类。</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3" sz="quarter"/>
          </p:nvPr>
        </p:nvSpPr>
        <p:spPr/>
        <p:txBody>
          <a:bodyPr/>
          <a:lstStyle/>
          <a:p>
            <a:r>
              <a:t>【讲法】MOV 目的,源；源可以是 #data、direct、Rn、@Ri 四种寻址。先把 8 条典型指令读一遍，让学生判源/目的寻址。</a:t>
            </a:r>
          </a:p>
          <a:p>
            <a:r>
              <a:t>【演示】互动台③路线表（源 × 目的矩阵）。</a:t>
            </a:r>
          </a:p>
          <a:p>
            <a:r>
              <a:t>【话术】“读 MOV 指令永远先看目的、再看源——数据从右往左流。”</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1.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pn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pn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PhAnim="0"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15362" name="Picture 7" descr="未标题-1 拷贝"/>
          <p:cNvPicPr>
            <a:picLocks noChangeAspect="1"/>
          </p:cNvPicPr>
          <p:nvPr/>
        </p:nvPicPr>
        <p:blipFill>
          <a:blip r:embed="rId2"/>
          <a:stretch>
            <a:fillRect/>
          </a:stretch>
        </p:blipFill>
        <p:spPr>
          <a:xfrm>
            <a:off x="395288" y="6365875"/>
            <a:ext cx="2236787" cy="492125"/>
          </a:xfrm>
          <a:prstGeom prst="rect">
            <a:avLst/>
          </a:prstGeom>
          <a:noFill/>
          <a:ln w="9525">
            <a:noFill/>
          </a:ln>
        </p:spPr>
      </p:pic>
      <p:sp>
        <p:nvSpPr>
          <p:cNvPr id="20482" name="Rectangle 2"/>
          <p:cNvSpPr>
            <a:spLocks noGrp="1" noChangeArrowheads="1"/>
          </p:cNvSpPr>
          <p:nvPr>
            <p:ph type="ctrTitle"/>
          </p:nvPr>
        </p:nvSpPr>
        <p:spPr>
          <a:xfrm>
            <a:off x="714348" y="2285992"/>
            <a:ext cx="7772400" cy="1143000"/>
          </a:xfrm>
        </p:spPr>
        <p:txBody>
          <a:bodyPr/>
          <a:lstStyle>
            <a:lvl1pPr algn="ctr">
              <a:defRPr sz="4400"/>
            </a:lvl1pPr>
          </a:lstStyle>
          <a:p>
            <a:pPr fontAlgn="base"/>
            <a:r>
              <a:rPr lang="zh-CN" altLang="en-US" strike="noStrike" noProof="1" smtClean="0"/>
              <a:t>单击此处编辑母版标题样式</a:t>
            </a:r>
            <a:endParaRPr lang="zh-CN" altLang="en-US" strike="noStrike" noProof="1" dirty="0"/>
          </a:p>
        </p:txBody>
      </p:sp>
      <p:sp>
        <p:nvSpPr>
          <p:cNvPr id="20483" name="Rectangle 3"/>
          <p:cNvSpPr>
            <a:spLocks noGrp="1" noChangeArrowheads="1"/>
          </p:cNvSpPr>
          <p:nvPr>
            <p:ph type="subTitle" idx="1"/>
          </p:nvPr>
        </p:nvSpPr>
        <p:spPr>
          <a:xfrm>
            <a:off x="1371600" y="3886200"/>
            <a:ext cx="6400800" cy="1752600"/>
          </a:xfrm>
        </p:spPr>
        <p:txBody>
          <a:bodyPr/>
          <a:lstStyle>
            <a:lvl1pPr algn="ctr">
              <a:buFont typeface="Wingdings" panose="05000000000000000000" pitchFamily="2" charset="2"/>
              <a:buNone/>
              <a:defRPr>
                <a:solidFill>
                  <a:schemeClr val="accent2"/>
                </a:solidFill>
              </a:defRPr>
            </a:lvl1pPr>
          </a:lstStyle>
          <a:p>
            <a:pPr fontAlgn="base"/>
            <a:r>
              <a:rPr lang="zh-CN" altLang="en-US" strike="noStrike" noProof="1" smtClean="0"/>
              <a:t>单击此处编辑母版副标题样式</a:t>
            </a:r>
            <a:endParaRPr lang="zh-CN" altLang="en-US" strike="noStrike" noProof="1"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fontAlgn="base"/>
            <a:r>
              <a:rPr lang="zh-CN" altLang="en-US" strike="noStrike" noProof="1" dirty="0" smtClean="0"/>
              <a:t>单击此处编辑母版标题样式</a:t>
            </a:r>
            <a:endParaRPr lang="zh-CN" altLang="en-US" strike="noStrike" noProof="1"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228600" y="996950"/>
            <a:ext cx="4305300" cy="5403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996950"/>
            <a:ext cx="4305300" cy="5403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425450" rtl="0" eaLnBrk="0" fontAlgn="base" latinLnBrk="0" hangingPunct="0">
              <a:lnSpc>
                <a:spcPct val="130000"/>
              </a:lnSpc>
              <a:spcBef>
                <a:spcPct val="20000"/>
              </a:spcBef>
              <a:spcAft>
                <a:spcPct val="0"/>
              </a:spcAft>
              <a:buClr>
                <a:schemeClr val="folHlink"/>
              </a:buClr>
              <a:buSzTx/>
              <a:buFont typeface="Wingdings" panose="05000000000000000000" pitchFamily="2" charset="2"/>
              <a:buNone/>
              <a:defRPr/>
            </a:pPr>
            <a:endParaRPr kumimoji="1"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00850" y="228600"/>
            <a:ext cx="2190750" cy="61722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228600" y="228600"/>
            <a:ext cx="6419850" cy="61722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28600" y="228600"/>
            <a:ext cx="8763000" cy="6096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228600" y="996950"/>
            <a:ext cx="4305300" cy="54038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996950"/>
            <a:ext cx="4305300" cy="54038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228600" y="228600"/>
            <a:ext cx="8763000" cy="6096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228600" y="996950"/>
            <a:ext cx="8763000" cy="5403850"/>
          </a:xfrm>
        </p:spPr>
        <p:txBody>
          <a:bodyPr vert="horz" wrap="square" lIns="91440" tIns="45720" rIns="91440" bIns="45720" numCol="1" anchor="t" anchorCtr="0" compatLnSpc="1"/>
          <a:lstStyle/>
          <a:p>
            <a:pPr marL="342900" marR="0" lvl="0" indent="-342900" algn="l" defTabSz="425450" rtl="0" eaLnBrk="0" fontAlgn="base" latinLnBrk="0" hangingPunct="0">
              <a:lnSpc>
                <a:spcPct val="130000"/>
              </a:lnSpc>
              <a:spcBef>
                <a:spcPct val="20000"/>
              </a:spcBef>
              <a:spcAft>
                <a:spcPct val="0"/>
              </a:spcAft>
              <a:buClr>
                <a:schemeClr val="folHlink"/>
              </a:buClr>
              <a:buSzTx/>
              <a:buFont typeface="Wingdings" panose="05000000000000000000" pitchFamily="2" charset="2"/>
              <a:buChar char="v"/>
              <a:defRPr/>
            </a:pPr>
            <a:endParaRPr kumimoji="1" lang="zh-CN" altLang="en-US" sz="2800" b="1" i="0" u="none" strike="noStrike" kern="0" cap="none" spc="0" normalizeH="0" baseline="0" noProof="0" smtClean="0">
              <a:ln>
                <a:noFill/>
              </a:ln>
              <a:solidFill>
                <a:schemeClr val="tx1"/>
              </a:solidFill>
              <a:effectLst/>
              <a:uLnTx/>
              <a:uFillTx/>
              <a:latin typeface="+mn-lt"/>
              <a:ea typeface="+mn-ea"/>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fld id="{9C4B2FF6-1C63-4EAA-BE9C-EE5A9013DD0C}" type="datetimeFigureOut">
              <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rPr>
            </a:fld>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6" name="Slide Number Placeholder 5"/>
          <p:cNvSpPr>
            <a:spLocks noGrp="1"/>
          </p:cNvSpPr>
          <p:nvPr>
            <p:ph type="sldNum" sz="quarter" idx="12"/>
          </p:nvPr>
        </p:nvSpPr>
        <p:spPr/>
        <p:txBody>
          <a:bodyPr/>
          <a:p>
            <a:pPr lvl="0" eaLnBrk="1" fontAlgn="base" hangingPunct="1">
              <a:spcBef>
                <a:spcPct val="50000"/>
              </a:spcBef>
              <a:buClrTx/>
              <a:buNone/>
            </a:pPr>
            <a:fld id="{9A0DB2DC-4C9A-4742-B13C-FB6460FD3503}" type="slidenum">
              <a:rPr lang="zh-CN" altLang="en-US" strike="noStrike" noProof="1" dirty="0">
                <a:latin typeface="Times New Roman" panose="02020503050405090304" pitchFamily="18" charset="0"/>
                <a:ea typeface="仿宋_GB2312" pitchFamily="49" charset="-122"/>
                <a:cs typeface="+mn-cs"/>
              </a:rPr>
            </a:fld>
            <a:endParaRPr lang="zh-CN" altLang="en-US" strike="noStrike" noProof="1" dirty="0">
              <a:latin typeface="Times New Roman" panose="02020503050405090304" pitchFamily="18"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fld id="{9C4B2FF6-1C63-4EAA-BE9C-EE5A9013DD0C}" type="datetimeFigureOut">
              <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rPr>
            </a:fld>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6" name="Slide Number Placeholder 5"/>
          <p:cNvSpPr>
            <a:spLocks noGrp="1"/>
          </p:cNvSpPr>
          <p:nvPr>
            <p:ph type="sldNum" sz="quarter" idx="12"/>
          </p:nvPr>
        </p:nvSpPr>
        <p:spPr/>
        <p:txBody>
          <a:bodyPr/>
          <a:p>
            <a:pPr lvl="0" eaLnBrk="1" fontAlgn="base" hangingPunct="1">
              <a:spcBef>
                <a:spcPct val="50000"/>
              </a:spcBef>
              <a:buClrTx/>
              <a:buNone/>
            </a:pPr>
            <a:fld id="{9A0DB2DC-4C9A-4742-B13C-FB6460FD3503}" type="slidenum">
              <a:rPr lang="zh-CN" altLang="en-US" strike="noStrike" noProof="1" dirty="0">
                <a:latin typeface="Times New Roman" panose="02020503050405090304" pitchFamily="18" charset="0"/>
                <a:ea typeface="仿宋_GB2312" pitchFamily="49" charset="-122"/>
                <a:cs typeface="+mn-cs"/>
              </a:rPr>
            </a:fld>
            <a:endParaRPr lang="zh-CN" altLang="en-US" strike="noStrike" noProof="1" dirty="0">
              <a:latin typeface="Times New Roman" panose="02020503050405090304" pitchFamily="18"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fld id="{9C4B2FF6-1C63-4EAA-BE9C-EE5A9013DD0C}" type="datetimeFigureOut">
              <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rPr>
            </a:fld>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6" name="Slide Number Placeholder 5"/>
          <p:cNvSpPr>
            <a:spLocks noGrp="1"/>
          </p:cNvSpPr>
          <p:nvPr>
            <p:ph type="sldNum" sz="quarter" idx="12"/>
          </p:nvPr>
        </p:nvSpPr>
        <p:spPr/>
        <p:txBody>
          <a:bodyPr/>
          <a:p>
            <a:pPr lvl="0" eaLnBrk="1" fontAlgn="base" hangingPunct="1">
              <a:spcBef>
                <a:spcPct val="50000"/>
              </a:spcBef>
              <a:buClrTx/>
              <a:buNone/>
            </a:pPr>
            <a:fld id="{9A0DB2DC-4C9A-4742-B13C-FB6460FD3503}" type="slidenum">
              <a:rPr lang="zh-CN" altLang="en-US" strike="noStrike" noProof="1" dirty="0">
                <a:latin typeface="Times New Roman" panose="02020503050405090304" pitchFamily="18" charset="0"/>
                <a:ea typeface="仿宋_GB2312" pitchFamily="49" charset="-122"/>
                <a:cs typeface="+mn-cs"/>
              </a:rPr>
            </a:fld>
            <a:endParaRPr lang="zh-CN" altLang="en-US" strike="noStrike" noProof="1" dirty="0">
              <a:latin typeface="Times New Roman" panose="02020503050405090304" pitchFamily="18"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fld id="{9C4B2FF6-1C63-4EAA-BE9C-EE5A9013DD0C}" type="datetimeFigureOut">
              <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rPr>
            </a:fld>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7" name="Slide Number Placeholder 6"/>
          <p:cNvSpPr>
            <a:spLocks noGrp="1"/>
          </p:cNvSpPr>
          <p:nvPr>
            <p:ph type="sldNum" sz="quarter" idx="12"/>
          </p:nvPr>
        </p:nvSpPr>
        <p:spPr/>
        <p:txBody>
          <a:bodyPr/>
          <a:p>
            <a:pPr lvl="0" eaLnBrk="1" fontAlgn="base" hangingPunct="1">
              <a:spcBef>
                <a:spcPct val="50000"/>
              </a:spcBef>
              <a:buClrTx/>
              <a:buNone/>
            </a:pPr>
            <a:fld id="{9A0DB2DC-4C9A-4742-B13C-FB6460FD3503}" type="slidenum">
              <a:rPr lang="zh-CN" altLang="en-US" strike="noStrike" noProof="1" dirty="0">
                <a:latin typeface="Times New Roman" panose="02020503050405090304" pitchFamily="18" charset="0"/>
                <a:ea typeface="仿宋_GB2312" pitchFamily="49" charset="-122"/>
                <a:cs typeface="+mn-cs"/>
              </a:rPr>
            </a:fld>
            <a:endParaRPr lang="zh-CN" altLang="en-US" strike="noStrike" noProof="1" dirty="0">
              <a:latin typeface="Times New Roman" panose="02020503050405090304" pitchFamily="18"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fld id="{9C4B2FF6-1C63-4EAA-BE9C-EE5A9013DD0C}" type="datetimeFigureOut">
              <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rPr>
            </a:fld>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9" name="Slide Number Placeholder 8"/>
          <p:cNvSpPr>
            <a:spLocks noGrp="1"/>
          </p:cNvSpPr>
          <p:nvPr>
            <p:ph type="sldNum" sz="quarter" idx="12"/>
          </p:nvPr>
        </p:nvSpPr>
        <p:spPr/>
        <p:txBody>
          <a:bodyPr/>
          <a:p>
            <a:pPr lvl="0" eaLnBrk="1" fontAlgn="base" hangingPunct="1">
              <a:spcBef>
                <a:spcPct val="50000"/>
              </a:spcBef>
              <a:buClrTx/>
              <a:buNone/>
            </a:pPr>
            <a:fld id="{9A0DB2DC-4C9A-4742-B13C-FB6460FD3503}" type="slidenum">
              <a:rPr lang="zh-CN" altLang="en-US" strike="noStrike" noProof="1" dirty="0">
                <a:latin typeface="Times New Roman" panose="02020503050405090304" pitchFamily="18" charset="0"/>
                <a:ea typeface="仿宋_GB2312" pitchFamily="49" charset="-122"/>
                <a:cs typeface="+mn-cs"/>
              </a:rPr>
            </a:fld>
            <a:endParaRPr lang="zh-CN" altLang="en-US" strike="noStrike" noProof="1" dirty="0">
              <a:latin typeface="Times New Roman" panose="02020503050405090304" pitchFamily="18"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fld id="{9C4B2FF6-1C63-4EAA-BE9C-EE5A9013DD0C}" type="datetimeFigureOut">
              <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rPr>
            </a:fld>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5" name="Slide Number Placeholder 4"/>
          <p:cNvSpPr>
            <a:spLocks noGrp="1"/>
          </p:cNvSpPr>
          <p:nvPr>
            <p:ph type="sldNum" sz="quarter" idx="12"/>
          </p:nvPr>
        </p:nvSpPr>
        <p:spPr/>
        <p:txBody>
          <a:bodyPr/>
          <a:p>
            <a:pPr lvl="0" eaLnBrk="1" fontAlgn="base" hangingPunct="1">
              <a:spcBef>
                <a:spcPct val="50000"/>
              </a:spcBef>
              <a:buClrTx/>
              <a:buNone/>
            </a:pPr>
            <a:fld id="{9A0DB2DC-4C9A-4742-B13C-FB6460FD3503}" type="slidenum">
              <a:rPr lang="zh-CN" altLang="en-US" strike="noStrike" noProof="1" dirty="0">
                <a:latin typeface="Times New Roman" panose="02020503050405090304" pitchFamily="18" charset="0"/>
                <a:ea typeface="仿宋_GB2312" pitchFamily="49" charset="-122"/>
                <a:cs typeface="+mn-cs"/>
              </a:rPr>
            </a:fld>
            <a:endParaRPr lang="zh-CN" altLang="en-US" strike="noStrike" noProof="1" dirty="0">
              <a:latin typeface="Times New Roman" panose="02020503050405090304" pitchFamily="18"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fld id="{9C4B2FF6-1C63-4EAA-BE9C-EE5A9013DD0C}" type="datetimeFigureOut">
              <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rPr>
            </a:fld>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3" name="Footer Placeholder 2"/>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4" name="Slide Number Placeholder 3"/>
          <p:cNvSpPr>
            <a:spLocks noGrp="1"/>
          </p:cNvSpPr>
          <p:nvPr>
            <p:ph type="sldNum" sz="quarter" idx="12"/>
          </p:nvPr>
        </p:nvSpPr>
        <p:spPr/>
        <p:txBody>
          <a:bodyPr/>
          <a:p>
            <a:pPr lvl="0" eaLnBrk="1" fontAlgn="base" hangingPunct="1">
              <a:spcBef>
                <a:spcPct val="50000"/>
              </a:spcBef>
              <a:buClrTx/>
              <a:buNone/>
            </a:pPr>
            <a:fld id="{9A0DB2DC-4C9A-4742-B13C-FB6460FD3503}" type="slidenum">
              <a:rPr lang="zh-CN" altLang="en-US" strike="noStrike" noProof="1" dirty="0">
                <a:latin typeface="Times New Roman" panose="02020503050405090304" pitchFamily="18" charset="0"/>
                <a:ea typeface="仿宋_GB2312" pitchFamily="49" charset="-122"/>
                <a:cs typeface="+mn-cs"/>
              </a:rPr>
            </a:fld>
            <a:endParaRPr lang="zh-CN" altLang="en-US" strike="noStrike" noProof="1" dirty="0">
              <a:latin typeface="Times New Roman" panose="02020503050405090304" pitchFamily="18"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fld id="{9C4B2FF6-1C63-4EAA-BE9C-EE5A9013DD0C}" type="datetimeFigureOut">
              <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rPr>
            </a:fld>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7" name="Slide Number Placeholder 6"/>
          <p:cNvSpPr>
            <a:spLocks noGrp="1"/>
          </p:cNvSpPr>
          <p:nvPr>
            <p:ph type="sldNum" sz="quarter" idx="12"/>
          </p:nvPr>
        </p:nvSpPr>
        <p:spPr/>
        <p:txBody>
          <a:bodyPr/>
          <a:p>
            <a:pPr lvl="0" eaLnBrk="1" fontAlgn="base" hangingPunct="1">
              <a:spcBef>
                <a:spcPct val="50000"/>
              </a:spcBef>
              <a:buClrTx/>
              <a:buNone/>
            </a:pPr>
            <a:fld id="{9A0DB2DC-4C9A-4742-B13C-FB6460FD3503}" type="slidenum">
              <a:rPr lang="zh-CN" altLang="en-US" strike="noStrike" noProof="1" dirty="0">
                <a:latin typeface="Times New Roman" panose="02020503050405090304" pitchFamily="18" charset="0"/>
                <a:ea typeface="仿宋_GB2312" pitchFamily="49" charset="-122"/>
                <a:cs typeface="+mn-cs"/>
              </a:rPr>
            </a:fld>
            <a:endParaRPr lang="zh-CN" altLang="en-US" strike="noStrike" noProof="1" dirty="0">
              <a:latin typeface="Times New Roman" panose="02020503050405090304" pitchFamily="18"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90204" pitchFamily="34" charset="0"/>
              <a:buNone/>
              <a:defRPr/>
            </a:pPr>
            <a:endParaRPr kumimoji="0" lang="zh-CN" alt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fld id="{9C4B2FF6-1C63-4EAA-BE9C-EE5A9013DD0C}" type="datetimeFigureOut">
              <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rPr>
            </a:fld>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7" name="Slide Number Placeholder 6"/>
          <p:cNvSpPr>
            <a:spLocks noGrp="1"/>
          </p:cNvSpPr>
          <p:nvPr>
            <p:ph type="sldNum" sz="quarter" idx="12"/>
          </p:nvPr>
        </p:nvSpPr>
        <p:spPr/>
        <p:txBody>
          <a:bodyPr/>
          <a:p>
            <a:pPr lvl="0" eaLnBrk="1" fontAlgn="base" hangingPunct="1">
              <a:spcBef>
                <a:spcPct val="50000"/>
              </a:spcBef>
              <a:buClrTx/>
              <a:buNone/>
            </a:pPr>
            <a:fld id="{9A0DB2DC-4C9A-4742-B13C-FB6460FD3503}" type="slidenum">
              <a:rPr lang="zh-CN" altLang="en-US" strike="noStrike" noProof="1" dirty="0">
                <a:latin typeface="Times New Roman" panose="02020503050405090304" pitchFamily="18" charset="0"/>
                <a:ea typeface="仿宋_GB2312" pitchFamily="49" charset="-122"/>
                <a:cs typeface="+mn-cs"/>
              </a:rPr>
            </a:fld>
            <a:endParaRPr lang="zh-CN" altLang="en-US" strike="noStrike" noProof="1" dirty="0">
              <a:latin typeface="Times New Roman" panose="02020503050405090304" pitchFamily="18"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fld id="{9C4B2FF6-1C63-4EAA-BE9C-EE5A9013DD0C}" type="datetimeFigureOut">
              <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rPr>
            </a:fld>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6" name="Slide Number Placeholder 5"/>
          <p:cNvSpPr>
            <a:spLocks noGrp="1"/>
          </p:cNvSpPr>
          <p:nvPr>
            <p:ph type="sldNum" sz="quarter" idx="12"/>
          </p:nvPr>
        </p:nvSpPr>
        <p:spPr/>
        <p:txBody>
          <a:bodyPr/>
          <a:p>
            <a:pPr lvl="0" eaLnBrk="1" fontAlgn="base" hangingPunct="1">
              <a:spcBef>
                <a:spcPct val="50000"/>
              </a:spcBef>
              <a:buClrTx/>
              <a:buNone/>
            </a:pPr>
            <a:fld id="{9A0DB2DC-4C9A-4742-B13C-FB6460FD3503}" type="slidenum">
              <a:rPr lang="zh-CN" altLang="en-US" strike="noStrike" noProof="1" dirty="0">
                <a:latin typeface="Times New Roman" panose="02020503050405090304" pitchFamily="18" charset="0"/>
                <a:ea typeface="仿宋_GB2312" pitchFamily="49" charset="-122"/>
                <a:cs typeface="+mn-cs"/>
              </a:rPr>
            </a:fld>
            <a:endParaRPr lang="zh-CN" altLang="en-US" strike="noStrike" noProof="1" dirty="0">
              <a:latin typeface="Times New Roman" panose="02020503050405090304" pitchFamily="18"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fld id="{9C4B2FF6-1C63-4EAA-BE9C-EE5A9013DD0C}" type="datetimeFigureOut">
              <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rPr>
            </a:fld>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6" name="Slide Number Placeholder 5"/>
          <p:cNvSpPr>
            <a:spLocks noGrp="1"/>
          </p:cNvSpPr>
          <p:nvPr>
            <p:ph type="sldNum" sz="quarter" idx="12"/>
          </p:nvPr>
        </p:nvSpPr>
        <p:spPr/>
        <p:txBody>
          <a:bodyPr/>
          <a:p>
            <a:pPr lvl="0" eaLnBrk="1" fontAlgn="base" hangingPunct="1">
              <a:spcBef>
                <a:spcPct val="50000"/>
              </a:spcBef>
              <a:buClrTx/>
              <a:buNone/>
            </a:pPr>
            <a:fld id="{9A0DB2DC-4C9A-4742-B13C-FB6460FD3503}" type="slidenum">
              <a:rPr lang="zh-CN" altLang="en-US" strike="noStrike" noProof="1" dirty="0">
                <a:latin typeface="Times New Roman" panose="02020503050405090304" pitchFamily="18" charset="0"/>
                <a:ea typeface="仿宋_GB2312" pitchFamily="49" charset="-122"/>
                <a:cs typeface="+mn-cs"/>
              </a:rPr>
            </a:fld>
            <a:endParaRPr lang="zh-CN" altLang="en-US" strike="noStrike" noProof="1" dirty="0">
              <a:latin typeface="Times New Roman" panose="02020503050405090304" pitchFamily="18"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fld id="{9C4B2FF6-1C63-4EAA-BE9C-EE5A9013DD0C}" type="datetimeFigureOut">
              <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rPr>
            </a:fld>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5" name="Slide Number Placeholder 4"/>
          <p:cNvSpPr>
            <a:spLocks noGrp="1"/>
          </p:cNvSpPr>
          <p:nvPr>
            <p:ph type="sldNum" sz="quarter" idx="12"/>
          </p:nvPr>
        </p:nvSpPr>
        <p:spPr/>
        <p:txBody>
          <a:bodyPr/>
          <a:p>
            <a:pPr lvl="0" eaLnBrk="1" fontAlgn="base" hangingPunct="1">
              <a:spcBef>
                <a:spcPct val="50000"/>
              </a:spcBef>
              <a:buClrTx/>
              <a:buNone/>
            </a:pPr>
            <a:fld id="{9A0DB2DC-4C9A-4742-B13C-FB6460FD3503}" type="slidenum">
              <a:rPr lang="zh-CN" altLang="en-US" strike="noStrike" noProof="1" dirty="0">
                <a:latin typeface="Times New Roman" panose="02020503050405090304" pitchFamily="18" charset="0"/>
                <a:ea typeface="仿宋_GB2312" pitchFamily="49" charset="-122"/>
                <a:cs typeface="+mn-cs"/>
              </a:rPr>
            </a:fld>
            <a:endParaRPr lang="zh-CN" altLang="en-US" strike="noStrike" noProof="1" dirty="0">
              <a:latin typeface="Times New Roman" panose="02020503050405090304" pitchFamily="18"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fld id="{5DBD7477-D686-4B51-BE12-3D3E26BD2CD4}" type="datetimeFigureOut">
              <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rPr>
            </a:fld>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6" name="Slide Number Placeholder 5"/>
          <p:cNvSpPr>
            <a:spLocks noGrp="1"/>
          </p:cNvSpPr>
          <p:nvPr>
            <p:ph type="sldNum" sz="quarter" idx="12"/>
          </p:nvPr>
        </p:nvSpPr>
        <p:spPr/>
        <p:txBody>
          <a:bodyPr/>
          <a:p>
            <a:pPr lvl="0" eaLnBrk="1" fontAlgn="base" hangingPunct="1">
              <a:spcBef>
                <a:spcPct val="50000"/>
              </a:spcBef>
              <a:buClrTx/>
              <a:buNone/>
            </a:pPr>
            <a:fld id="{9A0DB2DC-4C9A-4742-B13C-FB6460FD3503}" type="slidenum">
              <a:rPr lang="zh-CN" altLang="en-US" strike="noStrike" noProof="1" dirty="0">
                <a:latin typeface="Times New Roman" panose="02020503050405090304" pitchFamily="18" charset="0"/>
                <a:ea typeface="仿宋_GB2312" pitchFamily="49" charset="-122"/>
                <a:cs typeface="+mn-cs"/>
              </a:rPr>
            </a:fld>
            <a:endParaRPr lang="zh-CN" altLang="en-US" strike="noStrike" noProof="1" dirty="0">
              <a:latin typeface="Times New Roman" panose="02020503050405090304" pitchFamily="18"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fld id="{5DBD7477-D686-4B51-BE12-3D3E26BD2CD4}" type="datetimeFigureOut">
              <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rPr>
            </a:fld>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6" name="Slide Number Placeholder 5"/>
          <p:cNvSpPr>
            <a:spLocks noGrp="1"/>
          </p:cNvSpPr>
          <p:nvPr>
            <p:ph type="sldNum" sz="quarter" idx="12"/>
          </p:nvPr>
        </p:nvSpPr>
        <p:spPr/>
        <p:txBody>
          <a:bodyPr/>
          <a:p>
            <a:pPr lvl="0" eaLnBrk="1" fontAlgn="base" hangingPunct="1">
              <a:spcBef>
                <a:spcPct val="50000"/>
              </a:spcBef>
              <a:buClrTx/>
              <a:buNone/>
            </a:pPr>
            <a:fld id="{9A0DB2DC-4C9A-4742-B13C-FB6460FD3503}" type="slidenum">
              <a:rPr lang="zh-CN" altLang="en-US" strike="noStrike" noProof="1" dirty="0">
                <a:latin typeface="Times New Roman" panose="02020503050405090304" pitchFamily="18" charset="0"/>
                <a:ea typeface="仿宋_GB2312" pitchFamily="49" charset="-122"/>
                <a:cs typeface="+mn-cs"/>
              </a:rPr>
            </a:fld>
            <a:endParaRPr lang="zh-CN" altLang="en-US" strike="noStrike" noProof="1" dirty="0">
              <a:latin typeface="Times New Roman" panose="02020503050405090304" pitchFamily="18" charset="0"/>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fld id="{5DBD7477-D686-4B51-BE12-3D3E26BD2CD4}" type="datetimeFigureOut">
              <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rPr>
            </a:fld>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6" name="Slide Number Placeholder 5"/>
          <p:cNvSpPr>
            <a:spLocks noGrp="1"/>
          </p:cNvSpPr>
          <p:nvPr>
            <p:ph type="sldNum" sz="quarter" idx="12"/>
          </p:nvPr>
        </p:nvSpPr>
        <p:spPr/>
        <p:txBody>
          <a:bodyPr/>
          <a:p>
            <a:pPr lvl="0" eaLnBrk="1" fontAlgn="base" hangingPunct="1">
              <a:spcBef>
                <a:spcPct val="50000"/>
              </a:spcBef>
              <a:buClrTx/>
              <a:buNone/>
            </a:pPr>
            <a:fld id="{9A0DB2DC-4C9A-4742-B13C-FB6460FD3503}" type="slidenum">
              <a:rPr lang="zh-CN" altLang="en-US" strike="noStrike" noProof="1" dirty="0">
                <a:latin typeface="Times New Roman" panose="02020503050405090304" pitchFamily="18" charset="0"/>
                <a:ea typeface="仿宋_GB2312" pitchFamily="49" charset="-122"/>
                <a:cs typeface="+mn-cs"/>
              </a:rPr>
            </a:fld>
            <a:endParaRPr lang="zh-CN" altLang="en-US" strike="noStrike" noProof="1" dirty="0">
              <a:latin typeface="Times New Roman" panose="02020503050405090304" pitchFamily="18"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fld id="{5DBD7477-D686-4B51-BE12-3D3E26BD2CD4}" type="datetimeFigureOut">
              <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rPr>
            </a:fld>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7" name="Slide Number Placeholder 6"/>
          <p:cNvSpPr>
            <a:spLocks noGrp="1"/>
          </p:cNvSpPr>
          <p:nvPr>
            <p:ph type="sldNum" sz="quarter" idx="12"/>
          </p:nvPr>
        </p:nvSpPr>
        <p:spPr/>
        <p:txBody>
          <a:bodyPr/>
          <a:p>
            <a:pPr lvl="0" eaLnBrk="1" fontAlgn="base" hangingPunct="1">
              <a:spcBef>
                <a:spcPct val="50000"/>
              </a:spcBef>
              <a:buClrTx/>
              <a:buNone/>
            </a:pPr>
            <a:fld id="{9A0DB2DC-4C9A-4742-B13C-FB6460FD3503}" type="slidenum">
              <a:rPr lang="zh-CN" altLang="en-US" strike="noStrike" noProof="1" dirty="0">
                <a:latin typeface="Times New Roman" panose="02020503050405090304" pitchFamily="18" charset="0"/>
                <a:ea typeface="仿宋_GB2312" pitchFamily="49" charset="-122"/>
                <a:cs typeface="+mn-cs"/>
              </a:rPr>
            </a:fld>
            <a:endParaRPr lang="zh-CN" altLang="en-US" strike="noStrike" noProof="1" dirty="0">
              <a:latin typeface="Times New Roman" panose="02020503050405090304" pitchFamily="18" charset="0"/>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fld id="{5DBD7477-D686-4B51-BE12-3D3E26BD2CD4}" type="datetimeFigureOut">
              <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rPr>
            </a:fld>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9" name="Slide Number Placeholder 8"/>
          <p:cNvSpPr>
            <a:spLocks noGrp="1"/>
          </p:cNvSpPr>
          <p:nvPr>
            <p:ph type="sldNum" sz="quarter" idx="12"/>
          </p:nvPr>
        </p:nvSpPr>
        <p:spPr/>
        <p:txBody>
          <a:bodyPr/>
          <a:p>
            <a:pPr lvl="0" eaLnBrk="1" fontAlgn="base" hangingPunct="1">
              <a:spcBef>
                <a:spcPct val="50000"/>
              </a:spcBef>
              <a:buClrTx/>
              <a:buNone/>
            </a:pPr>
            <a:fld id="{9A0DB2DC-4C9A-4742-B13C-FB6460FD3503}" type="slidenum">
              <a:rPr lang="zh-CN" altLang="en-US" strike="noStrike" noProof="1" dirty="0">
                <a:latin typeface="Times New Roman" panose="02020503050405090304" pitchFamily="18" charset="0"/>
                <a:ea typeface="仿宋_GB2312" pitchFamily="49" charset="-122"/>
                <a:cs typeface="+mn-cs"/>
              </a:rPr>
            </a:fld>
            <a:endParaRPr lang="zh-CN" altLang="en-US" strike="noStrike" noProof="1" dirty="0">
              <a:latin typeface="Times New Roman" panose="02020503050405090304" pitchFamily="18"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fld id="{5DBD7477-D686-4B51-BE12-3D3E26BD2CD4}" type="datetimeFigureOut">
              <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rPr>
            </a:fld>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5" name="Slide Number Placeholder 4"/>
          <p:cNvSpPr>
            <a:spLocks noGrp="1"/>
          </p:cNvSpPr>
          <p:nvPr>
            <p:ph type="sldNum" sz="quarter" idx="12"/>
          </p:nvPr>
        </p:nvSpPr>
        <p:spPr/>
        <p:txBody>
          <a:bodyPr/>
          <a:p>
            <a:pPr lvl="0" eaLnBrk="1" fontAlgn="base" hangingPunct="1">
              <a:spcBef>
                <a:spcPct val="50000"/>
              </a:spcBef>
              <a:buClrTx/>
              <a:buNone/>
            </a:pPr>
            <a:fld id="{9A0DB2DC-4C9A-4742-B13C-FB6460FD3503}" type="slidenum">
              <a:rPr lang="zh-CN" altLang="en-US" strike="noStrike" noProof="1" dirty="0">
                <a:latin typeface="Times New Roman" panose="02020503050405090304" pitchFamily="18" charset="0"/>
                <a:ea typeface="仿宋_GB2312" pitchFamily="49" charset="-122"/>
                <a:cs typeface="+mn-cs"/>
              </a:rPr>
            </a:fld>
            <a:endParaRPr lang="zh-CN" altLang="en-US" strike="noStrike" noProof="1" dirty="0">
              <a:latin typeface="Times New Roman" panose="02020503050405090304" pitchFamily="18"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fld id="{5DBD7477-D686-4B51-BE12-3D3E26BD2CD4}" type="datetimeFigureOut">
              <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rPr>
            </a:fld>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3" name="Footer Placeholder 2"/>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4" name="Slide Number Placeholder 3"/>
          <p:cNvSpPr>
            <a:spLocks noGrp="1"/>
          </p:cNvSpPr>
          <p:nvPr>
            <p:ph type="sldNum" sz="quarter" idx="12"/>
          </p:nvPr>
        </p:nvSpPr>
        <p:spPr/>
        <p:txBody>
          <a:bodyPr/>
          <a:p>
            <a:pPr lvl="0" eaLnBrk="1" fontAlgn="base" hangingPunct="1">
              <a:spcBef>
                <a:spcPct val="50000"/>
              </a:spcBef>
              <a:buClrTx/>
              <a:buNone/>
            </a:pPr>
            <a:fld id="{9A0DB2DC-4C9A-4742-B13C-FB6460FD3503}" type="slidenum">
              <a:rPr lang="zh-CN" altLang="en-US" strike="noStrike" noProof="1" dirty="0">
                <a:latin typeface="Times New Roman" panose="02020503050405090304" pitchFamily="18" charset="0"/>
                <a:ea typeface="仿宋_GB2312" pitchFamily="49" charset="-122"/>
                <a:cs typeface="+mn-cs"/>
              </a:rPr>
            </a:fld>
            <a:endParaRPr lang="zh-CN" altLang="en-US" strike="noStrike" noProof="1" dirty="0">
              <a:latin typeface="Times New Roman" panose="02020503050405090304" pitchFamily="18"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fld id="{5DBD7477-D686-4B51-BE12-3D3E26BD2CD4}" type="datetimeFigureOut">
              <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rPr>
            </a:fld>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7" name="Slide Number Placeholder 6"/>
          <p:cNvSpPr>
            <a:spLocks noGrp="1"/>
          </p:cNvSpPr>
          <p:nvPr>
            <p:ph type="sldNum" sz="quarter" idx="12"/>
          </p:nvPr>
        </p:nvSpPr>
        <p:spPr/>
        <p:txBody>
          <a:bodyPr/>
          <a:p>
            <a:pPr lvl="0" eaLnBrk="1" fontAlgn="base" hangingPunct="1">
              <a:spcBef>
                <a:spcPct val="50000"/>
              </a:spcBef>
              <a:buClrTx/>
              <a:buNone/>
            </a:pPr>
            <a:fld id="{9A0DB2DC-4C9A-4742-B13C-FB6460FD3503}" type="slidenum">
              <a:rPr lang="zh-CN" altLang="en-US" strike="noStrike" noProof="1" dirty="0">
                <a:latin typeface="Times New Roman" panose="02020503050405090304" pitchFamily="18" charset="0"/>
                <a:ea typeface="仿宋_GB2312" pitchFamily="49" charset="-122"/>
                <a:cs typeface="+mn-cs"/>
              </a:rPr>
            </a:fld>
            <a:endParaRPr lang="zh-CN" altLang="en-US" strike="noStrike" noProof="1" dirty="0">
              <a:latin typeface="Times New Roman" panose="02020503050405090304" pitchFamily="18" charset="0"/>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90204" pitchFamily="34" charset="0"/>
              <a:buNone/>
              <a:defRPr/>
            </a:pPr>
            <a:endParaRPr kumimoji="0" lang="zh-CN" alt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fld id="{5DBD7477-D686-4B51-BE12-3D3E26BD2CD4}" type="datetimeFigureOut">
              <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rPr>
            </a:fld>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7" name="Slide Number Placeholder 6"/>
          <p:cNvSpPr>
            <a:spLocks noGrp="1"/>
          </p:cNvSpPr>
          <p:nvPr>
            <p:ph type="sldNum" sz="quarter" idx="12"/>
          </p:nvPr>
        </p:nvSpPr>
        <p:spPr/>
        <p:txBody>
          <a:bodyPr/>
          <a:p>
            <a:pPr lvl="0" eaLnBrk="1" fontAlgn="base" hangingPunct="1">
              <a:spcBef>
                <a:spcPct val="50000"/>
              </a:spcBef>
              <a:buClrTx/>
              <a:buNone/>
            </a:pPr>
            <a:fld id="{9A0DB2DC-4C9A-4742-B13C-FB6460FD3503}" type="slidenum">
              <a:rPr lang="zh-CN" altLang="en-US" strike="noStrike" noProof="1" dirty="0">
                <a:latin typeface="Times New Roman" panose="02020503050405090304" pitchFamily="18" charset="0"/>
                <a:ea typeface="仿宋_GB2312" pitchFamily="49" charset="-122"/>
                <a:cs typeface="+mn-cs"/>
              </a:rPr>
            </a:fld>
            <a:endParaRPr lang="zh-CN" altLang="en-US" strike="noStrike" noProof="1" dirty="0">
              <a:latin typeface="Times New Roman" panose="02020503050405090304" pitchFamily="18" charset="0"/>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fld id="{5DBD7477-D686-4B51-BE12-3D3E26BD2CD4}" type="datetimeFigureOut">
              <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rPr>
            </a:fld>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6" name="Slide Number Placeholder 5"/>
          <p:cNvSpPr>
            <a:spLocks noGrp="1"/>
          </p:cNvSpPr>
          <p:nvPr>
            <p:ph type="sldNum" sz="quarter" idx="12"/>
          </p:nvPr>
        </p:nvSpPr>
        <p:spPr/>
        <p:txBody>
          <a:bodyPr/>
          <a:p>
            <a:pPr lvl="0" eaLnBrk="1" fontAlgn="base" hangingPunct="1">
              <a:spcBef>
                <a:spcPct val="50000"/>
              </a:spcBef>
              <a:buClrTx/>
              <a:buNone/>
            </a:pPr>
            <a:fld id="{9A0DB2DC-4C9A-4742-B13C-FB6460FD3503}" type="slidenum">
              <a:rPr lang="zh-CN" altLang="en-US" strike="noStrike" noProof="1" dirty="0">
                <a:latin typeface="Times New Roman" panose="02020503050405090304" pitchFamily="18" charset="0"/>
                <a:ea typeface="仿宋_GB2312" pitchFamily="49" charset="-122"/>
                <a:cs typeface="+mn-cs"/>
              </a:rPr>
            </a:fld>
            <a:endParaRPr lang="zh-CN" altLang="en-US" strike="noStrike" noProof="1" dirty="0">
              <a:latin typeface="Times New Roman" panose="02020503050405090304" pitchFamily="18" charset="0"/>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fld id="{5DBD7477-D686-4B51-BE12-3D3E26BD2CD4}" type="datetimeFigureOut">
              <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rPr>
            </a:fld>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6" name="Slide Number Placeholder 5"/>
          <p:cNvSpPr>
            <a:spLocks noGrp="1"/>
          </p:cNvSpPr>
          <p:nvPr>
            <p:ph type="sldNum" sz="quarter" idx="12"/>
          </p:nvPr>
        </p:nvSpPr>
        <p:spPr/>
        <p:txBody>
          <a:bodyPr/>
          <a:p>
            <a:pPr lvl="0" eaLnBrk="1" fontAlgn="base" hangingPunct="1">
              <a:spcBef>
                <a:spcPct val="50000"/>
              </a:spcBef>
              <a:buClrTx/>
              <a:buNone/>
            </a:pPr>
            <a:fld id="{9A0DB2DC-4C9A-4742-B13C-FB6460FD3503}" type="slidenum">
              <a:rPr lang="zh-CN" altLang="en-US" strike="noStrike" noProof="1" dirty="0">
                <a:latin typeface="Times New Roman" panose="02020503050405090304" pitchFamily="18" charset="0"/>
                <a:ea typeface="仿宋_GB2312" pitchFamily="49" charset="-122"/>
                <a:cs typeface="+mn-cs"/>
              </a:rPr>
            </a:fld>
            <a:endParaRPr lang="zh-CN" altLang="en-US" strike="noStrike" noProof="1" dirty="0">
              <a:latin typeface="Times New Roman" panose="02020503050405090304" pitchFamily="18" charset="0"/>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16386" name="Group 2"/>
          <p:cNvGrpSpPr/>
          <p:nvPr/>
        </p:nvGrpSpPr>
        <p:grpSpPr>
          <a:xfrm>
            <a:off x="341313" y="2259013"/>
            <a:ext cx="8416925" cy="1052512"/>
            <a:chOff x="0" y="1536"/>
            <a:chExt cx="5675" cy="663"/>
          </a:xfrm>
        </p:grpSpPr>
        <p:grpSp>
          <p:nvGrpSpPr>
            <p:cNvPr id="16387" name="Group 3"/>
            <p:cNvGrpSpPr/>
            <p:nvPr/>
          </p:nvGrpSpPr>
          <p:grpSpPr>
            <a:xfrm>
              <a:off x="183" y="1604"/>
              <a:ext cx="448" cy="299"/>
              <a:chOff x="720" y="336"/>
              <a:chExt cx="625" cy="432"/>
            </a:xfrm>
          </p:grpSpPr>
          <p:sp>
            <p:nvSpPr>
              <p:cNvPr id="24" name="Rectangle 4"/>
              <p:cNvSpPr>
                <a:spLocks noChangeArrowheads="1"/>
              </p:cNvSpPr>
              <p:nvPr/>
            </p:nvSpPr>
            <p:spPr bwMode="auto">
              <a:xfrm>
                <a:off x="720" y="336"/>
                <a:ext cx="385" cy="432"/>
              </a:xfrm>
              <a:prstGeom prst="rect">
                <a:avLst/>
              </a:prstGeom>
              <a:solidFill>
                <a:schemeClr val="folHlink"/>
              </a:soli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smtClean="0">
                  <a:ln>
                    <a:noFill/>
                  </a:ln>
                  <a:solidFill>
                    <a:schemeClr val="tx1"/>
                  </a:solidFill>
                  <a:effectLst/>
                  <a:uLnTx/>
                  <a:uFillTx/>
                  <a:latin typeface="Times New Roman" panose="02020503050405090304" pitchFamily="18" charset="0"/>
                  <a:ea typeface="仿宋_GB2312" pitchFamily="49" charset="-122"/>
                  <a:cs typeface="+mn-cs"/>
                </a:endParaRPr>
              </a:p>
            </p:txBody>
          </p:sp>
          <p:sp>
            <p:nvSpPr>
              <p:cNvPr id="25" name="Rectangle 5"/>
              <p:cNvSpPr>
                <a:spLocks noChangeArrowheads="1"/>
              </p:cNvSpPr>
              <p:nvPr/>
            </p:nvSpPr>
            <p:spPr bwMode="auto">
              <a:xfrm>
                <a:off x="1057"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smtClean="0">
                  <a:ln>
                    <a:noFill/>
                  </a:ln>
                  <a:solidFill>
                    <a:schemeClr val="tx1"/>
                  </a:solidFill>
                  <a:effectLst/>
                  <a:uLnTx/>
                  <a:uFillTx/>
                  <a:latin typeface="Times New Roman" panose="02020503050405090304" pitchFamily="18" charset="0"/>
                  <a:ea typeface="仿宋_GB2312" pitchFamily="49" charset="-122"/>
                  <a:cs typeface="+mn-cs"/>
                </a:endParaRPr>
              </a:p>
            </p:txBody>
          </p:sp>
        </p:grpSp>
        <p:grpSp>
          <p:nvGrpSpPr>
            <p:cNvPr id="16390" name="Group 6"/>
            <p:cNvGrpSpPr/>
            <p:nvPr/>
          </p:nvGrpSpPr>
          <p:grpSpPr>
            <a:xfrm>
              <a:off x="263" y="1870"/>
              <a:ext cx="466" cy="299"/>
              <a:chOff x="912" y="2640"/>
              <a:chExt cx="672" cy="432"/>
            </a:xfrm>
          </p:grpSpPr>
          <p:sp>
            <p:nvSpPr>
              <p:cNvPr id="22" name="Rectangle 7"/>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smtClean="0">
                  <a:ln>
                    <a:noFill/>
                  </a:ln>
                  <a:solidFill>
                    <a:schemeClr val="tx1"/>
                  </a:solidFill>
                  <a:effectLst/>
                  <a:uLnTx/>
                  <a:uFillTx/>
                  <a:latin typeface="Times New Roman" panose="02020503050405090304" pitchFamily="18" charset="0"/>
                  <a:ea typeface="仿宋_GB2312" pitchFamily="49" charset="-122"/>
                  <a:cs typeface="+mn-cs"/>
                </a:endParaRPr>
              </a:p>
            </p:txBody>
          </p:sp>
          <p:sp>
            <p:nvSpPr>
              <p:cNvPr id="23" name="Rectangle 8"/>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smtClean="0">
                  <a:ln>
                    <a:noFill/>
                  </a:ln>
                  <a:solidFill>
                    <a:schemeClr val="tx1"/>
                  </a:solidFill>
                  <a:effectLst/>
                  <a:uLnTx/>
                  <a:uFillTx/>
                  <a:latin typeface="Times New Roman" panose="02020503050405090304" pitchFamily="18" charset="0"/>
                  <a:ea typeface="仿宋_GB2312" pitchFamily="49" charset="-122"/>
                  <a:cs typeface="+mn-cs"/>
                </a:endParaRPr>
              </a:p>
            </p:txBody>
          </p:sp>
        </p:grpSp>
        <p:sp>
          <p:nvSpPr>
            <p:cNvPr id="19"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smtClean="0">
                <a:ln>
                  <a:noFill/>
                </a:ln>
                <a:solidFill>
                  <a:schemeClr val="tx1"/>
                </a:solidFill>
                <a:effectLst/>
                <a:uLnTx/>
                <a:uFillTx/>
                <a:latin typeface="Times New Roman" panose="02020503050405090304" pitchFamily="18" charset="0"/>
                <a:ea typeface="仿宋_GB2312" pitchFamily="49" charset="-122"/>
                <a:cs typeface="+mn-cs"/>
              </a:endParaRPr>
            </a:p>
          </p:txBody>
        </p:sp>
        <p:sp>
          <p:nvSpPr>
            <p:cNvPr id="20" name="Rectangle 10"/>
            <p:cNvSpPr>
              <a:spLocks noChangeArrowheads="1"/>
            </p:cNvSpPr>
            <p:nvPr/>
          </p:nvSpPr>
          <p:spPr bwMode="auto">
            <a:xfrm>
              <a:off x="400" y="1536"/>
              <a:ext cx="18" cy="663"/>
            </a:xfrm>
            <a:prstGeom prst="rect">
              <a:avLst/>
            </a:prstGeom>
            <a:solidFill>
              <a:schemeClr val="bg2"/>
            </a:soli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smtClean="0">
                <a:ln>
                  <a:noFill/>
                </a:ln>
                <a:solidFill>
                  <a:schemeClr val="tx1"/>
                </a:solidFill>
                <a:effectLst/>
                <a:uLnTx/>
                <a:uFillTx/>
                <a:latin typeface="Times New Roman" panose="02020503050405090304" pitchFamily="18" charset="0"/>
                <a:ea typeface="仿宋_GB2312" pitchFamily="49" charset="-122"/>
                <a:cs typeface="+mn-cs"/>
              </a:endParaRPr>
            </a:p>
          </p:txBody>
        </p:sp>
        <p:sp>
          <p:nvSpPr>
            <p:cNvPr id="21"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smtClean="0">
                <a:ln>
                  <a:noFill/>
                </a:ln>
                <a:solidFill>
                  <a:schemeClr val="tx1"/>
                </a:solidFill>
                <a:effectLst/>
                <a:uLnTx/>
                <a:uFillTx/>
                <a:latin typeface="Times New Roman" panose="02020503050405090304" pitchFamily="18" charset="0"/>
                <a:ea typeface="仿宋_GB2312" pitchFamily="49" charset="-122"/>
                <a:cs typeface="+mn-cs"/>
              </a:endParaRPr>
            </a:p>
          </p:txBody>
        </p:sp>
      </p:grpSp>
      <p:sp>
        <p:nvSpPr>
          <p:cNvPr id="148492" name="Rectangle 12"/>
          <p:cNvSpPr>
            <a:spLocks noGrp="1" noChangeArrowheads="1"/>
          </p:cNvSpPr>
          <p:nvPr>
            <p:ph type="ctrTitle"/>
          </p:nvPr>
        </p:nvSpPr>
        <p:spPr>
          <a:xfrm>
            <a:off x="927100" y="1898650"/>
            <a:ext cx="7772400" cy="1216025"/>
          </a:xfrm>
        </p:spPr>
        <p:txBody>
          <a:bodyPr anchorCtr="1"/>
          <a:lstStyle>
            <a:lvl1pPr>
              <a:defRPr sz="4400">
                <a:ea typeface="华文新魏" pitchFamily="2" charset="-122"/>
              </a:defRPr>
            </a:lvl1pPr>
          </a:lstStyle>
          <a:p>
            <a:pPr lvl="0" fontAlgn="base"/>
            <a:r>
              <a:rPr lang="zh-CN" altLang="en-US" strike="noStrike" noProof="0" smtClean="0"/>
              <a:t>单击此处编辑母版标题样式</a:t>
            </a:r>
            <a:endParaRPr lang="zh-CN" altLang="en-US" strike="noStrike" noProof="0" smtClean="0"/>
          </a:p>
        </p:txBody>
      </p:sp>
      <p:sp>
        <p:nvSpPr>
          <p:cNvPr id="148493" name="Rectangle 13"/>
          <p:cNvSpPr>
            <a:spLocks noGrp="1" noChangeArrowheads="1"/>
          </p:cNvSpPr>
          <p:nvPr>
            <p:ph type="subTitle" idx="1"/>
          </p:nvPr>
        </p:nvSpPr>
        <p:spPr>
          <a:xfrm>
            <a:off x="1331913" y="3429000"/>
            <a:ext cx="6400800" cy="1752600"/>
          </a:xfrm>
        </p:spPr>
        <p:txBody>
          <a:bodyPr/>
          <a:lstStyle>
            <a:lvl1pPr marL="0" indent="0" algn="ctr">
              <a:defRPr/>
            </a:lvl1pPr>
          </a:lstStyle>
          <a:p>
            <a:pPr lvl="0" fontAlgn="base"/>
            <a:r>
              <a:rPr lang="zh-CN" altLang="en-US" strike="noStrike" noProof="0" smtClean="0"/>
              <a:t>单击此处编辑母版副标题样式</a:t>
            </a:r>
            <a:endParaRPr lang="zh-CN" altLang="en-US" strike="noStrike" noProof="0" smtClean="0"/>
          </a:p>
        </p:txBody>
      </p:sp>
      <p:sp>
        <p:nvSpPr>
          <p:cNvPr id="26" name="Rectangle 14"/>
          <p:cNvSpPr>
            <a:spLocks noGrp="1" noChangeArrowheads="1"/>
          </p:cNvSpPr>
          <p:nvPr>
            <p:ph type="dt" sz="half" idx="2"/>
          </p:nvPr>
        </p:nvSpPr>
        <p:spPr bwMode="auto">
          <a:xfrm>
            <a:off x="990600" y="6248400"/>
            <a:ext cx="1905000" cy="457200"/>
          </a:xfrm>
          <a:prstGeom prst="rect">
            <a:avLst/>
          </a:prstGeom>
          <a:noFill/>
          <a:ln>
            <a:noFill/>
          </a:ln>
          <a:effectLst/>
        </p:spPr>
        <p:txBody>
          <a:bodyPr vert="horz" wrap="square" lIns="91440" tIns="45720" rIns="91440" bIns="45720" numCol="1" anchor="b" anchorCtr="0" compatLnSpc="1"/>
          <a:lstStyle>
            <a:lvl1pPr>
              <a:defRPr>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9BF2AEC6-4424-4219-BBEA-FB77AC9C2CFA}" type="datetimeFigureOut">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mn-ea"/>
              <a:cs typeface="+mn-cs"/>
            </a:endParaRPr>
          </a:p>
        </p:txBody>
      </p:sp>
      <p:sp>
        <p:nvSpPr>
          <p:cNvPr id="27" name="Rectangle 15"/>
          <p:cNvSpPr>
            <a:spLocks noGrp="1" noChangeArrowheads="1"/>
          </p:cNvSpPr>
          <p:nvPr>
            <p:ph type="ftr" sz="quarter" idx="3"/>
          </p:nvPr>
        </p:nvSpPr>
        <p:spPr bwMode="auto">
          <a:xfrm>
            <a:off x="3429000" y="6248400"/>
            <a:ext cx="2895600" cy="457200"/>
          </a:xfrm>
          <a:prstGeom prst="rect">
            <a:avLst/>
          </a:prstGeom>
          <a:noFill/>
          <a:ln>
            <a:noFill/>
          </a:ln>
          <a:effectLst/>
        </p:spPr>
        <p:txBody>
          <a:bodyPr vert="horz" wrap="square" lIns="91440" tIns="45720" rIns="91440" bIns="45720" numCol="1" anchor="b" anchorCtr="0" compatLnSpc="1"/>
          <a:lstStyle>
            <a:lvl1pPr>
              <a:defRPr>
                <a:solidFill>
                  <a:schemeClr val="bg2"/>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mn-ea"/>
              <a:cs typeface="+mn-cs"/>
            </a:endParaRPr>
          </a:p>
        </p:txBody>
      </p:sp>
      <p:sp>
        <p:nvSpPr>
          <p:cNvPr id="28" name="Rectangle 16"/>
          <p:cNvSpPr>
            <a:spLocks noGrp="1" noChangeArrowheads="1"/>
          </p:cNvSpPr>
          <p:nvPr>
            <p:ph type="sldNum" sz="quarter" idx="4"/>
          </p:nvPr>
        </p:nvSpPr>
        <p:spPr bwMode="auto">
          <a:xfrm>
            <a:off x="6858000" y="6248400"/>
            <a:ext cx="1905000" cy="457200"/>
          </a:xfrm>
          <a:prstGeom prst="rect">
            <a:avLst/>
          </a:prstGeom>
          <a:noFill/>
          <a:ln>
            <a:noFill/>
          </a:ln>
          <a:effectLst/>
        </p:spPr>
        <p:txBody>
          <a:bodyPr vert="horz" wrap="square" lIns="91440" tIns="45720" rIns="91440" bIns="45720" numCol="1" anchor="b" anchorCtr="0" compatLnSpc="1"/>
          <a:p>
            <a:pPr algn="r" eaLnBrk="1" fontAlgn="base" hangingPunct="1">
              <a:buClrTx/>
              <a:buNone/>
            </a:pPr>
            <a:fld id="{9A0DB2DC-4C9A-4742-B13C-FB6460FD3503}" type="slidenum">
              <a:rPr lang="zh-CN" altLang="en-US" strike="noStrike" noProof="1" dirty="0">
                <a:solidFill>
                  <a:schemeClr val="bg2"/>
                </a:solidFill>
                <a:latin typeface="Tahoma" panose="020B0604030504040204" pitchFamily="34" charset="0"/>
                <a:ea typeface="宋体" pitchFamily="2" charset="-122"/>
                <a:cs typeface="+mn-cs"/>
              </a:rPr>
            </a:fld>
            <a:endParaRPr lang="zh-CN" altLang="en-US" strike="noStrike" noProof="1" dirty="0">
              <a:solidFill>
                <a:schemeClr val="bg2"/>
              </a:solidFill>
              <a:latin typeface="Tahoma" panose="020B0604030504040204" pitchFamily="34" charset="0"/>
              <a:ea typeface="宋体" pitchFamily="2" charset="-122"/>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Slide Number Placeholder 5"/>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Slide Number Placeholder 5"/>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836613" y="1042988"/>
            <a:ext cx="3771900" cy="508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760913" y="1042988"/>
            <a:ext cx="3771900" cy="508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7" name="Slide Number Placeholder 6"/>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9" name="Slide Number Placeholder 8"/>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5" name="Slide Number Placeholder 4"/>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3" name="Footer Placeholder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4" name="Slide Number Placeholder 3"/>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7" name="Slide Number Placeholder 6"/>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3200" b="0" i="0" u="none" strike="noStrike" kern="0" cap="none" spc="0" normalizeH="0" baseline="0" noProof="0" smtClean="0">
              <a:ln>
                <a:noFill/>
              </a:ln>
              <a:solidFill>
                <a:schemeClr val="fo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7" name="Slide Number Placeholder 6"/>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Slide Number Placeholder 5"/>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08763" y="188913"/>
            <a:ext cx="1924050" cy="59404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836613" y="188913"/>
            <a:ext cx="5619750" cy="59404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Slide Number Placeholder 5"/>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81063" y="188913"/>
            <a:ext cx="7605712" cy="765175"/>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836613" y="1042988"/>
            <a:ext cx="3771900" cy="50863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4760913" y="1042988"/>
            <a:ext cx="3771900" cy="24669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4760913" y="3662363"/>
            <a:ext cx="3771900" cy="24669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Date Placeholder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7" name="Footer Placeholder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8" name="Slide Number Placeholder 7"/>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showMasterPhAnim="0"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17410" name="Picture 7" descr="未标题-1 拷贝"/>
          <p:cNvPicPr>
            <a:picLocks noChangeAspect="1"/>
          </p:cNvPicPr>
          <p:nvPr/>
        </p:nvPicPr>
        <p:blipFill>
          <a:blip r:embed="rId2"/>
          <a:stretch>
            <a:fillRect/>
          </a:stretch>
        </p:blipFill>
        <p:spPr>
          <a:xfrm>
            <a:off x="395288" y="6365875"/>
            <a:ext cx="2236787" cy="492125"/>
          </a:xfrm>
          <a:prstGeom prst="rect">
            <a:avLst/>
          </a:prstGeom>
          <a:noFill/>
          <a:ln w="9525">
            <a:noFill/>
          </a:ln>
        </p:spPr>
      </p:pic>
      <p:sp>
        <p:nvSpPr>
          <p:cNvPr id="20482" name="Rectangle 2"/>
          <p:cNvSpPr>
            <a:spLocks noGrp="1" noChangeArrowheads="1"/>
          </p:cNvSpPr>
          <p:nvPr>
            <p:ph type="ctrTitle"/>
          </p:nvPr>
        </p:nvSpPr>
        <p:spPr>
          <a:xfrm>
            <a:off x="714348" y="2285992"/>
            <a:ext cx="7772400" cy="1143000"/>
          </a:xfrm>
        </p:spPr>
        <p:txBody>
          <a:bodyPr/>
          <a:lstStyle>
            <a:lvl1pPr algn="ctr">
              <a:defRPr sz="4400"/>
            </a:lvl1pPr>
          </a:lstStyle>
          <a:p>
            <a:pPr fontAlgn="base"/>
            <a:r>
              <a:rPr lang="zh-CN" altLang="en-US" strike="noStrike" noProof="1" smtClean="0"/>
              <a:t>单击此处编辑母版标题样式</a:t>
            </a:r>
            <a:endParaRPr lang="zh-CN" altLang="en-US" strike="noStrike" noProof="1" dirty="0"/>
          </a:p>
        </p:txBody>
      </p:sp>
      <p:sp>
        <p:nvSpPr>
          <p:cNvPr id="20483" name="Rectangle 3"/>
          <p:cNvSpPr>
            <a:spLocks noGrp="1" noChangeArrowheads="1"/>
          </p:cNvSpPr>
          <p:nvPr>
            <p:ph type="subTitle" idx="1"/>
          </p:nvPr>
        </p:nvSpPr>
        <p:spPr>
          <a:xfrm>
            <a:off x="1371600" y="3886200"/>
            <a:ext cx="6400800" cy="1752600"/>
          </a:xfrm>
        </p:spPr>
        <p:txBody>
          <a:bodyPr/>
          <a:lstStyle>
            <a:lvl1pPr algn="ctr">
              <a:buFont typeface="Wingdings" panose="05000000000000000000" pitchFamily="2" charset="2"/>
              <a:buNone/>
              <a:defRPr>
                <a:solidFill>
                  <a:schemeClr val="accent2"/>
                </a:solidFill>
              </a:defRPr>
            </a:lvl1pPr>
          </a:lstStyle>
          <a:p>
            <a:pPr fontAlgn="base"/>
            <a:r>
              <a:rPr lang="zh-CN" altLang="en-US" strike="noStrike" noProof="1" smtClean="0"/>
              <a:t>单击此处编辑母版副标题样式</a:t>
            </a:r>
            <a:endParaRPr lang="zh-CN" altLang="en-US" strike="noStrike" noProof="1"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fontAlgn="base"/>
            <a:r>
              <a:rPr lang="zh-CN" altLang="en-US" strike="noStrike" noProof="1" dirty="0" smtClean="0"/>
              <a:t>单击此处编辑母版标题样式</a:t>
            </a:r>
            <a:endParaRPr lang="zh-CN" altLang="en-US" strike="noStrike" noProof="1"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228600" y="996950"/>
            <a:ext cx="4305300" cy="5403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996950"/>
            <a:ext cx="4305300" cy="5403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425450" rtl="0" eaLnBrk="0" fontAlgn="base" latinLnBrk="0" hangingPunct="0">
              <a:lnSpc>
                <a:spcPct val="130000"/>
              </a:lnSpc>
              <a:spcBef>
                <a:spcPct val="20000"/>
              </a:spcBef>
              <a:spcAft>
                <a:spcPct val="0"/>
              </a:spcAft>
              <a:buClr>
                <a:schemeClr val="folHlink"/>
              </a:buClr>
              <a:buSzTx/>
              <a:buFont typeface="Wingdings" panose="05000000000000000000" pitchFamily="2" charset="2"/>
              <a:buNone/>
              <a:defRPr/>
            </a:pPr>
            <a:endParaRPr kumimoji="1"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00850" y="228600"/>
            <a:ext cx="2190750" cy="61722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228600" y="228600"/>
            <a:ext cx="6419850" cy="61722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28600" y="228600"/>
            <a:ext cx="8763000" cy="6096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228600" y="996950"/>
            <a:ext cx="4305300" cy="54038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996950"/>
            <a:ext cx="4305300" cy="54038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228600" y="228600"/>
            <a:ext cx="8763000" cy="6096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228600" y="996950"/>
            <a:ext cx="8763000" cy="5403850"/>
          </a:xfrm>
        </p:spPr>
        <p:txBody>
          <a:bodyPr vert="horz" wrap="square" lIns="91440" tIns="45720" rIns="91440" bIns="45720" numCol="1" anchor="t" anchorCtr="0" compatLnSpc="1"/>
          <a:lstStyle/>
          <a:p>
            <a:pPr marL="342900" marR="0" lvl="0" indent="-342900" algn="l" defTabSz="425450" rtl="0" eaLnBrk="0" fontAlgn="base" latinLnBrk="0" hangingPunct="0">
              <a:lnSpc>
                <a:spcPct val="130000"/>
              </a:lnSpc>
              <a:spcBef>
                <a:spcPct val="20000"/>
              </a:spcBef>
              <a:spcAft>
                <a:spcPct val="0"/>
              </a:spcAft>
              <a:buClr>
                <a:schemeClr val="folHlink"/>
              </a:buClr>
              <a:buSzTx/>
              <a:buFont typeface="Wingdings" panose="05000000000000000000" pitchFamily="2" charset="2"/>
              <a:buChar char="v"/>
              <a:defRPr/>
            </a:pPr>
            <a:endParaRPr kumimoji="1" lang="zh-CN" altLang="en-US" sz="2800" b="1" i="0" u="none" strike="noStrike" kern="0" cap="none" spc="0" normalizeH="0" baseline="0" noProof="0" smtClean="0">
              <a:ln>
                <a:noFill/>
              </a:ln>
              <a:solidFill>
                <a:schemeClr val="tx1"/>
              </a:solidFill>
              <a:effectLst/>
              <a:uLnTx/>
              <a:uFillTx/>
              <a:latin typeface="+mn-lt"/>
              <a:ea typeface="+mn-ea"/>
              <a:cs typeface="+mn-cs"/>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 preserve="1" showMasterPhAnim="0"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18434" name="Picture 7" descr="未标题-1 拷贝"/>
          <p:cNvPicPr>
            <a:picLocks noChangeAspect="1"/>
          </p:cNvPicPr>
          <p:nvPr/>
        </p:nvPicPr>
        <p:blipFill>
          <a:blip r:embed="rId2"/>
          <a:stretch>
            <a:fillRect/>
          </a:stretch>
        </p:blipFill>
        <p:spPr>
          <a:xfrm>
            <a:off x="395288" y="6365875"/>
            <a:ext cx="2236787" cy="492125"/>
          </a:xfrm>
          <a:prstGeom prst="rect">
            <a:avLst/>
          </a:prstGeom>
          <a:noFill/>
          <a:ln w="9525">
            <a:noFill/>
          </a:ln>
        </p:spPr>
      </p:pic>
      <p:sp>
        <p:nvSpPr>
          <p:cNvPr id="20482" name="Rectangle 2"/>
          <p:cNvSpPr>
            <a:spLocks noGrp="1" noChangeArrowheads="1"/>
          </p:cNvSpPr>
          <p:nvPr>
            <p:ph type="ctrTitle"/>
          </p:nvPr>
        </p:nvSpPr>
        <p:spPr>
          <a:xfrm>
            <a:off x="714348" y="2285992"/>
            <a:ext cx="7772400" cy="1143000"/>
          </a:xfrm>
        </p:spPr>
        <p:txBody>
          <a:bodyPr/>
          <a:lstStyle>
            <a:lvl1pPr algn="ctr">
              <a:defRPr sz="4400"/>
            </a:lvl1pPr>
          </a:lstStyle>
          <a:p>
            <a:pPr fontAlgn="base"/>
            <a:r>
              <a:rPr lang="zh-CN" altLang="en-US" strike="noStrike" noProof="1" smtClean="0"/>
              <a:t>单击此处编辑母版标题样式</a:t>
            </a:r>
            <a:endParaRPr lang="zh-CN" altLang="en-US" strike="noStrike" noProof="1" dirty="0"/>
          </a:p>
        </p:txBody>
      </p:sp>
      <p:sp>
        <p:nvSpPr>
          <p:cNvPr id="20483" name="Rectangle 3"/>
          <p:cNvSpPr>
            <a:spLocks noGrp="1" noChangeArrowheads="1"/>
          </p:cNvSpPr>
          <p:nvPr>
            <p:ph type="subTitle" idx="1"/>
          </p:nvPr>
        </p:nvSpPr>
        <p:spPr>
          <a:xfrm>
            <a:off x="1371600" y="3886200"/>
            <a:ext cx="6400800" cy="1752600"/>
          </a:xfrm>
        </p:spPr>
        <p:txBody>
          <a:bodyPr/>
          <a:lstStyle>
            <a:lvl1pPr algn="ctr">
              <a:buFont typeface="Wingdings" panose="05000000000000000000" pitchFamily="2" charset="2"/>
              <a:buNone/>
              <a:defRPr>
                <a:solidFill>
                  <a:schemeClr val="accent2"/>
                </a:solidFill>
              </a:defRPr>
            </a:lvl1pPr>
          </a:lstStyle>
          <a:p>
            <a:pPr fontAlgn="base"/>
            <a:r>
              <a:rPr lang="zh-CN" altLang="en-US" strike="noStrike" noProof="1" smtClean="0"/>
              <a:t>单击此处编辑母版副标题样式</a:t>
            </a:r>
            <a:endParaRPr lang="zh-CN" altLang="en-US" strike="noStrike" noProof="1" dirty="0"/>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fontAlgn="base"/>
            <a:r>
              <a:rPr lang="zh-CN" altLang="en-US" strike="noStrike" noProof="1" dirty="0" smtClean="0"/>
              <a:t>单击此处编辑母版标题样式</a:t>
            </a:r>
            <a:endParaRPr lang="zh-CN" altLang="en-US" strike="noStrike" noProof="1" dirty="0"/>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228600" y="996950"/>
            <a:ext cx="4305300" cy="5403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996950"/>
            <a:ext cx="4305300" cy="5403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425450" rtl="0" eaLnBrk="0" fontAlgn="base" latinLnBrk="0" hangingPunct="0">
              <a:lnSpc>
                <a:spcPct val="130000"/>
              </a:lnSpc>
              <a:spcBef>
                <a:spcPct val="20000"/>
              </a:spcBef>
              <a:spcAft>
                <a:spcPct val="0"/>
              </a:spcAft>
              <a:buClr>
                <a:schemeClr val="folHlink"/>
              </a:buClr>
              <a:buSzTx/>
              <a:buFont typeface="Wingdings" panose="05000000000000000000" pitchFamily="2" charset="2"/>
              <a:buNone/>
              <a:defRPr/>
            </a:pPr>
            <a:endParaRPr kumimoji="1"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00850" y="228600"/>
            <a:ext cx="2190750" cy="61722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228600" y="228600"/>
            <a:ext cx="6419850" cy="61722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28600" y="228600"/>
            <a:ext cx="8763000" cy="6096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228600" y="996950"/>
            <a:ext cx="4305300" cy="54038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996950"/>
            <a:ext cx="4305300" cy="54038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228600" y="228600"/>
            <a:ext cx="8763000" cy="6096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228600" y="996950"/>
            <a:ext cx="8763000" cy="5403850"/>
          </a:xfrm>
        </p:spPr>
        <p:txBody>
          <a:bodyPr vert="horz" wrap="square" lIns="91440" tIns="45720" rIns="91440" bIns="45720" numCol="1" anchor="t" anchorCtr="0" compatLnSpc="1"/>
          <a:lstStyle/>
          <a:p>
            <a:pPr marL="342900" marR="0" lvl="0" indent="-342900" algn="l" defTabSz="425450" rtl="0" eaLnBrk="0" fontAlgn="base" latinLnBrk="0" hangingPunct="0">
              <a:lnSpc>
                <a:spcPct val="130000"/>
              </a:lnSpc>
              <a:spcBef>
                <a:spcPct val="20000"/>
              </a:spcBef>
              <a:spcAft>
                <a:spcPct val="0"/>
              </a:spcAft>
              <a:buClr>
                <a:schemeClr val="folHlink"/>
              </a:buClr>
              <a:buSzTx/>
              <a:buFont typeface="Wingdings" panose="05000000000000000000" pitchFamily="2" charset="2"/>
              <a:buChar char="v"/>
              <a:defRPr/>
            </a:pPr>
            <a:endParaRPr kumimoji="1" lang="zh-CN" altLang="en-US" sz="2800" b="1" i="0" u="none" strike="noStrike" kern="0" cap="none" spc="0" normalizeH="0" baseline="0" noProof="0" smtClean="0">
              <a:ln>
                <a:noFill/>
              </a:ln>
              <a:solidFill>
                <a:schemeClr val="tx1"/>
              </a:solidFill>
              <a:effectLst/>
              <a:uLnTx/>
              <a:uFillTx/>
              <a:latin typeface="+mn-lt"/>
              <a:ea typeface="+mn-ea"/>
              <a:cs typeface="+mn-cs"/>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 preserve="1" showMasterPhAnim="0"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19458" name="Picture 7" descr="未标题-1 拷贝"/>
          <p:cNvPicPr>
            <a:picLocks noChangeAspect="1"/>
          </p:cNvPicPr>
          <p:nvPr/>
        </p:nvPicPr>
        <p:blipFill>
          <a:blip r:embed="rId2"/>
          <a:stretch>
            <a:fillRect/>
          </a:stretch>
        </p:blipFill>
        <p:spPr>
          <a:xfrm>
            <a:off x="395288" y="6365875"/>
            <a:ext cx="2236787" cy="492125"/>
          </a:xfrm>
          <a:prstGeom prst="rect">
            <a:avLst/>
          </a:prstGeom>
          <a:noFill/>
          <a:ln w="9525">
            <a:noFill/>
          </a:ln>
        </p:spPr>
      </p:pic>
      <p:sp>
        <p:nvSpPr>
          <p:cNvPr id="20482" name="Rectangle 2"/>
          <p:cNvSpPr>
            <a:spLocks noGrp="1" noChangeArrowheads="1"/>
          </p:cNvSpPr>
          <p:nvPr>
            <p:ph type="ctrTitle"/>
          </p:nvPr>
        </p:nvSpPr>
        <p:spPr>
          <a:xfrm>
            <a:off x="714348" y="2285992"/>
            <a:ext cx="7772400" cy="1143000"/>
          </a:xfrm>
        </p:spPr>
        <p:txBody>
          <a:bodyPr/>
          <a:lstStyle>
            <a:lvl1pPr algn="ctr">
              <a:defRPr sz="4400"/>
            </a:lvl1pPr>
          </a:lstStyle>
          <a:p>
            <a:pPr fontAlgn="base"/>
            <a:r>
              <a:rPr lang="zh-CN" altLang="en-US" strike="noStrike" noProof="1" smtClean="0"/>
              <a:t>单击此处编辑母版标题样式</a:t>
            </a:r>
            <a:endParaRPr lang="zh-CN" altLang="en-US" strike="noStrike" noProof="1" dirty="0"/>
          </a:p>
        </p:txBody>
      </p:sp>
      <p:sp>
        <p:nvSpPr>
          <p:cNvPr id="20483" name="Rectangle 3"/>
          <p:cNvSpPr>
            <a:spLocks noGrp="1" noChangeArrowheads="1"/>
          </p:cNvSpPr>
          <p:nvPr>
            <p:ph type="subTitle" idx="1"/>
          </p:nvPr>
        </p:nvSpPr>
        <p:spPr>
          <a:xfrm>
            <a:off x="1371600" y="3886200"/>
            <a:ext cx="6400800" cy="1752600"/>
          </a:xfrm>
        </p:spPr>
        <p:txBody>
          <a:bodyPr/>
          <a:lstStyle>
            <a:lvl1pPr algn="ctr">
              <a:buFont typeface="Wingdings" panose="05000000000000000000" pitchFamily="2" charset="2"/>
              <a:buNone/>
              <a:defRPr>
                <a:solidFill>
                  <a:schemeClr val="accent2"/>
                </a:solidFill>
              </a:defRPr>
            </a:lvl1pPr>
          </a:lstStyle>
          <a:p>
            <a:pPr fontAlgn="base"/>
            <a:r>
              <a:rPr lang="zh-CN" altLang="en-US" strike="noStrike" noProof="1" smtClean="0"/>
              <a:t>单击此处编辑母版副标题样式</a:t>
            </a:r>
            <a:endParaRPr lang="zh-CN" altLang="en-US" strike="noStrike" noProof="1" dirty="0"/>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fontAlgn="base"/>
            <a:r>
              <a:rPr lang="zh-CN" altLang="en-US" strike="noStrike" noProof="1" dirty="0" smtClean="0"/>
              <a:t>单击此处编辑母版标题样式</a:t>
            </a:r>
            <a:endParaRPr lang="zh-CN" altLang="en-US" strike="noStrike" noProof="1" dirty="0"/>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228600" y="996950"/>
            <a:ext cx="4305300" cy="5403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996950"/>
            <a:ext cx="4305300" cy="5403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425450" rtl="0" eaLnBrk="0" fontAlgn="base" latinLnBrk="0" hangingPunct="0">
              <a:lnSpc>
                <a:spcPct val="130000"/>
              </a:lnSpc>
              <a:spcBef>
                <a:spcPct val="20000"/>
              </a:spcBef>
              <a:spcAft>
                <a:spcPct val="0"/>
              </a:spcAft>
              <a:buClr>
                <a:schemeClr val="folHlink"/>
              </a:buClr>
              <a:buSzTx/>
              <a:buFont typeface="Wingdings" panose="05000000000000000000" pitchFamily="2" charset="2"/>
              <a:buNone/>
              <a:defRPr/>
            </a:pPr>
            <a:endParaRPr kumimoji="1"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00850" y="228600"/>
            <a:ext cx="2190750" cy="61722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228600" y="228600"/>
            <a:ext cx="6419850" cy="61722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28600" y="228600"/>
            <a:ext cx="8763000" cy="6096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228600" y="996950"/>
            <a:ext cx="4305300" cy="54038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996950"/>
            <a:ext cx="4305300" cy="54038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228600" y="228600"/>
            <a:ext cx="8763000" cy="6096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228600" y="996950"/>
            <a:ext cx="8763000" cy="5403850"/>
          </a:xfrm>
        </p:spPr>
        <p:txBody>
          <a:bodyPr vert="horz" wrap="square" lIns="91440" tIns="45720" rIns="91440" bIns="45720" numCol="1" anchor="t" anchorCtr="0" compatLnSpc="1"/>
          <a:lstStyle/>
          <a:p>
            <a:pPr marL="342900" marR="0" lvl="0" indent="-342900" algn="l" defTabSz="425450" rtl="0" eaLnBrk="0" fontAlgn="base" latinLnBrk="0" hangingPunct="0">
              <a:lnSpc>
                <a:spcPct val="130000"/>
              </a:lnSpc>
              <a:spcBef>
                <a:spcPct val="20000"/>
              </a:spcBef>
              <a:spcAft>
                <a:spcPct val="0"/>
              </a:spcAft>
              <a:buClr>
                <a:schemeClr val="folHlink"/>
              </a:buClr>
              <a:buSzTx/>
              <a:buFont typeface="Wingdings" panose="05000000000000000000" pitchFamily="2" charset="2"/>
              <a:buChar char="v"/>
              <a:defRPr/>
            </a:pPr>
            <a:endParaRPr kumimoji="1" lang="zh-CN" altLang="en-US" sz="2800" b="1" i="0" u="none" strike="noStrike" kern="0" cap="none" spc="0" normalizeH="0" baseline="0" noProof="0" smtClean="0">
              <a:ln>
                <a:noFill/>
              </a:ln>
              <a:solidFill>
                <a:schemeClr val="tx1"/>
              </a:solidFill>
              <a:effectLst/>
              <a:uLnTx/>
              <a:uFillTx/>
              <a:latin typeface="+mn-lt"/>
              <a:ea typeface="+mn-ea"/>
              <a:cs typeface="+mn-cs"/>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20482" name="Group 2"/>
          <p:cNvGrpSpPr/>
          <p:nvPr/>
        </p:nvGrpSpPr>
        <p:grpSpPr>
          <a:xfrm>
            <a:off x="341313" y="2259013"/>
            <a:ext cx="8416925" cy="1052512"/>
            <a:chOff x="0" y="1536"/>
            <a:chExt cx="5675" cy="663"/>
          </a:xfrm>
        </p:grpSpPr>
        <p:grpSp>
          <p:nvGrpSpPr>
            <p:cNvPr id="20483" name="Group 3"/>
            <p:cNvGrpSpPr/>
            <p:nvPr/>
          </p:nvGrpSpPr>
          <p:grpSpPr>
            <a:xfrm>
              <a:off x="183" y="1604"/>
              <a:ext cx="448" cy="299"/>
              <a:chOff x="720" y="336"/>
              <a:chExt cx="625" cy="432"/>
            </a:xfrm>
          </p:grpSpPr>
          <p:sp>
            <p:nvSpPr>
              <p:cNvPr id="24" name="Rectangle 4"/>
              <p:cNvSpPr>
                <a:spLocks noChangeArrowheads="1"/>
              </p:cNvSpPr>
              <p:nvPr/>
            </p:nvSpPr>
            <p:spPr bwMode="auto">
              <a:xfrm>
                <a:off x="720" y="336"/>
                <a:ext cx="385" cy="432"/>
              </a:xfrm>
              <a:prstGeom prst="rect">
                <a:avLst/>
              </a:prstGeom>
              <a:solidFill>
                <a:schemeClr val="folHlink"/>
              </a:soli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smtClean="0">
                  <a:ln>
                    <a:noFill/>
                  </a:ln>
                  <a:solidFill>
                    <a:schemeClr val="tx1"/>
                  </a:solidFill>
                  <a:effectLst/>
                  <a:uLnTx/>
                  <a:uFillTx/>
                  <a:latin typeface="Times New Roman" panose="02020503050405090304" pitchFamily="18" charset="0"/>
                  <a:ea typeface="仿宋_GB2312" pitchFamily="49" charset="-122"/>
                  <a:cs typeface="+mn-cs"/>
                </a:endParaRPr>
              </a:p>
            </p:txBody>
          </p:sp>
          <p:sp>
            <p:nvSpPr>
              <p:cNvPr id="25" name="Rectangle 5"/>
              <p:cNvSpPr>
                <a:spLocks noChangeArrowheads="1"/>
              </p:cNvSpPr>
              <p:nvPr/>
            </p:nvSpPr>
            <p:spPr bwMode="auto">
              <a:xfrm>
                <a:off x="1057"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smtClean="0">
                  <a:ln>
                    <a:noFill/>
                  </a:ln>
                  <a:solidFill>
                    <a:schemeClr val="tx1"/>
                  </a:solidFill>
                  <a:effectLst/>
                  <a:uLnTx/>
                  <a:uFillTx/>
                  <a:latin typeface="Times New Roman" panose="02020503050405090304" pitchFamily="18" charset="0"/>
                  <a:ea typeface="仿宋_GB2312" pitchFamily="49" charset="-122"/>
                  <a:cs typeface="+mn-cs"/>
                </a:endParaRPr>
              </a:p>
            </p:txBody>
          </p:sp>
        </p:grpSp>
        <p:grpSp>
          <p:nvGrpSpPr>
            <p:cNvPr id="20486" name="Group 6"/>
            <p:cNvGrpSpPr/>
            <p:nvPr/>
          </p:nvGrpSpPr>
          <p:grpSpPr>
            <a:xfrm>
              <a:off x="263" y="1870"/>
              <a:ext cx="466" cy="299"/>
              <a:chOff x="912" y="2640"/>
              <a:chExt cx="672" cy="432"/>
            </a:xfrm>
          </p:grpSpPr>
          <p:sp>
            <p:nvSpPr>
              <p:cNvPr id="22" name="Rectangle 7"/>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smtClean="0">
                  <a:ln>
                    <a:noFill/>
                  </a:ln>
                  <a:solidFill>
                    <a:schemeClr val="tx1"/>
                  </a:solidFill>
                  <a:effectLst/>
                  <a:uLnTx/>
                  <a:uFillTx/>
                  <a:latin typeface="Times New Roman" panose="02020503050405090304" pitchFamily="18" charset="0"/>
                  <a:ea typeface="仿宋_GB2312" pitchFamily="49" charset="-122"/>
                  <a:cs typeface="+mn-cs"/>
                </a:endParaRPr>
              </a:p>
            </p:txBody>
          </p:sp>
          <p:sp>
            <p:nvSpPr>
              <p:cNvPr id="23" name="Rectangle 8"/>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smtClean="0">
                  <a:ln>
                    <a:noFill/>
                  </a:ln>
                  <a:solidFill>
                    <a:schemeClr val="tx1"/>
                  </a:solidFill>
                  <a:effectLst/>
                  <a:uLnTx/>
                  <a:uFillTx/>
                  <a:latin typeface="Times New Roman" panose="02020503050405090304" pitchFamily="18" charset="0"/>
                  <a:ea typeface="仿宋_GB2312" pitchFamily="49" charset="-122"/>
                  <a:cs typeface="+mn-cs"/>
                </a:endParaRPr>
              </a:p>
            </p:txBody>
          </p:sp>
        </p:grpSp>
        <p:sp>
          <p:nvSpPr>
            <p:cNvPr id="19"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smtClean="0">
                <a:ln>
                  <a:noFill/>
                </a:ln>
                <a:solidFill>
                  <a:schemeClr val="tx1"/>
                </a:solidFill>
                <a:effectLst/>
                <a:uLnTx/>
                <a:uFillTx/>
                <a:latin typeface="Times New Roman" panose="02020503050405090304" pitchFamily="18" charset="0"/>
                <a:ea typeface="仿宋_GB2312" pitchFamily="49" charset="-122"/>
                <a:cs typeface="+mn-cs"/>
              </a:endParaRPr>
            </a:p>
          </p:txBody>
        </p:sp>
        <p:sp>
          <p:nvSpPr>
            <p:cNvPr id="20" name="Rectangle 10"/>
            <p:cNvSpPr>
              <a:spLocks noChangeArrowheads="1"/>
            </p:cNvSpPr>
            <p:nvPr/>
          </p:nvSpPr>
          <p:spPr bwMode="auto">
            <a:xfrm>
              <a:off x="400" y="1536"/>
              <a:ext cx="18" cy="663"/>
            </a:xfrm>
            <a:prstGeom prst="rect">
              <a:avLst/>
            </a:prstGeom>
            <a:solidFill>
              <a:schemeClr val="bg2"/>
            </a:soli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smtClean="0">
                <a:ln>
                  <a:noFill/>
                </a:ln>
                <a:solidFill>
                  <a:schemeClr val="tx1"/>
                </a:solidFill>
                <a:effectLst/>
                <a:uLnTx/>
                <a:uFillTx/>
                <a:latin typeface="Times New Roman" panose="02020503050405090304" pitchFamily="18" charset="0"/>
                <a:ea typeface="仿宋_GB2312" pitchFamily="49" charset="-122"/>
                <a:cs typeface="+mn-cs"/>
              </a:endParaRPr>
            </a:p>
          </p:txBody>
        </p:sp>
        <p:sp>
          <p:nvSpPr>
            <p:cNvPr id="21"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smtClean="0">
                <a:ln>
                  <a:noFill/>
                </a:ln>
                <a:solidFill>
                  <a:schemeClr val="tx1"/>
                </a:solidFill>
                <a:effectLst/>
                <a:uLnTx/>
                <a:uFillTx/>
                <a:latin typeface="Times New Roman" panose="02020503050405090304" pitchFamily="18" charset="0"/>
                <a:ea typeface="仿宋_GB2312" pitchFamily="49" charset="-122"/>
                <a:cs typeface="+mn-cs"/>
              </a:endParaRPr>
            </a:p>
          </p:txBody>
        </p:sp>
      </p:grpSp>
      <p:sp>
        <p:nvSpPr>
          <p:cNvPr id="148492" name="Rectangle 12"/>
          <p:cNvSpPr>
            <a:spLocks noGrp="1" noChangeArrowheads="1"/>
          </p:cNvSpPr>
          <p:nvPr>
            <p:ph type="ctrTitle"/>
          </p:nvPr>
        </p:nvSpPr>
        <p:spPr>
          <a:xfrm>
            <a:off x="927100" y="1898650"/>
            <a:ext cx="7772400" cy="1216025"/>
          </a:xfrm>
        </p:spPr>
        <p:txBody>
          <a:bodyPr anchorCtr="1"/>
          <a:lstStyle>
            <a:lvl1pPr>
              <a:defRPr sz="4400">
                <a:ea typeface="华文新魏" pitchFamily="2" charset="-122"/>
              </a:defRPr>
            </a:lvl1pPr>
          </a:lstStyle>
          <a:p>
            <a:pPr lvl="0" fontAlgn="base"/>
            <a:r>
              <a:rPr lang="zh-CN" altLang="en-US" strike="noStrike" noProof="0" smtClean="0"/>
              <a:t>单击此处编辑母版标题样式</a:t>
            </a:r>
            <a:endParaRPr lang="zh-CN" altLang="en-US" strike="noStrike" noProof="0" smtClean="0"/>
          </a:p>
        </p:txBody>
      </p:sp>
      <p:sp>
        <p:nvSpPr>
          <p:cNvPr id="148493" name="Rectangle 13"/>
          <p:cNvSpPr>
            <a:spLocks noGrp="1" noChangeArrowheads="1"/>
          </p:cNvSpPr>
          <p:nvPr>
            <p:ph type="subTitle" idx="1"/>
          </p:nvPr>
        </p:nvSpPr>
        <p:spPr>
          <a:xfrm>
            <a:off x="1331913" y="3429000"/>
            <a:ext cx="6400800" cy="1752600"/>
          </a:xfrm>
        </p:spPr>
        <p:txBody>
          <a:bodyPr/>
          <a:lstStyle>
            <a:lvl1pPr marL="0" indent="0" algn="ctr">
              <a:defRPr/>
            </a:lvl1pPr>
          </a:lstStyle>
          <a:p>
            <a:pPr lvl="0" fontAlgn="base"/>
            <a:r>
              <a:rPr lang="zh-CN" altLang="en-US" strike="noStrike" noProof="0" smtClean="0"/>
              <a:t>单击此处编辑母版副标题样式</a:t>
            </a:r>
            <a:endParaRPr lang="zh-CN" altLang="en-US" strike="noStrike" noProof="0" smtClean="0"/>
          </a:p>
        </p:txBody>
      </p:sp>
      <p:sp>
        <p:nvSpPr>
          <p:cNvPr id="26" name="Rectangle 14"/>
          <p:cNvSpPr>
            <a:spLocks noGrp="1" noChangeArrowheads="1"/>
          </p:cNvSpPr>
          <p:nvPr>
            <p:ph type="dt" sz="half" idx="2"/>
          </p:nvPr>
        </p:nvSpPr>
        <p:spPr bwMode="auto">
          <a:xfrm>
            <a:off x="990600" y="6248400"/>
            <a:ext cx="1905000" cy="457200"/>
          </a:xfrm>
          <a:prstGeom prst="rect">
            <a:avLst/>
          </a:prstGeom>
          <a:noFill/>
          <a:ln>
            <a:noFill/>
          </a:ln>
          <a:effectLst/>
        </p:spPr>
        <p:txBody>
          <a:bodyPr vert="horz" wrap="square" lIns="91440" tIns="45720" rIns="91440" bIns="45720" numCol="1" anchor="b" anchorCtr="0" compatLnSpc="1"/>
          <a:lstStyle>
            <a:lvl1pPr>
              <a:defRPr>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9BF2AEC6-4424-4219-BBEA-FB77AC9C2CFA}" type="datetimeFigureOut">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mn-ea"/>
              <a:cs typeface="+mn-cs"/>
            </a:endParaRPr>
          </a:p>
        </p:txBody>
      </p:sp>
      <p:sp>
        <p:nvSpPr>
          <p:cNvPr id="27" name="Rectangle 15"/>
          <p:cNvSpPr>
            <a:spLocks noGrp="1" noChangeArrowheads="1"/>
          </p:cNvSpPr>
          <p:nvPr>
            <p:ph type="ftr" sz="quarter" idx="3"/>
          </p:nvPr>
        </p:nvSpPr>
        <p:spPr bwMode="auto">
          <a:xfrm>
            <a:off x="3429000" y="6248400"/>
            <a:ext cx="2895600" cy="457200"/>
          </a:xfrm>
          <a:prstGeom prst="rect">
            <a:avLst/>
          </a:prstGeom>
          <a:noFill/>
          <a:ln>
            <a:noFill/>
          </a:ln>
          <a:effectLst/>
        </p:spPr>
        <p:txBody>
          <a:bodyPr vert="horz" wrap="square" lIns="91440" tIns="45720" rIns="91440" bIns="45720" numCol="1" anchor="b" anchorCtr="0" compatLnSpc="1"/>
          <a:lstStyle>
            <a:lvl1pPr>
              <a:defRPr>
                <a:solidFill>
                  <a:schemeClr val="bg2"/>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mn-ea"/>
              <a:cs typeface="+mn-cs"/>
            </a:endParaRPr>
          </a:p>
        </p:txBody>
      </p:sp>
      <p:sp>
        <p:nvSpPr>
          <p:cNvPr id="28" name="Rectangle 16"/>
          <p:cNvSpPr>
            <a:spLocks noGrp="1" noChangeArrowheads="1"/>
          </p:cNvSpPr>
          <p:nvPr>
            <p:ph type="sldNum" sz="quarter" idx="4"/>
          </p:nvPr>
        </p:nvSpPr>
        <p:spPr bwMode="auto">
          <a:xfrm>
            <a:off x="6858000" y="6248400"/>
            <a:ext cx="1905000" cy="457200"/>
          </a:xfrm>
          <a:prstGeom prst="rect">
            <a:avLst/>
          </a:prstGeom>
          <a:noFill/>
          <a:ln>
            <a:noFill/>
          </a:ln>
          <a:effectLst/>
        </p:spPr>
        <p:txBody>
          <a:bodyPr vert="horz" wrap="square" lIns="91440" tIns="45720" rIns="91440" bIns="45720" numCol="1" anchor="b" anchorCtr="0" compatLnSpc="1"/>
          <a:p>
            <a:pPr algn="r" eaLnBrk="1" fontAlgn="base" hangingPunct="1">
              <a:buClrTx/>
              <a:buNone/>
            </a:pPr>
            <a:fld id="{9A0DB2DC-4C9A-4742-B13C-FB6460FD3503}" type="slidenum">
              <a:rPr lang="zh-CN" altLang="en-US" strike="noStrike" noProof="1" dirty="0">
                <a:solidFill>
                  <a:schemeClr val="bg2"/>
                </a:solidFill>
                <a:latin typeface="Tahoma" panose="020B0604030504040204" pitchFamily="34" charset="0"/>
                <a:ea typeface="宋体" pitchFamily="2" charset="-122"/>
                <a:cs typeface="+mn-cs"/>
              </a:rPr>
            </a:fld>
            <a:endParaRPr lang="zh-CN" altLang="en-US" strike="noStrike" noProof="1" dirty="0">
              <a:solidFill>
                <a:schemeClr val="bg2"/>
              </a:solidFill>
              <a:latin typeface="Tahoma" panose="020B0604030504040204" pitchFamily="34" charset="0"/>
              <a:ea typeface="宋体" pitchFamily="2" charset="-122"/>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Slide Number Placeholder 5"/>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Slide Number Placeholder 5"/>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836613" y="1042988"/>
            <a:ext cx="3771900" cy="508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760913" y="1042988"/>
            <a:ext cx="3771900" cy="508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7" name="Slide Number Placeholder 6"/>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9" name="Slide Number Placeholder 8"/>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5" name="Slide Number Placeholder 4"/>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3" name="Footer Placeholder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4" name="Slide Number Placeholder 3"/>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7" name="Slide Number Placeholder 6"/>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3200" b="0" i="0" u="none" strike="noStrike" kern="0" cap="none" spc="0" normalizeH="0" baseline="0" noProof="0" smtClean="0">
              <a:ln>
                <a:noFill/>
              </a:ln>
              <a:solidFill>
                <a:schemeClr val="fo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7" name="Slide Number Placeholder 6"/>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Slide Number Placeholder 5"/>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08763" y="188913"/>
            <a:ext cx="1924050" cy="59404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836613" y="188913"/>
            <a:ext cx="5619750" cy="59404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Slide Number Placeholder 5"/>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81063" y="188913"/>
            <a:ext cx="7605712" cy="765175"/>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836613" y="1042988"/>
            <a:ext cx="3771900" cy="50863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4760913" y="1042988"/>
            <a:ext cx="3771900" cy="24669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4760913" y="3662363"/>
            <a:ext cx="3771900" cy="24669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Date Placeholder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7" name="Footer Placeholder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8" name="Slide Number Placeholder 7"/>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showMasterPhAnim="0"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21506" name="Picture 7" descr="未标题-1 拷贝"/>
          <p:cNvPicPr>
            <a:picLocks noChangeAspect="1"/>
          </p:cNvPicPr>
          <p:nvPr/>
        </p:nvPicPr>
        <p:blipFill>
          <a:blip r:embed="rId2"/>
          <a:stretch>
            <a:fillRect/>
          </a:stretch>
        </p:blipFill>
        <p:spPr>
          <a:xfrm>
            <a:off x="395288" y="6365875"/>
            <a:ext cx="2236787" cy="492125"/>
          </a:xfrm>
          <a:prstGeom prst="rect">
            <a:avLst/>
          </a:prstGeom>
          <a:noFill/>
          <a:ln w="9525">
            <a:noFill/>
          </a:ln>
        </p:spPr>
      </p:pic>
      <p:sp>
        <p:nvSpPr>
          <p:cNvPr id="20482" name="Rectangle 2"/>
          <p:cNvSpPr>
            <a:spLocks noGrp="1" noChangeArrowheads="1"/>
          </p:cNvSpPr>
          <p:nvPr>
            <p:ph type="ctrTitle"/>
          </p:nvPr>
        </p:nvSpPr>
        <p:spPr>
          <a:xfrm>
            <a:off x="714348" y="2285992"/>
            <a:ext cx="7772400" cy="1143000"/>
          </a:xfrm>
        </p:spPr>
        <p:txBody>
          <a:bodyPr/>
          <a:lstStyle>
            <a:lvl1pPr algn="ctr">
              <a:defRPr sz="4400"/>
            </a:lvl1pPr>
          </a:lstStyle>
          <a:p>
            <a:pPr fontAlgn="base"/>
            <a:r>
              <a:rPr lang="zh-CN" altLang="en-US" strike="noStrike" noProof="1" smtClean="0"/>
              <a:t>单击此处编辑母版标题样式</a:t>
            </a:r>
            <a:endParaRPr lang="zh-CN" altLang="en-US" strike="noStrike" noProof="1" dirty="0"/>
          </a:p>
        </p:txBody>
      </p:sp>
      <p:sp>
        <p:nvSpPr>
          <p:cNvPr id="20483" name="Rectangle 3"/>
          <p:cNvSpPr>
            <a:spLocks noGrp="1" noChangeArrowheads="1"/>
          </p:cNvSpPr>
          <p:nvPr>
            <p:ph type="subTitle" idx="1"/>
          </p:nvPr>
        </p:nvSpPr>
        <p:spPr>
          <a:xfrm>
            <a:off x="1371600" y="3886200"/>
            <a:ext cx="6400800" cy="1752600"/>
          </a:xfrm>
        </p:spPr>
        <p:txBody>
          <a:bodyPr/>
          <a:lstStyle>
            <a:lvl1pPr algn="ctr">
              <a:buFont typeface="Wingdings" panose="05000000000000000000" pitchFamily="2" charset="2"/>
              <a:buNone/>
              <a:defRPr>
                <a:solidFill>
                  <a:schemeClr val="accent2"/>
                </a:solidFill>
              </a:defRPr>
            </a:lvl1pPr>
          </a:lstStyle>
          <a:p>
            <a:pPr fontAlgn="base"/>
            <a:r>
              <a:rPr lang="zh-CN" altLang="en-US" strike="noStrike" noProof="1" smtClean="0"/>
              <a:t>单击此处编辑母版副标题样式</a:t>
            </a:r>
            <a:endParaRPr lang="zh-CN" altLang="en-US" strike="noStrike" noProof="1" dirty="0"/>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fontAlgn="base"/>
            <a:r>
              <a:rPr lang="zh-CN" altLang="en-US" strike="noStrike" noProof="1" dirty="0" smtClean="0"/>
              <a:t>单击此处编辑母版标题样式</a:t>
            </a:r>
            <a:endParaRPr lang="zh-CN" altLang="en-US" strike="noStrike" noProof="1" dirty="0"/>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228600" y="996950"/>
            <a:ext cx="4305300" cy="5403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996950"/>
            <a:ext cx="4305300" cy="5403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425450" rtl="0" eaLnBrk="0" fontAlgn="base" latinLnBrk="0" hangingPunct="0">
              <a:lnSpc>
                <a:spcPct val="130000"/>
              </a:lnSpc>
              <a:spcBef>
                <a:spcPct val="20000"/>
              </a:spcBef>
              <a:spcAft>
                <a:spcPct val="0"/>
              </a:spcAft>
              <a:buClr>
                <a:schemeClr val="folHlink"/>
              </a:buClr>
              <a:buSzTx/>
              <a:buFont typeface="Wingdings" panose="05000000000000000000" pitchFamily="2" charset="2"/>
              <a:buNone/>
              <a:defRPr/>
            </a:pPr>
            <a:endParaRPr kumimoji="1"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00850" y="228600"/>
            <a:ext cx="2190750" cy="61722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228600" y="228600"/>
            <a:ext cx="6419850" cy="61722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28600" y="228600"/>
            <a:ext cx="8763000" cy="6096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228600" y="996950"/>
            <a:ext cx="4305300" cy="54038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996950"/>
            <a:ext cx="4305300" cy="54038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228600" y="228600"/>
            <a:ext cx="8763000" cy="6096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228600" y="996950"/>
            <a:ext cx="8763000" cy="5403850"/>
          </a:xfrm>
        </p:spPr>
        <p:txBody>
          <a:bodyPr vert="horz" wrap="square" lIns="91440" tIns="45720" rIns="91440" bIns="45720" numCol="1" anchor="t" anchorCtr="0" compatLnSpc="1"/>
          <a:lstStyle/>
          <a:p>
            <a:pPr marL="342900" marR="0" lvl="0" indent="-342900" algn="l" defTabSz="425450" rtl="0" eaLnBrk="0" fontAlgn="base" latinLnBrk="0" hangingPunct="0">
              <a:lnSpc>
                <a:spcPct val="130000"/>
              </a:lnSpc>
              <a:spcBef>
                <a:spcPct val="20000"/>
              </a:spcBef>
              <a:spcAft>
                <a:spcPct val="0"/>
              </a:spcAft>
              <a:buClr>
                <a:schemeClr val="folHlink"/>
              </a:buClr>
              <a:buSzTx/>
              <a:buFont typeface="Wingdings" panose="05000000000000000000" pitchFamily="2" charset="2"/>
              <a:buChar char="v"/>
              <a:defRPr/>
            </a:pPr>
            <a:endParaRPr kumimoji="1" lang="zh-CN" altLang="en-US" sz="2800" b="1" i="0" u="none" strike="noStrike" kern="0" cap="none" spc="0" normalizeH="0" baseline="0" noProof="0" smtClean="0">
              <a:ln>
                <a:noFill/>
              </a:ln>
              <a:solidFill>
                <a:schemeClr val="tx1"/>
              </a:solidFill>
              <a:effectLst/>
              <a:uLnTx/>
              <a:uFillTx/>
              <a:latin typeface="+mn-lt"/>
              <a:ea typeface="+mn-ea"/>
              <a:cs typeface="+mn-cs"/>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22530" name="Group 2"/>
          <p:cNvGrpSpPr/>
          <p:nvPr/>
        </p:nvGrpSpPr>
        <p:grpSpPr>
          <a:xfrm>
            <a:off x="341313" y="2259013"/>
            <a:ext cx="8416925" cy="1052512"/>
            <a:chOff x="0" y="1536"/>
            <a:chExt cx="5675" cy="663"/>
          </a:xfrm>
        </p:grpSpPr>
        <p:grpSp>
          <p:nvGrpSpPr>
            <p:cNvPr id="22531" name="Group 3"/>
            <p:cNvGrpSpPr/>
            <p:nvPr/>
          </p:nvGrpSpPr>
          <p:grpSpPr>
            <a:xfrm>
              <a:off x="183" y="1604"/>
              <a:ext cx="448" cy="299"/>
              <a:chOff x="720" y="336"/>
              <a:chExt cx="625" cy="432"/>
            </a:xfrm>
          </p:grpSpPr>
          <p:sp>
            <p:nvSpPr>
              <p:cNvPr id="24" name="Rectangle 4"/>
              <p:cNvSpPr>
                <a:spLocks noChangeArrowheads="1"/>
              </p:cNvSpPr>
              <p:nvPr/>
            </p:nvSpPr>
            <p:spPr bwMode="auto">
              <a:xfrm>
                <a:off x="720" y="336"/>
                <a:ext cx="385" cy="432"/>
              </a:xfrm>
              <a:prstGeom prst="rect">
                <a:avLst/>
              </a:prstGeom>
              <a:solidFill>
                <a:schemeClr val="folHlink"/>
              </a:soli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smtClean="0">
                  <a:ln>
                    <a:noFill/>
                  </a:ln>
                  <a:solidFill>
                    <a:schemeClr val="tx1"/>
                  </a:solidFill>
                  <a:effectLst/>
                  <a:uLnTx/>
                  <a:uFillTx/>
                  <a:latin typeface="Times New Roman" panose="02020503050405090304" pitchFamily="18" charset="0"/>
                  <a:ea typeface="仿宋_GB2312" pitchFamily="49" charset="-122"/>
                  <a:cs typeface="+mn-cs"/>
                </a:endParaRPr>
              </a:p>
            </p:txBody>
          </p:sp>
          <p:sp>
            <p:nvSpPr>
              <p:cNvPr id="25" name="Rectangle 5"/>
              <p:cNvSpPr>
                <a:spLocks noChangeArrowheads="1"/>
              </p:cNvSpPr>
              <p:nvPr/>
            </p:nvSpPr>
            <p:spPr bwMode="auto">
              <a:xfrm>
                <a:off x="1057"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smtClean="0">
                  <a:ln>
                    <a:noFill/>
                  </a:ln>
                  <a:solidFill>
                    <a:schemeClr val="tx1"/>
                  </a:solidFill>
                  <a:effectLst/>
                  <a:uLnTx/>
                  <a:uFillTx/>
                  <a:latin typeface="Times New Roman" panose="02020503050405090304" pitchFamily="18" charset="0"/>
                  <a:ea typeface="仿宋_GB2312" pitchFamily="49" charset="-122"/>
                  <a:cs typeface="+mn-cs"/>
                </a:endParaRPr>
              </a:p>
            </p:txBody>
          </p:sp>
        </p:grpSp>
        <p:grpSp>
          <p:nvGrpSpPr>
            <p:cNvPr id="22534" name="Group 6"/>
            <p:cNvGrpSpPr/>
            <p:nvPr/>
          </p:nvGrpSpPr>
          <p:grpSpPr>
            <a:xfrm>
              <a:off x="263" y="1870"/>
              <a:ext cx="466" cy="299"/>
              <a:chOff x="912" y="2640"/>
              <a:chExt cx="672" cy="432"/>
            </a:xfrm>
          </p:grpSpPr>
          <p:sp>
            <p:nvSpPr>
              <p:cNvPr id="22" name="Rectangle 7"/>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smtClean="0">
                  <a:ln>
                    <a:noFill/>
                  </a:ln>
                  <a:solidFill>
                    <a:schemeClr val="tx1"/>
                  </a:solidFill>
                  <a:effectLst/>
                  <a:uLnTx/>
                  <a:uFillTx/>
                  <a:latin typeface="Times New Roman" panose="02020503050405090304" pitchFamily="18" charset="0"/>
                  <a:ea typeface="仿宋_GB2312" pitchFamily="49" charset="-122"/>
                  <a:cs typeface="+mn-cs"/>
                </a:endParaRPr>
              </a:p>
            </p:txBody>
          </p:sp>
          <p:sp>
            <p:nvSpPr>
              <p:cNvPr id="23" name="Rectangle 8"/>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smtClean="0">
                  <a:ln>
                    <a:noFill/>
                  </a:ln>
                  <a:solidFill>
                    <a:schemeClr val="tx1"/>
                  </a:solidFill>
                  <a:effectLst/>
                  <a:uLnTx/>
                  <a:uFillTx/>
                  <a:latin typeface="Times New Roman" panose="02020503050405090304" pitchFamily="18" charset="0"/>
                  <a:ea typeface="仿宋_GB2312" pitchFamily="49" charset="-122"/>
                  <a:cs typeface="+mn-cs"/>
                </a:endParaRPr>
              </a:p>
            </p:txBody>
          </p:sp>
        </p:grpSp>
        <p:sp>
          <p:nvSpPr>
            <p:cNvPr id="19"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smtClean="0">
                <a:ln>
                  <a:noFill/>
                </a:ln>
                <a:solidFill>
                  <a:schemeClr val="tx1"/>
                </a:solidFill>
                <a:effectLst/>
                <a:uLnTx/>
                <a:uFillTx/>
                <a:latin typeface="Times New Roman" panose="02020503050405090304" pitchFamily="18" charset="0"/>
                <a:ea typeface="仿宋_GB2312" pitchFamily="49" charset="-122"/>
                <a:cs typeface="+mn-cs"/>
              </a:endParaRPr>
            </a:p>
          </p:txBody>
        </p:sp>
        <p:sp>
          <p:nvSpPr>
            <p:cNvPr id="20" name="Rectangle 10"/>
            <p:cNvSpPr>
              <a:spLocks noChangeArrowheads="1"/>
            </p:cNvSpPr>
            <p:nvPr/>
          </p:nvSpPr>
          <p:spPr bwMode="auto">
            <a:xfrm>
              <a:off x="400" y="1536"/>
              <a:ext cx="18" cy="663"/>
            </a:xfrm>
            <a:prstGeom prst="rect">
              <a:avLst/>
            </a:prstGeom>
            <a:solidFill>
              <a:schemeClr val="bg2"/>
            </a:soli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smtClean="0">
                <a:ln>
                  <a:noFill/>
                </a:ln>
                <a:solidFill>
                  <a:schemeClr val="tx1"/>
                </a:solidFill>
                <a:effectLst/>
                <a:uLnTx/>
                <a:uFillTx/>
                <a:latin typeface="Times New Roman" panose="02020503050405090304" pitchFamily="18" charset="0"/>
                <a:ea typeface="仿宋_GB2312" pitchFamily="49" charset="-122"/>
                <a:cs typeface="+mn-cs"/>
              </a:endParaRPr>
            </a:p>
          </p:txBody>
        </p:sp>
        <p:sp>
          <p:nvSpPr>
            <p:cNvPr id="21"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smtClean="0">
                <a:ln>
                  <a:noFill/>
                </a:ln>
                <a:solidFill>
                  <a:schemeClr val="tx1"/>
                </a:solidFill>
                <a:effectLst/>
                <a:uLnTx/>
                <a:uFillTx/>
                <a:latin typeface="Times New Roman" panose="02020503050405090304" pitchFamily="18" charset="0"/>
                <a:ea typeface="仿宋_GB2312" pitchFamily="49" charset="-122"/>
                <a:cs typeface="+mn-cs"/>
              </a:endParaRPr>
            </a:p>
          </p:txBody>
        </p:sp>
      </p:grpSp>
      <p:sp>
        <p:nvSpPr>
          <p:cNvPr id="148492" name="Rectangle 12"/>
          <p:cNvSpPr>
            <a:spLocks noGrp="1" noChangeArrowheads="1"/>
          </p:cNvSpPr>
          <p:nvPr>
            <p:ph type="ctrTitle"/>
          </p:nvPr>
        </p:nvSpPr>
        <p:spPr>
          <a:xfrm>
            <a:off x="927100" y="1898650"/>
            <a:ext cx="7772400" cy="1216025"/>
          </a:xfrm>
        </p:spPr>
        <p:txBody>
          <a:bodyPr anchorCtr="1"/>
          <a:lstStyle>
            <a:lvl1pPr>
              <a:defRPr sz="4400">
                <a:ea typeface="华文新魏" pitchFamily="2" charset="-122"/>
              </a:defRPr>
            </a:lvl1pPr>
          </a:lstStyle>
          <a:p>
            <a:pPr lvl="0" fontAlgn="base"/>
            <a:r>
              <a:rPr lang="zh-CN" altLang="en-US" strike="noStrike" noProof="0" smtClean="0"/>
              <a:t>单击此处编辑母版标题样式</a:t>
            </a:r>
            <a:endParaRPr lang="zh-CN" altLang="en-US" strike="noStrike" noProof="0" smtClean="0"/>
          </a:p>
        </p:txBody>
      </p:sp>
      <p:sp>
        <p:nvSpPr>
          <p:cNvPr id="148493" name="Rectangle 13"/>
          <p:cNvSpPr>
            <a:spLocks noGrp="1" noChangeArrowheads="1"/>
          </p:cNvSpPr>
          <p:nvPr>
            <p:ph type="subTitle" idx="1"/>
          </p:nvPr>
        </p:nvSpPr>
        <p:spPr>
          <a:xfrm>
            <a:off x="1331913" y="3429000"/>
            <a:ext cx="6400800" cy="1752600"/>
          </a:xfrm>
        </p:spPr>
        <p:txBody>
          <a:bodyPr/>
          <a:lstStyle>
            <a:lvl1pPr marL="0" indent="0" algn="ctr">
              <a:defRPr/>
            </a:lvl1pPr>
          </a:lstStyle>
          <a:p>
            <a:pPr lvl="0" fontAlgn="base"/>
            <a:r>
              <a:rPr lang="zh-CN" altLang="en-US" strike="noStrike" noProof="0" smtClean="0"/>
              <a:t>单击此处编辑母版副标题样式</a:t>
            </a:r>
            <a:endParaRPr lang="zh-CN" altLang="en-US" strike="noStrike" noProof="0" smtClean="0"/>
          </a:p>
        </p:txBody>
      </p:sp>
      <p:sp>
        <p:nvSpPr>
          <p:cNvPr id="26" name="Rectangle 14"/>
          <p:cNvSpPr>
            <a:spLocks noGrp="1" noChangeArrowheads="1"/>
          </p:cNvSpPr>
          <p:nvPr>
            <p:ph type="dt" sz="half" idx="2"/>
          </p:nvPr>
        </p:nvSpPr>
        <p:spPr bwMode="auto">
          <a:xfrm>
            <a:off x="990600" y="6248400"/>
            <a:ext cx="1905000" cy="457200"/>
          </a:xfrm>
          <a:prstGeom prst="rect">
            <a:avLst/>
          </a:prstGeom>
          <a:noFill/>
          <a:ln>
            <a:noFill/>
          </a:ln>
          <a:effectLst/>
        </p:spPr>
        <p:txBody>
          <a:bodyPr vert="horz" wrap="square" lIns="91440" tIns="45720" rIns="91440" bIns="45720" numCol="1" anchor="b" anchorCtr="0" compatLnSpc="1"/>
          <a:lstStyle>
            <a:lvl1pPr>
              <a:defRPr>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9BF2AEC6-4424-4219-BBEA-FB77AC9C2CFA}" type="datetimeFigureOut">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mn-ea"/>
              <a:cs typeface="+mn-cs"/>
            </a:endParaRPr>
          </a:p>
        </p:txBody>
      </p:sp>
      <p:sp>
        <p:nvSpPr>
          <p:cNvPr id="27" name="Rectangle 15"/>
          <p:cNvSpPr>
            <a:spLocks noGrp="1" noChangeArrowheads="1"/>
          </p:cNvSpPr>
          <p:nvPr>
            <p:ph type="ftr" sz="quarter" idx="3"/>
          </p:nvPr>
        </p:nvSpPr>
        <p:spPr bwMode="auto">
          <a:xfrm>
            <a:off x="3429000" y="6248400"/>
            <a:ext cx="2895600" cy="457200"/>
          </a:xfrm>
          <a:prstGeom prst="rect">
            <a:avLst/>
          </a:prstGeom>
          <a:noFill/>
          <a:ln>
            <a:noFill/>
          </a:ln>
          <a:effectLst/>
        </p:spPr>
        <p:txBody>
          <a:bodyPr vert="horz" wrap="square" lIns="91440" tIns="45720" rIns="91440" bIns="45720" numCol="1" anchor="b" anchorCtr="0" compatLnSpc="1"/>
          <a:lstStyle>
            <a:lvl1pPr>
              <a:defRPr>
                <a:solidFill>
                  <a:schemeClr val="bg2"/>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mn-ea"/>
              <a:cs typeface="+mn-cs"/>
            </a:endParaRPr>
          </a:p>
        </p:txBody>
      </p:sp>
      <p:sp>
        <p:nvSpPr>
          <p:cNvPr id="28" name="Rectangle 16"/>
          <p:cNvSpPr>
            <a:spLocks noGrp="1" noChangeArrowheads="1"/>
          </p:cNvSpPr>
          <p:nvPr>
            <p:ph type="sldNum" sz="quarter" idx="4"/>
          </p:nvPr>
        </p:nvSpPr>
        <p:spPr bwMode="auto">
          <a:xfrm>
            <a:off x="6858000" y="6248400"/>
            <a:ext cx="1905000" cy="457200"/>
          </a:xfrm>
          <a:prstGeom prst="rect">
            <a:avLst/>
          </a:prstGeom>
          <a:noFill/>
          <a:ln>
            <a:noFill/>
          </a:ln>
          <a:effectLst/>
        </p:spPr>
        <p:txBody>
          <a:bodyPr vert="horz" wrap="square" lIns="91440" tIns="45720" rIns="91440" bIns="45720" numCol="1" anchor="b" anchorCtr="0" compatLnSpc="1"/>
          <a:p>
            <a:pPr algn="r" eaLnBrk="1" fontAlgn="base" hangingPunct="1">
              <a:buClrTx/>
              <a:buNone/>
            </a:pPr>
            <a:fld id="{9A0DB2DC-4C9A-4742-B13C-FB6460FD3503}" type="slidenum">
              <a:rPr lang="zh-CN" altLang="en-US" strike="noStrike" noProof="1" dirty="0">
                <a:solidFill>
                  <a:schemeClr val="bg2"/>
                </a:solidFill>
                <a:latin typeface="Tahoma" panose="020B0604030504040204" pitchFamily="34" charset="0"/>
                <a:ea typeface="宋体" pitchFamily="2" charset="-122"/>
                <a:cs typeface="+mn-cs"/>
              </a:rPr>
            </a:fld>
            <a:endParaRPr lang="zh-CN" altLang="en-US" strike="noStrike" noProof="1" dirty="0">
              <a:solidFill>
                <a:schemeClr val="bg2"/>
              </a:solidFill>
              <a:latin typeface="Tahoma" panose="020B0604030504040204" pitchFamily="34" charset="0"/>
              <a:ea typeface="宋体" pitchFamily="2" charset="-122"/>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Slide Number Placeholder 5"/>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Slide Number Placeholder 5"/>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836613" y="1042988"/>
            <a:ext cx="3771900" cy="508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760913" y="1042988"/>
            <a:ext cx="3771900" cy="508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7" name="Slide Number Placeholder 6"/>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9" name="Slide Number Placeholder 8"/>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5" name="Slide Number Placeholder 4"/>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3" name="Footer Placeholder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4" name="Slide Number Placeholder 3"/>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7" name="Slide Number Placeholder 6"/>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3200" b="0" i="0" u="none" strike="noStrike" kern="0" cap="none" spc="0" normalizeH="0" baseline="0" noProof="0" smtClean="0">
              <a:ln>
                <a:noFill/>
              </a:ln>
              <a:solidFill>
                <a:schemeClr val="fo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7" name="Slide Number Placeholder 6"/>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Slide Number Placeholder 5"/>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08763" y="188913"/>
            <a:ext cx="1924050" cy="59404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836613" y="188913"/>
            <a:ext cx="5619750" cy="59404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Slide Number Placeholder 5"/>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81063" y="188913"/>
            <a:ext cx="7605712" cy="765175"/>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836613" y="1042988"/>
            <a:ext cx="3771900" cy="50863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4760913" y="1042988"/>
            <a:ext cx="3771900" cy="24669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4760913" y="3662363"/>
            <a:ext cx="3771900" cy="24669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Date Placeholder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7" name="Footer Placeholder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8" name="Slide Number Placeholder 7"/>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itle" preserve="1" showMasterPhAnim="0"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23554" name="Picture 7" descr="未标题-1 拷贝"/>
          <p:cNvPicPr>
            <a:picLocks noChangeAspect="1"/>
          </p:cNvPicPr>
          <p:nvPr/>
        </p:nvPicPr>
        <p:blipFill>
          <a:blip r:embed="rId2"/>
          <a:stretch>
            <a:fillRect/>
          </a:stretch>
        </p:blipFill>
        <p:spPr>
          <a:xfrm>
            <a:off x="395288" y="6365875"/>
            <a:ext cx="2236787" cy="492125"/>
          </a:xfrm>
          <a:prstGeom prst="rect">
            <a:avLst/>
          </a:prstGeom>
          <a:noFill/>
          <a:ln w="9525">
            <a:noFill/>
          </a:ln>
        </p:spPr>
      </p:pic>
      <p:sp>
        <p:nvSpPr>
          <p:cNvPr id="20482" name="Rectangle 2"/>
          <p:cNvSpPr>
            <a:spLocks noGrp="1" noChangeArrowheads="1"/>
          </p:cNvSpPr>
          <p:nvPr>
            <p:ph type="ctrTitle"/>
          </p:nvPr>
        </p:nvSpPr>
        <p:spPr>
          <a:xfrm>
            <a:off x="714348" y="2285992"/>
            <a:ext cx="7772400" cy="1143000"/>
          </a:xfrm>
        </p:spPr>
        <p:txBody>
          <a:bodyPr/>
          <a:lstStyle>
            <a:lvl1pPr algn="ctr">
              <a:defRPr sz="4400"/>
            </a:lvl1pPr>
          </a:lstStyle>
          <a:p>
            <a:pPr fontAlgn="base"/>
            <a:r>
              <a:rPr lang="zh-CN" altLang="en-US" strike="noStrike" noProof="1" smtClean="0"/>
              <a:t>单击此处编辑母版标题样式</a:t>
            </a:r>
            <a:endParaRPr lang="zh-CN" altLang="en-US" strike="noStrike" noProof="1" dirty="0"/>
          </a:p>
        </p:txBody>
      </p:sp>
      <p:sp>
        <p:nvSpPr>
          <p:cNvPr id="20483" name="Rectangle 3"/>
          <p:cNvSpPr>
            <a:spLocks noGrp="1" noChangeArrowheads="1"/>
          </p:cNvSpPr>
          <p:nvPr>
            <p:ph type="subTitle" idx="1"/>
          </p:nvPr>
        </p:nvSpPr>
        <p:spPr>
          <a:xfrm>
            <a:off x="1371600" y="3886200"/>
            <a:ext cx="6400800" cy="1752600"/>
          </a:xfrm>
        </p:spPr>
        <p:txBody>
          <a:bodyPr/>
          <a:lstStyle>
            <a:lvl1pPr algn="ctr">
              <a:buFont typeface="Wingdings" panose="05000000000000000000" pitchFamily="2" charset="2"/>
              <a:buNone/>
              <a:defRPr>
                <a:solidFill>
                  <a:schemeClr val="accent2"/>
                </a:solidFill>
              </a:defRPr>
            </a:lvl1pPr>
          </a:lstStyle>
          <a:p>
            <a:pPr fontAlgn="base"/>
            <a:r>
              <a:rPr lang="zh-CN" altLang="en-US" strike="noStrike" noProof="1" smtClean="0"/>
              <a:t>单击此处编辑母版副标题样式</a:t>
            </a:r>
            <a:endParaRPr lang="zh-CN" altLang="en-US" strike="noStrike" noProof="1" dirty="0"/>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fontAlgn="base"/>
            <a:r>
              <a:rPr lang="zh-CN" altLang="en-US" strike="noStrike" noProof="1" dirty="0" smtClean="0"/>
              <a:t>单击此处编辑母版标题样式</a:t>
            </a:r>
            <a:endParaRPr lang="zh-CN" altLang="en-US" strike="noStrike" noProof="1" dirty="0"/>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228600" y="996950"/>
            <a:ext cx="4305300" cy="5403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996950"/>
            <a:ext cx="4305300" cy="5403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425450" rtl="0" eaLnBrk="0" fontAlgn="base" latinLnBrk="0" hangingPunct="0">
              <a:lnSpc>
                <a:spcPct val="130000"/>
              </a:lnSpc>
              <a:spcBef>
                <a:spcPct val="20000"/>
              </a:spcBef>
              <a:spcAft>
                <a:spcPct val="0"/>
              </a:spcAft>
              <a:buClr>
                <a:schemeClr val="folHlink"/>
              </a:buClr>
              <a:buSzTx/>
              <a:buFont typeface="Wingdings" panose="05000000000000000000" pitchFamily="2" charset="2"/>
              <a:buNone/>
              <a:defRPr/>
            </a:pPr>
            <a:endParaRPr kumimoji="1"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00850" y="228600"/>
            <a:ext cx="2190750" cy="61722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228600" y="228600"/>
            <a:ext cx="6419850" cy="61722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28600" y="228600"/>
            <a:ext cx="8763000" cy="6096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228600" y="996950"/>
            <a:ext cx="4305300" cy="54038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996950"/>
            <a:ext cx="4305300" cy="54038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228600" y="228600"/>
            <a:ext cx="8763000" cy="6096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228600" y="996950"/>
            <a:ext cx="8763000" cy="5403850"/>
          </a:xfrm>
        </p:spPr>
        <p:txBody>
          <a:bodyPr vert="horz" wrap="square" lIns="91440" tIns="45720" rIns="91440" bIns="45720" numCol="1" anchor="t" anchorCtr="0" compatLnSpc="1"/>
          <a:lstStyle/>
          <a:p>
            <a:pPr marL="342900" marR="0" lvl="0" indent="-342900" algn="l" defTabSz="425450" rtl="0" eaLnBrk="0" fontAlgn="base" latinLnBrk="0" hangingPunct="0">
              <a:lnSpc>
                <a:spcPct val="130000"/>
              </a:lnSpc>
              <a:spcBef>
                <a:spcPct val="20000"/>
              </a:spcBef>
              <a:spcAft>
                <a:spcPct val="0"/>
              </a:spcAft>
              <a:buClr>
                <a:schemeClr val="folHlink"/>
              </a:buClr>
              <a:buSzTx/>
              <a:buFont typeface="Wingdings" panose="05000000000000000000" pitchFamily="2" charset="2"/>
              <a:buChar char="v"/>
              <a:defRPr/>
            </a:pPr>
            <a:endParaRPr kumimoji="1" lang="zh-CN" altLang="en-US" sz="2800" b="1" i="0" u="none" strike="noStrike" kern="0" cap="none" spc="0" normalizeH="0" baseline="0" noProof="0" smtClean="0">
              <a:ln>
                <a:noFill/>
              </a:ln>
              <a:solidFill>
                <a:schemeClr val="tx1"/>
              </a:solidFill>
              <a:effectLst/>
              <a:uLnTx/>
              <a:uFillTx/>
              <a:latin typeface="+mn-lt"/>
              <a:ea typeface="+mn-ea"/>
              <a:cs typeface="+mn-cs"/>
            </a:endParaRP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 preserve="1" showMasterPhAnim="0"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24578" name="Picture 7" descr="未标题-1 拷贝"/>
          <p:cNvPicPr>
            <a:picLocks noChangeAspect="1"/>
          </p:cNvPicPr>
          <p:nvPr/>
        </p:nvPicPr>
        <p:blipFill>
          <a:blip r:embed="rId2"/>
          <a:stretch>
            <a:fillRect/>
          </a:stretch>
        </p:blipFill>
        <p:spPr>
          <a:xfrm>
            <a:off x="395288" y="6365875"/>
            <a:ext cx="2236787" cy="492125"/>
          </a:xfrm>
          <a:prstGeom prst="rect">
            <a:avLst/>
          </a:prstGeom>
          <a:noFill/>
          <a:ln w="9525">
            <a:noFill/>
          </a:ln>
        </p:spPr>
      </p:pic>
      <p:sp>
        <p:nvSpPr>
          <p:cNvPr id="20482" name="Rectangle 2"/>
          <p:cNvSpPr>
            <a:spLocks noGrp="1" noChangeArrowheads="1"/>
          </p:cNvSpPr>
          <p:nvPr>
            <p:ph type="ctrTitle"/>
          </p:nvPr>
        </p:nvSpPr>
        <p:spPr>
          <a:xfrm>
            <a:off x="714348" y="2285992"/>
            <a:ext cx="7772400" cy="1143000"/>
          </a:xfrm>
        </p:spPr>
        <p:txBody>
          <a:bodyPr/>
          <a:lstStyle>
            <a:lvl1pPr algn="ctr">
              <a:defRPr sz="4400"/>
            </a:lvl1pPr>
          </a:lstStyle>
          <a:p>
            <a:pPr fontAlgn="base"/>
            <a:r>
              <a:rPr lang="zh-CN" altLang="en-US" strike="noStrike" noProof="1" smtClean="0"/>
              <a:t>单击此处编辑母版标题样式</a:t>
            </a:r>
            <a:endParaRPr lang="zh-CN" altLang="en-US" strike="noStrike" noProof="1" dirty="0"/>
          </a:p>
        </p:txBody>
      </p:sp>
      <p:sp>
        <p:nvSpPr>
          <p:cNvPr id="20483" name="Rectangle 3"/>
          <p:cNvSpPr>
            <a:spLocks noGrp="1" noChangeArrowheads="1"/>
          </p:cNvSpPr>
          <p:nvPr>
            <p:ph type="subTitle" idx="1"/>
          </p:nvPr>
        </p:nvSpPr>
        <p:spPr>
          <a:xfrm>
            <a:off x="1371600" y="3886200"/>
            <a:ext cx="6400800" cy="1752600"/>
          </a:xfrm>
        </p:spPr>
        <p:txBody>
          <a:bodyPr/>
          <a:lstStyle>
            <a:lvl1pPr algn="ctr">
              <a:buFont typeface="Wingdings" panose="05000000000000000000" pitchFamily="2" charset="2"/>
              <a:buNone/>
              <a:defRPr>
                <a:solidFill>
                  <a:schemeClr val="accent2"/>
                </a:solidFill>
              </a:defRPr>
            </a:lvl1pPr>
          </a:lstStyle>
          <a:p>
            <a:pPr fontAlgn="base"/>
            <a:r>
              <a:rPr lang="zh-CN" altLang="en-US" strike="noStrike" noProof="1" smtClean="0"/>
              <a:t>单击此处编辑母版副标题样式</a:t>
            </a:r>
            <a:endParaRPr lang="zh-CN" altLang="en-US" strike="noStrike" noProof="1" dirty="0"/>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fontAlgn="base"/>
            <a:r>
              <a:rPr lang="zh-CN" altLang="en-US" strike="noStrike" noProof="1" dirty="0" smtClean="0"/>
              <a:t>单击此处编辑母版标题样式</a:t>
            </a:r>
            <a:endParaRPr lang="zh-CN" altLang="en-US" strike="noStrike" noProof="1" dirty="0"/>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228600" y="996950"/>
            <a:ext cx="4305300" cy="5403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996950"/>
            <a:ext cx="4305300" cy="5403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425450" rtl="0" eaLnBrk="0" fontAlgn="base" latinLnBrk="0" hangingPunct="0">
              <a:lnSpc>
                <a:spcPct val="130000"/>
              </a:lnSpc>
              <a:spcBef>
                <a:spcPct val="20000"/>
              </a:spcBef>
              <a:spcAft>
                <a:spcPct val="0"/>
              </a:spcAft>
              <a:buClr>
                <a:schemeClr val="folHlink"/>
              </a:buClr>
              <a:buSzTx/>
              <a:buFont typeface="Wingdings" panose="05000000000000000000" pitchFamily="2" charset="2"/>
              <a:buNone/>
              <a:defRPr/>
            </a:pPr>
            <a:endParaRPr kumimoji="1"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00850" y="228600"/>
            <a:ext cx="2190750" cy="61722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228600" y="228600"/>
            <a:ext cx="6419850" cy="61722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28600" y="228600"/>
            <a:ext cx="8763000" cy="6096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228600" y="996950"/>
            <a:ext cx="4305300" cy="54038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996950"/>
            <a:ext cx="4305300" cy="54038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228600" y="228600"/>
            <a:ext cx="8763000" cy="6096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228600" y="996950"/>
            <a:ext cx="8763000" cy="5403850"/>
          </a:xfrm>
        </p:spPr>
        <p:txBody>
          <a:bodyPr vert="horz" wrap="square" lIns="91440" tIns="45720" rIns="91440" bIns="45720" numCol="1" anchor="t" anchorCtr="0" compatLnSpc="1"/>
          <a:lstStyle/>
          <a:p>
            <a:pPr marL="342900" marR="0" lvl="0" indent="-342900" algn="l" defTabSz="425450" rtl="0" eaLnBrk="0" fontAlgn="base" latinLnBrk="0" hangingPunct="0">
              <a:lnSpc>
                <a:spcPct val="130000"/>
              </a:lnSpc>
              <a:spcBef>
                <a:spcPct val="20000"/>
              </a:spcBef>
              <a:spcAft>
                <a:spcPct val="0"/>
              </a:spcAft>
              <a:buClr>
                <a:schemeClr val="folHlink"/>
              </a:buClr>
              <a:buSzTx/>
              <a:buFont typeface="Wingdings" panose="05000000000000000000" pitchFamily="2" charset="2"/>
              <a:buChar char="v"/>
              <a:defRPr/>
            </a:pPr>
            <a:endParaRPr kumimoji="1" lang="zh-CN" altLang="en-US" sz="2800" b="1" i="0" u="none" strike="noStrike" kern="0" cap="none" spc="0" normalizeH="0" baseline="0" noProof="0" smtClean="0">
              <a:ln>
                <a:noFill/>
              </a:ln>
              <a:solidFill>
                <a:schemeClr val="tx1"/>
              </a:solidFill>
              <a:effectLst/>
              <a:uLnTx/>
              <a:uFillTx/>
              <a:latin typeface="+mn-lt"/>
              <a:ea typeface="+mn-ea"/>
              <a:cs typeface="+mn-cs"/>
            </a:endParaRPr>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title" preserve="1" showMasterPhAnim="0"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25602" name="Picture 7" descr="未标题-1 拷贝"/>
          <p:cNvPicPr>
            <a:picLocks noChangeAspect="1"/>
          </p:cNvPicPr>
          <p:nvPr/>
        </p:nvPicPr>
        <p:blipFill>
          <a:blip r:embed="rId2"/>
          <a:stretch>
            <a:fillRect/>
          </a:stretch>
        </p:blipFill>
        <p:spPr>
          <a:xfrm>
            <a:off x="395288" y="6365875"/>
            <a:ext cx="2236787" cy="492125"/>
          </a:xfrm>
          <a:prstGeom prst="rect">
            <a:avLst/>
          </a:prstGeom>
          <a:noFill/>
          <a:ln w="9525">
            <a:noFill/>
          </a:ln>
        </p:spPr>
      </p:pic>
      <p:sp>
        <p:nvSpPr>
          <p:cNvPr id="20482" name="Rectangle 2"/>
          <p:cNvSpPr>
            <a:spLocks noGrp="1" noChangeArrowheads="1"/>
          </p:cNvSpPr>
          <p:nvPr>
            <p:ph type="ctrTitle"/>
          </p:nvPr>
        </p:nvSpPr>
        <p:spPr>
          <a:xfrm>
            <a:off x="714348" y="2285992"/>
            <a:ext cx="7772400" cy="1143000"/>
          </a:xfrm>
        </p:spPr>
        <p:txBody>
          <a:bodyPr/>
          <a:lstStyle>
            <a:lvl1pPr algn="ctr">
              <a:defRPr sz="4400"/>
            </a:lvl1pPr>
          </a:lstStyle>
          <a:p>
            <a:pPr fontAlgn="base"/>
            <a:r>
              <a:rPr lang="zh-CN" altLang="en-US" strike="noStrike" noProof="1" smtClean="0"/>
              <a:t>单击此处编辑母版标题样式</a:t>
            </a:r>
            <a:endParaRPr lang="zh-CN" altLang="en-US" strike="noStrike" noProof="1" dirty="0"/>
          </a:p>
        </p:txBody>
      </p:sp>
      <p:sp>
        <p:nvSpPr>
          <p:cNvPr id="20483" name="Rectangle 3"/>
          <p:cNvSpPr>
            <a:spLocks noGrp="1" noChangeArrowheads="1"/>
          </p:cNvSpPr>
          <p:nvPr>
            <p:ph type="subTitle" idx="1"/>
          </p:nvPr>
        </p:nvSpPr>
        <p:spPr>
          <a:xfrm>
            <a:off x="1371600" y="3886200"/>
            <a:ext cx="6400800" cy="1752600"/>
          </a:xfrm>
        </p:spPr>
        <p:txBody>
          <a:bodyPr/>
          <a:lstStyle>
            <a:lvl1pPr algn="ctr">
              <a:buFont typeface="Wingdings" panose="05000000000000000000" pitchFamily="2" charset="2"/>
              <a:buNone/>
              <a:defRPr>
                <a:solidFill>
                  <a:schemeClr val="accent2"/>
                </a:solidFill>
              </a:defRPr>
            </a:lvl1pPr>
          </a:lstStyle>
          <a:p>
            <a:pPr fontAlgn="base"/>
            <a:r>
              <a:rPr lang="zh-CN" altLang="en-US" strike="noStrike" noProof="1" smtClean="0"/>
              <a:t>单击此处编辑母版副标题样式</a:t>
            </a:r>
            <a:endParaRPr lang="zh-CN" altLang="en-US" strike="noStrike" noProof="1" dirty="0"/>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fontAlgn="base"/>
            <a:r>
              <a:rPr lang="zh-CN" altLang="en-US" strike="noStrike" noProof="1" dirty="0" smtClean="0"/>
              <a:t>单击此处编辑母版标题样式</a:t>
            </a:r>
            <a:endParaRPr lang="zh-CN" altLang="en-US" strike="noStrike" noProof="1" dirty="0"/>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228600" y="996950"/>
            <a:ext cx="4305300" cy="5403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996950"/>
            <a:ext cx="4305300" cy="5403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425450" rtl="0" eaLnBrk="0" fontAlgn="base" latinLnBrk="0" hangingPunct="0">
              <a:lnSpc>
                <a:spcPct val="130000"/>
              </a:lnSpc>
              <a:spcBef>
                <a:spcPct val="20000"/>
              </a:spcBef>
              <a:spcAft>
                <a:spcPct val="0"/>
              </a:spcAft>
              <a:buClr>
                <a:schemeClr val="folHlink"/>
              </a:buClr>
              <a:buSzTx/>
              <a:buFont typeface="Wingdings" panose="05000000000000000000" pitchFamily="2" charset="2"/>
              <a:buNone/>
              <a:defRPr/>
            </a:pPr>
            <a:endParaRPr kumimoji="1"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00850" y="228600"/>
            <a:ext cx="2190750" cy="61722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228600" y="228600"/>
            <a:ext cx="6419850" cy="61722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28600" y="228600"/>
            <a:ext cx="8763000" cy="6096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228600" y="996950"/>
            <a:ext cx="4305300" cy="54038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996950"/>
            <a:ext cx="4305300" cy="54038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228600" y="228600"/>
            <a:ext cx="8763000" cy="6096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228600" y="996950"/>
            <a:ext cx="8763000" cy="5403850"/>
          </a:xfrm>
        </p:spPr>
        <p:txBody>
          <a:bodyPr vert="horz" wrap="square" lIns="91440" tIns="45720" rIns="91440" bIns="45720" numCol="1" anchor="t" anchorCtr="0" compatLnSpc="1"/>
          <a:lstStyle/>
          <a:p>
            <a:pPr marL="342900" marR="0" lvl="0" indent="-342900" algn="l" defTabSz="425450" rtl="0" eaLnBrk="0" fontAlgn="base" latinLnBrk="0" hangingPunct="0">
              <a:lnSpc>
                <a:spcPct val="130000"/>
              </a:lnSpc>
              <a:spcBef>
                <a:spcPct val="20000"/>
              </a:spcBef>
              <a:spcAft>
                <a:spcPct val="0"/>
              </a:spcAft>
              <a:buClr>
                <a:schemeClr val="folHlink"/>
              </a:buClr>
              <a:buSzTx/>
              <a:buFont typeface="Wingdings" panose="05000000000000000000" pitchFamily="2" charset="2"/>
              <a:buChar char="v"/>
              <a:defRPr/>
            </a:pPr>
            <a:endParaRPr kumimoji="1" lang="zh-CN" altLang="en-US" sz="2800" b="1" i="0" u="none" strike="noStrike" kern="0" cap="none" spc="0" normalizeH="0" baseline="0" noProof="0" smtClean="0">
              <a:ln>
                <a:noFill/>
              </a:ln>
              <a:solidFill>
                <a:schemeClr val="tx1"/>
              </a:solidFill>
              <a:effectLst/>
              <a:uLnTx/>
              <a:uFillTx/>
              <a:latin typeface="+mn-lt"/>
              <a:ea typeface="+mn-ea"/>
              <a:cs typeface="+mn-cs"/>
            </a:endParaRPr>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26626" name="Group 2"/>
          <p:cNvGrpSpPr/>
          <p:nvPr/>
        </p:nvGrpSpPr>
        <p:grpSpPr>
          <a:xfrm>
            <a:off x="341313" y="2259013"/>
            <a:ext cx="8416925" cy="1052512"/>
            <a:chOff x="0" y="1536"/>
            <a:chExt cx="5675" cy="663"/>
          </a:xfrm>
        </p:grpSpPr>
        <p:grpSp>
          <p:nvGrpSpPr>
            <p:cNvPr id="26627" name="Group 3"/>
            <p:cNvGrpSpPr/>
            <p:nvPr/>
          </p:nvGrpSpPr>
          <p:grpSpPr>
            <a:xfrm>
              <a:off x="183" y="1604"/>
              <a:ext cx="448" cy="299"/>
              <a:chOff x="720" y="336"/>
              <a:chExt cx="625" cy="432"/>
            </a:xfrm>
          </p:grpSpPr>
          <p:sp>
            <p:nvSpPr>
              <p:cNvPr id="24" name="Rectangle 4"/>
              <p:cNvSpPr>
                <a:spLocks noChangeArrowheads="1"/>
              </p:cNvSpPr>
              <p:nvPr/>
            </p:nvSpPr>
            <p:spPr bwMode="auto">
              <a:xfrm>
                <a:off x="720" y="336"/>
                <a:ext cx="385" cy="432"/>
              </a:xfrm>
              <a:prstGeom prst="rect">
                <a:avLst/>
              </a:prstGeom>
              <a:solidFill>
                <a:schemeClr val="folHlink"/>
              </a:soli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smtClean="0">
                  <a:ln>
                    <a:noFill/>
                  </a:ln>
                  <a:solidFill>
                    <a:schemeClr val="tx1"/>
                  </a:solidFill>
                  <a:effectLst/>
                  <a:uLnTx/>
                  <a:uFillTx/>
                  <a:latin typeface="Times New Roman" panose="02020503050405090304" pitchFamily="18" charset="0"/>
                  <a:ea typeface="仿宋_GB2312" pitchFamily="49" charset="-122"/>
                  <a:cs typeface="+mn-cs"/>
                </a:endParaRPr>
              </a:p>
            </p:txBody>
          </p:sp>
          <p:sp>
            <p:nvSpPr>
              <p:cNvPr id="25" name="Rectangle 5"/>
              <p:cNvSpPr>
                <a:spLocks noChangeArrowheads="1"/>
              </p:cNvSpPr>
              <p:nvPr/>
            </p:nvSpPr>
            <p:spPr bwMode="auto">
              <a:xfrm>
                <a:off x="1057"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smtClean="0">
                  <a:ln>
                    <a:noFill/>
                  </a:ln>
                  <a:solidFill>
                    <a:schemeClr val="tx1"/>
                  </a:solidFill>
                  <a:effectLst/>
                  <a:uLnTx/>
                  <a:uFillTx/>
                  <a:latin typeface="Times New Roman" panose="02020503050405090304" pitchFamily="18" charset="0"/>
                  <a:ea typeface="仿宋_GB2312" pitchFamily="49" charset="-122"/>
                  <a:cs typeface="+mn-cs"/>
                </a:endParaRPr>
              </a:p>
            </p:txBody>
          </p:sp>
        </p:grpSp>
        <p:grpSp>
          <p:nvGrpSpPr>
            <p:cNvPr id="26630" name="Group 6"/>
            <p:cNvGrpSpPr/>
            <p:nvPr/>
          </p:nvGrpSpPr>
          <p:grpSpPr>
            <a:xfrm>
              <a:off x="263" y="1870"/>
              <a:ext cx="466" cy="299"/>
              <a:chOff x="912" y="2640"/>
              <a:chExt cx="672" cy="432"/>
            </a:xfrm>
          </p:grpSpPr>
          <p:sp>
            <p:nvSpPr>
              <p:cNvPr id="22" name="Rectangle 7"/>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smtClean="0">
                  <a:ln>
                    <a:noFill/>
                  </a:ln>
                  <a:solidFill>
                    <a:schemeClr val="tx1"/>
                  </a:solidFill>
                  <a:effectLst/>
                  <a:uLnTx/>
                  <a:uFillTx/>
                  <a:latin typeface="Times New Roman" panose="02020503050405090304" pitchFamily="18" charset="0"/>
                  <a:ea typeface="仿宋_GB2312" pitchFamily="49" charset="-122"/>
                  <a:cs typeface="+mn-cs"/>
                </a:endParaRPr>
              </a:p>
            </p:txBody>
          </p:sp>
          <p:sp>
            <p:nvSpPr>
              <p:cNvPr id="23" name="Rectangle 8"/>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smtClean="0">
                  <a:ln>
                    <a:noFill/>
                  </a:ln>
                  <a:solidFill>
                    <a:schemeClr val="tx1"/>
                  </a:solidFill>
                  <a:effectLst/>
                  <a:uLnTx/>
                  <a:uFillTx/>
                  <a:latin typeface="Times New Roman" panose="02020503050405090304" pitchFamily="18" charset="0"/>
                  <a:ea typeface="仿宋_GB2312" pitchFamily="49" charset="-122"/>
                  <a:cs typeface="+mn-cs"/>
                </a:endParaRPr>
              </a:p>
            </p:txBody>
          </p:sp>
        </p:grpSp>
        <p:sp>
          <p:nvSpPr>
            <p:cNvPr id="19"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smtClean="0">
                <a:ln>
                  <a:noFill/>
                </a:ln>
                <a:solidFill>
                  <a:schemeClr val="tx1"/>
                </a:solidFill>
                <a:effectLst/>
                <a:uLnTx/>
                <a:uFillTx/>
                <a:latin typeface="Times New Roman" panose="02020503050405090304" pitchFamily="18" charset="0"/>
                <a:ea typeface="仿宋_GB2312" pitchFamily="49" charset="-122"/>
                <a:cs typeface="+mn-cs"/>
              </a:endParaRPr>
            </a:p>
          </p:txBody>
        </p:sp>
        <p:sp>
          <p:nvSpPr>
            <p:cNvPr id="20" name="Rectangle 10"/>
            <p:cNvSpPr>
              <a:spLocks noChangeArrowheads="1"/>
            </p:cNvSpPr>
            <p:nvPr/>
          </p:nvSpPr>
          <p:spPr bwMode="auto">
            <a:xfrm>
              <a:off x="400" y="1536"/>
              <a:ext cx="18" cy="663"/>
            </a:xfrm>
            <a:prstGeom prst="rect">
              <a:avLst/>
            </a:prstGeom>
            <a:solidFill>
              <a:schemeClr val="bg2"/>
            </a:soli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smtClean="0">
                <a:ln>
                  <a:noFill/>
                </a:ln>
                <a:solidFill>
                  <a:schemeClr val="tx1"/>
                </a:solidFill>
                <a:effectLst/>
                <a:uLnTx/>
                <a:uFillTx/>
                <a:latin typeface="Times New Roman" panose="02020503050405090304" pitchFamily="18" charset="0"/>
                <a:ea typeface="仿宋_GB2312" pitchFamily="49" charset="-122"/>
                <a:cs typeface="+mn-cs"/>
              </a:endParaRPr>
            </a:p>
          </p:txBody>
        </p:sp>
        <p:sp>
          <p:nvSpPr>
            <p:cNvPr id="21"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smtClean="0">
                <a:ln>
                  <a:noFill/>
                </a:ln>
                <a:solidFill>
                  <a:schemeClr val="tx1"/>
                </a:solidFill>
                <a:effectLst/>
                <a:uLnTx/>
                <a:uFillTx/>
                <a:latin typeface="Times New Roman" panose="02020503050405090304" pitchFamily="18" charset="0"/>
                <a:ea typeface="仿宋_GB2312" pitchFamily="49" charset="-122"/>
                <a:cs typeface="+mn-cs"/>
              </a:endParaRPr>
            </a:p>
          </p:txBody>
        </p:sp>
      </p:grpSp>
      <p:sp>
        <p:nvSpPr>
          <p:cNvPr id="148492" name="Rectangle 12"/>
          <p:cNvSpPr>
            <a:spLocks noGrp="1" noChangeArrowheads="1"/>
          </p:cNvSpPr>
          <p:nvPr>
            <p:ph type="ctrTitle"/>
          </p:nvPr>
        </p:nvSpPr>
        <p:spPr>
          <a:xfrm>
            <a:off x="927100" y="1898650"/>
            <a:ext cx="7772400" cy="1216025"/>
          </a:xfrm>
        </p:spPr>
        <p:txBody>
          <a:bodyPr anchorCtr="1"/>
          <a:lstStyle>
            <a:lvl1pPr>
              <a:defRPr sz="4400">
                <a:ea typeface="华文新魏" pitchFamily="2" charset="-122"/>
              </a:defRPr>
            </a:lvl1pPr>
          </a:lstStyle>
          <a:p>
            <a:pPr lvl="0" fontAlgn="base"/>
            <a:r>
              <a:rPr lang="zh-CN" altLang="en-US" strike="noStrike" noProof="0" smtClean="0"/>
              <a:t>单击此处编辑母版标题样式</a:t>
            </a:r>
            <a:endParaRPr lang="zh-CN" altLang="en-US" strike="noStrike" noProof="0" smtClean="0"/>
          </a:p>
        </p:txBody>
      </p:sp>
      <p:sp>
        <p:nvSpPr>
          <p:cNvPr id="148493" name="Rectangle 13"/>
          <p:cNvSpPr>
            <a:spLocks noGrp="1" noChangeArrowheads="1"/>
          </p:cNvSpPr>
          <p:nvPr>
            <p:ph type="subTitle" idx="1"/>
          </p:nvPr>
        </p:nvSpPr>
        <p:spPr>
          <a:xfrm>
            <a:off x="1331913" y="3429000"/>
            <a:ext cx="6400800" cy="1752600"/>
          </a:xfrm>
        </p:spPr>
        <p:txBody>
          <a:bodyPr/>
          <a:lstStyle>
            <a:lvl1pPr marL="0" indent="0" algn="ctr">
              <a:defRPr/>
            </a:lvl1pPr>
          </a:lstStyle>
          <a:p>
            <a:pPr lvl="0" fontAlgn="base"/>
            <a:r>
              <a:rPr lang="zh-CN" altLang="en-US" strike="noStrike" noProof="0" smtClean="0"/>
              <a:t>单击此处编辑母版副标题样式</a:t>
            </a:r>
            <a:endParaRPr lang="zh-CN" altLang="en-US" strike="noStrike" noProof="0" smtClean="0"/>
          </a:p>
        </p:txBody>
      </p:sp>
      <p:sp>
        <p:nvSpPr>
          <p:cNvPr id="26" name="Rectangle 14"/>
          <p:cNvSpPr>
            <a:spLocks noGrp="1" noChangeArrowheads="1"/>
          </p:cNvSpPr>
          <p:nvPr>
            <p:ph type="dt" sz="half" idx="2"/>
          </p:nvPr>
        </p:nvSpPr>
        <p:spPr bwMode="auto">
          <a:xfrm>
            <a:off x="990600" y="6248400"/>
            <a:ext cx="1905000" cy="457200"/>
          </a:xfrm>
          <a:prstGeom prst="rect">
            <a:avLst/>
          </a:prstGeom>
          <a:noFill/>
          <a:ln>
            <a:noFill/>
          </a:ln>
          <a:effectLst/>
        </p:spPr>
        <p:txBody>
          <a:bodyPr vert="horz" wrap="square" lIns="91440" tIns="45720" rIns="91440" bIns="45720" numCol="1" anchor="b" anchorCtr="0" compatLnSpc="1"/>
          <a:lstStyle>
            <a:lvl1pPr>
              <a:defRPr>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9BF2AEC6-4424-4219-BBEA-FB77AC9C2CFA}" type="datetimeFigureOut">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mn-ea"/>
              <a:cs typeface="+mn-cs"/>
            </a:endParaRPr>
          </a:p>
        </p:txBody>
      </p:sp>
      <p:sp>
        <p:nvSpPr>
          <p:cNvPr id="27" name="Rectangle 15"/>
          <p:cNvSpPr>
            <a:spLocks noGrp="1" noChangeArrowheads="1"/>
          </p:cNvSpPr>
          <p:nvPr>
            <p:ph type="ftr" sz="quarter" idx="3"/>
          </p:nvPr>
        </p:nvSpPr>
        <p:spPr bwMode="auto">
          <a:xfrm>
            <a:off x="3429000" y="6248400"/>
            <a:ext cx="2895600" cy="457200"/>
          </a:xfrm>
          <a:prstGeom prst="rect">
            <a:avLst/>
          </a:prstGeom>
          <a:noFill/>
          <a:ln>
            <a:noFill/>
          </a:ln>
          <a:effectLst/>
        </p:spPr>
        <p:txBody>
          <a:bodyPr vert="horz" wrap="square" lIns="91440" tIns="45720" rIns="91440" bIns="45720" numCol="1" anchor="b" anchorCtr="0" compatLnSpc="1"/>
          <a:lstStyle>
            <a:lvl1pPr>
              <a:defRPr>
                <a:solidFill>
                  <a:schemeClr val="bg2"/>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mn-ea"/>
              <a:cs typeface="+mn-cs"/>
            </a:endParaRPr>
          </a:p>
        </p:txBody>
      </p:sp>
      <p:sp>
        <p:nvSpPr>
          <p:cNvPr id="28" name="Rectangle 16"/>
          <p:cNvSpPr>
            <a:spLocks noGrp="1" noChangeArrowheads="1"/>
          </p:cNvSpPr>
          <p:nvPr>
            <p:ph type="sldNum" sz="quarter" idx="4"/>
          </p:nvPr>
        </p:nvSpPr>
        <p:spPr bwMode="auto">
          <a:xfrm>
            <a:off x="6858000" y="6248400"/>
            <a:ext cx="1905000" cy="457200"/>
          </a:xfrm>
          <a:prstGeom prst="rect">
            <a:avLst/>
          </a:prstGeom>
          <a:noFill/>
          <a:ln>
            <a:noFill/>
          </a:ln>
          <a:effectLst/>
        </p:spPr>
        <p:txBody>
          <a:bodyPr vert="horz" wrap="square" lIns="91440" tIns="45720" rIns="91440" bIns="45720" numCol="1" anchor="b" anchorCtr="0" compatLnSpc="1"/>
          <a:p>
            <a:pPr algn="r" eaLnBrk="1" fontAlgn="base" hangingPunct="1">
              <a:buClrTx/>
              <a:buNone/>
            </a:pPr>
            <a:fld id="{9A0DB2DC-4C9A-4742-B13C-FB6460FD3503}" type="slidenum">
              <a:rPr lang="zh-CN" altLang="en-US" strike="noStrike" noProof="1" dirty="0">
                <a:solidFill>
                  <a:schemeClr val="bg2"/>
                </a:solidFill>
                <a:latin typeface="Tahoma" panose="020B0604030504040204" pitchFamily="34" charset="0"/>
                <a:ea typeface="宋体" pitchFamily="2" charset="-122"/>
                <a:cs typeface="+mn-cs"/>
              </a:rPr>
            </a:fld>
            <a:endParaRPr lang="zh-CN" altLang="en-US" strike="noStrike" noProof="1" dirty="0">
              <a:solidFill>
                <a:schemeClr val="bg2"/>
              </a:solidFill>
              <a:latin typeface="Tahoma" panose="020B0604030504040204" pitchFamily="34" charset="0"/>
              <a:ea typeface="宋体" pitchFamily="2" charset="-122"/>
            </a:endParaRPr>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Slide Number Placeholder 5"/>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Slide Number Placeholder 5"/>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836613" y="1042988"/>
            <a:ext cx="3771900" cy="508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760913" y="1042988"/>
            <a:ext cx="3771900" cy="508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7" name="Slide Number Placeholder 6"/>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9" name="Slide Number Placeholder 8"/>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5" name="Slide Number Placeholder 4"/>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3" name="Footer Placeholder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4" name="Slide Number Placeholder 3"/>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7" name="Slide Number Placeholder 6"/>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3200" b="0" i="0" u="none" strike="noStrike" kern="0" cap="none" spc="0" normalizeH="0" baseline="0" noProof="0" smtClean="0">
              <a:ln>
                <a:noFill/>
              </a:ln>
              <a:solidFill>
                <a:schemeClr val="fo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7" name="Slide Number Placeholder 6"/>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Slide Number Placeholder 5"/>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08763" y="188913"/>
            <a:ext cx="1924050" cy="59404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836613" y="188913"/>
            <a:ext cx="5619750" cy="59404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Slide Number Placeholder 5"/>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81063" y="188913"/>
            <a:ext cx="7605712" cy="765175"/>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836613" y="1042988"/>
            <a:ext cx="3771900" cy="50863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4760913" y="1042988"/>
            <a:ext cx="3771900" cy="24669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4760913" y="3662363"/>
            <a:ext cx="3771900" cy="24669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Date Placeholder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7" name="Footer Placeholder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8" name="Slide Number Placeholder 7"/>
          <p:cNvSpPr>
            <a:spLocks noGrp="1"/>
          </p:cNvSpPr>
          <p:nvPr>
            <p:ph type="sldNum" sz="quarter" idx="12"/>
          </p:nvPr>
        </p:nvSpPr>
        <p:spPr/>
        <p:txBody>
          <a:bodyPr/>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 Id="rId11" Type="http://schemas.openxmlformats.org/officeDocument/2006/relationships/slideLayout" Target="../slideLayouts/slideLayout24.xml"/><Relationship Id="rId12" Type="http://schemas.openxmlformats.org/officeDocument/2006/relationships/slideLayout" Target="../slideLayouts/slideLayout25.xml"/><Relationship Id="rId1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slideLayout" Target="../slideLayouts/slideLayout27.xml"/><Relationship Id="rId3" Type="http://schemas.openxmlformats.org/officeDocument/2006/relationships/slideLayout" Target="../slideLayouts/slideLayout28.xml"/><Relationship Id="rId4" Type="http://schemas.openxmlformats.org/officeDocument/2006/relationships/slideLayout" Target="../slideLayouts/slideLayout29.xml"/><Relationship Id="rId5" Type="http://schemas.openxmlformats.org/officeDocument/2006/relationships/slideLayout" Target="../slideLayouts/slideLayout30.xml"/><Relationship Id="rId6" Type="http://schemas.openxmlformats.org/officeDocument/2006/relationships/slideLayout" Target="../slideLayouts/slideLayout31.xml"/><Relationship Id="rId7" Type="http://schemas.openxmlformats.org/officeDocument/2006/relationships/slideLayout" Target="../slideLayouts/slideLayout32.xml"/><Relationship Id="rId8" Type="http://schemas.openxmlformats.org/officeDocument/2006/relationships/slideLayout" Target="../slideLayouts/slideLayout33.xml"/><Relationship Id="rId9" Type="http://schemas.openxmlformats.org/officeDocument/2006/relationships/slideLayout" Target="../slideLayouts/slideLayout34.xml"/><Relationship Id="rId10" Type="http://schemas.openxmlformats.org/officeDocument/2006/relationships/slideLayout" Target="../slideLayouts/slideLayout35.xml"/><Relationship Id="rId11" Type="http://schemas.openxmlformats.org/officeDocument/2006/relationships/slideLayout" Target="../slideLayouts/slideLayout36.xml"/><Relationship Id="rId1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slideLayout" Target="../slideLayouts/slideLayout39.xml"/><Relationship Id="rId4" Type="http://schemas.openxmlformats.org/officeDocument/2006/relationships/slideLayout" Target="../slideLayouts/slideLayout40.xml"/><Relationship Id="rId5" Type="http://schemas.openxmlformats.org/officeDocument/2006/relationships/slideLayout" Target="../slideLayouts/slideLayout41.xml"/><Relationship Id="rId6" Type="http://schemas.openxmlformats.org/officeDocument/2006/relationships/slideLayout" Target="../slideLayouts/slideLayout42.xml"/><Relationship Id="rId7" Type="http://schemas.openxmlformats.org/officeDocument/2006/relationships/slideLayout" Target="../slideLayouts/slideLayout43.xml"/><Relationship Id="rId8" Type="http://schemas.openxmlformats.org/officeDocument/2006/relationships/slideLayout" Target="../slideLayouts/slideLayout44.xml"/><Relationship Id="rId9" Type="http://schemas.openxmlformats.org/officeDocument/2006/relationships/slideLayout" Target="../slideLayouts/slideLayout45.xml"/><Relationship Id="rId10" Type="http://schemas.openxmlformats.org/officeDocument/2006/relationships/slideLayout" Target="../slideLayouts/slideLayout46.xml"/><Relationship Id="rId11" Type="http://schemas.openxmlformats.org/officeDocument/2006/relationships/slideLayout" Target="../slideLayouts/slideLayout47.xml"/><Relationship Id="rId12" Type="http://schemas.openxmlformats.org/officeDocument/2006/relationships/slideLayout" Target="../slideLayouts/slideLayout48.xml"/><Relationship Id="rId13"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slideLayout" Target="../slideLayouts/slideLayout50.xml"/><Relationship Id="rId3" Type="http://schemas.openxmlformats.org/officeDocument/2006/relationships/slideLayout" Target="../slideLayouts/slideLayout51.xml"/><Relationship Id="rId4" Type="http://schemas.openxmlformats.org/officeDocument/2006/relationships/slideLayout" Target="../slideLayouts/slideLayout52.xml"/><Relationship Id="rId5" Type="http://schemas.openxmlformats.org/officeDocument/2006/relationships/slideLayout" Target="../slideLayouts/slideLayout53.xml"/><Relationship Id="rId6" Type="http://schemas.openxmlformats.org/officeDocument/2006/relationships/slideLayout" Target="../slideLayouts/slideLayout54.xml"/><Relationship Id="rId7" Type="http://schemas.openxmlformats.org/officeDocument/2006/relationships/slideLayout" Target="../slideLayouts/slideLayout55.xml"/><Relationship Id="rId8" Type="http://schemas.openxmlformats.org/officeDocument/2006/relationships/slideLayout" Target="../slideLayouts/slideLayout56.xml"/><Relationship Id="rId9" Type="http://schemas.openxmlformats.org/officeDocument/2006/relationships/slideLayout" Target="../slideLayouts/slideLayout57.xml"/><Relationship Id="rId10" Type="http://schemas.openxmlformats.org/officeDocument/2006/relationships/slideLayout" Target="../slideLayouts/slideLayout58.xml"/><Relationship Id="rId11" Type="http://schemas.openxmlformats.org/officeDocument/2006/relationships/slideLayout" Target="../slideLayouts/slideLayout59.xml"/><Relationship Id="rId12" Type="http://schemas.openxmlformats.org/officeDocument/2006/relationships/slideLayout" Target="../slideLayouts/slideLayout60.xml"/><Relationship Id="rId13" Type="http://schemas.openxmlformats.org/officeDocument/2006/relationships/slideLayout" Target="../slideLayouts/slideLayout61.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slideLayout" Target="../slideLayouts/slideLayout63.xml"/><Relationship Id="rId3" Type="http://schemas.openxmlformats.org/officeDocument/2006/relationships/slideLayout" Target="../slideLayouts/slideLayout64.xml"/><Relationship Id="rId4" Type="http://schemas.openxmlformats.org/officeDocument/2006/relationships/slideLayout" Target="../slideLayouts/slideLayout65.xml"/><Relationship Id="rId5" Type="http://schemas.openxmlformats.org/officeDocument/2006/relationships/slideLayout" Target="../slideLayouts/slideLayout66.xml"/><Relationship Id="rId6" Type="http://schemas.openxmlformats.org/officeDocument/2006/relationships/slideLayout" Target="../slideLayouts/slideLayout67.xml"/><Relationship Id="rId7" Type="http://schemas.openxmlformats.org/officeDocument/2006/relationships/slideLayout" Target="../slideLayouts/slideLayout68.xml"/><Relationship Id="rId8" Type="http://schemas.openxmlformats.org/officeDocument/2006/relationships/slideLayout" Target="../slideLayouts/slideLayout69.xml"/><Relationship Id="rId9" Type="http://schemas.openxmlformats.org/officeDocument/2006/relationships/slideLayout" Target="../slideLayouts/slideLayout70.xml"/><Relationship Id="rId10" Type="http://schemas.openxmlformats.org/officeDocument/2006/relationships/slideLayout" Target="../slideLayouts/slideLayout71.xml"/><Relationship Id="rId11" Type="http://schemas.openxmlformats.org/officeDocument/2006/relationships/slideLayout" Target="../slideLayouts/slideLayout72.xml"/><Relationship Id="rId12" Type="http://schemas.openxmlformats.org/officeDocument/2006/relationships/slideLayout" Target="../slideLayouts/slideLayout73.xml"/><Relationship Id="rId13" Type="http://schemas.openxmlformats.org/officeDocument/2006/relationships/slideLayout" Target="../slideLayouts/slideLayout74.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slideLayout" Target="../slideLayouts/slideLayout76.xml"/><Relationship Id="rId3" Type="http://schemas.openxmlformats.org/officeDocument/2006/relationships/slideLayout" Target="../slideLayouts/slideLayout77.xml"/><Relationship Id="rId4" Type="http://schemas.openxmlformats.org/officeDocument/2006/relationships/slideLayout" Target="../slideLayouts/slideLayout78.xml"/><Relationship Id="rId5" Type="http://schemas.openxmlformats.org/officeDocument/2006/relationships/slideLayout" Target="../slideLayouts/slideLayout79.xml"/><Relationship Id="rId6" Type="http://schemas.openxmlformats.org/officeDocument/2006/relationships/slideLayout" Target="../slideLayouts/slideLayout80.xml"/><Relationship Id="rId7" Type="http://schemas.openxmlformats.org/officeDocument/2006/relationships/slideLayout" Target="../slideLayouts/slideLayout81.xml"/><Relationship Id="rId8" Type="http://schemas.openxmlformats.org/officeDocument/2006/relationships/slideLayout" Target="../slideLayouts/slideLayout82.xml"/><Relationship Id="rId9" Type="http://schemas.openxmlformats.org/officeDocument/2006/relationships/slideLayout" Target="../slideLayouts/slideLayout83.xml"/><Relationship Id="rId10" Type="http://schemas.openxmlformats.org/officeDocument/2006/relationships/slideLayout" Target="../slideLayouts/slideLayout84.xml"/><Relationship Id="rId11" Type="http://schemas.openxmlformats.org/officeDocument/2006/relationships/slideLayout" Target="../slideLayouts/slideLayout85.xml"/><Relationship Id="rId12" Type="http://schemas.openxmlformats.org/officeDocument/2006/relationships/slideLayout" Target="../slideLayouts/slideLayout86.xml"/><Relationship Id="rId13" Type="http://schemas.openxmlformats.org/officeDocument/2006/relationships/slideLayout" Target="../slideLayouts/slideLayout87.xml"/><Relationship Id="rId1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88.xml"/><Relationship Id="rId2" Type="http://schemas.openxmlformats.org/officeDocument/2006/relationships/slideLayout" Target="../slideLayouts/slideLayout89.xml"/><Relationship Id="rId3" Type="http://schemas.openxmlformats.org/officeDocument/2006/relationships/slideLayout" Target="../slideLayouts/slideLayout90.xml"/><Relationship Id="rId4" Type="http://schemas.openxmlformats.org/officeDocument/2006/relationships/slideLayout" Target="../slideLayouts/slideLayout91.xml"/><Relationship Id="rId5" Type="http://schemas.openxmlformats.org/officeDocument/2006/relationships/slideLayout" Target="../slideLayouts/slideLayout92.xml"/><Relationship Id="rId6" Type="http://schemas.openxmlformats.org/officeDocument/2006/relationships/slideLayout" Target="../slideLayouts/slideLayout93.xml"/><Relationship Id="rId7" Type="http://schemas.openxmlformats.org/officeDocument/2006/relationships/slideLayout" Target="../slideLayouts/slideLayout94.xml"/><Relationship Id="rId8" Type="http://schemas.openxmlformats.org/officeDocument/2006/relationships/slideLayout" Target="../slideLayouts/slideLayout95.xml"/><Relationship Id="rId9" Type="http://schemas.openxmlformats.org/officeDocument/2006/relationships/slideLayout" Target="../slideLayouts/slideLayout96.xml"/><Relationship Id="rId10" Type="http://schemas.openxmlformats.org/officeDocument/2006/relationships/slideLayout" Target="../slideLayouts/slideLayout97.xml"/><Relationship Id="rId11" Type="http://schemas.openxmlformats.org/officeDocument/2006/relationships/slideLayout" Target="../slideLayouts/slideLayout98.xml"/><Relationship Id="rId12" Type="http://schemas.openxmlformats.org/officeDocument/2006/relationships/slideLayout" Target="../slideLayouts/slideLayout99.xml"/><Relationship Id="rId13"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100.xml"/><Relationship Id="rId2" Type="http://schemas.openxmlformats.org/officeDocument/2006/relationships/slideLayout" Target="../slideLayouts/slideLayout101.xml"/><Relationship Id="rId3" Type="http://schemas.openxmlformats.org/officeDocument/2006/relationships/slideLayout" Target="../slideLayouts/slideLayout102.xml"/><Relationship Id="rId4" Type="http://schemas.openxmlformats.org/officeDocument/2006/relationships/slideLayout" Target="../slideLayouts/slideLayout103.xml"/><Relationship Id="rId5" Type="http://schemas.openxmlformats.org/officeDocument/2006/relationships/slideLayout" Target="../slideLayouts/slideLayout104.xml"/><Relationship Id="rId6" Type="http://schemas.openxmlformats.org/officeDocument/2006/relationships/slideLayout" Target="../slideLayouts/slideLayout105.xml"/><Relationship Id="rId7" Type="http://schemas.openxmlformats.org/officeDocument/2006/relationships/slideLayout" Target="../slideLayouts/slideLayout106.xml"/><Relationship Id="rId8" Type="http://schemas.openxmlformats.org/officeDocument/2006/relationships/slideLayout" Target="../slideLayouts/slideLayout107.xml"/><Relationship Id="rId9" Type="http://schemas.openxmlformats.org/officeDocument/2006/relationships/slideLayout" Target="../slideLayouts/slideLayout108.xml"/><Relationship Id="rId10" Type="http://schemas.openxmlformats.org/officeDocument/2006/relationships/slideLayout" Target="../slideLayouts/slideLayout109.xml"/><Relationship Id="rId11" Type="http://schemas.openxmlformats.org/officeDocument/2006/relationships/slideLayout" Target="../slideLayouts/slideLayout110.xml"/><Relationship Id="rId12" Type="http://schemas.openxmlformats.org/officeDocument/2006/relationships/slideLayout" Target="../slideLayouts/slideLayout111.xml"/><Relationship Id="rId13" Type="http://schemas.openxmlformats.org/officeDocument/2006/relationships/slideLayout" Target="../slideLayouts/slideLayout112.xml"/><Relationship Id="rId14"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113.xml"/><Relationship Id="rId2" Type="http://schemas.openxmlformats.org/officeDocument/2006/relationships/slideLayout" Target="../slideLayouts/slideLayout114.xml"/><Relationship Id="rId3" Type="http://schemas.openxmlformats.org/officeDocument/2006/relationships/slideLayout" Target="../slideLayouts/slideLayout115.xml"/><Relationship Id="rId4" Type="http://schemas.openxmlformats.org/officeDocument/2006/relationships/slideLayout" Target="../slideLayouts/slideLayout116.xml"/><Relationship Id="rId5" Type="http://schemas.openxmlformats.org/officeDocument/2006/relationships/slideLayout" Target="../slideLayouts/slideLayout117.xml"/><Relationship Id="rId6" Type="http://schemas.openxmlformats.org/officeDocument/2006/relationships/slideLayout" Target="../slideLayouts/slideLayout118.xml"/><Relationship Id="rId7" Type="http://schemas.openxmlformats.org/officeDocument/2006/relationships/slideLayout" Target="../slideLayouts/slideLayout119.xml"/><Relationship Id="rId8" Type="http://schemas.openxmlformats.org/officeDocument/2006/relationships/slideLayout" Target="../slideLayouts/slideLayout120.xml"/><Relationship Id="rId9" Type="http://schemas.openxmlformats.org/officeDocument/2006/relationships/slideLayout" Target="../slideLayouts/slideLayout121.xml"/><Relationship Id="rId10" Type="http://schemas.openxmlformats.org/officeDocument/2006/relationships/slideLayout" Target="../slideLayouts/slideLayout122.xml"/><Relationship Id="rId11" Type="http://schemas.openxmlformats.org/officeDocument/2006/relationships/slideLayout" Target="../slideLayouts/slideLayout123.xml"/><Relationship Id="rId12" Type="http://schemas.openxmlformats.org/officeDocument/2006/relationships/slideLayout" Target="../slideLayouts/slideLayout124.xml"/><Relationship Id="rId13" Type="http://schemas.openxmlformats.org/officeDocument/2006/relationships/theme" Target="../theme/theme10.xml"/></Relationships>
</file>

<file path=ppt/slideMasters/_rels/slideMaster11.xml.rels><?xml version='1.0' encoding='UTF-8' standalone='yes'?>
<Relationships xmlns="http://schemas.openxmlformats.org/package/2006/relationships"><Relationship Id="rId1" Type="http://schemas.openxmlformats.org/officeDocument/2006/relationships/slideLayout" Target="../slideLayouts/slideLayout125.xml"/><Relationship Id="rId2" Type="http://schemas.openxmlformats.org/officeDocument/2006/relationships/slideLayout" Target="../slideLayouts/slideLayout126.xml"/><Relationship Id="rId3" Type="http://schemas.openxmlformats.org/officeDocument/2006/relationships/slideLayout" Target="../slideLayouts/slideLayout127.xml"/><Relationship Id="rId4" Type="http://schemas.openxmlformats.org/officeDocument/2006/relationships/slideLayout" Target="../slideLayouts/slideLayout128.xml"/><Relationship Id="rId5" Type="http://schemas.openxmlformats.org/officeDocument/2006/relationships/slideLayout" Target="../slideLayouts/slideLayout129.xml"/><Relationship Id="rId6" Type="http://schemas.openxmlformats.org/officeDocument/2006/relationships/slideLayout" Target="../slideLayouts/slideLayout130.xml"/><Relationship Id="rId7" Type="http://schemas.openxmlformats.org/officeDocument/2006/relationships/slideLayout" Target="../slideLayouts/slideLayout131.xml"/><Relationship Id="rId8" Type="http://schemas.openxmlformats.org/officeDocument/2006/relationships/slideLayout" Target="../slideLayouts/slideLayout132.xml"/><Relationship Id="rId9" Type="http://schemas.openxmlformats.org/officeDocument/2006/relationships/slideLayout" Target="../slideLayouts/slideLayout133.xml"/><Relationship Id="rId10" Type="http://schemas.openxmlformats.org/officeDocument/2006/relationships/slideLayout" Target="../slideLayouts/slideLayout134.xml"/><Relationship Id="rId11" Type="http://schemas.openxmlformats.org/officeDocument/2006/relationships/slideLayout" Target="../slideLayouts/slideLayout135.xml"/><Relationship Id="rId12" Type="http://schemas.openxmlformats.org/officeDocument/2006/relationships/slideLayout" Target="../slideLayouts/slideLayout136.xml"/><Relationship Id="rId13" Type="http://schemas.openxmlformats.org/officeDocument/2006/relationships/slideLayout" Target="../slideLayouts/slideLayout137.xml"/><Relationship Id="rId14" Type="http://schemas.openxmlformats.org/officeDocument/2006/relationships/theme" Target="../theme/theme11.xml"/></Relationships>
</file>

<file path=ppt/slideMasters/_rels/slideMaster12.xml.rels><?xml version='1.0' encoding='UTF-8' standalone='yes'?>
<Relationships xmlns="http://schemas.openxmlformats.org/package/2006/relationships"><Relationship Id="rId1" Type="http://schemas.openxmlformats.org/officeDocument/2006/relationships/slideLayout" Target="../slideLayouts/slideLayout138.xml"/><Relationship Id="rId2" Type="http://schemas.openxmlformats.org/officeDocument/2006/relationships/slideLayout" Target="../slideLayouts/slideLayout139.xml"/><Relationship Id="rId3" Type="http://schemas.openxmlformats.org/officeDocument/2006/relationships/slideLayout" Target="../slideLayouts/slideLayout140.xml"/><Relationship Id="rId4" Type="http://schemas.openxmlformats.org/officeDocument/2006/relationships/slideLayout" Target="../slideLayouts/slideLayout141.xml"/><Relationship Id="rId5" Type="http://schemas.openxmlformats.org/officeDocument/2006/relationships/slideLayout" Target="../slideLayouts/slideLayout142.xml"/><Relationship Id="rId6" Type="http://schemas.openxmlformats.org/officeDocument/2006/relationships/slideLayout" Target="../slideLayouts/slideLayout143.xml"/><Relationship Id="rId7" Type="http://schemas.openxmlformats.org/officeDocument/2006/relationships/slideLayout" Target="../slideLayouts/slideLayout144.xml"/><Relationship Id="rId8" Type="http://schemas.openxmlformats.org/officeDocument/2006/relationships/slideLayout" Target="../slideLayouts/slideLayout145.xml"/><Relationship Id="rId9" Type="http://schemas.openxmlformats.org/officeDocument/2006/relationships/slideLayout" Target="../slideLayouts/slideLayout146.xml"/><Relationship Id="rId10" Type="http://schemas.openxmlformats.org/officeDocument/2006/relationships/slideLayout" Target="../slideLayouts/slideLayout147.xml"/><Relationship Id="rId11" Type="http://schemas.openxmlformats.org/officeDocument/2006/relationships/slideLayout" Target="../slideLayouts/slideLayout148.xml"/><Relationship Id="rId12" Type="http://schemas.openxmlformats.org/officeDocument/2006/relationships/slideLayout" Target="../slideLayouts/slideLayout149.xml"/><Relationship Id="rId13" Type="http://schemas.openxmlformats.org/officeDocument/2006/relationships/slideLayout" Target="../slideLayouts/slideLayout150.xml"/><Relationship Id="rId14"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1" Type="http://schemas.openxmlformats.org/officeDocument/2006/relationships/slideLayout" Target="../slideLayouts/slideLayout151.xml"/><Relationship Id="rId2" Type="http://schemas.openxmlformats.org/officeDocument/2006/relationships/slideLayout" Target="../slideLayouts/slideLayout152.xml"/><Relationship Id="rId3" Type="http://schemas.openxmlformats.org/officeDocument/2006/relationships/slideLayout" Target="../slideLayouts/slideLayout153.xml"/><Relationship Id="rId4" Type="http://schemas.openxmlformats.org/officeDocument/2006/relationships/slideLayout" Target="../slideLayouts/slideLayout154.xml"/><Relationship Id="rId5" Type="http://schemas.openxmlformats.org/officeDocument/2006/relationships/slideLayout" Target="../slideLayouts/slideLayout155.xml"/><Relationship Id="rId6" Type="http://schemas.openxmlformats.org/officeDocument/2006/relationships/slideLayout" Target="../slideLayouts/slideLayout156.xml"/><Relationship Id="rId7" Type="http://schemas.openxmlformats.org/officeDocument/2006/relationships/slideLayout" Target="../slideLayouts/slideLayout157.xml"/><Relationship Id="rId8" Type="http://schemas.openxmlformats.org/officeDocument/2006/relationships/slideLayout" Target="../slideLayouts/slideLayout158.xml"/><Relationship Id="rId9" Type="http://schemas.openxmlformats.org/officeDocument/2006/relationships/slideLayout" Target="../slideLayouts/slideLayout159.xml"/><Relationship Id="rId10" Type="http://schemas.openxmlformats.org/officeDocument/2006/relationships/slideLayout" Target="../slideLayouts/slideLayout160.xml"/><Relationship Id="rId11" Type="http://schemas.openxmlformats.org/officeDocument/2006/relationships/slideLayout" Target="../slideLayouts/slideLayout161.xml"/><Relationship Id="rId12" Type="http://schemas.openxmlformats.org/officeDocument/2006/relationships/slideLayout" Target="../slideLayouts/slideLayout162.xml"/><Relationship Id="rId13" Type="http://schemas.openxmlformats.org/officeDocument/2006/relationships/slideLayout" Target="../slideLayouts/slideLayout163.xml"/><Relationship Id="rId14" Type="http://schemas.openxmlformats.org/officeDocument/2006/relationships/theme" Target="../theme/theme13.xml"/></Relationships>
</file>

<file path=ppt/slideMasters/_rels/slideMaster14.xml.rels><?xml version='1.0' encoding='UTF-8' standalone='yes'?>
<Relationships xmlns="http://schemas.openxmlformats.org/package/2006/relationships"><Relationship Id="rId1" Type="http://schemas.openxmlformats.org/officeDocument/2006/relationships/slideLayout" Target="../slideLayouts/slideLayout164.xml"/><Relationship Id="rId2" Type="http://schemas.openxmlformats.org/officeDocument/2006/relationships/slideLayout" Target="../slideLayouts/slideLayout165.xml"/><Relationship Id="rId3" Type="http://schemas.openxmlformats.org/officeDocument/2006/relationships/slideLayout" Target="../slideLayouts/slideLayout166.xml"/><Relationship Id="rId4" Type="http://schemas.openxmlformats.org/officeDocument/2006/relationships/slideLayout" Target="../slideLayouts/slideLayout167.xml"/><Relationship Id="rId5" Type="http://schemas.openxmlformats.org/officeDocument/2006/relationships/slideLayout" Target="../slideLayouts/slideLayout168.xml"/><Relationship Id="rId6" Type="http://schemas.openxmlformats.org/officeDocument/2006/relationships/slideLayout" Target="../slideLayouts/slideLayout169.xml"/><Relationship Id="rId7" Type="http://schemas.openxmlformats.org/officeDocument/2006/relationships/slideLayout" Target="../slideLayouts/slideLayout170.xml"/><Relationship Id="rId8" Type="http://schemas.openxmlformats.org/officeDocument/2006/relationships/slideLayout" Target="../slideLayouts/slideLayout171.xml"/><Relationship Id="rId9" Type="http://schemas.openxmlformats.org/officeDocument/2006/relationships/slideLayout" Target="../slideLayouts/slideLayout172.xml"/><Relationship Id="rId10" Type="http://schemas.openxmlformats.org/officeDocument/2006/relationships/slideLayout" Target="../slideLayouts/slideLayout173.xml"/><Relationship Id="rId11" Type="http://schemas.openxmlformats.org/officeDocument/2006/relationships/slideLayout" Target="../slideLayouts/slideLayout174.xml"/><Relationship Id="rId12" Type="http://schemas.openxmlformats.org/officeDocument/2006/relationships/slideLayout" Target="../slideLayouts/slideLayout175.xml"/><Relationship Id="rId13" Type="http://schemas.openxmlformats.org/officeDocument/2006/relationships/theme" Target="../theme/theme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1026"/>
          <p:cNvSpPr>
            <a:spLocks noGrp="1" noChangeArrowheads="1"/>
          </p:cNvSpPr>
          <p:nvPr>
            <p:ph type="title"/>
          </p:nvPr>
        </p:nvSpPr>
        <p:spPr bwMode="auto">
          <a:xfrm>
            <a:off x="228600" y="228600"/>
            <a:ext cx="8763000" cy="609600"/>
          </a:xfrm>
          <a:prstGeom prst="rect">
            <a:avLst/>
          </a:prstGeom>
          <a:noFill/>
          <a:ln w="9525">
            <a:noFill/>
            <a:miter lim="800000"/>
          </a:ln>
          <a:effectLst/>
        </p:spPr>
        <p:txBody>
          <a:bodyPr vert="horz" wrap="square" lIns="91440" tIns="45720" rIns="91440" bIns="45720" numCol="1" anchor="ctr" anchorCtr="0" compatLnSpc="1"/>
          <a:lstStyle/>
          <a:p>
            <a:pPr lvl="0" fontAlgn="base"/>
            <a:r>
              <a:rPr lang="zh-CN" altLang="en-US" strike="noStrike" noProof="1" dirty="0" smtClean="0"/>
              <a:t>第</a:t>
            </a:r>
            <a:r>
              <a:rPr lang="en-US" altLang="zh-CN" strike="noStrike" noProof="1" dirty="0" smtClean="0"/>
              <a:t>2</a:t>
            </a:r>
            <a:r>
              <a:rPr lang="zh-CN" altLang="en-US" strike="noStrike" noProof="1" dirty="0" smtClean="0"/>
              <a:t>章  </a:t>
            </a:r>
            <a:r>
              <a:rPr lang="en-US" altLang="zh-CN" strike="noStrike" noProof="1" dirty="0" smtClean="0"/>
              <a:t>C8051F</a:t>
            </a:r>
            <a:r>
              <a:rPr lang="zh-CN" altLang="en-US" strike="noStrike" noProof="1" dirty="0" smtClean="0"/>
              <a:t>单片机的结构与原理 </a:t>
            </a:r>
            <a:endParaRPr lang="zh-CN" altLang="en-US" strike="noStrike" noProof="1" dirty="0" smtClean="0"/>
          </a:p>
        </p:txBody>
      </p:sp>
      <p:sp>
        <p:nvSpPr>
          <p:cNvPr id="1027" name="Rectangle 1027"/>
          <p:cNvSpPr>
            <a:spLocks noGrp="1"/>
          </p:cNvSpPr>
          <p:nvPr>
            <p:ph type="body"/>
          </p:nvPr>
        </p:nvSpPr>
        <p:spPr>
          <a:xfrm>
            <a:off x="228600" y="996950"/>
            <a:ext cx="8763000" cy="5403850"/>
          </a:xfrm>
          <a:prstGeom prst="rect">
            <a:avLst/>
          </a:prstGeom>
          <a:noFill/>
          <a:ln w="9525">
            <a:noFill/>
          </a:ln>
        </p:spPr>
        <p:txBody>
          <a:bodyPr anchor="t" anchorCtr="0"/>
          <a:p>
            <a:pPr lvl="0"/>
            <a:r>
              <a:rPr lang="en-US" altLang="zh-CN" dirty="0"/>
              <a:t>2.1  C8051F</a:t>
            </a:r>
            <a:r>
              <a:rPr lang="zh-CN" altLang="en-US" dirty="0"/>
              <a:t>系列单片机总体结构	</a:t>
            </a:r>
            <a:endParaRPr lang="zh-CN" altLang="en-US" dirty="0"/>
          </a:p>
          <a:p>
            <a:pPr lvl="0"/>
            <a:r>
              <a:rPr lang="en-US" altLang="zh-CN" dirty="0"/>
              <a:t>2.2  C8051F020</a:t>
            </a:r>
            <a:r>
              <a:rPr lang="zh-CN" altLang="en-US" dirty="0"/>
              <a:t>存贮器组织 </a:t>
            </a:r>
            <a:endParaRPr lang="zh-CN" altLang="en-US" dirty="0"/>
          </a:p>
          <a:p>
            <a:pPr lvl="0"/>
            <a:r>
              <a:rPr lang="en-US" altLang="zh-CN" dirty="0"/>
              <a:t>2.3  CIP-51</a:t>
            </a:r>
            <a:r>
              <a:rPr lang="zh-CN" altLang="en-US" dirty="0"/>
              <a:t>指令介绍 </a:t>
            </a:r>
            <a:endParaRPr lang="zh-CN" altLang="en-US" dirty="0"/>
          </a:p>
          <a:p>
            <a:pPr lvl="0"/>
            <a:r>
              <a:rPr lang="en-US" altLang="zh-CN" dirty="0"/>
              <a:t>2.4  </a:t>
            </a:r>
            <a:r>
              <a:rPr lang="zh-CN" altLang="en-US" dirty="0"/>
              <a:t>中断系统 </a:t>
            </a:r>
            <a:endParaRPr lang="zh-CN" altLang="en-US" dirty="0"/>
          </a:p>
          <a:p>
            <a:pPr lvl="0"/>
            <a:r>
              <a:rPr lang="en-US" altLang="zh-CN" dirty="0"/>
              <a:t>2.5  </a:t>
            </a:r>
            <a:r>
              <a:rPr lang="zh-CN" altLang="en-US" dirty="0"/>
              <a:t>端口输入</a:t>
            </a:r>
            <a:r>
              <a:rPr lang="en-US" altLang="zh-CN" dirty="0"/>
              <a:t>/</a:t>
            </a:r>
            <a:r>
              <a:rPr lang="zh-CN" altLang="en-US" dirty="0"/>
              <a:t>输出 </a:t>
            </a:r>
            <a:endParaRPr lang="zh-CN" altLang="en-US" dirty="0"/>
          </a:p>
        </p:txBody>
      </p:sp>
      <p:sp>
        <p:nvSpPr>
          <p:cNvPr id="1028" name="Text Box 1028"/>
          <p:cNvSpPr txBox="1"/>
          <p:nvPr/>
        </p:nvSpPr>
        <p:spPr>
          <a:xfrm>
            <a:off x="8458200" y="6400800"/>
            <a:ext cx="685800" cy="457200"/>
          </a:xfrm>
          <a:prstGeom prst="rect">
            <a:avLst/>
          </a:prstGeom>
          <a:noFill/>
          <a:ln w="9525">
            <a:noFill/>
          </a:ln>
        </p:spPr>
        <p:txBody>
          <a:bodyPr anchor="t" anchorCtr="0">
            <a:spAutoFit/>
          </a:bodyPr>
          <a:p>
            <a:pPr lvl="0">
              <a:spcBef>
                <a:spcPct val="50000"/>
              </a:spcBef>
              <a:buClrTx/>
              <a:buFontTx/>
            </a:pPr>
            <a:fld id="{9A0DB2DC-4C9A-4742-B13C-FB6460FD3503}" type="slidenum">
              <a:rPr lang="en-US" altLang="zh-CN" b="0" dirty="0">
                <a:latin typeface="Times New Roman" panose="02020503050405090304" pitchFamily="18" charset="0"/>
                <a:ea typeface="宋体" pitchFamily="2" charset="-122"/>
              </a:rPr>
            </a:fld>
            <a:endParaRPr lang="en-US" altLang="zh-CN" b="0" dirty="0">
              <a:latin typeface="Times New Roman" panose="02020503050405090304" pitchFamily="18" charset="0"/>
              <a:ea typeface="宋体" pitchFamily="2" charset="-122"/>
            </a:endParaRPr>
          </a:p>
        </p:txBody>
      </p:sp>
      <p:sp>
        <p:nvSpPr>
          <p:cNvPr id="1029" name="Line 1029"/>
          <p:cNvSpPr>
            <a:spLocks noChangeShapeType="1"/>
          </p:cNvSpPr>
          <p:nvPr/>
        </p:nvSpPr>
        <p:spPr bwMode="auto">
          <a:xfrm>
            <a:off x="228600" y="914400"/>
            <a:ext cx="8672513" cy="0"/>
          </a:xfrm>
          <a:prstGeom prst="line">
            <a:avLst/>
          </a:prstGeom>
          <a:noFill/>
          <a:ln w="57150" cmpd="thickThin">
            <a:solidFill>
              <a:srgbClr val="FF9900"/>
            </a:solidFill>
            <a:round/>
          </a:ln>
        </p:spPr>
        <p:txBody>
          <a:body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a:ln>
                <a:noFill/>
              </a:ln>
              <a:solidFill>
                <a:schemeClr val="tx1"/>
              </a:solidFill>
              <a:effectLst/>
              <a:uLnTx/>
              <a:uFillTx/>
              <a:latin typeface="Times New Roman" panose="02020503050405090304" pitchFamily="18" charset="0"/>
              <a:ea typeface="仿宋_GB2312" pitchFamily="49" charset="-122"/>
              <a:cs typeface="+mn-cs"/>
            </a:endParaRPr>
          </a:p>
        </p:txBody>
      </p:sp>
      <p:sp>
        <p:nvSpPr>
          <p:cNvPr id="1030" name="Line 1030"/>
          <p:cNvSpPr>
            <a:spLocks noChangeShapeType="1"/>
          </p:cNvSpPr>
          <p:nvPr/>
        </p:nvSpPr>
        <p:spPr bwMode="auto">
          <a:xfrm>
            <a:off x="247650" y="6419850"/>
            <a:ext cx="8672513" cy="0"/>
          </a:xfrm>
          <a:prstGeom prst="line">
            <a:avLst/>
          </a:prstGeom>
          <a:noFill/>
          <a:ln w="28575">
            <a:solidFill>
              <a:srgbClr val="FF9900"/>
            </a:solidFill>
            <a:round/>
          </a:ln>
        </p:spPr>
        <p:txBody>
          <a:body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a:ln>
                <a:noFill/>
              </a:ln>
              <a:solidFill>
                <a:schemeClr val="tx1"/>
              </a:solidFill>
              <a:effectLst/>
              <a:uLnTx/>
              <a:uFillTx/>
              <a:latin typeface="Times New Roman" panose="02020503050405090304" pitchFamily="18" charset="0"/>
              <a:ea typeface="仿宋_GB2312" pitchFamily="49"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2pPr>
      <a:lvl3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3pPr>
      <a:lvl4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4pPr>
      <a:lvl5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5pPr>
      <a:lvl6pPr marL="457200"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6pPr>
      <a:lvl7pPr marL="914400"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7pPr>
      <a:lvl8pPr marL="1371600"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8pPr>
      <a:lvl9pPr marL="1828800"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9pPr>
    </p:titleStyle>
    <p:bodyStyle>
      <a:lvl1pPr marL="342900" indent="-342900" algn="l" defTabSz="425450" rtl="0" eaLnBrk="0" fontAlgn="base" hangingPunct="0">
        <a:lnSpc>
          <a:spcPct val="130000"/>
        </a:lnSpc>
        <a:spcBef>
          <a:spcPct val="20000"/>
        </a:spcBef>
        <a:spcAft>
          <a:spcPct val="0"/>
        </a:spcAft>
        <a:buClr>
          <a:schemeClr val="folHlink"/>
        </a:buClr>
        <a:buFont typeface="Wingdings" panose="05000000000000000000" pitchFamily="2" charset="2"/>
        <a:buChar char="v"/>
        <a:defRPr kumimoji="1" sz="2800" b="1">
          <a:solidFill>
            <a:schemeClr val="tx1"/>
          </a:solidFill>
          <a:latin typeface="+mn-lt"/>
          <a:ea typeface="+mn-ea"/>
          <a:cs typeface="+mn-cs"/>
        </a:defRPr>
      </a:lvl1pPr>
      <a:lvl2pPr marL="382905" indent="5080" algn="l" defTabSz="425450" rtl="0" eaLnBrk="0" fontAlgn="base" hangingPunct="0">
        <a:spcBef>
          <a:spcPct val="20000"/>
        </a:spcBef>
        <a:spcAft>
          <a:spcPct val="0"/>
        </a:spcAft>
        <a:buClr>
          <a:schemeClr val="accent2"/>
        </a:buClr>
        <a:buChar char="•"/>
        <a:defRPr kumimoji="1" sz="2400" b="1">
          <a:solidFill>
            <a:schemeClr val="tx1"/>
          </a:solidFill>
          <a:latin typeface="+mn-lt"/>
          <a:ea typeface="+mn-ea"/>
        </a:defRPr>
      </a:lvl2pPr>
      <a:lvl3pPr marL="757555" indent="5080" algn="l" defTabSz="425450" rtl="0" eaLnBrk="0" fontAlgn="base" hangingPunct="0">
        <a:spcBef>
          <a:spcPct val="20000"/>
        </a:spcBef>
        <a:spcAft>
          <a:spcPct val="0"/>
        </a:spcAft>
        <a:buClr>
          <a:schemeClr val="hlink"/>
        </a:buClr>
        <a:buFont typeface="Wingdings" panose="05000000000000000000" pitchFamily="2" charset="2"/>
        <a:buChar char="§"/>
        <a:defRPr kumimoji="1" sz="2000" b="1">
          <a:solidFill>
            <a:schemeClr val="tx1"/>
          </a:solidFill>
          <a:latin typeface="+mn-lt"/>
          <a:ea typeface="+mn-ea"/>
        </a:defRPr>
      </a:lvl3pPr>
      <a:lvl4pPr marL="1144905" indent="5080" algn="l" defTabSz="425450" rtl="0" eaLnBrk="0" fontAlgn="base" hangingPunct="0">
        <a:spcBef>
          <a:spcPct val="20000"/>
        </a:spcBef>
        <a:spcAft>
          <a:spcPct val="0"/>
        </a:spcAft>
        <a:buClr>
          <a:schemeClr val="tx2"/>
        </a:buClr>
        <a:buChar char="–"/>
        <a:defRPr kumimoji="1" sz="2000" b="1">
          <a:solidFill>
            <a:schemeClr val="tx1"/>
          </a:solidFill>
          <a:latin typeface="+mn-lt"/>
          <a:ea typeface="+mn-ea"/>
        </a:defRPr>
      </a:lvl4pPr>
      <a:lvl5pPr marL="1530350" indent="6350" algn="l" defTabSz="425450" rtl="0" eaLnBrk="0" fontAlgn="base" hangingPunct="0">
        <a:spcBef>
          <a:spcPct val="20000"/>
        </a:spcBef>
        <a:spcAft>
          <a:spcPct val="0"/>
        </a:spcAft>
        <a:buClr>
          <a:schemeClr val="accent1"/>
        </a:buClr>
        <a:buChar char="»"/>
        <a:defRPr kumimoji="1" sz="2000" b="1">
          <a:solidFill>
            <a:schemeClr val="tx1"/>
          </a:solidFill>
          <a:latin typeface="+mn-lt"/>
          <a:ea typeface="+mn-ea"/>
        </a:defRPr>
      </a:lvl5pPr>
      <a:lvl6pPr marL="19875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6pPr>
      <a:lvl7pPr marL="24447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7pPr>
      <a:lvl8pPr marL="29019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8pPr>
      <a:lvl9pPr marL="33591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2050" name="标题占位符 1"/>
          <p:cNvSpPr>
            <a:spLocks noGrp="1"/>
          </p:cNvSpPr>
          <p:nvPr>
            <p:ph type="title"/>
          </p:nvPr>
        </p:nvSpPr>
        <p:spPr>
          <a:xfrm>
            <a:off x="457200" y="274638"/>
            <a:ext cx="822960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2051" name="文本占位符 2"/>
          <p:cNvSpPr>
            <a:spLocks noGrp="1"/>
          </p:cNvSpPr>
          <p:nvPr>
            <p:ph type="body"/>
          </p:nvPr>
        </p:nvSpPr>
        <p:spPr>
          <a:xfrm>
            <a:off x="457200" y="1600200"/>
            <a:ext cx="8229600" cy="4525963"/>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spcBef>
                <a:spcPct val="50000"/>
              </a:spcBef>
              <a:buClrTx/>
              <a:buFontTx/>
              <a:buNone/>
              <a:defRPr sz="1200">
                <a:solidFill>
                  <a:schemeClr val="tx1">
                    <a:tint val="75000"/>
                  </a:schemeClr>
                </a:solidFill>
              </a:defRPr>
            </a:lvl1pPr>
          </a:lstStyle>
          <a:p>
            <a:pPr marL="0" marR="0" lvl="0" indent="0" algn="l" defTabSz="914400" rtl="0" eaLnBrk="1" fontAlgn="base" latinLnBrk="0" hangingPunct="1">
              <a:lnSpc>
                <a:spcPct val="100000"/>
              </a:lnSpc>
              <a:spcBef>
                <a:spcPct val="50000"/>
              </a:spcBef>
              <a:spcAft>
                <a:spcPct val="0"/>
              </a:spcAft>
              <a:buClrTx/>
              <a:buSzTx/>
              <a:buFontTx/>
              <a:buNone/>
              <a:defRPr/>
            </a:pPr>
            <a:fld id="{9C4B2FF6-1C63-4EAA-BE9C-EE5A9013DD0C}" type="datetimeFigureOut">
              <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rPr>
            </a:fld>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spcBef>
                <a:spcPct val="50000"/>
              </a:spcBef>
              <a:buClrTx/>
              <a:buFontTx/>
              <a:buNone/>
              <a:defRPr sz="1200">
                <a:solidFill>
                  <a:schemeClr val="tx1">
                    <a:tint val="75000"/>
                  </a:schemeClr>
                </a:solidFill>
              </a:defRPr>
            </a:lvl1p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buFontTx/>
              <a:defRPr sz="1200">
                <a:solidFill>
                  <a:srgbClr val="898989"/>
                </a:solidFill>
              </a:defRPr>
            </a:lvl1pPr>
          </a:lstStyle>
          <a:p>
            <a:pPr lvl="0" eaLnBrk="1" fontAlgn="base" hangingPunct="1">
              <a:spcBef>
                <a:spcPct val="50000"/>
              </a:spcBef>
              <a:buClrTx/>
              <a:buNone/>
            </a:pPr>
            <a:fld id="{9A0DB2DC-4C9A-4742-B13C-FB6460FD3503}" type="slidenum">
              <a:rPr lang="zh-CN" altLang="en-US" strike="noStrike" noProof="1" dirty="0">
                <a:latin typeface="Times New Roman" panose="02020503050405090304" pitchFamily="18" charset="0"/>
                <a:ea typeface="仿宋_GB2312" pitchFamily="49" charset="-122"/>
                <a:cs typeface="+mn-cs"/>
              </a:rPr>
            </a:fld>
            <a:endParaRPr lang="zh-CN" altLang="en-US" strike="noStrike" noProof="1" dirty="0">
              <a:latin typeface="Times New Roman" panose="02020503050405090304" pitchFamily="18" charset="0"/>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itchFamily="2" charset="-122"/>
        </a:defRPr>
      </a:lvl9pPr>
    </p:titleStyle>
    <p:bodyStyle>
      <a:lvl1pPr marL="342900" indent="-342900" algn="l" rtl="0" eaLnBrk="0" fontAlgn="base" hangingPunct="0">
        <a:spcBef>
          <a:spcPct val="20000"/>
        </a:spcBef>
        <a:spcAft>
          <a:spcPct val="0"/>
        </a:spcAft>
        <a:buFont typeface="Arial" panose="020B060402020209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9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9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9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3074" name="标题占位符 1"/>
          <p:cNvSpPr>
            <a:spLocks noGrp="1"/>
          </p:cNvSpPr>
          <p:nvPr>
            <p:ph type="title"/>
          </p:nvPr>
        </p:nvSpPr>
        <p:spPr>
          <a:xfrm>
            <a:off x="457200" y="274638"/>
            <a:ext cx="822960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3075" name="文本占位符 2"/>
          <p:cNvSpPr>
            <a:spLocks noGrp="1"/>
          </p:cNvSpPr>
          <p:nvPr>
            <p:ph type="body"/>
          </p:nvPr>
        </p:nvSpPr>
        <p:spPr>
          <a:xfrm>
            <a:off x="457200" y="1600200"/>
            <a:ext cx="8229600" cy="4525963"/>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spcBef>
                <a:spcPct val="50000"/>
              </a:spcBef>
              <a:buClrTx/>
              <a:buFontTx/>
              <a:buNone/>
              <a:defRPr sz="1200">
                <a:solidFill>
                  <a:schemeClr val="tx1">
                    <a:tint val="75000"/>
                  </a:schemeClr>
                </a:solidFill>
              </a:defRPr>
            </a:lvl1pPr>
          </a:lstStyle>
          <a:p>
            <a:pPr marL="0" marR="0" lvl="0" indent="0" algn="l" defTabSz="914400" rtl="0" eaLnBrk="1" fontAlgn="base" latinLnBrk="0" hangingPunct="1">
              <a:lnSpc>
                <a:spcPct val="100000"/>
              </a:lnSpc>
              <a:spcBef>
                <a:spcPct val="50000"/>
              </a:spcBef>
              <a:spcAft>
                <a:spcPct val="0"/>
              </a:spcAft>
              <a:buClrTx/>
              <a:buSzTx/>
              <a:buFontTx/>
              <a:buNone/>
              <a:defRPr/>
            </a:pPr>
            <a:fld id="{5DBD7477-D686-4B51-BE12-3D3E26BD2CD4}" type="datetimeFigureOut">
              <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rPr>
            </a:fld>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spcBef>
                <a:spcPct val="50000"/>
              </a:spcBef>
              <a:buClrTx/>
              <a:buFontTx/>
              <a:buNone/>
              <a:defRPr sz="1200">
                <a:solidFill>
                  <a:schemeClr val="tx1">
                    <a:tint val="75000"/>
                  </a:schemeClr>
                </a:solidFill>
              </a:defRPr>
            </a:lvl1p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1200" b="1" i="0" u="none" strike="noStrike" kern="1200" cap="none" spc="0" normalizeH="0" baseline="0" noProof="0">
              <a:ln>
                <a:noFill/>
              </a:ln>
              <a:solidFill>
                <a:schemeClr val="tx1">
                  <a:tint val="75000"/>
                </a:schemeClr>
              </a:solidFill>
              <a:effectLst/>
              <a:uLnTx/>
              <a:uFillTx/>
              <a:latin typeface="Times New Roman" panose="02020503050405090304" pitchFamily="18" charset="0"/>
              <a:ea typeface="仿宋_GB2312" pitchFamily="49" charset="-122"/>
              <a:cs typeface="+mn-cs"/>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buFontTx/>
              <a:defRPr sz="1200">
                <a:solidFill>
                  <a:srgbClr val="898989"/>
                </a:solidFill>
              </a:defRPr>
            </a:lvl1pPr>
          </a:lstStyle>
          <a:p>
            <a:pPr lvl="0" eaLnBrk="1" fontAlgn="base" hangingPunct="1">
              <a:spcBef>
                <a:spcPct val="50000"/>
              </a:spcBef>
              <a:buClrTx/>
              <a:buNone/>
            </a:pPr>
            <a:fld id="{9A0DB2DC-4C9A-4742-B13C-FB6460FD3503}" type="slidenum">
              <a:rPr lang="zh-CN" altLang="en-US" strike="noStrike" noProof="1" dirty="0">
                <a:latin typeface="Times New Roman" panose="02020503050405090304" pitchFamily="18" charset="0"/>
                <a:ea typeface="仿宋_GB2312" pitchFamily="49" charset="-122"/>
                <a:cs typeface="+mn-cs"/>
              </a:rPr>
            </a:fld>
            <a:endParaRPr lang="zh-CN" altLang="en-US" strike="noStrike" noProof="1" dirty="0">
              <a:latin typeface="Times New Roman" panose="02020503050405090304" pitchFamily="18" charset="0"/>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itchFamily="2" charset="-122"/>
        </a:defRPr>
      </a:lvl9pPr>
    </p:titleStyle>
    <p:bodyStyle>
      <a:lvl1pPr marL="342900" indent="-342900" algn="l" rtl="0" eaLnBrk="0" fontAlgn="base" hangingPunct="0">
        <a:spcBef>
          <a:spcPct val="20000"/>
        </a:spcBef>
        <a:spcAft>
          <a:spcPct val="0"/>
        </a:spcAft>
        <a:buFont typeface="Arial" panose="020B060402020209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9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9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9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098" name="Rectangle 2"/>
          <p:cNvSpPr>
            <a:spLocks noGrp="1"/>
          </p:cNvSpPr>
          <p:nvPr>
            <p:ph type="title"/>
          </p:nvPr>
        </p:nvSpPr>
        <p:spPr>
          <a:xfrm>
            <a:off x="881063" y="188913"/>
            <a:ext cx="7605712" cy="765175"/>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4099" name="Rectangle 3"/>
          <p:cNvSpPr>
            <a:spLocks noGrp="1"/>
          </p:cNvSpPr>
          <p:nvPr>
            <p:ph type="body"/>
          </p:nvPr>
        </p:nvSpPr>
        <p:spPr>
          <a:xfrm>
            <a:off x="836613" y="1042988"/>
            <a:ext cx="7696200" cy="5086350"/>
          </a:xfrm>
          <a:prstGeom prst="rect">
            <a:avLst/>
          </a:prstGeom>
          <a:noFill/>
          <a:ln w="9525">
            <a:noFill/>
          </a:ln>
        </p:spPr>
        <p:txBody>
          <a:bodyPr anchor="t" anchorCtr="0"/>
          <a:p>
            <a:pPr lvl="0"/>
            <a:endParaRPr lang="zh-CN" altLang="en-US" dirty="0"/>
          </a:p>
        </p:txBody>
      </p:sp>
      <p:sp>
        <p:nvSpPr>
          <p:cNvPr id="147460" name="Rectangle 4"/>
          <p:cNvSpPr>
            <a:spLocks noGrp="1" noChangeArrowheads="1"/>
          </p:cNvSpPr>
          <p:nvPr>
            <p:ph type="dt" sz="half" idx="2"/>
          </p:nvPr>
        </p:nvSpPr>
        <p:spPr bwMode="auto">
          <a:xfrm>
            <a:off x="1162050" y="6243638"/>
            <a:ext cx="1905000" cy="457200"/>
          </a:xfrm>
          <a:prstGeom prst="rect">
            <a:avLst/>
          </a:prstGeom>
          <a:noFill/>
          <a:ln>
            <a:noFill/>
          </a:ln>
          <a:effectLst/>
        </p:spPr>
        <p:txBody>
          <a:bodyPr vert="horz" wrap="square" lIns="91440" tIns="45720" rIns="91440" bIns="45720" numCol="1" anchor="b" anchorCtr="0" compatLnSpc="1"/>
          <a:lstStyle>
            <a:lvl1pPr eaLnBrk="1" hangingPunct="1">
              <a:buClrTx/>
              <a:buFontTx/>
              <a:buNone/>
              <a:defRPr kumimoji="0" sz="1400" b="0">
                <a:latin typeface="Tahoma" panose="020B0604030504040204" pitchFamily="34" charset="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147461" name="Rectangle 5"/>
          <p:cNvSpPr>
            <a:spLocks noGrp="1" noChangeArrowheads="1"/>
          </p:cNvSpPr>
          <p:nvPr>
            <p:ph type="ftr" sz="quarter" idx="3"/>
          </p:nvPr>
        </p:nvSpPr>
        <p:spPr bwMode="auto">
          <a:xfrm>
            <a:off x="3657600" y="6243638"/>
            <a:ext cx="2895600" cy="457200"/>
          </a:xfrm>
          <a:prstGeom prst="rect">
            <a:avLst/>
          </a:prstGeom>
          <a:noFill/>
          <a:ln>
            <a:noFill/>
          </a:ln>
          <a:effectLst/>
        </p:spPr>
        <p:txBody>
          <a:bodyPr vert="horz" wrap="square" lIns="91440" tIns="45720" rIns="91440" bIns="45720" numCol="1" anchor="b" anchorCtr="0" compatLnSpc="1"/>
          <a:lstStyle>
            <a:lvl1pPr algn="ctr" eaLnBrk="1" hangingPunct="1">
              <a:buClrTx/>
              <a:buFontTx/>
              <a:buNone/>
              <a:defRPr kumimoji="0" sz="1400" b="0">
                <a:latin typeface="Tahoma" panose="020B0604030504040204" pitchFamily="34" charset="0"/>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147462" name="Rectangle 6"/>
          <p:cNvSpPr>
            <a:spLocks noGrp="1" noChangeArrowheads="1"/>
          </p:cNvSpPr>
          <p:nvPr>
            <p:ph type="sldNum" sz="quarter" idx="4"/>
          </p:nvPr>
        </p:nvSpPr>
        <p:spPr bwMode="auto">
          <a:xfrm>
            <a:off x="7042150" y="6243638"/>
            <a:ext cx="1905000" cy="457200"/>
          </a:xfrm>
          <a:prstGeom prst="rect">
            <a:avLst/>
          </a:prstGeom>
          <a:noFill/>
          <a:ln>
            <a:noFill/>
          </a:ln>
          <a:effectLst/>
        </p:spPr>
        <p:txBody>
          <a:bodyPr vert="horz" wrap="square" lIns="91440" tIns="45720" rIns="91440" bIns="45720" numCol="1" anchor="b" anchorCtr="0" compatLnSpc="1"/>
          <a:lstStyle>
            <a:lvl1pPr algn="r">
              <a:buFontTx/>
              <a:defRPr sz="1400" b="0">
                <a:latin typeface="Tahoma" panose="020B0604030504040204" pitchFamily="34" charset="0"/>
                <a:ea typeface="宋体" pitchFamily="2" charset="-122"/>
              </a:defRPr>
            </a:lvl1pPr>
          </a:lstStyle>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grpSp>
        <p:nvGrpSpPr>
          <p:cNvPr id="4103" name="Group 7"/>
          <p:cNvGrpSpPr/>
          <p:nvPr/>
        </p:nvGrpSpPr>
        <p:grpSpPr>
          <a:xfrm>
            <a:off x="341313" y="593725"/>
            <a:ext cx="712787" cy="495300"/>
            <a:chOff x="130" y="303"/>
            <a:chExt cx="705" cy="468"/>
          </a:xfrm>
        </p:grpSpPr>
        <p:sp>
          <p:nvSpPr>
            <p:cNvPr id="4107" name="Rectangle 8"/>
            <p:cNvSpPr>
              <a:spLocks noChangeArrowheads="1"/>
            </p:cNvSpPr>
            <p:nvPr/>
          </p:nvSpPr>
          <p:spPr bwMode="ltGray">
            <a:xfrm>
              <a:off x="130" y="485"/>
              <a:ext cx="342" cy="222"/>
            </a:xfrm>
            <a:prstGeom prst="rect">
              <a:avLst/>
            </a:prstGeom>
            <a:gradFill rotWithShape="0">
              <a:gsLst>
                <a:gs pos="0">
                  <a:schemeClr val="bg1"/>
                </a:gs>
                <a:gs pos="100000">
                  <a:schemeClr val="hlink"/>
                </a:gs>
              </a:gsLst>
              <a:lin ang="1890000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itchFamily="2" charset="-122"/>
                <a:cs typeface="+mn-cs"/>
              </a:endParaRPr>
            </a:p>
          </p:txBody>
        </p:sp>
        <p:sp>
          <p:nvSpPr>
            <p:cNvPr id="4108" name="Rectangle 9"/>
            <p:cNvSpPr>
              <a:spLocks noChangeArrowheads="1"/>
            </p:cNvSpPr>
            <p:nvPr/>
          </p:nvSpPr>
          <p:spPr bwMode="ltGray">
            <a:xfrm>
              <a:off x="307" y="303"/>
              <a:ext cx="267" cy="248"/>
            </a:xfrm>
            <a:prstGeom prst="rect">
              <a:avLst/>
            </a:prstGeom>
            <a:solidFill>
              <a:schemeClr val="accent2"/>
            </a:soli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itchFamily="2" charset="-122"/>
                <a:cs typeface="+mn-cs"/>
              </a:endParaRPr>
            </a:p>
          </p:txBody>
        </p:sp>
        <p:sp>
          <p:nvSpPr>
            <p:cNvPr id="4109" name="Rectangle 10"/>
            <p:cNvSpPr>
              <a:spLocks noChangeArrowheads="1"/>
            </p:cNvSpPr>
            <p:nvPr/>
          </p:nvSpPr>
          <p:spPr bwMode="ltGray">
            <a:xfrm>
              <a:off x="541" y="303"/>
              <a:ext cx="201" cy="248"/>
            </a:xfrm>
            <a:prstGeom prst="rect">
              <a:avLst/>
            </a:prstGeom>
            <a:gradFill rotWithShape="0">
              <a:gsLst>
                <a:gs pos="0">
                  <a:schemeClr val="accent2"/>
                </a:gs>
                <a:gs pos="100000">
                  <a:schemeClr val="bg1"/>
                </a:gs>
              </a:gsLst>
              <a:lin ang="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itchFamily="2" charset="-122"/>
                <a:cs typeface="+mn-cs"/>
              </a:endParaRPr>
            </a:p>
          </p:txBody>
        </p:sp>
        <p:sp>
          <p:nvSpPr>
            <p:cNvPr id="4110" name="Rectangle 11"/>
            <p:cNvSpPr>
              <a:spLocks noChangeArrowheads="1"/>
            </p:cNvSpPr>
            <p:nvPr/>
          </p:nvSpPr>
          <p:spPr bwMode="ltGray">
            <a:xfrm>
              <a:off x="384" y="524"/>
              <a:ext cx="258" cy="247"/>
            </a:xfrm>
            <a:prstGeom prst="rect">
              <a:avLst/>
            </a:prstGeom>
            <a:solidFill>
              <a:schemeClr val="folHlink"/>
            </a:soli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itchFamily="2" charset="-122"/>
                <a:cs typeface="+mn-cs"/>
              </a:endParaRPr>
            </a:p>
          </p:txBody>
        </p:sp>
        <p:sp>
          <p:nvSpPr>
            <p:cNvPr id="4111" name="Rectangle 12"/>
            <p:cNvSpPr>
              <a:spLocks noChangeArrowheads="1"/>
            </p:cNvSpPr>
            <p:nvPr/>
          </p:nvSpPr>
          <p:spPr bwMode="ltGray">
            <a:xfrm>
              <a:off x="610" y="524"/>
              <a:ext cx="225" cy="247"/>
            </a:xfrm>
            <a:prstGeom prst="rect">
              <a:avLst/>
            </a:prstGeom>
            <a:gradFill rotWithShape="0">
              <a:gsLst>
                <a:gs pos="0">
                  <a:schemeClr val="folHlink"/>
                </a:gs>
                <a:gs pos="100000">
                  <a:schemeClr val="bg1"/>
                </a:gs>
              </a:gsLst>
              <a:lin ang="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itchFamily="2" charset="-122"/>
                <a:cs typeface="+mn-cs"/>
              </a:endParaRPr>
            </a:p>
          </p:txBody>
        </p:sp>
      </p:grpSp>
      <p:sp>
        <p:nvSpPr>
          <p:cNvPr id="4104" name="Rectangle 13"/>
          <p:cNvSpPr>
            <a:spLocks noChangeArrowheads="1"/>
          </p:cNvSpPr>
          <p:nvPr/>
        </p:nvSpPr>
        <p:spPr bwMode="gray">
          <a:xfrm>
            <a:off x="476250" y="954088"/>
            <a:ext cx="7983538" cy="17463"/>
          </a:xfrm>
          <a:prstGeom prst="rect">
            <a:avLst/>
          </a:prstGeom>
          <a:gradFill rotWithShape="0">
            <a:gsLst>
              <a:gs pos="0">
                <a:schemeClr val="bg2"/>
              </a:gs>
              <a:gs pos="100000">
                <a:schemeClr val="bg1"/>
              </a:gs>
            </a:gsLst>
            <a:lin ang="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itchFamily="2" charset="-122"/>
              <a:cs typeface="+mn-cs"/>
            </a:endParaRPr>
          </a:p>
        </p:txBody>
      </p:sp>
      <p:sp>
        <p:nvSpPr>
          <p:cNvPr id="4105" name="Rectangle 14"/>
          <p:cNvSpPr>
            <a:spLocks noChangeArrowheads="1"/>
          </p:cNvSpPr>
          <p:nvPr/>
        </p:nvSpPr>
        <p:spPr bwMode="gray">
          <a:xfrm>
            <a:off x="701675" y="549275"/>
            <a:ext cx="17463" cy="576263"/>
          </a:xfrm>
          <a:prstGeom prst="rect">
            <a:avLst/>
          </a:prstGeom>
          <a:solidFill>
            <a:schemeClr val="bg2"/>
          </a:soli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itchFamily="2" charset="-122"/>
              <a:cs typeface="+mn-cs"/>
            </a:endParaRPr>
          </a:p>
        </p:txBody>
      </p:sp>
      <p:sp>
        <p:nvSpPr>
          <p:cNvPr id="4106" name="Rectangle 15"/>
          <p:cNvSpPr>
            <a:spLocks noChangeArrowheads="1"/>
          </p:cNvSpPr>
          <p:nvPr/>
        </p:nvSpPr>
        <p:spPr bwMode="gray">
          <a:xfrm>
            <a:off x="566738" y="6129338"/>
            <a:ext cx="7983538" cy="17463"/>
          </a:xfrm>
          <a:prstGeom prst="rect">
            <a:avLst/>
          </a:prstGeom>
          <a:gradFill rotWithShape="0">
            <a:gsLst>
              <a:gs pos="0">
                <a:schemeClr val="bg1"/>
              </a:gs>
              <a:gs pos="100000">
                <a:schemeClr val="bg2"/>
              </a:gs>
            </a:gsLst>
            <a:lin ang="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hf sldNum="0" hdr="0" ftr="0" dt="0"/>
  <p:txStyles>
    <p:title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Times New Roman" panose="02020503050405090304" pitchFamily="18" charset="0"/>
          <a:ea typeface="宋体" pitchFamily="2" charset="-122"/>
        </a:defRPr>
      </a:lvl2pPr>
      <a:lvl3pPr algn="l" rtl="0" eaLnBrk="0" fontAlgn="base" hangingPunct="0">
        <a:spcBef>
          <a:spcPct val="0"/>
        </a:spcBef>
        <a:spcAft>
          <a:spcPct val="0"/>
        </a:spcAft>
        <a:defRPr sz="3600">
          <a:solidFill>
            <a:schemeClr val="tx2"/>
          </a:solidFill>
          <a:latin typeface="Times New Roman" panose="02020503050405090304" pitchFamily="18" charset="0"/>
          <a:ea typeface="宋体" pitchFamily="2" charset="-122"/>
        </a:defRPr>
      </a:lvl3pPr>
      <a:lvl4pPr algn="l" rtl="0" eaLnBrk="0" fontAlgn="base" hangingPunct="0">
        <a:spcBef>
          <a:spcPct val="0"/>
        </a:spcBef>
        <a:spcAft>
          <a:spcPct val="0"/>
        </a:spcAft>
        <a:defRPr sz="3600">
          <a:solidFill>
            <a:schemeClr val="tx2"/>
          </a:solidFill>
          <a:latin typeface="Times New Roman" panose="02020503050405090304" pitchFamily="18" charset="0"/>
          <a:ea typeface="宋体" pitchFamily="2" charset="-122"/>
        </a:defRPr>
      </a:lvl4pPr>
      <a:lvl5pPr algn="l" rtl="0" eaLnBrk="0" fontAlgn="base" hangingPunct="0">
        <a:spcBef>
          <a:spcPct val="0"/>
        </a:spcBef>
        <a:spcAft>
          <a:spcPct val="0"/>
        </a:spcAft>
        <a:defRPr sz="3600">
          <a:solidFill>
            <a:schemeClr val="tx2"/>
          </a:solidFill>
          <a:latin typeface="Times New Roman" panose="02020503050405090304" pitchFamily="18" charset="0"/>
          <a:ea typeface="宋体" pitchFamily="2" charset="-122"/>
        </a:defRPr>
      </a:lvl5pPr>
      <a:lvl6pPr marL="457200" algn="l" rtl="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algn="l" rtl="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algn="l" rtl="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algn="l" rtl="0" fontAlgn="base">
        <a:spcBef>
          <a:spcPct val="0"/>
        </a:spcBef>
        <a:spcAft>
          <a:spcPct val="0"/>
        </a:spcAft>
        <a:defRPr sz="3600">
          <a:solidFill>
            <a:schemeClr val="tx2"/>
          </a:solidFill>
          <a:latin typeface="Times New Roman" panose="02020503050405090304" pitchFamily="18"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
        <a:defRPr sz="2600">
          <a:solidFill>
            <a:schemeClr val="folHlink"/>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600">
          <a:solidFill>
            <a:schemeClr val="folHlink"/>
          </a:solidFill>
          <a:latin typeface="Tahoma" panose="020B0604030504040204" pitchFamily="34" charset="0"/>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600">
          <a:solidFill>
            <a:schemeClr val="folHlink"/>
          </a:solidFill>
          <a:latin typeface="Tahoma" panose="020B0604030504040204" pitchFamily="34" charset="0"/>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600">
          <a:solidFill>
            <a:schemeClr val="folHlink"/>
          </a:solidFill>
          <a:latin typeface="Tahoma" panose="020B0604030504040204" pitchFamily="34" charset="0"/>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600">
          <a:solidFill>
            <a:schemeClr val="folHlink"/>
          </a:solidFill>
          <a:latin typeface="Tahoma" panose="020B0604030504040204" pitchFamily="34" charset="0"/>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600">
          <a:solidFill>
            <a:schemeClr val="folHlink"/>
          </a:solidFill>
          <a:latin typeface="Tahoma" panose="020B0604030504040204" pitchFamily="34" charset="0"/>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600">
          <a:solidFill>
            <a:schemeClr val="folHlink"/>
          </a:solidFill>
          <a:latin typeface="Tahoma" panose="020B0604030504040204" pitchFamily="34" charset="0"/>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600">
          <a:solidFill>
            <a:schemeClr val="folHlink"/>
          </a:solidFill>
          <a:latin typeface="Tahoma" panose="020B0604030504040204" pitchFamily="34" charset="0"/>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600">
          <a:solidFill>
            <a:schemeClr val="folHlink"/>
          </a:solidFill>
          <a:latin typeface="Tahoma" panose="020B0604030504040204" pitchFamily="34" charset="0"/>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1026"/>
          <p:cNvSpPr>
            <a:spLocks noGrp="1" noChangeArrowheads="1"/>
          </p:cNvSpPr>
          <p:nvPr>
            <p:ph type="title"/>
          </p:nvPr>
        </p:nvSpPr>
        <p:spPr bwMode="auto">
          <a:xfrm>
            <a:off x="228600" y="228600"/>
            <a:ext cx="8763000" cy="609600"/>
          </a:xfrm>
          <a:prstGeom prst="rect">
            <a:avLst/>
          </a:prstGeom>
          <a:noFill/>
          <a:ln w="9525">
            <a:noFill/>
            <a:miter lim="800000"/>
          </a:ln>
          <a:effectLst/>
        </p:spPr>
        <p:txBody>
          <a:bodyPr vert="horz" wrap="square" lIns="91440" tIns="45720" rIns="91440" bIns="45720" numCol="1" anchor="ctr" anchorCtr="0" compatLnSpc="1"/>
          <a:lstStyle/>
          <a:p>
            <a:pPr lvl="0" fontAlgn="base"/>
            <a:r>
              <a:rPr lang="zh-CN" altLang="en-US" strike="noStrike" noProof="1" dirty="0" smtClean="0"/>
              <a:t>第</a:t>
            </a:r>
            <a:r>
              <a:rPr lang="en-US" altLang="zh-CN" strike="noStrike" noProof="1" dirty="0" smtClean="0"/>
              <a:t>2</a:t>
            </a:r>
            <a:r>
              <a:rPr lang="zh-CN" altLang="en-US" strike="noStrike" noProof="1" dirty="0" smtClean="0"/>
              <a:t>章  </a:t>
            </a:r>
            <a:r>
              <a:rPr lang="en-US" altLang="zh-CN" strike="noStrike" noProof="1" dirty="0" smtClean="0"/>
              <a:t>C8051F</a:t>
            </a:r>
            <a:r>
              <a:rPr lang="zh-CN" altLang="en-US" strike="noStrike" noProof="1" dirty="0" smtClean="0"/>
              <a:t>单片机的结构与原理 </a:t>
            </a:r>
            <a:endParaRPr lang="zh-CN" altLang="en-US" strike="noStrike" noProof="1" dirty="0" smtClean="0"/>
          </a:p>
        </p:txBody>
      </p:sp>
      <p:sp>
        <p:nvSpPr>
          <p:cNvPr id="5123" name="Rectangle 1027"/>
          <p:cNvSpPr>
            <a:spLocks noGrp="1"/>
          </p:cNvSpPr>
          <p:nvPr>
            <p:ph type="body"/>
          </p:nvPr>
        </p:nvSpPr>
        <p:spPr>
          <a:xfrm>
            <a:off x="228600" y="996950"/>
            <a:ext cx="8763000" cy="5403850"/>
          </a:xfrm>
          <a:prstGeom prst="rect">
            <a:avLst/>
          </a:prstGeom>
          <a:noFill/>
          <a:ln w="9525">
            <a:noFill/>
          </a:ln>
        </p:spPr>
        <p:txBody>
          <a:bodyPr anchor="t" anchorCtr="0"/>
          <a:p>
            <a:pPr lvl="0"/>
            <a:r>
              <a:rPr lang="en-US" altLang="zh-CN" dirty="0"/>
              <a:t>2.1  C8051F</a:t>
            </a:r>
            <a:r>
              <a:rPr lang="zh-CN" altLang="en-US" dirty="0"/>
              <a:t>系列单片机总体结构	</a:t>
            </a:r>
            <a:endParaRPr lang="zh-CN" altLang="en-US" dirty="0"/>
          </a:p>
          <a:p>
            <a:pPr lvl="0"/>
            <a:r>
              <a:rPr lang="en-US" altLang="zh-CN" dirty="0"/>
              <a:t>2.2  C8051F020</a:t>
            </a:r>
            <a:r>
              <a:rPr lang="zh-CN" altLang="en-US" dirty="0"/>
              <a:t>存贮器组织 </a:t>
            </a:r>
            <a:endParaRPr lang="zh-CN" altLang="en-US" dirty="0"/>
          </a:p>
          <a:p>
            <a:pPr lvl="0"/>
            <a:r>
              <a:rPr lang="en-US" altLang="zh-CN" dirty="0"/>
              <a:t>2.3  CIP-51</a:t>
            </a:r>
            <a:r>
              <a:rPr lang="zh-CN" altLang="en-US" dirty="0"/>
              <a:t>指令介绍 </a:t>
            </a:r>
            <a:endParaRPr lang="zh-CN" altLang="en-US" dirty="0"/>
          </a:p>
          <a:p>
            <a:pPr lvl="0"/>
            <a:r>
              <a:rPr lang="en-US" altLang="zh-CN" dirty="0"/>
              <a:t>2.4  </a:t>
            </a:r>
            <a:r>
              <a:rPr lang="zh-CN" altLang="en-US" dirty="0"/>
              <a:t>中断系统 </a:t>
            </a:r>
            <a:endParaRPr lang="zh-CN" altLang="en-US" dirty="0"/>
          </a:p>
          <a:p>
            <a:pPr lvl="0"/>
            <a:r>
              <a:rPr lang="en-US" altLang="zh-CN" dirty="0"/>
              <a:t>2.5  </a:t>
            </a:r>
            <a:r>
              <a:rPr lang="zh-CN" altLang="en-US" dirty="0"/>
              <a:t>端口输入</a:t>
            </a:r>
            <a:r>
              <a:rPr lang="en-US" altLang="zh-CN" dirty="0"/>
              <a:t>/</a:t>
            </a:r>
            <a:r>
              <a:rPr lang="zh-CN" altLang="en-US" dirty="0"/>
              <a:t>输出 </a:t>
            </a:r>
            <a:endParaRPr lang="zh-CN" altLang="en-US" dirty="0"/>
          </a:p>
        </p:txBody>
      </p:sp>
      <p:sp>
        <p:nvSpPr>
          <p:cNvPr id="5124" name="Text Box 1028"/>
          <p:cNvSpPr txBox="1"/>
          <p:nvPr/>
        </p:nvSpPr>
        <p:spPr>
          <a:xfrm>
            <a:off x="8458200" y="6400800"/>
            <a:ext cx="685800" cy="457200"/>
          </a:xfrm>
          <a:prstGeom prst="rect">
            <a:avLst/>
          </a:prstGeom>
          <a:noFill/>
          <a:ln w="9525">
            <a:noFill/>
          </a:ln>
        </p:spPr>
        <p:txBody>
          <a:bodyPr anchor="t" anchorCtr="0">
            <a:spAutoFit/>
          </a:bodyPr>
          <a:p>
            <a:pPr lvl="0">
              <a:spcBef>
                <a:spcPct val="50000"/>
              </a:spcBef>
              <a:buClrTx/>
              <a:buFontTx/>
            </a:pPr>
            <a:fld id="{9A0DB2DC-4C9A-4742-B13C-FB6460FD3503}" type="slidenum">
              <a:rPr lang="en-US" altLang="zh-CN" b="0" dirty="0">
                <a:latin typeface="Times New Roman" panose="02020503050405090304" pitchFamily="18" charset="0"/>
                <a:ea typeface="宋体" pitchFamily="2" charset="-122"/>
              </a:rPr>
            </a:fld>
            <a:endParaRPr lang="en-US" altLang="zh-CN" b="0" dirty="0">
              <a:latin typeface="Times New Roman" panose="02020503050405090304" pitchFamily="18" charset="0"/>
              <a:ea typeface="宋体" pitchFamily="2" charset="-122"/>
            </a:endParaRPr>
          </a:p>
        </p:txBody>
      </p:sp>
      <p:sp>
        <p:nvSpPr>
          <p:cNvPr id="1029" name="Line 1029"/>
          <p:cNvSpPr>
            <a:spLocks noChangeShapeType="1"/>
          </p:cNvSpPr>
          <p:nvPr/>
        </p:nvSpPr>
        <p:spPr bwMode="auto">
          <a:xfrm>
            <a:off x="228600" y="914400"/>
            <a:ext cx="8672513" cy="0"/>
          </a:xfrm>
          <a:prstGeom prst="line">
            <a:avLst/>
          </a:prstGeom>
          <a:noFill/>
          <a:ln w="57150" cmpd="thickThin">
            <a:solidFill>
              <a:srgbClr val="FF9900"/>
            </a:solidFill>
            <a:round/>
          </a:ln>
        </p:spPr>
        <p:txBody>
          <a:body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a:ln>
                <a:noFill/>
              </a:ln>
              <a:solidFill>
                <a:schemeClr val="tx1"/>
              </a:solidFill>
              <a:effectLst/>
              <a:uLnTx/>
              <a:uFillTx/>
              <a:latin typeface="Times New Roman" panose="02020503050405090304" pitchFamily="18" charset="0"/>
              <a:ea typeface="仿宋_GB2312" pitchFamily="49" charset="-122"/>
              <a:cs typeface="+mn-cs"/>
            </a:endParaRPr>
          </a:p>
        </p:txBody>
      </p:sp>
      <p:sp>
        <p:nvSpPr>
          <p:cNvPr id="1030" name="Line 1030"/>
          <p:cNvSpPr>
            <a:spLocks noChangeShapeType="1"/>
          </p:cNvSpPr>
          <p:nvPr/>
        </p:nvSpPr>
        <p:spPr bwMode="auto">
          <a:xfrm>
            <a:off x="247650" y="6419850"/>
            <a:ext cx="8672513" cy="0"/>
          </a:xfrm>
          <a:prstGeom prst="line">
            <a:avLst/>
          </a:prstGeom>
          <a:noFill/>
          <a:ln w="28575">
            <a:solidFill>
              <a:srgbClr val="FF9900"/>
            </a:solidFill>
            <a:round/>
          </a:ln>
        </p:spPr>
        <p:txBody>
          <a:body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a:ln>
                <a:noFill/>
              </a:ln>
              <a:solidFill>
                <a:schemeClr val="tx1"/>
              </a:solidFill>
              <a:effectLst/>
              <a:uLnTx/>
              <a:uFillTx/>
              <a:latin typeface="Times New Roman" panose="02020503050405090304" pitchFamily="18" charset="0"/>
              <a:ea typeface="仿宋_GB2312" pitchFamily="49" charset="-122"/>
              <a:cs typeface="+mn-cs"/>
            </a:endParaRP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Lst>
  <p:hf sldNum="0" hdr="0" ftr="0" dt="0"/>
  <p:txStyles>
    <p:titleStyle>
      <a:lvl1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2pPr>
      <a:lvl3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3pPr>
      <a:lvl4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4pPr>
      <a:lvl5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5pPr>
      <a:lvl6pPr marL="457200"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6pPr>
      <a:lvl7pPr marL="914400"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7pPr>
      <a:lvl8pPr marL="1371600"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8pPr>
      <a:lvl9pPr marL="1828800"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9pPr>
    </p:titleStyle>
    <p:bodyStyle>
      <a:lvl1pPr marL="342900" indent="-342900" algn="l" defTabSz="425450" rtl="0" eaLnBrk="0" fontAlgn="base" hangingPunct="0">
        <a:lnSpc>
          <a:spcPct val="130000"/>
        </a:lnSpc>
        <a:spcBef>
          <a:spcPct val="20000"/>
        </a:spcBef>
        <a:spcAft>
          <a:spcPct val="0"/>
        </a:spcAft>
        <a:buClr>
          <a:schemeClr val="folHlink"/>
        </a:buClr>
        <a:buFont typeface="Wingdings" panose="05000000000000000000" pitchFamily="2" charset="2"/>
        <a:buChar char="v"/>
        <a:defRPr kumimoji="1" sz="2800" b="1">
          <a:solidFill>
            <a:schemeClr val="tx1"/>
          </a:solidFill>
          <a:latin typeface="+mn-lt"/>
          <a:ea typeface="+mn-ea"/>
          <a:cs typeface="+mn-cs"/>
        </a:defRPr>
      </a:lvl1pPr>
      <a:lvl2pPr marL="382905" indent="5080" algn="l" defTabSz="425450" rtl="0" eaLnBrk="0" fontAlgn="base" hangingPunct="0">
        <a:spcBef>
          <a:spcPct val="20000"/>
        </a:spcBef>
        <a:spcAft>
          <a:spcPct val="0"/>
        </a:spcAft>
        <a:buClr>
          <a:schemeClr val="accent2"/>
        </a:buClr>
        <a:buChar char="•"/>
        <a:defRPr kumimoji="1" sz="2400" b="1">
          <a:solidFill>
            <a:schemeClr val="tx1"/>
          </a:solidFill>
          <a:latin typeface="+mn-lt"/>
          <a:ea typeface="+mn-ea"/>
        </a:defRPr>
      </a:lvl2pPr>
      <a:lvl3pPr marL="757555" indent="5080" algn="l" defTabSz="425450" rtl="0" eaLnBrk="0" fontAlgn="base" hangingPunct="0">
        <a:spcBef>
          <a:spcPct val="20000"/>
        </a:spcBef>
        <a:spcAft>
          <a:spcPct val="0"/>
        </a:spcAft>
        <a:buClr>
          <a:schemeClr val="hlink"/>
        </a:buClr>
        <a:buFont typeface="Wingdings" panose="05000000000000000000" pitchFamily="2" charset="2"/>
        <a:buChar char="§"/>
        <a:defRPr kumimoji="1" sz="2000" b="1">
          <a:solidFill>
            <a:schemeClr val="tx1"/>
          </a:solidFill>
          <a:latin typeface="+mn-lt"/>
          <a:ea typeface="+mn-ea"/>
        </a:defRPr>
      </a:lvl3pPr>
      <a:lvl4pPr marL="1144905" indent="5080" algn="l" defTabSz="425450" rtl="0" eaLnBrk="0" fontAlgn="base" hangingPunct="0">
        <a:spcBef>
          <a:spcPct val="20000"/>
        </a:spcBef>
        <a:spcAft>
          <a:spcPct val="0"/>
        </a:spcAft>
        <a:buClr>
          <a:schemeClr val="tx2"/>
        </a:buClr>
        <a:buChar char="–"/>
        <a:defRPr kumimoji="1" sz="2000" b="1">
          <a:solidFill>
            <a:schemeClr val="tx1"/>
          </a:solidFill>
          <a:latin typeface="+mn-lt"/>
          <a:ea typeface="+mn-ea"/>
        </a:defRPr>
      </a:lvl4pPr>
      <a:lvl5pPr marL="1530350" indent="6350" algn="l" defTabSz="425450" rtl="0" eaLnBrk="0" fontAlgn="base" hangingPunct="0">
        <a:spcBef>
          <a:spcPct val="20000"/>
        </a:spcBef>
        <a:spcAft>
          <a:spcPct val="0"/>
        </a:spcAft>
        <a:buClr>
          <a:schemeClr val="accent1"/>
        </a:buClr>
        <a:buChar char="»"/>
        <a:defRPr kumimoji="1" sz="2000" b="1">
          <a:solidFill>
            <a:schemeClr val="tx1"/>
          </a:solidFill>
          <a:latin typeface="+mn-lt"/>
          <a:ea typeface="+mn-ea"/>
        </a:defRPr>
      </a:lvl5pPr>
      <a:lvl6pPr marL="19875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6pPr>
      <a:lvl7pPr marL="24447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7pPr>
      <a:lvl8pPr marL="29019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8pPr>
      <a:lvl9pPr marL="33591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1026"/>
          <p:cNvSpPr>
            <a:spLocks noGrp="1" noChangeArrowheads="1"/>
          </p:cNvSpPr>
          <p:nvPr>
            <p:ph type="title"/>
          </p:nvPr>
        </p:nvSpPr>
        <p:spPr bwMode="auto">
          <a:xfrm>
            <a:off x="228600" y="228600"/>
            <a:ext cx="8763000" cy="609600"/>
          </a:xfrm>
          <a:prstGeom prst="rect">
            <a:avLst/>
          </a:prstGeom>
          <a:noFill/>
          <a:ln w="9525">
            <a:noFill/>
            <a:miter lim="800000"/>
          </a:ln>
          <a:effectLst/>
        </p:spPr>
        <p:txBody>
          <a:bodyPr vert="horz" wrap="square" lIns="91440" tIns="45720" rIns="91440" bIns="45720" numCol="1" anchor="ctr" anchorCtr="0" compatLnSpc="1"/>
          <a:lstStyle/>
          <a:p>
            <a:pPr lvl="0" fontAlgn="base"/>
            <a:r>
              <a:rPr lang="zh-CN" altLang="en-US" strike="noStrike" noProof="1" dirty="0" smtClean="0"/>
              <a:t>第</a:t>
            </a:r>
            <a:r>
              <a:rPr lang="en-US" altLang="zh-CN" strike="noStrike" noProof="1" dirty="0" smtClean="0"/>
              <a:t>2</a:t>
            </a:r>
            <a:r>
              <a:rPr lang="zh-CN" altLang="en-US" strike="noStrike" noProof="1" dirty="0" smtClean="0"/>
              <a:t>章  </a:t>
            </a:r>
            <a:r>
              <a:rPr lang="en-US" altLang="zh-CN" strike="noStrike" noProof="1" dirty="0" smtClean="0"/>
              <a:t>C8051F</a:t>
            </a:r>
            <a:r>
              <a:rPr lang="zh-CN" altLang="en-US" strike="noStrike" noProof="1" dirty="0" smtClean="0"/>
              <a:t>单片机的结构与原理 </a:t>
            </a:r>
            <a:endParaRPr lang="zh-CN" altLang="en-US" strike="noStrike" noProof="1" dirty="0" smtClean="0"/>
          </a:p>
        </p:txBody>
      </p:sp>
      <p:sp>
        <p:nvSpPr>
          <p:cNvPr id="6147" name="Rectangle 1027"/>
          <p:cNvSpPr>
            <a:spLocks noGrp="1"/>
          </p:cNvSpPr>
          <p:nvPr>
            <p:ph type="body"/>
          </p:nvPr>
        </p:nvSpPr>
        <p:spPr>
          <a:xfrm>
            <a:off x="228600" y="996950"/>
            <a:ext cx="8763000" cy="5403850"/>
          </a:xfrm>
          <a:prstGeom prst="rect">
            <a:avLst/>
          </a:prstGeom>
          <a:noFill/>
          <a:ln w="9525">
            <a:noFill/>
          </a:ln>
        </p:spPr>
        <p:txBody>
          <a:bodyPr anchor="t" anchorCtr="0"/>
          <a:p>
            <a:pPr lvl="0"/>
            <a:r>
              <a:rPr lang="en-US" altLang="zh-CN" dirty="0"/>
              <a:t>2.1  C8051F</a:t>
            </a:r>
            <a:r>
              <a:rPr lang="zh-CN" altLang="en-US" dirty="0"/>
              <a:t>系列单片机总体结构	</a:t>
            </a:r>
            <a:endParaRPr lang="zh-CN" altLang="en-US" dirty="0"/>
          </a:p>
          <a:p>
            <a:pPr lvl="0"/>
            <a:r>
              <a:rPr lang="en-US" altLang="zh-CN" dirty="0"/>
              <a:t>2.2  C8051F020</a:t>
            </a:r>
            <a:r>
              <a:rPr lang="zh-CN" altLang="en-US" dirty="0"/>
              <a:t>存贮器组织 </a:t>
            </a:r>
            <a:endParaRPr lang="zh-CN" altLang="en-US" dirty="0"/>
          </a:p>
          <a:p>
            <a:pPr lvl="0"/>
            <a:r>
              <a:rPr lang="en-US" altLang="zh-CN" dirty="0"/>
              <a:t>2.3  CIP-51</a:t>
            </a:r>
            <a:r>
              <a:rPr lang="zh-CN" altLang="en-US" dirty="0"/>
              <a:t>指令介绍 </a:t>
            </a:r>
            <a:endParaRPr lang="zh-CN" altLang="en-US" dirty="0"/>
          </a:p>
          <a:p>
            <a:pPr lvl="0"/>
            <a:r>
              <a:rPr lang="en-US" altLang="zh-CN" dirty="0"/>
              <a:t>2.4  </a:t>
            </a:r>
            <a:r>
              <a:rPr lang="zh-CN" altLang="en-US" dirty="0"/>
              <a:t>中断系统 </a:t>
            </a:r>
            <a:endParaRPr lang="zh-CN" altLang="en-US" dirty="0"/>
          </a:p>
          <a:p>
            <a:pPr lvl="0"/>
            <a:r>
              <a:rPr lang="en-US" altLang="zh-CN" dirty="0"/>
              <a:t>2.5  </a:t>
            </a:r>
            <a:r>
              <a:rPr lang="zh-CN" altLang="en-US" dirty="0"/>
              <a:t>端口输入</a:t>
            </a:r>
            <a:r>
              <a:rPr lang="en-US" altLang="zh-CN" dirty="0"/>
              <a:t>/</a:t>
            </a:r>
            <a:r>
              <a:rPr lang="zh-CN" altLang="en-US" dirty="0"/>
              <a:t>输出 </a:t>
            </a:r>
            <a:endParaRPr lang="zh-CN" altLang="en-US" dirty="0"/>
          </a:p>
        </p:txBody>
      </p:sp>
      <p:sp>
        <p:nvSpPr>
          <p:cNvPr id="6148" name="Text Box 1028"/>
          <p:cNvSpPr txBox="1"/>
          <p:nvPr/>
        </p:nvSpPr>
        <p:spPr>
          <a:xfrm>
            <a:off x="8458200" y="6400800"/>
            <a:ext cx="685800" cy="457200"/>
          </a:xfrm>
          <a:prstGeom prst="rect">
            <a:avLst/>
          </a:prstGeom>
          <a:noFill/>
          <a:ln w="9525">
            <a:noFill/>
          </a:ln>
        </p:spPr>
        <p:txBody>
          <a:bodyPr anchor="t" anchorCtr="0">
            <a:spAutoFit/>
          </a:bodyPr>
          <a:p>
            <a:pPr lvl="0">
              <a:spcBef>
                <a:spcPct val="50000"/>
              </a:spcBef>
              <a:buClrTx/>
              <a:buFontTx/>
            </a:pPr>
            <a:fld id="{9A0DB2DC-4C9A-4742-B13C-FB6460FD3503}" type="slidenum">
              <a:rPr lang="en-US" altLang="zh-CN" b="0" dirty="0">
                <a:latin typeface="Times New Roman" panose="02020503050405090304" pitchFamily="18" charset="0"/>
                <a:ea typeface="宋体" pitchFamily="2" charset="-122"/>
              </a:rPr>
            </a:fld>
            <a:endParaRPr lang="en-US" altLang="zh-CN" b="0" dirty="0">
              <a:latin typeface="Times New Roman" panose="02020503050405090304" pitchFamily="18" charset="0"/>
              <a:ea typeface="宋体" pitchFamily="2" charset="-122"/>
            </a:endParaRPr>
          </a:p>
        </p:txBody>
      </p:sp>
      <p:sp>
        <p:nvSpPr>
          <p:cNvPr id="1029" name="Line 1029"/>
          <p:cNvSpPr>
            <a:spLocks noChangeShapeType="1"/>
          </p:cNvSpPr>
          <p:nvPr/>
        </p:nvSpPr>
        <p:spPr bwMode="auto">
          <a:xfrm>
            <a:off x="228600" y="914400"/>
            <a:ext cx="8672513" cy="0"/>
          </a:xfrm>
          <a:prstGeom prst="line">
            <a:avLst/>
          </a:prstGeom>
          <a:noFill/>
          <a:ln w="57150" cmpd="thickThin">
            <a:solidFill>
              <a:srgbClr val="FF9900"/>
            </a:solidFill>
            <a:round/>
          </a:ln>
        </p:spPr>
        <p:txBody>
          <a:body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a:ln>
                <a:noFill/>
              </a:ln>
              <a:solidFill>
                <a:schemeClr val="tx1"/>
              </a:solidFill>
              <a:effectLst/>
              <a:uLnTx/>
              <a:uFillTx/>
              <a:latin typeface="Times New Roman" panose="02020503050405090304" pitchFamily="18" charset="0"/>
              <a:ea typeface="仿宋_GB2312" pitchFamily="49" charset="-122"/>
              <a:cs typeface="+mn-cs"/>
            </a:endParaRPr>
          </a:p>
        </p:txBody>
      </p:sp>
      <p:sp>
        <p:nvSpPr>
          <p:cNvPr id="1030" name="Line 1030"/>
          <p:cNvSpPr>
            <a:spLocks noChangeShapeType="1"/>
          </p:cNvSpPr>
          <p:nvPr/>
        </p:nvSpPr>
        <p:spPr bwMode="auto">
          <a:xfrm>
            <a:off x="247650" y="6419850"/>
            <a:ext cx="8672513" cy="0"/>
          </a:xfrm>
          <a:prstGeom prst="line">
            <a:avLst/>
          </a:prstGeom>
          <a:noFill/>
          <a:ln w="28575">
            <a:solidFill>
              <a:srgbClr val="FF9900"/>
            </a:solidFill>
            <a:round/>
          </a:ln>
        </p:spPr>
        <p:txBody>
          <a:body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a:ln>
                <a:noFill/>
              </a:ln>
              <a:solidFill>
                <a:schemeClr val="tx1"/>
              </a:solidFill>
              <a:effectLst/>
              <a:uLnTx/>
              <a:uFillTx/>
              <a:latin typeface="Times New Roman" panose="02020503050405090304" pitchFamily="18" charset="0"/>
              <a:ea typeface="仿宋_GB2312" pitchFamily="49" charset="-122"/>
              <a:cs typeface="+mn-cs"/>
            </a:endParaRPr>
          </a:p>
        </p:txBody>
      </p:sp>
    </p:spTree>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Lst>
  <p:hf sldNum="0" hdr="0" ftr="0" dt="0"/>
  <p:txStyles>
    <p:titleStyle>
      <a:lvl1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2pPr>
      <a:lvl3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3pPr>
      <a:lvl4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4pPr>
      <a:lvl5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5pPr>
      <a:lvl6pPr marL="457200"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6pPr>
      <a:lvl7pPr marL="914400"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7pPr>
      <a:lvl8pPr marL="1371600"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8pPr>
      <a:lvl9pPr marL="1828800"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9pPr>
    </p:titleStyle>
    <p:bodyStyle>
      <a:lvl1pPr marL="342900" indent="-342900" algn="l" defTabSz="425450" rtl="0" eaLnBrk="0" fontAlgn="base" hangingPunct="0">
        <a:lnSpc>
          <a:spcPct val="130000"/>
        </a:lnSpc>
        <a:spcBef>
          <a:spcPct val="20000"/>
        </a:spcBef>
        <a:spcAft>
          <a:spcPct val="0"/>
        </a:spcAft>
        <a:buClr>
          <a:schemeClr val="folHlink"/>
        </a:buClr>
        <a:buFont typeface="Wingdings" panose="05000000000000000000" pitchFamily="2" charset="2"/>
        <a:buChar char="v"/>
        <a:defRPr kumimoji="1" sz="2800" b="1">
          <a:solidFill>
            <a:schemeClr val="tx1"/>
          </a:solidFill>
          <a:latin typeface="+mn-lt"/>
          <a:ea typeface="+mn-ea"/>
          <a:cs typeface="+mn-cs"/>
        </a:defRPr>
      </a:lvl1pPr>
      <a:lvl2pPr marL="382905" indent="5080" algn="l" defTabSz="425450" rtl="0" eaLnBrk="0" fontAlgn="base" hangingPunct="0">
        <a:spcBef>
          <a:spcPct val="20000"/>
        </a:spcBef>
        <a:spcAft>
          <a:spcPct val="0"/>
        </a:spcAft>
        <a:buClr>
          <a:schemeClr val="accent2"/>
        </a:buClr>
        <a:buChar char="•"/>
        <a:defRPr kumimoji="1" sz="2400" b="1">
          <a:solidFill>
            <a:schemeClr val="tx1"/>
          </a:solidFill>
          <a:latin typeface="+mn-lt"/>
          <a:ea typeface="+mn-ea"/>
        </a:defRPr>
      </a:lvl2pPr>
      <a:lvl3pPr marL="757555" indent="5080" algn="l" defTabSz="425450" rtl="0" eaLnBrk="0" fontAlgn="base" hangingPunct="0">
        <a:spcBef>
          <a:spcPct val="20000"/>
        </a:spcBef>
        <a:spcAft>
          <a:spcPct val="0"/>
        </a:spcAft>
        <a:buClr>
          <a:schemeClr val="hlink"/>
        </a:buClr>
        <a:buFont typeface="Wingdings" panose="05000000000000000000" pitchFamily="2" charset="2"/>
        <a:buChar char="§"/>
        <a:defRPr kumimoji="1" sz="2000" b="1">
          <a:solidFill>
            <a:schemeClr val="tx1"/>
          </a:solidFill>
          <a:latin typeface="+mn-lt"/>
          <a:ea typeface="+mn-ea"/>
        </a:defRPr>
      </a:lvl3pPr>
      <a:lvl4pPr marL="1144905" indent="5080" algn="l" defTabSz="425450" rtl="0" eaLnBrk="0" fontAlgn="base" hangingPunct="0">
        <a:spcBef>
          <a:spcPct val="20000"/>
        </a:spcBef>
        <a:spcAft>
          <a:spcPct val="0"/>
        </a:spcAft>
        <a:buClr>
          <a:schemeClr val="tx2"/>
        </a:buClr>
        <a:buChar char="–"/>
        <a:defRPr kumimoji="1" sz="2000" b="1">
          <a:solidFill>
            <a:schemeClr val="tx1"/>
          </a:solidFill>
          <a:latin typeface="+mn-lt"/>
          <a:ea typeface="+mn-ea"/>
        </a:defRPr>
      </a:lvl4pPr>
      <a:lvl5pPr marL="1530350" indent="6350" algn="l" defTabSz="425450" rtl="0" eaLnBrk="0" fontAlgn="base" hangingPunct="0">
        <a:spcBef>
          <a:spcPct val="20000"/>
        </a:spcBef>
        <a:spcAft>
          <a:spcPct val="0"/>
        </a:spcAft>
        <a:buClr>
          <a:schemeClr val="accent1"/>
        </a:buClr>
        <a:buChar char="»"/>
        <a:defRPr kumimoji="1" sz="2000" b="1">
          <a:solidFill>
            <a:schemeClr val="tx1"/>
          </a:solidFill>
          <a:latin typeface="+mn-lt"/>
          <a:ea typeface="+mn-ea"/>
        </a:defRPr>
      </a:lvl5pPr>
      <a:lvl6pPr marL="19875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6pPr>
      <a:lvl7pPr marL="24447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7pPr>
      <a:lvl8pPr marL="29019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8pPr>
      <a:lvl9pPr marL="33591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1026"/>
          <p:cNvSpPr>
            <a:spLocks noGrp="1" noChangeArrowheads="1"/>
          </p:cNvSpPr>
          <p:nvPr>
            <p:ph type="title"/>
          </p:nvPr>
        </p:nvSpPr>
        <p:spPr bwMode="auto">
          <a:xfrm>
            <a:off x="228600" y="228600"/>
            <a:ext cx="8763000" cy="609600"/>
          </a:xfrm>
          <a:prstGeom prst="rect">
            <a:avLst/>
          </a:prstGeom>
          <a:noFill/>
          <a:ln w="9525">
            <a:noFill/>
            <a:miter lim="800000"/>
          </a:ln>
          <a:effectLst/>
        </p:spPr>
        <p:txBody>
          <a:bodyPr vert="horz" wrap="square" lIns="91440" tIns="45720" rIns="91440" bIns="45720" numCol="1" anchor="ctr" anchorCtr="0" compatLnSpc="1"/>
          <a:lstStyle/>
          <a:p>
            <a:pPr lvl="0" fontAlgn="base"/>
            <a:r>
              <a:rPr lang="zh-CN" altLang="en-US" strike="noStrike" noProof="1" dirty="0" smtClean="0"/>
              <a:t>第</a:t>
            </a:r>
            <a:r>
              <a:rPr lang="en-US" altLang="zh-CN" strike="noStrike" noProof="1" dirty="0" smtClean="0"/>
              <a:t>2</a:t>
            </a:r>
            <a:r>
              <a:rPr lang="zh-CN" altLang="en-US" strike="noStrike" noProof="1" dirty="0" smtClean="0"/>
              <a:t>章  </a:t>
            </a:r>
            <a:r>
              <a:rPr lang="en-US" altLang="zh-CN" strike="noStrike" noProof="1" dirty="0" smtClean="0"/>
              <a:t>C8051F</a:t>
            </a:r>
            <a:r>
              <a:rPr lang="zh-CN" altLang="en-US" strike="noStrike" noProof="1" dirty="0" smtClean="0"/>
              <a:t>单片机的结构与原理 </a:t>
            </a:r>
            <a:endParaRPr lang="zh-CN" altLang="en-US" strike="noStrike" noProof="1" dirty="0" smtClean="0"/>
          </a:p>
        </p:txBody>
      </p:sp>
      <p:sp>
        <p:nvSpPr>
          <p:cNvPr id="7171" name="Rectangle 1027"/>
          <p:cNvSpPr>
            <a:spLocks noGrp="1"/>
          </p:cNvSpPr>
          <p:nvPr>
            <p:ph type="body"/>
          </p:nvPr>
        </p:nvSpPr>
        <p:spPr>
          <a:xfrm>
            <a:off x="228600" y="996950"/>
            <a:ext cx="8763000" cy="5403850"/>
          </a:xfrm>
          <a:prstGeom prst="rect">
            <a:avLst/>
          </a:prstGeom>
          <a:noFill/>
          <a:ln w="9525">
            <a:noFill/>
          </a:ln>
        </p:spPr>
        <p:txBody>
          <a:bodyPr anchor="t" anchorCtr="0"/>
          <a:p>
            <a:pPr lvl="0"/>
            <a:r>
              <a:rPr lang="en-US" altLang="zh-CN" dirty="0"/>
              <a:t>2.1  C8051F</a:t>
            </a:r>
            <a:r>
              <a:rPr lang="zh-CN" altLang="en-US" dirty="0"/>
              <a:t>系列单片机总体结构	</a:t>
            </a:r>
            <a:endParaRPr lang="zh-CN" altLang="en-US" dirty="0"/>
          </a:p>
          <a:p>
            <a:pPr lvl="0"/>
            <a:r>
              <a:rPr lang="en-US" altLang="zh-CN" dirty="0"/>
              <a:t>2.2  C8051F020</a:t>
            </a:r>
            <a:r>
              <a:rPr lang="zh-CN" altLang="en-US" dirty="0"/>
              <a:t>存贮器组织 </a:t>
            </a:r>
            <a:endParaRPr lang="zh-CN" altLang="en-US" dirty="0"/>
          </a:p>
          <a:p>
            <a:pPr lvl="0"/>
            <a:r>
              <a:rPr lang="en-US" altLang="zh-CN" dirty="0"/>
              <a:t>2.3  CIP-51</a:t>
            </a:r>
            <a:r>
              <a:rPr lang="zh-CN" altLang="en-US" dirty="0"/>
              <a:t>指令介绍 </a:t>
            </a:r>
            <a:endParaRPr lang="zh-CN" altLang="en-US" dirty="0"/>
          </a:p>
          <a:p>
            <a:pPr lvl="0"/>
            <a:r>
              <a:rPr lang="en-US" altLang="zh-CN" dirty="0"/>
              <a:t>2.4  </a:t>
            </a:r>
            <a:r>
              <a:rPr lang="zh-CN" altLang="en-US" dirty="0"/>
              <a:t>中断系统 </a:t>
            </a:r>
            <a:endParaRPr lang="zh-CN" altLang="en-US" dirty="0"/>
          </a:p>
          <a:p>
            <a:pPr lvl="0"/>
            <a:r>
              <a:rPr lang="en-US" altLang="zh-CN" dirty="0"/>
              <a:t>2.5  </a:t>
            </a:r>
            <a:r>
              <a:rPr lang="zh-CN" altLang="en-US" dirty="0"/>
              <a:t>端口输入</a:t>
            </a:r>
            <a:r>
              <a:rPr lang="en-US" altLang="zh-CN" dirty="0"/>
              <a:t>/</a:t>
            </a:r>
            <a:r>
              <a:rPr lang="zh-CN" altLang="en-US" dirty="0"/>
              <a:t>输出 </a:t>
            </a:r>
            <a:endParaRPr lang="zh-CN" altLang="en-US" dirty="0"/>
          </a:p>
        </p:txBody>
      </p:sp>
      <p:sp>
        <p:nvSpPr>
          <p:cNvPr id="7172" name="Text Box 1028"/>
          <p:cNvSpPr txBox="1"/>
          <p:nvPr/>
        </p:nvSpPr>
        <p:spPr>
          <a:xfrm>
            <a:off x="8458200" y="6400800"/>
            <a:ext cx="685800" cy="457200"/>
          </a:xfrm>
          <a:prstGeom prst="rect">
            <a:avLst/>
          </a:prstGeom>
          <a:noFill/>
          <a:ln w="9525">
            <a:noFill/>
          </a:ln>
        </p:spPr>
        <p:txBody>
          <a:bodyPr anchor="t" anchorCtr="0">
            <a:spAutoFit/>
          </a:bodyPr>
          <a:p>
            <a:pPr lvl="0">
              <a:spcBef>
                <a:spcPct val="50000"/>
              </a:spcBef>
              <a:buClrTx/>
              <a:buFontTx/>
            </a:pPr>
            <a:fld id="{9A0DB2DC-4C9A-4742-B13C-FB6460FD3503}" type="slidenum">
              <a:rPr lang="en-US" altLang="zh-CN" b="0" dirty="0">
                <a:latin typeface="Times New Roman" panose="02020503050405090304" pitchFamily="18" charset="0"/>
                <a:ea typeface="宋体" pitchFamily="2" charset="-122"/>
              </a:rPr>
            </a:fld>
            <a:endParaRPr lang="en-US" altLang="zh-CN" b="0" dirty="0">
              <a:latin typeface="Times New Roman" panose="02020503050405090304" pitchFamily="18" charset="0"/>
              <a:ea typeface="宋体" pitchFamily="2" charset="-122"/>
            </a:endParaRPr>
          </a:p>
        </p:txBody>
      </p:sp>
      <p:sp>
        <p:nvSpPr>
          <p:cNvPr id="1029" name="Line 1029"/>
          <p:cNvSpPr>
            <a:spLocks noChangeShapeType="1"/>
          </p:cNvSpPr>
          <p:nvPr/>
        </p:nvSpPr>
        <p:spPr bwMode="auto">
          <a:xfrm>
            <a:off x="228600" y="914400"/>
            <a:ext cx="8672513" cy="0"/>
          </a:xfrm>
          <a:prstGeom prst="line">
            <a:avLst/>
          </a:prstGeom>
          <a:noFill/>
          <a:ln w="57150" cmpd="thickThin">
            <a:solidFill>
              <a:srgbClr val="FF9900"/>
            </a:solidFill>
            <a:round/>
          </a:ln>
        </p:spPr>
        <p:txBody>
          <a:body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a:ln>
                <a:noFill/>
              </a:ln>
              <a:solidFill>
                <a:schemeClr val="tx1"/>
              </a:solidFill>
              <a:effectLst/>
              <a:uLnTx/>
              <a:uFillTx/>
              <a:latin typeface="Times New Roman" panose="02020503050405090304" pitchFamily="18" charset="0"/>
              <a:ea typeface="仿宋_GB2312" pitchFamily="49" charset="-122"/>
              <a:cs typeface="+mn-cs"/>
            </a:endParaRPr>
          </a:p>
        </p:txBody>
      </p:sp>
      <p:sp>
        <p:nvSpPr>
          <p:cNvPr id="1030" name="Line 1030"/>
          <p:cNvSpPr>
            <a:spLocks noChangeShapeType="1"/>
          </p:cNvSpPr>
          <p:nvPr/>
        </p:nvSpPr>
        <p:spPr bwMode="auto">
          <a:xfrm>
            <a:off x="247650" y="6419850"/>
            <a:ext cx="8672513" cy="0"/>
          </a:xfrm>
          <a:prstGeom prst="line">
            <a:avLst/>
          </a:prstGeom>
          <a:noFill/>
          <a:ln w="28575">
            <a:solidFill>
              <a:srgbClr val="FF9900"/>
            </a:solidFill>
            <a:round/>
          </a:ln>
        </p:spPr>
        <p:txBody>
          <a:body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a:ln>
                <a:noFill/>
              </a:ln>
              <a:solidFill>
                <a:schemeClr val="tx1"/>
              </a:solidFill>
              <a:effectLst/>
              <a:uLnTx/>
              <a:uFillTx/>
              <a:latin typeface="Times New Roman" panose="02020503050405090304" pitchFamily="18" charset="0"/>
              <a:ea typeface="仿宋_GB2312" pitchFamily="49" charset="-122"/>
              <a:cs typeface="+mn-cs"/>
            </a:endParaRPr>
          </a:p>
        </p:txBody>
      </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Lst>
  <p:hf sldNum="0" hdr="0" ftr="0" dt="0"/>
  <p:txStyles>
    <p:titleStyle>
      <a:lvl1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2pPr>
      <a:lvl3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3pPr>
      <a:lvl4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4pPr>
      <a:lvl5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5pPr>
      <a:lvl6pPr marL="457200"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6pPr>
      <a:lvl7pPr marL="914400"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7pPr>
      <a:lvl8pPr marL="1371600"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8pPr>
      <a:lvl9pPr marL="1828800"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9pPr>
    </p:titleStyle>
    <p:bodyStyle>
      <a:lvl1pPr marL="342900" indent="-342900" algn="l" defTabSz="425450" rtl="0" eaLnBrk="0" fontAlgn="base" hangingPunct="0">
        <a:lnSpc>
          <a:spcPct val="130000"/>
        </a:lnSpc>
        <a:spcBef>
          <a:spcPct val="20000"/>
        </a:spcBef>
        <a:spcAft>
          <a:spcPct val="0"/>
        </a:spcAft>
        <a:buClr>
          <a:schemeClr val="folHlink"/>
        </a:buClr>
        <a:buFont typeface="Wingdings" panose="05000000000000000000" pitchFamily="2" charset="2"/>
        <a:buChar char="v"/>
        <a:defRPr kumimoji="1" sz="2800" b="1">
          <a:solidFill>
            <a:schemeClr val="tx1"/>
          </a:solidFill>
          <a:latin typeface="+mn-lt"/>
          <a:ea typeface="+mn-ea"/>
          <a:cs typeface="+mn-cs"/>
        </a:defRPr>
      </a:lvl1pPr>
      <a:lvl2pPr marL="382905" indent="5080" algn="l" defTabSz="425450" rtl="0" eaLnBrk="0" fontAlgn="base" hangingPunct="0">
        <a:spcBef>
          <a:spcPct val="20000"/>
        </a:spcBef>
        <a:spcAft>
          <a:spcPct val="0"/>
        </a:spcAft>
        <a:buClr>
          <a:schemeClr val="accent2"/>
        </a:buClr>
        <a:buChar char="•"/>
        <a:defRPr kumimoji="1" sz="2400" b="1">
          <a:solidFill>
            <a:schemeClr val="tx1"/>
          </a:solidFill>
          <a:latin typeface="+mn-lt"/>
          <a:ea typeface="+mn-ea"/>
        </a:defRPr>
      </a:lvl2pPr>
      <a:lvl3pPr marL="757555" indent="5080" algn="l" defTabSz="425450" rtl="0" eaLnBrk="0" fontAlgn="base" hangingPunct="0">
        <a:spcBef>
          <a:spcPct val="20000"/>
        </a:spcBef>
        <a:spcAft>
          <a:spcPct val="0"/>
        </a:spcAft>
        <a:buClr>
          <a:schemeClr val="hlink"/>
        </a:buClr>
        <a:buFont typeface="Wingdings" panose="05000000000000000000" pitchFamily="2" charset="2"/>
        <a:buChar char="§"/>
        <a:defRPr kumimoji="1" sz="2000" b="1">
          <a:solidFill>
            <a:schemeClr val="tx1"/>
          </a:solidFill>
          <a:latin typeface="+mn-lt"/>
          <a:ea typeface="+mn-ea"/>
        </a:defRPr>
      </a:lvl3pPr>
      <a:lvl4pPr marL="1144905" indent="5080" algn="l" defTabSz="425450" rtl="0" eaLnBrk="0" fontAlgn="base" hangingPunct="0">
        <a:spcBef>
          <a:spcPct val="20000"/>
        </a:spcBef>
        <a:spcAft>
          <a:spcPct val="0"/>
        </a:spcAft>
        <a:buClr>
          <a:schemeClr val="tx2"/>
        </a:buClr>
        <a:buChar char="–"/>
        <a:defRPr kumimoji="1" sz="2000" b="1">
          <a:solidFill>
            <a:schemeClr val="tx1"/>
          </a:solidFill>
          <a:latin typeface="+mn-lt"/>
          <a:ea typeface="+mn-ea"/>
        </a:defRPr>
      </a:lvl4pPr>
      <a:lvl5pPr marL="1530350" indent="6350" algn="l" defTabSz="425450" rtl="0" eaLnBrk="0" fontAlgn="base" hangingPunct="0">
        <a:spcBef>
          <a:spcPct val="20000"/>
        </a:spcBef>
        <a:spcAft>
          <a:spcPct val="0"/>
        </a:spcAft>
        <a:buClr>
          <a:schemeClr val="accent1"/>
        </a:buClr>
        <a:buChar char="»"/>
        <a:defRPr kumimoji="1" sz="2000" b="1">
          <a:solidFill>
            <a:schemeClr val="tx1"/>
          </a:solidFill>
          <a:latin typeface="+mn-lt"/>
          <a:ea typeface="+mn-ea"/>
        </a:defRPr>
      </a:lvl5pPr>
      <a:lvl6pPr marL="19875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6pPr>
      <a:lvl7pPr marL="24447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7pPr>
      <a:lvl8pPr marL="29019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8pPr>
      <a:lvl9pPr marL="33591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194" name="Rectangle 2"/>
          <p:cNvSpPr>
            <a:spLocks noGrp="1"/>
          </p:cNvSpPr>
          <p:nvPr>
            <p:ph type="title"/>
          </p:nvPr>
        </p:nvSpPr>
        <p:spPr>
          <a:xfrm>
            <a:off x="881063" y="188913"/>
            <a:ext cx="7605712" cy="765175"/>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8195" name="Rectangle 3"/>
          <p:cNvSpPr>
            <a:spLocks noGrp="1"/>
          </p:cNvSpPr>
          <p:nvPr>
            <p:ph type="body"/>
          </p:nvPr>
        </p:nvSpPr>
        <p:spPr>
          <a:xfrm>
            <a:off x="836613" y="1042988"/>
            <a:ext cx="7696200" cy="5086350"/>
          </a:xfrm>
          <a:prstGeom prst="rect">
            <a:avLst/>
          </a:prstGeom>
          <a:noFill/>
          <a:ln w="9525">
            <a:noFill/>
          </a:ln>
        </p:spPr>
        <p:txBody>
          <a:bodyPr anchor="t" anchorCtr="0"/>
          <a:p>
            <a:pPr lvl="0"/>
            <a:endParaRPr lang="zh-CN" altLang="en-US" dirty="0"/>
          </a:p>
        </p:txBody>
      </p:sp>
      <p:sp>
        <p:nvSpPr>
          <p:cNvPr id="147460" name="Rectangle 4"/>
          <p:cNvSpPr>
            <a:spLocks noGrp="1" noChangeArrowheads="1"/>
          </p:cNvSpPr>
          <p:nvPr>
            <p:ph type="dt" sz="half" idx="2"/>
          </p:nvPr>
        </p:nvSpPr>
        <p:spPr bwMode="auto">
          <a:xfrm>
            <a:off x="1162050" y="6243638"/>
            <a:ext cx="1905000" cy="457200"/>
          </a:xfrm>
          <a:prstGeom prst="rect">
            <a:avLst/>
          </a:prstGeom>
          <a:noFill/>
          <a:ln>
            <a:noFill/>
          </a:ln>
          <a:effectLst/>
        </p:spPr>
        <p:txBody>
          <a:bodyPr vert="horz" wrap="square" lIns="91440" tIns="45720" rIns="91440" bIns="45720" numCol="1" anchor="b" anchorCtr="0" compatLnSpc="1"/>
          <a:lstStyle>
            <a:lvl1pPr eaLnBrk="1" hangingPunct="1">
              <a:buClrTx/>
              <a:buFontTx/>
              <a:buNone/>
              <a:defRPr kumimoji="0" sz="1400" b="0">
                <a:latin typeface="Tahoma" panose="020B0604030504040204" pitchFamily="34" charset="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147461" name="Rectangle 5"/>
          <p:cNvSpPr>
            <a:spLocks noGrp="1" noChangeArrowheads="1"/>
          </p:cNvSpPr>
          <p:nvPr>
            <p:ph type="ftr" sz="quarter" idx="3"/>
          </p:nvPr>
        </p:nvSpPr>
        <p:spPr bwMode="auto">
          <a:xfrm>
            <a:off x="3657600" y="6243638"/>
            <a:ext cx="2895600" cy="457200"/>
          </a:xfrm>
          <a:prstGeom prst="rect">
            <a:avLst/>
          </a:prstGeom>
          <a:noFill/>
          <a:ln>
            <a:noFill/>
          </a:ln>
          <a:effectLst/>
        </p:spPr>
        <p:txBody>
          <a:bodyPr vert="horz" wrap="square" lIns="91440" tIns="45720" rIns="91440" bIns="45720" numCol="1" anchor="b" anchorCtr="0" compatLnSpc="1"/>
          <a:lstStyle>
            <a:lvl1pPr algn="ctr" eaLnBrk="1" hangingPunct="1">
              <a:buClrTx/>
              <a:buFontTx/>
              <a:buNone/>
              <a:defRPr kumimoji="0" sz="1400" b="0">
                <a:latin typeface="Tahoma" panose="020B0604030504040204" pitchFamily="34" charset="0"/>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147462" name="Rectangle 6"/>
          <p:cNvSpPr>
            <a:spLocks noGrp="1" noChangeArrowheads="1"/>
          </p:cNvSpPr>
          <p:nvPr>
            <p:ph type="sldNum" sz="quarter" idx="4"/>
          </p:nvPr>
        </p:nvSpPr>
        <p:spPr bwMode="auto">
          <a:xfrm>
            <a:off x="7042150" y="6243638"/>
            <a:ext cx="1905000" cy="457200"/>
          </a:xfrm>
          <a:prstGeom prst="rect">
            <a:avLst/>
          </a:prstGeom>
          <a:noFill/>
          <a:ln>
            <a:noFill/>
          </a:ln>
          <a:effectLst/>
        </p:spPr>
        <p:txBody>
          <a:bodyPr vert="horz" wrap="square" lIns="91440" tIns="45720" rIns="91440" bIns="45720" numCol="1" anchor="b" anchorCtr="0" compatLnSpc="1"/>
          <a:lstStyle>
            <a:lvl1pPr algn="r">
              <a:buFontTx/>
              <a:defRPr sz="1400" b="0">
                <a:latin typeface="Tahoma" panose="020B0604030504040204" pitchFamily="34" charset="0"/>
                <a:ea typeface="宋体" pitchFamily="2" charset="-122"/>
              </a:defRPr>
            </a:lvl1pPr>
          </a:lstStyle>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grpSp>
        <p:nvGrpSpPr>
          <p:cNvPr id="8199" name="Group 7"/>
          <p:cNvGrpSpPr/>
          <p:nvPr/>
        </p:nvGrpSpPr>
        <p:grpSpPr>
          <a:xfrm>
            <a:off x="341313" y="593725"/>
            <a:ext cx="712787" cy="495300"/>
            <a:chOff x="130" y="303"/>
            <a:chExt cx="705" cy="468"/>
          </a:xfrm>
        </p:grpSpPr>
        <p:sp>
          <p:nvSpPr>
            <p:cNvPr id="4107" name="Rectangle 8"/>
            <p:cNvSpPr>
              <a:spLocks noChangeArrowheads="1"/>
            </p:cNvSpPr>
            <p:nvPr/>
          </p:nvSpPr>
          <p:spPr bwMode="ltGray">
            <a:xfrm>
              <a:off x="130" y="485"/>
              <a:ext cx="342" cy="222"/>
            </a:xfrm>
            <a:prstGeom prst="rect">
              <a:avLst/>
            </a:prstGeom>
            <a:gradFill rotWithShape="0">
              <a:gsLst>
                <a:gs pos="0">
                  <a:schemeClr val="bg1"/>
                </a:gs>
                <a:gs pos="100000">
                  <a:schemeClr val="hlink"/>
                </a:gs>
              </a:gsLst>
              <a:lin ang="1890000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itchFamily="2" charset="-122"/>
                <a:cs typeface="+mn-cs"/>
              </a:endParaRPr>
            </a:p>
          </p:txBody>
        </p:sp>
        <p:sp>
          <p:nvSpPr>
            <p:cNvPr id="4108" name="Rectangle 9"/>
            <p:cNvSpPr>
              <a:spLocks noChangeArrowheads="1"/>
            </p:cNvSpPr>
            <p:nvPr/>
          </p:nvSpPr>
          <p:spPr bwMode="ltGray">
            <a:xfrm>
              <a:off x="307" y="303"/>
              <a:ext cx="267" cy="248"/>
            </a:xfrm>
            <a:prstGeom prst="rect">
              <a:avLst/>
            </a:prstGeom>
            <a:solidFill>
              <a:schemeClr val="accent2"/>
            </a:soli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itchFamily="2" charset="-122"/>
                <a:cs typeface="+mn-cs"/>
              </a:endParaRPr>
            </a:p>
          </p:txBody>
        </p:sp>
        <p:sp>
          <p:nvSpPr>
            <p:cNvPr id="4109" name="Rectangle 10"/>
            <p:cNvSpPr>
              <a:spLocks noChangeArrowheads="1"/>
            </p:cNvSpPr>
            <p:nvPr/>
          </p:nvSpPr>
          <p:spPr bwMode="ltGray">
            <a:xfrm>
              <a:off x="541" y="303"/>
              <a:ext cx="201" cy="248"/>
            </a:xfrm>
            <a:prstGeom prst="rect">
              <a:avLst/>
            </a:prstGeom>
            <a:gradFill rotWithShape="0">
              <a:gsLst>
                <a:gs pos="0">
                  <a:schemeClr val="accent2"/>
                </a:gs>
                <a:gs pos="100000">
                  <a:schemeClr val="bg1"/>
                </a:gs>
              </a:gsLst>
              <a:lin ang="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itchFamily="2" charset="-122"/>
                <a:cs typeface="+mn-cs"/>
              </a:endParaRPr>
            </a:p>
          </p:txBody>
        </p:sp>
        <p:sp>
          <p:nvSpPr>
            <p:cNvPr id="4110" name="Rectangle 11"/>
            <p:cNvSpPr>
              <a:spLocks noChangeArrowheads="1"/>
            </p:cNvSpPr>
            <p:nvPr/>
          </p:nvSpPr>
          <p:spPr bwMode="ltGray">
            <a:xfrm>
              <a:off x="384" y="524"/>
              <a:ext cx="258" cy="247"/>
            </a:xfrm>
            <a:prstGeom prst="rect">
              <a:avLst/>
            </a:prstGeom>
            <a:solidFill>
              <a:schemeClr val="folHlink"/>
            </a:soli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itchFamily="2" charset="-122"/>
                <a:cs typeface="+mn-cs"/>
              </a:endParaRPr>
            </a:p>
          </p:txBody>
        </p:sp>
        <p:sp>
          <p:nvSpPr>
            <p:cNvPr id="4111" name="Rectangle 12"/>
            <p:cNvSpPr>
              <a:spLocks noChangeArrowheads="1"/>
            </p:cNvSpPr>
            <p:nvPr/>
          </p:nvSpPr>
          <p:spPr bwMode="ltGray">
            <a:xfrm>
              <a:off x="610" y="524"/>
              <a:ext cx="225" cy="247"/>
            </a:xfrm>
            <a:prstGeom prst="rect">
              <a:avLst/>
            </a:prstGeom>
            <a:gradFill rotWithShape="0">
              <a:gsLst>
                <a:gs pos="0">
                  <a:schemeClr val="folHlink"/>
                </a:gs>
                <a:gs pos="100000">
                  <a:schemeClr val="bg1"/>
                </a:gs>
              </a:gsLst>
              <a:lin ang="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itchFamily="2" charset="-122"/>
                <a:cs typeface="+mn-cs"/>
              </a:endParaRPr>
            </a:p>
          </p:txBody>
        </p:sp>
      </p:grpSp>
      <p:sp>
        <p:nvSpPr>
          <p:cNvPr id="4104" name="Rectangle 13"/>
          <p:cNvSpPr>
            <a:spLocks noChangeArrowheads="1"/>
          </p:cNvSpPr>
          <p:nvPr/>
        </p:nvSpPr>
        <p:spPr bwMode="gray">
          <a:xfrm>
            <a:off x="476250" y="954088"/>
            <a:ext cx="7983538" cy="17463"/>
          </a:xfrm>
          <a:prstGeom prst="rect">
            <a:avLst/>
          </a:prstGeom>
          <a:gradFill rotWithShape="0">
            <a:gsLst>
              <a:gs pos="0">
                <a:schemeClr val="bg2"/>
              </a:gs>
              <a:gs pos="100000">
                <a:schemeClr val="bg1"/>
              </a:gs>
            </a:gsLst>
            <a:lin ang="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itchFamily="2" charset="-122"/>
              <a:cs typeface="+mn-cs"/>
            </a:endParaRPr>
          </a:p>
        </p:txBody>
      </p:sp>
      <p:sp>
        <p:nvSpPr>
          <p:cNvPr id="4105" name="Rectangle 14"/>
          <p:cNvSpPr>
            <a:spLocks noChangeArrowheads="1"/>
          </p:cNvSpPr>
          <p:nvPr/>
        </p:nvSpPr>
        <p:spPr bwMode="gray">
          <a:xfrm>
            <a:off x="701675" y="549275"/>
            <a:ext cx="17463" cy="576263"/>
          </a:xfrm>
          <a:prstGeom prst="rect">
            <a:avLst/>
          </a:prstGeom>
          <a:solidFill>
            <a:schemeClr val="bg2"/>
          </a:soli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itchFamily="2" charset="-122"/>
              <a:cs typeface="+mn-cs"/>
            </a:endParaRPr>
          </a:p>
        </p:txBody>
      </p:sp>
      <p:sp>
        <p:nvSpPr>
          <p:cNvPr id="4106" name="Rectangle 15"/>
          <p:cNvSpPr>
            <a:spLocks noChangeArrowheads="1"/>
          </p:cNvSpPr>
          <p:nvPr/>
        </p:nvSpPr>
        <p:spPr bwMode="gray">
          <a:xfrm>
            <a:off x="566738" y="6129338"/>
            <a:ext cx="7983538" cy="17463"/>
          </a:xfrm>
          <a:prstGeom prst="rect">
            <a:avLst/>
          </a:prstGeom>
          <a:gradFill rotWithShape="0">
            <a:gsLst>
              <a:gs pos="0">
                <a:schemeClr val="bg1"/>
              </a:gs>
              <a:gs pos="100000">
                <a:schemeClr val="bg2"/>
              </a:gs>
            </a:gsLst>
            <a:lin ang="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8" r:id="rId6"/>
    <p:sldLayoutId id="2147483749" r:id="rId7"/>
    <p:sldLayoutId id="2147483750" r:id="rId8"/>
    <p:sldLayoutId id="2147483751" r:id="rId9"/>
    <p:sldLayoutId id="2147483752" r:id="rId10"/>
    <p:sldLayoutId id="2147483753" r:id="rId11"/>
    <p:sldLayoutId id="2147483754" r:id="rId12"/>
  </p:sldLayoutIdLst>
  <p:hf sldNum="0" hdr="0" ftr="0" dt="0"/>
  <p:txStyles>
    <p:title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Times New Roman" panose="02020503050405090304" pitchFamily="18" charset="0"/>
          <a:ea typeface="宋体" pitchFamily="2" charset="-122"/>
        </a:defRPr>
      </a:lvl2pPr>
      <a:lvl3pPr algn="l" rtl="0" eaLnBrk="0" fontAlgn="base" hangingPunct="0">
        <a:spcBef>
          <a:spcPct val="0"/>
        </a:spcBef>
        <a:spcAft>
          <a:spcPct val="0"/>
        </a:spcAft>
        <a:defRPr sz="3600">
          <a:solidFill>
            <a:schemeClr val="tx2"/>
          </a:solidFill>
          <a:latin typeface="Times New Roman" panose="02020503050405090304" pitchFamily="18" charset="0"/>
          <a:ea typeface="宋体" pitchFamily="2" charset="-122"/>
        </a:defRPr>
      </a:lvl3pPr>
      <a:lvl4pPr algn="l" rtl="0" eaLnBrk="0" fontAlgn="base" hangingPunct="0">
        <a:spcBef>
          <a:spcPct val="0"/>
        </a:spcBef>
        <a:spcAft>
          <a:spcPct val="0"/>
        </a:spcAft>
        <a:defRPr sz="3600">
          <a:solidFill>
            <a:schemeClr val="tx2"/>
          </a:solidFill>
          <a:latin typeface="Times New Roman" panose="02020503050405090304" pitchFamily="18" charset="0"/>
          <a:ea typeface="宋体" pitchFamily="2" charset="-122"/>
        </a:defRPr>
      </a:lvl4pPr>
      <a:lvl5pPr algn="l" rtl="0" eaLnBrk="0" fontAlgn="base" hangingPunct="0">
        <a:spcBef>
          <a:spcPct val="0"/>
        </a:spcBef>
        <a:spcAft>
          <a:spcPct val="0"/>
        </a:spcAft>
        <a:defRPr sz="3600">
          <a:solidFill>
            <a:schemeClr val="tx2"/>
          </a:solidFill>
          <a:latin typeface="Times New Roman" panose="02020503050405090304" pitchFamily="18" charset="0"/>
          <a:ea typeface="宋体" pitchFamily="2" charset="-122"/>
        </a:defRPr>
      </a:lvl5pPr>
      <a:lvl6pPr marL="457200" algn="l" rtl="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algn="l" rtl="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algn="l" rtl="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algn="l" rtl="0" fontAlgn="base">
        <a:spcBef>
          <a:spcPct val="0"/>
        </a:spcBef>
        <a:spcAft>
          <a:spcPct val="0"/>
        </a:spcAft>
        <a:defRPr sz="3600">
          <a:solidFill>
            <a:schemeClr val="tx2"/>
          </a:solidFill>
          <a:latin typeface="Times New Roman" panose="02020503050405090304" pitchFamily="18"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
        <a:defRPr sz="2600">
          <a:solidFill>
            <a:schemeClr val="folHlink"/>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600">
          <a:solidFill>
            <a:schemeClr val="folHlink"/>
          </a:solidFill>
          <a:latin typeface="Tahoma" panose="020B0604030504040204" pitchFamily="34" charset="0"/>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600">
          <a:solidFill>
            <a:schemeClr val="folHlink"/>
          </a:solidFill>
          <a:latin typeface="Tahoma" panose="020B0604030504040204" pitchFamily="34" charset="0"/>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600">
          <a:solidFill>
            <a:schemeClr val="folHlink"/>
          </a:solidFill>
          <a:latin typeface="Tahoma" panose="020B0604030504040204" pitchFamily="34" charset="0"/>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600">
          <a:solidFill>
            <a:schemeClr val="folHlink"/>
          </a:solidFill>
          <a:latin typeface="Tahoma" panose="020B0604030504040204" pitchFamily="34" charset="0"/>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600">
          <a:solidFill>
            <a:schemeClr val="folHlink"/>
          </a:solidFill>
          <a:latin typeface="Tahoma" panose="020B0604030504040204" pitchFamily="34" charset="0"/>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600">
          <a:solidFill>
            <a:schemeClr val="folHlink"/>
          </a:solidFill>
          <a:latin typeface="Tahoma" panose="020B0604030504040204" pitchFamily="34" charset="0"/>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600">
          <a:solidFill>
            <a:schemeClr val="folHlink"/>
          </a:solidFill>
          <a:latin typeface="Tahoma" panose="020B0604030504040204" pitchFamily="34" charset="0"/>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600">
          <a:solidFill>
            <a:schemeClr val="folHlink"/>
          </a:solidFill>
          <a:latin typeface="Tahoma" panose="020B0604030504040204" pitchFamily="34" charset="0"/>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1026"/>
          <p:cNvSpPr>
            <a:spLocks noGrp="1" noChangeArrowheads="1"/>
          </p:cNvSpPr>
          <p:nvPr>
            <p:ph type="title"/>
          </p:nvPr>
        </p:nvSpPr>
        <p:spPr bwMode="auto">
          <a:xfrm>
            <a:off x="228600" y="228600"/>
            <a:ext cx="8763000" cy="609600"/>
          </a:xfrm>
          <a:prstGeom prst="rect">
            <a:avLst/>
          </a:prstGeom>
          <a:noFill/>
          <a:ln w="9525">
            <a:noFill/>
            <a:miter lim="800000"/>
          </a:ln>
          <a:effectLst/>
        </p:spPr>
        <p:txBody>
          <a:bodyPr vert="horz" wrap="square" lIns="91440" tIns="45720" rIns="91440" bIns="45720" numCol="1" anchor="ctr" anchorCtr="0" compatLnSpc="1"/>
          <a:lstStyle/>
          <a:p>
            <a:pPr lvl="0" fontAlgn="base"/>
            <a:r>
              <a:rPr lang="zh-CN" altLang="en-US" strike="noStrike" noProof="1" dirty="0" smtClean="0"/>
              <a:t>第</a:t>
            </a:r>
            <a:r>
              <a:rPr lang="en-US" altLang="zh-CN" strike="noStrike" noProof="1" dirty="0" smtClean="0"/>
              <a:t>2</a:t>
            </a:r>
            <a:r>
              <a:rPr lang="zh-CN" altLang="en-US" strike="noStrike" noProof="1" dirty="0" smtClean="0"/>
              <a:t>章  </a:t>
            </a:r>
            <a:r>
              <a:rPr lang="en-US" altLang="zh-CN" strike="noStrike" noProof="1" dirty="0" smtClean="0"/>
              <a:t>C8051F</a:t>
            </a:r>
            <a:r>
              <a:rPr lang="zh-CN" altLang="en-US" strike="noStrike" noProof="1" dirty="0" smtClean="0"/>
              <a:t>单片机的结构与原理 </a:t>
            </a:r>
            <a:endParaRPr lang="zh-CN" altLang="en-US" strike="noStrike" noProof="1" dirty="0" smtClean="0"/>
          </a:p>
        </p:txBody>
      </p:sp>
      <p:sp>
        <p:nvSpPr>
          <p:cNvPr id="9219" name="Rectangle 1027"/>
          <p:cNvSpPr>
            <a:spLocks noGrp="1"/>
          </p:cNvSpPr>
          <p:nvPr>
            <p:ph type="body"/>
          </p:nvPr>
        </p:nvSpPr>
        <p:spPr>
          <a:xfrm>
            <a:off x="228600" y="996950"/>
            <a:ext cx="8763000" cy="5403850"/>
          </a:xfrm>
          <a:prstGeom prst="rect">
            <a:avLst/>
          </a:prstGeom>
          <a:noFill/>
          <a:ln w="9525">
            <a:noFill/>
          </a:ln>
        </p:spPr>
        <p:txBody>
          <a:bodyPr anchor="t" anchorCtr="0"/>
          <a:p>
            <a:pPr lvl="0"/>
            <a:r>
              <a:rPr lang="en-US" altLang="zh-CN" dirty="0"/>
              <a:t>2.1  C8051F</a:t>
            </a:r>
            <a:r>
              <a:rPr lang="zh-CN" altLang="en-US" dirty="0"/>
              <a:t>系列单片机总体结构	</a:t>
            </a:r>
            <a:endParaRPr lang="zh-CN" altLang="en-US" dirty="0"/>
          </a:p>
          <a:p>
            <a:pPr lvl="0"/>
            <a:r>
              <a:rPr lang="en-US" altLang="zh-CN" dirty="0"/>
              <a:t>2.2  C8051F020</a:t>
            </a:r>
            <a:r>
              <a:rPr lang="zh-CN" altLang="en-US" dirty="0"/>
              <a:t>存贮器组织 </a:t>
            </a:r>
            <a:endParaRPr lang="zh-CN" altLang="en-US" dirty="0"/>
          </a:p>
          <a:p>
            <a:pPr lvl="0"/>
            <a:r>
              <a:rPr lang="en-US" altLang="zh-CN" dirty="0"/>
              <a:t>2.3  CIP-51</a:t>
            </a:r>
            <a:r>
              <a:rPr lang="zh-CN" altLang="en-US" dirty="0"/>
              <a:t>指令介绍 </a:t>
            </a:r>
            <a:endParaRPr lang="zh-CN" altLang="en-US" dirty="0"/>
          </a:p>
          <a:p>
            <a:pPr lvl="0"/>
            <a:r>
              <a:rPr lang="en-US" altLang="zh-CN" dirty="0"/>
              <a:t>2.4  </a:t>
            </a:r>
            <a:r>
              <a:rPr lang="zh-CN" altLang="en-US" dirty="0"/>
              <a:t>中断系统 </a:t>
            </a:r>
            <a:endParaRPr lang="zh-CN" altLang="en-US" dirty="0"/>
          </a:p>
          <a:p>
            <a:pPr lvl="0"/>
            <a:r>
              <a:rPr lang="en-US" altLang="zh-CN" dirty="0"/>
              <a:t>2.5  </a:t>
            </a:r>
            <a:r>
              <a:rPr lang="zh-CN" altLang="en-US" dirty="0"/>
              <a:t>端口输入</a:t>
            </a:r>
            <a:r>
              <a:rPr lang="en-US" altLang="zh-CN" dirty="0"/>
              <a:t>/</a:t>
            </a:r>
            <a:r>
              <a:rPr lang="zh-CN" altLang="en-US" dirty="0"/>
              <a:t>输出 </a:t>
            </a:r>
            <a:endParaRPr lang="zh-CN" altLang="en-US" dirty="0"/>
          </a:p>
        </p:txBody>
      </p:sp>
      <p:sp>
        <p:nvSpPr>
          <p:cNvPr id="9220" name="Text Box 1028"/>
          <p:cNvSpPr txBox="1"/>
          <p:nvPr/>
        </p:nvSpPr>
        <p:spPr>
          <a:xfrm>
            <a:off x="8458200" y="6400800"/>
            <a:ext cx="685800" cy="457200"/>
          </a:xfrm>
          <a:prstGeom prst="rect">
            <a:avLst/>
          </a:prstGeom>
          <a:noFill/>
          <a:ln w="9525">
            <a:noFill/>
          </a:ln>
        </p:spPr>
        <p:txBody>
          <a:bodyPr anchor="t" anchorCtr="0">
            <a:spAutoFit/>
          </a:bodyPr>
          <a:p>
            <a:pPr lvl="0">
              <a:spcBef>
                <a:spcPct val="50000"/>
              </a:spcBef>
              <a:buClrTx/>
              <a:buFontTx/>
            </a:pPr>
            <a:fld id="{9A0DB2DC-4C9A-4742-B13C-FB6460FD3503}" type="slidenum">
              <a:rPr lang="en-US" altLang="zh-CN" b="0" dirty="0">
                <a:latin typeface="Times New Roman" panose="02020503050405090304" pitchFamily="18" charset="0"/>
                <a:ea typeface="宋体" pitchFamily="2" charset="-122"/>
              </a:rPr>
            </a:fld>
            <a:endParaRPr lang="en-US" altLang="zh-CN" b="0" dirty="0">
              <a:latin typeface="Times New Roman" panose="02020503050405090304" pitchFamily="18" charset="0"/>
              <a:ea typeface="宋体" pitchFamily="2" charset="-122"/>
            </a:endParaRPr>
          </a:p>
        </p:txBody>
      </p:sp>
      <p:sp>
        <p:nvSpPr>
          <p:cNvPr id="1029" name="Line 1029"/>
          <p:cNvSpPr>
            <a:spLocks noChangeShapeType="1"/>
          </p:cNvSpPr>
          <p:nvPr/>
        </p:nvSpPr>
        <p:spPr bwMode="auto">
          <a:xfrm>
            <a:off x="228600" y="914400"/>
            <a:ext cx="8672513" cy="0"/>
          </a:xfrm>
          <a:prstGeom prst="line">
            <a:avLst/>
          </a:prstGeom>
          <a:noFill/>
          <a:ln w="57150" cmpd="thickThin">
            <a:solidFill>
              <a:srgbClr val="FF9900"/>
            </a:solidFill>
            <a:round/>
          </a:ln>
        </p:spPr>
        <p:txBody>
          <a:body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a:ln>
                <a:noFill/>
              </a:ln>
              <a:solidFill>
                <a:schemeClr val="tx1"/>
              </a:solidFill>
              <a:effectLst/>
              <a:uLnTx/>
              <a:uFillTx/>
              <a:latin typeface="Times New Roman" panose="02020503050405090304" pitchFamily="18" charset="0"/>
              <a:ea typeface="仿宋_GB2312" pitchFamily="49" charset="-122"/>
              <a:cs typeface="+mn-cs"/>
            </a:endParaRPr>
          </a:p>
        </p:txBody>
      </p:sp>
      <p:sp>
        <p:nvSpPr>
          <p:cNvPr id="1030" name="Line 1030"/>
          <p:cNvSpPr>
            <a:spLocks noChangeShapeType="1"/>
          </p:cNvSpPr>
          <p:nvPr/>
        </p:nvSpPr>
        <p:spPr bwMode="auto">
          <a:xfrm>
            <a:off x="247650" y="6419850"/>
            <a:ext cx="8672513" cy="0"/>
          </a:xfrm>
          <a:prstGeom prst="line">
            <a:avLst/>
          </a:prstGeom>
          <a:noFill/>
          <a:ln w="28575">
            <a:solidFill>
              <a:srgbClr val="FF9900"/>
            </a:solidFill>
            <a:round/>
          </a:ln>
        </p:spPr>
        <p:txBody>
          <a:body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a:ln>
                <a:noFill/>
              </a:ln>
              <a:solidFill>
                <a:schemeClr val="tx1"/>
              </a:solidFill>
              <a:effectLst/>
              <a:uLnTx/>
              <a:uFillTx/>
              <a:latin typeface="Times New Roman" panose="02020503050405090304" pitchFamily="18" charset="0"/>
              <a:ea typeface="仿宋_GB2312" pitchFamily="49" charset="-122"/>
              <a:cs typeface="+mn-cs"/>
            </a:endParaRPr>
          </a:p>
        </p:txBody>
      </p:sp>
    </p:spTree>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 id="2147483768" r:id="rId13"/>
  </p:sldLayoutIdLst>
  <p:hf sldNum="0" hdr="0" ftr="0" dt="0"/>
  <p:txStyles>
    <p:titleStyle>
      <a:lvl1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2pPr>
      <a:lvl3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3pPr>
      <a:lvl4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4pPr>
      <a:lvl5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5pPr>
      <a:lvl6pPr marL="457200"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6pPr>
      <a:lvl7pPr marL="914400"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7pPr>
      <a:lvl8pPr marL="1371600"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8pPr>
      <a:lvl9pPr marL="1828800"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9pPr>
    </p:titleStyle>
    <p:bodyStyle>
      <a:lvl1pPr marL="342900" indent="-342900" algn="l" defTabSz="425450" rtl="0" eaLnBrk="0" fontAlgn="base" hangingPunct="0">
        <a:lnSpc>
          <a:spcPct val="130000"/>
        </a:lnSpc>
        <a:spcBef>
          <a:spcPct val="20000"/>
        </a:spcBef>
        <a:spcAft>
          <a:spcPct val="0"/>
        </a:spcAft>
        <a:buClr>
          <a:schemeClr val="folHlink"/>
        </a:buClr>
        <a:buFont typeface="Wingdings" panose="05000000000000000000" pitchFamily="2" charset="2"/>
        <a:buChar char="v"/>
        <a:defRPr kumimoji="1" sz="2800" b="1">
          <a:solidFill>
            <a:schemeClr val="tx1"/>
          </a:solidFill>
          <a:latin typeface="+mn-lt"/>
          <a:ea typeface="+mn-ea"/>
          <a:cs typeface="+mn-cs"/>
        </a:defRPr>
      </a:lvl1pPr>
      <a:lvl2pPr marL="382905" indent="5080" algn="l" defTabSz="425450" rtl="0" eaLnBrk="0" fontAlgn="base" hangingPunct="0">
        <a:spcBef>
          <a:spcPct val="20000"/>
        </a:spcBef>
        <a:spcAft>
          <a:spcPct val="0"/>
        </a:spcAft>
        <a:buClr>
          <a:schemeClr val="accent2"/>
        </a:buClr>
        <a:buChar char="•"/>
        <a:defRPr kumimoji="1" sz="2400" b="1">
          <a:solidFill>
            <a:schemeClr val="tx1"/>
          </a:solidFill>
          <a:latin typeface="+mn-lt"/>
          <a:ea typeface="+mn-ea"/>
        </a:defRPr>
      </a:lvl2pPr>
      <a:lvl3pPr marL="757555" indent="5080" algn="l" defTabSz="425450" rtl="0" eaLnBrk="0" fontAlgn="base" hangingPunct="0">
        <a:spcBef>
          <a:spcPct val="20000"/>
        </a:spcBef>
        <a:spcAft>
          <a:spcPct val="0"/>
        </a:spcAft>
        <a:buClr>
          <a:schemeClr val="hlink"/>
        </a:buClr>
        <a:buFont typeface="Wingdings" panose="05000000000000000000" pitchFamily="2" charset="2"/>
        <a:buChar char="§"/>
        <a:defRPr kumimoji="1" sz="2000" b="1">
          <a:solidFill>
            <a:schemeClr val="tx1"/>
          </a:solidFill>
          <a:latin typeface="+mn-lt"/>
          <a:ea typeface="+mn-ea"/>
        </a:defRPr>
      </a:lvl3pPr>
      <a:lvl4pPr marL="1144905" indent="5080" algn="l" defTabSz="425450" rtl="0" eaLnBrk="0" fontAlgn="base" hangingPunct="0">
        <a:spcBef>
          <a:spcPct val="20000"/>
        </a:spcBef>
        <a:spcAft>
          <a:spcPct val="0"/>
        </a:spcAft>
        <a:buClr>
          <a:schemeClr val="tx2"/>
        </a:buClr>
        <a:buChar char="–"/>
        <a:defRPr kumimoji="1" sz="2000" b="1">
          <a:solidFill>
            <a:schemeClr val="tx1"/>
          </a:solidFill>
          <a:latin typeface="+mn-lt"/>
          <a:ea typeface="+mn-ea"/>
        </a:defRPr>
      </a:lvl4pPr>
      <a:lvl5pPr marL="1530350" indent="6350" algn="l" defTabSz="425450" rtl="0" eaLnBrk="0" fontAlgn="base" hangingPunct="0">
        <a:spcBef>
          <a:spcPct val="20000"/>
        </a:spcBef>
        <a:spcAft>
          <a:spcPct val="0"/>
        </a:spcAft>
        <a:buClr>
          <a:schemeClr val="accent1"/>
        </a:buClr>
        <a:buChar char="»"/>
        <a:defRPr kumimoji="1" sz="2000" b="1">
          <a:solidFill>
            <a:schemeClr val="tx1"/>
          </a:solidFill>
          <a:latin typeface="+mn-lt"/>
          <a:ea typeface="+mn-ea"/>
        </a:defRPr>
      </a:lvl5pPr>
      <a:lvl6pPr marL="19875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6pPr>
      <a:lvl7pPr marL="24447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7pPr>
      <a:lvl8pPr marL="29019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8pPr>
      <a:lvl9pPr marL="33591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42" name="Rectangle 2"/>
          <p:cNvSpPr>
            <a:spLocks noGrp="1"/>
          </p:cNvSpPr>
          <p:nvPr>
            <p:ph type="title"/>
          </p:nvPr>
        </p:nvSpPr>
        <p:spPr>
          <a:xfrm>
            <a:off x="881063" y="188913"/>
            <a:ext cx="7605712" cy="765175"/>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43" name="Rectangle 3"/>
          <p:cNvSpPr>
            <a:spLocks noGrp="1"/>
          </p:cNvSpPr>
          <p:nvPr>
            <p:ph type="body"/>
          </p:nvPr>
        </p:nvSpPr>
        <p:spPr>
          <a:xfrm>
            <a:off x="836613" y="1042988"/>
            <a:ext cx="7696200" cy="5086350"/>
          </a:xfrm>
          <a:prstGeom prst="rect">
            <a:avLst/>
          </a:prstGeom>
          <a:noFill/>
          <a:ln w="9525">
            <a:noFill/>
          </a:ln>
        </p:spPr>
        <p:txBody>
          <a:bodyPr anchor="t" anchorCtr="0"/>
          <a:p>
            <a:pPr lvl="0"/>
            <a:endParaRPr lang="zh-CN" altLang="en-US" dirty="0"/>
          </a:p>
        </p:txBody>
      </p:sp>
      <p:sp>
        <p:nvSpPr>
          <p:cNvPr id="147460" name="Rectangle 4"/>
          <p:cNvSpPr>
            <a:spLocks noGrp="1" noChangeArrowheads="1"/>
          </p:cNvSpPr>
          <p:nvPr>
            <p:ph type="dt" sz="half" idx="2"/>
          </p:nvPr>
        </p:nvSpPr>
        <p:spPr bwMode="auto">
          <a:xfrm>
            <a:off x="1162050" y="6243638"/>
            <a:ext cx="1905000" cy="457200"/>
          </a:xfrm>
          <a:prstGeom prst="rect">
            <a:avLst/>
          </a:prstGeom>
          <a:noFill/>
          <a:ln>
            <a:noFill/>
          </a:ln>
          <a:effectLst/>
        </p:spPr>
        <p:txBody>
          <a:bodyPr vert="horz" wrap="square" lIns="91440" tIns="45720" rIns="91440" bIns="45720" numCol="1" anchor="b" anchorCtr="0" compatLnSpc="1"/>
          <a:lstStyle>
            <a:lvl1pPr eaLnBrk="1" hangingPunct="1">
              <a:buClrTx/>
              <a:buFontTx/>
              <a:buNone/>
              <a:defRPr kumimoji="0" sz="1400" b="0">
                <a:latin typeface="Tahoma" panose="020B0604030504040204" pitchFamily="34" charset="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147461" name="Rectangle 5"/>
          <p:cNvSpPr>
            <a:spLocks noGrp="1" noChangeArrowheads="1"/>
          </p:cNvSpPr>
          <p:nvPr>
            <p:ph type="ftr" sz="quarter" idx="3"/>
          </p:nvPr>
        </p:nvSpPr>
        <p:spPr bwMode="auto">
          <a:xfrm>
            <a:off x="3657600" y="6243638"/>
            <a:ext cx="2895600" cy="457200"/>
          </a:xfrm>
          <a:prstGeom prst="rect">
            <a:avLst/>
          </a:prstGeom>
          <a:noFill/>
          <a:ln>
            <a:noFill/>
          </a:ln>
          <a:effectLst/>
        </p:spPr>
        <p:txBody>
          <a:bodyPr vert="horz" wrap="square" lIns="91440" tIns="45720" rIns="91440" bIns="45720" numCol="1" anchor="b" anchorCtr="0" compatLnSpc="1"/>
          <a:lstStyle>
            <a:lvl1pPr algn="ctr" eaLnBrk="1" hangingPunct="1">
              <a:buClrTx/>
              <a:buFontTx/>
              <a:buNone/>
              <a:defRPr kumimoji="0" sz="1400" b="0">
                <a:latin typeface="Tahoma" panose="020B0604030504040204" pitchFamily="34" charset="0"/>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147462" name="Rectangle 6"/>
          <p:cNvSpPr>
            <a:spLocks noGrp="1" noChangeArrowheads="1"/>
          </p:cNvSpPr>
          <p:nvPr>
            <p:ph type="sldNum" sz="quarter" idx="4"/>
          </p:nvPr>
        </p:nvSpPr>
        <p:spPr bwMode="auto">
          <a:xfrm>
            <a:off x="7042150" y="6243638"/>
            <a:ext cx="1905000" cy="457200"/>
          </a:xfrm>
          <a:prstGeom prst="rect">
            <a:avLst/>
          </a:prstGeom>
          <a:noFill/>
          <a:ln>
            <a:noFill/>
          </a:ln>
          <a:effectLst/>
        </p:spPr>
        <p:txBody>
          <a:bodyPr vert="horz" wrap="square" lIns="91440" tIns="45720" rIns="91440" bIns="45720" numCol="1" anchor="b" anchorCtr="0" compatLnSpc="1"/>
          <a:lstStyle>
            <a:lvl1pPr algn="r">
              <a:buFontTx/>
              <a:defRPr sz="1400" b="0">
                <a:latin typeface="Tahoma" panose="020B0604030504040204" pitchFamily="34" charset="0"/>
                <a:ea typeface="宋体" pitchFamily="2" charset="-122"/>
              </a:defRPr>
            </a:lvl1pPr>
          </a:lstStyle>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grpSp>
        <p:nvGrpSpPr>
          <p:cNvPr id="10247" name="Group 7"/>
          <p:cNvGrpSpPr/>
          <p:nvPr/>
        </p:nvGrpSpPr>
        <p:grpSpPr>
          <a:xfrm>
            <a:off x="341313" y="593725"/>
            <a:ext cx="712787" cy="495300"/>
            <a:chOff x="130" y="303"/>
            <a:chExt cx="705" cy="468"/>
          </a:xfrm>
        </p:grpSpPr>
        <p:sp>
          <p:nvSpPr>
            <p:cNvPr id="4107" name="Rectangle 8"/>
            <p:cNvSpPr>
              <a:spLocks noChangeArrowheads="1"/>
            </p:cNvSpPr>
            <p:nvPr/>
          </p:nvSpPr>
          <p:spPr bwMode="ltGray">
            <a:xfrm>
              <a:off x="130" y="485"/>
              <a:ext cx="342" cy="222"/>
            </a:xfrm>
            <a:prstGeom prst="rect">
              <a:avLst/>
            </a:prstGeom>
            <a:gradFill rotWithShape="0">
              <a:gsLst>
                <a:gs pos="0">
                  <a:schemeClr val="bg1"/>
                </a:gs>
                <a:gs pos="100000">
                  <a:schemeClr val="hlink"/>
                </a:gs>
              </a:gsLst>
              <a:lin ang="1890000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itchFamily="2" charset="-122"/>
                <a:cs typeface="+mn-cs"/>
              </a:endParaRPr>
            </a:p>
          </p:txBody>
        </p:sp>
        <p:sp>
          <p:nvSpPr>
            <p:cNvPr id="4108" name="Rectangle 9"/>
            <p:cNvSpPr>
              <a:spLocks noChangeArrowheads="1"/>
            </p:cNvSpPr>
            <p:nvPr/>
          </p:nvSpPr>
          <p:spPr bwMode="ltGray">
            <a:xfrm>
              <a:off x="307" y="303"/>
              <a:ext cx="267" cy="248"/>
            </a:xfrm>
            <a:prstGeom prst="rect">
              <a:avLst/>
            </a:prstGeom>
            <a:solidFill>
              <a:schemeClr val="accent2"/>
            </a:soli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itchFamily="2" charset="-122"/>
                <a:cs typeface="+mn-cs"/>
              </a:endParaRPr>
            </a:p>
          </p:txBody>
        </p:sp>
        <p:sp>
          <p:nvSpPr>
            <p:cNvPr id="4109" name="Rectangle 10"/>
            <p:cNvSpPr>
              <a:spLocks noChangeArrowheads="1"/>
            </p:cNvSpPr>
            <p:nvPr/>
          </p:nvSpPr>
          <p:spPr bwMode="ltGray">
            <a:xfrm>
              <a:off x="541" y="303"/>
              <a:ext cx="201" cy="248"/>
            </a:xfrm>
            <a:prstGeom prst="rect">
              <a:avLst/>
            </a:prstGeom>
            <a:gradFill rotWithShape="0">
              <a:gsLst>
                <a:gs pos="0">
                  <a:schemeClr val="accent2"/>
                </a:gs>
                <a:gs pos="100000">
                  <a:schemeClr val="bg1"/>
                </a:gs>
              </a:gsLst>
              <a:lin ang="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itchFamily="2" charset="-122"/>
                <a:cs typeface="+mn-cs"/>
              </a:endParaRPr>
            </a:p>
          </p:txBody>
        </p:sp>
        <p:sp>
          <p:nvSpPr>
            <p:cNvPr id="4110" name="Rectangle 11"/>
            <p:cNvSpPr>
              <a:spLocks noChangeArrowheads="1"/>
            </p:cNvSpPr>
            <p:nvPr/>
          </p:nvSpPr>
          <p:spPr bwMode="ltGray">
            <a:xfrm>
              <a:off x="384" y="524"/>
              <a:ext cx="258" cy="247"/>
            </a:xfrm>
            <a:prstGeom prst="rect">
              <a:avLst/>
            </a:prstGeom>
            <a:solidFill>
              <a:schemeClr val="folHlink"/>
            </a:soli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itchFamily="2" charset="-122"/>
                <a:cs typeface="+mn-cs"/>
              </a:endParaRPr>
            </a:p>
          </p:txBody>
        </p:sp>
        <p:sp>
          <p:nvSpPr>
            <p:cNvPr id="4111" name="Rectangle 12"/>
            <p:cNvSpPr>
              <a:spLocks noChangeArrowheads="1"/>
            </p:cNvSpPr>
            <p:nvPr/>
          </p:nvSpPr>
          <p:spPr bwMode="ltGray">
            <a:xfrm>
              <a:off x="610" y="524"/>
              <a:ext cx="225" cy="247"/>
            </a:xfrm>
            <a:prstGeom prst="rect">
              <a:avLst/>
            </a:prstGeom>
            <a:gradFill rotWithShape="0">
              <a:gsLst>
                <a:gs pos="0">
                  <a:schemeClr val="folHlink"/>
                </a:gs>
                <a:gs pos="100000">
                  <a:schemeClr val="bg1"/>
                </a:gs>
              </a:gsLst>
              <a:lin ang="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itchFamily="2" charset="-122"/>
                <a:cs typeface="+mn-cs"/>
              </a:endParaRPr>
            </a:p>
          </p:txBody>
        </p:sp>
      </p:grpSp>
      <p:sp>
        <p:nvSpPr>
          <p:cNvPr id="4104" name="Rectangle 13"/>
          <p:cNvSpPr>
            <a:spLocks noChangeArrowheads="1"/>
          </p:cNvSpPr>
          <p:nvPr/>
        </p:nvSpPr>
        <p:spPr bwMode="gray">
          <a:xfrm>
            <a:off x="476250" y="954088"/>
            <a:ext cx="7983538" cy="17463"/>
          </a:xfrm>
          <a:prstGeom prst="rect">
            <a:avLst/>
          </a:prstGeom>
          <a:gradFill rotWithShape="0">
            <a:gsLst>
              <a:gs pos="0">
                <a:schemeClr val="bg2"/>
              </a:gs>
              <a:gs pos="100000">
                <a:schemeClr val="bg1"/>
              </a:gs>
            </a:gsLst>
            <a:lin ang="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itchFamily="2" charset="-122"/>
              <a:cs typeface="+mn-cs"/>
            </a:endParaRPr>
          </a:p>
        </p:txBody>
      </p:sp>
      <p:sp>
        <p:nvSpPr>
          <p:cNvPr id="4105" name="Rectangle 14"/>
          <p:cNvSpPr>
            <a:spLocks noChangeArrowheads="1"/>
          </p:cNvSpPr>
          <p:nvPr/>
        </p:nvSpPr>
        <p:spPr bwMode="gray">
          <a:xfrm>
            <a:off x="701675" y="549275"/>
            <a:ext cx="17463" cy="576263"/>
          </a:xfrm>
          <a:prstGeom prst="rect">
            <a:avLst/>
          </a:prstGeom>
          <a:solidFill>
            <a:schemeClr val="bg2"/>
          </a:soli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itchFamily="2" charset="-122"/>
              <a:cs typeface="+mn-cs"/>
            </a:endParaRPr>
          </a:p>
        </p:txBody>
      </p:sp>
      <p:sp>
        <p:nvSpPr>
          <p:cNvPr id="4106" name="Rectangle 15"/>
          <p:cNvSpPr>
            <a:spLocks noChangeArrowheads="1"/>
          </p:cNvSpPr>
          <p:nvPr/>
        </p:nvSpPr>
        <p:spPr bwMode="gray">
          <a:xfrm>
            <a:off x="566738" y="6129338"/>
            <a:ext cx="7983538" cy="17463"/>
          </a:xfrm>
          <a:prstGeom prst="rect">
            <a:avLst/>
          </a:prstGeom>
          <a:gradFill rotWithShape="0">
            <a:gsLst>
              <a:gs pos="0">
                <a:schemeClr val="bg1"/>
              </a:gs>
              <a:gs pos="100000">
                <a:schemeClr val="bg2"/>
              </a:gs>
            </a:gsLst>
            <a:lin ang="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Lst>
  <p:hf sldNum="0" hdr="0" ftr="0" dt="0"/>
  <p:txStyles>
    <p:title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Times New Roman" panose="02020503050405090304" pitchFamily="18" charset="0"/>
          <a:ea typeface="宋体" pitchFamily="2" charset="-122"/>
        </a:defRPr>
      </a:lvl2pPr>
      <a:lvl3pPr algn="l" rtl="0" eaLnBrk="0" fontAlgn="base" hangingPunct="0">
        <a:spcBef>
          <a:spcPct val="0"/>
        </a:spcBef>
        <a:spcAft>
          <a:spcPct val="0"/>
        </a:spcAft>
        <a:defRPr sz="3600">
          <a:solidFill>
            <a:schemeClr val="tx2"/>
          </a:solidFill>
          <a:latin typeface="Times New Roman" panose="02020503050405090304" pitchFamily="18" charset="0"/>
          <a:ea typeface="宋体" pitchFamily="2" charset="-122"/>
        </a:defRPr>
      </a:lvl3pPr>
      <a:lvl4pPr algn="l" rtl="0" eaLnBrk="0" fontAlgn="base" hangingPunct="0">
        <a:spcBef>
          <a:spcPct val="0"/>
        </a:spcBef>
        <a:spcAft>
          <a:spcPct val="0"/>
        </a:spcAft>
        <a:defRPr sz="3600">
          <a:solidFill>
            <a:schemeClr val="tx2"/>
          </a:solidFill>
          <a:latin typeface="Times New Roman" panose="02020503050405090304" pitchFamily="18" charset="0"/>
          <a:ea typeface="宋体" pitchFamily="2" charset="-122"/>
        </a:defRPr>
      </a:lvl4pPr>
      <a:lvl5pPr algn="l" rtl="0" eaLnBrk="0" fontAlgn="base" hangingPunct="0">
        <a:spcBef>
          <a:spcPct val="0"/>
        </a:spcBef>
        <a:spcAft>
          <a:spcPct val="0"/>
        </a:spcAft>
        <a:defRPr sz="3600">
          <a:solidFill>
            <a:schemeClr val="tx2"/>
          </a:solidFill>
          <a:latin typeface="Times New Roman" panose="02020503050405090304" pitchFamily="18" charset="0"/>
          <a:ea typeface="宋体" pitchFamily="2" charset="-122"/>
        </a:defRPr>
      </a:lvl5pPr>
      <a:lvl6pPr marL="457200" algn="l" rtl="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algn="l" rtl="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algn="l" rtl="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algn="l" rtl="0" fontAlgn="base">
        <a:spcBef>
          <a:spcPct val="0"/>
        </a:spcBef>
        <a:spcAft>
          <a:spcPct val="0"/>
        </a:spcAft>
        <a:defRPr sz="3600">
          <a:solidFill>
            <a:schemeClr val="tx2"/>
          </a:solidFill>
          <a:latin typeface="Times New Roman" panose="02020503050405090304" pitchFamily="18"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
        <a:defRPr sz="2600">
          <a:solidFill>
            <a:schemeClr val="folHlink"/>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600">
          <a:solidFill>
            <a:schemeClr val="folHlink"/>
          </a:solidFill>
          <a:latin typeface="Tahoma" panose="020B0604030504040204" pitchFamily="34" charset="0"/>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600">
          <a:solidFill>
            <a:schemeClr val="folHlink"/>
          </a:solidFill>
          <a:latin typeface="Tahoma" panose="020B0604030504040204" pitchFamily="34" charset="0"/>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600">
          <a:solidFill>
            <a:schemeClr val="folHlink"/>
          </a:solidFill>
          <a:latin typeface="Tahoma" panose="020B0604030504040204" pitchFamily="34" charset="0"/>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600">
          <a:solidFill>
            <a:schemeClr val="folHlink"/>
          </a:solidFill>
          <a:latin typeface="Tahoma" panose="020B0604030504040204" pitchFamily="34" charset="0"/>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600">
          <a:solidFill>
            <a:schemeClr val="folHlink"/>
          </a:solidFill>
          <a:latin typeface="Tahoma" panose="020B0604030504040204" pitchFamily="34" charset="0"/>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600">
          <a:solidFill>
            <a:schemeClr val="folHlink"/>
          </a:solidFill>
          <a:latin typeface="Tahoma" panose="020B0604030504040204" pitchFamily="34" charset="0"/>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600">
          <a:solidFill>
            <a:schemeClr val="folHlink"/>
          </a:solidFill>
          <a:latin typeface="Tahoma" panose="020B0604030504040204" pitchFamily="34" charset="0"/>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600">
          <a:solidFill>
            <a:schemeClr val="folHlink"/>
          </a:solidFill>
          <a:latin typeface="Tahoma" panose="020B0604030504040204" pitchFamily="34" charset="0"/>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1026"/>
          <p:cNvSpPr>
            <a:spLocks noGrp="1" noChangeArrowheads="1"/>
          </p:cNvSpPr>
          <p:nvPr>
            <p:ph type="title"/>
          </p:nvPr>
        </p:nvSpPr>
        <p:spPr bwMode="auto">
          <a:xfrm>
            <a:off x="228600" y="228600"/>
            <a:ext cx="8763000" cy="609600"/>
          </a:xfrm>
          <a:prstGeom prst="rect">
            <a:avLst/>
          </a:prstGeom>
          <a:noFill/>
          <a:ln w="9525">
            <a:noFill/>
            <a:miter lim="800000"/>
          </a:ln>
          <a:effectLst/>
        </p:spPr>
        <p:txBody>
          <a:bodyPr vert="horz" wrap="square" lIns="91440" tIns="45720" rIns="91440" bIns="45720" numCol="1" anchor="ctr" anchorCtr="0" compatLnSpc="1"/>
          <a:lstStyle/>
          <a:p>
            <a:pPr lvl="0" fontAlgn="base"/>
            <a:r>
              <a:rPr lang="zh-CN" altLang="en-US" strike="noStrike" noProof="1" dirty="0" smtClean="0"/>
              <a:t>第</a:t>
            </a:r>
            <a:r>
              <a:rPr lang="en-US" altLang="zh-CN" strike="noStrike" noProof="1" dirty="0" smtClean="0"/>
              <a:t>2</a:t>
            </a:r>
            <a:r>
              <a:rPr lang="zh-CN" altLang="en-US" strike="noStrike" noProof="1" dirty="0" smtClean="0"/>
              <a:t>章  </a:t>
            </a:r>
            <a:r>
              <a:rPr lang="en-US" altLang="zh-CN" strike="noStrike" noProof="1" dirty="0" smtClean="0"/>
              <a:t>C8051F</a:t>
            </a:r>
            <a:r>
              <a:rPr lang="zh-CN" altLang="en-US" strike="noStrike" noProof="1" dirty="0" smtClean="0"/>
              <a:t>单片机的结构与原理 </a:t>
            </a:r>
            <a:endParaRPr lang="zh-CN" altLang="en-US" strike="noStrike" noProof="1" dirty="0" smtClean="0"/>
          </a:p>
        </p:txBody>
      </p:sp>
      <p:sp>
        <p:nvSpPr>
          <p:cNvPr id="11267" name="Rectangle 1027"/>
          <p:cNvSpPr>
            <a:spLocks noGrp="1"/>
          </p:cNvSpPr>
          <p:nvPr>
            <p:ph type="body"/>
          </p:nvPr>
        </p:nvSpPr>
        <p:spPr>
          <a:xfrm>
            <a:off x="228600" y="996950"/>
            <a:ext cx="8763000" cy="5403850"/>
          </a:xfrm>
          <a:prstGeom prst="rect">
            <a:avLst/>
          </a:prstGeom>
          <a:noFill/>
          <a:ln w="9525">
            <a:noFill/>
          </a:ln>
        </p:spPr>
        <p:txBody>
          <a:bodyPr anchor="t" anchorCtr="0"/>
          <a:p>
            <a:pPr lvl="0"/>
            <a:r>
              <a:rPr lang="en-US" altLang="zh-CN" dirty="0"/>
              <a:t>2.1  C8051F</a:t>
            </a:r>
            <a:r>
              <a:rPr lang="zh-CN" altLang="en-US" dirty="0"/>
              <a:t>系列单片机总体结构	</a:t>
            </a:r>
            <a:endParaRPr lang="zh-CN" altLang="en-US" dirty="0"/>
          </a:p>
          <a:p>
            <a:pPr lvl="0"/>
            <a:r>
              <a:rPr lang="en-US" altLang="zh-CN" dirty="0"/>
              <a:t>2.2  C8051F020</a:t>
            </a:r>
            <a:r>
              <a:rPr lang="zh-CN" altLang="en-US" dirty="0"/>
              <a:t>存贮器组织 </a:t>
            </a:r>
            <a:endParaRPr lang="zh-CN" altLang="en-US" dirty="0"/>
          </a:p>
          <a:p>
            <a:pPr lvl="0"/>
            <a:r>
              <a:rPr lang="en-US" altLang="zh-CN" dirty="0"/>
              <a:t>2.3  CIP-51</a:t>
            </a:r>
            <a:r>
              <a:rPr lang="zh-CN" altLang="en-US" dirty="0"/>
              <a:t>指令介绍 </a:t>
            </a:r>
            <a:endParaRPr lang="zh-CN" altLang="en-US" dirty="0"/>
          </a:p>
          <a:p>
            <a:pPr lvl="0"/>
            <a:r>
              <a:rPr lang="en-US" altLang="zh-CN" dirty="0"/>
              <a:t>2.4  </a:t>
            </a:r>
            <a:r>
              <a:rPr lang="zh-CN" altLang="en-US" dirty="0"/>
              <a:t>中断系统 </a:t>
            </a:r>
            <a:endParaRPr lang="zh-CN" altLang="en-US" dirty="0"/>
          </a:p>
          <a:p>
            <a:pPr lvl="0"/>
            <a:r>
              <a:rPr lang="en-US" altLang="zh-CN" dirty="0"/>
              <a:t>2.5  </a:t>
            </a:r>
            <a:r>
              <a:rPr lang="zh-CN" altLang="en-US" dirty="0"/>
              <a:t>端口输入</a:t>
            </a:r>
            <a:r>
              <a:rPr lang="en-US" altLang="zh-CN" dirty="0"/>
              <a:t>/</a:t>
            </a:r>
            <a:r>
              <a:rPr lang="zh-CN" altLang="en-US" dirty="0"/>
              <a:t>输出 </a:t>
            </a:r>
            <a:endParaRPr lang="zh-CN" altLang="en-US" dirty="0"/>
          </a:p>
        </p:txBody>
      </p:sp>
      <p:sp>
        <p:nvSpPr>
          <p:cNvPr id="11268" name="Text Box 1028"/>
          <p:cNvSpPr txBox="1"/>
          <p:nvPr/>
        </p:nvSpPr>
        <p:spPr>
          <a:xfrm>
            <a:off x="8458200" y="6400800"/>
            <a:ext cx="685800" cy="457200"/>
          </a:xfrm>
          <a:prstGeom prst="rect">
            <a:avLst/>
          </a:prstGeom>
          <a:noFill/>
          <a:ln w="9525">
            <a:noFill/>
          </a:ln>
        </p:spPr>
        <p:txBody>
          <a:bodyPr anchor="t" anchorCtr="0">
            <a:spAutoFit/>
          </a:bodyPr>
          <a:p>
            <a:pPr lvl="0">
              <a:spcBef>
                <a:spcPct val="50000"/>
              </a:spcBef>
              <a:buClrTx/>
              <a:buFontTx/>
            </a:pPr>
            <a:fld id="{9A0DB2DC-4C9A-4742-B13C-FB6460FD3503}" type="slidenum">
              <a:rPr lang="en-US" altLang="zh-CN" b="0" dirty="0">
                <a:latin typeface="Times New Roman" panose="02020503050405090304" pitchFamily="18" charset="0"/>
                <a:ea typeface="宋体" pitchFamily="2" charset="-122"/>
              </a:rPr>
            </a:fld>
            <a:endParaRPr lang="en-US" altLang="zh-CN" b="0" dirty="0">
              <a:latin typeface="Times New Roman" panose="02020503050405090304" pitchFamily="18" charset="0"/>
              <a:ea typeface="宋体" pitchFamily="2" charset="-122"/>
            </a:endParaRPr>
          </a:p>
        </p:txBody>
      </p:sp>
      <p:sp>
        <p:nvSpPr>
          <p:cNvPr id="1029" name="Line 1029"/>
          <p:cNvSpPr>
            <a:spLocks noChangeShapeType="1"/>
          </p:cNvSpPr>
          <p:nvPr/>
        </p:nvSpPr>
        <p:spPr bwMode="auto">
          <a:xfrm>
            <a:off x="228600" y="914400"/>
            <a:ext cx="8672513" cy="0"/>
          </a:xfrm>
          <a:prstGeom prst="line">
            <a:avLst/>
          </a:prstGeom>
          <a:noFill/>
          <a:ln w="57150" cmpd="thickThin">
            <a:solidFill>
              <a:srgbClr val="FF9900"/>
            </a:solidFill>
            <a:round/>
          </a:ln>
        </p:spPr>
        <p:txBody>
          <a:body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a:ln>
                <a:noFill/>
              </a:ln>
              <a:solidFill>
                <a:schemeClr val="tx1"/>
              </a:solidFill>
              <a:effectLst/>
              <a:uLnTx/>
              <a:uFillTx/>
              <a:latin typeface="Times New Roman" panose="02020503050405090304" pitchFamily="18" charset="0"/>
              <a:ea typeface="仿宋_GB2312" pitchFamily="49" charset="-122"/>
              <a:cs typeface="+mn-cs"/>
            </a:endParaRPr>
          </a:p>
        </p:txBody>
      </p:sp>
      <p:sp>
        <p:nvSpPr>
          <p:cNvPr id="1030" name="Line 1030"/>
          <p:cNvSpPr>
            <a:spLocks noChangeShapeType="1"/>
          </p:cNvSpPr>
          <p:nvPr/>
        </p:nvSpPr>
        <p:spPr bwMode="auto">
          <a:xfrm>
            <a:off x="247650" y="6419850"/>
            <a:ext cx="8672513" cy="0"/>
          </a:xfrm>
          <a:prstGeom prst="line">
            <a:avLst/>
          </a:prstGeom>
          <a:noFill/>
          <a:ln w="28575">
            <a:solidFill>
              <a:srgbClr val="FF9900"/>
            </a:solidFill>
            <a:round/>
          </a:ln>
        </p:spPr>
        <p:txBody>
          <a:body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a:ln>
                <a:noFill/>
              </a:ln>
              <a:solidFill>
                <a:schemeClr val="tx1"/>
              </a:solidFill>
              <a:effectLst/>
              <a:uLnTx/>
              <a:uFillTx/>
              <a:latin typeface="Times New Roman" panose="02020503050405090304" pitchFamily="18" charset="0"/>
              <a:ea typeface="仿宋_GB2312" pitchFamily="49" charset="-122"/>
              <a:cs typeface="+mn-cs"/>
            </a:endParaRPr>
          </a:p>
        </p:txBody>
      </p:sp>
    </p:spTree>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Lst>
  <p:hf sldNum="0" hdr="0" ftr="0" dt="0"/>
  <p:txStyles>
    <p:titleStyle>
      <a:lvl1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2pPr>
      <a:lvl3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3pPr>
      <a:lvl4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4pPr>
      <a:lvl5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5pPr>
      <a:lvl6pPr marL="457200"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6pPr>
      <a:lvl7pPr marL="914400"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7pPr>
      <a:lvl8pPr marL="1371600"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8pPr>
      <a:lvl9pPr marL="1828800"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9pPr>
    </p:titleStyle>
    <p:bodyStyle>
      <a:lvl1pPr marL="342900" indent="-342900" algn="l" defTabSz="425450" rtl="0" eaLnBrk="0" fontAlgn="base" hangingPunct="0">
        <a:lnSpc>
          <a:spcPct val="130000"/>
        </a:lnSpc>
        <a:spcBef>
          <a:spcPct val="20000"/>
        </a:spcBef>
        <a:spcAft>
          <a:spcPct val="0"/>
        </a:spcAft>
        <a:buClr>
          <a:schemeClr val="folHlink"/>
        </a:buClr>
        <a:buFont typeface="Wingdings" panose="05000000000000000000" pitchFamily="2" charset="2"/>
        <a:buChar char="v"/>
        <a:defRPr kumimoji="1" sz="2800" b="1">
          <a:solidFill>
            <a:schemeClr val="tx1"/>
          </a:solidFill>
          <a:latin typeface="+mn-lt"/>
          <a:ea typeface="+mn-ea"/>
          <a:cs typeface="+mn-cs"/>
        </a:defRPr>
      </a:lvl1pPr>
      <a:lvl2pPr marL="382905" indent="5080" algn="l" defTabSz="425450" rtl="0" eaLnBrk="0" fontAlgn="base" hangingPunct="0">
        <a:spcBef>
          <a:spcPct val="20000"/>
        </a:spcBef>
        <a:spcAft>
          <a:spcPct val="0"/>
        </a:spcAft>
        <a:buClr>
          <a:schemeClr val="accent2"/>
        </a:buClr>
        <a:buChar char="•"/>
        <a:defRPr kumimoji="1" sz="2400" b="1">
          <a:solidFill>
            <a:schemeClr val="tx1"/>
          </a:solidFill>
          <a:latin typeface="+mn-lt"/>
          <a:ea typeface="+mn-ea"/>
        </a:defRPr>
      </a:lvl2pPr>
      <a:lvl3pPr marL="757555" indent="5080" algn="l" defTabSz="425450" rtl="0" eaLnBrk="0" fontAlgn="base" hangingPunct="0">
        <a:spcBef>
          <a:spcPct val="20000"/>
        </a:spcBef>
        <a:spcAft>
          <a:spcPct val="0"/>
        </a:spcAft>
        <a:buClr>
          <a:schemeClr val="hlink"/>
        </a:buClr>
        <a:buFont typeface="Wingdings" panose="05000000000000000000" pitchFamily="2" charset="2"/>
        <a:buChar char="§"/>
        <a:defRPr kumimoji="1" sz="2000" b="1">
          <a:solidFill>
            <a:schemeClr val="tx1"/>
          </a:solidFill>
          <a:latin typeface="+mn-lt"/>
          <a:ea typeface="+mn-ea"/>
        </a:defRPr>
      </a:lvl3pPr>
      <a:lvl4pPr marL="1144905" indent="5080" algn="l" defTabSz="425450" rtl="0" eaLnBrk="0" fontAlgn="base" hangingPunct="0">
        <a:spcBef>
          <a:spcPct val="20000"/>
        </a:spcBef>
        <a:spcAft>
          <a:spcPct val="0"/>
        </a:spcAft>
        <a:buClr>
          <a:schemeClr val="tx2"/>
        </a:buClr>
        <a:buChar char="–"/>
        <a:defRPr kumimoji="1" sz="2000" b="1">
          <a:solidFill>
            <a:schemeClr val="tx1"/>
          </a:solidFill>
          <a:latin typeface="+mn-lt"/>
          <a:ea typeface="+mn-ea"/>
        </a:defRPr>
      </a:lvl4pPr>
      <a:lvl5pPr marL="1530350" indent="6350" algn="l" defTabSz="425450" rtl="0" eaLnBrk="0" fontAlgn="base" hangingPunct="0">
        <a:spcBef>
          <a:spcPct val="20000"/>
        </a:spcBef>
        <a:spcAft>
          <a:spcPct val="0"/>
        </a:spcAft>
        <a:buClr>
          <a:schemeClr val="accent1"/>
        </a:buClr>
        <a:buChar char="»"/>
        <a:defRPr kumimoji="1" sz="2000" b="1">
          <a:solidFill>
            <a:schemeClr val="tx1"/>
          </a:solidFill>
          <a:latin typeface="+mn-lt"/>
          <a:ea typeface="+mn-ea"/>
        </a:defRPr>
      </a:lvl5pPr>
      <a:lvl6pPr marL="19875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6pPr>
      <a:lvl7pPr marL="24447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7pPr>
      <a:lvl8pPr marL="29019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8pPr>
      <a:lvl9pPr marL="33591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1026"/>
          <p:cNvSpPr>
            <a:spLocks noGrp="1" noChangeArrowheads="1"/>
          </p:cNvSpPr>
          <p:nvPr>
            <p:ph type="title"/>
          </p:nvPr>
        </p:nvSpPr>
        <p:spPr bwMode="auto">
          <a:xfrm>
            <a:off x="228600" y="228600"/>
            <a:ext cx="8763000" cy="609600"/>
          </a:xfrm>
          <a:prstGeom prst="rect">
            <a:avLst/>
          </a:prstGeom>
          <a:noFill/>
          <a:ln w="9525">
            <a:noFill/>
            <a:miter lim="800000"/>
          </a:ln>
          <a:effectLst/>
        </p:spPr>
        <p:txBody>
          <a:bodyPr vert="horz" wrap="square" lIns="91440" tIns="45720" rIns="91440" bIns="45720" numCol="1" anchor="ctr" anchorCtr="0" compatLnSpc="1"/>
          <a:lstStyle/>
          <a:p>
            <a:pPr lvl="0" fontAlgn="base"/>
            <a:r>
              <a:rPr lang="zh-CN" altLang="en-US" strike="noStrike" noProof="1" dirty="0" smtClean="0"/>
              <a:t>第</a:t>
            </a:r>
            <a:r>
              <a:rPr lang="en-US" altLang="zh-CN" strike="noStrike" noProof="1" dirty="0" smtClean="0"/>
              <a:t>2</a:t>
            </a:r>
            <a:r>
              <a:rPr lang="zh-CN" altLang="en-US" strike="noStrike" noProof="1" dirty="0" smtClean="0"/>
              <a:t>章  </a:t>
            </a:r>
            <a:r>
              <a:rPr lang="en-US" altLang="zh-CN" strike="noStrike" noProof="1" dirty="0" smtClean="0"/>
              <a:t>C8051F</a:t>
            </a:r>
            <a:r>
              <a:rPr lang="zh-CN" altLang="en-US" strike="noStrike" noProof="1" dirty="0" smtClean="0"/>
              <a:t>单片机的结构与原理 </a:t>
            </a:r>
            <a:endParaRPr lang="zh-CN" altLang="en-US" strike="noStrike" noProof="1" dirty="0" smtClean="0"/>
          </a:p>
        </p:txBody>
      </p:sp>
      <p:sp>
        <p:nvSpPr>
          <p:cNvPr id="12291" name="Rectangle 1027"/>
          <p:cNvSpPr>
            <a:spLocks noGrp="1"/>
          </p:cNvSpPr>
          <p:nvPr>
            <p:ph type="body"/>
          </p:nvPr>
        </p:nvSpPr>
        <p:spPr>
          <a:xfrm>
            <a:off x="228600" y="996950"/>
            <a:ext cx="8763000" cy="5403850"/>
          </a:xfrm>
          <a:prstGeom prst="rect">
            <a:avLst/>
          </a:prstGeom>
          <a:noFill/>
          <a:ln w="9525">
            <a:noFill/>
          </a:ln>
        </p:spPr>
        <p:txBody>
          <a:bodyPr anchor="t" anchorCtr="0"/>
          <a:p>
            <a:pPr lvl="0"/>
            <a:r>
              <a:rPr lang="en-US" altLang="zh-CN" dirty="0"/>
              <a:t>2.1  C8051F</a:t>
            </a:r>
            <a:r>
              <a:rPr lang="zh-CN" altLang="en-US" dirty="0"/>
              <a:t>系列单片机总体结构	</a:t>
            </a:r>
            <a:endParaRPr lang="zh-CN" altLang="en-US" dirty="0"/>
          </a:p>
          <a:p>
            <a:pPr lvl="0"/>
            <a:r>
              <a:rPr lang="en-US" altLang="zh-CN" dirty="0"/>
              <a:t>2.2  C8051F020</a:t>
            </a:r>
            <a:r>
              <a:rPr lang="zh-CN" altLang="en-US" dirty="0"/>
              <a:t>存贮器组织 </a:t>
            </a:r>
            <a:endParaRPr lang="zh-CN" altLang="en-US" dirty="0"/>
          </a:p>
          <a:p>
            <a:pPr lvl="0"/>
            <a:r>
              <a:rPr lang="en-US" altLang="zh-CN" dirty="0"/>
              <a:t>2.3  CIP-51</a:t>
            </a:r>
            <a:r>
              <a:rPr lang="zh-CN" altLang="en-US" dirty="0"/>
              <a:t>指令介绍 </a:t>
            </a:r>
            <a:endParaRPr lang="zh-CN" altLang="en-US" dirty="0"/>
          </a:p>
          <a:p>
            <a:pPr lvl="0"/>
            <a:r>
              <a:rPr lang="en-US" altLang="zh-CN" dirty="0"/>
              <a:t>2.4  </a:t>
            </a:r>
            <a:r>
              <a:rPr lang="zh-CN" altLang="en-US" dirty="0"/>
              <a:t>中断系统 </a:t>
            </a:r>
            <a:endParaRPr lang="zh-CN" altLang="en-US" dirty="0"/>
          </a:p>
          <a:p>
            <a:pPr lvl="0"/>
            <a:r>
              <a:rPr lang="en-US" altLang="zh-CN" dirty="0"/>
              <a:t>2.5  </a:t>
            </a:r>
            <a:r>
              <a:rPr lang="zh-CN" altLang="en-US" dirty="0"/>
              <a:t>端口输入</a:t>
            </a:r>
            <a:r>
              <a:rPr lang="en-US" altLang="zh-CN" dirty="0"/>
              <a:t>/</a:t>
            </a:r>
            <a:r>
              <a:rPr lang="zh-CN" altLang="en-US" dirty="0"/>
              <a:t>输出 </a:t>
            </a:r>
            <a:endParaRPr lang="zh-CN" altLang="en-US" dirty="0"/>
          </a:p>
        </p:txBody>
      </p:sp>
      <p:sp>
        <p:nvSpPr>
          <p:cNvPr id="12292" name="Text Box 1028"/>
          <p:cNvSpPr txBox="1"/>
          <p:nvPr/>
        </p:nvSpPr>
        <p:spPr>
          <a:xfrm>
            <a:off x="8458200" y="6400800"/>
            <a:ext cx="685800" cy="457200"/>
          </a:xfrm>
          <a:prstGeom prst="rect">
            <a:avLst/>
          </a:prstGeom>
          <a:noFill/>
          <a:ln w="9525">
            <a:noFill/>
          </a:ln>
        </p:spPr>
        <p:txBody>
          <a:bodyPr anchor="t" anchorCtr="0">
            <a:spAutoFit/>
          </a:bodyPr>
          <a:p>
            <a:pPr lvl="0">
              <a:spcBef>
                <a:spcPct val="50000"/>
              </a:spcBef>
              <a:buClrTx/>
              <a:buFontTx/>
            </a:pPr>
            <a:fld id="{9A0DB2DC-4C9A-4742-B13C-FB6460FD3503}" type="slidenum">
              <a:rPr lang="en-US" altLang="zh-CN" b="0" dirty="0">
                <a:latin typeface="Times New Roman" panose="02020503050405090304" pitchFamily="18" charset="0"/>
                <a:ea typeface="宋体" pitchFamily="2" charset="-122"/>
              </a:rPr>
            </a:fld>
            <a:endParaRPr lang="en-US" altLang="zh-CN" b="0" dirty="0">
              <a:latin typeface="Times New Roman" panose="02020503050405090304" pitchFamily="18" charset="0"/>
              <a:ea typeface="宋体" pitchFamily="2" charset="-122"/>
            </a:endParaRPr>
          </a:p>
        </p:txBody>
      </p:sp>
      <p:sp>
        <p:nvSpPr>
          <p:cNvPr id="1029" name="Line 1029"/>
          <p:cNvSpPr>
            <a:spLocks noChangeShapeType="1"/>
          </p:cNvSpPr>
          <p:nvPr/>
        </p:nvSpPr>
        <p:spPr bwMode="auto">
          <a:xfrm>
            <a:off x="228600" y="914400"/>
            <a:ext cx="8672513" cy="0"/>
          </a:xfrm>
          <a:prstGeom prst="line">
            <a:avLst/>
          </a:prstGeom>
          <a:noFill/>
          <a:ln w="57150" cmpd="thickThin">
            <a:solidFill>
              <a:srgbClr val="FF9900"/>
            </a:solidFill>
            <a:round/>
          </a:ln>
        </p:spPr>
        <p:txBody>
          <a:body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a:ln>
                <a:noFill/>
              </a:ln>
              <a:solidFill>
                <a:schemeClr val="tx1"/>
              </a:solidFill>
              <a:effectLst/>
              <a:uLnTx/>
              <a:uFillTx/>
              <a:latin typeface="Times New Roman" panose="02020503050405090304" pitchFamily="18" charset="0"/>
              <a:ea typeface="仿宋_GB2312" pitchFamily="49" charset="-122"/>
              <a:cs typeface="+mn-cs"/>
            </a:endParaRPr>
          </a:p>
        </p:txBody>
      </p:sp>
      <p:sp>
        <p:nvSpPr>
          <p:cNvPr id="1030" name="Line 1030"/>
          <p:cNvSpPr>
            <a:spLocks noChangeShapeType="1"/>
          </p:cNvSpPr>
          <p:nvPr/>
        </p:nvSpPr>
        <p:spPr bwMode="auto">
          <a:xfrm>
            <a:off x="247650" y="6419850"/>
            <a:ext cx="8672513" cy="0"/>
          </a:xfrm>
          <a:prstGeom prst="line">
            <a:avLst/>
          </a:prstGeom>
          <a:noFill/>
          <a:ln w="28575">
            <a:solidFill>
              <a:srgbClr val="FF9900"/>
            </a:solidFill>
            <a:round/>
          </a:ln>
        </p:spPr>
        <p:txBody>
          <a:body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a:ln>
                <a:noFill/>
              </a:ln>
              <a:solidFill>
                <a:schemeClr val="tx1"/>
              </a:solidFill>
              <a:effectLst/>
              <a:uLnTx/>
              <a:uFillTx/>
              <a:latin typeface="Times New Roman" panose="02020503050405090304" pitchFamily="18" charset="0"/>
              <a:ea typeface="仿宋_GB2312" pitchFamily="49" charset="-122"/>
              <a:cs typeface="+mn-cs"/>
            </a:endParaRPr>
          </a:p>
        </p:txBody>
      </p:sp>
    </p:spTree>
  </p:cSld>
  <p:clrMap bg1="lt1" tx1="dk1" bg2="lt2" tx2="dk2" accent1="accent1" accent2="accent2" accent3="accent3" accent4="accent4" accent5="accent5" accent6="accent6" hlink="hlink" folHlink="folHlink"/>
  <p:sldLayoutIdLst>
    <p:sldLayoutId id="2147483797" r:id="rId1"/>
    <p:sldLayoutId id="2147483798" r:id="rId2"/>
    <p:sldLayoutId id="2147483799" r:id="rId3"/>
    <p:sldLayoutId id="2147483800" r:id="rId4"/>
    <p:sldLayoutId id="2147483801" r:id="rId5"/>
    <p:sldLayoutId id="2147483802" r:id="rId6"/>
    <p:sldLayoutId id="2147483803" r:id="rId7"/>
    <p:sldLayoutId id="2147483804" r:id="rId8"/>
    <p:sldLayoutId id="2147483805" r:id="rId9"/>
    <p:sldLayoutId id="2147483806" r:id="rId10"/>
    <p:sldLayoutId id="2147483807" r:id="rId11"/>
    <p:sldLayoutId id="2147483808" r:id="rId12"/>
    <p:sldLayoutId id="2147483809" r:id="rId13"/>
  </p:sldLayoutIdLst>
  <p:hf sldNum="0" hdr="0" ftr="0" dt="0"/>
  <p:txStyles>
    <p:titleStyle>
      <a:lvl1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2pPr>
      <a:lvl3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3pPr>
      <a:lvl4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4pPr>
      <a:lvl5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5pPr>
      <a:lvl6pPr marL="457200"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6pPr>
      <a:lvl7pPr marL="914400"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7pPr>
      <a:lvl8pPr marL="1371600"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8pPr>
      <a:lvl9pPr marL="1828800"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9pPr>
    </p:titleStyle>
    <p:bodyStyle>
      <a:lvl1pPr marL="342900" indent="-342900" algn="l" defTabSz="425450" rtl="0" eaLnBrk="0" fontAlgn="base" hangingPunct="0">
        <a:lnSpc>
          <a:spcPct val="130000"/>
        </a:lnSpc>
        <a:spcBef>
          <a:spcPct val="20000"/>
        </a:spcBef>
        <a:spcAft>
          <a:spcPct val="0"/>
        </a:spcAft>
        <a:buClr>
          <a:schemeClr val="folHlink"/>
        </a:buClr>
        <a:buFont typeface="Wingdings" panose="05000000000000000000" pitchFamily="2" charset="2"/>
        <a:buChar char="v"/>
        <a:defRPr kumimoji="1" sz="2800" b="1">
          <a:solidFill>
            <a:schemeClr val="tx1"/>
          </a:solidFill>
          <a:latin typeface="+mn-lt"/>
          <a:ea typeface="+mn-ea"/>
          <a:cs typeface="+mn-cs"/>
        </a:defRPr>
      </a:lvl1pPr>
      <a:lvl2pPr marL="382905" indent="5080" algn="l" defTabSz="425450" rtl="0" eaLnBrk="0" fontAlgn="base" hangingPunct="0">
        <a:spcBef>
          <a:spcPct val="20000"/>
        </a:spcBef>
        <a:spcAft>
          <a:spcPct val="0"/>
        </a:spcAft>
        <a:buClr>
          <a:schemeClr val="accent2"/>
        </a:buClr>
        <a:buChar char="•"/>
        <a:defRPr kumimoji="1" sz="2400" b="1">
          <a:solidFill>
            <a:schemeClr val="tx1"/>
          </a:solidFill>
          <a:latin typeface="+mn-lt"/>
          <a:ea typeface="+mn-ea"/>
        </a:defRPr>
      </a:lvl2pPr>
      <a:lvl3pPr marL="757555" indent="5080" algn="l" defTabSz="425450" rtl="0" eaLnBrk="0" fontAlgn="base" hangingPunct="0">
        <a:spcBef>
          <a:spcPct val="20000"/>
        </a:spcBef>
        <a:spcAft>
          <a:spcPct val="0"/>
        </a:spcAft>
        <a:buClr>
          <a:schemeClr val="hlink"/>
        </a:buClr>
        <a:buFont typeface="Wingdings" panose="05000000000000000000" pitchFamily="2" charset="2"/>
        <a:buChar char="§"/>
        <a:defRPr kumimoji="1" sz="2000" b="1">
          <a:solidFill>
            <a:schemeClr val="tx1"/>
          </a:solidFill>
          <a:latin typeface="+mn-lt"/>
          <a:ea typeface="+mn-ea"/>
        </a:defRPr>
      </a:lvl3pPr>
      <a:lvl4pPr marL="1144905" indent="5080" algn="l" defTabSz="425450" rtl="0" eaLnBrk="0" fontAlgn="base" hangingPunct="0">
        <a:spcBef>
          <a:spcPct val="20000"/>
        </a:spcBef>
        <a:spcAft>
          <a:spcPct val="0"/>
        </a:spcAft>
        <a:buClr>
          <a:schemeClr val="tx2"/>
        </a:buClr>
        <a:buChar char="–"/>
        <a:defRPr kumimoji="1" sz="2000" b="1">
          <a:solidFill>
            <a:schemeClr val="tx1"/>
          </a:solidFill>
          <a:latin typeface="+mn-lt"/>
          <a:ea typeface="+mn-ea"/>
        </a:defRPr>
      </a:lvl4pPr>
      <a:lvl5pPr marL="1530350" indent="6350" algn="l" defTabSz="425450" rtl="0" eaLnBrk="0" fontAlgn="base" hangingPunct="0">
        <a:spcBef>
          <a:spcPct val="20000"/>
        </a:spcBef>
        <a:spcAft>
          <a:spcPct val="0"/>
        </a:spcAft>
        <a:buClr>
          <a:schemeClr val="accent1"/>
        </a:buClr>
        <a:buChar char="»"/>
        <a:defRPr kumimoji="1" sz="2000" b="1">
          <a:solidFill>
            <a:schemeClr val="tx1"/>
          </a:solidFill>
          <a:latin typeface="+mn-lt"/>
          <a:ea typeface="+mn-ea"/>
        </a:defRPr>
      </a:lvl5pPr>
      <a:lvl6pPr marL="19875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6pPr>
      <a:lvl7pPr marL="24447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7pPr>
      <a:lvl8pPr marL="29019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8pPr>
      <a:lvl9pPr marL="33591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1026"/>
          <p:cNvSpPr>
            <a:spLocks noGrp="1" noChangeArrowheads="1"/>
          </p:cNvSpPr>
          <p:nvPr>
            <p:ph type="title"/>
          </p:nvPr>
        </p:nvSpPr>
        <p:spPr bwMode="auto">
          <a:xfrm>
            <a:off x="228600" y="228600"/>
            <a:ext cx="8763000" cy="609600"/>
          </a:xfrm>
          <a:prstGeom prst="rect">
            <a:avLst/>
          </a:prstGeom>
          <a:noFill/>
          <a:ln w="9525">
            <a:noFill/>
            <a:miter lim="800000"/>
          </a:ln>
          <a:effectLst/>
        </p:spPr>
        <p:txBody>
          <a:bodyPr vert="horz" wrap="square" lIns="91440" tIns="45720" rIns="91440" bIns="45720" numCol="1" anchor="ctr" anchorCtr="0" compatLnSpc="1"/>
          <a:lstStyle/>
          <a:p>
            <a:pPr lvl="0" fontAlgn="base"/>
            <a:r>
              <a:rPr lang="zh-CN" altLang="en-US" strike="noStrike" noProof="1" dirty="0" smtClean="0"/>
              <a:t>第</a:t>
            </a:r>
            <a:r>
              <a:rPr lang="en-US" altLang="zh-CN" strike="noStrike" noProof="1" dirty="0" smtClean="0"/>
              <a:t>2</a:t>
            </a:r>
            <a:r>
              <a:rPr lang="zh-CN" altLang="en-US" strike="noStrike" noProof="1" dirty="0" smtClean="0"/>
              <a:t>章  </a:t>
            </a:r>
            <a:r>
              <a:rPr lang="en-US" altLang="zh-CN" strike="noStrike" noProof="1" dirty="0" smtClean="0"/>
              <a:t>C8051F</a:t>
            </a:r>
            <a:r>
              <a:rPr lang="zh-CN" altLang="en-US" strike="noStrike" noProof="1" dirty="0" smtClean="0"/>
              <a:t>单片机的结构与原理 </a:t>
            </a:r>
            <a:endParaRPr lang="zh-CN" altLang="en-US" strike="noStrike" noProof="1" dirty="0" smtClean="0"/>
          </a:p>
        </p:txBody>
      </p:sp>
      <p:sp>
        <p:nvSpPr>
          <p:cNvPr id="13315" name="Rectangle 1027"/>
          <p:cNvSpPr>
            <a:spLocks noGrp="1"/>
          </p:cNvSpPr>
          <p:nvPr>
            <p:ph type="body"/>
          </p:nvPr>
        </p:nvSpPr>
        <p:spPr>
          <a:xfrm>
            <a:off x="228600" y="996950"/>
            <a:ext cx="8763000" cy="5403850"/>
          </a:xfrm>
          <a:prstGeom prst="rect">
            <a:avLst/>
          </a:prstGeom>
          <a:noFill/>
          <a:ln w="9525">
            <a:noFill/>
          </a:ln>
        </p:spPr>
        <p:txBody>
          <a:bodyPr anchor="t" anchorCtr="0"/>
          <a:p>
            <a:pPr lvl="0"/>
            <a:r>
              <a:rPr lang="en-US" altLang="zh-CN" dirty="0"/>
              <a:t>2.1  C8051F</a:t>
            </a:r>
            <a:r>
              <a:rPr lang="zh-CN" altLang="en-US" dirty="0"/>
              <a:t>系列单片机总体结构	</a:t>
            </a:r>
            <a:endParaRPr lang="zh-CN" altLang="en-US" dirty="0"/>
          </a:p>
          <a:p>
            <a:pPr lvl="0"/>
            <a:r>
              <a:rPr lang="en-US" altLang="zh-CN" dirty="0"/>
              <a:t>2.2  C8051F020</a:t>
            </a:r>
            <a:r>
              <a:rPr lang="zh-CN" altLang="en-US" dirty="0"/>
              <a:t>存贮器组织 </a:t>
            </a:r>
            <a:endParaRPr lang="zh-CN" altLang="en-US" dirty="0"/>
          </a:p>
          <a:p>
            <a:pPr lvl="0"/>
            <a:r>
              <a:rPr lang="en-US" altLang="zh-CN" dirty="0"/>
              <a:t>2.3  CIP-51</a:t>
            </a:r>
            <a:r>
              <a:rPr lang="zh-CN" altLang="en-US" dirty="0"/>
              <a:t>指令介绍 </a:t>
            </a:r>
            <a:endParaRPr lang="zh-CN" altLang="en-US" dirty="0"/>
          </a:p>
          <a:p>
            <a:pPr lvl="0"/>
            <a:r>
              <a:rPr lang="en-US" altLang="zh-CN" dirty="0"/>
              <a:t>2.4  </a:t>
            </a:r>
            <a:r>
              <a:rPr lang="zh-CN" altLang="en-US" dirty="0"/>
              <a:t>中断系统 </a:t>
            </a:r>
            <a:endParaRPr lang="zh-CN" altLang="en-US" dirty="0"/>
          </a:p>
          <a:p>
            <a:pPr lvl="0"/>
            <a:r>
              <a:rPr lang="en-US" altLang="zh-CN" dirty="0"/>
              <a:t>2.5  </a:t>
            </a:r>
            <a:r>
              <a:rPr lang="zh-CN" altLang="en-US" dirty="0"/>
              <a:t>端口输入</a:t>
            </a:r>
            <a:r>
              <a:rPr lang="en-US" altLang="zh-CN" dirty="0"/>
              <a:t>/</a:t>
            </a:r>
            <a:r>
              <a:rPr lang="zh-CN" altLang="en-US" dirty="0"/>
              <a:t>输出 </a:t>
            </a:r>
            <a:endParaRPr lang="zh-CN" altLang="en-US" dirty="0"/>
          </a:p>
        </p:txBody>
      </p:sp>
      <p:sp>
        <p:nvSpPr>
          <p:cNvPr id="13316" name="Text Box 1028"/>
          <p:cNvSpPr txBox="1"/>
          <p:nvPr/>
        </p:nvSpPr>
        <p:spPr>
          <a:xfrm>
            <a:off x="8458200" y="6400800"/>
            <a:ext cx="685800" cy="457200"/>
          </a:xfrm>
          <a:prstGeom prst="rect">
            <a:avLst/>
          </a:prstGeom>
          <a:noFill/>
          <a:ln w="9525">
            <a:noFill/>
          </a:ln>
        </p:spPr>
        <p:txBody>
          <a:bodyPr anchor="t" anchorCtr="0">
            <a:spAutoFit/>
          </a:bodyPr>
          <a:p>
            <a:pPr lvl="0">
              <a:spcBef>
                <a:spcPct val="50000"/>
              </a:spcBef>
              <a:buClrTx/>
              <a:buFontTx/>
            </a:pPr>
            <a:fld id="{9A0DB2DC-4C9A-4742-B13C-FB6460FD3503}" type="slidenum">
              <a:rPr lang="en-US" altLang="zh-CN" b="0" dirty="0">
                <a:latin typeface="Times New Roman" panose="02020503050405090304" pitchFamily="18" charset="0"/>
                <a:ea typeface="宋体" pitchFamily="2" charset="-122"/>
              </a:rPr>
            </a:fld>
            <a:endParaRPr lang="en-US" altLang="zh-CN" b="0" dirty="0">
              <a:latin typeface="Times New Roman" panose="02020503050405090304" pitchFamily="18" charset="0"/>
              <a:ea typeface="宋体" pitchFamily="2" charset="-122"/>
            </a:endParaRPr>
          </a:p>
        </p:txBody>
      </p:sp>
      <p:sp>
        <p:nvSpPr>
          <p:cNvPr id="1029" name="Line 1029"/>
          <p:cNvSpPr>
            <a:spLocks noChangeShapeType="1"/>
          </p:cNvSpPr>
          <p:nvPr/>
        </p:nvSpPr>
        <p:spPr bwMode="auto">
          <a:xfrm>
            <a:off x="228600" y="914400"/>
            <a:ext cx="8672513" cy="0"/>
          </a:xfrm>
          <a:prstGeom prst="line">
            <a:avLst/>
          </a:prstGeom>
          <a:noFill/>
          <a:ln w="57150" cmpd="thickThin">
            <a:solidFill>
              <a:srgbClr val="FF9900"/>
            </a:solidFill>
            <a:round/>
          </a:ln>
        </p:spPr>
        <p:txBody>
          <a:body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a:ln>
                <a:noFill/>
              </a:ln>
              <a:solidFill>
                <a:schemeClr val="tx1"/>
              </a:solidFill>
              <a:effectLst/>
              <a:uLnTx/>
              <a:uFillTx/>
              <a:latin typeface="Times New Roman" panose="02020503050405090304" pitchFamily="18" charset="0"/>
              <a:ea typeface="仿宋_GB2312" pitchFamily="49" charset="-122"/>
              <a:cs typeface="+mn-cs"/>
            </a:endParaRPr>
          </a:p>
        </p:txBody>
      </p:sp>
      <p:sp>
        <p:nvSpPr>
          <p:cNvPr id="1030" name="Line 1030"/>
          <p:cNvSpPr>
            <a:spLocks noChangeShapeType="1"/>
          </p:cNvSpPr>
          <p:nvPr/>
        </p:nvSpPr>
        <p:spPr bwMode="auto">
          <a:xfrm>
            <a:off x="247650" y="6419850"/>
            <a:ext cx="8672513" cy="0"/>
          </a:xfrm>
          <a:prstGeom prst="line">
            <a:avLst/>
          </a:prstGeom>
          <a:noFill/>
          <a:ln w="28575">
            <a:solidFill>
              <a:srgbClr val="FF9900"/>
            </a:solidFill>
            <a:round/>
          </a:ln>
        </p:spPr>
        <p:txBody>
          <a:body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400" b="1" i="0" u="none" strike="noStrike" kern="1200" cap="none" spc="0" normalizeH="0" baseline="0" noProof="0">
              <a:ln>
                <a:noFill/>
              </a:ln>
              <a:solidFill>
                <a:schemeClr val="tx1"/>
              </a:solidFill>
              <a:effectLst/>
              <a:uLnTx/>
              <a:uFillTx/>
              <a:latin typeface="Times New Roman" panose="02020503050405090304" pitchFamily="18" charset="0"/>
              <a:ea typeface="仿宋_GB2312" pitchFamily="49" charset="-122"/>
              <a:cs typeface="+mn-cs"/>
            </a:endParaRPr>
          </a:p>
        </p:txBody>
      </p:sp>
    </p:spTree>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 id="2147483822" r:id="rId12"/>
    <p:sldLayoutId id="2147483823" r:id="rId13"/>
  </p:sldLayoutIdLst>
  <p:hf sldNum="0" hdr="0" ftr="0" dt="0"/>
  <p:txStyles>
    <p:titleStyle>
      <a:lvl1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2pPr>
      <a:lvl3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3pPr>
      <a:lvl4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4pPr>
      <a:lvl5pPr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5pPr>
      <a:lvl6pPr marL="457200"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6pPr>
      <a:lvl7pPr marL="914400"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7pPr>
      <a:lvl8pPr marL="1371600"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8pPr>
      <a:lvl9pPr marL="1828800" algn="l"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Times New Roman" panose="02020503050405090304" pitchFamily="18" charset="0"/>
          <a:ea typeface="楷体_GB2312" pitchFamily="49" charset="-122"/>
        </a:defRPr>
      </a:lvl9pPr>
    </p:titleStyle>
    <p:bodyStyle>
      <a:lvl1pPr marL="342900" indent="-342900" algn="l" defTabSz="425450" rtl="0" eaLnBrk="0" fontAlgn="base" hangingPunct="0">
        <a:lnSpc>
          <a:spcPct val="130000"/>
        </a:lnSpc>
        <a:spcBef>
          <a:spcPct val="20000"/>
        </a:spcBef>
        <a:spcAft>
          <a:spcPct val="0"/>
        </a:spcAft>
        <a:buClr>
          <a:schemeClr val="folHlink"/>
        </a:buClr>
        <a:buFont typeface="Wingdings" panose="05000000000000000000" pitchFamily="2" charset="2"/>
        <a:buChar char="v"/>
        <a:defRPr kumimoji="1" sz="2800" b="1">
          <a:solidFill>
            <a:schemeClr val="tx1"/>
          </a:solidFill>
          <a:latin typeface="+mn-lt"/>
          <a:ea typeface="+mn-ea"/>
          <a:cs typeface="+mn-cs"/>
        </a:defRPr>
      </a:lvl1pPr>
      <a:lvl2pPr marL="382905" indent="5080" algn="l" defTabSz="425450" rtl="0" eaLnBrk="0" fontAlgn="base" hangingPunct="0">
        <a:spcBef>
          <a:spcPct val="20000"/>
        </a:spcBef>
        <a:spcAft>
          <a:spcPct val="0"/>
        </a:spcAft>
        <a:buClr>
          <a:schemeClr val="accent2"/>
        </a:buClr>
        <a:buChar char="•"/>
        <a:defRPr kumimoji="1" sz="2400" b="1">
          <a:solidFill>
            <a:schemeClr val="tx1"/>
          </a:solidFill>
          <a:latin typeface="+mn-lt"/>
          <a:ea typeface="+mn-ea"/>
        </a:defRPr>
      </a:lvl2pPr>
      <a:lvl3pPr marL="757555" indent="5080" algn="l" defTabSz="425450" rtl="0" eaLnBrk="0" fontAlgn="base" hangingPunct="0">
        <a:spcBef>
          <a:spcPct val="20000"/>
        </a:spcBef>
        <a:spcAft>
          <a:spcPct val="0"/>
        </a:spcAft>
        <a:buClr>
          <a:schemeClr val="hlink"/>
        </a:buClr>
        <a:buFont typeface="Wingdings" panose="05000000000000000000" pitchFamily="2" charset="2"/>
        <a:buChar char="§"/>
        <a:defRPr kumimoji="1" sz="2000" b="1">
          <a:solidFill>
            <a:schemeClr val="tx1"/>
          </a:solidFill>
          <a:latin typeface="+mn-lt"/>
          <a:ea typeface="+mn-ea"/>
        </a:defRPr>
      </a:lvl3pPr>
      <a:lvl4pPr marL="1144905" indent="5080" algn="l" defTabSz="425450" rtl="0" eaLnBrk="0" fontAlgn="base" hangingPunct="0">
        <a:spcBef>
          <a:spcPct val="20000"/>
        </a:spcBef>
        <a:spcAft>
          <a:spcPct val="0"/>
        </a:spcAft>
        <a:buClr>
          <a:schemeClr val="tx2"/>
        </a:buClr>
        <a:buChar char="–"/>
        <a:defRPr kumimoji="1" sz="2000" b="1">
          <a:solidFill>
            <a:schemeClr val="tx1"/>
          </a:solidFill>
          <a:latin typeface="+mn-lt"/>
          <a:ea typeface="+mn-ea"/>
        </a:defRPr>
      </a:lvl4pPr>
      <a:lvl5pPr marL="1530350" indent="6350" algn="l" defTabSz="425450" rtl="0" eaLnBrk="0" fontAlgn="base" hangingPunct="0">
        <a:spcBef>
          <a:spcPct val="20000"/>
        </a:spcBef>
        <a:spcAft>
          <a:spcPct val="0"/>
        </a:spcAft>
        <a:buClr>
          <a:schemeClr val="accent1"/>
        </a:buClr>
        <a:buChar char="»"/>
        <a:defRPr kumimoji="1" sz="2000" b="1">
          <a:solidFill>
            <a:schemeClr val="tx1"/>
          </a:solidFill>
          <a:latin typeface="+mn-lt"/>
          <a:ea typeface="+mn-ea"/>
        </a:defRPr>
      </a:lvl5pPr>
      <a:lvl6pPr marL="19875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6pPr>
      <a:lvl7pPr marL="24447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7pPr>
      <a:lvl8pPr marL="29019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8pPr>
      <a:lvl9pPr marL="33591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4338" name="Rectangle 2"/>
          <p:cNvSpPr>
            <a:spLocks noGrp="1"/>
          </p:cNvSpPr>
          <p:nvPr>
            <p:ph type="title"/>
          </p:nvPr>
        </p:nvSpPr>
        <p:spPr>
          <a:xfrm>
            <a:off x="881063" y="188913"/>
            <a:ext cx="7605712" cy="765175"/>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4339" name="Rectangle 3"/>
          <p:cNvSpPr>
            <a:spLocks noGrp="1"/>
          </p:cNvSpPr>
          <p:nvPr>
            <p:ph type="body"/>
          </p:nvPr>
        </p:nvSpPr>
        <p:spPr>
          <a:xfrm>
            <a:off x="836613" y="1042988"/>
            <a:ext cx="7696200" cy="5086350"/>
          </a:xfrm>
          <a:prstGeom prst="rect">
            <a:avLst/>
          </a:prstGeom>
          <a:noFill/>
          <a:ln w="9525">
            <a:noFill/>
          </a:ln>
        </p:spPr>
        <p:txBody>
          <a:bodyPr anchor="t" anchorCtr="0"/>
          <a:p>
            <a:pPr lvl="0"/>
            <a:endParaRPr lang="zh-CN" altLang="en-US" dirty="0"/>
          </a:p>
        </p:txBody>
      </p:sp>
      <p:sp>
        <p:nvSpPr>
          <p:cNvPr id="147460" name="Rectangle 4"/>
          <p:cNvSpPr>
            <a:spLocks noGrp="1" noChangeArrowheads="1"/>
          </p:cNvSpPr>
          <p:nvPr>
            <p:ph type="dt" sz="half" idx="2"/>
          </p:nvPr>
        </p:nvSpPr>
        <p:spPr bwMode="auto">
          <a:xfrm>
            <a:off x="1162050" y="6243638"/>
            <a:ext cx="1905000" cy="457200"/>
          </a:xfrm>
          <a:prstGeom prst="rect">
            <a:avLst/>
          </a:prstGeom>
          <a:noFill/>
          <a:ln>
            <a:noFill/>
          </a:ln>
          <a:effectLst/>
        </p:spPr>
        <p:txBody>
          <a:bodyPr vert="horz" wrap="square" lIns="91440" tIns="45720" rIns="91440" bIns="45720" numCol="1" anchor="b" anchorCtr="0" compatLnSpc="1"/>
          <a:lstStyle>
            <a:lvl1pPr eaLnBrk="1" hangingPunct="1">
              <a:buClrTx/>
              <a:buFontTx/>
              <a:buNone/>
              <a:defRPr kumimoji="0" sz="1400" b="0">
                <a:latin typeface="Tahoma" panose="020B0604030504040204" pitchFamily="34" charset="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5FCB5161-42F1-45A5-8295-A613BEF2BAF7}"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147461" name="Rectangle 5"/>
          <p:cNvSpPr>
            <a:spLocks noGrp="1" noChangeArrowheads="1"/>
          </p:cNvSpPr>
          <p:nvPr>
            <p:ph type="ftr" sz="quarter" idx="3"/>
          </p:nvPr>
        </p:nvSpPr>
        <p:spPr bwMode="auto">
          <a:xfrm>
            <a:off x="3657600" y="6243638"/>
            <a:ext cx="2895600" cy="457200"/>
          </a:xfrm>
          <a:prstGeom prst="rect">
            <a:avLst/>
          </a:prstGeom>
          <a:noFill/>
          <a:ln>
            <a:noFill/>
          </a:ln>
          <a:effectLst/>
        </p:spPr>
        <p:txBody>
          <a:bodyPr vert="horz" wrap="square" lIns="91440" tIns="45720" rIns="91440" bIns="45720" numCol="1" anchor="b" anchorCtr="0" compatLnSpc="1"/>
          <a:lstStyle>
            <a:lvl1pPr algn="ctr" eaLnBrk="1" hangingPunct="1">
              <a:buClrTx/>
              <a:buFontTx/>
              <a:buNone/>
              <a:defRPr kumimoji="0" sz="1400" b="0">
                <a:latin typeface="Tahoma" panose="020B0604030504040204" pitchFamily="34" charset="0"/>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147462" name="Rectangle 6"/>
          <p:cNvSpPr>
            <a:spLocks noGrp="1" noChangeArrowheads="1"/>
          </p:cNvSpPr>
          <p:nvPr>
            <p:ph type="sldNum" sz="quarter" idx="4"/>
          </p:nvPr>
        </p:nvSpPr>
        <p:spPr bwMode="auto">
          <a:xfrm>
            <a:off x="7042150" y="6243638"/>
            <a:ext cx="1905000" cy="457200"/>
          </a:xfrm>
          <a:prstGeom prst="rect">
            <a:avLst/>
          </a:prstGeom>
          <a:noFill/>
          <a:ln>
            <a:noFill/>
          </a:ln>
          <a:effectLst/>
        </p:spPr>
        <p:txBody>
          <a:bodyPr vert="horz" wrap="square" lIns="91440" tIns="45720" rIns="91440" bIns="45720" numCol="1" anchor="b" anchorCtr="0" compatLnSpc="1"/>
          <a:lstStyle>
            <a:lvl1pPr algn="r">
              <a:buFontTx/>
              <a:defRPr sz="1400" b="0">
                <a:latin typeface="Tahoma" panose="020B0604030504040204" pitchFamily="34" charset="0"/>
                <a:ea typeface="宋体" pitchFamily="2" charset="-122"/>
              </a:defRPr>
            </a:lvl1pPr>
          </a:lstStyle>
          <a:p>
            <a:pPr lvl="0" eaLnBrk="1" fontAlgn="base" hangingPunct="1">
              <a:buClrTx/>
              <a:buNone/>
            </a:pPr>
            <a:fld id="{9A0DB2DC-4C9A-4742-B13C-FB6460FD3503}" type="slidenum">
              <a:rPr lang="zh-CN" altLang="en-US" strike="noStrike" noProof="1" dirty="0">
                <a:latin typeface="Tahoma" panose="020B0604030504040204" pitchFamily="34" charset="0"/>
                <a:ea typeface="宋体" pitchFamily="2" charset="-122"/>
                <a:cs typeface="+mn-cs"/>
              </a:rPr>
            </a:fld>
            <a:endParaRPr lang="zh-CN" altLang="en-US" strike="noStrike" noProof="1" dirty="0"/>
          </a:p>
        </p:txBody>
      </p:sp>
      <p:grpSp>
        <p:nvGrpSpPr>
          <p:cNvPr id="14343" name="Group 7"/>
          <p:cNvGrpSpPr/>
          <p:nvPr/>
        </p:nvGrpSpPr>
        <p:grpSpPr>
          <a:xfrm>
            <a:off x="341313" y="593725"/>
            <a:ext cx="712787" cy="495300"/>
            <a:chOff x="130" y="303"/>
            <a:chExt cx="705" cy="468"/>
          </a:xfrm>
        </p:grpSpPr>
        <p:sp>
          <p:nvSpPr>
            <p:cNvPr id="4107" name="Rectangle 8"/>
            <p:cNvSpPr>
              <a:spLocks noChangeArrowheads="1"/>
            </p:cNvSpPr>
            <p:nvPr/>
          </p:nvSpPr>
          <p:spPr bwMode="ltGray">
            <a:xfrm>
              <a:off x="130" y="485"/>
              <a:ext cx="342" cy="222"/>
            </a:xfrm>
            <a:prstGeom prst="rect">
              <a:avLst/>
            </a:prstGeom>
            <a:gradFill rotWithShape="0">
              <a:gsLst>
                <a:gs pos="0">
                  <a:schemeClr val="bg1"/>
                </a:gs>
                <a:gs pos="100000">
                  <a:schemeClr val="hlink"/>
                </a:gs>
              </a:gsLst>
              <a:lin ang="1890000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itchFamily="2" charset="-122"/>
                <a:cs typeface="+mn-cs"/>
              </a:endParaRPr>
            </a:p>
          </p:txBody>
        </p:sp>
        <p:sp>
          <p:nvSpPr>
            <p:cNvPr id="4108" name="Rectangle 9"/>
            <p:cNvSpPr>
              <a:spLocks noChangeArrowheads="1"/>
            </p:cNvSpPr>
            <p:nvPr/>
          </p:nvSpPr>
          <p:spPr bwMode="ltGray">
            <a:xfrm>
              <a:off x="307" y="303"/>
              <a:ext cx="267" cy="248"/>
            </a:xfrm>
            <a:prstGeom prst="rect">
              <a:avLst/>
            </a:prstGeom>
            <a:solidFill>
              <a:schemeClr val="accent2"/>
            </a:soli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itchFamily="2" charset="-122"/>
                <a:cs typeface="+mn-cs"/>
              </a:endParaRPr>
            </a:p>
          </p:txBody>
        </p:sp>
        <p:sp>
          <p:nvSpPr>
            <p:cNvPr id="4109" name="Rectangle 10"/>
            <p:cNvSpPr>
              <a:spLocks noChangeArrowheads="1"/>
            </p:cNvSpPr>
            <p:nvPr/>
          </p:nvSpPr>
          <p:spPr bwMode="ltGray">
            <a:xfrm>
              <a:off x="541" y="303"/>
              <a:ext cx="201" cy="248"/>
            </a:xfrm>
            <a:prstGeom prst="rect">
              <a:avLst/>
            </a:prstGeom>
            <a:gradFill rotWithShape="0">
              <a:gsLst>
                <a:gs pos="0">
                  <a:schemeClr val="accent2"/>
                </a:gs>
                <a:gs pos="100000">
                  <a:schemeClr val="bg1"/>
                </a:gs>
              </a:gsLst>
              <a:lin ang="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itchFamily="2" charset="-122"/>
                <a:cs typeface="+mn-cs"/>
              </a:endParaRPr>
            </a:p>
          </p:txBody>
        </p:sp>
        <p:sp>
          <p:nvSpPr>
            <p:cNvPr id="4110" name="Rectangle 11"/>
            <p:cNvSpPr>
              <a:spLocks noChangeArrowheads="1"/>
            </p:cNvSpPr>
            <p:nvPr/>
          </p:nvSpPr>
          <p:spPr bwMode="ltGray">
            <a:xfrm>
              <a:off x="384" y="524"/>
              <a:ext cx="258" cy="247"/>
            </a:xfrm>
            <a:prstGeom prst="rect">
              <a:avLst/>
            </a:prstGeom>
            <a:solidFill>
              <a:schemeClr val="folHlink"/>
            </a:soli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itchFamily="2" charset="-122"/>
                <a:cs typeface="+mn-cs"/>
              </a:endParaRPr>
            </a:p>
          </p:txBody>
        </p:sp>
        <p:sp>
          <p:nvSpPr>
            <p:cNvPr id="4111" name="Rectangle 12"/>
            <p:cNvSpPr>
              <a:spLocks noChangeArrowheads="1"/>
            </p:cNvSpPr>
            <p:nvPr/>
          </p:nvSpPr>
          <p:spPr bwMode="ltGray">
            <a:xfrm>
              <a:off x="610" y="524"/>
              <a:ext cx="225" cy="247"/>
            </a:xfrm>
            <a:prstGeom prst="rect">
              <a:avLst/>
            </a:prstGeom>
            <a:gradFill rotWithShape="0">
              <a:gsLst>
                <a:gs pos="0">
                  <a:schemeClr val="folHlink"/>
                </a:gs>
                <a:gs pos="100000">
                  <a:schemeClr val="bg1"/>
                </a:gs>
              </a:gsLst>
              <a:lin ang="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itchFamily="2" charset="-122"/>
                <a:cs typeface="+mn-cs"/>
              </a:endParaRPr>
            </a:p>
          </p:txBody>
        </p:sp>
      </p:grpSp>
      <p:sp>
        <p:nvSpPr>
          <p:cNvPr id="4104" name="Rectangle 13"/>
          <p:cNvSpPr>
            <a:spLocks noChangeArrowheads="1"/>
          </p:cNvSpPr>
          <p:nvPr/>
        </p:nvSpPr>
        <p:spPr bwMode="gray">
          <a:xfrm>
            <a:off x="476250" y="954088"/>
            <a:ext cx="7983538" cy="17463"/>
          </a:xfrm>
          <a:prstGeom prst="rect">
            <a:avLst/>
          </a:prstGeom>
          <a:gradFill rotWithShape="0">
            <a:gsLst>
              <a:gs pos="0">
                <a:schemeClr val="bg2"/>
              </a:gs>
              <a:gs pos="100000">
                <a:schemeClr val="bg1"/>
              </a:gs>
            </a:gsLst>
            <a:lin ang="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itchFamily="2" charset="-122"/>
              <a:cs typeface="+mn-cs"/>
            </a:endParaRPr>
          </a:p>
        </p:txBody>
      </p:sp>
      <p:sp>
        <p:nvSpPr>
          <p:cNvPr id="4105" name="Rectangle 14"/>
          <p:cNvSpPr>
            <a:spLocks noChangeArrowheads="1"/>
          </p:cNvSpPr>
          <p:nvPr/>
        </p:nvSpPr>
        <p:spPr bwMode="gray">
          <a:xfrm>
            <a:off x="701675" y="549275"/>
            <a:ext cx="17463" cy="576263"/>
          </a:xfrm>
          <a:prstGeom prst="rect">
            <a:avLst/>
          </a:prstGeom>
          <a:solidFill>
            <a:schemeClr val="bg2"/>
          </a:soli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itchFamily="2" charset="-122"/>
              <a:cs typeface="+mn-cs"/>
            </a:endParaRPr>
          </a:p>
        </p:txBody>
      </p:sp>
      <p:sp>
        <p:nvSpPr>
          <p:cNvPr id="4106" name="Rectangle 15"/>
          <p:cNvSpPr>
            <a:spLocks noChangeArrowheads="1"/>
          </p:cNvSpPr>
          <p:nvPr/>
        </p:nvSpPr>
        <p:spPr bwMode="gray">
          <a:xfrm>
            <a:off x="566738" y="6129338"/>
            <a:ext cx="7983538" cy="17463"/>
          </a:xfrm>
          <a:prstGeom prst="rect">
            <a:avLst/>
          </a:prstGeom>
          <a:gradFill rotWithShape="0">
            <a:gsLst>
              <a:gs pos="0">
                <a:schemeClr val="bg1"/>
              </a:gs>
              <a:gs pos="100000">
                <a:schemeClr val="bg2"/>
              </a:gs>
            </a:gsLst>
            <a:lin ang="0" scaled="1"/>
          </a:gradFill>
          <a:ln>
            <a:noFill/>
          </a:ln>
          <a:effectLst/>
        </p:spPr>
        <p:txBody>
          <a:bodyPr wrap="none" anchor="ctr"/>
          <a:lstStyle>
            <a:lvl1pPr>
              <a:defRPr kumimoji="1" sz="2400" b="1">
                <a:solidFill>
                  <a:schemeClr val="tx1"/>
                </a:solidFill>
                <a:latin typeface="Times New Roman" panose="02020503050405090304" pitchFamily="18" charset="0"/>
                <a:ea typeface="仿宋_GB2312" pitchFamily="49" charset="-122"/>
              </a:defRPr>
            </a:lvl1pPr>
            <a:lvl2pPr marL="742950" indent="-285750">
              <a:defRPr kumimoji="1" sz="2400" b="1">
                <a:solidFill>
                  <a:schemeClr val="tx1"/>
                </a:solidFill>
                <a:latin typeface="Times New Roman" panose="02020503050405090304" pitchFamily="18" charset="0"/>
                <a:ea typeface="仿宋_GB2312" pitchFamily="49" charset="-122"/>
              </a:defRPr>
            </a:lvl2pPr>
            <a:lvl3pPr marL="1143000" indent="-228600">
              <a:defRPr kumimoji="1" sz="2400" b="1">
                <a:solidFill>
                  <a:schemeClr val="tx1"/>
                </a:solidFill>
                <a:latin typeface="Times New Roman" panose="02020503050405090304" pitchFamily="18" charset="0"/>
                <a:ea typeface="仿宋_GB2312" pitchFamily="49" charset="-122"/>
              </a:defRPr>
            </a:lvl3pPr>
            <a:lvl4pPr marL="1600200" indent="-228600">
              <a:defRPr kumimoji="1" sz="2400" b="1">
                <a:solidFill>
                  <a:schemeClr val="tx1"/>
                </a:solidFill>
                <a:latin typeface="Times New Roman" panose="02020503050405090304" pitchFamily="18" charset="0"/>
                <a:ea typeface="仿宋_GB2312" pitchFamily="49" charset="-122"/>
              </a:defRPr>
            </a:lvl4pPr>
            <a:lvl5pPr marL="2057400" indent="-228600">
              <a:defRPr kumimoji="1" sz="2400" b="1">
                <a:solidFill>
                  <a:schemeClr val="tx1"/>
                </a:solidFill>
                <a:latin typeface="Times New Roman" panose="02020503050405090304" pitchFamily="18" charset="0"/>
                <a:ea typeface="仿宋_GB2312" pitchFamily="49" charset="-122"/>
              </a:defRPr>
            </a:lvl5pPr>
            <a:lvl6pPr marL="25146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6pPr>
            <a:lvl7pPr marL="29718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7pPr>
            <a:lvl8pPr marL="34290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8pPr>
            <a:lvl9pPr marL="3886200" indent="-228600" eaLnBrk="0" fontAlgn="base" hangingPunct="0">
              <a:spcBef>
                <a:spcPct val="0"/>
              </a:spcBef>
              <a:spcAft>
                <a:spcPct val="0"/>
              </a:spcAft>
              <a:buClr>
                <a:schemeClr val="folHlink"/>
              </a:buClr>
              <a:buFont typeface="Wingdings" panose="05000000000000000000" pitchFamily="2" charset="2"/>
              <a:defRPr kumimoji="1" sz="2400" b="1">
                <a:solidFill>
                  <a:schemeClr val="tx1"/>
                </a:solidFill>
                <a:latin typeface="Times New Roman" panose="02020503050405090304" pitchFamily="18" charset="0"/>
                <a:ea typeface="仿宋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Tahoma" panose="020B060403050404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sldLayoutIdLst>
    <p:sldLayoutId id="2147483825" r:id="rId1"/>
    <p:sldLayoutId id="2147483826" r:id="rId2"/>
    <p:sldLayoutId id="2147483827" r:id="rId3"/>
    <p:sldLayoutId id="2147483828" r:id="rId4"/>
    <p:sldLayoutId id="2147483829" r:id="rId5"/>
    <p:sldLayoutId id="2147483830" r:id="rId6"/>
    <p:sldLayoutId id="2147483831" r:id="rId7"/>
    <p:sldLayoutId id="2147483832" r:id="rId8"/>
    <p:sldLayoutId id="2147483833" r:id="rId9"/>
    <p:sldLayoutId id="2147483834" r:id="rId10"/>
    <p:sldLayoutId id="2147483835" r:id="rId11"/>
    <p:sldLayoutId id="2147483836" r:id="rId12"/>
  </p:sldLayoutIdLst>
  <p:hf sldNum="0" hdr="0" ftr="0" dt="0"/>
  <p:txStyles>
    <p:title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Times New Roman" panose="02020503050405090304" pitchFamily="18" charset="0"/>
          <a:ea typeface="宋体" pitchFamily="2" charset="-122"/>
        </a:defRPr>
      </a:lvl2pPr>
      <a:lvl3pPr algn="l" rtl="0" eaLnBrk="0" fontAlgn="base" hangingPunct="0">
        <a:spcBef>
          <a:spcPct val="0"/>
        </a:spcBef>
        <a:spcAft>
          <a:spcPct val="0"/>
        </a:spcAft>
        <a:defRPr sz="3600">
          <a:solidFill>
            <a:schemeClr val="tx2"/>
          </a:solidFill>
          <a:latin typeface="Times New Roman" panose="02020503050405090304" pitchFamily="18" charset="0"/>
          <a:ea typeface="宋体" pitchFamily="2" charset="-122"/>
        </a:defRPr>
      </a:lvl3pPr>
      <a:lvl4pPr algn="l" rtl="0" eaLnBrk="0" fontAlgn="base" hangingPunct="0">
        <a:spcBef>
          <a:spcPct val="0"/>
        </a:spcBef>
        <a:spcAft>
          <a:spcPct val="0"/>
        </a:spcAft>
        <a:defRPr sz="3600">
          <a:solidFill>
            <a:schemeClr val="tx2"/>
          </a:solidFill>
          <a:latin typeface="Times New Roman" panose="02020503050405090304" pitchFamily="18" charset="0"/>
          <a:ea typeface="宋体" pitchFamily="2" charset="-122"/>
        </a:defRPr>
      </a:lvl4pPr>
      <a:lvl5pPr algn="l" rtl="0" eaLnBrk="0" fontAlgn="base" hangingPunct="0">
        <a:spcBef>
          <a:spcPct val="0"/>
        </a:spcBef>
        <a:spcAft>
          <a:spcPct val="0"/>
        </a:spcAft>
        <a:defRPr sz="3600">
          <a:solidFill>
            <a:schemeClr val="tx2"/>
          </a:solidFill>
          <a:latin typeface="Times New Roman" panose="02020503050405090304" pitchFamily="18" charset="0"/>
          <a:ea typeface="宋体" pitchFamily="2" charset="-122"/>
        </a:defRPr>
      </a:lvl5pPr>
      <a:lvl6pPr marL="457200" algn="l" rtl="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algn="l" rtl="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algn="l" rtl="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algn="l" rtl="0" fontAlgn="base">
        <a:spcBef>
          <a:spcPct val="0"/>
        </a:spcBef>
        <a:spcAft>
          <a:spcPct val="0"/>
        </a:spcAft>
        <a:defRPr sz="3600">
          <a:solidFill>
            <a:schemeClr val="tx2"/>
          </a:solidFill>
          <a:latin typeface="Times New Roman" panose="02020503050405090304" pitchFamily="18"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
        <a:defRPr sz="2600">
          <a:solidFill>
            <a:schemeClr val="folHlink"/>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600">
          <a:solidFill>
            <a:schemeClr val="folHlink"/>
          </a:solidFill>
          <a:latin typeface="Tahoma" panose="020B0604030504040204" pitchFamily="34" charset="0"/>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600">
          <a:solidFill>
            <a:schemeClr val="folHlink"/>
          </a:solidFill>
          <a:latin typeface="Tahoma" panose="020B0604030504040204" pitchFamily="34" charset="0"/>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600">
          <a:solidFill>
            <a:schemeClr val="folHlink"/>
          </a:solidFill>
          <a:latin typeface="Tahoma" panose="020B0604030504040204" pitchFamily="34" charset="0"/>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600">
          <a:solidFill>
            <a:schemeClr val="folHlink"/>
          </a:solidFill>
          <a:latin typeface="Tahoma" panose="020B0604030504040204" pitchFamily="34" charset="0"/>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600">
          <a:solidFill>
            <a:schemeClr val="folHlink"/>
          </a:solidFill>
          <a:latin typeface="Tahoma" panose="020B0604030504040204" pitchFamily="34" charset="0"/>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600">
          <a:solidFill>
            <a:schemeClr val="folHlink"/>
          </a:solidFill>
          <a:latin typeface="Tahoma" panose="020B0604030504040204" pitchFamily="34" charset="0"/>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600">
          <a:solidFill>
            <a:schemeClr val="folHlink"/>
          </a:solidFill>
          <a:latin typeface="Tahoma" panose="020B0604030504040204" pitchFamily="34" charset="0"/>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600">
          <a:solidFill>
            <a:schemeClr val="folHlink"/>
          </a:solidFill>
          <a:latin typeface="Tahoma" panose="020B0604030504040204" pitchFamily="34" charset="0"/>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jpeg"/><Relationship Id="rId5" Type="http://schemas.openxmlformats.org/officeDocument/2006/relationships/slideLayout" Target="../slideLayouts/slideLayout7.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ncybqoovzc.yourware.so/" TargetMode="External"/><Relationship Id="rId2" Type="http://schemas.openxmlformats.org/officeDocument/2006/relationships/hyperlink" Target="https://pqmmlxao2x.yourware.so/" TargetMode="External"/><Relationship Id="rId3" Type="http://schemas.openxmlformats.org/officeDocument/2006/relationships/hyperlink" Target="https://dxdyt7t2br.app.yourware.so/" TargetMode="External"/><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6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8.xml.rels><?xml version='1.0' encoding='UTF-8' standalone='yes'?>
<Relationships xmlns="http://schemas.openxmlformats.org/package/2006/relationships"><Relationship Id="rId1" Type="http://schemas.openxmlformats.org/officeDocument/2006/relationships/hyperlink" Target="https://eqqiju2axr.yourware.so/" TargetMode="External"/><Relationship Id="rId2" Type="http://schemas.openxmlformats.org/officeDocument/2006/relationships/hyperlink" Target="https://clm48mypem.yourware.so/" TargetMode="External"/><Relationship Id="rId3" Type="http://schemas.openxmlformats.org/officeDocument/2006/relationships/slideLayout" Target="../slideLayouts/slideLayout50.xml"/><Relationship Id="rId4" Type="http://schemas.openxmlformats.org/officeDocument/2006/relationships/notesSlide" Target="../notesSlides/notesSlide6.xml"/></Relationships>
</file>

<file path=ppt/slides/_rels/slide19.xml.rels><?xml version='1.0' encoding='UTF-8' standalone='yes'?>
<Relationships xmlns="http://schemas.openxmlformats.org/package/2006/relationships"><Relationship Id="rId1" Type="http://schemas.openxmlformats.org/officeDocument/2006/relationships/hyperlink" Target="https://ip72skaopo.yourware.so/" TargetMode="External"/><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20.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oleObject" Target="../embeddings/oleObject1.bin"/><Relationship Id="rId3" Type="http://schemas.openxmlformats.org/officeDocument/2006/relationships/image" Target="../media/image8.emf"/><Relationship Id="rId4" Type="http://schemas.openxmlformats.org/officeDocument/2006/relationships/slideLayout" Target="../slideLayouts/slideLayout2.xml"/><Relationship Id="rId5" Type="http://schemas.openxmlformats.org/officeDocument/2006/relationships/vmlDrawing" Target="../drawings/vmlDrawing1.vml"/><Relationship Id="rId6" Type="http://schemas.openxmlformats.org/officeDocument/2006/relationships/notesSlide" Target="../notesSlides/notesSlide7.xml"/></Relationships>
</file>

<file path=ppt/slides/_rels/slide21.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oleObject" Target="../embeddings/oleObject2.bin"/><Relationship Id="rId3" Type="http://schemas.openxmlformats.org/officeDocument/2006/relationships/image" Target="../media/image9.emf"/><Relationship Id="rId4" Type="http://schemas.openxmlformats.org/officeDocument/2006/relationships/slideLayout" Target="../slideLayouts/slideLayout2.xml"/><Relationship Id="rId5" Type="http://schemas.openxmlformats.org/officeDocument/2006/relationships/vmlDrawing" Target="../drawings/vmlDrawing2.vml"/><Relationship Id="rId6" Type="http://schemas.openxmlformats.org/officeDocument/2006/relationships/notesSlide" Target="../notesSlides/notesSlide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23.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oleObject" Target="../embeddings/oleObject3.bin"/><Relationship Id="rId3" Type="http://schemas.openxmlformats.org/officeDocument/2006/relationships/image" Target="../media/image10.emf"/><Relationship Id="rId4" Type="http://schemas.openxmlformats.org/officeDocument/2006/relationships/slideLayout" Target="../slideLayouts/slideLayout2.xml"/><Relationship Id="rId5" Type="http://schemas.openxmlformats.org/officeDocument/2006/relationships/vmlDrawing" Target="../drawings/vmlDrawing3.vml"/><Relationship Id="rId6" Type="http://schemas.openxmlformats.org/officeDocument/2006/relationships/notesSlide" Target="../notesSlides/notesSlide10.xml"/></Relationships>
</file>

<file path=ppt/slides/_rels/slide24.xml.rels><?xml version='1.0' encoding='UTF-8' standalone='yes'?>
<Relationships xmlns="http://schemas.openxmlformats.org/package/2006/relationships"><Relationship Id="rId1" Type="http://schemas.openxmlformats.org/officeDocument/2006/relationships/oleObject" Target="../embeddings/oleObject4.bin"/><Relationship Id="rId2" Type="http://schemas.openxmlformats.org/officeDocument/2006/relationships/image" Target="../media/image11.emf"/><Relationship Id="rId3" Type="http://schemas.openxmlformats.org/officeDocument/2006/relationships/slideLayout" Target="../slideLayouts/slideLayout2.xml"/><Relationship Id="rId4" Type="http://schemas.openxmlformats.org/officeDocument/2006/relationships/vmlDrawing" Target="../drawings/vmlDrawing4.vml"/><Relationship Id="rId5" Type="http://schemas.openxmlformats.org/officeDocument/2006/relationships/notesSlide" Target="../notesSlides/notesSlide6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26.xml.rels><?xml version='1.0' encoding='UTF-8' standalone='yes'?>
<Relationships xmlns="http://schemas.openxmlformats.org/package/2006/relationships"><Relationship Id="rId1" Type="http://schemas.openxmlformats.org/officeDocument/2006/relationships/oleObject" Target="../embeddings/oleObject5.bin"/><Relationship Id="rId2" Type="http://schemas.openxmlformats.org/officeDocument/2006/relationships/image" Target="../media/image12.emf"/><Relationship Id="rId3" Type="http://schemas.openxmlformats.org/officeDocument/2006/relationships/slideLayout" Target="../slideLayouts/slideLayout2.xml"/><Relationship Id="rId4" Type="http://schemas.openxmlformats.org/officeDocument/2006/relationships/vmlDrawing" Target="../drawings/vmlDrawing5.vml"/><Relationship Id="rId5" Type="http://schemas.openxmlformats.org/officeDocument/2006/relationships/notesSlide" Target="../notesSlides/notesSlide6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29.xml.rels><?xml version='1.0' encoding='UTF-8' standalone='yes'?>
<Relationships xmlns="http://schemas.openxmlformats.org/package/2006/relationships"><Relationship Id="rId1" Type="http://schemas.openxmlformats.org/officeDocument/2006/relationships/oleObject" Target="../embeddings/oleObject6.bin"/><Relationship Id="rId2" Type="http://schemas.openxmlformats.org/officeDocument/2006/relationships/image" Target="../media/image13.emf"/><Relationship Id="rId3" Type="http://schemas.openxmlformats.org/officeDocument/2006/relationships/slideLayout" Target="../slideLayouts/slideLayout2.xml"/><Relationship Id="rId4" Type="http://schemas.openxmlformats.org/officeDocument/2006/relationships/vmlDrawing" Target="../drawings/vmlDrawing6.vml"/><Relationship Id="rId5" Type="http://schemas.openxmlformats.org/officeDocument/2006/relationships/notesSlide" Target="../notesSlides/notesSlide72.xml"/></Relationships>
</file>

<file path=ppt/slides/_rels/slide30.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oleObject" Target="../embeddings/oleObject7.bin"/><Relationship Id="rId3" Type="http://schemas.openxmlformats.org/officeDocument/2006/relationships/image" Target="../media/image14.emf"/><Relationship Id="rId4" Type="http://schemas.openxmlformats.org/officeDocument/2006/relationships/slideLayout" Target="../slideLayouts/slideLayout2.xml"/><Relationship Id="rId5" Type="http://schemas.openxmlformats.org/officeDocument/2006/relationships/vmlDrawing" Target="../drawings/vmlDrawing7.vml"/><Relationship Id="rId6" Type="http://schemas.openxmlformats.org/officeDocument/2006/relationships/notesSlide" Target="../notesSlides/notesSlide7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5.xml"/></Relationships>
</file>

<file path=ppt/slides/_rels/slide33.xml.rels><?xml version='1.0' encoding='UTF-8' standalone='yes'?>
<Relationships xmlns="http://schemas.openxmlformats.org/package/2006/relationships"><Relationship Id="rId1" Type="http://schemas.openxmlformats.org/officeDocument/2006/relationships/hyperlink" Target="https://a22kh3oju8.yourware.so/" TargetMode="External"/><Relationship Id="rId2" Type="http://schemas.openxmlformats.org/officeDocument/2006/relationships/slideLayout" Target="../slideLayouts/slideLayout76.xml"/><Relationship Id="rId3" Type="http://schemas.openxmlformats.org/officeDocument/2006/relationships/notesSlide" Target="../notesSlides/notesSlide7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6.xml"/><Relationship Id="rId2" Type="http://schemas.openxmlformats.org/officeDocument/2006/relationships/notesSlide" Target="../notesSlides/notesSlide7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6.xml"/><Relationship Id="rId2" Type="http://schemas.openxmlformats.org/officeDocument/2006/relationships/notesSlide" Target="../notesSlides/notesSlide1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94.xml"/><Relationship Id="rId2" Type="http://schemas.openxmlformats.org/officeDocument/2006/relationships/notesSlide" Target="../notesSlides/notesSlide2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53.xml.rels><?xml version='1.0' encoding='UTF-8' standalone='yes'?>
<Relationships xmlns="http://schemas.openxmlformats.org/package/2006/relationships"><Relationship Id="rId1" Type="http://schemas.openxmlformats.org/officeDocument/2006/relationships/oleObject" Target="../embeddings/oleObject8.bin"/><Relationship Id="rId2" Type="http://schemas.openxmlformats.org/officeDocument/2006/relationships/image" Target="../media/image15.wmf"/><Relationship Id="rId3" Type="http://schemas.openxmlformats.org/officeDocument/2006/relationships/slideLayout" Target="../slideLayouts/slideLayout2.xml"/><Relationship Id="rId4" Type="http://schemas.openxmlformats.org/officeDocument/2006/relationships/vmlDrawing" Target="../drawings/vmlDrawing8.vml"/><Relationship Id="rId5" Type="http://schemas.openxmlformats.org/officeDocument/2006/relationships/notesSlide" Target="../notesSlides/notesSlide2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0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8.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oleObject" Target="../embeddings/oleObject9.bin"/><Relationship Id="rId3" Type="http://schemas.openxmlformats.org/officeDocument/2006/relationships/image" Target="../media/image16.emf"/><Relationship Id="rId4" Type="http://schemas.openxmlformats.org/officeDocument/2006/relationships/oleObject" Target="../embeddings/oleObject10.bin"/><Relationship Id="rId5" Type="http://schemas.openxmlformats.org/officeDocument/2006/relationships/image" Target="../media/image17.emf"/><Relationship Id="rId6" Type="http://schemas.openxmlformats.org/officeDocument/2006/relationships/oleObject" Target="../embeddings/oleObject11.bin"/><Relationship Id="rId7" Type="http://schemas.openxmlformats.org/officeDocument/2006/relationships/image" Target="../media/image18.emf"/><Relationship Id="rId8" Type="http://schemas.openxmlformats.org/officeDocument/2006/relationships/slideLayout" Target="../slideLayouts/slideLayout7.xml"/><Relationship Id="rId9" Type="http://schemas.openxmlformats.org/officeDocument/2006/relationships/vmlDrawing" Target="../drawings/vmlDrawing9.vml"/><Relationship Id="rId10" Type="http://schemas.openxmlformats.org/officeDocument/2006/relationships/notesSlide" Target="../notesSlides/notesSlide2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62.xml.rels><?xml version='1.0' encoding='UTF-8' standalone='yes'?>
<Relationships xmlns="http://schemas.openxmlformats.org/package/2006/relationships"><Relationship Id="rId1" Type="http://schemas.openxmlformats.org/officeDocument/2006/relationships/oleObject" Target="../embeddings/oleObject12.bin"/><Relationship Id="rId2" Type="http://schemas.openxmlformats.org/officeDocument/2006/relationships/image" Target="../media/image19.wmf"/><Relationship Id="rId3" Type="http://schemas.openxmlformats.org/officeDocument/2006/relationships/slideLayout" Target="../slideLayouts/slideLayout2.xml"/><Relationship Id="rId4" Type="http://schemas.openxmlformats.org/officeDocument/2006/relationships/vmlDrawing" Target="../drawings/vmlDrawing10.vml"/><Relationship Id="rId5" Type="http://schemas.openxmlformats.org/officeDocument/2006/relationships/notesSlide" Target="../notesSlides/notesSlide3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93.xml"/><Relationship Id="rId2" Type="http://schemas.openxmlformats.org/officeDocument/2006/relationships/notesSlide" Target="../notesSlides/notesSlide3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93.xml"/><Relationship Id="rId2" Type="http://schemas.openxmlformats.org/officeDocument/2006/relationships/notesSlide" Target="../notesSlides/notesSlide3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3.xml"/><Relationship Id="rId2" Type="http://schemas.openxmlformats.org/officeDocument/2006/relationships/notesSlide" Target="../notesSlides/notesSlide3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93.xml"/><Relationship Id="rId2" Type="http://schemas.openxmlformats.org/officeDocument/2006/relationships/notesSlide" Target="../notesSlides/notesSlide36.xml"/></Relationships>
</file>

<file path=ppt/slides/_rels/slide69.xml.rels><?xml version='1.0' encoding='UTF-8' standalone='yes'?>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18.xml"/><Relationship Id="rId3" Type="http://schemas.openxmlformats.org/officeDocument/2006/relationships/notesSlide" Target="../notesSlides/notesSlide37.xml"/></Relationships>
</file>

<file path=ppt/slides/_rels/slide70.xml.rels><?xml version='1.0' encoding='UTF-8' standalone='yes'?>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slideLayout" Target="../slideLayouts/slideLayout118.xml"/><Relationship Id="rId4" Type="http://schemas.openxmlformats.org/officeDocument/2006/relationships/notesSlide" Target="../notesSlides/notesSlide3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77.xml.rels><?xml version='1.0' encoding='UTF-8' standalone='yes'?>
<Relationships xmlns="http://schemas.openxmlformats.org/package/2006/relationships"><Relationship Id="rId1" Type="http://schemas.openxmlformats.org/officeDocument/2006/relationships/oleObject" Target="../embeddings/oleObject13.bin"/><Relationship Id="rId2" Type="http://schemas.openxmlformats.org/officeDocument/2006/relationships/image" Target="../media/image22.emf"/><Relationship Id="rId3" Type="http://schemas.openxmlformats.org/officeDocument/2006/relationships/slideLayout" Target="../slideLayouts/slideLayout2.xml"/><Relationship Id="rId4" Type="http://schemas.openxmlformats.org/officeDocument/2006/relationships/vmlDrawing" Target="../drawings/vmlDrawing11.vml"/><Relationship Id="rId5" Type="http://schemas.openxmlformats.org/officeDocument/2006/relationships/notesSlide" Target="../notesSlides/notesSlide45.xml"/></Relationships>
</file>

<file path=ppt/slides/_rels/slide78.xml.rels><?xml version='1.0' encoding='UTF-8' standalone='yes'?>
<Relationships xmlns="http://schemas.openxmlformats.org/package/2006/relationships"><Relationship Id="rId1" Type="http://schemas.openxmlformats.org/officeDocument/2006/relationships/oleObject" Target="../embeddings/oleObject14.bin"/><Relationship Id="rId2" Type="http://schemas.openxmlformats.org/officeDocument/2006/relationships/image" Target="../media/image23.wmf"/><Relationship Id="rId3" Type="http://schemas.openxmlformats.org/officeDocument/2006/relationships/image" Target="../media/image7.png"/><Relationship Id="rId4" Type="http://schemas.openxmlformats.org/officeDocument/2006/relationships/slideLayout" Target="../slideLayouts/slideLayout101.xml"/><Relationship Id="rId5" Type="http://schemas.openxmlformats.org/officeDocument/2006/relationships/vmlDrawing" Target="../drawings/vmlDrawing12.vml"/><Relationship Id="rId6" Type="http://schemas.openxmlformats.org/officeDocument/2006/relationships/notesSlide" Target="../notesSlides/notesSlide46.xml"/></Relationships>
</file>

<file path=ppt/slides/_rels/slide79.xml.rels><?xml version='1.0' encoding='UTF-8' standalone='yes'?>
<Relationships xmlns="http://schemas.openxmlformats.org/package/2006/relationships"><Relationship Id="rId1" Type="http://schemas.openxmlformats.org/officeDocument/2006/relationships/hyperlink" Target="https://2jsrnangnx.yourware.so/" TargetMode="External"/><Relationship Id="rId2" Type="http://schemas.openxmlformats.org/officeDocument/2006/relationships/slideLayout" Target="../slideLayouts/slideLayout101.xml"/><Relationship Id="rId3" Type="http://schemas.openxmlformats.org/officeDocument/2006/relationships/notesSlide" Target="../notesSlides/notesSlide4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01.xml"/><Relationship Id="rId2" Type="http://schemas.openxmlformats.org/officeDocument/2006/relationships/notesSlide" Target="../notesSlides/notesSlide49.xml"/></Relationships>
</file>

<file path=ppt/slides/_rels/slide82.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5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5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55.xml"/></Relationships>
</file>

<file path=ppt/slides/_rels/slide88.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42.xml"/><Relationship Id="rId3" Type="http://schemas.openxmlformats.org/officeDocument/2006/relationships/notesSlide" Target="../notesSlides/notesSlide5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5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59.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60.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6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6.xml"/><Relationship Id="rId2" Type="http://schemas.openxmlformats.org/officeDocument/2006/relationships/notesSlide" Target="../notesSlides/notesSlide6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02.xml.rels><?xml version='1.0' encoding='UTF-8' standalone='yes'?>
<Relationships xmlns="http://schemas.openxmlformats.org/package/2006/relationships"><Relationship Id="rId1" Type="http://schemas.openxmlformats.org/officeDocument/2006/relationships/hyperlink" Target="https://0jrkjv1p4j.yourware.so/" TargetMode="External"/><Relationship Id="rId2" Type="http://schemas.openxmlformats.org/officeDocument/2006/relationships/slideLayout" Target="../slideLayouts/slideLayout12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oleObject" Target="../embeddings/oleObject15.bin"/><Relationship Id="rId2" Type="http://schemas.openxmlformats.org/officeDocument/2006/relationships/image" Target="../media/image25.wmf"/><Relationship Id="rId3" Type="http://schemas.openxmlformats.org/officeDocument/2006/relationships/slideLayout" Target="../slideLayouts/slideLayout2.xml"/><Relationship Id="rId4" Type="http://schemas.openxmlformats.org/officeDocument/2006/relationships/vmlDrawing" Target="../drawings/vmlDrawing13.v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6.xml"/></Relationships>
</file>

<file path=ppt/slides/_rels/slide112.xml.rels><?xml version='1.0' encoding='UTF-8' standalone='yes'?>
<Relationships xmlns="http://schemas.openxmlformats.org/package/2006/relationships"><Relationship Id="rId1" Type="http://schemas.openxmlformats.org/officeDocument/2006/relationships/oleObject" Target="../embeddings/oleObject16.bin"/><Relationship Id="rId2" Type="http://schemas.openxmlformats.org/officeDocument/2006/relationships/image" Target="../media/image26.wmf"/><Relationship Id="rId3" Type="http://schemas.openxmlformats.org/officeDocument/2006/relationships/oleObject" Target="../embeddings/oleObject17.bin"/><Relationship Id="rId4" Type="http://schemas.openxmlformats.org/officeDocument/2006/relationships/image" Target="../media/image27.wmf"/><Relationship Id="rId5" Type="http://schemas.openxmlformats.org/officeDocument/2006/relationships/slideLayout" Target="../slideLayouts/slideLayout2.xml"/><Relationship Id="rId6" Type="http://schemas.openxmlformats.org/officeDocument/2006/relationships/vmlDrawing" Target="../drawings/vmlDrawing14.v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1" Type="http://schemas.openxmlformats.org/officeDocument/2006/relationships/oleObject" Target="../embeddings/oleObject18.bin"/><Relationship Id="rId2" Type="http://schemas.openxmlformats.org/officeDocument/2006/relationships/image" Target="../media/image28.emf"/><Relationship Id="rId3" Type="http://schemas.openxmlformats.org/officeDocument/2006/relationships/slideLayout" Target="../slideLayouts/slideLayout2.xml"/><Relationship Id="rId4" Type="http://schemas.openxmlformats.org/officeDocument/2006/relationships/vmlDrawing" Target="../drawings/vmlDrawing15.v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oleObject" Target="../embeddings/oleObject19.bin"/><Relationship Id="rId2" Type="http://schemas.openxmlformats.org/officeDocument/2006/relationships/image" Target="../media/image29.wmf"/><Relationship Id="rId3" Type="http://schemas.openxmlformats.org/officeDocument/2006/relationships/oleObject" Target="../embeddings/oleObject20.bin"/><Relationship Id="rId4" Type="http://schemas.openxmlformats.org/officeDocument/2006/relationships/image" Target="../media/image30.wmf"/><Relationship Id="rId5" Type="http://schemas.openxmlformats.org/officeDocument/2006/relationships/slideLayout" Target="../slideLayouts/slideLayout2.xml"/><Relationship Id="rId6" Type="http://schemas.openxmlformats.org/officeDocument/2006/relationships/vmlDrawing" Target="../drawings/vmlDrawing16.vml"/></Relationships>
</file>

<file path=ppt/slides/_rels/slide118.xml.rels><?xml version='1.0' encoding='UTF-8' standalone='yes'?>
<Relationships xmlns="http://schemas.openxmlformats.org/package/2006/relationships"><Relationship Id="rId1" Type="http://schemas.openxmlformats.org/officeDocument/2006/relationships/hyperlink" Target="https://uk28p68bo1.yourware.so/" TargetMode="External"/><Relationship Id="rId2" Type="http://schemas.openxmlformats.org/officeDocument/2006/relationships/slideLayout" Target="../slideLayouts/slideLayout114.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14.xml"/></Relationships>
</file>

<file path=ppt/slides/_rels/slide120.xml.rels><?xml version='1.0' encoding='UTF-8' standalone='yes'?>
<Relationships xmlns="http://schemas.openxmlformats.org/package/2006/relationships"><Relationship Id="rId1" Type="http://schemas.openxmlformats.org/officeDocument/2006/relationships/oleObject" Target="../embeddings/oleObject21.bin"/><Relationship Id="rId2" Type="http://schemas.openxmlformats.org/officeDocument/2006/relationships/image" Target="../media/image31.wmf"/><Relationship Id="rId3" Type="http://schemas.openxmlformats.org/officeDocument/2006/relationships/slideLayout" Target="../slideLayouts/slideLayout114.xml"/><Relationship Id="rId4" Type="http://schemas.openxmlformats.org/officeDocument/2006/relationships/vmlDrawing" Target="../drawings/vmlDrawing17.v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14.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14.xml"/></Relationships>
</file>

<file path=ppt/slides/_rels/slide123.xml.rels><?xml version='1.0' encoding='UTF-8' standalone='yes'?>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16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39.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39.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3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39.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39.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5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21" name="TextBox 46"/>
          <p:cNvSpPr txBox="1"/>
          <p:nvPr/>
        </p:nvSpPr>
        <p:spPr>
          <a:xfrm>
            <a:off x="6981825" y="3398838"/>
            <a:ext cx="1819275" cy="922337"/>
          </a:xfrm>
          <a:prstGeom prst="rect">
            <a:avLst/>
          </a:prstGeom>
          <a:noFill/>
          <a:ln w="9525">
            <a:noFill/>
          </a:ln>
        </p:spPr>
        <p:txBody>
          <a:bodyPr anchor="t" anchorCtr="0">
            <a:spAutoFit/>
          </a:bodyPr>
          <a:p>
            <a:pPr>
              <a:lnSpc>
                <a:spcPct val="150000"/>
              </a:lnSpc>
            </a:pPr>
            <a:r>
              <a:rPr lang="zh-CN" altLang="en-US" dirty="0">
                <a:solidFill>
                  <a:schemeClr val="bg1"/>
                </a:solidFill>
                <a:latin typeface="微软雅黑" charset="-122"/>
                <a:ea typeface="微软雅黑" charset="-122"/>
              </a:rPr>
              <a:t>姓  名：于升源  </a:t>
            </a:r>
            <a:endParaRPr lang="en-US" altLang="zh-CN" dirty="0">
              <a:solidFill>
                <a:schemeClr val="bg1"/>
              </a:solidFill>
              <a:latin typeface="微软雅黑" charset="-122"/>
              <a:ea typeface="微软雅黑" charset="-122"/>
            </a:endParaRPr>
          </a:p>
          <a:p>
            <a:pPr>
              <a:lnSpc>
                <a:spcPct val="150000"/>
              </a:lnSpc>
            </a:pPr>
            <a:r>
              <a:rPr lang="zh-CN" altLang="en-US" dirty="0">
                <a:solidFill>
                  <a:schemeClr val="bg1"/>
                </a:solidFill>
                <a:latin typeface="微软雅黑" charset="-122"/>
                <a:ea typeface="微软雅黑" charset="-122"/>
              </a:rPr>
              <a:t>导  师：陈乐庚    </a:t>
            </a:r>
            <a:endParaRPr lang="en-US" altLang="zh-CN" dirty="0">
              <a:solidFill>
                <a:schemeClr val="bg1"/>
              </a:solidFill>
              <a:latin typeface="微软雅黑" charset="-122"/>
              <a:ea typeface="微软雅黑" charset="-122"/>
            </a:endParaRPr>
          </a:p>
        </p:txBody>
      </p:sp>
      <p:sp>
        <p:nvSpPr>
          <p:cNvPr id="184322" name="任意多边形 61"/>
          <p:cNvSpPr/>
          <p:nvPr/>
        </p:nvSpPr>
        <p:spPr>
          <a:xfrm>
            <a:off x="6088063" y="4445000"/>
            <a:ext cx="601662" cy="587375"/>
          </a:xfrm>
          <a:custGeom>
            <a:avLst/>
            <a:gdLst/>
            <a:ahLst/>
            <a:cxnLst>
              <a:cxn ang="0">
                <a:pos x="0" y="102611"/>
              </a:cxn>
              <a:cxn ang="0">
                <a:pos x="56303" y="101512"/>
              </a:cxn>
              <a:cxn ang="0">
                <a:pos x="84455" y="82835"/>
              </a:cxn>
              <a:cxn ang="0">
                <a:pos x="106351" y="185009"/>
              </a:cxn>
              <a:cxn ang="0">
                <a:pos x="125118" y="437"/>
              </a:cxn>
              <a:cxn ang="0">
                <a:pos x="147014" y="132275"/>
              </a:cxn>
              <a:cxn ang="0">
                <a:pos x="165782" y="85033"/>
              </a:cxn>
              <a:cxn ang="0">
                <a:pos x="182985" y="100413"/>
              </a:cxn>
              <a:cxn ang="0">
                <a:pos x="193933" y="90525"/>
              </a:cxn>
              <a:cxn ang="0">
                <a:pos x="204881" y="96019"/>
              </a:cxn>
              <a:cxn ang="0">
                <a:pos x="223649" y="88328"/>
              </a:cxn>
              <a:cxn ang="0">
                <a:pos x="236160" y="97118"/>
              </a:cxn>
              <a:cxn ang="0">
                <a:pos x="248673" y="98216"/>
              </a:cxn>
              <a:cxn ang="0">
                <a:pos x="248673" y="98216"/>
              </a:cxn>
            </a:cxnLst>
            <a:pathLst>
              <a:path w="807720" h="861325">
                <a:moveTo>
                  <a:pt x="0" y="474460"/>
                </a:moveTo>
                <a:cubicBezTo>
                  <a:pt x="68580" y="479540"/>
                  <a:pt x="137160" y="484620"/>
                  <a:pt x="182880" y="469380"/>
                </a:cubicBezTo>
                <a:cubicBezTo>
                  <a:pt x="228600" y="454140"/>
                  <a:pt x="247227" y="318673"/>
                  <a:pt x="274320" y="383020"/>
                </a:cubicBezTo>
                <a:cubicBezTo>
                  <a:pt x="301413" y="447367"/>
                  <a:pt x="323427" y="918960"/>
                  <a:pt x="345440" y="855460"/>
                </a:cubicBezTo>
                <a:cubicBezTo>
                  <a:pt x="367453" y="791960"/>
                  <a:pt x="384387" y="42660"/>
                  <a:pt x="406400" y="2020"/>
                </a:cubicBezTo>
                <a:cubicBezTo>
                  <a:pt x="428413" y="-38620"/>
                  <a:pt x="455507" y="546427"/>
                  <a:pt x="477520" y="611620"/>
                </a:cubicBezTo>
                <a:cubicBezTo>
                  <a:pt x="499533" y="676813"/>
                  <a:pt x="519007" y="417733"/>
                  <a:pt x="538480" y="393180"/>
                </a:cubicBezTo>
                <a:cubicBezTo>
                  <a:pt x="557953" y="368627"/>
                  <a:pt x="579120" y="460067"/>
                  <a:pt x="594360" y="464300"/>
                </a:cubicBezTo>
                <a:cubicBezTo>
                  <a:pt x="609600" y="468533"/>
                  <a:pt x="618067" y="421967"/>
                  <a:pt x="629920" y="418580"/>
                </a:cubicBezTo>
                <a:cubicBezTo>
                  <a:pt x="641773" y="415193"/>
                  <a:pt x="649393" y="445673"/>
                  <a:pt x="665480" y="443980"/>
                </a:cubicBezTo>
                <a:cubicBezTo>
                  <a:pt x="681567" y="442287"/>
                  <a:pt x="709507" y="407573"/>
                  <a:pt x="726440" y="408420"/>
                </a:cubicBezTo>
                <a:cubicBezTo>
                  <a:pt x="743373" y="409267"/>
                  <a:pt x="753533" y="441440"/>
                  <a:pt x="767080" y="449060"/>
                </a:cubicBezTo>
                <a:cubicBezTo>
                  <a:pt x="780627" y="456680"/>
                  <a:pt x="807720" y="454140"/>
                  <a:pt x="807720" y="454140"/>
                </a:cubicBezTo>
              </a:path>
            </a:pathLst>
          </a:custGeom>
          <a:noFill/>
          <a:ln w="28575" cap="flat" cmpd="sng">
            <a:solidFill>
              <a:schemeClr val="bg1"/>
            </a:solidFill>
            <a:prstDash val="solid"/>
            <a:round/>
            <a:headEnd type="none" w="med" len="med"/>
            <a:tailEnd type="none" w="med" len="med"/>
          </a:ln>
        </p:spPr>
        <p:txBody>
          <a:bodyPr/>
          <a:p>
            <a:endParaRPr lang="zh-CN" altLang="en-US"/>
          </a:p>
        </p:txBody>
      </p:sp>
      <p:sp>
        <p:nvSpPr>
          <p:cNvPr id="184323" name="矩形 15"/>
          <p:cNvSpPr/>
          <p:nvPr/>
        </p:nvSpPr>
        <p:spPr>
          <a:xfrm>
            <a:off x="0" y="1479550"/>
            <a:ext cx="9144000" cy="3109913"/>
          </a:xfrm>
          <a:prstGeom prst="rect">
            <a:avLst/>
          </a:prstGeom>
          <a:solidFill>
            <a:srgbClr val="0070C0"/>
          </a:solidFill>
          <a:ln w="9525">
            <a:noFill/>
          </a:ln>
        </p:spPr>
        <p:txBody>
          <a:bodyPr anchor="ctr" anchorCtr="0"/>
          <a:p>
            <a:pPr algn="ctr"/>
            <a:endParaRPr lang="zh-CN" altLang="en-US" dirty="0">
              <a:solidFill>
                <a:srgbClr val="FFFFFF"/>
              </a:solidFill>
              <a:latin typeface="Calibri" panose="020F0502020204030204" pitchFamily="34" charset="0"/>
              <a:ea typeface="宋体" pitchFamily="2" charset="-122"/>
            </a:endParaRPr>
          </a:p>
        </p:txBody>
      </p:sp>
      <p:sp>
        <p:nvSpPr>
          <p:cNvPr id="184324" name="Text Box 3"/>
          <p:cNvSpPr txBox="1"/>
          <p:nvPr/>
        </p:nvSpPr>
        <p:spPr>
          <a:xfrm>
            <a:off x="1660525" y="722313"/>
            <a:ext cx="184150" cy="369887"/>
          </a:xfrm>
          <a:prstGeom prst="rect">
            <a:avLst/>
          </a:prstGeom>
          <a:noFill/>
          <a:ln w="9525">
            <a:noFill/>
          </a:ln>
        </p:spPr>
        <p:txBody>
          <a:bodyPr wrap="none" anchor="t" anchorCtr="0">
            <a:spAutoFit/>
          </a:bodyPr>
          <a:p>
            <a:endParaRPr lang="zh-CN" altLang="en-US" dirty="0">
              <a:solidFill>
                <a:srgbClr val="000000"/>
              </a:solidFill>
              <a:latin typeface="Arial" panose="020B0604020202090204" pitchFamily="34" charset="0"/>
              <a:ea typeface="宋体" pitchFamily="2" charset="-122"/>
            </a:endParaRPr>
          </a:p>
        </p:txBody>
      </p:sp>
      <p:sp>
        <p:nvSpPr>
          <p:cNvPr id="184325" name="矩形 48"/>
          <p:cNvSpPr/>
          <p:nvPr/>
        </p:nvSpPr>
        <p:spPr>
          <a:xfrm>
            <a:off x="0" y="2465388"/>
            <a:ext cx="9144000" cy="829945"/>
          </a:xfrm>
          <a:prstGeom prst="rect">
            <a:avLst/>
          </a:prstGeom>
          <a:noFill/>
          <a:ln w="9525">
            <a:noFill/>
          </a:ln>
        </p:spPr>
        <p:txBody>
          <a:bodyPr wrap="square" anchor="t" anchorCtr="0">
            <a:spAutoFit/>
          </a:bodyPr>
          <a:p>
            <a:pPr algn="ctr" eaLnBrk="0" hangingPunct="0"/>
            <a:r>
              <a:rPr lang="zh-CN" altLang="en-US" sz="4800" b="1" dirty="0">
                <a:solidFill>
                  <a:srgbClr val="FFFFFF"/>
                </a:solidFill>
                <a:latin typeface="Times New Roman" panose="02020503050405090304" pitchFamily="18" charset="0"/>
                <a:ea typeface="宋体" pitchFamily="2" charset="-122"/>
              </a:rPr>
              <a:t>微控制器原理</a:t>
            </a:r>
            <a:r>
              <a:rPr lang="zh-CN" altLang="en-US" sz="4800" b="1" dirty="0">
                <a:solidFill>
                  <a:srgbClr val="FFFFFF"/>
                </a:solidFill>
                <a:latin typeface="Times New Roman" panose="02020503050405090304" pitchFamily="18" charset="0"/>
                <a:ea typeface="宋体" pitchFamily="2" charset="-122"/>
              </a:rPr>
              <a:t>及应用技术</a:t>
            </a:r>
            <a:endParaRPr lang="zh-CN" altLang="en-US" sz="4800" b="1" dirty="0">
              <a:solidFill>
                <a:srgbClr val="FFFFFF"/>
              </a:solidFill>
              <a:latin typeface="Times New Roman" panose="02020503050405090304" pitchFamily="18" charset="0"/>
              <a:ea typeface="宋体" pitchFamily="2" charset="-122"/>
            </a:endParaRPr>
          </a:p>
        </p:txBody>
      </p:sp>
      <p:pic>
        <p:nvPicPr>
          <p:cNvPr id="184326" name="矩形 16"/>
          <p:cNvPicPr>
            <a:picLocks noGrp="1" noChangeAspect="1"/>
          </p:cNvPicPr>
          <p:nvPr/>
        </p:nvPicPr>
        <p:blipFill>
          <a:blip r:embed="rId1"/>
          <a:stretch>
            <a:fillRect/>
          </a:stretch>
        </p:blipFill>
        <p:spPr>
          <a:xfrm>
            <a:off x="0" y="1211263"/>
            <a:ext cx="9144000" cy="277812"/>
          </a:xfrm>
          <a:prstGeom prst="rect">
            <a:avLst/>
          </a:prstGeom>
          <a:noFill/>
          <a:ln w="9525">
            <a:noFill/>
          </a:ln>
        </p:spPr>
      </p:pic>
      <p:pic>
        <p:nvPicPr>
          <p:cNvPr id="184327" name="矩形 17"/>
          <p:cNvPicPr>
            <a:picLocks noGrp="1" noChangeAspect="1"/>
          </p:cNvPicPr>
          <p:nvPr/>
        </p:nvPicPr>
        <p:blipFill>
          <a:blip r:embed="rId2"/>
          <a:stretch>
            <a:fillRect/>
          </a:stretch>
        </p:blipFill>
        <p:spPr>
          <a:xfrm>
            <a:off x="0" y="4632325"/>
            <a:ext cx="9144000" cy="276225"/>
          </a:xfrm>
          <a:prstGeom prst="rect">
            <a:avLst/>
          </a:prstGeom>
          <a:noFill/>
          <a:ln w="9525">
            <a:noFill/>
          </a:ln>
        </p:spPr>
      </p:pic>
      <p:sp>
        <p:nvSpPr>
          <p:cNvPr id="184328" name="任意多边形 22"/>
          <p:cNvSpPr/>
          <p:nvPr/>
        </p:nvSpPr>
        <p:spPr>
          <a:xfrm>
            <a:off x="6667500" y="3471863"/>
            <a:ext cx="601663" cy="585787"/>
          </a:xfrm>
          <a:custGeom>
            <a:avLst/>
            <a:gdLst/>
            <a:ahLst/>
            <a:cxnLst>
              <a:cxn ang="0">
                <a:pos x="0" y="101506"/>
              </a:cxn>
              <a:cxn ang="0">
                <a:pos x="56303" y="100419"/>
              </a:cxn>
              <a:cxn ang="0">
                <a:pos x="84455" y="81943"/>
              </a:cxn>
              <a:cxn ang="0">
                <a:pos x="106351" y="183017"/>
              </a:cxn>
              <a:cxn ang="0">
                <a:pos x="125118" y="432"/>
              </a:cxn>
              <a:cxn ang="0">
                <a:pos x="147014" y="130850"/>
              </a:cxn>
              <a:cxn ang="0">
                <a:pos x="165782" y="84117"/>
              </a:cxn>
              <a:cxn ang="0">
                <a:pos x="182985" y="99332"/>
              </a:cxn>
              <a:cxn ang="0">
                <a:pos x="193933" y="89551"/>
              </a:cxn>
              <a:cxn ang="0">
                <a:pos x="204881" y="94985"/>
              </a:cxn>
              <a:cxn ang="0">
                <a:pos x="223649" y="87377"/>
              </a:cxn>
              <a:cxn ang="0">
                <a:pos x="236160" y="96072"/>
              </a:cxn>
              <a:cxn ang="0">
                <a:pos x="248673" y="97158"/>
              </a:cxn>
              <a:cxn ang="0">
                <a:pos x="248673" y="97158"/>
              </a:cxn>
            </a:cxnLst>
            <a:pathLst>
              <a:path w="807720" h="861325">
                <a:moveTo>
                  <a:pt x="0" y="474460"/>
                </a:moveTo>
                <a:cubicBezTo>
                  <a:pt x="68580" y="479540"/>
                  <a:pt x="137160" y="484620"/>
                  <a:pt x="182880" y="469380"/>
                </a:cubicBezTo>
                <a:cubicBezTo>
                  <a:pt x="228600" y="454140"/>
                  <a:pt x="247227" y="318673"/>
                  <a:pt x="274320" y="383020"/>
                </a:cubicBezTo>
                <a:cubicBezTo>
                  <a:pt x="301413" y="447367"/>
                  <a:pt x="323427" y="918960"/>
                  <a:pt x="345440" y="855460"/>
                </a:cubicBezTo>
                <a:cubicBezTo>
                  <a:pt x="367453" y="791960"/>
                  <a:pt x="384387" y="42660"/>
                  <a:pt x="406400" y="2020"/>
                </a:cubicBezTo>
                <a:cubicBezTo>
                  <a:pt x="428413" y="-38620"/>
                  <a:pt x="455507" y="546427"/>
                  <a:pt x="477520" y="611620"/>
                </a:cubicBezTo>
                <a:cubicBezTo>
                  <a:pt x="499533" y="676813"/>
                  <a:pt x="519007" y="417733"/>
                  <a:pt x="538480" y="393180"/>
                </a:cubicBezTo>
                <a:cubicBezTo>
                  <a:pt x="557953" y="368627"/>
                  <a:pt x="579120" y="460067"/>
                  <a:pt x="594360" y="464300"/>
                </a:cubicBezTo>
                <a:cubicBezTo>
                  <a:pt x="609600" y="468533"/>
                  <a:pt x="618067" y="421967"/>
                  <a:pt x="629920" y="418580"/>
                </a:cubicBezTo>
                <a:cubicBezTo>
                  <a:pt x="641773" y="415193"/>
                  <a:pt x="649393" y="445673"/>
                  <a:pt x="665480" y="443980"/>
                </a:cubicBezTo>
                <a:cubicBezTo>
                  <a:pt x="681567" y="442287"/>
                  <a:pt x="709507" y="407573"/>
                  <a:pt x="726440" y="408420"/>
                </a:cubicBezTo>
                <a:cubicBezTo>
                  <a:pt x="743373" y="409267"/>
                  <a:pt x="753533" y="441440"/>
                  <a:pt x="767080" y="449060"/>
                </a:cubicBezTo>
                <a:cubicBezTo>
                  <a:pt x="780627" y="456680"/>
                  <a:pt x="807720" y="454140"/>
                  <a:pt x="807720" y="454140"/>
                </a:cubicBezTo>
              </a:path>
            </a:pathLst>
          </a:custGeom>
          <a:noFill/>
          <a:ln w="28575" cap="flat" cmpd="sng">
            <a:solidFill>
              <a:schemeClr val="bg1"/>
            </a:solidFill>
            <a:prstDash val="solid"/>
            <a:round/>
            <a:headEnd type="none" w="med" len="med"/>
            <a:tailEnd type="none" w="med" len="med"/>
          </a:ln>
        </p:spPr>
        <p:txBody>
          <a:bodyPr/>
          <a:p>
            <a:endParaRPr lang="zh-CN" altLang="en-US"/>
          </a:p>
        </p:txBody>
      </p:sp>
      <p:sp>
        <p:nvSpPr>
          <p:cNvPr id="184329" name="TextBox 8"/>
          <p:cNvSpPr txBox="1"/>
          <p:nvPr/>
        </p:nvSpPr>
        <p:spPr>
          <a:xfrm>
            <a:off x="5148263" y="4914900"/>
            <a:ext cx="4025900" cy="460375"/>
          </a:xfrm>
          <a:prstGeom prst="rect">
            <a:avLst/>
          </a:prstGeom>
          <a:noFill/>
          <a:ln w="9525">
            <a:noFill/>
          </a:ln>
        </p:spPr>
        <p:txBody>
          <a:bodyPr anchor="t" anchorCtr="0">
            <a:spAutoFit/>
          </a:bodyPr>
          <a:p>
            <a:pPr algn="ctr"/>
            <a:r>
              <a:rPr lang="zh-CN" altLang="en-US" sz="2400" b="1" dirty="0">
                <a:solidFill>
                  <a:srgbClr val="17375E"/>
                </a:solidFill>
                <a:latin typeface="Times New Roman" panose="02020503050405090304" pitchFamily="18" charset="0"/>
                <a:ea typeface="宋体" pitchFamily="2" charset="-122"/>
              </a:rPr>
              <a:t>机电工程教研室</a:t>
            </a:r>
            <a:endParaRPr lang="zh-CN" altLang="en-US" sz="2400" b="1" dirty="0">
              <a:solidFill>
                <a:srgbClr val="17375E"/>
              </a:solidFill>
              <a:latin typeface="Times New Roman" panose="02020503050405090304" pitchFamily="18" charset="0"/>
              <a:ea typeface="宋体" pitchFamily="2" charset="-122"/>
            </a:endParaRPr>
          </a:p>
        </p:txBody>
      </p:sp>
      <p:sp>
        <p:nvSpPr>
          <p:cNvPr id="184330" name="TextBox 8"/>
          <p:cNvSpPr txBox="1"/>
          <p:nvPr/>
        </p:nvSpPr>
        <p:spPr>
          <a:xfrm>
            <a:off x="5148263" y="5472113"/>
            <a:ext cx="4025900" cy="460375"/>
          </a:xfrm>
          <a:prstGeom prst="rect">
            <a:avLst/>
          </a:prstGeom>
          <a:noFill/>
          <a:ln w="9525">
            <a:noFill/>
          </a:ln>
        </p:spPr>
        <p:txBody>
          <a:bodyPr anchor="t" anchorCtr="0">
            <a:spAutoFit/>
          </a:bodyPr>
          <a:p>
            <a:pPr algn="ctr"/>
            <a:r>
              <a:rPr lang="zh-CN" altLang="en-US" sz="2400" b="1" dirty="0">
                <a:solidFill>
                  <a:srgbClr val="17375E"/>
                </a:solidFill>
                <a:latin typeface="Times New Roman" panose="02020503050405090304" pitchFamily="18" charset="0"/>
                <a:sym typeface="+mn-ea"/>
              </a:rPr>
              <a:t>孙延才</a:t>
            </a:r>
            <a:r>
              <a:rPr lang="en-US" altLang="zh-CN" sz="2400" b="1" dirty="0">
                <a:solidFill>
                  <a:srgbClr val="17375E"/>
                </a:solidFill>
                <a:latin typeface="Times New Roman" panose="02020503050405090304" pitchFamily="18" charset="0"/>
                <a:sym typeface="+mn-ea"/>
              </a:rPr>
              <a:t>--</a:t>
            </a:r>
            <a:r>
              <a:rPr lang="zh-CN" altLang="en-US" sz="2400" b="1" dirty="0">
                <a:solidFill>
                  <a:srgbClr val="17375E"/>
                </a:solidFill>
                <a:latin typeface="Times New Roman" panose="02020503050405090304" pitchFamily="18" charset="0"/>
                <a:sym typeface="+mn-ea"/>
              </a:rPr>
              <a:t>巡天</a:t>
            </a:r>
            <a:r>
              <a:rPr lang="en-US" altLang="zh-CN" sz="2400" b="1" dirty="0">
                <a:solidFill>
                  <a:srgbClr val="17375E"/>
                </a:solidFill>
                <a:latin typeface="Times New Roman" panose="02020503050405090304" pitchFamily="18" charset="0"/>
                <a:sym typeface="+mn-ea"/>
              </a:rPr>
              <a:t>206</a:t>
            </a:r>
            <a:r>
              <a:rPr lang="en-US" altLang="zh-CN" sz="2400" b="1" dirty="0">
                <a:solidFill>
                  <a:srgbClr val="17375E"/>
                </a:solidFill>
                <a:latin typeface="Times New Roman" panose="02020503050405090304" pitchFamily="18" charset="0"/>
                <a:sym typeface="+mn-ea"/>
              </a:rPr>
              <a:t>B</a:t>
            </a:r>
            <a:endParaRPr lang="en-US" altLang="zh-CN" sz="2400" b="1" dirty="0">
              <a:solidFill>
                <a:srgbClr val="17375E"/>
              </a:solidFill>
              <a:latin typeface="Times New Roman" panose="02020503050405090304" pitchFamily="18" charset="0"/>
              <a:sym typeface="+mn-ea"/>
            </a:endParaRPr>
          </a:p>
        </p:txBody>
      </p:sp>
      <p:sp>
        <p:nvSpPr>
          <p:cNvPr id="184331" name="TextBox 8"/>
          <p:cNvSpPr txBox="1"/>
          <p:nvPr/>
        </p:nvSpPr>
        <p:spPr>
          <a:xfrm>
            <a:off x="5294313" y="5991225"/>
            <a:ext cx="4025900" cy="460375"/>
          </a:xfrm>
          <a:prstGeom prst="rect">
            <a:avLst/>
          </a:prstGeom>
          <a:noFill/>
          <a:ln w="9525">
            <a:noFill/>
          </a:ln>
        </p:spPr>
        <p:txBody>
          <a:bodyPr anchor="t" anchorCtr="0">
            <a:spAutoFit/>
          </a:bodyPr>
          <a:p>
            <a:pPr algn="ctr"/>
            <a:r>
              <a:rPr lang="en-US" altLang="zh-CN" sz="2400" b="1" dirty="0">
                <a:solidFill>
                  <a:srgbClr val="17375E"/>
                </a:solidFill>
                <a:latin typeface="Times New Roman" panose="02020503050405090304" pitchFamily="18" charset="0"/>
                <a:sym typeface="+mn-ea"/>
              </a:rPr>
              <a:t>2024025@guat.edu.cn</a:t>
            </a:r>
            <a:endParaRPr lang="en-US" altLang="zh-CN" sz="2400" b="1" dirty="0">
              <a:solidFill>
                <a:srgbClr val="17375E"/>
              </a:solidFill>
              <a:latin typeface="Times New Roman" panose="02020503050405090304" pitchFamily="18" charset="0"/>
              <a:ea typeface="宋体" pitchFamily="2" charset="-122"/>
            </a:endParaRPr>
          </a:p>
        </p:txBody>
      </p:sp>
      <p:pic>
        <p:nvPicPr>
          <p:cNvPr id="184332" name="内容占位符 2"/>
          <p:cNvPicPr>
            <a:picLocks noGrp="1" noChangeAspect="1"/>
          </p:cNvPicPr>
          <p:nvPr/>
        </p:nvPicPr>
        <p:blipFill>
          <a:blip r:embed="rId3">
            <a:clrChange>
              <a:clrFrom>
                <a:srgbClr val="FFFFFF"/>
              </a:clrFrom>
              <a:clrTo>
                <a:srgbClr val="FFFFFF">
                  <a:alpha val="0"/>
                </a:srgbClr>
              </a:clrTo>
            </a:clrChange>
          </a:blip>
          <a:stretch>
            <a:fillRect/>
          </a:stretch>
        </p:blipFill>
        <p:spPr>
          <a:xfrm>
            <a:off x="7748588" y="11113"/>
            <a:ext cx="1325562" cy="1327150"/>
          </a:xfrm>
          <a:prstGeom prst="rect">
            <a:avLst/>
          </a:prstGeom>
          <a:noFill/>
          <a:ln w="9525">
            <a:noFill/>
          </a:ln>
        </p:spPr>
      </p:pic>
      <p:pic>
        <p:nvPicPr>
          <p:cNvPr id="184333" name="图片 5"/>
          <p:cNvPicPr>
            <a:picLocks noChangeAspect="1"/>
          </p:cNvPicPr>
          <p:nvPr/>
        </p:nvPicPr>
        <p:blipFill>
          <a:blip r:embed="rId4">
            <a:clrChange>
              <a:clrFrom>
                <a:srgbClr val="FFFFFF"/>
              </a:clrFrom>
              <a:clrTo>
                <a:srgbClr val="FFFFFF">
                  <a:alpha val="0"/>
                </a:srgbClr>
              </a:clrTo>
            </a:clrChange>
          </a:blip>
          <a:srcRect b="13062"/>
          <a:stretch>
            <a:fillRect/>
          </a:stretch>
        </p:blipFill>
        <p:spPr>
          <a:xfrm>
            <a:off x="679450" y="138113"/>
            <a:ext cx="1295400" cy="1073150"/>
          </a:xfrm>
          <a:prstGeom prst="rect">
            <a:avLst/>
          </a:prstGeom>
          <a:noFill/>
          <a:ln w="9525">
            <a:noFill/>
          </a:ln>
        </p:spPr>
      </p:pic>
      <p:sp>
        <p:nvSpPr>
          <p:cNvPr id="184334" name="任意多边形 22"/>
          <p:cNvSpPr/>
          <p:nvPr/>
        </p:nvSpPr>
        <p:spPr>
          <a:xfrm>
            <a:off x="3717925" y="1057275"/>
            <a:ext cx="601663" cy="585788"/>
          </a:xfrm>
          <a:custGeom>
            <a:avLst/>
            <a:gdLst/>
            <a:ahLst/>
            <a:cxnLst>
              <a:cxn ang="0">
                <a:pos x="0" y="101506"/>
              </a:cxn>
              <a:cxn ang="0">
                <a:pos x="56303" y="100419"/>
              </a:cxn>
              <a:cxn ang="0">
                <a:pos x="84455" y="81943"/>
              </a:cxn>
              <a:cxn ang="0">
                <a:pos x="106351" y="183017"/>
              </a:cxn>
              <a:cxn ang="0">
                <a:pos x="125118" y="432"/>
              </a:cxn>
              <a:cxn ang="0">
                <a:pos x="147014" y="130850"/>
              </a:cxn>
              <a:cxn ang="0">
                <a:pos x="165782" y="84117"/>
              </a:cxn>
              <a:cxn ang="0">
                <a:pos x="182985" y="99332"/>
              </a:cxn>
              <a:cxn ang="0">
                <a:pos x="193933" y="89551"/>
              </a:cxn>
              <a:cxn ang="0">
                <a:pos x="204881" y="94985"/>
              </a:cxn>
              <a:cxn ang="0">
                <a:pos x="223649" y="87377"/>
              </a:cxn>
              <a:cxn ang="0">
                <a:pos x="236160" y="96072"/>
              </a:cxn>
              <a:cxn ang="0">
                <a:pos x="248673" y="97158"/>
              </a:cxn>
              <a:cxn ang="0">
                <a:pos x="248673" y="97158"/>
              </a:cxn>
            </a:cxnLst>
            <a:pathLst>
              <a:path w="807720" h="861325">
                <a:moveTo>
                  <a:pt x="0" y="474460"/>
                </a:moveTo>
                <a:cubicBezTo>
                  <a:pt x="68580" y="479540"/>
                  <a:pt x="137160" y="484620"/>
                  <a:pt x="182880" y="469380"/>
                </a:cubicBezTo>
                <a:cubicBezTo>
                  <a:pt x="228600" y="454140"/>
                  <a:pt x="247227" y="318673"/>
                  <a:pt x="274320" y="383020"/>
                </a:cubicBezTo>
                <a:cubicBezTo>
                  <a:pt x="301413" y="447367"/>
                  <a:pt x="323427" y="918960"/>
                  <a:pt x="345440" y="855460"/>
                </a:cubicBezTo>
                <a:cubicBezTo>
                  <a:pt x="367453" y="791960"/>
                  <a:pt x="384387" y="42660"/>
                  <a:pt x="406400" y="2020"/>
                </a:cubicBezTo>
                <a:cubicBezTo>
                  <a:pt x="428413" y="-38620"/>
                  <a:pt x="455507" y="546427"/>
                  <a:pt x="477520" y="611620"/>
                </a:cubicBezTo>
                <a:cubicBezTo>
                  <a:pt x="499533" y="676813"/>
                  <a:pt x="519007" y="417733"/>
                  <a:pt x="538480" y="393180"/>
                </a:cubicBezTo>
                <a:cubicBezTo>
                  <a:pt x="557953" y="368627"/>
                  <a:pt x="579120" y="460067"/>
                  <a:pt x="594360" y="464300"/>
                </a:cubicBezTo>
                <a:cubicBezTo>
                  <a:pt x="609600" y="468533"/>
                  <a:pt x="618067" y="421967"/>
                  <a:pt x="629920" y="418580"/>
                </a:cubicBezTo>
                <a:cubicBezTo>
                  <a:pt x="641773" y="415193"/>
                  <a:pt x="649393" y="445673"/>
                  <a:pt x="665480" y="443980"/>
                </a:cubicBezTo>
                <a:cubicBezTo>
                  <a:pt x="681567" y="442287"/>
                  <a:pt x="709507" y="407573"/>
                  <a:pt x="726440" y="408420"/>
                </a:cubicBezTo>
                <a:cubicBezTo>
                  <a:pt x="743373" y="409267"/>
                  <a:pt x="753533" y="441440"/>
                  <a:pt x="767080" y="449060"/>
                </a:cubicBezTo>
                <a:cubicBezTo>
                  <a:pt x="780627" y="456680"/>
                  <a:pt x="807720" y="454140"/>
                  <a:pt x="807720" y="454140"/>
                </a:cubicBezTo>
              </a:path>
            </a:pathLst>
          </a:custGeom>
          <a:noFill/>
          <a:ln w="28575" cap="flat" cmpd="sng">
            <a:solidFill>
              <a:schemeClr val="bg1"/>
            </a:solidFill>
            <a:prstDash val="solid"/>
            <a:round/>
            <a:headEnd type="none" w="med" len="med"/>
            <a:tailEnd type="none" w="med" len="med"/>
          </a:ln>
        </p:spPr>
        <p:txBody>
          <a:bodyPr/>
          <a:p>
            <a:endParaRPr lang="zh-CN" altLang="en-US"/>
          </a:p>
        </p:txBody>
      </p:sp>
    </p:spTree>
  </p:cSld>
  <p:clrMapOvr>
    <a:masterClrMapping/>
  </p:clrMapOvr>
  <p:transition advTm="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14339" name="Rectangle 3"/>
          <p:cNvSpPr>
            <a:spLocks noGrp="1" noChangeArrowheads="1"/>
          </p:cNvSpPr>
          <p:nvPr>
            <p:ph type="body" idx="1"/>
          </p:nvPr>
        </p:nvSpPr>
        <p:spPr>
          <a:xfrm>
            <a:off x="228600" y="1284288"/>
            <a:ext cx="8763000" cy="5403850"/>
          </a:xfrm>
        </p:spPr>
        <p:txBody>
          <a:bodyPr vert="horz" wrap="square" lIns="91440" tIns="45720" rIns="91440" bIns="45720" numCol="1" anchor="t" anchorCtr="0" compatLnSpc="1"/>
          <a:lstStyle/>
          <a:p>
            <a:pPr marL="342900" marR="0" lvl="0" indent="-342900" algn="l" defTabSz="425450" rtl="0" eaLnBrk="0" fontAlgn="base" latinLnBrk="0" hangingPunct="0">
              <a:lnSpc>
                <a:spcPct val="130000"/>
              </a:lnSpc>
              <a:spcBef>
                <a:spcPct val="20000"/>
              </a:spcBef>
              <a:spcAft>
                <a:spcPct val="0"/>
              </a:spcAft>
              <a:buClr>
                <a:schemeClr val="folHlink"/>
              </a:buClr>
              <a:buSzTx/>
              <a:buFont typeface="Wingdings" panose="05000000000000000000" pitchFamily="2" charset="2"/>
              <a:buChar char="v"/>
              <a:defRPr/>
            </a:pPr>
            <a:r>
              <a:rPr kumimoji="0" lang="zh-CN" altLang="en-US" sz="2800" b="1" i="0" u="none" strike="noStrike" kern="0" cap="none" spc="0" normalizeH="0" baseline="0" noProof="0" dirty="0" smtClean="0">
                <a:ln>
                  <a:noFill/>
                </a:ln>
                <a:solidFill>
                  <a:srgbClr val="FF6600"/>
                </a:solidFill>
                <a:effectLst>
                  <a:outerShdw blurRad="38100" dist="38100" dir="2700000" algn="tl">
                    <a:srgbClr val="000000"/>
                  </a:outerShdw>
                </a:effectLst>
                <a:uLnTx/>
                <a:uFillTx/>
                <a:latin typeface="+mn-lt"/>
                <a:ea typeface="+mn-ea"/>
                <a:cs typeface="+mn-cs"/>
              </a:rPr>
              <a:t>3-1   指令系统概述</a:t>
            </a:r>
            <a:endParaRPr kumimoji="0" lang="zh-CN" altLang="en-US" sz="2800" b="1" i="0" u="none" strike="noStrike" kern="0" cap="none" spc="0" normalizeH="0" baseline="0" noProof="0" dirty="0" smtClean="0">
              <a:ln>
                <a:noFill/>
              </a:ln>
              <a:solidFill>
                <a:srgbClr val="FF6600"/>
              </a:solidFill>
              <a:effectLst>
                <a:outerShdw blurRad="38100" dist="38100" dir="2700000" algn="tl">
                  <a:srgbClr val="000000"/>
                </a:outerShdw>
              </a:effectLst>
              <a:uLnTx/>
              <a:uFillTx/>
              <a:latin typeface="+mn-lt"/>
              <a:ea typeface="+mn-ea"/>
              <a:cs typeface="+mn-cs"/>
            </a:endParaRPr>
          </a:p>
          <a:p>
            <a:pPr marL="342900" marR="0" lvl="0" indent="-342900" algn="l" defTabSz="425450" rtl="0" eaLnBrk="0" fontAlgn="base" latinLnBrk="0" hangingPunct="0">
              <a:lnSpc>
                <a:spcPct val="130000"/>
              </a:lnSpc>
              <a:spcBef>
                <a:spcPct val="20000"/>
              </a:spcBef>
              <a:spcAft>
                <a:spcPct val="0"/>
              </a:spcAft>
              <a:buClr>
                <a:schemeClr val="folHlink"/>
              </a:buClr>
              <a:buSzTx/>
              <a:buFont typeface="Wingdings" panose="05000000000000000000" pitchFamily="2" charset="2"/>
              <a:buChar char="v"/>
              <a:defRPr/>
            </a:pPr>
            <a:r>
              <a:rPr kumimoji="0" lang="zh-CN" altLang="en-US" sz="2800" b="1" i="0" u="none" strike="noStrike" kern="0" cap="none" spc="0" normalizeH="0" baseline="0" noProof="0" dirty="0" smtClean="0">
                <a:ln>
                  <a:noFill/>
                </a:ln>
                <a:solidFill>
                  <a:srgbClr val="FF6600"/>
                </a:solidFill>
                <a:effectLst>
                  <a:outerShdw blurRad="38100" dist="38100" dir="2700000" algn="tl">
                    <a:srgbClr val="000000"/>
                  </a:outerShdw>
                </a:effectLst>
                <a:uLnTx/>
                <a:uFillTx/>
                <a:latin typeface="+mn-lt"/>
                <a:ea typeface="+mn-ea"/>
                <a:cs typeface="+mn-cs"/>
              </a:rPr>
              <a:t>3-2   寻址方式</a:t>
            </a:r>
            <a:endParaRPr kumimoji="0" lang="zh-CN" altLang="en-US" sz="2800" b="1" i="0" u="none" strike="noStrike" kern="0" cap="none" spc="0" normalizeH="0" baseline="0" noProof="0" dirty="0" smtClean="0">
              <a:ln>
                <a:noFill/>
              </a:ln>
              <a:solidFill>
                <a:srgbClr val="FF6600"/>
              </a:solidFill>
              <a:effectLst>
                <a:outerShdw blurRad="38100" dist="38100" dir="2700000" algn="tl">
                  <a:srgbClr val="000000"/>
                </a:outerShdw>
              </a:effectLst>
              <a:uLnTx/>
              <a:uFillTx/>
              <a:latin typeface="+mn-lt"/>
              <a:ea typeface="+mn-ea"/>
              <a:cs typeface="+mn-cs"/>
            </a:endParaRPr>
          </a:p>
          <a:p>
            <a:pPr marL="342900" marR="0" lvl="0" indent="-342900" algn="l" defTabSz="425450" rtl="0" eaLnBrk="0" fontAlgn="base" latinLnBrk="0" hangingPunct="0">
              <a:lnSpc>
                <a:spcPct val="130000"/>
              </a:lnSpc>
              <a:spcBef>
                <a:spcPct val="20000"/>
              </a:spcBef>
              <a:spcAft>
                <a:spcPct val="0"/>
              </a:spcAft>
              <a:buClr>
                <a:schemeClr val="folHlink"/>
              </a:buClr>
              <a:buSzTx/>
              <a:buFont typeface="Wingdings" panose="05000000000000000000" pitchFamily="2" charset="2"/>
              <a:buChar char="v"/>
              <a:defRPr/>
            </a:pPr>
            <a:r>
              <a:rPr kumimoji="0" lang="zh-CN" altLang="en-US" sz="2800" b="1" i="0" u="none" strike="noStrike" kern="0" cap="none" spc="0" normalizeH="0" baseline="0" noProof="0" dirty="0" smtClean="0">
                <a:ln>
                  <a:noFill/>
                </a:ln>
                <a:solidFill>
                  <a:srgbClr val="FF6600"/>
                </a:solidFill>
                <a:effectLst>
                  <a:outerShdw blurRad="38100" dist="38100" dir="2700000" algn="tl">
                    <a:srgbClr val="000000"/>
                  </a:outerShdw>
                </a:effectLst>
                <a:uLnTx/>
                <a:uFillTx/>
                <a:latin typeface="+mn-lt"/>
                <a:ea typeface="+mn-ea"/>
                <a:cs typeface="+mn-cs"/>
              </a:rPr>
              <a:t>3-</a:t>
            </a:r>
            <a:r>
              <a:rPr kumimoji="0" lang="en-US" altLang="zh-CN" sz="2800" b="1" i="0" u="none" strike="noStrike" kern="0" cap="none" spc="0" normalizeH="0" baseline="0" noProof="0" dirty="0" smtClean="0">
                <a:ln>
                  <a:noFill/>
                </a:ln>
                <a:solidFill>
                  <a:srgbClr val="FF6600"/>
                </a:solidFill>
                <a:effectLst>
                  <a:outerShdw blurRad="38100" dist="38100" dir="2700000" algn="tl">
                    <a:srgbClr val="000000"/>
                  </a:outerShdw>
                </a:effectLst>
                <a:uLnTx/>
                <a:uFillTx/>
                <a:latin typeface="+mn-lt"/>
                <a:ea typeface="+mn-ea"/>
                <a:cs typeface="+mn-cs"/>
              </a:rPr>
              <a:t>3</a:t>
            </a:r>
            <a:r>
              <a:rPr kumimoji="0" lang="zh-CN" altLang="en-US" sz="2800" b="1" i="0" u="none" strike="noStrike" kern="0" cap="none" spc="0" normalizeH="0" baseline="0" noProof="0" dirty="0" smtClean="0">
                <a:ln>
                  <a:noFill/>
                </a:ln>
                <a:solidFill>
                  <a:srgbClr val="FF6600"/>
                </a:solidFill>
                <a:effectLst>
                  <a:outerShdw blurRad="38100" dist="38100" dir="2700000" algn="tl">
                    <a:srgbClr val="000000"/>
                  </a:outerShdw>
                </a:effectLst>
                <a:uLnTx/>
                <a:uFillTx/>
                <a:latin typeface="+mn-lt"/>
                <a:ea typeface="+mn-ea"/>
                <a:cs typeface="+mn-cs"/>
              </a:rPr>
              <a:t>  数据传送指令</a:t>
            </a:r>
            <a:endParaRPr kumimoji="0" lang="zh-CN" altLang="en-US" sz="2800" b="1" i="0" u="none" strike="noStrike" kern="0" cap="none" spc="0" normalizeH="0" baseline="0" noProof="0" dirty="0" smtClean="0">
              <a:ln>
                <a:noFill/>
              </a:ln>
              <a:solidFill>
                <a:srgbClr val="FF6600"/>
              </a:solidFill>
              <a:effectLst>
                <a:outerShdw blurRad="38100" dist="38100" dir="2700000" algn="tl">
                  <a:srgbClr val="000000"/>
                </a:outerShdw>
              </a:effectLst>
              <a:uLnTx/>
              <a:uFillTx/>
              <a:latin typeface="+mn-lt"/>
              <a:ea typeface="+mn-ea"/>
              <a:cs typeface="+mn-cs"/>
            </a:endParaRPr>
          </a:p>
          <a:p>
            <a:pPr marL="342900" marR="0" lvl="0" indent="-342900" algn="l" defTabSz="425450" rtl="0" eaLnBrk="0" fontAlgn="base" latinLnBrk="0" hangingPunct="0">
              <a:lnSpc>
                <a:spcPct val="130000"/>
              </a:lnSpc>
              <a:spcBef>
                <a:spcPct val="20000"/>
              </a:spcBef>
              <a:spcAft>
                <a:spcPct val="0"/>
              </a:spcAft>
              <a:buClr>
                <a:schemeClr val="folHlink"/>
              </a:buClr>
              <a:buSzTx/>
              <a:buFont typeface="Wingdings" panose="05000000000000000000" pitchFamily="2" charset="2"/>
              <a:buChar char="v"/>
              <a:defRPr/>
            </a:pPr>
            <a:r>
              <a:rPr kumimoji="0" lang="zh-CN" altLang="en-US" sz="2800" b="1" i="0" u="none" strike="noStrike" kern="0" cap="none" spc="0" normalizeH="0" baseline="0" noProof="0" dirty="0" smtClean="0">
                <a:ln>
                  <a:noFill/>
                </a:ln>
                <a:solidFill>
                  <a:srgbClr val="FF6600"/>
                </a:solidFill>
                <a:effectLst>
                  <a:outerShdw blurRad="38100" dist="38100" dir="2700000" algn="tl">
                    <a:srgbClr val="000000"/>
                  </a:outerShdw>
                </a:effectLst>
                <a:uLnTx/>
                <a:uFillTx/>
                <a:latin typeface="+mn-lt"/>
                <a:ea typeface="+mn-ea"/>
                <a:cs typeface="+mn-cs"/>
              </a:rPr>
              <a:t>3-</a:t>
            </a:r>
            <a:r>
              <a:rPr kumimoji="0" lang="en-US" altLang="zh-CN" sz="2800" b="1" i="0" u="none" strike="noStrike" kern="0" cap="none" spc="0" normalizeH="0" baseline="0" noProof="0" dirty="0" smtClean="0">
                <a:ln>
                  <a:noFill/>
                </a:ln>
                <a:solidFill>
                  <a:srgbClr val="FF6600"/>
                </a:solidFill>
                <a:effectLst>
                  <a:outerShdw blurRad="38100" dist="38100" dir="2700000" algn="tl">
                    <a:srgbClr val="000000"/>
                  </a:outerShdw>
                </a:effectLst>
                <a:uLnTx/>
                <a:uFillTx/>
                <a:latin typeface="+mn-lt"/>
                <a:ea typeface="+mn-ea"/>
                <a:cs typeface="+mn-cs"/>
              </a:rPr>
              <a:t>4</a:t>
            </a:r>
            <a:r>
              <a:rPr kumimoji="0" lang="zh-CN" altLang="en-US" sz="2800" b="1" i="0" u="none" strike="noStrike" kern="0" cap="none" spc="0" normalizeH="0" baseline="0" noProof="0" dirty="0" smtClean="0">
                <a:ln>
                  <a:noFill/>
                </a:ln>
                <a:solidFill>
                  <a:srgbClr val="FF6600"/>
                </a:solidFill>
                <a:effectLst>
                  <a:outerShdw blurRad="38100" dist="38100" dir="2700000" algn="tl">
                    <a:srgbClr val="000000"/>
                  </a:outerShdw>
                </a:effectLst>
                <a:uLnTx/>
                <a:uFillTx/>
                <a:latin typeface="+mn-lt"/>
                <a:ea typeface="+mn-ea"/>
                <a:cs typeface="+mn-cs"/>
              </a:rPr>
              <a:t>  算术运算指令</a:t>
            </a:r>
            <a:endParaRPr kumimoji="0" lang="zh-CN" altLang="en-US" sz="2800" b="1" i="0" u="none" strike="noStrike" kern="0" cap="none" spc="0" normalizeH="0" baseline="0" noProof="0" dirty="0" smtClean="0">
              <a:ln>
                <a:noFill/>
              </a:ln>
              <a:solidFill>
                <a:srgbClr val="FF6600"/>
              </a:solidFill>
              <a:effectLst>
                <a:outerShdw blurRad="38100" dist="38100" dir="2700000" algn="tl">
                  <a:srgbClr val="000000"/>
                </a:outerShdw>
              </a:effectLst>
              <a:uLnTx/>
              <a:uFillTx/>
              <a:latin typeface="+mn-lt"/>
              <a:ea typeface="+mn-ea"/>
              <a:cs typeface="+mn-cs"/>
            </a:endParaRPr>
          </a:p>
          <a:p>
            <a:pPr marL="342900" marR="0" lvl="0" indent="-342900" algn="l" defTabSz="425450" rtl="0" eaLnBrk="0" fontAlgn="base" latinLnBrk="0" hangingPunct="0">
              <a:lnSpc>
                <a:spcPct val="130000"/>
              </a:lnSpc>
              <a:spcBef>
                <a:spcPct val="20000"/>
              </a:spcBef>
              <a:spcAft>
                <a:spcPct val="0"/>
              </a:spcAft>
              <a:buClr>
                <a:schemeClr val="folHlink"/>
              </a:buClr>
              <a:buSzTx/>
              <a:buFont typeface="Wingdings" panose="05000000000000000000" pitchFamily="2" charset="2"/>
              <a:buChar char="v"/>
              <a:defRPr/>
            </a:pPr>
            <a:r>
              <a:rPr kumimoji="0" lang="zh-CN" altLang="en-US" sz="2800" b="1" i="0" u="none" strike="noStrike" kern="0" cap="none" spc="0" normalizeH="0" baseline="0" noProof="0" dirty="0" smtClean="0">
                <a:ln>
                  <a:noFill/>
                </a:ln>
                <a:solidFill>
                  <a:srgbClr val="FF6600"/>
                </a:solidFill>
                <a:effectLst>
                  <a:outerShdw blurRad="38100" dist="38100" dir="2700000" algn="tl">
                    <a:srgbClr val="000000"/>
                  </a:outerShdw>
                </a:effectLst>
                <a:uLnTx/>
                <a:uFillTx/>
                <a:latin typeface="+mn-lt"/>
                <a:ea typeface="+mn-ea"/>
                <a:cs typeface="+mn-cs"/>
              </a:rPr>
              <a:t>3-</a:t>
            </a:r>
            <a:r>
              <a:rPr kumimoji="0" lang="en-US" altLang="zh-CN" sz="2800" b="1" i="0" u="none" strike="noStrike" kern="0" cap="none" spc="0" normalizeH="0" baseline="0" noProof="0" dirty="0" smtClean="0">
                <a:ln>
                  <a:noFill/>
                </a:ln>
                <a:solidFill>
                  <a:srgbClr val="FF6600"/>
                </a:solidFill>
                <a:effectLst>
                  <a:outerShdw blurRad="38100" dist="38100" dir="2700000" algn="tl">
                    <a:srgbClr val="000000"/>
                  </a:outerShdw>
                </a:effectLst>
                <a:uLnTx/>
                <a:uFillTx/>
                <a:latin typeface="+mn-lt"/>
                <a:ea typeface="+mn-ea"/>
                <a:cs typeface="+mn-cs"/>
              </a:rPr>
              <a:t>5</a:t>
            </a:r>
            <a:r>
              <a:rPr kumimoji="0" lang="zh-CN" altLang="en-US" sz="2800" b="1" i="0" u="none" strike="noStrike" kern="0" cap="none" spc="0" normalizeH="0" baseline="0" noProof="0" dirty="0" smtClean="0">
                <a:ln>
                  <a:noFill/>
                </a:ln>
                <a:solidFill>
                  <a:srgbClr val="FF6600"/>
                </a:solidFill>
                <a:effectLst>
                  <a:outerShdw blurRad="38100" dist="38100" dir="2700000" algn="tl">
                    <a:srgbClr val="000000"/>
                  </a:outerShdw>
                </a:effectLst>
                <a:uLnTx/>
                <a:uFillTx/>
                <a:latin typeface="+mn-lt"/>
                <a:ea typeface="+mn-ea"/>
                <a:cs typeface="+mn-cs"/>
              </a:rPr>
              <a:t>  逻辑运算指令</a:t>
            </a:r>
            <a:endParaRPr kumimoji="0" lang="zh-CN" altLang="en-US" sz="2800" b="1" i="0" u="none" strike="noStrike" kern="0" cap="none" spc="0" normalizeH="0" baseline="0" noProof="0" dirty="0" smtClean="0">
              <a:ln>
                <a:noFill/>
              </a:ln>
              <a:solidFill>
                <a:srgbClr val="FF6600"/>
              </a:solidFill>
              <a:effectLst>
                <a:outerShdw blurRad="38100" dist="38100" dir="2700000" algn="tl">
                  <a:srgbClr val="000000"/>
                </a:outerShdw>
              </a:effectLst>
              <a:uLnTx/>
              <a:uFillTx/>
              <a:latin typeface="+mn-lt"/>
              <a:ea typeface="+mn-ea"/>
              <a:cs typeface="+mn-cs"/>
            </a:endParaRPr>
          </a:p>
          <a:p>
            <a:pPr marL="342900" marR="0" lvl="0" indent="-342900" algn="l" defTabSz="425450" rtl="0" eaLnBrk="0" fontAlgn="base" latinLnBrk="0" hangingPunct="0">
              <a:lnSpc>
                <a:spcPct val="130000"/>
              </a:lnSpc>
              <a:spcBef>
                <a:spcPct val="20000"/>
              </a:spcBef>
              <a:spcAft>
                <a:spcPct val="0"/>
              </a:spcAft>
              <a:buClr>
                <a:schemeClr val="folHlink"/>
              </a:buClr>
              <a:buSzTx/>
              <a:buFont typeface="Wingdings" panose="05000000000000000000" pitchFamily="2" charset="2"/>
              <a:buChar char="v"/>
              <a:defRPr/>
            </a:pPr>
            <a:r>
              <a:rPr kumimoji="0" lang="zh-CN" altLang="en-US" sz="2800" b="1" i="0" u="none" strike="noStrike" kern="0" cap="none" spc="0" normalizeH="0" baseline="0" noProof="0" dirty="0" smtClean="0">
                <a:ln>
                  <a:noFill/>
                </a:ln>
                <a:solidFill>
                  <a:srgbClr val="FF6600"/>
                </a:solidFill>
                <a:effectLst>
                  <a:outerShdw blurRad="38100" dist="38100" dir="2700000" algn="tl">
                    <a:srgbClr val="000000"/>
                  </a:outerShdw>
                </a:effectLst>
                <a:uLnTx/>
                <a:uFillTx/>
                <a:latin typeface="+mn-lt"/>
                <a:ea typeface="+mn-ea"/>
                <a:cs typeface="+mn-cs"/>
              </a:rPr>
              <a:t>3-6   </a:t>
            </a:r>
            <a:r>
              <a:rPr kumimoji="0" lang="zh-CN" altLang="en-US" sz="2800" b="1" i="0" u="none" strike="noStrike" kern="0" cap="none" spc="0" normalizeH="0" baseline="0" noProof="0" dirty="0" smtClean="0">
                <a:ln>
                  <a:noFill/>
                </a:ln>
                <a:solidFill>
                  <a:srgbClr val="FF6600"/>
                </a:solidFill>
                <a:effectLst>
                  <a:outerShdw blurRad="38100" dist="38100" dir="2700000" algn="tl">
                    <a:srgbClr val="000000"/>
                  </a:outerShdw>
                </a:effectLst>
                <a:uLnTx/>
                <a:uFillTx/>
                <a:latin typeface="+mn-lt"/>
                <a:ea typeface="+mn-ea"/>
                <a:cs typeface="+mn-cs"/>
                <a:sym typeface="+mn-ea"/>
              </a:rPr>
              <a:t>控制转移指令</a:t>
            </a:r>
            <a:endParaRPr kumimoji="0" lang="zh-CN" altLang="en-US" sz="2800" b="1" i="0" u="none" strike="noStrike" kern="0" cap="none" spc="0" normalizeH="0" baseline="0" noProof="0" dirty="0" smtClean="0">
              <a:ln>
                <a:noFill/>
              </a:ln>
              <a:solidFill>
                <a:srgbClr val="FF6600"/>
              </a:solidFill>
              <a:effectLst>
                <a:outerShdw blurRad="38100" dist="38100" dir="2700000" algn="tl">
                  <a:srgbClr val="000000"/>
                </a:outerShdw>
              </a:effectLst>
              <a:uLnTx/>
              <a:uFillTx/>
              <a:latin typeface="+mn-lt"/>
              <a:ea typeface="+mn-ea"/>
              <a:cs typeface="+mn-cs"/>
              <a:sym typeface="+mn-ea"/>
            </a:endParaRPr>
          </a:p>
          <a:p>
            <a:pPr marL="342900" marR="0" lvl="0" indent="-342900" algn="l" defTabSz="425450" rtl="0" eaLnBrk="0" fontAlgn="base" latinLnBrk="0" hangingPunct="0">
              <a:lnSpc>
                <a:spcPct val="130000"/>
              </a:lnSpc>
              <a:spcBef>
                <a:spcPct val="20000"/>
              </a:spcBef>
              <a:spcAft>
                <a:spcPct val="0"/>
              </a:spcAft>
              <a:buClr>
                <a:schemeClr val="folHlink"/>
              </a:buClr>
              <a:buSzTx/>
              <a:buFont typeface="Wingdings" panose="05000000000000000000" pitchFamily="2" charset="2"/>
              <a:buChar char="v"/>
              <a:defRPr/>
            </a:pPr>
            <a:r>
              <a:rPr kumimoji="0" lang="zh-CN" altLang="en-US" sz="2800" b="1" i="0" u="none" strike="noStrike" kern="0" cap="none" spc="0" normalizeH="0" baseline="0" noProof="0" dirty="0" smtClean="0">
                <a:ln>
                  <a:noFill/>
                </a:ln>
                <a:solidFill>
                  <a:srgbClr val="FF6600"/>
                </a:solidFill>
                <a:effectLst>
                  <a:outerShdw blurRad="38100" dist="38100" dir="2700000" algn="tl">
                    <a:srgbClr val="000000"/>
                  </a:outerShdw>
                </a:effectLst>
                <a:uLnTx/>
                <a:uFillTx/>
                <a:latin typeface="+mn-lt"/>
                <a:ea typeface="+mn-ea"/>
                <a:cs typeface="+mn-cs"/>
              </a:rPr>
              <a:t>3-7  </a:t>
            </a:r>
            <a:r>
              <a:rPr kumimoji="0" lang="zh-CN" altLang="en-US" sz="2800" b="1" i="0" u="none" strike="noStrike" kern="0" cap="none" spc="0" normalizeH="0" baseline="0" noProof="0" dirty="0" smtClean="0">
                <a:ln>
                  <a:noFill/>
                </a:ln>
                <a:solidFill>
                  <a:srgbClr val="FF6600"/>
                </a:solidFill>
                <a:effectLst>
                  <a:outerShdw blurRad="38100" dist="38100" dir="2700000" algn="tl">
                    <a:srgbClr val="000000"/>
                  </a:outerShdw>
                </a:effectLst>
                <a:uLnTx/>
                <a:uFillTx/>
                <a:latin typeface="+mn-lt"/>
                <a:ea typeface="+mn-ea"/>
                <a:cs typeface="+mn-cs"/>
                <a:sym typeface="+mn-ea"/>
              </a:rPr>
              <a:t>位操作指令</a:t>
            </a:r>
            <a:endParaRPr kumimoji="0" lang="zh-CN" altLang="en-US" sz="2800" b="1" i="0" u="none" strike="noStrike" kern="0" cap="none" spc="0" normalizeH="0" baseline="0" noProof="0" dirty="0" smtClean="0">
              <a:ln>
                <a:noFill/>
              </a:ln>
              <a:solidFill>
                <a:srgbClr val="FF6600"/>
              </a:solidFill>
              <a:effectLst>
                <a:outerShdw blurRad="38100" dist="38100" dir="2700000" algn="tl">
                  <a:srgbClr val="000000"/>
                </a:outerShdw>
              </a:effectLst>
              <a:uLnTx/>
              <a:uFillTx/>
              <a:latin typeface="+mn-lt"/>
              <a:ea typeface="+mn-ea"/>
              <a:cs typeface="+mn-cs"/>
            </a:endParaRPr>
          </a:p>
          <a:p>
            <a:pPr marL="342900" marR="0" lvl="0" indent="-342900" algn="l" defTabSz="425450" rtl="0" eaLnBrk="0" fontAlgn="base" latinLnBrk="0" hangingPunct="0">
              <a:lnSpc>
                <a:spcPct val="130000"/>
              </a:lnSpc>
              <a:spcBef>
                <a:spcPct val="20000"/>
              </a:spcBef>
              <a:spcAft>
                <a:spcPct val="0"/>
              </a:spcAft>
              <a:buClr>
                <a:schemeClr val="folHlink"/>
              </a:buClr>
              <a:buSzTx/>
              <a:buFont typeface="Wingdings" panose="05000000000000000000" pitchFamily="2" charset="2"/>
              <a:buChar char="v"/>
              <a:defRPr/>
            </a:pPr>
            <a:endParaRPr kumimoji="1" lang="zh-CN" altLang="en-US" sz="2800" b="1" i="0" u="none" strike="noStrike" kern="0" cap="none" spc="0" normalizeH="0" baseline="0" noProof="0" dirty="0" smtClean="0">
              <a:ln>
                <a:noFill/>
              </a:ln>
              <a:solidFill>
                <a:schemeClr val="accent1"/>
              </a:solidFill>
              <a:effectLst/>
              <a:uLnTx/>
              <a:uFillTx/>
              <a:latin typeface="+mn-lt"/>
              <a:ea typeface="+mn-ea"/>
              <a:cs typeface="+mn-cs"/>
            </a:endParaRPr>
          </a:p>
        </p:txBody>
      </p:sp>
      <p:sp>
        <p:nvSpPr>
          <p:cNvPr id="4" name="矩形 3">
            <a:hlinkClick r:id="rId1" action="ppaction://hlinkfile"/>
          </p:cNvPr>
          <p:cNvSpPr/>
          <p:nvPr/>
        </p:nvSpPr>
        <p:spPr>
          <a:xfrm>
            <a:off x="5915660" y="1628775"/>
            <a:ext cx="1612900" cy="521970"/>
          </a:xfrm>
          <a:prstGeom prst="rect">
            <a:avLst/>
          </a:prstGeom>
          <a:noFill/>
          <a:ln>
            <a:noFill/>
          </a:ln>
        </p:spPr>
        <p:txBody>
          <a:bodyPr wrap="none" rtlCol="0" anchor="t">
            <a:spAutoFit/>
          </a:bodyPr>
          <a:p>
            <a:pPr algn="ctr"/>
            <a:r>
              <a:rPr lang="zh-CN" altLang="en-US" sz="2800">
                <a:solidFill>
                  <a:srgbClr val="FF0000"/>
                </a:solidFill>
                <a:effectLst>
                  <a:outerShdw blurRad="38100" dist="25400" dir="5400000" algn="ctr" rotWithShape="0">
                    <a:srgbClr val="6E747A">
                      <a:alpha val="43000"/>
                      <a:alpha val="43000"/>
                    </a:srgbClr>
                  </a:outerShdw>
                </a:effectLst>
              </a:rPr>
              <a:t>上节回顾</a:t>
            </a:r>
            <a:endParaRPr lang="zh-CN" altLang="en-US" sz="2800">
              <a:solidFill>
                <a:srgbClr val="FF0000"/>
              </a:solidFill>
              <a:effectLst>
                <a:outerShdw blurRad="38100" dist="25400" dir="5400000" algn="ctr" rotWithShape="0">
                  <a:srgbClr val="6E747A">
                    <a:alpha val="43000"/>
                    <a:alpha val="43000"/>
                  </a:srgbClr>
                </a:outerShdw>
              </a:effectLst>
            </a:endParaRPr>
          </a:p>
        </p:txBody>
      </p:sp>
      <p:sp>
        <p:nvSpPr>
          <p:cNvPr id="2" name="矩形 1"/>
          <p:cNvSpPr/>
          <p:nvPr/>
        </p:nvSpPr>
        <p:spPr>
          <a:xfrm>
            <a:off x="6012180" y="2204720"/>
            <a:ext cx="1612900" cy="521970"/>
          </a:xfrm>
          <a:prstGeom prst="rect">
            <a:avLst/>
          </a:prstGeom>
          <a:noFill/>
          <a:ln>
            <a:noFill/>
          </a:ln>
        </p:spPr>
        <p:txBody>
          <a:bodyPr wrap="none" rtlCol="0" anchor="t">
            <a:spAutoFit/>
          </a:bodyPr>
          <a:p>
            <a:pPr algn="ctr"/>
            <a:r>
              <a:rPr lang="zh-CN" altLang="en-US" sz="2800">
                <a:solidFill>
                  <a:schemeClr val="accent1"/>
                </a:solidFill>
                <a:effectLst>
                  <a:outerShdw blurRad="38100" dist="25400" dir="5400000" algn="ctr" rotWithShape="0">
                    <a:srgbClr val="6E747A">
                      <a:alpha val="43000"/>
                      <a:alpha val="43000"/>
                    </a:srgbClr>
                  </a:outerShdw>
                </a:effectLst>
                <a:hlinkClick r:id="rId2" action="ppaction://hlinkfile"/>
              </a:rPr>
              <a:t>上节回顾</a:t>
            </a:r>
            <a:endParaRPr lang="zh-CN" altLang="en-US" sz="2800">
              <a:solidFill>
                <a:schemeClr val="accent1"/>
              </a:solidFill>
              <a:effectLst>
                <a:outerShdw blurRad="38100" dist="25400" dir="5400000" algn="ctr" rotWithShape="0">
                  <a:srgbClr val="6E747A">
                    <a:alpha val="43000"/>
                    <a:alpha val="43000"/>
                  </a:srgbClr>
                </a:outerShdw>
              </a:effectLst>
              <a:hlinkClick r:id="rId2" action="ppaction://hlinkfile"/>
            </a:endParaRPr>
          </a:p>
        </p:txBody>
      </p:sp>
      <p:sp>
        <p:nvSpPr>
          <p:cNvPr id="3" name="矩形 2"/>
          <p:cNvSpPr/>
          <p:nvPr/>
        </p:nvSpPr>
        <p:spPr>
          <a:xfrm>
            <a:off x="6378575" y="5301615"/>
            <a:ext cx="1203960" cy="706755"/>
          </a:xfrm>
          <a:prstGeom prst="rect">
            <a:avLst/>
          </a:prstGeom>
          <a:noFill/>
          <a:ln>
            <a:noFill/>
          </a:ln>
        </p:spPr>
        <p:txBody>
          <a:bodyPr wrap="none" rtlCol="0" anchor="t">
            <a:spAutoFit/>
          </a:bodyPr>
          <a:p>
            <a:pPr algn="ctr"/>
            <a:r>
              <a:rPr lang="zh-CN" altLang="en-US" sz="4000">
                <a:solidFill>
                  <a:schemeClr val="accent1"/>
                </a:solidFill>
                <a:effectLst>
                  <a:outerShdw blurRad="38100" dist="25400" dir="5400000" algn="ctr" rotWithShape="0">
                    <a:srgbClr val="6E747A">
                      <a:alpha val="43000"/>
                      <a:alpha val="43000"/>
                    </a:srgbClr>
                  </a:outerShdw>
                </a:effectLst>
                <a:hlinkClick r:id="rId3" action="ppaction://hlinkfile"/>
              </a:rPr>
              <a:t>点名</a:t>
            </a:r>
            <a:endParaRPr lang="zh-CN" altLang="en-US" sz="4000">
              <a:solidFill>
                <a:schemeClr val="accent1"/>
              </a:solidFill>
              <a:effectLst>
                <a:outerShdw blurRad="38100" dist="25400" dir="5400000" algn="ctr" rotWithShape="0">
                  <a:srgbClr val="6E747A">
                    <a:alpha val="43000"/>
                    <a:alpha val="43000"/>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39">
                                            <p:txEl>
                                              <p:charRg st="0" end="13"/>
                                            </p:txEl>
                                          </p:spTgt>
                                        </p:tgtEl>
                                        <p:attrNameLst>
                                          <p:attrName>style.visibility</p:attrName>
                                        </p:attrNameLst>
                                      </p:cBhvr>
                                      <p:to>
                                        <p:strVal val="visible"/>
                                      </p:to>
                                    </p:set>
                                    <p:animEffect transition="in" filter="blinds(horizontal)">
                                      <p:cBhvr>
                                        <p:cTn id="7" dur="500"/>
                                        <p:tgtEl>
                                          <p:spTgt spid="14339">
                                            <p:txEl>
                                              <p:charRg st="0" end="1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339">
                                            <p:txEl>
                                              <p:charRg st="13" end="24"/>
                                            </p:txEl>
                                          </p:spTgt>
                                        </p:tgtEl>
                                        <p:attrNameLst>
                                          <p:attrName>style.visibility</p:attrName>
                                        </p:attrNameLst>
                                      </p:cBhvr>
                                      <p:to>
                                        <p:strVal val="visible"/>
                                      </p:to>
                                    </p:set>
                                    <p:animEffect transition="in" filter="blinds(horizontal)">
                                      <p:cBhvr>
                                        <p:cTn id="12" dur="500"/>
                                        <p:tgtEl>
                                          <p:spTgt spid="14339">
                                            <p:txEl>
                                              <p:charRg st="13" end="2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339">
                                            <p:txEl>
                                              <p:charRg st="24" end="36"/>
                                            </p:txEl>
                                          </p:spTgt>
                                        </p:tgtEl>
                                        <p:attrNameLst>
                                          <p:attrName>style.visibility</p:attrName>
                                        </p:attrNameLst>
                                      </p:cBhvr>
                                      <p:to>
                                        <p:strVal val="visible"/>
                                      </p:to>
                                    </p:set>
                                    <p:animEffect transition="in" filter="blinds(horizontal)">
                                      <p:cBhvr>
                                        <p:cTn id="17" dur="500"/>
                                        <p:tgtEl>
                                          <p:spTgt spid="14339">
                                            <p:txEl>
                                              <p:charRg st="24" end="3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4339">
                                            <p:txEl>
                                              <p:charRg st="36" end="48"/>
                                            </p:txEl>
                                          </p:spTgt>
                                        </p:tgtEl>
                                        <p:attrNameLst>
                                          <p:attrName>style.visibility</p:attrName>
                                        </p:attrNameLst>
                                      </p:cBhvr>
                                      <p:to>
                                        <p:strVal val="visible"/>
                                      </p:to>
                                    </p:set>
                                    <p:animEffect transition="in" filter="blinds(horizontal)">
                                      <p:cBhvr>
                                        <p:cTn id="22" dur="500"/>
                                        <p:tgtEl>
                                          <p:spTgt spid="14339">
                                            <p:txEl>
                                              <p:charRg st="36" end="4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4339">
                                            <p:txEl>
                                              <p:charRg st="48" end="60"/>
                                            </p:txEl>
                                          </p:spTgt>
                                        </p:tgtEl>
                                        <p:attrNameLst>
                                          <p:attrName>style.visibility</p:attrName>
                                        </p:attrNameLst>
                                      </p:cBhvr>
                                      <p:to>
                                        <p:strVal val="visible"/>
                                      </p:to>
                                    </p:set>
                                    <p:animEffect transition="in" filter="blinds(horizontal)">
                                      <p:cBhvr>
                                        <p:cTn id="27" dur="500"/>
                                        <p:tgtEl>
                                          <p:spTgt spid="14339">
                                            <p:txEl>
                                              <p:charRg st="48" end="6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4339">
                                            <p:txEl>
                                              <p:charRg st="60" end="72"/>
                                            </p:txEl>
                                          </p:spTgt>
                                        </p:tgtEl>
                                        <p:attrNameLst>
                                          <p:attrName>style.visibility</p:attrName>
                                        </p:attrNameLst>
                                      </p:cBhvr>
                                      <p:to>
                                        <p:strVal val="visible"/>
                                      </p:to>
                                    </p:set>
                                    <p:animEffect transition="in" filter="blinds(horizontal)">
                                      <p:cBhvr>
                                        <p:cTn id="32" dur="500"/>
                                        <p:tgtEl>
                                          <p:spTgt spid="14339">
                                            <p:txEl>
                                              <p:charRg st="60" end="7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4339">
                                            <p:txEl>
                                              <p:charRg st="73" end="84"/>
                                            </p:txEl>
                                          </p:spTgt>
                                        </p:tgtEl>
                                        <p:attrNameLst>
                                          <p:attrName>style.visibility</p:attrName>
                                        </p:attrNameLst>
                                      </p:cBhvr>
                                      <p:to>
                                        <p:strVal val="visible"/>
                                      </p:to>
                                    </p:set>
                                    <p:animEffect transition="in" filter="blinds(horizontal)">
                                      <p:cBhvr>
                                        <p:cTn id="37" dur="500"/>
                                        <p:tgtEl>
                                          <p:spTgt spid="14339">
                                            <p:txEl>
                                              <p:charRg st="73" end="8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Rectangle 3"/>
          <p:cNvSpPr>
            <a:spLocks noGrp="1"/>
          </p:cNvSpPr>
          <p:nvPr>
            <p:ph type="body" idx="4294967295"/>
          </p:nvPr>
        </p:nvSpPr>
        <p:spPr>
          <a:xfrm>
            <a:off x="228600" y="996950"/>
            <a:ext cx="8763000" cy="673100"/>
          </a:xfrm>
        </p:spPr>
        <p:txBody>
          <a:bodyPr vert="horz" wrap="square" lIns="91440" tIns="45720" rIns="91440" bIns="45720" anchor="t" anchorCtr="0"/>
          <a:p>
            <a:pPr eaLnBrk="1" hangingPunct="1">
              <a:lnSpc>
                <a:spcPct val="110000"/>
              </a:lnSpc>
              <a:buClrTx/>
              <a:buFontTx/>
              <a:buNone/>
            </a:pPr>
            <a:r>
              <a:rPr lang="en-US" altLang="zh-CN" dirty="0">
                <a:solidFill>
                  <a:srgbClr val="FF0000"/>
                </a:solidFill>
                <a:latin typeface="黑体" panose="02010609060101010101" pitchFamily="49" charset="-122"/>
                <a:ea typeface="黑体" panose="02010609060101010101" pitchFamily="49" charset="-122"/>
              </a:rPr>
              <a:t>3-1  </a:t>
            </a:r>
            <a:r>
              <a:rPr lang="zh-CN" altLang="en-US" dirty="0">
                <a:solidFill>
                  <a:srgbClr val="FF0000"/>
                </a:solidFill>
                <a:latin typeface="黑体" panose="02010609060101010101" pitchFamily="49" charset="-122"/>
                <a:ea typeface="黑体" panose="02010609060101010101" pitchFamily="49" charset="-122"/>
              </a:rPr>
              <a:t>指令系统概述</a:t>
            </a:r>
            <a:endParaRPr lang="zh-CN" altLang="en-US" dirty="0">
              <a:solidFill>
                <a:srgbClr val="FF0000"/>
              </a:solidFill>
              <a:latin typeface="黑体" panose="02010609060101010101" pitchFamily="49" charset="-122"/>
              <a:ea typeface="黑体" panose="02010609060101010101" pitchFamily="49" charset="-122"/>
            </a:endParaRPr>
          </a:p>
          <a:p>
            <a:pPr eaLnBrk="1" hangingPunct="1">
              <a:lnSpc>
                <a:spcPct val="110000"/>
              </a:lnSpc>
              <a:buClrTx/>
              <a:buFontTx/>
              <a:buNone/>
            </a:pPr>
            <a:endParaRPr lang="zh-CN" altLang="en-US" sz="1600" dirty="0">
              <a:solidFill>
                <a:srgbClr val="000000"/>
              </a:solidFill>
              <a:latin typeface="黑体" panose="02010609060101010101" pitchFamily="49" charset="-122"/>
              <a:ea typeface="黑体" panose="02010609060101010101" pitchFamily="49" charset="-122"/>
            </a:endParaRPr>
          </a:p>
        </p:txBody>
      </p:sp>
      <p:sp>
        <p:nvSpPr>
          <p:cNvPr id="87042" name="Rectangle 2"/>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第三章     </a:t>
            </a:r>
            <a:r>
              <a:rPr kumimoji="1" lang="en-US" altLang="zh-CN"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575495" name="文本框 575494"/>
          <p:cNvSpPr txBox="1"/>
          <p:nvPr/>
        </p:nvSpPr>
        <p:spPr>
          <a:xfrm>
            <a:off x="539750" y="1628775"/>
            <a:ext cx="8064500" cy="4041775"/>
          </a:xfrm>
          <a:prstGeom prst="rect">
            <a:avLst/>
          </a:prstGeom>
          <a:noFill/>
          <a:ln w="9525">
            <a:noFill/>
          </a:ln>
        </p:spPr>
        <p:txBody>
          <a:bodyPr>
            <a:spAutoFit/>
          </a:bodyPr>
          <a:p>
            <a:r>
              <a:rPr lang="zh-CN" altLang="en-US" sz="3200" noProof="1" dirty="0">
                <a:solidFill>
                  <a:srgbClr val="FA1818"/>
                </a:solidFill>
                <a:latin typeface="Times New Roman" panose="02020503050405090304" pitchFamily="18" charset="0"/>
                <a:ea typeface="仿宋_GB2312" pitchFamily="49" charset="-122"/>
                <a:cs typeface="+mn-cs"/>
              </a:rPr>
              <a:t>指令和程序设计语言</a:t>
            </a:r>
            <a:endParaRPr lang="zh-CN" altLang="en-US" sz="3200" noProof="1" dirty="0">
              <a:solidFill>
                <a:srgbClr val="FA1818"/>
              </a:solidFill>
              <a:latin typeface="Times New Roman" panose="02020503050405090304" pitchFamily="18" charset="0"/>
            </a:endParaRPr>
          </a:p>
          <a:p>
            <a:pPr>
              <a:lnSpc>
                <a:spcPct val="110000"/>
              </a:lnSpc>
              <a:spcBef>
                <a:spcPct val="30000"/>
              </a:spcBef>
              <a:buBlip>
                <a:blip r:embed="rId1"/>
              </a:buBlip>
            </a:pPr>
            <a:r>
              <a:rPr lang="zh-CN" altLang="en-US" sz="2800" noProof="1" dirty="0">
                <a:latin typeface="宋体" pitchFamily="2" charset="-122"/>
                <a:ea typeface="仿宋_GB2312" pitchFamily="49" charset="-122"/>
                <a:cs typeface="+mn-cs"/>
              </a:rPr>
              <a:t> </a:t>
            </a:r>
            <a:r>
              <a:rPr lang="zh-CN" altLang="en-US" sz="2800" noProof="1" dirty="0">
                <a:solidFill>
                  <a:srgbClr val="001C92"/>
                </a:solidFill>
                <a:latin typeface="宋体" pitchFamily="2" charset="-122"/>
                <a:ea typeface="仿宋_GB2312" pitchFamily="49" charset="-122"/>
                <a:cs typeface="+mn-cs"/>
              </a:rPr>
              <a:t>指令：</a:t>
            </a:r>
            <a:r>
              <a:rPr lang="en-US" altLang="zh-CN" sz="2800" noProof="1">
                <a:solidFill>
                  <a:srgbClr val="000000"/>
                </a:solidFill>
                <a:latin typeface="宋体" pitchFamily="2" charset="-122"/>
                <a:ea typeface="仿宋_GB2312" pitchFamily="49" charset="-122"/>
                <a:cs typeface="+mn-cs"/>
              </a:rPr>
              <a:t>CPU</a:t>
            </a:r>
            <a:r>
              <a:rPr lang="zh-CN" altLang="en-US" sz="2800" noProof="1" dirty="0">
                <a:solidFill>
                  <a:srgbClr val="000000"/>
                </a:solidFill>
                <a:latin typeface="宋体" pitchFamily="2" charset="-122"/>
                <a:ea typeface="仿宋_GB2312" pitchFamily="49" charset="-122"/>
                <a:cs typeface="+mn-cs"/>
              </a:rPr>
              <a:t>根据人的意图执行某种操作命令</a:t>
            </a:r>
            <a:endParaRPr lang="en-US" altLang="zh-CN" sz="2800" noProof="1">
              <a:solidFill>
                <a:srgbClr val="000000"/>
              </a:solidFill>
              <a:latin typeface="宋体" pitchFamily="2" charset="-122"/>
            </a:endParaRPr>
          </a:p>
          <a:p>
            <a:pPr>
              <a:lnSpc>
                <a:spcPct val="110000"/>
              </a:lnSpc>
              <a:spcBef>
                <a:spcPct val="30000"/>
              </a:spcBef>
              <a:buBlip>
                <a:blip r:embed="rId1"/>
              </a:buBlip>
            </a:pPr>
            <a:r>
              <a:rPr lang="zh-CN" altLang="en-US" sz="2800" noProof="1" dirty="0">
                <a:solidFill>
                  <a:srgbClr val="A03726"/>
                </a:solidFill>
                <a:latin typeface="宋体" pitchFamily="2" charset="-122"/>
                <a:ea typeface="仿宋_GB2312" pitchFamily="49" charset="-122"/>
                <a:cs typeface="+mn-cs"/>
              </a:rPr>
              <a:t> </a:t>
            </a:r>
            <a:r>
              <a:rPr lang="zh-CN" altLang="en-US" sz="2800" noProof="1" dirty="0">
                <a:solidFill>
                  <a:srgbClr val="001C92"/>
                </a:solidFill>
                <a:latin typeface="宋体" pitchFamily="2" charset="-122"/>
                <a:ea typeface="仿宋_GB2312" pitchFamily="49" charset="-122"/>
                <a:cs typeface="+mn-cs"/>
              </a:rPr>
              <a:t>指令系统：</a:t>
            </a:r>
            <a:r>
              <a:rPr lang="zh-CN" altLang="en-US" sz="2800" noProof="1" dirty="0">
                <a:solidFill>
                  <a:srgbClr val="000000"/>
                </a:solidFill>
                <a:latin typeface="宋体" pitchFamily="2" charset="-122"/>
                <a:ea typeface="仿宋_GB2312" pitchFamily="49" charset="-122"/>
                <a:cs typeface="+mn-cs"/>
              </a:rPr>
              <a:t>全部指令的集合</a:t>
            </a:r>
            <a:endParaRPr lang="zh-CN" altLang="en-US" sz="2800" noProof="1" dirty="0">
              <a:solidFill>
                <a:srgbClr val="000000"/>
              </a:solidFill>
              <a:latin typeface="宋体" pitchFamily="2" charset="-122"/>
            </a:endParaRPr>
          </a:p>
          <a:p>
            <a:pPr>
              <a:lnSpc>
                <a:spcPct val="110000"/>
              </a:lnSpc>
              <a:spcBef>
                <a:spcPct val="30000"/>
              </a:spcBef>
              <a:buBlip>
                <a:blip r:embed="rId1"/>
              </a:buBlip>
            </a:pPr>
            <a:r>
              <a:rPr lang="zh-CN" altLang="en-US" sz="2800" noProof="1" dirty="0">
                <a:solidFill>
                  <a:srgbClr val="A03726"/>
                </a:solidFill>
                <a:latin typeface="宋体" pitchFamily="2" charset="-122"/>
                <a:ea typeface="仿宋_GB2312" pitchFamily="49" charset="-122"/>
                <a:cs typeface="+mn-cs"/>
              </a:rPr>
              <a:t> </a:t>
            </a:r>
            <a:r>
              <a:rPr lang="zh-CN" altLang="en-US" sz="2800" noProof="1" dirty="0">
                <a:solidFill>
                  <a:srgbClr val="001C92"/>
                </a:solidFill>
                <a:latin typeface="宋体" pitchFamily="2" charset="-122"/>
                <a:ea typeface="仿宋_GB2312" pitchFamily="49" charset="-122"/>
                <a:cs typeface="+mn-cs"/>
              </a:rPr>
              <a:t>程序：</a:t>
            </a:r>
            <a:r>
              <a:rPr lang="zh-CN" altLang="en-US" sz="2800" noProof="1" dirty="0">
                <a:solidFill>
                  <a:srgbClr val="000000"/>
                </a:solidFill>
                <a:latin typeface="宋体" pitchFamily="2" charset="-122"/>
                <a:ea typeface="仿宋_GB2312" pitchFamily="49" charset="-122"/>
                <a:cs typeface="+mn-cs"/>
              </a:rPr>
              <a:t>按人的要求编排的指令序列</a:t>
            </a:r>
            <a:endParaRPr lang="zh-CN" altLang="en-US" sz="2800" noProof="1" dirty="0">
              <a:solidFill>
                <a:srgbClr val="000000"/>
              </a:solidFill>
              <a:latin typeface="宋体" pitchFamily="2" charset="-122"/>
            </a:endParaRPr>
          </a:p>
          <a:p>
            <a:pPr>
              <a:lnSpc>
                <a:spcPct val="110000"/>
              </a:lnSpc>
              <a:spcBef>
                <a:spcPct val="30000"/>
              </a:spcBef>
              <a:buBlip>
                <a:blip r:embed="rId1"/>
              </a:buBlip>
            </a:pPr>
            <a:r>
              <a:rPr lang="zh-CN" altLang="en-US" sz="2800" noProof="1" dirty="0">
                <a:solidFill>
                  <a:srgbClr val="A03726"/>
                </a:solidFill>
                <a:latin typeface="宋体" pitchFamily="2" charset="-122"/>
                <a:ea typeface="仿宋_GB2312" pitchFamily="49" charset="-122"/>
                <a:cs typeface="+mn-cs"/>
              </a:rPr>
              <a:t> </a:t>
            </a:r>
            <a:r>
              <a:rPr lang="zh-CN" altLang="en-US" sz="2800" noProof="1" dirty="0">
                <a:solidFill>
                  <a:srgbClr val="001C92"/>
                </a:solidFill>
                <a:latin typeface="宋体" pitchFamily="2" charset="-122"/>
                <a:ea typeface="仿宋_GB2312" pitchFamily="49" charset="-122"/>
                <a:cs typeface="+mn-cs"/>
              </a:rPr>
              <a:t>程序设计：</a:t>
            </a:r>
            <a:r>
              <a:rPr lang="zh-CN" altLang="en-US" sz="2800" noProof="1" dirty="0">
                <a:solidFill>
                  <a:srgbClr val="000000"/>
                </a:solidFill>
                <a:latin typeface="宋体" pitchFamily="2" charset="-122"/>
                <a:ea typeface="仿宋_GB2312" pitchFamily="49" charset="-122"/>
                <a:cs typeface="+mn-cs"/>
              </a:rPr>
              <a:t>编写程序的过程</a:t>
            </a:r>
            <a:endParaRPr lang="zh-CN" altLang="en-US" sz="2800" noProof="1" dirty="0">
              <a:solidFill>
                <a:srgbClr val="000000"/>
              </a:solidFill>
              <a:latin typeface="宋体" pitchFamily="2" charset="-122"/>
            </a:endParaRPr>
          </a:p>
          <a:p>
            <a:pPr>
              <a:lnSpc>
                <a:spcPct val="110000"/>
              </a:lnSpc>
              <a:spcBef>
                <a:spcPct val="30000"/>
              </a:spcBef>
              <a:buBlip>
                <a:blip r:embed="rId1"/>
              </a:buBlip>
            </a:pPr>
            <a:r>
              <a:rPr lang="zh-CN" altLang="en-US" sz="2800" noProof="1" dirty="0">
                <a:solidFill>
                  <a:srgbClr val="A03726"/>
                </a:solidFill>
                <a:latin typeface="宋体" pitchFamily="2" charset="-122"/>
                <a:ea typeface="仿宋_GB2312" pitchFamily="49" charset="-122"/>
                <a:cs typeface="+mn-cs"/>
              </a:rPr>
              <a:t> </a:t>
            </a:r>
            <a:r>
              <a:rPr lang="zh-CN" altLang="en-US" sz="2800" noProof="1" dirty="0">
                <a:solidFill>
                  <a:srgbClr val="001C92"/>
                </a:solidFill>
                <a:latin typeface="宋体" pitchFamily="2" charset="-122"/>
                <a:ea typeface="仿宋_GB2312" pitchFamily="49" charset="-122"/>
                <a:cs typeface="+mn-cs"/>
              </a:rPr>
              <a:t>程序语言：</a:t>
            </a:r>
            <a:r>
              <a:rPr lang="zh-CN" altLang="en-US" sz="2800" noProof="1" dirty="0">
                <a:solidFill>
                  <a:srgbClr val="000000"/>
                </a:solidFill>
                <a:effectLst>
                  <a:outerShdw blurRad="38100" dist="38100" dir="2700000">
                    <a:srgbClr val="FFFFFF"/>
                  </a:outerShdw>
                </a:effectLst>
                <a:latin typeface="宋体" pitchFamily="2" charset="-122"/>
                <a:ea typeface="仿宋_GB2312" pitchFamily="49" charset="-122"/>
                <a:cs typeface="+mn-cs"/>
              </a:rPr>
              <a:t>实现人机交互的基本工具</a:t>
            </a:r>
            <a:r>
              <a:rPr lang="zh-CN" altLang="en-US" sz="2800" noProof="1" dirty="0">
                <a:solidFill>
                  <a:srgbClr val="000000"/>
                </a:solidFill>
                <a:latin typeface="宋体" pitchFamily="2" charset="-122"/>
                <a:ea typeface="仿宋_GB2312" pitchFamily="49" charset="-122"/>
                <a:cs typeface="+mn-cs"/>
              </a:rPr>
              <a:t>，分为机器语言、汇编语言、高级语言</a:t>
            </a:r>
            <a:endParaRPr lang="en-US" altLang="zh-CN" sz="2800" noProof="1">
              <a:solidFill>
                <a:srgbClr val="000000"/>
              </a:solidFill>
              <a:latin typeface="宋体"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Rectangle 3"/>
          <p:cNvSpPr>
            <a:spLocks noGrp="1"/>
          </p:cNvSpPr>
          <p:nvPr>
            <p:ph type="body" idx="4294967295"/>
          </p:nvPr>
        </p:nvSpPr>
        <p:spPr>
          <a:xfrm>
            <a:off x="228600" y="996950"/>
            <a:ext cx="8763000" cy="673100"/>
          </a:xfrm>
        </p:spPr>
        <p:txBody>
          <a:bodyPr vert="horz" wrap="square" lIns="91440" tIns="45720" rIns="91440" bIns="45720" anchor="t" anchorCtr="0"/>
          <a:p>
            <a:pPr eaLnBrk="1" hangingPunct="1">
              <a:lnSpc>
                <a:spcPct val="110000"/>
              </a:lnSpc>
              <a:buClrTx/>
              <a:buFontTx/>
              <a:buNone/>
            </a:pPr>
            <a:r>
              <a:rPr lang="en-US" altLang="zh-CN" dirty="0">
                <a:solidFill>
                  <a:srgbClr val="FF0000"/>
                </a:solidFill>
                <a:latin typeface="黑体" panose="02010609060101010101" pitchFamily="49" charset="-122"/>
                <a:ea typeface="黑体" panose="02010609060101010101" pitchFamily="49" charset="-122"/>
              </a:rPr>
              <a:t>3-1  </a:t>
            </a:r>
            <a:r>
              <a:rPr lang="zh-CN" altLang="en-US" dirty="0">
                <a:solidFill>
                  <a:srgbClr val="FF0000"/>
                </a:solidFill>
                <a:latin typeface="黑体" panose="02010609060101010101" pitchFamily="49" charset="-122"/>
                <a:ea typeface="黑体" panose="02010609060101010101" pitchFamily="49" charset="-122"/>
              </a:rPr>
              <a:t>指令系统概述</a:t>
            </a:r>
            <a:endParaRPr lang="zh-CN" altLang="en-US" dirty="0">
              <a:solidFill>
                <a:srgbClr val="FF0000"/>
              </a:solidFill>
              <a:latin typeface="黑体" panose="02010609060101010101" pitchFamily="49" charset="-122"/>
              <a:ea typeface="黑体" panose="02010609060101010101" pitchFamily="49" charset="-122"/>
            </a:endParaRPr>
          </a:p>
          <a:p>
            <a:pPr eaLnBrk="1" hangingPunct="1">
              <a:lnSpc>
                <a:spcPct val="110000"/>
              </a:lnSpc>
              <a:buClrTx/>
              <a:buFontTx/>
              <a:buNone/>
            </a:pPr>
            <a:endParaRPr lang="zh-CN" altLang="en-US" sz="1600" dirty="0">
              <a:solidFill>
                <a:srgbClr val="000000"/>
              </a:solidFill>
              <a:latin typeface="黑体" panose="02010609060101010101" pitchFamily="49" charset="-122"/>
              <a:ea typeface="黑体" panose="02010609060101010101" pitchFamily="49" charset="-122"/>
            </a:endParaRPr>
          </a:p>
        </p:txBody>
      </p:sp>
      <p:sp>
        <p:nvSpPr>
          <p:cNvPr id="87042" name="Rectangle 2"/>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第三章     </a:t>
            </a:r>
            <a:r>
              <a:rPr kumimoji="1" lang="en-US" altLang="zh-CN"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568328" name="矩形 568327"/>
          <p:cNvSpPr/>
          <p:nvPr/>
        </p:nvSpPr>
        <p:spPr>
          <a:xfrm>
            <a:off x="422275" y="1670050"/>
            <a:ext cx="8569325" cy="4224338"/>
          </a:xfrm>
          <a:prstGeom prst="rect">
            <a:avLst/>
          </a:prstGeom>
          <a:noFill/>
          <a:ln w="9525">
            <a:noFill/>
          </a:ln>
        </p:spPr>
        <p:txBody>
          <a:bodyPr>
            <a:spAutoFit/>
          </a:bodyPr>
          <a:p>
            <a:pPr fontAlgn="base">
              <a:lnSpc>
                <a:spcPct val="115000"/>
              </a:lnSpc>
              <a:spcBef>
                <a:spcPct val="20000"/>
              </a:spcBef>
            </a:pPr>
            <a:r>
              <a:rPr lang="zh-CN" altLang="en-US" sz="2800" b="1" strike="noStrike" noProof="1" dirty="0">
                <a:solidFill>
                  <a:srgbClr val="CC3300"/>
                </a:solidFill>
                <a:latin typeface="宋体" pitchFamily="2" charset="-122"/>
                <a:ea typeface="仿宋_GB2312" pitchFamily="49" charset="-122"/>
                <a:cs typeface="+mn-cs"/>
              </a:rPr>
              <a:t>高级语言</a:t>
            </a:r>
            <a:r>
              <a:rPr lang="zh-CN" altLang="en-US" sz="2800" b="1" strike="noStrike" noProof="1" dirty="0">
                <a:latin typeface="宋体" pitchFamily="2" charset="-122"/>
                <a:ea typeface="仿宋_GB2312" pitchFamily="49" charset="-122"/>
                <a:cs typeface="+mn-cs"/>
              </a:rPr>
              <a:t>的特点是通用性强，可以在不同的机器上运行。用高级语言编写的程序要用编译程序或解释程序翻译成机器语言程序方能执行。</a:t>
            </a:r>
            <a:endParaRPr lang="zh-CN" altLang="en-US" sz="2800" b="1" strike="noStrike" noProof="1" dirty="0">
              <a:latin typeface="宋体" pitchFamily="2" charset="-122"/>
            </a:endParaRPr>
          </a:p>
          <a:p>
            <a:pPr fontAlgn="base">
              <a:lnSpc>
                <a:spcPct val="115000"/>
              </a:lnSpc>
              <a:spcBef>
                <a:spcPct val="20000"/>
              </a:spcBef>
            </a:pPr>
            <a:r>
              <a:rPr lang="zh-CN" altLang="en-US" sz="2800" b="1" strike="noStrike" noProof="1" dirty="0">
                <a:solidFill>
                  <a:srgbClr val="CC3300"/>
                </a:solidFill>
                <a:latin typeface="宋体" pitchFamily="2" charset="-122"/>
                <a:ea typeface="仿宋_GB2312" pitchFamily="49" charset="-122"/>
                <a:cs typeface="+mn-cs"/>
              </a:rPr>
              <a:t>汇编语言</a:t>
            </a:r>
            <a:r>
              <a:rPr lang="zh-CN" altLang="en-US" sz="2800" b="1" strike="noStrike" noProof="1" dirty="0">
                <a:latin typeface="宋体" pitchFamily="2" charset="-122"/>
                <a:ea typeface="仿宋_GB2312" pitchFamily="49" charset="-122"/>
                <a:cs typeface="+mn-cs"/>
              </a:rPr>
              <a:t>是用</a:t>
            </a:r>
            <a:r>
              <a:rPr lang="zh-CN" altLang="en-US" sz="2800" b="1" strike="noStrike" noProof="1" dirty="0">
                <a:solidFill>
                  <a:srgbClr val="0025C0"/>
                </a:solidFill>
                <a:effectLst>
                  <a:outerShdw blurRad="38100" dist="38100" dir="2700000">
                    <a:srgbClr val="000000"/>
                  </a:outerShdw>
                </a:effectLst>
                <a:latin typeface="宋体" pitchFamily="2" charset="-122"/>
                <a:ea typeface="仿宋_GB2312" pitchFamily="49" charset="-122"/>
                <a:cs typeface="+mn-cs"/>
              </a:rPr>
              <a:t>助记符来表示</a:t>
            </a:r>
            <a:r>
              <a:rPr lang="zh-CN" altLang="en-US" sz="2800" b="1" strike="noStrike" noProof="1" dirty="0">
                <a:latin typeface="宋体" pitchFamily="2" charset="-122"/>
                <a:ea typeface="仿宋_GB2312" pitchFamily="49" charset="-122"/>
                <a:cs typeface="+mn-cs"/>
              </a:rPr>
              <a:t>机器指令的一种程序设计语言。汇编语言与机器的指令系统密切相关，不同的机型其指令系统不同。</a:t>
            </a:r>
            <a:r>
              <a:rPr lang="zh-CN" altLang="en-US" sz="2800" b="1" strike="noStrike" noProof="1" dirty="0">
                <a:latin typeface="Times New Roman" panose="02020503050405090304" pitchFamily="18" charset="0"/>
                <a:ea typeface="仿宋_GB2312" pitchFamily="49" charset="-122"/>
                <a:cs typeface="+mn-cs"/>
              </a:rPr>
              <a:t> </a:t>
            </a:r>
            <a:endParaRPr lang="zh-CN" altLang="en-US" sz="2800" b="1" strike="noStrike" noProof="1" dirty="0">
              <a:latin typeface="Times New Roman" panose="02020503050405090304" pitchFamily="18" charset="0"/>
            </a:endParaRPr>
          </a:p>
          <a:p>
            <a:pPr eaLnBrk="0" fontAlgn="base" hangingPunct="0">
              <a:lnSpc>
                <a:spcPct val="115000"/>
              </a:lnSpc>
              <a:spcBef>
                <a:spcPct val="20000"/>
              </a:spcBef>
            </a:pPr>
            <a:r>
              <a:rPr lang="zh-CN" altLang="en-US" sz="2800" b="1" strike="noStrike" noProof="1" dirty="0">
                <a:solidFill>
                  <a:srgbClr val="B11515"/>
                </a:solidFill>
                <a:latin typeface="宋体" pitchFamily="2" charset="-122"/>
                <a:ea typeface="仿宋_GB2312" pitchFamily="49" charset="-122"/>
                <a:cs typeface="+mn-cs"/>
              </a:rPr>
              <a:t>机器语言</a:t>
            </a:r>
            <a:r>
              <a:rPr lang="zh-CN" altLang="en-US" sz="2800" b="1" strike="noStrike" noProof="1" dirty="0">
                <a:latin typeface="宋体" pitchFamily="2" charset="-122"/>
                <a:ea typeface="仿宋_GB2312" pitchFamily="49" charset="-122"/>
                <a:cs typeface="+mn-cs"/>
              </a:rPr>
              <a:t>用</a:t>
            </a:r>
            <a:r>
              <a:rPr lang="zh-CN" altLang="en-US" sz="2800" b="1" strike="noStrike" noProof="1" dirty="0">
                <a:solidFill>
                  <a:srgbClr val="0025C0"/>
                </a:solidFill>
                <a:effectLst>
                  <a:outerShdw blurRad="38100" dist="38100" dir="2700000">
                    <a:srgbClr val="000000"/>
                  </a:outerShdw>
                </a:effectLst>
                <a:latin typeface="宋体" pitchFamily="2" charset="-122"/>
                <a:ea typeface="仿宋_GB2312" pitchFamily="49" charset="-122"/>
                <a:cs typeface="+mn-cs"/>
              </a:rPr>
              <a:t>二进制编码表示</a:t>
            </a:r>
            <a:r>
              <a:rPr lang="zh-CN" altLang="en-US" sz="2800" b="1" strike="noStrike" noProof="1" dirty="0">
                <a:latin typeface="宋体" pitchFamily="2" charset="-122"/>
                <a:ea typeface="仿宋_GB2312" pitchFamily="49" charset="-122"/>
                <a:cs typeface="+mn-cs"/>
              </a:rPr>
              <a:t>每条指令是计算机能直接识别的语言</a:t>
            </a:r>
            <a:r>
              <a:rPr lang="en-US" altLang="zh-CN" sz="2800" b="1" strike="noStrike" noProof="1">
                <a:latin typeface="宋体" pitchFamily="2" charset="-122"/>
                <a:ea typeface="仿宋_GB2312" pitchFamily="49" charset="-122"/>
                <a:cs typeface="+mn-cs"/>
              </a:rPr>
              <a:t>。</a:t>
            </a:r>
            <a:r>
              <a:rPr lang="zh-CN" altLang="en-US" sz="2800" b="1" strike="noStrike" noProof="1" dirty="0">
                <a:latin typeface="宋体" pitchFamily="2" charset="-122"/>
                <a:ea typeface="仿宋_GB2312" pitchFamily="49" charset="-122"/>
                <a:cs typeface="+mn-cs"/>
              </a:rPr>
              <a:t>其特点是占用的内存小、执行速度快。</a:t>
            </a:r>
            <a:r>
              <a:rPr lang="zh-CN" altLang="en-US" sz="2800" b="1" strike="noStrike" noProof="1" dirty="0">
                <a:latin typeface="Times New Roman" panose="02020503050405090304" pitchFamily="18" charset="0"/>
                <a:ea typeface="仿宋_GB2312" pitchFamily="49" charset="-122"/>
                <a:cs typeface="+mn-cs"/>
              </a:rPr>
              <a:t> </a:t>
            </a:r>
            <a:endParaRPr lang="zh-CN" altLang="en-US" sz="2800" b="1" strike="noStrike" noProof="1" dirty="0">
              <a:latin typeface="Times New Roman" panose="0202050305040509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3"/>
          <p:cNvSpPr>
            <a:spLocks noGrp="1"/>
          </p:cNvSpPr>
          <p:nvPr>
            <p:ph type="body" idx="4294967295"/>
          </p:nvPr>
        </p:nvSpPr>
        <p:spPr/>
        <p:txBody>
          <a:bodyPr vert="horz" wrap="square" lIns="91440" tIns="45720" rIns="91440" bIns="45720" anchor="t" anchorCtr="0"/>
          <a:p>
            <a:pPr eaLnBrk="1" hangingPunct="1">
              <a:lnSpc>
                <a:spcPct val="110000"/>
              </a:lnSpc>
              <a:buClrTx/>
              <a:buFontTx/>
              <a:buNone/>
            </a:pPr>
            <a:r>
              <a:rPr lang="en-US" altLang="zh-CN" dirty="0">
                <a:solidFill>
                  <a:srgbClr val="FF0000"/>
                </a:solidFill>
                <a:latin typeface="黑体" panose="02010609060101010101" pitchFamily="49" charset="-122"/>
                <a:ea typeface="黑体" panose="02010609060101010101" pitchFamily="49" charset="-122"/>
              </a:rPr>
              <a:t>3-1  </a:t>
            </a:r>
            <a:r>
              <a:rPr lang="zh-CN" altLang="en-US" dirty="0">
                <a:solidFill>
                  <a:srgbClr val="FF0000"/>
                </a:solidFill>
                <a:latin typeface="黑体" panose="02010609060101010101" pitchFamily="49" charset="-122"/>
                <a:ea typeface="黑体" panose="02010609060101010101" pitchFamily="49" charset="-122"/>
              </a:rPr>
              <a:t>指令系统概述</a:t>
            </a:r>
            <a:endParaRPr lang="zh-CN" altLang="en-US" dirty="0">
              <a:solidFill>
                <a:srgbClr val="FF0000"/>
              </a:solidFill>
              <a:latin typeface="黑体" panose="02010609060101010101" pitchFamily="49" charset="-122"/>
              <a:ea typeface="黑体" panose="02010609060101010101" pitchFamily="49" charset="-122"/>
            </a:endParaRPr>
          </a:p>
          <a:p>
            <a:pPr eaLnBrk="1" hangingPunct="1">
              <a:lnSpc>
                <a:spcPct val="110000"/>
              </a:lnSpc>
              <a:buClrTx/>
              <a:buFontTx/>
              <a:buNone/>
            </a:pPr>
            <a:r>
              <a:rPr lang="en-US" altLang="zh-CN" sz="2400" dirty="0">
                <a:solidFill>
                  <a:srgbClr val="000000"/>
                </a:solidFill>
                <a:latin typeface="黑体" panose="02010609060101010101" pitchFamily="49" charset="-122"/>
                <a:ea typeface="黑体" panose="02010609060101010101" pitchFamily="49" charset="-122"/>
              </a:rPr>
              <a:t>3.1.1  </a:t>
            </a:r>
            <a:r>
              <a:rPr lang="zh-CN" altLang="en-US" sz="2400" dirty="0">
                <a:solidFill>
                  <a:srgbClr val="000000"/>
                </a:solidFill>
                <a:latin typeface="黑体" panose="02010609060101010101" pitchFamily="49" charset="-122"/>
                <a:ea typeface="黑体" panose="02010609060101010101" pitchFamily="49" charset="-122"/>
              </a:rPr>
              <a:t>概述 </a:t>
            </a:r>
            <a:endParaRPr lang="en-US" altLang="zh-CN" sz="2400" dirty="0">
              <a:solidFill>
                <a:srgbClr val="000000"/>
              </a:solidFill>
              <a:latin typeface="黑体" panose="02010609060101010101" pitchFamily="49" charset="-122"/>
              <a:ea typeface="黑体" panose="02010609060101010101" pitchFamily="49" charset="-122"/>
            </a:endParaRPr>
          </a:p>
          <a:p>
            <a:pPr eaLnBrk="1" hangingPunct="1">
              <a:lnSpc>
                <a:spcPct val="110000"/>
              </a:lnSpc>
              <a:buClrTx/>
              <a:buFontTx/>
              <a:buNone/>
            </a:pPr>
            <a:r>
              <a:rPr lang="zh-CN" altLang="en-US" sz="1600" dirty="0">
                <a:solidFill>
                  <a:srgbClr val="000000"/>
                </a:solidFill>
                <a:latin typeface="黑体" panose="02010609060101010101" pitchFamily="49" charset="-122"/>
                <a:ea typeface="黑体" panose="02010609060101010101" pitchFamily="49" charset="-122"/>
              </a:rPr>
              <a:t> </a:t>
            </a:r>
            <a:r>
              <a:rPr lang="zh-CN" altLang="en-US" sz="1600" dirty="0">
                <a:solidFill>
                  <a:schemeClr val="accent2"/>
                </a:solidFill>
                <a:latin typeface="黑体" panose="02010609060101010101" pitchFamily="49" charset="-122"/>
                <a:ea typeface="黑体" panose="02010609060101010101" pitchFamily="49" charset="-122"/>
              </a:rPr>
              <a:t>指令</a:t>
            </a:r>
            <a:r>
              <a:rPr lang="zh-CN" altLang="en-US" sz="1600" dirty="0">
                <a:solidFill>
                  <a:srgbClr val="000000"/>
                </a:solidFill>
                <a:latin typeface="黑体" panose="02010609060101010101" pitchFamily="49" charset="-122"/>
                <a:ea typeface="黑体" panose="02010609060101010101" pitchFamily="49" charset="-122"/>
              </a:rPr>
              <a:t>：即</a:t>
            </a:r>
            <a:r>
              <a:rPr lang="zh-CN" altLang="en-US" sz="1600" dirty="0">
                <a:solidFill>
                  <a:schemeClr val="accent2"/>
                </a:solidFill>
                <a:latin typeface="黑体" panose="02010609060101010101" pitchFamily="49" charset="-122"/>
                <a:ea typeface="黑体" panose="02010609060101010101" pitchFamily="49" charset="-122"/>
              </a:rPr>
              <a:t>命令</a:t>
            </a:r>
            <a:r>
              <a:rPr lang="zh-CN" altLang="en-US" sz="1600" dirty="0">
                <a:solidFill>
                  <a:srgbClr val="000000"/>
                </a:solidFill>
                <a:latin typeface="黑体" panose="02010609060101010101" pitchFamily="49" charset="-122"/>
                <a:ea typeface="黑体" panose="02010609060101010101" pitchFamily="49" charset="-122"/>
              </a:rPr>
              <a:t>， 人们给计算机的命令</a:t>
            </a:r>
            <a:endParaRPr lang="zh-CN" altLang="en-US" sz="1600" dirty="0">
              <a:solidFill>
                <a:srgbClr val="000000"/>
              </a:solidFill>
              <a:latin typeface="黑体" panose="02010609060101010101" pitchFamily="49" charset="-122"/>
              <a:ea typeface="黑体" panose="02010609060101010101" pitchFamily="49" charset="-122"/>
            </a:endParaRPr>
          </a:p>
          <a:p>
            <a:pPr eaLnBrk="1" hangingPunct="1">
              <a:lnSpc>
                <a:spcPct val="110000"/>
              </a:lnSpc>
              <a:buClrTx/>
              <a:buFontTx/>
              <a:buNone/>
            </a:pPr>
            <a:r>
              <a:rPr lang="zh-CN" altLang="en-US" sz="1600" dirty="0">
                <a:solidFill>
                  <a:srgbClr val="000000"/>
                </a:solidFill>
                <a:latin typeface="黑体" panose="02010609060101010101" pitchFamily="49" charset="-122"/>
                <a:ea typeface="黑体" panose="02010609060101010101" pitchFamily="49" charset="-122"/>
              </a:rPr>
              <a:t>      指令有</a:t>
            </a:r>
            <a:r>
              <a:rPr lang="zh-CN" altLang="en-US" sz="1600" dirty="0">
                <a:solidFill>
                  <a:schemeClr val="accent2"/>
                </a:solidFill>
                <a:latin typeface="黑体" panose="02010609060101010101" pitchFamily="49" charset="-122"/>
                <a:ea typeface="黑体" panose="02010609060101010101" pitchFamily="49" charset="-122"/>
              </a:rPr>
              <a:t>两种表示方式</a:t>
            </a:r>
            <a:r>
              <a:rPr lang="zh-CN" altLang="en-US" sz="1600" dirty="0">
                <a:solidFill>
                  <a:srgbClr val="000000"/>
                </a:solidFill>
                <a:latin typeface="黑体" panose="02010609060101010101" pitchFamily="49" charset="-122"/>
                <a:ea typeface="黑体" panose="02010609060101010101" pitchFamily="49" charset="-122"/>
              </a:rPr>
              <a:t>：</a:t>
            </a:r>
            <a:endParaRPr lang="zh-CN" altLang="en-US" sz="1600" dirty="0">
              <a:solidFill>
                <a:srgbClr val="000000"/>
              </a:solidFill>
              <a:latin typeface="黑体" panose="02010609060101010101" pitchFamily="49" charset="-122"/>
              <a:ea typeface="黑体" panose="02010609060101010101" pitchFamily="49" charset="-122"/>
            </a:endParaRPr>
          </a:p>
          <a:p>
            <a:pPr eaLnBrk="1" hangingPunct="1">
              <a:lnSpc>
                <a:spcPct val="110000"/>
              </a:lnSpc>
              <a:buClrTx/>
              <a:buFontTx/>
              <a:buNone/>
            </a:pPr>
            <a:r>
              <a:rPr lang="zh-CN" altLang="en-US" sz="1600" dirty="0">
                <a:solidFill>
                  <a:srgbClr val="000000"/>
                </a:solidFill>
                <a:latin typeface="黑体" panose="02010609060101010101" pitchFamily="49" charset="-122"/>
                <a:ea typeface="黑体" panose="02010609060101010101" pitchFamily="49" charset="-122"/>
              </a:rPr>
              <a:t>           </a:t>
            </a:r>
            <a:r>
              <a:rPr lang="zh-CN" altLang="en-US" sz="1600" dirty="0">
                <a:solidFill>
                  <a:schemeClr val="accent2"/>
                </a:solidFill>
                <a:latin typeface="黑体" panose="02010609060101010101" pitchFamily="49" charset="-122"/>
                <a:ea typeface="黑体" panose="02010609060101010101" pitchFamily="49" charset="-122"/>
              </a:rPr>
              <a:t>机器码</a:t>
            </a:r>
            <a:r>
              <a:rPr lang="en-US" altLang="zh-CN" sz="1600" dirty="0">
                <a:solidFill>
                  <a:srgbClr val="000000"/>
                </a:solidFill>
                <a:latin typeface="Times New Roman" panose="02020503050405090304" pitchFamily="18" charset="0"/>
                <a:ea typeface="黑体" panose="02010609060101010101" pitchFamily="49" charset="-122"/>
              </a:rPr>
              <a:t>——</a:t>
            </a:r>
            <a:r>
              <a:rPr lang="zh-CN" altLang="en-US" sz="1600" dirty="0">
                <a:solidFill>
                  <a:srgbClr val="FF3300"/>
                </a:solidFill>
                <a:latin typeface="黑体" panose="02010609060101010101" pitchFamily="49" charset="-122"/>
                <a:ea typeface="黑体" panose="02010609060101010101" pitchFamily="49" charset="-122"/>
              </a:rPr>
              <a:t>机器语言</a:t>
            </a:r>
            <a:r>
              <a:rPr lang="zh-CN" altLang="en-US" sz="1600" dirty="0">
                <a:solidFill>
                  <a:srgbClr val="000000"/>
                </a:solidFill>
                <a:latin typeface="黑体" panose="02010609060101010101" pitchFamily="49" charset="-122"/>
                <a:ea typeface="黑体" panose="02010609060101010101" pitchFamily="49" charset="-122"/>
              </a:rPr>
              <a:t>（机器能直接识别）</a:t>
            </a:r>
            <a:endParaRPr lang="zh-CN" altLang="en-US" sz="1600" dirty="0">
              <a:solidFill>
                <a:srgbClr val="000000"/>
              </a:solidFill>
              <a:latin typeface="黑体" panose="02010609060101010101" pitchFamily="49" charset="-122"/>
              <a:ea typeface="黑体" panose="02010609060101010101" pitchFamily="49" charset="-122"/>
            </a:endParaRPr>
          </a:p>
          <a:p>
            <a:pPr eaLnBrk="1" hangingPunct="1">
              <a:lnSpc>
                <a:spcPct val="110000"/>
              </a:lnSpc>
              <a:buClrTx/>
              <a:buFontTx/>
              <a:buNone/>
            </a:pPr>
            <a:r>
              <a:rPr lang="zh-CN" altLang="en-US" sz="1600" dirty="0">
                <a:solidFill>
                  <a:srgbClr val="000000"/>
                </a:solidFill>
                <a:latin typeface="黑体" panose="02010609060101010101" pitchFamily="49" charset="-122"/>
                <a:ea typeface="黑体" panose="02010609060101010101" pitchFamily="49" charset="-122"/>
              </a:rPr>
              <a:t>           </a:t>
            </a:r>
            <a:r>
              <a:rPr lang="zh-CN" altLang="en-US" sz="1600" dirty="0">
                <a:solidFill>
                  <a:schemeClr val="accent2"/>
                </a:solidFill>
                <a:latin typeface="黑体" panose="02010609060101010101" pitchFamily="49" charset="-122"/>
                <a:ea typeface="黑体" panose="02010609060101010101" pitchFamily="49" charset="-122"/>
              </a:rPr>
              <a:t>助记符</a:t>
            </a:r>
            <a:r>
              <a:rPr lang="en-US" altLang="zh-CN" sz="1600" dirty="0">
                <a:solidFill>
                  <a:srgbClr val="000000"/>
                </a:solidFill>
                <a:latin typeface="Times New Roman" panose="02020503050405090304" pitchFamily="18" charset="0"/>
                <a:ea typeface="黑体" panose="02010609060101010101" pitchFamily="49" charset="-122"/>
              </a:rPr>
              <a:t>——</a:t>
            </a:r>
            <a:r>
              <a:rPr lang="zh-CN" altLang="en-US" sz="1600" dirty="0">
                <a:solidFill>
                  <a:srgbClr val="FF3300"/>
                </a:solidFill>
                <a:latin typeface="黑体" panose="02010609060101010101" pitchFamily="49" charset="-122"/>
                <a:ea typeface="黑体" panose="02010609060101010101" pitchFamily="49" charset="-122"/>
              </a:rPr>
              <a:t>汇编语言</a:t>
            </a:r>
            <a:r>
              <a:rPr lang="zh-CN" altLang="en-US" sz="1600" dirty="0">
                <a:solidFill>
                  <a:srgbClr val="000000"/>
                </a:solidFill>
                <a:latin typeface="黑体" panose="02010609060101010101" pitchFamily="49" charset="-122"/>
                <a:ea typeface="黑体" panose="02010609060101010101" pitchFamily="49" charset="-122"/>
              </a:rPr>
              <a:t>（供设计人员使用）</a:t>
            </a:r>
            <a:endParaRPr lang="zh-CN" altLang="en-US" sz="1600" dirty="0">
              <a:solidFill>
                <a:srgbClr val="000000"/>
              </a:solidFill>
              <a:latin typeface="黑体" panose="02010609060101010101" pitchFamily="49" charset="-122"/>
              <a:ea typeface="黑体" panose="02010609060101010101" pitchFamily="49" charset="-122"/>
            </a:endParaRPr>
          </a:p>
          <a:p>
            <a:pPr eaLnBrk="1" hangingPunct="1">
              <a:lnSpc>
                <a:spcPct val="110000"/>
              </a:lnSpc>
              <a:buClrTx/>
              <a:buFontTx/>
              <a:buNone/>
            </a:pPr>
            <a:r>
              <a:rPr lang="zh-CN" altLang="en-US" sz="1600" dirty="0">
                <a:solidFill>
                  <a:srgbClr val="000000"/>
                </a:solidFill>
                <a:latin typeface="黑体" panose="02010609060101010101" pitchFamily="49" charset="-122"/>
                <a:ea typeface="黑体" panose="02010609060101010101" pitchFamily="49" charset="-122"/>
              </a:rPr>
              <a:t>    机器码和助记符</a:t>
            </a:r>
            <a:r>
              <a:rPr lang="zh-CN" altLang="en-US" sz="1600" dirty="0">
                <a:solidFill>
                  <a:schemeClr val="accent2"/>
                </a:solidFill>
                <a:latin typeface="黑体" panose="02010609060101010101" pitchFamily="49" charset="-122"/>
                <a:ea typeface="黑体" panose="02010609060101010101" pitchFamily="49" charset="-122"/>
              </a:rPr>
              <a:t>一一对应</a:t>
            </a:r>
            <a:r>
              <a:rPr lang="zh-CN" altLang="en-US" sz="1600" dirty="0">
                <a:solidFill>
                  <a:srgbClr val="000000"/>
                </a:solidFill>
                <a:latin typeface="黑体" panose="02010609060101010101" pitchFamily="49" charset="-122"/>
                <a:ea typeface="黑体" panose="02010609060101010101" pitchFamily="49" charset="-122"/>
              </a:rPr>
              <a:t>，汇编语言</a:t>
            </a:r>
            <a:r>
              <a:rPr lang="zh-CN" altLang="en-US" sz="1600" dirty="0">
                <a:solidFill>
                  <a:schemeClr val="accent2"/>
                </a:solidFill>
                <a:latin typeface="黑体" panose="02010609060101010101" pitchFamily="49" charset="-122"/>
                <a:ea typeface="黑体" panose="02010609060101010101" pitchFamily="49" charset="-122"/>
              </a:rPr>
              <a:t>可汇编为</a:t>
            </a:r>
            <a:r>
              <a:rPr lang="zh-CN" altLang="en-US" sz="1600" dirty="0">
                <a:solidFill>
                  <a:srgbClr val="000000"/>
                </a:solidFill>
                <a:latin typeface="黑体" panose="02010609060101010101" pitchFamily="49" charset="-122"/>
                <a:ea typeface="黑体" panose="02010609060101010101" pitchFamily="49" charset="-122"/>
              </a:rPr>
              <a:t>机器语言，机器语言</a:t>
            </a:r>
            <a:r>
              <a:rPr lang="zh-CN" altLang="en-US" sz="1600" dirty="0">
                <a:solidFill>
                  <a:schemeClr val="accent2"/>
                </a:solidFill>
                <a:latin typeface="黑体" panose="02010609060101010101" pitchFamily="49" charset="-122"/>
                <a:ea typeface="黑体" panose="02010609060101010101" pitchFamily="49" charset="-122"/>
              </a:rPr>
              <a:t>可反汇编为</a:t>
            </a:r>
            <a:r>
              <a:rPr lang="zh-CN" altLang="en-US" sz="1600" dirty="0">
                <a:solidFill>
                  <a:srgbClr val="000000"/>
                </a:solidFill>
                <a:latin typeface="黑体" panose="02010609060101010101" pitchFamily="49" charset="-122"/>
                <a:ea typeface="黑体" panose="02010609060101010101" pitchFamily="49" charset="-122"/>
              </a:rPr>
              <a:t>汇编语言。</a:t>
            </a:r>
            <a:endParaRPr lang="zh-CN" altLang="en-US" sz="1600" dirty="0">
              <a:solidFill>
                <a:srgbClr val="000000"/>
              </a:solidFill>
              <a:latin typeface="黑体" panose="02010609060101010101" pitchFamily="49" charset="-122"/>
              <a:ea typeface="黑体" panose="02010609060101010101" pitchFamily="49" charset="-122"/>
            </a:endParaRPr>
          </a:p>
          <a:p>
            <a:pPr eaLnBrk="1" hangingPunct="1">
              <a:lnSpc>
                <a:spcPct val="110000"/>
              </a:lnSpc>
              <a:buClrTx/>
              <a:buFontTx/>
              <a:buNone/>
            </a:pPr>
            <a:r>
              <a:rPr lang="zh-CN" altLang="en-US" sz="1600" dirty="0">
                <a:solidFill>
                  <a:srgbClr val="000000"/>
                </a:solidFill>
                <a:latin typeface="黑体" panose="02010609060101010101" pitchFamily="49" charset="-122"/>
                <a:ea typeface="黑体" panose="02010609060101010101" pitchFamily="49" charset="-122"/>
              </a:rPr>
              <a:t> </a:t>
            </a:r>
            <a:r>
              <a:rPr lang="en-US" altLang="zh-CN" sz="1600" dirty="0">
                <a:solidFill>
                  <a:srgbClr val="000000"/>
                </a:solidFill>
                <a:latin typeface="黑体" panose="02010609060101010101" pitchFamily="49" charset="-122"/>
                <a:ea typeface="黑体" panose="02010609060101010101" pitchFamily="49" charset="-122"/>
              </a:rPr>
              <a:t>MCS-51</a:t>
            </a:r>
            <a:r>
              <a:rPr lang="zh-CN" altLang="en-US" sz="1600" dirty="0">
                <a:solidFill>
                  <a:srgbClr val="000000"/>
                </a:solidFill>
                <a:latin typeface="黑体" panose="02010609060101010101" pitchFamily="49" charset="-122"/>
                <a:ea typeface="黑体" panose="02010609060101010101" pitchFamily="49" charset="-122"/>
              </a:rPr>
              <a:t>的基本指令共</a:t>
            </a:r>
            <a:r>
              <a:rPr lang="en-US" altLang="zh-CN" sz="1600" dirty="0">
                <a:solidFill>
                  <a:srgbClr val="FF0000"/>
                </a:solidFill>
                <a:latin typeface="黑体" panose="02010609060101010101" pitchFamily="49" charset="-122"/>
                <a:ea typeface="黑体" panose="02010609060101010101" pitchFamily="49" charset="-122"/>
              </a:rPr>
              <a:t>111</a:t>
            </a:r>
            <a:r>
              <a:rPr lang="zh-CN" altLang="en-US" sz="1600" dirty="0">
                <a:solidFill>
                  <a:srgbClr val="FF0000"/>
                </a:solidFill>
                <a:latin typeface="黑体" panose="02010609060101010101" pitchFamily="49" charset="-122"/>
                <a:ea typeface="黑体" panose="02010609060101010101" pitchFamily="49" charset="-122"/>
              </a:rPr>
              <a:t>条</a:t>
            </a:r>
            <a:r>
              <a:rPr lang="zh-CN" altLang="en-US" sz="1600" dirty="0">
                <a:solidFill>
                  <a:srgbClr val="000000"/>
                </a:solidFill>
                <a:latin typeface="黑体" panose="02010609060101010101" pitchFamily="49" charset="-122"/>
                <a:ea typeface="黑体" panose="02010609060101010101" pitchFamily="49" charset="-122"/>
              </a:rPr>
              <a:t>，</a:t>
            </a:r>
            <a:r>
              <a:rPr lang="zh-CN" altLang="en-US" sz="1600" dirty="0">
                <a:solidFill>
                  <a:srgbClr val="0033CC"/>
                </a:solidFill>
                <a:latin typeface="黑体" panose="02010609060101010101" pitchFamily="49" charset="-122"/>
                <a:ea typeface="黑体" panose="02010609060101010101" pitchFamily="49" charset="-122"/>
              </a:rPr>
              <a:t>按指令所占的字节来分：</a:t>
            </a:r>
            <a:endParaRPr lang="zh-CN" altLang="en-US" sz="1600" dirty="0">
              <a:solidFill>
                <a:srgbClr val="000000"/>
              </a:solidFill>
              <a:latin typeface="黑体" panose="02010609060101010101" pitchFamily="49" charset="-122"/>
              <a:ea typeface="黑体" panose="02010609060101010101" pitchFamily="49" charset="-122"/>
            </a:endParaRPr>
          </a:p>
          <a:p>
            <a:pPr algn="just" eaLnBrk="1" fontAlgn="b" hangingPunct="1">
              <a:lnSpc>
                <a:spcPct val="110000"/>
              </a:lnSpc>
              <a:buClrTx/>
              <a:buFontTx/>
              <a:buNone/>
            </a:pPr>
            <a:r>
              <a:rPr lang="zh-CN" altLang="en-US" sz="1600" dirty="0">
                <a:solidFill>
                  <a:srgbClr val="000000"/>
                </a:solidFill>
                <a:latin typeface="黑体" panose="02010609060101010101" pitchFamily="49" charset="-122"/>
                <a:ea typeface="黑体" panose="02010609060101010101" pitchFamily="49" charset="-122"/>
              </a:rPr>
              <a:t>  </a:t>
            </a:r>
            <a:r>
              <a:rPr lang="en-US" altLang="zh-CN" sz="1600" dirty="0">
                <a:solidFill>
                  <a:srgbClr val="000000"/>
                </a:solidFill>
                <a:latin typeface="黑体" panose="02010609060101010101" pitchFamily="49" charset="-122"/>
                <a:ea typeface="黑体" panose="02010609060101010101" pitchFamily="49" charset="-122"/>
              </a:rPr>
              <a:t>(1) </a:t>
            </a:r>
            <a:r>
              <a:rPr lang="zh-CN" altLang="en-US" sz="1600" dirty="0">
                <a:solidFill>
                  <a:srgbClr val="FF0000"/>
                </a:solidFill>
                <a:latin typeface="黑体" panose="02010609060101010101" pitchFamily="49" charset="-122"/>
                <a:ea typeface="黑体" panose="02010609060101010101" pitchFamily="49" charset="-122"/>
              </a:rPr>
              <a:t>单字节</a:t>
            </a:r>
            <a:r>
              <a:rPr lang="zh-CN" altLang="en-US" sz="1600" dirty="0">
                <a:solidFill>
                  <a:srgbClr val="000000"/>
                </a:solidFill>
                <a:latin typeface="黑体" panose="02010609060101010101" pitchFamily="49" charset="-122"/>
                <a:ea typeface="黑体" panose="02010609060101010101" pitchFamily="49" charset="-122"/>
              </a:rPr>
              <a:t>指令</a:t>
            </a:r>
            <a:r>
              <a:rPr lang="en-US" altLang="zh-CN" sz="1600" dirty="0">
                <a:solidFill>
                  <a:srgbClr val="000000"/>
                </a:solidFill>
                <a:latin typeface="黑体" panose="02010609060101010101" pitchFamily="49" charset="-122"/>
                <a:ea typeface="黑体" panose="02010609060101010101" pitchFamily="49" charset="-122"/>
              </a:rPr>
              <a:t>49</a:t>
            </a:r>
            <a:r>
              <a:rPr lang="zh-CN" altLang="en-US" sz="1600" dirty="0">
                <a:solidFill>
                  <a:srgbClr val="000000"/>
                </a:solidFill>
                <a:latin typeface="黑体" panose="02010609060101010101" pitchFamily="49" charset="-122"/>
                <a:ea typeface="黑体" panose="02010609060101010101" pitchFamily="49" charset="-122"/>
              </a:rPr>
              <a:t>条；</a:t>
            </a:r>
            <a:endParaRPr lang="zh-CN" altLang="en-US" sz="1600" dirty="0">
              <a:solidFill>
                <a:srgbClr val="000000"/>
              </a:solidFill>
              <a:latin typeface="黑体" panose="02010609060101010101" pitchFamily="49" charset="-122"/>
              <a:ea typeface="黑体" panose="02010609060101010101" pitchFamily="49" charset="-122"/>
            </a:endParaRPr>
          </a:p>
          <a:p>
            <a:pPr algn="just" eaLnBrk="1" fontAlgn="b" hangingPunct="1">
              <a:lnSpc>
                <a:spcPct val="110000"/>
              </a:lnSpc>
              <a:buClrTx/>
              <a:buFontTx/>
              <a:buNone/>
            </a:pPr>
            <a:r>
              <a:rPr lang="zh-CN" altLang="en-US" sz="1600" dirty="0">
                <a:solidFill>
                  <a:srgbClr val="000000"/>
                </a:solidFill>
                <a:latin typeface="黑体" panose="02010609060101010101" pitchFamily="49" charset="-122"/>
                <a:ea typeface="黑体" panose="02010609060101010101" pitchFamily="49" charset="-122"/>
              </a:rPr>
              <a:t>  </a:t>
            </a:r>
            <a:r>
              <a:rPr lang="en-US" altLang="zh-CN" sz="1600" dirty="0">
                <a:solidFill>
                  <a:srgbClr val="000000"/>
                </a:solidFill>
                <a:latin typeface="黑体" panose="02010609060101010101" pitchFamily="49" charset="-122"/>
                <a:ea typeface="黑体" panose="02010609060101010101" pitchFamily="49" charset="-122"/>
              </a:rPr>
              <a:t>(2) </a:t>
            </a:r>
            <a:r>
              <a:rPr lang="zh-CN" altLang="en-US" sz="1600" dirty="0">
                <a:solidFill>
                  <a:srgbClr val="FF0000"/>
                </a:solidFill>
                <a:latin typeface="黑体" panose="02010609060101010101" pitchFamily="49" charset="-122"/>
                <a:ea typeface="黑体" panose="02010609060101010101" pitchFamily="49" charset="-122"/>
              </a:rPr>
              <a:t>双字节</a:t>
            </a:r>
            <a:r>
              <a:rPr lang="zh-CN" altLang="en-US" sz="1600" dirty="0">
                <a:solidFill>
                  <a:srgbClr val="000000"/>
                </a:solidFill>
                <a:latin typeface="黑体" panose="02010609060101010101" pitchFamily="49" charset="-122"/>
                <a:ea typeface="黑体" panose="02010609060101010101" pitchFamily="49" charset="-122"/>
              </a:rPr>
              <a:t>指令</a:t>
            </a:r>
            <a:r>
              <a:rPr lang="en-US" altLang="zh-CN" sz="1600" dirty="0">
                <a:solidFill>
                  <a:srgbClr val="000000"/>
                </a:solidFill>
                <a:latin typeface="黑体" panose="02010609060101010101" pitchFamily="49" charset="-122"/>
                <a:ea typeface="黑体" panose="02010609060101010101" pitchFamily="49" charset="-122"/>
              </a:rPr>
              <a:t>45</a:t>
            </a:r>
            <a:r>
              <a:rPr lang="zh-CN" altLang="en-US" sz="1600" dirty="0">
                <a:solidFill>
                  <a:srgbClr val="000000"/>
                </a:solidFill>
                <a:latin typeface="黑体" panose="02010609060101010101" pitchFamily="49" charset="-122"/>
                <a:ea typeface="黑体" panose="02010609060101010101" pitchFamily="49" charset="-122"/>
              </a:rPr>
              <a:t>条；</a:t>
            </a:r>
            <a:endParaRPr lang="zh-CN" altLang="en-US" sz="1600" dirty="0">
              <a:solidFill>
                <a:srgbClr val="000000"/>
              </a:solidFill>
              <a:latin typeface="黑体" panose="02010609060101010101" pitchFamily="49" charset="-122"/>
              <a:ea typeface="黑体" panose="02010609060101010101" pitchFamily="49" charset="-122"/>
            </a:endParaRPr>
          </a:p>
          <a:p>
            <a:pPr algn="just" eaLnBrk="1" fontAlgn="b" hangingPunct="1">
              <a:lnSpc>
                <a:spcPct val="110000"/>
              </a:lnSpc>
              <a:buClrTx/>
              <a:buFontTx/>
              <a:buNone/>
            </a:pPr>
            <a:r>
              <a:rPr lang="zh-CN" altLang="en-US" sz="1600" dirty="0">
                <a:solidFill>
                  <a:srgbClr val="000000"/>
                </a:solidFill>
                <a:latin typeface="黑体" panose="02010609060101010101" pitchFamily="49" charset="-122"/>
                <a:ea typeface="黑体" panose="02010609060101010101" pitchFamily="49" charset="-122"/>
              </a:rPr>
              <a:t>  </a:t>
            </a:r>
            <a:r>
              <a:rPr lang="en-US" altLang="zh-CN" sz="1600" dirty="0">
                <a:solidFill>
                  <a:srgbClr val="000000"/>
                </a:solidFill>
                <a:latin typeface="黑体" panose="02010609060101010101" pitchFamily="49" charset="-122"/>
                <a:ea typeface="黑体" panose="02010609060101010101" pitchFamily="49" charset="-122"/>
              </a:rPr>
              <a:t>(3) </a:t>
            </a:r>
            <a:r>
              <a:rPr lang="zh-CN" altLang="en-US" sz="1600" dirty="0">
                <a:solidFill>
                  <a:srgbClr val="FF0000"/>
                </a:solidFill>
                <a:latin typeface="黑体" panose="02010609060101010101" pitchFamily="49" charset="-122"/>
                <a:ea typeface="黑体" panose="02010609060101010101" pitchFamily="49" charset="-122"/>
              </a:rPr>
              <a:t>三字节</a:t>
            </a:r>
            <a:r>
              <a:rPr lang="zh-CN" altLang="en-US" sz="1600" dirty="0">
                <a:solidFill>
                  <a:srgbClr val="000000"/>
                </a:solidFill>
                <a:latin typeface="黑体" panose="02010609060101010101" pitchFamily="49" charset="-122"/>
                <a:ea typeface="黑体" panose="02010609060101010101" pitchFamily="49" charset="-122"/>
              </a:rPr>
              <a:t>指令</a:t>
            </a:r>
            <a:r>
              <a:rPr lang="en-US" altLang="zh-CN" sz="1600" dirty="0">
                <a:solidFill>
                  <a:srgbClr val="000000"/>
                </a:solidFill>
                <a:latin typeface="黑体" panose="02010609060101010101" pitchFamily="49" charset="-122"/>
                <a:ea typeface="黑体" panose="02010609060101010101" pitchFamily="49" charset="-122"/>
              </a:rPr>
              <a:t>17</a:t>
            </a:r>
            <a:r>
              <a:rPr lang="zh-CN" altLang="en-US" sz="1600" dirty="0">
                <a:solidFill>
                  <a:srgbClr val="000000"/>
                </a:solidFill>
                <a:latin typeface="黑体" panose="02010609060101010101" pitchFamily="49" charset="-122"/>
                <a:ea typeface="黑体" panose="02010609060101010101" pitchFamily="49" charset="-122"/>
              </a:rPr>
              <a:t>条。</a:t>
            </a:r>
            <a:endParaRPr lang="zh-CN" altLang="en-US" sz="1600" dirty="0">
              <a:solidFill>
                <a:srgbClr val="000000"/>
              </a:solidFill>
              <a:latin typeface="黑体" panose="02010609060101010101" pitchFamily="49" charset="-122"/>
              <a:ea typeface="黑体" panose="02010609060101010101" pitchFamily="49" charset="-122"/>
            </a:endParaRPr>
          </a:p>
          <a:p>
            <a:pPr algn="just" eaLnBrk="1" fontAlgn="b" hangingPunct="1">
              <a:lnSpc>
                <a:spcPct val="110000"/>
              </a:lnSpc>
              <a:buClrTx/>
              <a:buFontTx/>
              <a:buNone/>
            </a:pPr>
            <a:r>
              <a:rPr lang="zh-CN" altLang="en-US" sz="1600" dirty="0">
                <a:solidFill>
                  <a:srgbClr val="0033CC"/>
                </a:solidFill>
                <a:latin typeface="黑体" panose="02010609060101010101" pitchFamily="49" charset="-122"/>
                <a:ea typeface="黑体" panose="02010609060101010101" pitchFamily="49" charset="-122"/>
              </a:rPr>
              <a:t>按指令的执行时间来分</a:t>
            </a:r>
            <a:r>
              <a:rPr lang="zh-CN" altLang="en-US" sz="1600" dirty="0">
                <a:solidFill>
                  <a:srgbClr val="000000"/>
                </a:solidFill>
                <a:latin typeface="黑体" panose="02010609060101010101" pitchFamily="49" charset="-122"/>
                <a:ea typeface="黑体" panose="02010609060101010101" pitchFamily="49" charset="-122"/>
              </a:rPr>
              <a:t>：</a:t>
            </a:r>
            <a:endParaRPr lang="zh-CN" altLang="en-US" sz="1600" dirty="0">
              <a:solidFill>
                <a:srgbClr val="000000"/>
              </a:solidFill>
              <a:latin typeface="黑体" panose="02010609060101010101" pitchFamily="49" charset="-122"/>
              <a:ea typeface="黑体" panose="02010609060101010101" pitchFamily="49" charset="-122"/>
            </a:endParaRPr>
          </a:p>
          <a:p>
            <a:pPr algn="just" eaLnBrk="1" fontAlgn="b" hangingPunct="1">
              <a:lnSpc>
                <a:spcPct val="110000"/>
              </a:lnSpc>
              <a:buClrTx/>
              <a:buFontTx/>
              <a:buNone/>
            </a:pPr>
            <a:r>
              <a:rPr lang="zh-CN" altLang="en-US" sz="1600" dirty="0">
                <a:solidFill>
                  <a:srgbClr val="000000"/>
                </a:solidFill>
                <a:latin typeface="黑体" panose="02010609060101010101" pitchFamily="49" charset="-122"/>
                <a:ea typeface="黑体" panose="02010609060101010101" pitchFamily="49" charset="-122"/>
              </a:rPr>
              <a:t>  </a:t>
            </a:r>
            <a:r>
              <a:rPr lang="en-US" altLang="zh-CN" sz="1600" dirty="0">
                <a:solidFill>
                  <a:srgbClr val="000000"/>
                </a:solidFill>
                <a:latin typeface="黑体" panose="02010609060101010101" pitchFamily="49" charset="-122"/>
                <a:ea typeface="黑体" panose="02010609060101010101" pitchFamily="49" charset="-122"/>
              </a:rPr>
              <a:t>(1) </a:t>
            </a:r>
            <a:r>
              <a:rPr lang="en-US" altLang="zh-CN" sz="1600" dirty="0">
                <a:solidFill>
                  <a:srgbClr val="FF0000"/>
                </a:solidFill>
                <a:latin typeface="黑体" panose="02010609060101010101" pitchFamily="49" charset="-122"/>
                <a:ea typeface="黑体" panose="02010609060101010101" pitchFamily="49" charset="-122"/>
              </a:rPr>
              <a:t>1</a:t>
            </a:r>
            <a:r>
              <a:rPr lang="zh-CN" altLang="en-US" sz="1600" dirty="0">
                <a:solidFill>
                  <a:srgbClr val="FF0000"/>
                </a:solidFill>
                <a:latin typeface="黑体" panose="02010609060101010101" pitchFamily="49" charset="-122"/>
                <a:ea typeface="黑体" panose="02010609060101010101" pitchFamily="49" charset="-122"/>
              </a:rPr>
              <a:t>个机器周期</a:t>
            </a:r>
            <a:r>
              <a:rPr lang="zh-CN" altLang="en-US" sz="1600" dirty="0">
                <a:solidFill>
                  <a:srgbClr val="000000"/>
                </a:solidFill>
                <a:latin typeface="黑体" panose="02010609060101010101" pitchFamily="49" charset="-122"/>
                <a:ea typeface="黑体" panose="02010609060101010101" pitchFamily="49" charset="-122"/>
              </a:rPr>
              <a:t>（</a:t>
            </a:r>
            <a:r>
              <a:rPr lang="en-US" altLang="zh-CN" sz="1600" dirty="0">
                <a:solidFill>
                  <a:srgbClr val="000000"/>
                </a:solidFill>
                <a:latin typeface="黑体" panose="02010609060101010101" pitchFamily="49" charset="-122"/>
                <a:ea typeface="黑体" panose="02010609060101010101" pitchFamily="49" charset="-122"/>
              </a:rPr>
              <a:t>12</a:t>
            </a:r>
            <a:r>
              <a:rPr lang="zh-CN" altLang="en-US" sz="1600" dirty="0">
                <a:solidFill>
                  <a:srgbClr val="000000"/>
                </a:solidFill>
                <a:latin typeface="黑体" panose="02010609060101010101" pitchFamily="49" charset="-122"/>
                <a:ea typeface="黑体" panose="02010609060101010101" pitchFamily="49" charset="-122"/>
              </a:rPr>
              <a:t>个时钟振荡周期）指令</a:t>
            </a:r>
            <a:r>
              <a:rPr lang="en-US" altLang="zh-CN" sz="1600" dirty="0">
                <a:solidFill>
                  <a:srgbClr val="000000"/>
                </a:solidFill>
                <a:latin typeface="黑体" panose="02010609060101010101" pitchFamily="49" charset="-122"/>
                <a:ea typeface="黑体" panose="02010609060101010101" pitchFamily="49" charset="-122"/>
              </a:rPr>
              <a:t>64</a:t>
            </a:r>
            <a:r>
              <a:rPr lang="zh-CN" altLang="en-US" sz="1600" dirty="0">
                <a:solidFill>
                  <a:srgbClr val="000000"/>
                </a:solidFill>
                <a:latin typeface="黑体" panose="02010609060101010101" pitchFamily="49" charset="-122"/>
                <a:ea typeface="黑体" panose="02010609060101010101" pitchFamily="49" charset="-122"/>
              </a:rPr>
              <a:t>条</a:t>
            </a:r>
            <a:endParaRPr lang="zh-CN" altLang="en-US" sz="1600" dirty="0">
              <a:solidFill>
                <a:srgbClr val="000000"/>
              </a:solidFill>
              <a:latin typeface="黑体" panose="02010609060101010101" pitchFamily="49" charset="-122"/>
              <a:ea typeface="黑体" panose="02010609060101010101" pitchFamily="49" charset="-122"/>
            </a:endParaRPr>
          </a:p>
          <a:p>
            <a:pPr eaLnBrk="1" hangingPunct="1">
              <a:lnSpc>
                <a:spcPct val="110000"/>
              </a:lnSpc>
              <a:buClrTx/>
              <a:buFontTx/>
              <a:buNone/>
            </a:pPr>
            <a:r>
              <a:rPr lang="zh-CN" altLang="en-US" sz="1600" dirty="0">
                <a:solidFill>
                  <a:srgbClr val="000000"/>
                </a:solidFill>
                <a:latin typeface="黑体" panose="02010609060101010101" pitchFamily="49" charset="-122"/>
                <a:ea typeface="黑体" panose="02010609060101010101" pitchFamily="49" charset="-122"/>
              </a:rPr>
              <a:t>  </a:t>
            </a:r>
            <a:r>
              <a:rPr lang="en-US" altLang="zh-CN" sz="1600" dirty="0">
                <a:solidFill>
                  <a:srgbClr val="000000"/>
                </a:solidFill>
                <a:latin typeface="黑体" panose="02010609060101010101" pitchFamily="49" charset="-122"/>
                <a:ea typeface="黑体" panose="02010609060101010101" pitchFamily="49" charset="-122"/>
              </a:rPr>
              <a:t>(2) </a:t>
            </a:r>
            <a:r>
              <a:rPr lang="en-US" altLang="zh-CN" sz="1600" dirty="0">
                <a:solidFill>
                  <a:srgbClr val="FF0000"/>
                </a:solidFill>
                <a:latin typeface="黑体" panose="02010609060101010101" pitchFamily="49" charset="-122"/>
                <a:ea typeface="黑体" panose="02010609060101010101" pitchFamily="49" charset="-122"/>
              </a:rPr>
              <a:t>2</a:t>
            </a:r>
            <a:r>
              <a:rPr lang="zh-CN" altLang="en-US" sz="1600" dirty="0">
                <a:solidFill>
                  <a:srgbClr val="FF0000"/>
                </a:solidFill>
                <a:latin typeface="黑体" panose="02010609060101010101" pitchFamily="49" charset="-122"/>
                <a:ea typeface="黑体" panose="02010609060101010101" pitchFamily="49" charset="-122"/>
              </a:rPr>
              <a:t>个机器周期</a:t>
            </a:r>
            <a:r>
              <a:rPr lang="zh-CN" altLang="en-US" sz="1600" dirty="0">
                <a:solidFill>
                  <a:srgbClr val="000000"/>
                </a:solidFill>
                <a:latin typeface="黑体" panose="02010609060101010101" pitchFamily="49" charset="-122"/>
                <a:ea typeface="黑体" panose="02010609060101010101" pitchFamily="49" charset="-122"/>
              </a:rPr>
              <a:t>（</a:t>
            </a:r>
            <a:r>
              <a:rPr lang="en-US" altLang="zh-CN" sz="1600" dirty="0">
                <a:solidFill>
                  <a:srgbClr val="000000"/>
                </a:solidFill>
                <a:latin typeface="黑体" panose="02010609060101010101" pitchFamily="49" charset="-122"/>
                <a:ea typeface="黑体" panose="02010609060101010101" pitchFamily="49" charset="-122"/>
              </a:rPr>
              <a:t>24</a:t>
            </a:r>
            <a:r>
              <a:rPr lang="zh-CN" altLang="en-US" sz="1600" dirty="0">
                <a:solidFill>
                  <a:srgbClr val="000000"/>
                </a:solidFill>
                <a:latin typeface="黑体" panose="02010609060101010101" pitchFamily="49" charset="-122"/>
                <a:ea typeface="黑体" panose="02010609060101010101" pitchFamily="49" charset="-122"/>
              </a:rPr>
              <a:t>个时钟振荡周期）指令</a:t>
            </a:r>
            <a:r>
              <a:rPr lang="en-US" altLang="zh-CN" sz="1600" dirty="0">
                <a:solidFill>
                  <a:srgbClr val="000000"/>
                </a:solidFill>
                <a:latin typeface="黑体" panose="02010609060101010101" pitchFamily="49" charset="-122"/>
                <a:ea typeface="黑体" panose="02010609060101010101" pitchFamily="49" charset="-122"/>
              </a:rPr>
              <a:t>45</a:t>
            </a:r>
            <a:r>
              <a:rPr lang="zh-CN" altLang="en-US" sz="1600" dirty="0">
                <a:solidFill>
                  <a:srgbClr val="000000"/>
                </a:solidFill>
                <a:latin typeface="黑体" panose="02010609060101010101" pitchFamily="49" charset="-122"/>
                <a:ea typeface="黑体" panose="02010609060101010101" pitchFamily="49" charset="-122"/>
              </a:rPr>
              <a:t>条</a:t>
            </a:r>
            <a:endParaRPr lang="zh-CN" altLang="en-US" sz="1600" dirty="0">
              <a:solidFill>
                <a:srgbClr val="000000"/>
              </a:solidFill>
              <a:latin typeface="黑体" panose="02010609060101010101" pitchFamily="49" charset="-122"/>
              <a:ea typeface="黑体" panose="02010609060101010101" pitchFamily="49" charset="-122"/>
            </a:endParaRPr>
          </a:p>
          <a:p>
            <a:pPr algn="just" eaLnBrk="1" fontAlgn="b" hangingPunct="1">
              <a:lnSpc>
                <a:spcPct val="115000"/>
              </a:lnSpc>
              <a:buClrTx/>
              <a:buFontTx/>
              <a:buNone/>
            </a:pPr>
            <a:r>
              <a:rPr lang="zh-CN" altLang="en-US" sz="1800" b="0" dirty="0">
                <a:solidFill>
                  <a:schemeClr val="tx2"/>
                </a:solidFill>
                <a:latin typeface="黑体" panose="02010609060101010101" pitchFamily="49" charset="-122"/>
                <a:ea typeface="黑体" panose="02010609060101010101" pitchFamily="49" charset="-122"/>
              </a:rPr>
              <a:t>  </a:t>
            </a:r>
            <a:r>
              <a:rPr lang="en-US" altLang="zh-CN" sz="1600" dirty="0">
                <a:solidFill>
                  <a:srgbClr val="000000"/>
                </a:solidFill>
                <a:latin typeface="黑体" panose="02010609060101010101" pitchFamily="49" charset="-122"/>
                <a:ea typeface="黑体" panose="02010609060101010101" pitchFamily="49" charset="-122"/>
              </a:rPr>
              <a:t>(3) </a:t>
            </a:r>
            <a:r>
              <a:rPr lang="zh-CN" altLang="en-US" sz="1600" dirty="0">
                <a:solidFill>
                  <a:srgbClr val="000000"/>
                </a:solidFill>
                <a:latin typeface="黑体" panose="02010609060101010101" pitchFamily="49" charset="-122"/>
                <a:ea typeface="黑体" panose="02010609060101010101" pitchFamily="49" charset="-122"/>
              </a:rPr>
              <a:t>只有</a:t>
            </a:r>
            <a:r>
              <a:rPr lang="zh-CN" altLang="en-US" sz="1600" dirty="0">
                <a:solidFill>
                  <a:srgbClr val="0033CC"/>
                </a:solidFill>
                <a:latin typeface="黑体" panose="02010609060101010101" pitchFamily="49" charset="-122"/>
                <a:ea typeface="黑体" panose="02010609060101010101" pitchFamily="49" charset="-122"/>
              </a:rPr>
              <a:t>乘、除两条指令</a:t>
            </a:r>
            <a:r>
              <a:rPr lang="zh-CN" altLang="en-US" sz="1600" dirty="0">
                <a:solidFill>
                  <a:srgbClr val="000000"/>
                </a:solidFill>
                <a:latin typeface="黑体" panose="02010609060101010101" pitchFamily="49" charset="-122"/>
                <a:ea typeface="黑体" panose="02010609060101010101" pitchFamily="49" charset="-122"/>
              </a:rPr>
              <a:t>的执行时间为</a:t>
            </a:r>
            <a:r>
              <a:rPr lang="en-US" altLang="zh-CN" sz="1600" dirty="0">
                <a:solidFill>
                  <a:srgbClr val="0033CC"/>
                </a:solidFill>
                <a:latin typeface="黑体" panose="02010609060101010101" pitchFamily="49" charset="-122"/>
                <a:ea typeface="黑体" panose="02010609060101010101" pitchFamily="49" charset="-122"/>
              </a:rPr>
              <a:t>4</a:t>
            </a:r>
            <a:r>
              <a:rPr lang="zh-CN" altLang="en-US" sz="1600" dirty="0">
                <a:solidFill>
                  <a:srgbClr val="0033CC"/>
                </a:solidFill>
                <a:latin typeface="黑体" panose="02010609060101010101" pitchFamily="49" charset="-122"/>
                <a:ea typeface="黑体" panose="02010609060101010101" pitchFamily="49" charset="-122"/>
              </a:rPr>
              <a:t>个机器周期</a:t>
            </a:r>
            <a:r>
              <a:rPr lang="zh-CN" altLang="en-US" sz="1600" dirty="0">
                <a:solidFill>
                  <a:srgbClr val="000000"/>
                </a:solidFill>
                <a:latin typeface="黑体" panose="02010609060101010101" pitchFamily="49" charset="-122"/>
                <a:ea typeface="黑体" panose="02010609060101010101" pitchFamily="49" charset="-122"/>
              </a:rPr>
              <a:t>（</a:t>
            </a:r>
            <a:r>
              <a:rPr lang="en-US" altLang="zh-CN" sz="1600" dirty="0">
                <a:solidFill>
                  <a:srgbClr val="000000"/>
                </a:solidFill>
                <a:latin typeface="黑体" panose="02010609060101010101" pitchFamily="49" charset="-122"/>
                <a:ea typeface="黑体" panose="02010609060101010101" pitchFamily="49" charset="-122"/>
              </a:rPr>
              <a:t>48</a:t>
            </a:r>
            <a:r>
              <a:rPr lang="zh-CN" altLang="en-US" sz="1600" dirty="0">
                <a:solidFill>
                  <a:srgbClr val="000000"/>
                </a:solidFill>
                <a:latin typeface="黑体" panose="02010609060101010101" pitchFamily="49" charset="-122"/>
                <a:ea typeface="黑体" panose="02010609060101010101" pitchFamily="49" charset="-122"/>
              </a:rPr>
              <a:t>个时钟振荡周期）。</a:t>
            </a:r>
            <a:endParaRPr lang="zh-CN" altLang="en-US" sz="1600" dirty="0">
              <a:solidFill>
                <a:srgbClr val="000000"/>
              </a:solidFill>
              <a:latin typeface="黑体" panose="02010609060101010101" pitchFamily="49" charset="-122"/>
              <a:ea typeface="黑体" panose="02010609060101010101" pitchFamily="49" charset="-122"/>
            </a:endParaRPr>
          </a:p>
          <a:p>
            <a:pPr indent="0" algn="just" eaLnBrk="1" fontAlgn="b" hangingPunct="1">
              <a:lnSpc>
                <a:spcPct val="115000"/>
              </a:lnSpc>
              <a:buClrTx/>
              <a:buFontTx/>
              <a:buNone/>
            </a:pPr>
            <a:r>
              <a:rPr lang="en-US" altLang="zh-CN" sz="1600" dirty="0">
                <a:solidFill>
                  <a:srgbClr val="0000FF"/>
                </a:solidFill>
                <a:latin typeface="黑体" panose="02010609060101010101" pitchFamily="49" charset="-122"/>
                <a:ea typeface="黑体" panose="02010609060101010101" pitchFamily="49" charset="-122"/>
              </a:rPr>
              <a:t>12MHz</a:t>
            </a:r>
            <a:r>
              <a:rPr lang="zh-CN" altLang="en-US" sz="1600" dirty="0">
                <a:solidFill>
                  <a:srgbClr val="0000FF"/>
                </a:solidFill>
                <a:latin typeface="黑体" panose="02010609060101010101" pitchFamily="49" charset="-122"/>
                <a:ea typeface="黑体" panose="02010609060101010101" pitchFamily="49" charset="-122"/>
              </a:rPr>
              <a:t>晶振</a:t>
            </a:r>
            <a:r>
              <a:rPr lang="en-US" altLang="zh-CN" sz="1600" dirty="0">
                <a:solidFill>
                  <a:srgbClr val="0000FF"/>
                </a:solidFill>
                <a:latin typeface="黑体" panose="02010609060101010101" pitchFamily="49" charset="-122"/>
                <a:ea typeface="黑体" panose="02010609060101010101" pitchFamily="49" charset="-122"/>
              </a:rPr>
              <a:t>:</a:t>
            </a:r>
            <a:r>
              <a:rPr lang="zh-CN" altLang="en-US" sz="1600" dirty="0">
                <a:solidFill>
                  <a:srgbClr val="000000"/>
                </a:solidFill>
                <a:latin typeface="黑体" panose="02010609060101010101" pitchFamily="49" charset="-122"/>
                <a:ea typeface="黑体" panose="02010609060101010101" pitchFamily="49" charset="-122"/>
              </a:rPr>
              <a:t>机器周期为</a:t>
            </a:r>
            <a:r>
              <a:rPr lang="en-US" altLang="zh-CN" sz="1600" dirty="0">
                <a:solidFill>
                  <a:srgbClr val="000000"/>
                </a:solidFill>
                <a:latin typeface="黑体" panose="02010609060101010101" pitchFamily="49" charset="-122"/>
                <a:ea typeface="黑体" panose="02010609060101010101" pitchFamily="49" charset="-122"/>
              </a:rPr>
              <a:t>1</a:t>
            </a:r>
            <a:r>
              <a:rPr lang="en-US" altLang="zh-CN" sz="1600" dirty="0">
                <a:solidFill>
                  <a:srgbClr val="000000"/>
                </a:solidFill>
                <a:latin typeface="黑体" panose="02010609060101010101" pitchFamily="49" charset="-122"/>
                <a:ea typeface="黑体" panose="02010609060101010101" pitchFamily="49" charset="-122"/>
                <a:sym typeface="Symbol" pitchFamily="18" charset="2"/>
              </a:rPr>
              <a:t></a:t>
            </a:r>
            <a:r>
              <a:rPr lang="en-US" altLang="zh-CN" sz="1600" dirty="0">
                <a:solidFill>
                  <a:srgbClr val="000000"/>
                </a:solidFill>
                <a:latin typeface="黑体" panose="02010609060101010101" pitchFamily="49" charset="-122"/>
                <a:ea typeface="黑体" panose="02010609060101010101" pitchFamily="49" charset="-122"/>
              </a:rPr>
              <a:t>s</a:t>
            </a:r>
            <a:r>
              <a:rPr lang="zh-CN" altLang="en-US" sz="1600" dirty="0">
                <a:solidFill>
                  <a:srgbClr val="000000"/>
                </a:solidFill>
                <a:latin typeface="黑体" panose="02010609060101010101" pitchFamily="49" charset="-122"/>
                <a:ea typeface="黑体" panose="02010609060101010101" pitchFamily="49" charset="-122"/>
              </a:rPr>
              <a:t>。</a:t>
            </a:r>
            <a:endParaRPr lang="zh-CN" altLang="en-US" sz="1600" dirty="0">
              <a:solidFill>
                <a:srgbClr val="000000"/>
              </a:solidFill>
              <a:latin typeface="黑体" panose="02010609060101010101" pitchFamily="49" charset="-122"/>
              <a:ea typeface="黑体" panose="02010609060101010101" pitchFamily="49" charset="-122"/>
            </a:endParaRPr>
          </a:p>
        </p:txBody>
      </p:sp>
      <p:sp>
        <p:nvSpPr>
          <p:cNvPr id="87042" name="Rectangle 2"/>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第三章     </a:t>
            </a:r>
            <a:r>
              <a:rPr kumimoji="1" lang="en-US" altLang="zh-CN"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602">
                                            <p:txEl>
                                              <p:charRg st="42" end="59"/>
                                            </p:txEl>
                                          </p:spTgt>
                                        </p:tgtEl>
                                        <p:attrNameLst>
                                          <p:attrName>style.visibility</p:attrName>
                                        </p:attrNameLst>
                                      </p:cBhvr>
                                      <p:to>
                                        <p:strVal val="visible"/>
                                      </p:to>
                                    </p:set>
                                    <p:animEffect transition="in" filter="blinds(horizontal)">
                                      <p:cBhvr>
                                        <p:cTn id="7" dur="500"/>
                                        <p:tgtEl>
                                          <p:spTgt spid="25602">
                                            <p:txEl>
                                              <p:charRg st="42" end="59"/>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602">
                                            <p:txEl>
                                              <p:charRg st="59" end="89"/>
                                            </p:txEl>
                                          </p:spTgt>
                                        </p:tgtEl>
                                        <p:attrNameLst>
                                          <p:attrName>style.visibility</p:attrName>
                                        </p:attrNameLst>
                                      </p:cBhvr>
                                      <p:to>
                                        <p:strVal val="visible"/>
                                      </p:to>
                                    </p:set>
                                    <p:animEffect transition="in" filter="blinds(horizontal)">
                                      <p:cBhvr>
                                        <p:cTn id="12" dur="500"/>
                                        <p:tgtEl>
                                          <p:spTgt spid="25602">
                                            <p:txEl>
                                              <p:charRg st="59" end="8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602">
                                            <p:txEl>
                                              <p:charRg st="89" end="119"/>
                                            </p:txEl>
                                          </p:spTgt>
                                        </p:tgtEl>
                                        <p:attrNameLst>
                                          <p:attrName>style.visibility</p:attrName>
                                        </p:attrNameLst>
                                      </p:cBhvr>
                                      <p:to>
                                        <p:strVal val="visible"/>
                                      </p:to>
                                    </p:set>
                                    <p:animEffect transition="in" filter="blinds(horizontal)">
                                      <p:cBhvr>
                                        <p:cTn id="17" dur="500"/>
                                        <p:tgtEl>
                                          <p:spTgt spid="25602">
                                            <p:txEl>
                                              <p:charRg st="89" end="11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602">
                                            <p:txEl>
                                              <p:charRg st="119" end="163"/>
                                            </p:txEl>
                                          </p:spTgt>
                                        </p:tgtEl>
                                        <p:attrNameLst>
                                          <p:attrName>style.visibility</p:attrName>
                                        </p:attrNameLst>
                                      </p:cBhvr>
                                      <p:to>
                                        <p:strVal val="visible"/>
                                      </p:to>
                                    </p:set>
                                    <p:animEffect transition="in" filter="blinds(horizontal)">
                                      <p:cBhvr>
                                        <p:cTn id="22" dur="500"/>
                                        <p:tgtEl>
                                          <p:spTgt spid="25602">
                                            <p:txEl>
                                              <p:charRg st="119" end="16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5602">
                                            <p:txEl>
                                              <p:charRg st="163" end="193"/>
                                            </p:txEl>
                                          </p:spTgt>
                                        </p:tgtEl>
                                        <p:attrNameLst>
                                          <p:attrName>style.visibility</p:attrName>
                                        </p:attrNameLst>
                                      </p:cBhvr>
                                      <p:to>
                                        <p:strVal val="visible"/>
                                      </p:to>
                                    </p:set>
                                    <p:animEffect transition="in" filter="blinds(horizontal)">
                                      <p:cBhvr>
                                        <p:cTn id="27" dur="500"/>
                                        <p:tgtEl>
                                          <p:spTgt spid="25602">
                                            <p:txEl>
                                              <p:charRg st="163" end="19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5602">
                                            <p:txEl>
                                              <p:charRg st="193" end="209"/>
                                            </p:txEl>
                                          </p:spTgt>
                                        </p:tgtEl>
                                        <p:attrNameLst>
                                          <p:attrName>style.visibility</p:attrName>
                                        </p:attrNameLst>
                                      </p:cBhvr>
                                      <p:to>
                                        <p:strVal val="visible"/>
                                      </p:to>
                                    </p:set>
                                    <p:animEffect transition="in" filter="blinds(horizontal)">
                                      <p:cBhvr>
                                        <p:cTn id="32" dur="500"/>
                                        <p:tgtEl>
                                          <p:spTgt spid="25602">
                                            <p:txEl>
                                              <p:charRg st="193" end="20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5602">
                                            <p:txEl>
                                              <p:charRg st="209" end="225"/>
                                            </p:txEl>
                                          </p:spTgt>
                                        </p:tgtEl>
                                        <p:attrNameLst>
                                          <p:attrName>style.visibility</p:attrName>
                                        </p:attrNameLst>
                                      </p:cBhvr>
                                      <p:to>
                                        <p:strVal val="visible"/>
                                      </p:to>
                                    </p:set>
                                    <p:animEffect transition="in" filter="blinds(horizontal)">
                                      <p:cBhvr>
                                        <p:cTn id="37" dur="500"/>
                                        <p:tgtEl>
                                          <p:spTgt spid="25602">
                                            <p:txEl>
                                              <p:charRg st="209" end="22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5602">
                                            <p:txEl>
                                              <p:charRg st="225" end="241"/>
                                            </p:txEl>
                                          </p:spTgt>
                                        </p:tgtEl>
                                        <p:attrNameLst>
                                          <p:attrName>style.visibility</p:attrName>
                                        </p:attrNameLst>
                                      </p:cBhvr>
                                      <p:to>
                                        <p:strVal val="visible"/>
                                      </p:to>
                                    </p:set>
                                    <p:animEffect transition="in" filter="blinds(horizontal)">
                                      <p:cBhvr>
                                        <p:cTn id="42" dur="500"/>
                                        <p:tgtEl>
                                          <p:spTgt spid="25602">
                                            <p:txEl>
                                              <p:charRg st="225" end="24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5602">
                                            <p:txEl>
                                              <p:charRg st="241" end="253"/>
                                            </p:txEl>
                                          </p:spTgt>
                                        </p:tgtEl>
                                        <p:attrNameLst>
                                          <p:attrName>style.visibility</p:attrName>
                                        </p:attrNameLst>
                                      </p:cBhvr>
                                      <p:to>
                                        <p:strVal val="visible"/>
                                      </p:to>
                                    </p:set>
                                    <p:animEffect transition="in" filter="blinds(horizontal)">
                                      <p:cBhvr>
                                        <p:cTn id="47" dur="500"/>
                                        <p:tgtEl>
                                          <p:spTgt spid="25602">
                                            <p:txEl>
                                              <p:charRg st="241" end="25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5602">
                                            <p:txEl>
                                              <p:charRg st="253" end="282"/>
                                            </p:txEl>
                                          </p:spTgt>
                                        </p:tgtEl>
                                        <p:attrNameLst>
                                          <p:attrName>style.visibility</p:attrName>
                                        </p:attrNameLst>
                                      </p:cBhvr>
                                      <p:to>
                                        <p:strVal val="visible"/>
                                      </p:to>
                                    </p:set>
                                    <p:animEffect transition="in" filter="blinds(horizontal)">
                                      <p:cBhvr>
                                        <p:cTn id="52" dur="500"/>
                                        <p:tgtEl>
                                          <p:spTgt spid="25602">
                                            <p:txEl>
                                              <p:charRg st="253" end="28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5602">
                                            <p:txEl>
                                              <p:charRg st="282" end="311"/>
                                            </p:txEl>
                                          </p:spTgt>
                                        </p:tgtEl>
                                        <p:attrNameLst>
                                          <p:attrName>style.visibility</p:attrName>
                                        </p:attrNameLst>
                                      </p:cBhvr>
                                      <p:to>
                                        <p:strVal val="visible"/>
                                      </p:to>
                                    </p:set>
                                    <p:animEffect transition="in" filter="blinds(horizontal)">
                                      <p:cBhvr>
                                        <p:cTn id="57" dur="500"/>
                                        <p:tgtEl>
                                          <p:spTgt spid="25602">
                                            <p:txEl>
                                              <p:charRg st="282" end="3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5602">
                                            <p:txEl>
                                              <p:charRg st="311" end="351"/>
                                            </p:txEl>
                                          </p:spTgt>
                                        </p:tgtEl>
                                        <p:attrNameLst>
                                          <p:attrName>style.visibility</p:attrName>
                                        </p:attrNameLst>
                                      </p:cBhvr>
                                      <p:to>
                                        <p:strVal val="visible"/>
                                      </p:to>
                                    </p:set>
                                    <p:animEffect transition="in" filter="blinds(horizontal)">
                                      <p:cBhvr>
                                        <p:cTn id="62" dur="500"/>
                                        <p:tgtEl>
                                          <p:spTgt spid="25602">
                                            <p:txEl>
                                              <p:charRg st="311" end="35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5602">
                                            <p:txEl>
                                              <p:charRg st="15" end="15"/>
                                            </p:txEl>
                                          </p:spTgt>
                                        </p:tgtEl>
                                        <p:attrNameLst>
                                          <p:attrName>style.visibility</p:attrName>
                                        </p:attrNameLst>
                                      </p:cBhvr>
                                      <p:to>
                                        <p:strVal val="visible"/>
                                      </p:to>
                                    </p:set>
                                    <p:animEffect transition="in" filter="blinds(horizontal)">
                                      <p:cBhvr>
                                        <p:cTn id="67" dur="500"/>
                                        <p:tgtEl>
                                          <p:spTgt spid="25602">
                                            <p:txEl>
                                              <p:char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14339" name="Rectangle 3"/>
          <p:cNvSpPr>
            <a:spLocks noGrp="1" noChangeArrowheads="1"/>
          </p:cNvSpPr>
          <p:nvPr>
            <p:ph type="body" idx="1"/>
          </p:nvPr>
        </p:nvSpPr>
        <p:spPr>
          <a:xfrm>
            <a:off x="176213" y="1052513"/>
            <a:ext cx="8967788" cy="3168650"/>
          </a:xfrm>
        </p:spPr>
        <p:txBody>
          <a:bodyPr vert="horz" wrap="square" lIns="91440" tIns="45720" rIns="91440" bIns="45720" numCol="1" anchor="t" anchorCtr="0" compatLnSpc="1"/>
          <a:lstStyle/>
          <a:p>
            <a:pPr marL="342900" marR="0" lvl="0" indent="-342900" algn="just" defTabSz="42545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r>
              <a:rPr kumimoji="1" lang="zh-CN" altLang="en-US" sz="3200" b="1" i="0" u="none" strike="noStrike" kern="0" cap="none" spc="0" normalizeH="0" baseline="0" noProof="0" dirty="0" smtClean="0">
                <a:ln>
                  <a:noFill/>
                </a:ln>
                <a:solidFill>
                  <a:schemeClr val="accent2"/>
                </a:solidFill>
                <a:effectLst/>
                <a:uLnTx/>
                <a:uFillTx/>
                <a:latin typeface="黑体" panose="02010609060101010101" pitchFamily="49" charset="-122"/>
                <a:ea typeface="黑体" panose="02010609060101010101" pitchFamily="49" charset="-122"/>
                <a:cs typeface="+mn-cs"/>
              </a:rPr>
              <a:t>3-1  指令系统概述</a:t>
            </a:r>
            <a:endParaRPr kumimoji="1" lang="en-US" altLang="zh-CN" sz="3200" b="1" i="0" u="none" strike="noStrike" kern="0" cap="none" spc="0" normalizeH="0" baseline="0" noProof="0" dirty="0" smtClean="0">
              <a:ln>
                <a:noFill/>
              </a:ln>
              <a:solidFill>
                <a:schemeClr val="accent2"/>
              </a:solidFill>
              <a:effectLst/>
              <a:uLnTx/>
              <a:uFillTx/>
              <a:latin typeface="黑体" panose="02010609060101010101" pitchFamily="49" charset="-122"/>
              <a:ea typeface="黑体" panose="02010609060101010101" pitchFamily="49" charset="-122"/>
              <a:cs typeface="+mn-cs"/>
            </a:endParaRPr>
          </a:p>
          <a:p>
            <a:pPr marL="342900" marR="0" lvl="0" indent="-342900" algn="just" defTabSz="42545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r>
              <a:rPr kumimoji="1" lang="zh-CN" altLang="en-US" sz="24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Times New Roman" panose="02020503050405090304" pitchFamily="18" charset="0"/>
                <a:ea typeface="+mn-ea"/>
                <a:cs typeface="+mn-cs"/>
              </a:rPr>
              <a:t> </a:t>
            </a:r>
            <a:r>
              <a:rPr kumimoji="1" lang="en-US" altLang="zh-CN" sz="24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Times New Roman" panose="02020503050405090304" pitchFamily="18" charset="0"/>
                <a:ea typeface="+mn-ea"/>
                <a:cs typeface="+mn-cs"/>
              </a:rPr>
              <a:t>3.1.2</a:t>
            </a:r>
            <a:r>
              <a:rPr kumimoji="1" lang="zh-CN" altLang="en-US" sz="24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Times New Roman" panose="02020503050405090304" pitchFamily="18" charset="0"/>
                <a:ea typeface="+mn-ea"/>
                <a:cs typeface="+mn-cs"/>
              </a:rPr>
              <a:t>      汇编语言指令格式</a:t>
            </a:r>
            <a:endParaRPr kumimoji="1" lang="zh-CN" altLang="en-US" sz="2400" b="1" i="0" u="none" strike="noStrike" kern="0" cap="none" spc="0" normalizeH="0" baseline="0" noProof="0" dirty="0" smtClean="0">
              <a:ln>
                <a:noFill/>
              </a:ln>
              <a:solidFill>
                <a:srgbClr val="FF6600"/>
              </a:solidFill>
              <a:effectLst/>
              <a:uLnTx/>
              <a:uFillTx/>
              <a:latin typeface="Times New Roman" panose="02020503050405090304" pitchFamily="18" charset="0"/>
              <a:ea typeface="+mn-ea"/>
              <a:cs typeface="+mn-cs"/>
            </a:endParaRPr>
          </a:p>
          <a:p>
            <a:pPr marL="342900" marR="0" lvl="0" indent="-342900" algn="just" defTabSz="42545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r>
              <a:rPr kumimoji="1" lang="zh-CN" altLang="en-US" sz="2400" b="1" i="0" u="none" strike="noStrike" kern="0" cap="none" spc="0" normalizeH="0" baseline="0" noProof="0" dirty="0" smtClean="0">
                <a:ln>
                  <a:noFill/>
                </a:ln>
                <a:solidFill>
                  <a:schemeClr val="tx2"/>
                </a:solidFill>
                <a:effectLst/>
                <a:uLnTx/>
                <a:uFillTx/>
                <a:latin typeface="Times New Roman" panose="02020503050405090304" pitchFamily="18" charset="0"/>
                <a:ea typeface="+mn-ea"/>
                <a:cs typeface="+mn-cs"/>
              </a:rPr>
              <a:t>			[标号：]</a:t>
            </a:r>
            <a:r>
              <a:rPr kumimoji="1" lang="zh-CN" altLang="en-US" sz="2400" b="1" i="0" u="none" strike="noStrike" kern="0" cap="none" spc="0" normalizeH="0" baseline="0" noProof="0" dirty="0" smtClean="0">
                <a:ln>
                  <a:noFill/>
                </a:ln>
                <a:solidFill>
                  <a:schemeClr val="tx1"/>
                </a:solidFill>
                <a:effectLst/>
                <a:uLnTx/>
                <a:uFillTx/>
                <a:latin typeface="Times New Roman" panose="02020503050405090304" pitchFamily="18" charset="0"/>
                <a:ea typeface="+mn-ea"/>
                <a:cs typeface="+mn-cs"/>
              </a:rPr>
              <a:t> </a:t>
            </a:r>
            <a:r>
              <a:rPr kumimoji="1" lang="zh-CN" altLang="en-US" sz="2400" b="1" i="0" u="none" strike="noStrike" kern="0" cap="none" spc="0" normalizeH="0" baseline="0" noProof="0" dirty="0" smtClean="0">
                <a:ln>
                  <a:noFill/>
                </a:ln>
                <a:solidFill>
                  <a:schemeClr val="tx2"/>
                </a:solidFill>
                <a:effectLst/>
                <a:uLnTx/>
                <a:uFillTx/>
                <a:latin typeface="Times New Roman" panose="02020503050405090304" pitchFamily="18" charset="0"/>
                <a:ea typeface="+mn-ea"/>
                <a:cs typeface="+mn-cs"/>
              </a:rPr>
              <a:t>操作码</a:t>
            </a:r>
            <a:r>
              <a:rPr kumimoji="1" lang="zh-CN" altLang="en-US" sz="2400" b="1" i="0" u="none" strike="noStrike" kern="0" cap="none" spc="0" normalizeH="0" baseline="0" noProof="0" dirty="0" smtClean="0">
                <a:ln>
                  <a:noFill/>
                </a:ln>
                <a:solidFill>
                  <a:schemeClr val="tx1"/>
                </a:solidFill>
                <a:effectLst/>
                <a:uLnTx/>
                <a:uFillTx/>
                <a:latin typeface="Times New Roman" panose="02020503050405090304" pitchFamily="18" charset="0"/>
                <a:ea typeface="+mn-ea"/>
                <a:cs typeface="+mn-cs"/>
              </a:rPr>
              <a:t> [目的操作数]，[源操作数][；注释]</a:t>
            </a:r>
            <a:endParaRPr kumimoji="1" lang="zh-CN" altLang="en-US" sz="2400" b="1" i="0" u="none" strike="noStrike" kern="0" cap="none" spc="0" normalizeH="0" baseline="0" noProof="0" dirty="0" smtClean="0">
              <a:ln>
                <a:noFill/>
              </a:ln>
              <a:solidFill>
                <a:schemeClr val="tx1"/>
              </a:solidFill>
              <a:effectLst/>
              <a:uLnTx/>
              <a:uFillTx/>
              <a:latin typeface="Times New Roman" panose="02020503050405090304" pitchFamily="18" charset="0"/>
              <a:ea typeface="+mn-ea"/>
              <a:cs typeface="+mn-cs"/>
            </a:endParaRPr>
          </a:p>
          <a:p>
            <a:pPr marL="342900" marR="0" lvl="0" indent="-342900" algn="just" defTabSz="42545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r>
              <a:rPr kumimoji="1" lang="zh-CN" altLang="en-US" sz="2400" b="1" i="0" u="none" strike="noStrike" kern="0" cap="none" spc="0" normalizeH="0" baseline="0" noProof="0" dirty="0" smtClean="0">
                <a:ln>
                  <a:noFill/>
                </a:ln>
                <a:solidFill>
                  <a:schemeClr val="tx1"/>
                </a:solidFill>
                <a:effectLst/>
                <a:uLnTx/>
                <a:uFillTx/>
                <a:latin typeface="Times New Roman" panose="02020503050405090304" pitchFamily="18" charset="0"/>
                <a:ea typeface="+mn-ea"/>
                <a:cs typeface="+mn-cs"/>
              </a:rPr>
              <a:t>           </a:t>
            </a:r>
            <a:r>
              <a:rPr kumimoji="1" lang="zh-CN" altLang="en-US" sz="2400" b="1" i="0" u="none" strike="noStrike" kern="0" cap="none" spc="0" normalizeH="0" baseline="0" noProof="0" dirty="0" smtClean="0">
                <a:ln>
                  <a:noFill/>
                </a:ln>
                <a:solidFill>
                  <a:srgbClr val="FF3300"/>
                </a:solidFill>
                <a:effectLst/>
                <a:uLnTx/>
                <a:uFillTx/>
                <a:latin typeface="Times New Roman" panose="02020503050405090304" pitchFamily="18" charset="0"/>
                <a:ea typeface="+mn-ea"/>
                <a:cs typeface="+mn-cs"/>
              </a:rPr>
              <a:t>例：</a:t>
            </a:r>
            <a:r>
              <a:rPr kumimoji="1" lang="zh-CN" altLang="en-US" sz="2400" b="1" i="0" u="none" strike="noStrike" kern="0" cap="none" spc="0" normalizeH="0" baseline="0" noProof="0" dirty="0" smtClean="0">
                <a:ln>
                  <a:noFill/>
                </a:ln>
                <a:solidFill>
                  <a:schemeClr val="tx1"/>
                </a:solidFill>
                <a:effectLst/>
                <a:uLnTx/>
                <a:uFillTx/>
                <a:latin typeface="Times New Roman" panose="02020503050405090304" pitchFamily="18" charset="0"/>
                <a:ea typeface="+mn-ea"/>
                <a:cs typeface="+mn-cs"/>
              </a:rPr>
              <a:t>    </a:t>
            </a:r>
            <a:r>
              <a:rPr kumimoji="1" lang="en-US" altLang="zh-CN" sz="2400" b="1" i="0" u="none" strike="noStrike" kern="0" cap="none" spc="0" normalizeH="0" baseline="0" noProof="0" dirty="0" smtClean="0">
                <a:ln>
                  <a:noFill/>
                </a:ln>
                <a:solidFill>
                  <a:schemeClr val="tx1"/>
                </a:solidFill>
                <a:effectLst/>
                <a:uLnTx/>
                <a:uFillTx/>
                <a:latin typeface="Times New Roman" panose="02020503050405090304" pitchFamily="18" charset="0"/>
                <a:ea typeface="+mn-ea"/>
                <a:cs typeface="+mn-cs"/>
              </a:rPr>
              <a:t>LOOP：  MOV   A，#40H ；</a:t>
            </a:r>
            <a:r>
              <a:rPr kumimoji="1" lang="zh-CN" altLang="en-US" sz="2400" b="1" i="0" u="none" strike="noStrike" kern="0" cap="none" spc="0" normalizeH="0" baseline="0" noProof="0" dirty="0" smtClean="0">
                <a:ln>
                  <a:noFill/>
                </a:ln>
                <a:solidFill>
                  <a:schemeClr val="tx1"/>
                </a:solidFill>
                <a:effectLst/>
                <a:uLnTx/>
                <a:uFillTx/>
                <a:latin typeface="Times New Roman" panose="02020503050405090304" pitchFamily="18" charset="0"/>
                <a:ea typeface="+mn-ea"/>
                <a:cs typeface="+mn-cs"/>
              </a:rPr>
              <a:t>40</a:t>
            </a:r>
            <a:r>
              <a:rPr kumimoji="1" lang="en-US" altLang="zh-CN" sz="2400" b="1" i="0" u="none" strike="noStrike" kern="0" cap="none" spc="0" normalizeH="0" baseline="0" noProof="0" dirty="0" smtClean="0">
                <a:ln>
                  <a:noFill/>
                </a:ln>
                <a:solidFill>
                  <a:schemeClr val="tx1"/>
                </a:solidFill>
                <a:effectLst/>
                <a:uLnTx/>
                <a:uFillTx/>
                <a:latin typeface="Times New Roman" panose="02020503050405090304" pitchFamily="18" charset="0"/>
                <a:ea typeface="+mn-ea"/>
                <a:cs typeface="+mn-cs"/>
              </a:rPr>
              <a:t>H -&gt; A</a:t>
            </a:r>
            <a:endParaRPr kumimoji="1" lang="en-US" altLang="zh-CN" sz="2400" b="1" i="0" u="none" strike="noStrike" kern="0" cap="none" spc="0" normalizeH="0" baseline="0" noProof="0" dirty="0" smtClean="0">
              <a:ln>
                <a:noFill/>
              </a:ln>
              <a:solidFill>
                <a:schemeClr val="tx1"/>
              </a:solidFill>
              <a:effectLst/>
              <a:uLnTx/>
              <a:uFillTx/>
              <a:latin typeface="Times New Roman" panose="02020503050405090304" pitchFamily="18" charset="0"/>
              <a:ea typeface="+mn-ea"/>
              <a:cs typeface="+mn-cs"/>
            </a:endParaRPr>
          </a:p>
          <a:p>
            <a:pPr marL="342900" marR="0" lvl="0" indent="-342900" algn="just" defTabSz="42545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r>
              <a:rPr kumimoji="1" lang="zh-CN" altLang="en-US" sz="2400" b="1" i="0" u="none" strike="noStrike" kern="0" cap="none" spc="0" normalizeH="0" baseline="0" noProof="0" dirty="0" smtClean="0">
                <a:ln>
                  <a:noFill/>
                </a:ln>
                <a:solidFill>
                  <a:schemeClr val="tx2"/>
                </a:solidFill>
                <a:effectLst/>
                <a:uLnTx/>
                <a:uFillTx/>
                <a:latin typeface="Times New Roman" panose="02020503050405090304" pitchFamily="18" charset="0"/>
                <a:ea typeface="+mn-ea"/>
                <a:cs typeface="+mn-cs"/>
              </a:rPr>
              <a:t>         </a:t>
            </a:r>
            <a:endParaRPr kumimoji="1" lang="en-US" altLang="zh-CN" sz="2400" b="1" i="0" u="none" strike="noStrike" kern="0" cap="none" spc="0" normalizeH="0" baseline="0" noProof="0" dirty="0" smtClean="0">
              <a:ln>
                <a:noFill/>
              </a:ln>
              <a:solidFill>
                <a:schemeClr val="tx2"/>
              </a:solidFill>
              <a:effectLst/>
              <a:uLnTx/>
              <a:uFillTx/>
              <a:latin typeface="Times New Roman" panose="02020503050405090304" pitchFamily="18" charset="0"/>
              <a:ea typeface="+mn-ea"/>
              <a:cs typeface="+mn-cs"/>
            </a:endParaRPr>
          </a:p>
          <a:p>
            <a:pPr marL="1879600" marR="0" lvl="0" indent="-1346200" algn="just" defTabSz="42545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r>
              <a:rPr kumimoji="1" lang="en-US" altLang="zh-CN" sz="2400" b="1" i="0" u="none" strike="noStrike" kern="0" cap="none" spc="0" normalizeH="0" baseline="0" noProof="0" dirty="0" smtClean="0">
                <a:ln>
                  <a:noFill/>
                </a:ln>
                <a:solidFill>
                  <a:schemeClr val="accent2"/>
                </a:solidFill>
                <a:effectLst/>
                <a:uLnTx/>
                <a:uFillTx/>
                <a:latin typeface="Times New Roman" panose="02020503050405090304" pitchFamily="18" charset="0"/>
                <a:ea typeface="+mn-ea"/>
                <a:cs typeface="+mn-cs"/>
              </a:rPr>
              <a:t>1</a:t>
            </a:r>
            <a:r>
              <a:rPr kumimoji="1" lang="zh-CN" altLang="en-US" sz="2400" b="1" i="0" u="none" strike="noStrike" kern="0" cap="none" spc="0" normalizeH="0" baseline="0" noProof="0" dirty="0" smtClean="0">
                <a:ln>
                  <a:noFill/>
                </a:ln>
                <a:solidFill>
                  <a:schemeClr val="accent2"/>
                </a:solidFill>
                <a:effectLst/>
                <a:uLnTx/>
                <a:uFillTx/>
                <a:latin typeface="Times New Roman" panose="02020503050405090304" pitchFamily="18" charset="0"/>
                <a:ea typeface="+mn-ea"/>
                <a:cs typeface="+mn-cs"/>
              </a:rPr>
              <a:t>、标号</a:t>
            </a:r>
            <a:r>
              <a:rPr kumimoji="1" lang="zh-CN" altLang="en-US" sz="2400" b="1" i="0" u="none" strike="noStrike" kern="0" cap="none" spc="0" normalizeH="0" baseline="0" noProof="0" dirty="0" smtClean="0">
                <a:ln>
                  <a:noFill/>
                </a:ln>
                <a:solidFill>
                  <a:schemeClr val="tx2"/>
                </a:solidFill>
                <a:effectLst/>
                <a:uLnTx/>
                <a:uFillTx/>
                <a:latin typeface="Times New Roman" panose="02020503050405090304" pitchFamily="18" charset="0"/>
                <a:ea typeface="+mn-ea"/>
                <a:cs typeface="+mn-cs"/>
              </a:rPr>
              <a:t>：</a:t>
            </a:r>
            <a:r>
              <a:rPr kumimoji="0" lang="zh-CN" altLang="en-US" sz="2000" b="1" i="0" u="none" strike="noStrike" kern="0" cap="none" spc="0" normalizeH="0" baseline="0" noProof="0" dirty="0" smtClean="0">
                <a:ln>
                  <a:noFill/>
                </a:ln>
                <a:solidFill>
                  <a:schemeClr val="tx1"/>
                </a:solidFill>
                <a:effectLst/>
                <a:uLnTx/>
                <a:uFillTx/>
                <a:latin typeface="Times New Roman" panose="02020503050405090304" pitchFamily="18" charset="0"/>
                <a:ea typeface="+mn-ea"/>
                <a:cs typeface="+mn-cs"/>
              </a:rPr>
              <a:t>指令的符号地址，代表该指令第一个字节所存放的</a:t>
            </a:r>
            <a:r>
              <a:rPr kumimoji="0" lang="zh-CN" altLang="en-US" sz="2000" b="1" i="0" u="none" strike="noStrike" kern="0" cap="none" spc="0" normalizeH="0" baseline="0" noProof="0" dirty="0" smtClean="0">
                <a:ln>
                  <a:noFill/>
                </a:ln>
                <a:solidFill>
                  <a:schemeClr val="accent2"/>
                </a:solidFill>
                <a:effectLst/>
                <a:uLnTx/>
                <a:uFillTx/>
                <a:latin typeface="Times New Roman" panose="02020503050405090304" pitchFamily="18" charset="0"/>
                <a:ea typeface="+mn-ea"/>
                <a:cs typeface="+mn-cs"/>
              </a:rPr>
              <a:t>存储器单元的地址</a:t>
            </a:r>
            <a:r>
              <a:rPr kumimoji="0" lang="zh-CN" altLang="en-US" sz="2000" b="1" i="0" u="none" strike="noStrike" kern="0" cap="none" spc="0" normalizeH="0" baseline="0" noProof="0" dirty="0" smtClean="0">
                <a:ln>
                  <a:noFill/>
                </a:ln>
                <a:solidFill>
                  <a:schemeClr val="tx1"/>
                </a:solidFill>
                <a:effectLst/>
                <a:uLnTx/>
                <a:uFillTx/>
                <a:latin typeface="Times New Roman" panose="02020503050405090304" pitchFamily="18" charset="0"/>
                <a:ea typeface="+mn-ea"/>
                <a:cs typeface="+mn-cs"/>
              </a:rPr>
              <a:t>，具有唯一性。字母开头，</a:t>
            </a:r>
            <a:r>
              <a:rPr kumimoji="0" lang="en-US" altLang="zh-CN" sz="2000" b="1" i="0" u="none" strike="noStrike" kern="0" cap="none" spc="0" normalizeH="0" baseline="0" noProof="0" dirty="0" smtClean="0">
                <a:ln>
                  <a:noFill/>
                </a:ln>
                <a:solidFill>
                  <a:schemeClr val="tx1"/>
                </a:solidFill>
                <a:effectLst/>
                <a:uLnTx/>
                <a:uFillTx/>
                <a:latin typeface="Times New Roman" panose="02020503050405090304" pitchFamily="18" charset="0"/>
                <a:ea typeface="+mn-ea"/>
                <a:cs typeface="+mn-cs"/>
              </a:rPr>
              <a:t> 1</a:t>
            </a:r>
            <a:r>
              <a:rPr kumimoji="0" lang="zh-CN" altLang="en-US" sz="2000" b="1" i="0" u="none" strike="noStrike" kern="0" cap="none" spc="0" normalizeH="0" baseline="0" noProof="0" dirty="0" smtClean="0">
                <a:ln>
                  <a:noFill/>
                </a:ln>
                <a:solidFill>
                  <a:schemeClr val="tx1"/>
                </a:solidFill>
                <a:effectLst/>
                <a:uLnTx/>
                <a:uFillTx/>
                <a:latin typeface="Times New Roman" panose="02020503050405090304" pitchFamily="18" charset="0"/>
                <a:ea typeface="+mn-ea"/>
                <a:cs typeface="+mn-cs"/>
              </a:rPr>
              <a:t>～8个字母或数字或下横线“</a:t>
            </a:r>
            <a:r>
              <a:rPr kumimoji="0" lang="en-US" altLang="en-US" sz="20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000" b="1" i="0" u="none" strike="noStrike" kern="0" cap="none" spc="0" normalizeH="0" baseline="0" noProof="0" dirty="0" smtClean="0">
                <a:ln>
                  <a:noFill/>
                </a:ln>
                <a:solidFill>
                  <a:schemeClr val="tx1"/>
                </a:solidFill>
                <a:effectLst/>
                <a:uLnTx/>
                <a:uFillTx/>
                <a:latin typeface="Times New Roman" panose="02020503050405090304" pitchFamily="18" charset="0"/>
                <a:ea typeface="+mn-ea"/>
                <a:cs typeface="+mn-cs"/>
              </a:rPr>
              <a:t>”</a:t>
            </a:r>
            <a:r>
              <a:rPr kumimoji="0" lang="zh-CN" altLang="en-US" sz="2000" b="1" i="0" u="none" strike="noStrike" kern="0" cap="none" spc="0" normalizeH="0" baseline="0" noProof="0" dirty="0" smtClean="0">
                <a:ln>
                  <a:noFill/>
                </a:ln>
                <a:solidFill>
                  <a:schemeClr val="tx1"/>
                </a:solidFill>
                <a:effectLst/>
                <a:uLnTx/>
                <a:uFillTx/>
                <a:latin typeface="Times New Roman" panose="02020503050405090304" pitchFamily="18" charset="0"/>
                <a:ea typeface="+mn-ea"/>
                <a:cs typeface="+mn-cs"/>
              </a:rPr>
              <a:t>，并以冒号“:”结尾。</a:t>
            </a:r>
            <a:r>
              <a:rPr kumimoji="0" lang="zh-CN" altLang="en-US" sz="2400" b="1" i="0" u="none" strike="noStrike" kern="0" cap="none" spc="0" normalizeH="0" baseline="0" noProof="0" dirty="0" smtClean="0">
                <a:ln>
                  <a:noFill/>
                </a:ln>
                <a:solidFill>
                  <a:schemeClr val="tx1"/>
                </a:solidFill>
                <a:effectLst/>
                <a:uLnTx/>
                <a:uFillTx/>
                <a:latin typeface="Times New Roman" panose="02020503050405090304" pitchFamily="18" charset="0"/>
                <a:ea typeface="+mn-ea"/>
                <a:cs typeface="+mn-cs"/>
              </a:rPr>
              <a:t> </a:t>
            </a:r>
            <a:endParaRPr kumimoji="0" lang="zh-CN" altLang="en-US" sz="2400" b="1" i="0" u="none" strike="noStrike" kern="0" cap="none" spc="0" normalizeH="0" baseline="0" noProof="0" dirty="0" smtClean="0">
              <a:ln>
                <a:noFill/>
              </a:ln>
              <a:solidFill>
                <a:schemeClr val="tx1"/>
              </a:solidFill>
              <a:effectLst/>
              <a:uLnTx/>
              <a:uFillTx/>
              <a:latin typeface="Times New Roman" panose="02020503050405090304" pitchFamily="18" charset="0"/>
              <a:ea typeface="+mn-ea"/>
              <a:cs typeface="+mn-cs"/>
            </a:endParaRPr>
          </a:p>
          <a:p>
            <a:pPr marL="533400" marR="0" lvl="0" indent="12700" algn="just" defTabSz="42545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r>
              <a:rPr kumimoji="1" lang="en-US" altLang="zh-CN" sz="2400" b="1" i="0" u="none" strike="noStrike" kern="0" cap="none" spc="0" normalizeH="0" baseline="0" noProof="0" dirty="0" smtClean="0">
                <a:ln>
                  <a:noFill/>
                </a:ln>
                <a:solidFill>
                  <a:schemeClr val="accent2"/>
                </a:solidFill>
                <a:effectLst/>
                <a:uLnTx/>
                <a:uFillTx/>
                <a:latin typeface="Times New Roman" panose="02020503050405090304" pitchFamily="18" charset="0"/>
                <a:ea typeface="+mn-ea"/>
                <a:cs typeface="+mn-cs"/>
              </a:rPr>
              <a:t>2</a:t>
            </a:r>
            <a:r>
              <a:rPr kumimoji="1" lang="zh-CN" altLang="en-US" sz="2400" b="1" i="0" u="none" strike="noStrike" kern="0" cap="none" spc="0" normalizeH="0" baseline="0" noProof="0" dirty="0" smtClean="0">
                <a:ln>
                  <a:noFill/>
                </a:ln>
                <a:solidFill>
                  <a:schemeClr val="accent2"/>
                </a:solidFill>
                <a:effectLst/>
                <a:uLnTx/>
                <a:uFillTx/>
                <a:latin typeface="Times New Roman" panose="02020503050405090304" pitchFamily="18" charset="0"/>
                <a:ea typeface="+mn-ea"/>
                <a:cs typeface="+mn-cs"/>
              </a:rPr>
              <a:t>、操作码：</a:t>
            </a:r>
            <a:r>
              <a:rPr kumimoji="0" lang="zh-CN" altLang="en-US" sz="2400" b="1" i="0" u="none" strike="noStrike" kern="0" cap="none" spc="0" normalizeH="0" baseline="0" noProof="0" dirty="0" smtClean="0">
                <a:ln>
                  <a:noFill/>
                </a:ln>
                <a:solidFill>
                  <a:schemeClr val="tx1"/>
                </a:solidFill>
                <a:effectLst/>
                <a:uLnTx/>
                <a:uFillTx/>
                <a:latin typeface="Times New Roman" panose="02020503050405090304" pitchFamily="18" charset="0"/>
                <a:ea typeface="+mn-ea"/>
                <a:cs typeface="+mn-cs"/>
              </a:rPr>
              <a:t>指明指令功能。使用指令功能的英文缩写表示。</a:t>
            </a:r>
            <a:endParaRPr kumimoji="1" lang="zh-CN" altLang="en-US" sz="2800" b="1" i="0" u="none" strike="noStrike" kern="0" cap="none" spc="0" normalizeH="0" baseline="0" noProof="0" dirty="0" smtClean="0">
              <a:ln>
                <a:noFill/>
              </a:ln>
              <a:solidFill>
                <a:srgbClr val="FF6600"/>
              </a:solidFill>
              <a:effectLst/>
              <a:uLnTx/>
              <a:uFillTx/>
              <a:latin typeface="+mn-lt"/>
              <a:ea typeface="+mn-ea"/>
              <a:cs typeface="+mn-cs"/>
            </a:endParaRPr>
          </a:p>
        </p:txBody>
      </p:sp>
      <p:sp>
        <p:nvSpPr>
          <p:cNvPr id="12292" name="Rectangle 5"/>
          <p:cNvSpPr/>
          <p:nvPr/>
        </p:nvSpPr>
        <p:spPr>
          <a:xfrm>
            <a:off x="2144713" y="4678363"/>
            <a:ext cx="4572000" cy="1262062"/>
          </a:xfrm>
          <a:prstGeom prst="rect">
            <a:avLst/>
          </a:prstGeom>
          <a:noFill/>
          <a:ln w="9525">
            <a:noFill/>
          </a:ln>
        </p:spPr>
        <p:txBody>
          <a:bodyPr anchor="t" anchorCtr="0">
            <a:spAutoFit/>
          </a:bodyPr>
          <a:p>
            <a:pPr>
              <a:lnSpc>
                <a:spcPct val="80000"/>
              </a:lnSpc>
              <a:spcBef>
                <a:spcPct val="20000"/>
              </a:spcBef>
              <a:buClrTx/>
              <a:buFontTx/>
            </a:pPr>
            <a:r>
              <a:rPr lang="en-US" altLang="zh-CN" sz="2000" dirty="0">
                <a:latin typeface="Times New Roman" panose="02020503050405090304" pitchFamily="18" charset="0"/>
                <a:ea typeface="楷体_GB2312" pitchFamily="49" charset="-122"/>
              </a:rPr>
              <a:t>MOV  － </a:t>
            </a:r>
            <a:r>
              <a:rPr lang="zh-CN" altLang="en-US" sz="2000" dirty="0">
                <a:latin typeface="Times New Roman" panose="02020503050405090304" pitchFamily="18" charset="0"/>
                <a:ea typeface="楷体_GB2312" pitchFamily="49" charset="-122"/>
              </a:rPr>
              <a:t>传送</a:t>
            </a:r>
            <a:endParaRPr lang="zh-CN" altLang="en-US" sz="2000" dirty="0">
              <a:latin typeface="Times New Roman" panose="02020503050405090304" pitchFamily="18" charset="0"/>
              <a:ea typeface="楷体_GB2312" pitchFamily="49" charset="-122"/>
            </a:endParaRPr>
          </a:p>
          <a:p>
            <a:pPr>
              <a:lnSpc>
                <a:spcPct val="80000"/>
              </a:lnSpc>
              <a:spcBef>
                <a:spcPct val="20000"/>
              </a:spcBef>
              <a:buClrTx/>
              <a:buFontTx/>
            </a:pPr>
            <a:r>
              <a:rPr lang="en-US" altLang="zh-CN" sz="2000" dirty="0">
                <a:latin typeface="Times New Roman" panose="02020503050405090304" pitchFamily="18" charset="0"/>
                <a:ea typeface="楷体_GB2312" pitchFamily="49" charset="-122"/>
              </a:rPr>
              <a:t>ANL   － </a:t>
            </a:r>
            <a:r>
              <a:rPr lang="zh-CN" altLang="en-US" sz="2000" dirty="0">
                <a:latin typeface="Times New Roman" panose="02020503050405090304" pitchFamily="18" charset="0"/>
                <a:ea typeface="楷体_GB2312" pitchFamily="49" charset="-122"/>
              </a:rPr>
              <a:t>逻辑与		</a:t>
            </a:r>
            <a:endParaRPr lang="zh-CN" altLang="en-US" sz="2000" dirty="0">
              <a:latin typeface="Times New Roman" panose="02020503050405090304" pitchFamily="18" charset="0"/>
              <a:ea typeface="楷体_GB2312" pitchFamily="49" charset="-122"/>
            </a:endParaRPr>
          </a:p>
          <a:p>
            <a:pPr>
              <a:lnSpc>
                <a:spcPct val="80000"/>
              </a:lnSpc>
              <a:spcBef>
                <a:spcPct val="20000"/>
              </a:spcBef>
              <a:buClrTx/>
              <a:buFontTx/>
            </a:pPr>
            <a:r>
              <a:rPr lang="en-US" altLang="zh-CN" sz="2000" dirty="0">
                <a:latin typeface="Times New Roman" panose="02020503050405090304" pitchFamily="18" charset="0"/>
                <a:ea typeface="楷体_GB2312" pitchFamily="49" charset="-122"/>
              </a:rPr>
              <a:t>MUL  － </a:t>
            </a:r>
            <a:r>
              <a:rPr lang="zh-CN" altLang="en-US" sz="2000" dirty="0">
                <a:latin typeface="Times New Roman" panose="02020503050405090304" pitchFamily="18" charset="0"/>
                <a:ea typeface="楷体_GB2312" pitchFamily="49" charset="-122"/>
              </a:rPr>
              <a:t>乘法</a:t>
            </a:r>
            <a:endParaRPr lang="zh-CN" altLang="en-US" sz="2000" dirty="0">
              <a:latin typeface="Times New Roman" panose="02020503050405090304" pitchFamily="18" charset="0"/>
              <a:ea typeface="楷体_GB2312" pitchFamily="49" charset="-122"/>
            </a:endParaRPr>
          </a:p>
          <a:p>
            <a:pPr>
              <a:lnSpc>
                <a:spcPct val="80000"/>
              </a:lnSpc>
              <a:spcBef>
                <a:spcPct val="20000"/>
              </a:spcBef>
              <a:buClrTx/>
              <a:buFontTx/>
            </a:pPr>
            <a:r>
              <a:rPr lang="en-US" altLang="zh-CN" sz="2000" dirty="0">
                <a:latin typeface="Times New Roman" panose="02020503050405090304" pitchFamily="18" charset="0"/>
                <a:ea typeface="楷体_GB2312" pitchFamily="49" charset="-122"/>
              </a:rPr>
              <a:t>SJMP － </a:t>
            </a:r>
            <a:r>
              <a:rPr lang="zh-CN" altLang="en-US" sz="2000" dirty="0">
                <a:latin typeface="Times New Roman" panose="02020503050405090304" pitchFamily="18" charset="0"/>
                <a:ea typeface="楷体_GB2312" pitchFamily="49" charset="-122"/>
              </a:rPr>
              <a:t>短跳转</a:t>
            </a:r>
            <a:endParaRPr lang="zh-CN" altLang="en-US" sz="2000" dirty="0">
              <a:latin typeface="Times New Roman" panose="02020503050405090304" pitchFamily="18" charset="0"/>
              <a:ea typeface="楷体_GB2312" pitchFamily="49" charset="-122"/>
            </a:endParaRPr>
          </a:p>
        </p:txBody>
      </p:sp>
      <p:sp>
        <p:nvSpPr>
          <p:cNvPr id="12293" name="Rectangle 7"/>
          <p:cNvSpPr/>
          <p:nvPr/>
        </p:nvSpPr>
        <p:spPr>
          <a:xfrm>
            <a:off x="827088" y="4678363"/>
            <a:ext cx="796925" cy="457200"/>
          </a:xfrm>
          <a:prstGeom prst="rect">
            <a:avLst/>
          </a:prstGeom>
          <a:noFill/>
          <a:ln w="9525">
            <a:noFill/>
          </a:ln>
        </p:spPr>
        <p:txBody>
          <a:bodyPr wrap="none" anchor="t" anchorCtr="0">
            <a:spAutoFit/>
          </a:bodyPr>
          <a:p>
            <a:pPr>
              <a:spcBef>
                <a:spcPct val="50000"/>
              </a:spcBef>
              <a:buClrTx/>
              <a:buFontTx/>
            </a:pPr>
            <a:r>
              <a:rPr lang="zh-CN" altLang="en-US" dirty="0">
                <a:solidFill>
                  <a:srgbClr val="FF3300"/>
                </a:solidFill>
                <a:latin typeface="Times New Roman" panose="02020503050405090304" pitchFamily="18" charset="0"/>
                <a:ea typeface="楷体_GB2312" pitchFamily="49" charset="-122"/>
              </a:rPr>
              <a:t>例：</a:t>
            </a:r>
            <a:endParaRPr lang="zh-CN" altLang="en-US" dirty="0">
              <a:solidFill>
                <a:srgbClr val="FF3300"/>
              </a:solidFill>
              <a:latin typeface="Times New Roman" panose="0202050305040509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39">
                                            <p:txEl>
                                              <p:charRg st="65" end="112"/>
                                            </p:txEl>
                                          </p:spTgt>
                                        </p:tgtEl>
                                        <p:attrNameLst>
                                          <p:attrName>style.visibility</p:attrName>
                                        </p:attrNameLst>
                                      </p:cBhvr>
                                      <p:to>
                                        <p:strVal val="visible"/>
                                      </p:to>
                                    </p:set>
                                    <p:animEffect transition="in" filter="blinds(horizontal)">
                                      <p:cBhvr>
                                        <p:cTn id="7" dur="500"/>
                                        <p:tgtEl>
                                          <p:spTgt spid="14339">
                                            <p:txEl>
                                              <p:charRg st="65" end="11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339">
                                            <p:txEl>
                                              <p:charRg st="112" end="122"/>
                                            </p:txEl>
                                          </p:spTgt>
                                        </p:tgtEl>
                                        <p:attrNameLst>
                                          <p:attrName>style.visibility</p:attrName>
                                        </p:attrNameLst>
                                      </p:cBhvr>
                                      <p:to>
                                        <p:strVal val="visible"/>
                                      </p:to>
                                    </p:set>
                                    <p:animEffect transition="in" filter="blinds(horizontal)">
                                      <p:cBhvr>
                                        <p:cTn id="12" dur="500"/>
                                        <p:tgtEl>
                                          <p:spTgt spid="14339">
                                            <p:txEl>
                                              <p:charRg st="112" end="12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339">
                                            <p:txEl>
                                              <p:charRg st="122" end="199"/>
                                            </p:txEl>
                                          </p:spTgt>
                                        </p:tgtEl>
                                        <p:attrNameLst>
                                          <p:attrName>style.visibility</p:attrName>
                                        </p:attrNameLst>
                                      </p:cBhvr>
                                      <p:to>
                                        <p:strVal val="visible"/>
                                      </p:to>
                                    </p:set>
                                    <p:animEffect transition="in" filter="blinds(horizontal)">
                                      <p:cBhvr>
                                        <p:cTn id="17" dur="500"/>
                                        <p:tgtEl>
                                          <p:spTgt spid="14339">
                                            <p:txEl>
                                              <p:charRg st="122" end="19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4339">
                                            <p:txEl>
                                              <p:charRg st="199" end="227"/>
                                            </p:txEl>
                                          </p:spTgt>
                                        </p:tgtEl>
                                        <p:attrNameLst>
                                          <p:attrName>style.visibility</p:attrName>
                                        </p:attrNameLst>
                                      </p:cBhvr>
                                      <p:to>
                                        <p:strVal val="visible"/>
                                      </p:to>
                                    </p:set>
                                    <p:animEffect transition="in" filter="blinds(horizontal)">
                                      <p:cBhvr>
                                        <p:cTn id="22" dur="500"/>
                                        <p:tgtEl>
                                          <p:spTgt spid="14339">
                                            <p:txEl>
                                              <p:charRg st="199" end="22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29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2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uiExpand="1" build="p"/>
      <p:bldP spid="12292" grpId="0"/>
      <p:bldP spid="1229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idx="4294967295"/>
          </p:nvPr>
        </p:nvSpPr>
        <p:spPr>
          <a:xfrm>
            <a:off x="214313" y="214313"/>
            <a:ext cx="8763000" cy="609600"/>
          </a:xfrm>
        </p:spPr>
        <p:txBody>
          <a:bodyPr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14339" name="Rectangle 3"/>
          <p:cNvSpPr>
            <a:spLocks noGrp="1" noChangeArrowheads="1"/>
          </p:cNvSpPr>
          <p:nvPr>
            <p:ph type="body" idx="1"/>
          </p:nvPr>
        </p:nvSpPr>
        <p:spPr>
          <a:xfrm>
            <a:off x="176213" y="1052513"/>
            <a:ext cx="8967788" cy="1728788"/>
          </a:xfrm>
        </p:spPr>
        <p:txBody>
          <a:bodyPr vert="horz" wrap="square" lIns="91440" tIns="45720" rIns="91440" bIns="45720" numCol="1" anchor="t" anchorCtr="0" compatLnSpc="1"/>
          <a:lstStyle/>
          <a:p>
            <a:pPr marL="342900" marR="0" lvl="0" indent="-342900" algn="just" defTabSz="425450" rtl="0" eaLnBrk="0" fontAlgn="base" latinLnBrk="0" hangingPunct="0">
              <a:lnSpc>
                <a:spcPct val="150000"/>
              </a:lnSpc>
              <a:spcBef>
                <a:spcPct val="20000"/>
              </a:spcBef>
              <a:spcAft>
                <a:spcPct val="0"/>
              </a:spcAft>
              <a:buClr>
                <a:schemeClr val="folHlink"/>
              </a:buClr>
              <a:buSzTx/>
              <a:buFont typeface="Wingdings" panose="05000000000000000000" pitchFamily="2" charset="2"/>
              <a:buNone/>
              <a:defRPr/>
            </a:pPr>
            <a:r>
              <a:rPr kumimoji="1" lang="zh-CN" altLang="en-US" sz="2800" b="1" i="0" u="none" strike="noStrike" kern="0" cap="none" spc="0" normalizeH="0" baseline="0" noProof="0" dirty="0" smtClean="0">
                <a:ln>
                  <a:noFill/>
                </a:ln>
                <a:solidFill>
                  <a:schemeClr val="tx1"/>
                </a:solidFill>
                <a:effectLst/>
                <a:uLnTx/>
                <a:uFillTx/>
                <a:latin typeface="Times New Roman" panose="02020503050405090304" pitchFamily="18" charset="0"/>
                <a:ea typeface="+mn-ea"/>
                <a:cs typeface="+mn-cs"/>
              </a:rPr>
              <a:t>3-1    </a:t>
            </a:r>
            <a:r>
              <a:rPr kumimoji="1" lang="zh-CN" altLang="en-US" sz="2800" b="1" i="0" u="none" strike="noStrike" kern="0" cap="none" spc="0" normalizeH="0" baseline="0" noProof="0" dirty="0" smtClean="0">
                <a:ln>
                  <a:noFill/>
                </a:ln>
                <a:solidFill>
                  <a:schemeClr val="accent2"/>
                </a:solidFill>
                <a:effectLst/>
                <a:uLnTx/>
                <a:uFillTx/>
                <a:latin typeface="黑体" panose="02010609060101010101" pitchFamily="49" charset="-122"/>
                <a:ea typeface="黑体" panose="02010609060101010101" pitchFamily="49" charset="-122"/>
                <a:cs typeface="+mn-cs"/>
              </a:rPr>
              <a:t>指令系统概述</a:t>
            </a:r>
            <a:endParaRPr kumimoji="1" lang="en-US" altLang="zh-CN" sz="2800" b="1" i="0" u="none" strike="noStrike" kern="0" cap="none" spc="0" normalizeH="0" baseline="0" noProof="0" dirty="0" smtClean="0">
              <a:ln>
                <a:noFill/>
              </a:ln>
              <a:solidFill>
                <a:srgbClr val="FF6600"/>
              </a:solidFill>
              <a:effectLst/>
              <a:uLnTx/>
              <a:uFillTx/>
              <a:latin typeface="Times New Roman" panose="02020503050405090304" pitchFamily="18" charset="0"/>
              <a:ea typeface="+mn-ea"/>
              <a:cs typeface="+mn-cs"/>
            </a:endParaRPr>
          </a:p>
          <a:p>
            <a:pPr marL="342900" marR="0" lvl="0" indent="-342900" algn="just" defTabSz="425450" rtl="0" eaLnBrk="0" fontAlgn="base" latinLnBrk="0" hangingPunct="0">
              <a:lnSpc>
                <a:spcPct val="150000"/>
              </a:lnSpc>
              <a:spcBef>
                <a:spcPct val="20000"/>
              </a:spcBef>
              <a:spcAft>
                <a:spcPct val="0"/>
              </a:spcAft>
              <a:buClr>
                <a:schemeClr val="folHlink"/>
              </a:buClr>
              <a:buSzTx/>
              <a:buFont typeface="Wingdings" panose="05000000000000000000" pitchFamily="2" charset="2"/>
              <a:buNone/>
              <a:defRPr/>
            </a:pPr>
            <a:r>
              <a:rPr kumimoji="1" lang="zh-CN" altLang="en-US" sz="24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Times New Roman" panose="02020503050405090304" pitchFamily="18" charset="0"/>
                <a:ea typeface="+mn-ea"/>
                <a:cs typeface="+mn-cs"/>
              </a:rPr>
              <a:t>  </a:t>
            </a:r>
            <a:r>
              <a:rPr kumimoji="1" lang="en-US" altLang="zh-CN" sz="24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Times New Roman" panose="02020503050405090304" pitchFamily="18" charset="0"/>
                <a:ea typeface="+mn-ea"/>
                <a:cs typeface="+mn-cs"/>
              </a:rPr>
              <a:t>3.1.2</a:t>
            </a:r>
            <a:r>
              <a:rPr kumimoji="1" lang="zh-CN" altLang="en-US" sz="24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Times New Roman" panose="02020503050405090304" pitchFamily="18" charset="0"/>
                <a:ea typeface="+mn-ea"/>
                <a:cs typeface="+mn-cs"/>
              </a:rPr>
              <a:t>  汇编语言指令格式</a:t>
            </a:r>
            <a:endParaRPr kumimoji="1" lang="zh-CN" altLang="en-US" sz="2400" b="1" i="0" u="none" strike="noStrike" kern="0" cap="none" spc="0" normalizeH="0" baseline="0" noProof="0" dirty="0" smtClean="0">
              <a:ln>
                <a:noFill/>
              </a:ln>
              <a:solidFill>
                <a:srgbClr val="FF6600"/>
              </a:solidFill>
              <a:effectLst/>
              <a:uLnTx/>
              <a:uFillTx/>
              <a:latin typeface="Times New Roman" panose="02020503050405090304" pitchFamily="18" charset="0"/>
              <a:ea typeface="+mn-ea"/>
              <a:cs typeface="+mn-cs"/>
            </a:endParaRPr>
          </a:p>
          <a:p>
            <a:pPr marL="342900" marR="0" lvl="0" indent="-342900" algn="just" defTabSz="425450" rtl="0" eaLnBrk="0" fontAlgn="base" latinLnBrk="0" hangingPunct="0">
              <a:lnSpc>
                <a:spcPct val="150000"/>
              </a:lnSpc>
              <a:spcBef>
                <a:spcPct val="0"/>
              </a:spcBef>
              <a:spcAft>
                <a:spcPct val="0"/>
              </a:spcAft>
              <a:buClr>
                <a:schemeClr val="folHlink"/>
              </a:buClr>
              <a:buSzTx/>
              <a:buFont typeface="Wingdings" panose="05000000000000000000" pitchFamily="2" charset="2"/>
              <a:buNone/>
              <a:defRPr/>
            </a:pPr>
            <a:r>
              <a:rPr kumimoji="1" lang="zh-CN" altLang="en-US" sz="2400" b="1" i="0" u="none" strike="noStrike" kern="0" cap="none" spc="0" normalizeH="0" baseline="0" noProof="0" dirty="0" smtClean="0">
                <a:ln>
                  <a:noFill/>
                </a:ln>
                <a:solidFill>
                  <a:schemeClr val="tx2"/>
                </a:solidFill>
                <a:effectLst/>
                <a:uLnTx/>
                <a:uFillTx/>
                <a:latin typeface="Times New Roman" panose="02020503050405090304" pitchFamily="18" charset="0"/>
                <a:ea typeface="+mn-ea"/>
                <a:cs typeface="+mn-cs"/>
              </a:rPr>
              <a:t>			</a:t>
            </a:r>
            <a:r>
              <a:rPr kumimoji="1" lang="zh-CN" altLang="en-US" sz="2400" b="1" i="0" u="none" strike="noStrike" kern="0" cap="none" spc="0" normalizeH="0" baseline="0" noProof="0" dirty="0" smtClean="0">
                <a:ln>
                  <a:noFill/>
                </a:ln>
                <a:solidFill>
                  <a:schemeClr val="tx1"/>
                </a:solidFill>
                <a:effectLst/>
                <a:uLnTx/>
                <a:uFillTx/>
                <a:latin typeface="Times New Roman" panose="02020503050405090304" pitchFamily="18" charset="0"/>
                <a:ea typeface="+mn-ea"/>
                <a:cs typeface="+mn-cs"/>
              </a:rPr>
              <a:t>[标号：] 操作码 [</a:t>
            </a:r>
            <a:r>
              <a:rPr kumimoji="1" lang="zh-CN" altLang="en-US" sz="2400" b="1" i="0" u="none" strike="noStrike" kern="0" cap="none" spc="0" normalizeH="0" baseline="0" noProof="0" dirty="0" smtClean="0">
                <a:ln>
                  <a:noFill/>
                </a:ln>
                <a:solidFill>
                  <a:schemeClr val="tx2"/>
                </a:solidFill>
                <a:effectLst/>
                <a:uLnTx/>
                <a:uFillTx/>
                <a:latin typeface="Times New Roman" panose="02020503050405090304" pitchFamily="18" charset="0"/>
                <a:ea typeface="+mn-ea"/>
                <a:cs typeface="+mn-cs"/>
                <a:sym typeface="+mn-ea"/>
              </a:rPr>
              <a:t>目的操作数</a:t>
            </a:r>
            <a:r>
              <a:rPr kumimoji="1" lang="zh-CN" altLang="en-US" sz="2400" b="1" i="0" u="none" strike="noStrike" kern="0" cap="none" spc="0" normalizeH="0" baseline="0" noProof="0" dirty="0" smtClean="0">
                <a:ln>
                  <a:noFill/>
                </a:ln>
                <a:solidFill>
                  <a:schemeClr val="tx1"/>
                </a:solidFill>
                <a:effectLst/>
                <a:uLnTx/>
                <a:uFillTx/>
                <a:latin typeface="Times New Roman" panose="02020503050405090304" pitchFamily="18" charset="0"/>
                <a:ea typeface="+mn-ea"/>
                <a:cs typeface="+mn-cs"/>
              </a:rPr>
              <a:t>]，[</a:t>
            </a:r>
            <a:r>
              <a:rPr kumimoji="1" lang="zh-CN" altLang="en-US" sz="2400" b="1" i="0" u="none" strike="noStrike" kern="0" cap="none" spc="0" normalizeH="0" baseline="0" noProof="0" dirty="0" smtClean="0">
                <a:ln>
                  <a:noFill/>
                </a:ln>
                <a:solidFill>
                  <a:schemeClr val="tx2"/>
                </a:solidFill>
                <a:effectLst/>
                <a:uLnTx/>
                <a:uFillTx/>
                <a:latin typeface="Times New Roman" panose="02020503050405090304" pitchFamily="18" charset="0"/>
                <a:ea typeface="+mn-ea"/>
                <a:cs typeface="+mn-cs"/>
              </a:rPr>
              <a:t>源操作数</a:t>
            </a:r>
            <a:r>
              <a:rPr kumimoji="1" lang="zh-CN" altLang="en-US" sz="2400" b="1" i="0" u="none" strike="noStrike" kern="0" cap="none" spc="0" normalizeH="0" baseline="0" noProof="0" dirty="0" smtClean="0">
                <a:ln>
                  <a:noFill/>
                </a:ln>
                <a:solidFill>
                  <a:schemeClr val="tx1"/>
                </a:solidFill>
                <a:effectLst/>
                <a:uLnTx/>
                <a:uFillTx/>
                <a:latin typeface="Times New Roman" panose="02020503050405090304" pitchFamily="18" charset="0"/>
                <a:ea typeface="+mn-ea"/>
                <a:cs typeface="+mn-cs"/>
              </a:rPr>
              <a:t>][</a:t>
            </a:r>
            <a:r>
              <a:rPr kumimoji="1" lang="zh-CN" altLang="en-US" sz="2400" b="1" i="0" u="none" strike="noStrike" kern="0" cap="none" spc="0" normalizeH="0" baseline="0" noProof="0" dirty="0" smtClean="0">
                <a:ln>
                  <a:noFill/>
                </a:ln>
                <a:solidFill>
                  <a:schemeClr val="tx2"/>
                </a:solidFill>
                <a:effectLst/>
                <a:uLnTx/>
                <a:uFillTx/>
                <a:latin typeface="Times New Roman" panose="02020503050405090304" pitchFamily="18" charset="0"/>
                <a:ea typeface="+mn-ea"/>
                <a:cs typeface="+mn-cs"/>
              </a:rPr>
              <a:t>；注释</a:t>
            </a:r>
            <a:r>
              <a:rPr kumimoji="1" lang="zh-CN" altLang="en-US" sz="2400" b="1" i="0" u="none" strike="noStrike" kern="0" cap="none" spc="0" normalizeH="0" baseline="0" noProof="0" dirty="0" smtClean="0">
                <a:ln>
                  <a:noFill/>
                </a:ln>
                <a:solidFill>
                  <a:schemeClr val="tx1"/>
                </a:solidFill>
                <a:effectLst/>
                <a:uLnTx/>
                <a:uFillTx/>
                <a:latin typeface="Times New Roman" panose="02020503050405090304" pitchFamily="18" charset="0"/>
                <a:ea typeface="+mn-ea"/>
                <a:cs typeface="+mn-cs"/>
              </a:rPr>
              <a:t>]</a:t>
            </a:r>
            <a:endParaRPr kumimoji="1" lang="zh-CN" altLang="en-US" sz="2400" b="1" i="0" u="none" strike="noStrike" kern="0" cap="none" spc="0" normalizeH="0" baseline="0" noProof="0" dirty="0" smtClean="0">
              <a:ln>
                <a:noFill/>
              </a:ln>
              <a:solidFill>
                <a:schemeClr val="tx1"/>
              </a:solidFill>
              <a:effectLst/>
              <a:uLnTx/>
              <a:uFillTx/>
              <a:latin typeface="Times New Roman" panose="02020503050405090304" pitchFamily="18" charset="0"/>
              <a:ea typeface="+mn-ea"/>
              <a:cs typeface="+mn-cs"/>
            </a:endParaRPr>
          </a:p>
          <a:p>
            <a:pPr marL="342900" marR="0" lvl="0" indent="-342900" algn="just" defTabSz="425450" rtl="0" eaLnBrk="0" fontAlgn="base" latinLnBrk="0" hangingPunct="0">
              <a:lnSpc>
                <a:spcPct val="150000"/>
              </a:lnSpc>
              <a:spcBef>
                <a:spcPct val="0"/>
              </a:spcBef>
              <a:spcAft>
                <a:spcPct val="0"/>
              </a:spcAft>
              <a:buClr>
                <a:schemeClr val="folHlink"/>
              </a:buClr>
              <a:buSzTx/>
              <a:buFont typeface="Wingdings" panose="05000000000000000000" pitchFamily="2" charset="2"/>
              <a:buNone/>
              <a:defRPr/>
            </a:pPr>
            <a:r>
              <a:rPr kumimoji="1" lang="zh-CN" altLang="en-US" sz="2400" b="1" i="0" u="none" strike="noStrike" kern="0" cap="none" spc="0" normalizeH="0" baseline="0" noProof="0" dirty="0" smtClean="0">
                <a:ln>
                  <a:noFill/>
                </a:ln>
                <a:solidFill>
                  <a:schemeClr val="tx1"/>
                </a:solidFill>
                <a:effectLst/>
                <a:uLnTx/>
                <a:uFillTx/>
                <a:latin typeface="Times New Roman" panose="02020503050405090304" pitchFamily="18" charset="0"/>
                <a:ea typeface="+mn-ea"/>
                <a:cs typeface="+mn-cs"/>
              </a:rPr>
              <a:t>           </a:t>
            </a:r>
            <a:r>
              <a:rPr kumimoji="1" lang="zh-CN" altLang="en-US" sz="2400" b="1" i="0" u="none" strike="noStrike" kern="0" cap="none" spc="0" normalizeH="0" baseline="0" noProof="0" dirty="0" smtClean="0">
                <a:ln>
                  <a:noFill/>
                </a:ln>
                <a:solidFill>
                  <a:srgbClr val="FF3300"/>
                </a:solidFill>
                <a:effectLst/>
                <a:uLnTx/>
                <a:uFillTx/>
                <a:latin typeface="Times New Roman" panose="02020503050405090304" pitchFamily="18" charset="0"/>
                <a:ea typeface="+mn-ea"/>
                <a:cs typeface="+mn-cs"/>
              </a:rPr>
              <a:t>例：</a:t>
            </a:r>
            <a:r>
              <a:rPr kumimoji="1" lang="zh-CN" altLang="en-US" sz="2400" b="1" i="0" u="none" strike="noStrike" kern="0" cap="none" spc="0" normalizeH="0" baseline="0" noProof="0" dirty="0" smtClean="0">
                <a:ln>
                  <a:noFill/>
                </a:ln>
                <a:solidFill>
                  <a:schemeClr val="tx1"/>
                </a:solidFill>
                <a:effectLst/>
                <a:uLnTx/>
                <a:uFillTx/>
                <a:latin typeface="Times New Roman" panose="02020503050405090304" pitchFamily="18" charset="0"/>
                <a:ea typeface="+mn-ea"/>
                <a:cs typeface="+mn-cs"/>
              </a:rPr>
              <a:t>    </a:t>
            </a:r>
            <a:r>
              <a:rPr kumimoji="1" lang="en-US" altLang="zh-CN" sz="2400" b="1" i="0" u="none" strike="noStrike" kern="0" cap="none" spc="0" normalizeH="0" baseline="0" noProof="0" dirty="0" smtClean="0">
                <a:ln>
                  <a:noFill/>
                </a:ln>
                <a:solidFill>
                  <a:schemeClr val="tx1"/>
                </a:solidFill>
                <a:effectLst/>
                <a:uLnTx/>
                <a:uFillTx/>
                <a:latin typeface="Times New Roman" panose="02020503050405090304" pitchFamily="18" charset="0"/>
                <a:ea typeface="+mn-ea"/>
                <a:cs typeface="+mn-cs"/>
              </a:rPr>
              <a:t>LOOP：  MOV   A，#40H ；</a:t>
            </a:r>
            <a:r>
              <a:rPr kumimoji="1" lang="zh-CN" altLang="en-US" sz="2400" b="1" i="0" u="none" strike="noStrike" kern="0" cap="none" spc="0" normalizeH="0" baseline="0" noProof="0" dirty="0" smtClean="0">
                <a:ln>
                  <a:noFill/>
                </a:ln>
                <a:solidFill>
                  <a:schemeClr val="tx1"/>
                </a:solidFill>
                <a:effectLst/>
                <a:uLnTx/>
                <a:uFillTx/>
                <a:latin typeface="Times New Roman" panose="02020503050405090304" pitchFamily="18" charset="0"/>
                <a:ea typeface="+mn-ea"/>
                <a:cs typeface="+mn-cs"/>
              </a:rPr>
              <a:t>40</a:t>
            </a:r>
            <a:r>
              <a:rPr kumimoji="1" lang="en-US" altLang="zh-CN" sz="2400" b="1" i="0" u="none" strike="noStrike" kern="0" cap="none" spc="0" normalizeH="0" baseline="0" noProof="0" dirty="0" smtClean="0">
                <a:ln>
                  <a:noFill/>
                </a:ln>
                <a:solidFill>
                  <a:schemeClr val="tx1"/>
                </a:solidFill>
                <a:effectLst/>
                <a:uLnTx/>
                <a:uFillTx/>
                <a:latin typeface="Times New Roman" panose="02020503050405090304" pitchFamily="18" charset="0"/>
                <a:ea typeface="+mn-ea"/>
                <a:cs typeface="+mn-cs"/>
              </a:rPr>
              <a:t>H -&gt; A</a:t>
            </a:r>
            <a:endParaRPr kumimoji="1" lang="en-US" altLang="zh-CN" sz="2400" b="1" i="0" u="none" strike="noStrike" kern="0" cap="none" spc="0" normalizeH="0" baseline="0" noProof="0" dirty="0" smtClean="0">
              <a:ln>
                <a:noFill/>
              </a:ln>
              <a:solidFill>
                <a:schemeClr val="tx1"/>
              </a:solidFill>
              <a:effectLst/>
              <a:uLnTx/>
              <a:uFillTx/>
              <a:latin typeface="Times New Roman" panose="02020503050405090304" pitchFamily="18" charset="0"/>
              <a:ea typeface="+mn-ea"/>
              <a:cs typeface="+mn-cs"/>
            </a:endParaRPr>
          </a:p>
          <a:p>
            <a:pPr marL="342900" marR="0" lvl="0" indent="-342900" algn="just" defTabSz="42545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r>
              <a:rPr kumimoji="1" lang="zh-CN" altLang="en-US" sz="2400" b="1" i="0" u="none" strike="noStrike" kern="0" cap="none" spc="0" normalizeH="0" baseline="0" noProof="0" dirty="0" smtClean="0">
                <a:ln>
                  <a:noFill/>
                </a:ln>
                <a:solidFill>
                  <a:schemeClr val="tx2"/>
                </a:solidFill>
                <a:effectLst/>
                <a:uLnTx/>
                <a:uFillTx/>
                <a:latin typeface="Times New Roman" panose="02020503050405090304" pitchFamily="18" charset="0"/>
                <a:ea typeface="+mn-ea"/>
                <a:cs typeface="+mn-cs"/>
              </a:rPr>
              <a:t>         </a:t>
            </a:r>
            <a:endParaRPr kumimoji="1" lang="zh-CN" altLang="en-US" sz="2400" b="1" i="0" u="none" strike="noStrike" kern="0" cap="none" spc="0" normalizeH="0" baseline="0" noProof="0" dirty="0" smtClean="0">
              <a:ln>
                <a:noFill/>
              </a:ln>
              <a:solidFill>
                <a:schemeClr val="tx2"/>
              </a:solidFill>
              <a:effectLst/>
              <a:uLnTx/>
              <a:uFillTx/>
              <a:latin typeface="Times New Roman" panose="02020503050405090304" pitchFamily="18" charset="0"/>
              <a:ea typeface="+mn-ea"/>
              <a:cs typeface="+mn-cs"/>
            </a:endParaRPr>
          </a:p>
          <a:p>
            <a:pPr marL="342900" marR="0" lvl="0" indent="-342900" algn="just" defTabSz="42545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en-US" sz="2800" b="1" i="0" u="none" strike="noStrike" kern="0" cap="none" spc="0" normalizeH="0" baseline="0" noProof="0" dirty="0" smtClean="0">
              <a:ln>
                <a:noFill/>
              </a:ln>
              <a:solidFill>
                <a:srgbClr val="FF6600"/>
              </a:solidFill>
              <a:effectLst/>
              <a:uLnTx/>
              <a:uFillTx/>
              <a:latin typeface="+mn-lt"/>
              <a:ea typeface="+mn-ea"/>
              <a:cs typeface="+mn-cs"/>
            </a:endParaRPr>
          </a:p>
        </p:txBody>
      </p:sp>
      <p:sp>
        <p:nvSpPr>
          <p:cNvPr id="34819" name="Rectangle 6"/>
          <p:cNvSpPr/>
          <p:nvPr/>
        </p:nvSpPr>
        <p:spPr>
          <a:xfrm>
            <a:off x="285750" y="3286125"/>
            <a:ext cx="8497888" cy="2860675"/>
          </a:xfrm>
          <a:prstGeom prst="rect">
            <a:avLst/>
          </a:prstGeom>
          <a:noFill/>
          <a:ln w="9525">
            <a:noFill/>
          </a:ln>
        </p:spPr>
        <p:txBody>
          <a:bodyPr anchor="t" anchorCtr="0">
            <a:spAutoFit/>
          </a:bodyPr>
          <a:p>
            <a:pPr>
              <a:lnSpc>
                <a:spcPct val="150000"/>
              </a:lnSpc>
              <a:buClrTx/>
              <a:buFontTx/>
            </a:pPr>
            <a:r>
              <a:rPr lang="en-US" altLang="zh-CN" dirty="0">
                <a:solidFill>
                  <a:schemeClr val="accent2"/>
                </a:solidFill>
                <a:latin typeface="楷体_GB2312" pitchFamily="49" charset="-122"/>
                <a:ea typeface="楷体_GB2312" pitchFamily="49" charset="-122"/>
              </a:rPr>
              <a:t> 3</a:t>
            </a:r>
            <a:r>
              <a:rPr lang="zh-CN" altLang="en-US" dirty="0">
                <a:solidFill>
                  <a:schemeClr val="accent2"/>
                </a:solidFill>
                <a:latin typeface="楷体_GB2312" pitchFamily="49" charset="-122"/>
                <a:ea typeface="楷体_GB2312" pitchFamily="49" charset="-122"/>
              </a:rPr>
              <a:t>、</a:t>
            </a:r>
            <a:r>
              <a:rPr lang="zh-CN" altLang="en-US" dirty="0">
                <a:solidFill>
                  <a:schemeClr val="accent2"/>
                </a:solidFill>
                <a:latin typeface="Times New Roman" panose="02020503050405090304" pitchFamily="18" charset="0"/>
                <a:ea typeface="楷体_GB2312" pitchFamily="49" charset="-122"/>
              </a:rPr>
              <a:t>操作数</a:t>
            </a:r>
            <a:r>
              <a:rPr lang="zh-CN" altLang="en-US" dirty="0">
                <a:solidFill>
                  <a:schemeClr val="tx2"/>
                </a:solidFill>
                <a:latin typeface="Times New Roman" panose="02020503050405090304" pitchFamily="18" charset="0"/>
                <a:ea typeface="楷体_GB2312" pitchFamily="49" charset="-122"/>
              </a:rPr>
              <a:t>：</a:t>
            </a:r>
            <a:r>
              <a:rPr lang="zh-CN" altLang="en-US" dirty="0">
                <a:latin typeface="楷体_GB2312" pitchFamily="49" charset="-122"/>
                <a:ea typeface="楷体_GB2312" pitchFamily="49" charset="-122"/>
              </a:rPr>
              <a:t>指令操作对象数据、地址、寄存器名及约定符号指出了参与操作的数据来源和操作结果存放的目的单元。 </a:t>
            </a:r>
            <a:endParaRPr lang="zh-CN" altLang="en-US" dirty="0">
              <a:latin typeface="楷体_GB2312" pitchFamily="49" charset="-122"/>
              <a:ea typeface="楷体_GB2312" pitchFamily="49" charset="-122"/>
            </a:endParaRPr>
          </a:p>
          <a:p>
            <a:pPr>
              <a:lnSpc>
                <a:spcPct val="150000"/>
              </a:lnSpc>
              <a:buClrTx/>
              <a:buFontTx/>
            </a:pPr>
            <a:r>
              <a:rPr lang="zh-CN" altLang="en-US" dirty="0">
                <a:solidFill>
                  <a:schemeClr val="accent2"/>
                </a:solidFill>
                <a:latin typeface="楷体_GB2312" pitchFamily="49" charset="-122"/>
                <a:ea typeface="楷体_GB2312" pitchFamily="49" charset="-122"/>
              </a:rPr>
              <a:t> </a:t>
            </a:r>
            <a:r>
              <a:rPr lang="en-US" altLang="zh-CN" dirty="0">
                <a:solidFill>
                  <a:schemeClr val="accent2"/>
                </a:solidFill>
                <a:latin typeface="楷体_GB2312" pitchFamily="49" charset="-122"/>
                <a:ea typeface="楷体_GB2312" pitchFamily="49" charset="-122"/>
              </a:rPr>
              <a:t>4</a:t>
            </a:r>
            <a:r>
              <a:rPr lang="zh-CN" altLang="en-US" dirty="0">
                <a:solidFill>
                  <a:schemeClr val="accent2"/>
                </a:solidFill>
                <a:latin typeface="楷体_GB2312" pitchFamily="49" charset="-122"/>
                <a:ea typeface="楷体_GB2312" pitchFamily="49" charset="-122"/>
              </a:rPr>
              <a:t>、</a:t>
            </a:r>
            <a:r>
              <a:rPr lang="zh-CN" altLang="en-US" dirty="0">
                <a:solidFill>
                  <a:schemeClr val="accent2"/>
                </a:solidFill>
                <a:latin typeface="Times New Roman" panose="02020503050405090304" pitchFamily="18" charset="0"/>
                <a:ea typeface="楷体_GB2312" pitchFamily="49" charset="-122"/>
              </a:rPr>
              <a:t>注释行：</a:t>
            </a:r>
            <a:r>
              <a:rPr lang="zh-CN" altLang="en-US" dirty="0">
                <a:latin typeface="Times New Roman" panose="02020503050405090304" pitchFamily="18" charset="0"/>
                <a:ea typeface="楷体_GB2312" pitchFamily="49" charset="-122"/>
              </a:rPr>
              <a:t>说明</a:t>
            </a:r>
            <a:r>
              <a:rPr lang="zh-CN" altLang="en-US" dirty="0">
                <a:latin typeface="楷体_GB2312" pitchFamily="49" charset="-122"/>
                <a:ea typeface="楷体_GB2312" pitchFamily="49" charset="-122"/>
              </a:rPr>
              <a:t>指令在程序中的作用。提高程序可读性，但汇编时不被翻译。</a:t>
            </a:r>
            <a:r>
              <a:rPr lang="zh-CN" altLang="en-US" dirty="0">
                <a:solidFill>
                  <a:schemeClr val="accent2"/>
                </a:solidFill>
                <a:latin typeface="楷体_GB2312" pitchFamily="49" charset="-122"/>
                <a:ea typeface="楷体_GB2312" pitchFamily="49" charset="-122"/>
              </a:rPr>
              <a:t>必须以分号</a:t>
            </a:r>
            <a:r>
              <a:rPr lang="zh-CN" altLang="en-US" dirty="0">
                <a:solidFill>
                  <a:schemeClr val="accent2"/>
                </a:solidFill>
                <a:latin typeface="Times New Roman" panose="02020503050405090304" pitchFamily="18" charset="0"/>
                <a:ea typeface="楷体_GB2312" pitchFamily="49" charset="-122"/>
              </a:rPr>
              <a:t>“</a:t>
            </a:r>
            <a:r>
              <a:rPr lang="zh-CN" altLang="en-US" dirty="0">
                <a:solidFill>
                  <a:schemeClr val="accent2"/>
                </a:solidFill>
                <a:latin typeface="楷体_GB2312" pitchFamily="49" charset="-122"/>
                <a:ea typeface="楷体_GB2312" pitchFamily="49" charset="-122"/>
              </a:rPr>
              <a:t>；</a:t>
            </a:r>
            <a:r>
              <a:rPr lang="zh-CN" altLang="en-US" dirty="0">
                <a:solidFill>
                  <a:schemeClr val="accent2"/>
                </a:solidFill>
                <a:latin typeface="Times New Roman" panose="02020503050405090304" pitchFamily="18" charset="0"/>
                <a:ea typeface="楷体_GB2312" pitchFamily="49" charset="-122"/>
              </a:rPr>
              <a:t>”</a:t>
            </a:r>
            <a:r>
              <a:rPr lang="zh-CN" altLang="en-US" dirty="0">
                <a:solidFill>
                  <a:schemeClr val="accent2"/>
                </a:solidFill>
                <a:latin typeface="楷体_GB2312" pitchFamily="49" charset="-122"/>
                <a:ea typeface="楷体_GB2312" pitchFamily="49" charset="-122"/>
              </a:rPr>
              <a:t>开始</a:t>
            </a:r>
            <a:r>
              <a:rPr lang="zh-CN" altLang="en-US" dirty="0">
                <a:latin typeface="楷体_GB2312" pitchFamily="49" charset="-122"/>
                <a:ea typeface="楷体_GB2312" pitchFamily="49" charset="-122"/>
              </a:rPr>
              <a:t>。</a:t>
            </a:r>
            <a:endParaRPr lang="zh-CN" altLang="en-US" dirty="0">
              <a:latin typeface="楷体_GB2312" pitchFamily="49" charset="-122"/>
              <a:ea typeface="楷体_GB2312" pitchFamily="49" charset="-122"/>
            </a:endParaRPr>
          </a:p>
          <a:p>
            <a:pPr>
              <a:lnSpc>
                <a:spcPct val="150000"/>
              </a:lnSpc>
              <a:buClrTx/>
              <a:buFontTx/>
            </a:pPr>
            <a:r>
              <a:rPr lang="zh-CN" altLang="en-US" dirty="0">
                <a:latin typeface="楷体_GB2312" pitchFamily="49" charset="-122"/>
                <a:ea typeface="楷体_GB2312" pitchFamily="49" charset="-122"/>
              </a:rPr>
              <a:t>         </a:t>
            </a:r>
            <a:r>
              <a:rPr lang="zh-CN" altLang="en-US" dirty="0">
                <a:solidFill>
                  <a:schemeClr val="tx2"/>
                </a:solidFill>
                <a:latin typeface="Times New Roman" panose="02020503050405090304" pitchFamily="18" charset="0"/>
                <a:ea typeface="楷体_GB2312" pitchFamily="49" charset="-122"/>
              </a:rPr>
              <a:t>操作码</a:t>
            </a:r>
            <a:r>
              <a:rPr lang="zh-CN" altLang="en-US" dirty="0">
                <a:latin typeface="楷体_GB2312" pitchFamily="49" charset="-122"/>
                <a:ea typeface="楷体_GB2312" pitchFamily="49" charset="-122"/>
              </a:rPr>
              <a:t>和</a:t>
            </a:r>
            <a:r>
              <a:rPr lang="zh-CN" altLang="en-US" dirty="0">
                <a:solidFill>
                  <a:schemeClr val="tx2"/>
                </a:solidFill>
                <a:latin typeface="Times New Roman" panose="02020503050405090304" pitchFamily="18" charset="0"/>
                <a:ea typeface="楷体_GB2312" pitchFamily="49" charset="-122"/>
              </a:rPr>
              <a:t>操作数</a:t>
            </a:r>
            <a:r>
              <a:rPr lang="zh-CN" altLang="en-US" dirty="0">
                <a:latin typeface="楷体_GB2312" pitchFamily="49" charset="-122"/>
                <a:ea typeface="楷体_GB2312" pitchFamily="49" charset="-122"/>
              </a:rPr>
              <a:t>是指令主体。</a:t>
            </a:r>
            <a:endParaRPr lang="zh-CN" altLang="en-US" dirty="0">
              <a:latin typeface="楷体_GB2312" pitchFamily="49" charset="-122"/>
              <a:ea typeface="楷体_GB2312" pitchFamily="49"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Rectangle 2"/>
          <p:cNvSpPr/>
          <p:nvPr/>
        </p:nvSpPr>
        <p:spPr>
          <a:xfrm>
            <a:off x="684213" y="1700213"/>
            <a:ext cx="7772400" cy="892175"/>
          </a:xfrm>
          <a:prstGeom prst="rect">
            <a:avLst/>
          </a:prstGeom>
          <a:noFill/>
          <a:ln w="9525">
            <a:noFill/>
          </a:ln>
        </p:spPr>
        <p:txBody>
          <a:bodyPr anchor="t" anchorCtr="0"/>
          <a:p>
            <a:pPr marL="685800" lvl="1" indent="-495300" eaLnBrk="0" hangingPunct="0">
              <a:spcBef>
                <a:spcPct val="20000"/>
              </a:spcBef>
              <a:buClr>
                <a:schemeClr val="accent2"/>
              </a:buClr>
            </a:pPr>
            <a:r>
              <a:rPr lang="zh-CN" altLang="en-US" sz="2200" dirty="0">
                <a:latin typeface="Arial" panose="020B0604020202090204" pitchFamily="34" charset="0"/>
                <a:ea typeface="楷体_GB2312" pitchFamily="49" charset="-122"/>
              </a:rPr>
              <a:t> </a:t>
            </a:r>
            <a:r>
              <a:rPr lang="en-US" altLang="zh-CN" sz="2200" dirty="0">
                <a:latin typeface="Times New Roman" panose="02020503050405090304" pitchFamily="18" charset="0"/>
                <a:ea typeface="楷体_GB2312" pitchFamily="49" charset="-122"/>
              </a:rPr>
              <a:t>START :   MOV     A , #20H</a:t>
            </a:r>
            <a:r>
              <a:rPr lang="en-US" altLang="zh-CN" sz="2200" dirty="0">
                <a:latin typeface="Arial" panose="020B0604020202090204" pitchFamily="34" charset="0"/>
                <a:ea typeface="楷体_GB2312" pitchFamily="49" charset="-122"/>
              </a:rPr>
              <a:t> ;   </a:t>
            </a:r>
            <a:r>
              <a:rPr lang="zh-CN" altLang="en-US" sz="2200" dirty="0">
                <a:solidFill>
                  <a:schemeClr val="hlink"/>
                </a:solidFill>
                <a:latin typeface="Arial" panose="020B0604020202090204" pitchFamily="34" charset="0"/>
                <a:ea typeface="楷体_GB2312" pitchFamily="49" charset="-122"/>
              </a:rPr>
              <a:t>把数</a:t>
            </a:r>
            <a:r>
              <a:rPr lang="en-US" altLang="zh-CN" sz="2200" dirty="0">
                <a:solidFill>
                  <a:schemeClr val="hlink"/>
                </a:solidFill>
                <a:latin typeface="Times New Roman" panose="02020503050405090304" pitchFamily="18" charset="0"/>
                <a:ea typeface="楷体_GB2312" pitchFamily="49" charset="-122"/>
              </a:rPr>
              <a:t>20H</a:t>
            </a:r>
            <a:r>
              <a:rPr lang="zh-CN" altLang="en-US" sz="2200" dirty="0">
                <a:solidFill>
                  <a:schemeClr val="hlink"/>
                </a:solidFill>
                <a:latin typeface="Arial" panose="020B0604020202090204" pitchFamily="34" charset="0"/>
                <a:ea typeface="楷体_GB2312" pitchFamily="49" charset="-122"/>
              </a:rPr>
              <a:t>送入累加器</a:t>
            </a:r>
            <a:r>
              <a:rPr lang="en-US" altLang="zh-CN" sz="2200" dirty="0">
                <a:solidFill>
                  <a:schemeClr val="hlink"/>
                </a:solidFill>
                <a:latin typeface="Arial" panose="020B0604020202090204" pitchFamily="34" charset="0"/>
                <a:ea typeface="楷体_GB2312" pitchFamily="49" charset="-122"/>
              </a:rPr>
              <a:t>A </a:t>
            </a:r>
            <a:r>
              <a:rPr lang="zh-CN" altLang="en-US" sz="2200" dirty="0">
                <a:solidFill>
                  <a:schemeClr val="hlink"/>
                </a:solidFill>
                <a:latin typeface="Arial" panose="020B0604020202090204" pitchFamily="34" charset="0"/>
                <a:ea typeface="楷体_GB2312" pitchFamily="49" charset="-122"/>
              </a:rPr>
              <a:t>中</a:t>
            </a:r>
            <a:endParaRPr lang="zh-CN" altLang="en-US" sz="2200" dirty="0">
              <a:solidFill>
                <a:schemeClr val="hlink"/>
              </a:solidFill>
              <a:latin typeface="Arial" panose="020B0604020202090204" pitchFamily="34" charset="0"/>
              <a:ea typeface="楷体_GB2312" pitchFamily="49" charset="-122"/>
            </a:endParaRPr>
          </a:p>
          <a:p>
            <a:pPr marL="685800" lvl="1" indent="-495300" eaLnBrk="0" hangingPunct="0">
              <a:spcBef>
                <a:spcPct val="20000"/>
              </a:spcBef>
              <a:buClr>
                <a:schemeClr val="accent2"/>
              </a:buClr>
            </a:pPr>
            <a:r>
              <a:rPr lang="zh-CN" altLang="en-US" sz="2200" dirty="0">
                <a:latin typeface="Arial" panose="020B0604020202090204" pitchFamily="34" charset="0"/>
                <a:ea typeface="楷体_GB2312" pitchFamily="49" charset="-122"/>
              </a:rPr>
              <a:t>   		       </a:t>
            </a:r>
            <a:r>
              <a:rPr lang="en-US" altLang="zh-CN" sz="2200" dirty="0">
                <a:latin typeface="Times New Roman" panose="02020503050405090304" pitchFamily="18" charset="0"/>
                <a:ea typeface="楷体_GB2312" pitchFamily="49" charset="-122"/>
              </a:rPr>
              <a:t>INC       A</a:t>
            </a:r>
            <a:r>
              <a:rPr lang="en-US" altLang="zh-CN" sz="2200" dirty="0">
                <a:latin typeface="Arial" panose="020B0604020202090204" pitchFamily="34" charset="0"/>
                <a:ea typeface="楷体_GB2312" pitchFamily="49" charset="-122"/>
              </a:rPr>
              <a:t> ;              </a:t>
            </a:r>
            <a:r>
              <a:rPr lang="zh-CN" altLang="en-US" sz="2200" dirty="0">
                <a:solidFill>
                  <a:schemeClr val="hlink"/>
                </a:solidFill>
                <a:latin typeface="Times New Roman" panose="02020503050405090304" pitchFamily="18" charset="0"/>
                <a:ea typeface="楷体_GB2312" pitchFamily="49" charset="-122"/>
              </a:rPr>
              <a:t>（</a:t>
            </a:r>
            <a:r>
              <a:rPr lang="en-US" altLang="zh-CN" sz="2200" dirty="0">
                <a:solidFill>
                  <a:schemeClr val="hlink"/>
                </a:solidFill>
                <a:latin typeface="Times New Roman" panose="02020503050405090304" pitchFamily="18" charset="0"/>
                <a:ea typeface="楷体_GB2312" pitchFamily="49" charset="-122"/>
              </a:rPr>
              <a:t>A</a:t>
            </a:r>
            <a:r>
              <a:rPr lang="zh-CN" altLang="en-US" sz="2200" dirty="0">
                <a:solidFill>
                  <a:schemeClr val="hlink"/>
                </a:solidFill>
                <a:latin typeface="Times New Roman" panose="02020503050405090304" pitchFamily="18" charset="0"/>
                <a:ea typeface="楷体_GB2312" pitchFamily="49" charset="-122"/>
              </a:rPr>
              <a:t>）</a:t>
            </a:r>
            <a:r>
              <a:rPr lang="zh-CN" altLang="en-US" sz="2200" dirty="0">
                <a:solidFill>
                  <a:schemeClr val="hlink"/>
                </a:solidFill>
                <a:latin typeface="Arial" panose="020B0604020202090204" pitchFamily="34" charset="0"/>
                <a:ea typeface="楷体_GB2312" pitchFamily="49" charset="-122"/>
              </a:rPr>
              <a:t>加一</a:t>
            </a:r>
            <a:endParaRPr lang="zh-CN" altLang="en-US" sz="2200" dirty="0">
              <a:solidFill>
                <a:schemeClr val="hlink"/>
              </a:solidFill>
              <a:latin typeface="Times New Roman" panose="02020503050405090304" pitchFamily="18" charset="0"/>
              <a:ea typeface="楷体_GB2312" pitchFamily="49" charset="-122"/>
            </a:endParaRPr>
          </a:p>
        </p:txBody>
      </p:sp>
      <p:sp>
        <p:nvSpPr>
          <p:cNvPr id="120836" name="Rectangle 4"/>
          <p:cNvSpPr/>
          <p:nvPr/>
        </p:nvSpPr>
        <p:spPr>
          <a:xfrm>
            <a:off x="179388" y="2852738"/>
            <a:ext cx="8785225" cy="3240087"/>
          </a:xfrm>
          <a:prstGeom prst="rect">
            <a:avLst/>
          </a:prstGeom>
          <a:noFill/>
          <a:ln w="9525">
            <a:noFill/>
          </a:ln>
        </p:spPr>
        <p:txBody>
          <a:bodyPr anchor="t" anchorCtr="0"/>
          <a:p>
            <a:pPr marL="685800" lvl="1" indent="-495300" eaLnBrk="0" hangingPunct="0">
              <a:spcBef>
                <a:spcPct val="20000"/>
              </a:spcBef>
              <a:buClr>
                <a:schemeClr val="accent2"/>
              </a:buClr>
            </a:pPr>
            <a:r>
              <a:rPr lang="zh-CN" altLang="en-US" sz="2200" dirty="0">
                <a:solidFill>
                  <a:schemeClr val="accent2"/>
                </a:solidFill>
                <a:latin typeface="Arial" panose="020B0604020202090204" pitchFamily="34" charset="0"/>
                <a:ea typeface="黑体" panose="02010609060101010101" pitchFamily="49" charset="-122"/>
              </a:rPr>
              <a:t>汇编语言指令</a:t>
            </a:r>
            <a:r>
              <a:rPr lang="zh-CN" altLang="en-US" sz="2200" dirty="0">
                <a:latin typeface="Arial" panose="020B0604020202090204" pitchFamily="34" charset="0"/>
                <a:ea typeface="楷体_GB2312" pitchFamily="49" charset="-122"/>
              </a:rPr>
              <a:t>的几种形式</a:t>
            </a:r>
            <a:r>
              <a:rPr lang="zh-CN" altLang="en-US" sz="2200" dirty="0">
                <a:latin typeface="Times New Roman" panose="02020503050405090304" pitchFamily="18" charset="0"/>
                <a:ea typeface="楷体_GB2312" pitchFamily="49" charset="-122"/>
              </a:rPr>
              <a:t> </a:t>
            </a:r>
            <a:endParaRPr lang="zh-CN" altLang="en-US" sz="2200" dirty="0">
              <a:latin typeface="Times New Roman" panose="02020503050405090304" pitchFamily="18" charset="0"/>
              <a:ea typeface="楷体_GB2312" pitchFamily="49" charset="-122"/>
            </a:endParaRPr>
          </a:p>
          <a:p>
            <a:pPr marL="685800" lvl="1" indent="-495300" eaLnBrk="0" hangingPunct="0">
              <a:spcBef>
                <a:spcPct val="20000"/>
              </a:spcBef>
              <a:buClr>
                <a:schemeClr val="accent2"/>
              </a:buClr>
            </a:pPr>
            <a:r>
              <a:rPr lang="zh-CN" altLang="en-US" sz="2200" dirty="0">
                <a:latin typeface="Times New Roman" panose="02020503050405090304" pitchFamily="18" charset="0"/>
                <a:ea typeface="楷体_GB2312" pitchFamily="49" charset="-122"/>
              </a:rPr>
              <a:t>	（</a:t>
            </a:r>
            <a:r>
              <a:rPr lang="en-US" altLang="zh-CN" sz="2200" dirty="0">
                <a:latin typeface="Times New Roman" panose="02020503050405090304" pitchFamily="18" charset="0"/>
                <a:ea typeface="楷体_GB2312" pitchFamily="49" charset="-122"/>
              </a:rPr>
              <a:t>1</a:t>
            </a:r>
            <a:r>
              <a:rPr lang="zh-CN" altLang="en-US" sz="2200" dirty="0">
                <a:latin typeface="Times New Roman" panose="02020503050405090304" pitchFamily="18" charset="0"/>
                <a:ea typeface="楷体_GB2312" pitchFamily="49" charset="-122"/>
              </a:rPr>
              <a:t>）</a:t>
            </a:r>
            <a:r>
              <a:rPr lang="zh-CN" altLang="en-US" sz="2200" dirty="0">
                <a:solidFill>
                  <a:schemeClr val="accent2"/>
                </a:solidFill>
                <a:latin typeface="Arial" panose="020B0604020202090204" pitchFamily="34" charset="0"/>
                <a:ea typeface="楷体_GB2312" pitchFamily="49" charset="-122"/>
              </a:rPr>
              <a:t>没有</a:t>
            </a:r>
            <a:r>
              <a:rPr lang="zh-CN" altLang="en-US" sz="2200" dirty="0">
                <a:latin typeface="Arial" panose="020B0604020202090204" pitchFamily="34" charset="0"/>
                <a:ea typeface="楷体_GB2312" pitchFamily="49" charset="-122"/>
              </a:rPr>
              <a:t>操作数：  </a:t>
            </a:r>
            <a:r>
              <a:rPr lang="en-US" altLang="zh-CN" sz="2200" dirty="0">
                <a:latin typeface="Times New Roman" panose="02020503050405090304" pitchFamily="18" charset="0"/>
                <a:ea typeface="楷体_GB2312" pitchFamily="49" charset="-122"/>
              </a:rPr>
              <a:t>RET</a:t>
            </a:r>
            <a:r>
              <a:rPr lang="zh-CN" altLang="en-US" sz="2200" dirty="0">
                <a:latin typeface="Times New Roman" panose="02020503050405090304" pitchFamily="18" charset="0"/>
                <a:ea typeface="楷体_GB2312" pitchFamily="49" charset="-122"/>
              </a:rPr>
              <a:t>，</a:t>
            </a:r>
            <a:r>
              <a:rPr lang="en-US" altLang="zh-CN" sz="2200" dirty="0">
                <a:latin typeface="Times New Roman" panose="02020503050405090304" pitchFamily="18" charset="0"/>
                <a:ea typeface="楷体_GB2312" pitchFamily="49" charset="-122"/>
              </a:rPr>
              <a:t>RETI</a:t>
            </a:r>
            <a:r>
              <a:rPr lang="zh-CN" altLang="en-US" sz="2200" dirty="0">
                <a:latin typeface="Times New Roman" panose="02020503050405090304" pitchFamily="18" charset="0"/>
                <a:ea typeface="楷体_GB2312" pitchFamily="49" charset="-122"/>
              </a:rPr>
              <a:t>，</a:t>
            </a:r>
            <a:r>
              <a:rPr lang="en-US" altLang="zh-CN" sz="2200" dirty="0">
                <a:latin typeface="Times New Roman" panose="02020503050405090304" pitchFamily="18" charset="0"/>
                <a:ea typeface="楷体_GB2312" pitchFamily="49" charset="-122"/>
              </a:rPr>
              <a:t>NOP</a:t>
            </a:r>
            <a:endParaRPr lang="en-US" altLang="zh-CN" sz="2200" dirty="0">
              <a:latin typeface="Times New Roman" panose="02020503050405090304" pitchFamily="18" charset="0"/>
              <a:ea typeface="楷体_GB2312" pitchFamily="49" charset="-122"/>
            </a:endParaRPr>
          </a:p>
          <a:p>
            <a:pPr marL="685800" lvl="1" indent="-495300" eaLnBrk="0" hangingPunct="0">
              <a:spcBef>
                <a:spcPct val="20000"/>
              </a:spcBef>
              <a:buClr>
                <a:schemeClr val="accent2"/>
              </a:buClr>
            </a:pPr>
            <a:r>
              <a:rPr lang="en-US" altLang="zh-CN" sz="2200" dirty="0">
                <a:latin typeface="Times New Roman" panose="02020503050405090304" pitchFamily="18" charset="0"/>
                <a:ea typeface="楷体_GB2312" pitchFamily="49" charset="-122"/>
              </a:rPr>
              <a:t>	</a:t>
            </a:r>
            <a:r>
              <a:rPr lang="zh-CN" altLang="en-US" sz="2200" dirty="0">
                <a:latin typeface="Arial" panose="020B0604020202090204" pitchFamily="34" charset="0"/>
                <a:ea typeface="楷体_GB2312" pitchFamily="49" charset="-122"/>
              </a:rPr>
              <a:t>（</a:t>
            </a:r>
            <a:r>
              <a:rPr lang="en-US" altLang="zh-CN" sz="2200" dirty="0">
                <a:latin typeface="Arial" panose="020B0604020202090204" pitchFamily="34" charset="0"/>
                <a:ea typeface="楷体_GB2312" pitchFamily="49" charset="-122"/>
              </a:rPr>
              <a:t>2</a:t>
            </a:r>
            <a:r>
              <a:rPr lang="zh-CN" altLang="en-US" sz="2200" dirty="0">
                <a:latin typeface="Arial" panose="020B0604020202090204" pitchFamily="34" charset="0"/>
                <a:ea typeface="楷体_GB2312" pitchFamily="49" charset="-122"/>
              </a:rPr>
              <a:t>）有</a:t>
            </a:r>
            <a:r>
              <a:rPr lang="en-US" altLang="zh-CN" sz="2200" dirty="0">
                <a:solidFill>
                  <a:schemeClr val="accent2"/>
                </a:solidFill>
                <a:latin typeface="Arial" panose="020B0604020202090204" pitchFamily="34" charset="0"/>
                <a:ea typeface="楷体_GB2312" pitchFamily="49" charset="-122"/>
              </a:rPr>
              <a:t>1</a:t>
            </a:r>
            <a:r>
              <a:rPr lang="zh-CN" altLang="en-US" sz="2200" dirty="0">
                <a:solidFill>
                  <a:schemeClr val="accent2"/>
                </a:solidFill>
                <a:latin typeface="Arial" panose="020B0604020202090204" pitchFamily="34" charset="0"/>
                <a:ea typeface="楷体_GB2312" pitchFamily="49" charset="-122"/>
              </a:rPr>
              <a:t>个</a:t>
            </a:r>
            <a:r>
              <a:rPr lang="zh-CN" altLang="en-US" sz="2200" dirty="0">
                <a:latin typeface="Arial" panose="020B0604020202090204" pitchFamily="34" charset="0"/>
                <a:ea typeface="楷体_GB2312" pitchFamily="49" charset="-122"/>
              </a:rPr>
              <a:t>操作数：</a:t>
            </a:r>
            <a:r>
              <a:rPr lang="en-US" altLang="zh-CN" sz="2200" dirty="0">
                <a:latin typeface="Times New Roman" panose="02020503050405090304" pitchFamily="18" charset="0"/>
                <a:ea typeface="楷体_GB2312" pitchFamily="49" charset="-122"/>
              </a:rPr>
              <a:t>INC A</a:t>
            </a:r>
            <a:r>
              <a:rPr lang="zh-CN" altLang="en-US" sz="2200" dirty="0">
                <a:latin typeface="Times New Roman" panose="02020503050405090304" pitchFamily="18" charset="0"/>
                <a:ea typeface="楷体_GB2312" pitchFamily="49" charset="-122"/>
              </a:rPr>
              <a:t>，</a:t>
            </a:r>
            <a:r>
              <a:rPr lang="en-US" altLang="zh-CN" sz="2200" dirty="0">
                <a:latin typeface="Times New Roman" panose="02020503050405090304" pitchFamily="18" charset="0"/>
                <a:ea typeface="楷体_GB2312" pitchFamily="49" charset="-122"/>
              </a:rPr>
              <a:t>CLR C</a:t>
            </a:r>
            <a:endParaRPr lang="en-US" altLang="zh-CN" sz="2200" dirty="0">
              <a:latin typeface="Times New Roman" panose="02020503050405090304" pitchFamily="18" charset="0"/>
              <a:ea typeface="楷体_GB2312" pitchFamily="49" charset="-122"/>
            </a:endParaRPr>
          </a:p>
          <a:p>
            <a:pPr marL="685800" lvl="1" indent="-495300" eaLnBrk="0" hangingPunct="0">
              <a:spcBef>
                <a:spcPct val="20000"/>
              </a:spcBef>
              <a:buClr>
                <a:schemeClr val="accent2"/>
              </a:buClr>
            </a:pPr>
            <a:r>
              <a:rPr lang="en-US" altLang="zh-CN" sz="2200" dirty="0">
                <a:latin typeface="Times New Roman" panose="02020503050405090304" pitchFamily="18" charset="0"/>
                <a:ea typeface="楷体_GB2312" pitchFamily="49" charset="-122"/>
              </a:rPr>
              <a:t>	</a:t>
            </a:r>
            <a:r>
              <a:rPr lang="zh-CN" altLang="en-US" sz="2200" dirty="0">
                <a:latin typeface="Times New Roman" panose="02020503050405090304" pitchFamily="18" charset="0"/>
                <a:ea typeface="楷体_GB2312" pitchFamily="49" charset="-122"/>
              </a:rPr>
              <a:t>（</a:t>
            </a:r>
            <a:r>
              <a:rPr lang="en-US" altLang="zh-CN" sz="2200" dirty="0">
                <a:latin typeface="Times New Roman" panose="02020503050405090304" pitchFamily="18" charset="0"/>
                <a:ea typeface="楷体_GB2312" pitchFamily="49" charset="-122"/>
              </a:rPr>
              <a:t>3</a:t>
            </a:r>
            <a:r>
              <a:rPr lang="zh-CN" altLang="en-US" sz="2200" dirty="0">
                <a:latin typeface="Times New Roman" panose="02020503050405090304" pitchFamily="18" charset="0"/>
                <a:ea typeface="楷体_GB2312" pitchFamily="49" charset="-122"/>
              </a:rPr>
              <a:t>）</a:t>
            </a:r>
            <a:r>
              <a:rPr lang="zh-CN" altLang="en-US" sz="2200" dirty="0">
                <a:latin typeface="Arial" panose="020B0604020202090204" pitchFamily="34" charset="0"/>
                <a:ea typeface="楷体_GB2312" pitchFamily="49" charset="-122"/>
              </a:rPr>
              <a:t>有</a:t>
            </a:r>
            <a:r>
              <a:rPr lang="en-US" altLang="zh-CN" sz="2200" dirty="0">
                <a:solidFill>
                  <a:schemeClr val="accent2"/>
                </a:solidFill>
                <a:latin typeface="Arial" panose="020B0604020202090204" pitchFamily="34" charset="0"/>
                <a:ea typeface="楷体_GB2312" pitchFamily="49" charset="-122"/>
              </a:rPr>
              <a:t>2</a:t>
            </a:r>
            <a:r>
              <a:rPr lang="zh-CN" altLang="en-US" sz="2200" dirty="0">
                <a:solidFill>
                  <a:schemeClr val="accent2"/>
                </a:solidFill>
                <a:latin typeface="Arial" panose="020B0604020202090204" pitchFamily="34" charset="0"/>
                <a:ea typeface="楷体_GB2312" pitchFamily="49" charset="-122"/>
              </a:rPr>
              <a:t>个</a:t>
            </a:r>
            <a:r>
              <a:rPr lang="zh-CN" altLang="en-US" sz="2200" dirty="0">
                <a:latin typeface="Arial" panose="020B0604020202090204" pitchFamily="34" charset="0"/>
                <a:ea typeface="楷体_GB2312" pitchFamily="49" charset="-122"/>
              </a:rPr>
              <a:t>操作数：</a:t>
            </a:r>
            <a:r>
              <a:rPr lang="en-US" altLang="zh-CN" sz="2200" dirty="0">
                <a:latin typeface="Times New Roman" panose="02020503050405090304" pitchFamily="18" charset="0"/>
                <a:ea typeface="楷体_GB2312" pitchFamily="49" charset="-122"/>
              </a:rPr>
              <a:t>MOV R7, #DATA</a:t>
            </a:r>
            <a:r>
              <a:rPr lang="zh-CN" altLang="en-US" sz="2200" dirty="0">
                <a:latin typeface="Times New Roman" panose="02020503050405090304" pitchFamily="18" charset="0"/>
                <a:ea typeface="楷体_GB2312" pitchFamily="49" charset="-122"/>
              </a:rPr>
              <a:t>，</a:t>
            </a:r>
            <a:r>
              <a:rPr lang="en-US" altLang="zh-CN" sz="2200" dirty="0">
                <a:latin typeface="Times New Roman" panose="02020503050405090304" pitchFamily="18" charset="0"/>
                <a:ea typeface="楷体_GB2312" pitchFamily="49" charset="-122"/>
              </a:rPr>
              <a:t>ADD A,</a:t>
            </a:r>
            <a:r>
              <a:rPr lang="en-US" altLang="zh-CN" sz="2200" dirty="0">
                <a:latin typeface="Arial" panose="020B0604020202090204" pitchFamily="34" charset="0"/>
                <a:ea typeface="楷体_GB2312" pitchFamily="49" charset="-122"/>
              </a:rPr>
              <a:t> </a:t>
            </a:r>
            <a:r>
              <a:rPr lang="en-US" altLang="zh-CN" sz="2200" dirty="0">
                <a:latin typeface="Times New Roman" panose="02020503050405090304" pitchFamily="18" charset="0"/>
                <a:ea typeface="楷体_GB2312" pitchFamily="49" charset="-122"/>
              </a:rPr>
              <a:t>R0</a:t>
            </a:r>
            <a:r>
              <a:rPr lang="zh-CN" altLang="en-US" sz="2200" dirty="0">
                <a:latin typeface="Times New Roman" panose="02020503050405090304" pitchFamily="18" charset="0"/>
                <a:ea typeface="楷体_GB2312" pitchFamily="49" charset="-122"/>
              </a:rPr>
              <a:t>，</a:t>
            </a:r>
            <a:endParaRPr lang="zh-CN" altLang="en-US" sz="2200" dirty="0">
              <a:latin typeface="Times New Roman" panose="02020503050405090304" pitchFamily="18" charset="0"/>
              <a:ea typeface="楷体_GB2312" pitchFamily="49" charset="-122"/>
            </a:endParaRPr>
          </a:p>
          <a:p>
            <a:pPr marL="685800" lvl="1" indent="-495300" eaLnBrk="0" hangingPunct="0">
              <a:spcBef>
                <a:spcPct val="20000"/>
              </a:spcBef>
              <a:buClr>
                <a:schemeClr val="accent2"/>
              </a:buClr>
            </a:pPr>
            <a:r>
              <a:rPr lang="en-US" altLang="zh-CN" sz="2200" dirty="0">
                <a:latin typeface="Times New Roman" panose="02020503050405090304" pitchFamily="18" charset="0"/>
                <a:ea typeface="楷体_GB2312" pitchFamily="49" charset="-122"/>
              </a:rPr>
              <a:t>                                           DJNZ R2, LOOP</a:t>
            </a:r>
            <a:endParaRPr lang="en-US" altLang="zh-CN" sz="2200" dirty="0">
              <a:latin typeface="Times New Roman" panose="02020503050405090304" pitchFamily="18" charset="0"/>
              <a:ea typeface="楷体_GB2312" pitchFamily="49" charset="-122"/>
            </a:endParaRPr>
          </a:p>
          <a:p>
            <a:pPr marL="685800" lvl="1" indent="-495300" eaLnBrk="0" hangingPunct="0">
              <a:spcBef>
                <a:spcPct val="20000"/>
              </a:spcBef>
              <a:buClr>
                <a:schemeClr val="accent2"/>
              </a:buClr>
            </a:pPr>
            <a:r>
              <a:rPr lang="en-US" altLang="zh-CN" sz="2200" dirty="0">
                <a:latin typeface="Times New Roman" panose="02020503050405090304" pitchFamily="18" charset="0"/>
                <a:ea typeface="楷体_GB2312" pitchFamily="49" charset="-122"/>
              </a:rPr>
              <a:t>	</a:t>
            </a:r>
            <a:r>
              <a:rPr lang="zh-CN" altLang="en-US" sz="2200" dirty="0">
                <a:latin typeface="Times New Roman" panose="02020503050405090304" pitchFamily="18" charset="0"/>
                <a:ea typeface="楷体_GB2312" pitchFamily="49" charset="-122"/>
              </a:rPr>
              <a:t>（</a:t>
            </a:r>
            <a:r>
              <a:rPr lang="en-US" altLang="zh-CN" sz="2200" dirty="0">
                <a:latin typeface="Times New Roman" panose="02020503050405090304" pitchFamily="18" charset="0"/>
                <a:ea typeface="楷体_GB2312" pitchFamily="49" charset="-122"/>
              </a:rPr>
              <a:t>4</a:t>
            </a:r>
            <a:r>
              <a:rPr lang="zh-CN" altLang="en-US" sz="2200" dirty="0">
                <a:latin typeface="Times New Roman" panose="02020503050405090304" pitchFamily="18" charset="0"/>
                <a:ea typeface="楷体_GB2312" pitchFamily="49" charset="-122"/>
              </a:rPr>
              <a:t>）</a:t>
            </a:r>
            <a:r>
              <a:rPr lang="zh-CN" altLang="en-US" sz="2200" dirty="0">
                <a:latin typeface="Arial" panose="020B0604020202090204" pitchFamily="34" charset="0"/>
                <a:ea typeface="楷体_GB2312" pitchFamily="49" charset="-122"/>
              </a:rPr>
              <a:t>有</a:t>
            </a:r>
            <a:r>
              <a:rPr lang="en-US" altLang="zh-CN" sz="2200" dirty="0">
                <a:solidFill>
                  <a:schemeClr val="accent2"/>
                </a:solidFill>
                <a:latin typeface="Arial" panose="020B0604020202090204" pitchFamily="34" charset="0"/>
                <a:ea typeface="楷体_GB2312" pitchFamily="49" charset="-122"/>
              </a:rPr>
              <a:t>3</a:t>
            </a:r>
            <a:r>
              <a:rPr lang="zh-CN" altLang="en-US" sz="2200" dirty="0">
                <a:solidFill>
                  <a:schemeClr val="accent2"/>
                </a:solidFill>
                <a:latin typeface="Arial" panose="020B0604020202090204" pitchFamily="34" charset="0"/>
                <a:ea typeface="楷体_GB2312" pitchFamily="49" charset="-122"/>
              </a:rPr>
              <a:t>个</a:t>
            </a:r>
            <a:r>
              <a:rPr lang="zh-CN" altLang="en-US" sz="2200" dirty="0">
                <a:latin typeface="Arial" panose="020B0604020202090204" pitchFamily="34" charset="0"/>
                <a:ea typeface="楷体_GB2312" pitchFamily="49" charset="-122"/>
              </a:rPr>
              <a:t>操作数：</a:t>
            </a:r>
            <a:r>
              <a:rPr lang="en-US" altLang="zh-CN" sz="2200" dirty="0">
                <a:latin typeface="Times New Roman" panose="02020503050405090304" pitchFamily="18" charset="0"/>
                <a:ea typeface="楷体_GB2312" pitchFamily="49" charset="-122"/>
              </a:rPr>
              <a:t>CJNE A, #20H, LOOP</a:t>
            </a:r>
            <a:r>
              <a:rPr lang="zh-CN" altLang="en-US" sz="2200" dirty="0">
                <a:latin typeface="Times New Roman" panose="02020503050405090304" pitchFamily="18" charset="0"/>
                <a:ea typeface="楷体_GB2312" pitchFamily="49" charset="-122"/>
              </a:rPr>
              <a:t>（比较转移指令）</a:t>
            </a:r>
            <a:endParaRPr lang="en-US" altLang="zh-CN" sz="2200" dirty="0">
              <a:latin typeface="Times New Roman" panose="02020503050405090304" pitchFamily="18" charset="0"/>
              <a:ea typeface="楷体_GB2312" pitchFamily="49" charset="-122"/>
            </a:endParaRPr>
          </a:p>
        </p:txBody>
      </p:sp>
      <p:sp>
        <p:nvSpPr>
          <p:cNvPr id="87042" name="Rectangle 2"/>
          <p:cNvSpPr>
            <a:spLocks noChangeArrowheads="1"/>
          </p:cNvSpPr>
          <p:nvPr/>
        </p:nvSpPr>
        <p:spPr bwMode="auto">
          <a:xfrm>
            <a:off x="228600" y="228600"/>
            <a:ext cx="8763000" cy="609600"/>
          </a:xfrm>
          <a:prstGeom prst="rect">
            <a:avLst/>
          </a:prstGeom>
          <a:noFill/>
          <a:ln>
            <a:noFill/>
          </a:ln>
        </p:spPr>
        <p:txBody>
          <a:bodyPr anchor="ctr"/>
          <a:lstStyle>
            <a:lvl1pPr>
              <a:defRPr kumimoji="1" sz="3200" b="1">
                <a:solidFill>
                  <a:schemeClr val="tx2"/>
                </a:solidFill>
                <a:latin typeface="Times New Roman" panose="02020503050405090304" pitchFamily="18" charset="0"/>
                <a:ea typeface="楷体_GB2312" pitchFamily="49" charset="-122"/>
              </a:defRPr>
            </a:lvl1pPr>
            <a:lvl2pPr>
              <a:defRPr kumimoji="1" sz="3200" b="1">
                <a:solidFill>
                  <a:schemeClr val="tx2"/>
                </a:solidFill>
                <a:latin typeface="Times New Roman" panose="02020503050405090304" pitchFamily="18" charset="0"/>
                <a:ea typeface="楷体_GB2312" pitchFamily="49" charset="-122"/>
              </a:defRPr>
            </a:lvl2pPr>
            <a:lvl3pPr>
              <a:defRPr kumimoji="1" sz="3200" b="1">
                <a:solidFill>
                  <a:schemeClr val="tx2"/>
                </a:solidFill>
                <a:latin typeface="Times New Roman" panose="02020503050405090304" pitchFamily="18" charset="0"/>
                <a:ea typeface="楷体_GB2312" pitchFamily="49" charset="-122"/>
              </a:defRPr>
            </a:lvl3pPr>
            <a:lvl4pPr>
              <a:defRPr kumimoji="1" sz="3200" b="1">
                <a:solidFill>
                  <a:schemeClr val="tx2"/>
                </a:solidFill>
                <a:latin typeface="Times New Roman" panose="02020503050405090304" pitchFamily="18" charset="0"/>
                <a:ea typeface="楷体_GB2312" pitchFamily="49" charset="-122"/>
              </a:defRPr>
            </a:lvl4pPr>
            <a:lvl5pPr>
              <a:defRPr kumimoji="1" sz="3200" b="1">
                <a:solidFill>
                  <a:schemeClr val="tx2"/>
                </a:solidFill>
                <a:latin typeface="Times New Roman" panose="02020503050405090304" pitchFamily="18" charset="0"/>
                <a:ea typeface="楷体_GB2312" pitchFamily="49" charset="-122"/>
              </a:defRPr>
            </a:lvl5pPr>
            <a:lvl6pPr marL="457200" eaLnBrk="0" fontAlgn="base" hangingPunct="0">
              <a:spcBef>
                <a:spcPct val="0"/>
              </a:spcBef>
              <a:spcAft>
                <a:spcPct val="0"/>
              </a:spcAft>
              <a:defRPr kumimoji="1" sz="3200" b="1">
                <a:solidFill>
                  <a:schemeClr val="tx2"/>
                </a:solidFill>
                <a:latin typeface="Times New Roman" panose="02020503050405090304" pitchFamily="18" charset="0"/>
                <a:ea typeface="楷体_GB2312" pitchFamily="49" charset="-122"/>
              </a:defRPr>
            </a:lvl6pPr>
            <a:lvl7pPr marL="914400" eaLnBrk="0" fontAlgn="base" hangingPunct="0">
              <a:spcBef>
                <a:spcPct val="0"/>
              </a:spcBef>
              <a:spcAft>
                <a:spcPct val="0"/>
              </a:spcAft>
              <a:defRPr kumimoji="1" sz="3200" b="1">
                <a:solidFill>
                  <a:schemeClr val="tx2"/>
                </a:solidFill>
                <a:latin typeface="Times New Roman" panose="02020503050405090304" pitchFamily="18" charset="0"/>
                <a:ea typeface="楷体_GB2312" pitchFamily="49" charset="-122"/>
              </a:defRPr>
            </a:lvl7pPr>
            <a:lvl8pPr marL="1371600" eaLnBrk="0" fontAlgn="base" hangingPunct="0">
              <a:spcBef>
                <a:spcPct val="0"/>
              </a:spcBef>
              <a:spcAft>
                <a:spcPct val="0"/>
              </a:spcAft>
              <a:defRPr kumimoji="1" sz="3200" b="1">
                <a:solidFill>
                  <a:schemeClr val="tx2"/>
                </a:solidFill>
                <a:latin typeface="Times New Roman" panose="02020503050405090304" pitchFamily="18" charset="0"/>
                <a:ea typeface="楷体_GB2312" pitchFamily="49" charset="-122"/>
              </a:defRPr>
            </a:lvl8pPr>
            <a:lvl9pPr marL="1828800" eaLnBrk="0" fontAlgn="base" hangingPunct="0">
              <a:spcBef>
                <a:spcPct val="0"/>
              </a:spcBef>
              <a:spcAft>
                <a:spcPct val="0"/>
              </a:spcAft>
              <a:defRPr kumimoji="1" sz="3200" b="1">
                <a:solidFill>
                  <a:schemeClr val="tx2"/>
                </a:solidFill>
                <a:latin typeface="Times New Roman" panose="02020503050405090304" pitchFamily="18"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1200" cap="none" spc="0" normalizeH="0" baseline="0" noProof="0" smtClean="0">
                <a:ln>
                  <a:noFill/>
                </a:ln>
                <a:solidFill>
                  <a:schemeClr val="tx2"/>
                </a:solidFill>
                <a:effectLst>
                  <a:outerShdw blurRad="38100" dist="38100" dir="2700000" algn="tl">
                    <a:srgbClr val="C0C0C0"/>
                  </a:outerShdw>
                </a:effectLst>
                <a:uLnTx/>
                <a:uFillTx/>
                <a:latin typeface="Times New Roman" panose="02020503050405090304" pitchFamily="18" charset="0"/>
                <a:ea typeface="楷体_GB2312" pitchFamily="49" charset="-122"/>
                <a:cs typeface="+mn-cs"/>
              </a:rPr>
              <a:t>第三章     </a:t>
            </a:r>
            <a:r>
              <a:rPr kumimoji="1" lang="en-US" altLang="zh-CN" sz="3200" b="1" i="0" u="none" strike="noStrike" kern="1200" cap="none" spc="0" normalizeH="0" baseline="0" noProof="0" smtClean="0">
                <a:ln>
                  <a:noFill/>
                </a:ln>
                <a:solidFill>
                  <a:schemeClr val="tx2"/>
                </a:solidFill>
                <a:effectLst>
                  <a:outerShdw blurRad="38100" dist="38100" dir="2700000" algn="tl">
                    <a:srgbClr val="C0C0C0"/>
                  </a:outerShdw>
                </a:effectLst>
                <a:uLnTx/>
                <a:uFillTx/>
                <a:latin typeface="Times New Roman" panose="02020503050405090304" pitchFamily="18" charset="0"/>
                <a:ea typeface="楷体_GB2312" pitchFamily="49" charset="-122"/>
                <a:cs typeface="+mn-cs"/>
              </a:rPr>
              <a:t>MCS-51</a:t>
            </a:r>
            <a:r>
              <a:rPr kumimoji="1" lang="zh-CN" altLang="en-US" sz="3200" b="1" i="0" u="none" strike="noStrike" kern="1200" cap="none" spc="0" normalizeH="0" baseline="0" noProof="0" smtClean="0">
                <a:ln>
                  <a:noFill/>
                </a:ln>
                <a:solidFill>
                  <a:schemeClr val="tx2"/>
                </a:solidFill>
                <a:effectLst>
                  <a:outerShdw blurRad="38100" dist="38100" dir="2700000" algn="tl">
                    <a:srgbClr val="C0C0C0"/>
                  </a:outerShdw>
                </a:effectLst>
                <a:uLnTx/>
                <a:uFillTx/>
                <a:latin typeface="Times New Roman" panose="02020503050405090304" pitchFamily="18" charset="0"/>
                <a:ea typeface="楷体_GB2312" pitchFamily="49" charset="-122"/>
                <a:cs typeface="+mn-cs"/>
              </a:rPr>
              <a:t>指令系统</a:t>
            </a:r>
            <a:endParaRPr kumimoji="1" lang="zh-CN" altLang="en-US" sz="3200" b="1" i="0" u="none" strike="noStrike" kern="1200" cap="none" spc="0" normalizeH="0" baseline="0" noProof="0" smtClean="0">
              <a:ln>
                <a:noFill/>
              </a:ln>
              <a:solidFill>
                <a:schemeClr val="tx2"/>
              </a:solidFill>
              <a:effectLst>
                <a:outerShdw blurRad="38100" dist="38100" dir="2700000" algn="tl">
                  <a:srgbClr val="C0C0C0"/>
                </a:outerShdw>
              </a:effectLst>
              <a:uLnTx/>
              <a:uFillTx/>
              <a:latin typeface="Times New Roman" panose="02020503050405090304" pitchFamily="18" charset="0"/>
              <a:ea typeface="楷体_GB2312" pitchFamily="49" charset="-122"/>
              <a:cs typeface="+mn-cs"/>
            </a:endParaRPr>
          </a:p>
        </p:txBody>
      </p:sp>
      <p:sp>
        <p:nvSpPr>
          <p:cNvPr id="35844" name="Rectangle 7"/>
          <p:cNvSpPr/>
          <p:nvPr/>
        </p:nvSpPr>
        <p:spPr>
          <a:xfrm>
            <a:off x="323850" y="908050"/>
            <a:ext cx="3254375" cy="508000"/>
          </a:xfrm>
          <a:prstGeom prst="rect">
            <a:avLst/>
          </a:prstGeom>
          <a:noFill/>
          <a:ln w="9525">
            <a:noFill/>
          </a:ln>
        </p:spPr>
        <p:txBody>
          <a:bodyPr wrap="none" anchor="t" anchorCtr="0">
            <a:spAutoFit/>
          </a:bodyPr>
          <a:p>
            <a:pPr>
              <a:lnSpc>
                <a:spcPct val="110000"/>
              </a:lnSpc>
              <a:spcBef>
                <a:spcPct val="20000"/>
              </a:spcBef>
              <a:buClrTx/>
              <a:buFontTx/>
            </a:pPr>
            <a:r>
              <a:rPr lang="en-US" altLang="zh-CN" sz="2800" dirty="0">
                <a:solidFill>
                  <a:srgbClr val="FF0000"/>
                </a:solidFill>
                <a:latin typeface="黑体" panose="02010609060101010101" pitchFamily="49" charset="-122"/>
                <a:ea typeface="黑体" panose="02010609060101010101" pitchFamily="49" charset="-122"/>
              </a:rPr>
              <a:t>3-1  </a:t>
            </a:r>
            <a:r>
              <a:rPr lang="zh-CN" altLang="en-US" sz="2800" dirty="0">
                <a:solidFill>
                  <a:srgbClr val="FF0000"/>
                </a:solidFill>
                <a:latin typeface="黑体" panose="02010609060101010101" pitchFamily="49" charset="-122"/>
                <a:ea typeface="黑体" panose="02010609060101010101" pitchFamily="49" charset="-122"/>
              </a:rPr>
              <a:t>指令系统概述</a:t>
            </a:r>
            <a:endParaRPr lang="zh-CN" altLang="en-US" sz="2800" dirty="0">
              <a:solidFill>
                <a:srgbClr val="FF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0834"/>
                                        </p:tgtEl>
                                        <p:attrNameLst>
                                          <p:attrName>style.visibility</p:attrName>
                                        </p:attrNameLst>
                                      </p:cBhvr>
                                      <p:to>
                                        <p:strVal val="visible"/>
                                      </p:to>
                                    </p:set>
                                    <p:animEffect transition="in" filter="box(in)">
                                      <p:cBhvr>
                                        <p:cTn id="7" dur="500"/>
                                        <p:tgtEl>
                                          <p:spTgt spid="12083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120836"/>
                                        </p:tgtEl>
                                        <p:attrNameLst>
                                          <p:attrName>style.visibility</p:attrName>
                                        </p:attrNameLst>
                                      </p:cBhvr>
                                      <p:to>
                                        <p:strVal val="visible"/>
                                      </p:to>
                                    </p:set>
                                    <p:animEffect transition="in" filter="strips(downLeft)">
                                      <p:cBhvr>
                                        <p:cTn id="12" dur="1000"/>
                                        <p:tgtEl>
                                          <p:spTgt spid="1208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4" grpId="0"/>
      <p:bldP spid="12083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4" name="Rectangle 2"/>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8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4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3795" name="Rectangle 3"/>
          <p:cNvSpPr>
            <a:spLocks noGrp="1" noChangeArrowheads="1"/>
          </p:cNvSpPr>
          <p:nvPr>
            <p:ph type="body" idx="1"/>
          </p:nvPr>
        </p:nvSpPr>
        <p:spPr>
          <a:xfrm>
            <a:off x="228600" y="1454150"/>
            <a:ext cx="8763000" cy="5403850"/>
          </a:xfrm>
        </p:spPr>
        <p:txBody>
          <a:bodyPr vert="horz" wrap="square" lIns="91440" tIns="45720" rIns="91440" bIns="45720" numCol="1" anchor="t" anchorCtr="0" compatLnSpc="1"/>
          <a:lstStyle/>
          <a:p>
            <a:pPr marL="342900" marR="0" lvl="0" indent="-342900" algn="just" defTabSz="425450" rtl="0" eaLnBrk="1" fontAlgn="b" latinLnBrk="0" hangingPunct="1">
              <a:lnSpc>
                <a:spcPct val="90000"/>
              </a:lnSpc>
              <a:spcBef>
                <a:spcPct val="20000"/>
              </a:spcBef>
              <a:spcAft>
                <a:spcPct val="0"/>
              </a:spcAft>
              <a:buClrTx/>
              <a:buSzTx/>
              <a:buFontTx/>
              <a:buNone/>
              <a:defRPr/>
            </a:pPr>
            <a:endParaRPr kumimoji="1" lang="en-US" altLang="zh-CN" sz="2000" b="1" i="0" u="none" strike="noStrike" kern="0" cap="none" spc="0" normalizeH="0" baseline="0" noProof="0" dirty="0" smtClean="0">
              <a:ln>
                <a:noFill/>
              </a:ln>
              <a:solidFill>
                <a:srgbClr val="FF3300"/>
              </a:solidFill>
              <a:effectLst/>
              <a:uLnTx/>
              <a:uFillTx/>
              <a:latin typeface="黑体" panose="02010609060101010101" pitchFamily="49" charset="-122"/>
              <a:ea typeface="黑体" panose="02010609060101010101" pitchFamily="49" charset="-122"/>
              <a:cs typeface="+mn-cs"/>
            </a:endParaRPr>
          </a:p>
          <a:p>
            <a:pPr marL="342900" marR="0" lvl="0" indent="-342900" algn="just" defTabSz="425450" rtl="0" eaLnBrk="1" fontAlgn="base" latinLnBrk="0" hangingPunct="1">
              <a:lnSpc>
                <a:spcPct val="90000"/>
              </a:lnSpc>
              <a:spcBef>
                <a:spcPct val="20000"/>
              </a:spcBef>
              <a:spcAft>
                <a:spcPct val="0"/>
              </a:spcAft>
              <a:buClrTx/>
              <a:buSzTx/>
              <a:buFontTx/>
              <a:buNone/>
              <a:defRPr/>
            </a:pPr>
            <a:r>
              <a:rPr kumimoji="1" lang="en-US" altLang="zh-CN" sz="2600" b="1" i="0" u="none" strike="noStrike" kern="0" cap="none" spc="0" normalizeH="0" baseline="0" noProof="0" dirty="0" err="1" smtClean="0">
                <a:ln>
                  <a:noFill/>
                </a:ln>
                <a:solidFill>
                  <a:srgbClr val="0033CC"/>
                </a:solidFill>
                <a:effectLst/>
                <a:uLnTx/>
                <a:uFillTx/>
                <a:latin typeface="黑体" panose="02010609060101010101" pitchFamily="49" charset="-122"/>
                <a:ea typeface="黑体" panose="02010609060101010101" pitchFamily="49" charset="-122"/>
                <a:cs typeface="+mn-cs"/>
              </a:rPr>
              <a:t>Rn</a:t>
            </a:r>
            <a:r>
              <a:rPr kumimoji="1" lang="en-US" altLang="zh-CN" sz="2600" b="1" i="0" u="none" strike="noStrike" kern="0" cap="none" spc="0" normalizeH="0" baseline="0" noProof="0" dirty="0" smtClean="0">
                <a:ln>
                  <a:noFill/>
                </a:ln>
                <a:solidFill>
                  <a:srgbClr val="0033CC"/>
                </a:solidFill>
                <a:effectLst/>
                <a:uLnTx/>
                <a:uFillTx/>
                <a:latin typeface="黑体" panose="02010609060101010101" pitchFamily="49" charset="-122"/>
                <a:ea typeface="黑体" panose="02010609060101010101" pitchFamily="49" charset="-122"/>
                <a:cs typeface="+mn-cs"/>
              </a:rPr>
              <a:t> </a:t>
            </a:r>
            <a:r>
              <a:rPr kumimoji="1" lang="zh-CN" altLang="en-US"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当前寄存器区的</a:t>
            </a:r>
            <a:r>
              <a:rPr kumimoji="1" lang="en-US" altLang="zh-CN"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8</a:t>
            </a:r>
            <a:r>
              <a:rPr kumimoji="1" lang="zh-CN" altLang="en-US"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个工作寄存器</a:t>
            </a:r>
            <a:r>
              <a:rPr kumimoji="1" lang="en-US" altLang="zh-CN"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R0</a:t>
            </a:r>
            <a:r>
              <a:rPr kumimoji="1" lang="zh-CN" altLang="en-US"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a:t>
            </a:r>
            <a:r>
              <a:rPr kumimoji="1" lang="en-US" altLang="zh-CN"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R7(n=0</a:t>
            </a:r>
            <a:r>
              <a:rPr kumimoji="1" lang="zh-CN" altLang="en-US"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a:t>
            </a:r>
            <a:r>
              <a:rPr kumimoji="1" lang="en-US" altLang="zh-CN"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7)</a:t>
            </a:r>
            <a:r>
              <a:rPr kumimoji="1" lang="zh-CN" altLang="en-US"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a:t>
            </a:r>
            <a:endParaRPr kumimoji="1" lang="zh-CN" altLang="en-US"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endParaRPr>
          </a:p>
          <a:p>
            <a:pPr marL="533400" marR="0" lvl="0" indent="-533400" algn="just" defTabSz="425450" rtl="0" eaLnBrk="1" fontAlgn="b" latinLnBrk="0" hangingPunct="1">
              <a:lnSpc>
                <a:spcPct val="90000"/>
              </a:lnSpc>
              <a:spcBef>
                <a:spcPct val="20000"/>
              </a:spcBef>
              <a:spcAft>
                <a:spcPct val="0"/>
              </a:spcAft>
              <a:buClrTx/>
              <a:buSzTx/>
              <a:buFontTx/>
              <a:buNone/>
              <a:defRPr/>
            </a:pPr>
            <a:r>
              <a:rPr kumimoji="1" lang="en-US" altLang="zh-CN" sz="2600" b="1" i="0" u="none" strike="noStrike" kern="0" cap="none" spc="0" normalizeH="0" baseline="0" noProof="0" dirty="0" err="1" smtClean="0">
                <a:ln>
                  <a:noFill/>
                </a:ln>
                <a:solidFill>
                  <a:srgbClr val="0033CC"/>
                </a:solidFill>
                <a:effectLst/>
                <a:uLnTx/>
                <a:uFillTx/>
                <a:latin typeface="黑体" panose="02010609060101010101" pitchFamily="49" charset="-122"/>
                <a:ea typeface="黑体" panose="02010609060101010101" pitchFamily="49" charset="-122"/>
                <a:cs typeface="+mn-cs"/>
              </a:rPr>
              <a:t>Ri</a:t>
            </a:r>
            <a:r>
              <a:rPr kumimoji="1" lang="en-US" altLang="zh-CN" sz="2600" b="1" i="0" u="none" strike="noStrike" kern="0" cap="none" spc="0" normalizeH="0" baseline="0" noProof="0" dirty="0" smtClean="0">
                <a:ln>
                  <a:noFill/>
                </a:ln>
                <a:solidFill>
                  <a:srgbClr val="0033CC"/>
                </a:solidFill>
                <a:effectLst/>
                <a:uLnTx/>
                <a:uFillTx/>
                <a:latin typeface="黑体" panose="02010609060101010101" pitchFamily="49" charset="-122"/>
                <a:ea typeface="黑体" panose="02010609060101010101" pitchFamily="49" charset="-122"/>
                <a:cs typeface="+mn-cs"/>
              </a:rPr>
              <a:t> </a:t>
            </a:r>
            <a:r>
              <a:rPr kumimoji="1" lang="zh-CN" altLang="en-US"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当前选中的寄存器区中可作间接寻址寄存器的</a:t>
            </a:r>
            <a:r>
              <a:rPr kumimoji="1" lang="en-US" altLang="zh-CN"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2</a:t>
            </a:r>
            <a:r>
              <a:rPr kumimoji="1" lang="zh-CN" altLang="en-US"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个寄存器</a:t>
            </a:r>
            <a:r>
              <a:rPr kumimoji="1" lang="en-US" altLang="zh-CN"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R0</a:t>
            </a:r>
            <a:r>
              <a:rPr kumimoji="1" lang="zh-CN" altLang="en-US"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a:t>
            </a:r>
            <a:r>
              <a:rPr kumimoji="1" lang="en-US" altLang="zh-CN"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R1(</a:t>
            </a:r>
            <a:r>
              <a:rPr kumimoji="1" lang="en-US" altLang="zh-CN" sz="2600" b="1" i="0" u="none" strike="noStrike" kern="0" cap="none" spc="0" normalizeH="0" baseline="0" noProof="0" dirty="0" err="1" smtClean="0">
                <a:ln>
                  <a:noFill/>
                </a:ln>
                <a:solidFill>
                  <a:srgbClr val="000000"/>
                </a:solidFill>
                <a:effectLst/>
                <a:uLnTx/>
                <a:uFillTx/>
                <a:latin typeface="黑体" panose="02010609060101010101" pitchFamily="49" charset="-122"/>
                <a:ea typeface="黑体" panose="02010609060101010101" pitchFamily="49" charset="-122"/>
                <a:cs typeface="+mn-cs"/>
              </a:rPr>
              <a:t>i</a:t>
            </a:r>
            <a:r>
              <a:rPr kumimoji="1" lang="en-US" altLang="zh-CN"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=0,1)</a:t>
            </a:r>
            <a:r>
              <a:rPr kumimoji="1" lang="zh-CN" altLang="en-US"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a:t>
            </a:r>
            <a:endParaRPr kumimoji="1" lang="zh-CN" altLang="en-US"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endParaRPr>
          </a:p>
          <a:p>
            <a:pPr marL="1168400" marR="0" lvl="0" indent="-1168400" algn="just" defTabSz="425450" rtl="0" eaLnBrk="1" fontAlgn="b" latinLnBrk="0" hangingPunct="1">
              <a:lnSpc>
                <a:spcPct val="90000"/>
              </a:lnSpc>
              <a:spcBef>
                <a:spcPct val="20000"/>
              </a:spcBef>
              <a:spcAft>
                <a:spcPct val="0"/>
              </a:spcAft>
              <a:buClrTx/>
              <a:buSzTx/>
              <a:buFontTx/>
              <a:buNone/>
              <a:defRPr/>
            </a:pPr>
            <a:r>
              <a:rPr kumimoji="1" lang="en-US" altLang="zh-CN" sz="2600" b="1" i="0" u="none" strike="noStrike" kern="0" cap="none" spc="0" normalizeH="0" baseline="0" noProof="0" dirty="0" smtClean="0">
                <a:ln>
                  <a:noFill/>
                </a:ln>
                <a:solidFill>
                  <a:srgbClr val="0033CC"/>
                </a:solidFill>
                <a:effectLst/>
                <a:uLnTx/>
                <a:uFillTx/>
                <a:latin typeface="黑体" panose="02010609060101010101" pitchFamily="49" charset="-122"/>
                <a:ea typeface="黑体" panose="02010609060101010101" pitchFamily="49" charset="-122"/>
                <a:cs typeface="+mn-cs"/>
              </a:rPr>
              <a:t>Direct</a:t>
            </a:r>
            <a:r>
              <a:rPr kumimoji="1" lang="en-US" altLang="zh-CN"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 </a:t>
            </a:r>
            <a:r>
              <a:rPr kumimoji="1" lang="zh-CN" altLang="en-US"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直接地址，即</a:t>
            </a:r>
            <a:r>
              <a:rPr kumimoji="1" lang="en-US" altLang="zh-CN"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8</a:t>
            </a:r>
            <a:r>
              <a:rPr kumimoji="1" lang="zh-CN" altLang="en-US"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位的内部数据存储器单元或特殊功能寄存器的地址。</a:t>
            </a:r>
            <a:endParaRPr kumimoji="1" lang="zh-CN" altLang="en-US"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endParaRPr>
          </a:p>
          <a:p>
            <a:pPr marL="342900" marR="0" lvl="0" indent="-342900" algn="just" defTabSz="425450" rtl="0" eaLnBrk="1" fontAlgn="b" latinLnBrk="0" hangingPunct="1">
              <a:lnSpc>
                <a:spcPct val="90000"/>
              </a:lnSpc>
              <a:spcBef>
                <a:spcPct val="20000"/>
              </a:spcBef>
              <a:spcAft>
                <a:spcPct val="0"/>
              </a:spcAft>
              <a:buClrTx/>
              <a:buSzTx/>
              <a:buFontTx/>
              <a:buNone/>
              <a:defRPr/>
            </a:pPr>
            <a:r>
              <a:rPr kumimoji="1" lang="en-US" altLang="zh-CN" sz="2600" b="1" i="0" u="none" strike="noStrike" kern="0" cap="none" spc="0" normalizeH="0" baseline="0" noProof="0" dirty="0" smtClean="0">
                <a:ln>
                  <a:noFill/>
                </a:ln>
                <a:solidFill>
                  <a:srgbClr val="0033CC"/>
                </a:solidFill>
                <a:effectLst/>
                <a:uLnTx/>
                <a:uFillTx/>
                <a:latin typeface="黑体" panose="02010609060101010101" pitchFamily="49" charset="-122"/>
                <a:ea typeface="黑体" panose="02010609060101010101" pitchFamily="49" charset="-122"/>
                <a:cs typeface="+mn-cs"/>
              </a:rPr>
              <a:t>#data</a:t>
            </a:r>
            <a:r>
              <a:rPr kumimoji="1" lang="en-US" altLang="zh-CN"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  </a:t>
            </a:r>
            <a:r>
              <a:rPr kumimoji="1" lang="zh-CN" altLang="en-US"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包含在指令中的</a:t>
            </a:r>
            <a:r>
              <a:rPr kumimoji="1" lang="en-US" altLang="zh-CN"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8</a:t>
            </a:r>
            <a:r>
              <a:rPr kumimoji="1" lang="zh-CN" altLang="en-US"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位立即数。</a:t>
            </a:r>
            <a:endParaRPr kumimoji="1" lang="zh-CN" altLang="en-US"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endParaRPr>
          </a:p>
          <a:p>
            <a:pPr marL="342900" marR="0" lvl="0" indent="-342900" algn="just" defTabSz="425450" rtl="0" eaLnBrk="1" fontAlgn="b" latinLnBrk="0" hangingPunct="1">
              <a:lnSpc>
                <a:spcPct val="90000"/>
              </a:lnSpc>
              <a:spcBef>
                <a:spcPct val="20000"/>
              </a:spcBef>
              <a:spcAft>
                <a:spcPct val="0"/>
              </a:spcAft>
              <a:buClrTx/>
              <a:buSzTx/>
              <a:buFontTx/>
              <a:buNone/>
              <a:defRPr/>
            </a:pPr>
            <a:r>
              <a:rPr kumimoji="1" lang="en-US" altLang="zh-CN" sz="2600" b="1" i="0" u="none" strike="noStrike" kern="0" cap="none" spc="0" normalizeH="0" baseline="0" noProof="0" dirty="0" smtClean="0">
                <a:ln>
                  <a:noFill/>
                </a:ln>
                <a:solidFill>
                  <a:srgbClr val="0033CC"/>
                </a:solidFill>
                <a:effectLst/>
                <a:uLnTx/>
                <a:uFillTx/>
                <a:latin typeface="黑体" panose="02010609060101010101" pitchFamily="49" charset="-122"/>
                <a:ea typeface="黑体" panose="02010609060101010101" pitchFamily="49" charset="-122"/>
                <a:cs typeface="+mn-cs"/>
              </a:rPr>
              <a:t>#data16</a:t>
            </a:r>
            <a:r>
              <a:rPr kumimoji="1" lang="en-US" altLang="zh-CN"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  </a:t>
            </a:r>
            <a:r>
              <a:rPr kumimoji="1" lang="zh-CN" altLang="en-US"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包含在指令中的</a:t>
            </a:r>
            <a:r>
              <a:rPr kumimoji="1" lang="en-US" altLang="zh-CN"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16</a:t>
            </a:r>
            <a:r>
              <a:rPr kumimoji="1" lang="zh-CN" altLang="en-US"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位立即数。</a:t>
            </a:r>
            <a:endParaRPr kumimoji="1" lang="zh-CN" altLang="en-US"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endParaRPr>
          </a:p>
          <a:p>
            <a:pPr marL="342900" marR="0" lvl="0" indent="-342900" algn="just" defTabSz="425450" rtl="0" eaLnBrk="1" fontAlgn="b" latinLnBrk="0" hangingPunct="1">
              <a:lnSpc>
                <a:spcPct val="90000"/>
              </a:lnSpc>
              <a:spcBef>
                <a:spcPct val="20000"/>
              </a:spcBef>
              <a:spcAft>
                <a:spcPct val="0"/>
              </a:spcAft>
              <a:buClrTx/>
              <a:buSzTx/>
              <a:buFontTx/>
              <a:buNone/>
              <a:defRPr/>
            </a:pPr>
            <a:r>
              <a:rPr kumimoji="1" lang="en-US" altLang="zh-CN" sz="2600" b="1" i="0" u="none" strike="noStrike" kern="0" cap="none" spc="0" normalizeH="0" baseline="0" noProof="0" dirty="0" err="1" smtClean="0">
                <a:ln>
                  <a:noFill/>
                </a:ln>
                <a:solidFill>
                  <a:srgbClr val="0033CC"/>
                </a:solidFill>
                <a:effectLst/>
                <a:uLnTx/>
                <a:uFillTx/>
                <a:latin typeface="黑体" panose="02010609060101010101" pitchFamily="49" charset="-122"/>
                <a:ea typeface="黑体" panose="02010609060101010101" pitchFamily="49" charset="-122"/>
                <a:cs typeface="+mn-cs"/>
              </a:rPr>
              <a:t>rel</a:t>
            </a:r>
            <a:r>
              <a:rPr kumimoji="1" lang="en-US" altLang="zh-CN"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  </a:t>
            </a:r>
            <a:r>
              <a:rPr kumimoji="1" lang="zh-CN" altLang="en-US"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相对转移指令中的偏移量，为</a:t>
            </a:r>
            <a:r>
              <a:rPr kumimoji="1" lang="en-US" altLang="zh-CN"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8</a:t>
            </a:r>
            <a:r>
              <a:rPr kumimoji="1" lang="zh-CN" altLang="en-US"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位的带符号补 码数</a:t>
            </a:r>
            <a:endParaRPr kumimoji="1" lang="zh-CN" altLang="en-US"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endParaRPr>
          </a:p>
          <a:p>
            <a:pPr marL="342900" marR="0" lvl="0" indent="-342900" algn="just" defTabSz="425450" rtl="0" eaLnBrk="1" fontAlgn="b" latinLnBrk="0" hangingPunct="1">
              <a:lnSpc>
                <a:spcPct val="90000"/>
              </a:lnSpc>
              <a:spcBef>
                <a:spcPct val="20000"/>
              </a:spcBef>
              <a:spcAft>
                <a:spcPct val="0"/>
              </a:spcAft>
              <a:buClrTx/>
              <a:buSzTx/>
              <a:buFontTx/>
              <a:buNone/>
              <a:defRPr/>
            </a:pPr>
            <a:r>
              <a:rPr kumimoji="1" lang="en-US" altLang="zh-CN" sz="2600" b="1" i="0" u="none" strike="noStrike" kern="0" cap="none" spc="0" normalizeH="0" baseline="0" noProof="0" dirty="0" smtClean="0">
                <a:ln>
                  <a:noFill/>
                </a:ln>
                <a:solidFill>
                  <a:srgbClr val="0033CC"/>
                </a:solidFill>
                <a:effectLst/>
                <a:uLnTx/>
                <a:uFillTx/>
                <a:latin typeface="黑体" panose="02010609060101010101" pitchFamily="49" charset="-122"/>
                <a:ea typeface="黑体" panose="02010609060101010101" pitchFamily="49" charset="-122"/>
                <a:cs typeface="+mn-cs"/>
              </a:rPr>
              <a:t>DPTR</a:t>
            </a:r>
            <a:r>
              <a:rPr kumimoji="1" lang="en-US" altLang="zh-CN"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 </a:t>
            </a:r>
            <a:r>
              <a:rPr kumimoji="1" lang="zh-CN" altLang="en-US"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数据指针，可用作</a:t>
            </a:r>
            <a:r>
              <a:rPr kumimoji="1" lang="en-US" altLang="zh-CN"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16</a:t>
            </a:r>
            <a:r>
              <a:rPr kumimoji="1" lang="zh-CN" altLang="en-US"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位的地址寄存器。</a:t>
            </a:r>
            <a:endParaRPr kumimoji="1" lang="zh-CN" altLang="en-US"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endParaRPr>
          </a:p>
          <a:p>
            <a:pPr marL="342900" marR="0" lvl="0" indent="-342900" algn="just" defTabSz="425450" rtl="0" eaLnBrk="1" fontAlgn="b" latinLnBrk="0" hangingPunct="1">
              <a:lnSpc>
                <a:spcPct val="90000"/>
              </a:lnSpc>
              <a:spcBef>
                <a:spcPct val="20000"/>
              </a:spcBef>
              <a:spcAft>
                <a:spcPct val="0"/>
              </a:spcAft>
              <a:buClrTx/>
              <a:buSzTx/>
              <a:buFontTx/>
              <a:buNone/>
              <a:defRPr/>
            </a:pPr>
            <a:r>
              <a:rPr kumimoji="1" lang="en-US" altLang="zh-CN" sz="2600" b="1" i="0" u="none" strike="noStrike" kern="0" cap="none" spc="0" normalizeH="0" baseline="0" noProof="0" dirty="0" smtClean="0">
                <a:ln>
                  <a:noFill/>
                </a:ln>
                <a:solidFill>
                  <a:srgbClr val="0033CC"/>
                </a:solidFill>
                <a:effectLst/>
                <a:uLnTx/>
                <a:uFillTx/>
                <a:latin typeface="黑体" panose="02010609060101010101" pitchFamily="49" charset="-122"/>
                <a:ea typeface="黑体" panose="02010609060101010101" pitchFamily="49" charset="-122"/>
                <a:cs typeface="+mn-cs"/>
              </a:rPr>
              <a:t>bit</a:t>
            </a:r>
            <a:r>
              <a:rPr kumimoji="1" lang="en-US" altLang="zh-CN"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 </a:t>
            </a:r>
            <a:r>
              <a:rPr kumimoji="1" lang="zh-CN" altLang="en-US"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内部</a:t>
            </a:r>
            <a:r>
              <a:rPr kumimoji="1" lang="en-US" altLang="zh-CN"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RAM</a:t>
            </a:r>
            <a:r>
              <a:rPr kumimoji="1" lang="zh-CN" altLang="en-US"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或特殊功能寄存器中的直接寻址位。</a:t>
            </a:r>
            <a:endParaRPr kumimoji="1" lang="zh-CN" altLang="en-US"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endParaRPr>
          </a:p>
          <a:p>
            <a:pPr marL="342900" marR="0" lvl="0" indent="-342900" algn="just" defTabSz="425450" rtl="0" eaLnBrk="1" fontAlgn="b" latinLnBrk="0" hangingPunct="1">
              <a:lnSpc>
                <a:spcPct val="90000"/>
              </a:lnSpc>
              <a:spcBef>
                <a:spcPct val="20000"/>
              </a:spcBef>
              <a:spcAft>
                <a:spcPct val="0"/>
              </a:spcAft>
              <a:buClrTx/>
              <a:buSzTx/>
              <a:buFontTx/>
              <a:buNone/>
              <a:defRPr/>
            </a:pPr>
            <a:r>
              <a:rPr kumimoji="1" lang="en-US" altLang="zh-CN" sz="2600" b="1" i="0" u="none" strike="noStrike" kern="0" cap="none" spc="0" normalizeH="0" baseline="0" noProof="0" dirty="0" smtClean="0">
                <a:ln>
                  <a:noFill/>
                </a:ln>
                <a:solidFill>
                  <a:srgbClr val="0033CC"/>
                </a:solidFill>
                <a:effectLst/>
                <a:uLnTx/>
                <a:uFillTx/>
                <a:latin typeface="黑体" panose="02010609060101010101" pitchFamily="49" charset="-122"/>
                <a:ea typeface="黑体" panose="02010609060101010101" pitchFamily="49" charset="-122"/>
                <a:cs typeface="+mn-cs"/>
              </a:rPr>
              <a:t>C</a:t>
            </a:r>
            <a:r>
              <a:rPr kumimoji="1" lang="zh-CN" altLang="en-US" sz="2600" b="1" i="0" u="none" strike="noStrike" kern="0" cap="none" spc="0" normalizeH="0" baseline="0" noProof="0" dirty="0" smtClean="0">
                <a:ln>
                  <a:noFill/>
                </a:ln>
                <a:solidFill>
                  <a:srgbClr val="0033CC"/>
                </a:solidFill>
                <a:effectLst/>
                <a:uLnTx/>
                <a:uFillTx/>
                <a:latin typeface="黑体" panose="02010609060101010101" pitchFamily="49" charset="-122"/>
                <a:ea typeface="黑体" panose="02010609060101010101" pitchFamily="49" charset="-122"/>
                <a:cs typeface="+mn-cs"/>
              </a:rPr>
              <a:t>（或</a:t>
            </a:r>
            <a:r>
              <a:rPr kumimoji="1" lang="en-US" altLang="zh-CN" sz="2600" b="1" i="0" u="none" strike="noStrike" kern="0" cap="none" spc="0" normalizeH="0" baseline="0" noProof="0" dirty="0" smtClean="0">
                <a:ln>
                  <a:noFill/>
                </a:ln>
                <a:solidFill>
                  <a:srgbClr val="0033CC"/>
                </a:solidFill>
                <a:effectLst/>
                <a:uLnTx/>
                <a:uFillTx/>
                <a:latin typeface="黑体" panose="02010609060101010101" pitchFamily="49" charset="-122"/>
                <a:ea typeface="黑体" panose="02010609060101010101" pitchFamily="49" charset="-122"/>
                <a:cs typeface="+mn-cs"/>
              </a:rPr>
              <a:t>Cy</a:t>
            </a:r>
            <a:r>
              <a:rPr kumimoji="1" lang="zh-CN" altLang="en-US" sz="2600" b="1" i="0" u="none" strike="noStrike" kern="0" cap="none" spc="0" normalizeH="0" baseline="0" noProof="0" dirty="0" smtClean="0">
                <a:ln>
                  <a:noFill/>
                </a:ln>
                <a:solidFill>
                  <a:srgbClr val="0033CC"/>
                </a:solidFill>
                <a:effectLst/>
                <a:uLnTx/>
                <a:uFillTx/>
                <a:latin typeface="黑体" panose="02010609060101010101" pitchFamily="49" charset="-122"/>
                <a:ea typeface="黑体" panose="02010609060101010101" pitchFamily="49" charset="-122"/>
                <a:cs typeface="+mn-cs"/>
              </a:rPr>
              <a:t>）</a:t>
            </a:r>
            <a:r>
              <a:rPr kumimoji="1" lang="zh-CN" altLang="en-US"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rPr>
              <a:t> 进位标志位或位处理机中的累加器。</a:t>
            </a:r>
            <a:endParaRPr kumimoji="1" lang="zh-CN" altLang="en-US" sz="2600" b="1"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cs typeface="+mn-cs"/>
            </a:endParaRPr>
          </a:p>
          <a:p>
            <a:pPr marL="342900" marR="0" lvl="0" indent="-342900" algn="l" defTabSz="425450" rtl="0" eaLnBrk="0" fontAlgn="base" latinLnBrk="0" hangingPunct="0">
              <a:lnSpc>
                <a:spcPct val="120000"/>
              </a:lnSpc>
              <a:spcBef>
                <a:spcPct val="20000"/>
              </a:spcBef>
              <a:spcAft>
                <a:spcPct val="0"/>
              </a:spcAft>
              <a:buClr>
                <a:schemeClr val="folHlink"/>
              </a:buClr>
              <a:buSzTx/>
              <a:buFont typeface="Wingdings" panose="05000000000000000000" pitchFamily="2" charset="2"/>
              <a:buChar char="v"/>
              <a:defRPr/>
            </a:pPr>
            <a:endParaRPr kumimoji="1" lang="zh-CN" altLang="en-US" sz="2600" b="1" i="0" u="none" strike="noStrike" kern="0" cap="none" spc="0" normalizeH="0" baseline="0" noProof="0" dirty="0" smtClean="0">
              <a:ln>
                <a:noFill/>
              </a:ln>
              <a:solidFill>
                <a:schemeClr val="tx1"/>
              </a:solidFill>
              <a:effectLst/>
              <a:uLnTx/>
              <a:uFillTx/>
              <a:latin typeface="+mn-lt"/>
              <a:ea typeface="+mn-ea"/>
              <a:cs typeface="+mn-cs"/>
            </a:endParaRPr>
          </a:p>
        </p:txBody>
      </p:sp>
      <p:sp>
        <p:nvSpPr>
          <p:cNvPr id="4" name="Rectangle 3"/>
          <p:cNvSpPr txBox="1">
            <a:spLocks noChangeArrowheads="1"/>
          </p:cNvSpPr>
          <p:nvPr/>
        </p:nvSpPr>
        <p:spPr bwMode="auto">
          <a:xfrm>
            <a:off x="176213" y="857250"/>
            <a:ext cx="8967788" cy="1728788"/>
          </a:xfrm>
          <a:prstGeom prst="rect">
            <a:avLst/>
          </a:prstGeom>
          <a:noFill/>
          <a:ln w="9525">
            <a:noFill/>
            <a:miter lim="800000"/>
          </a:ln>
        </p:spPr>
        <p:txBody>
          <a:bodyPr/>
          <a:lstStyle/>
          <a:p>
            <a:pPr marL="342900" marR="0" indent="-342900" algn="just" defTabSz="425450" eaLnBrk="0" hangingPunct="0">
              <a:spcBef>
                <a:spcPct val="20000"/>
              </a:spcBef>
              <a:buSzTx/>
              <a:defRPr/>
            </a:pPr>
            <a:r>
              <a:rPr kumimoji="1" lang="zh-CN" altLang="en-US" sz="2800" kern="0" cap="none" spc="0" normalizeH="0" baseline="0" noProof="0">
                <a:latin typeface="Times New Roman" panose="02020503050405090304" pitchFamily="18" charset="0"/>
                <a:ea typeface="+mn-ea"/>
                <a:cs typeface="+mn-cs"/>
              </a:rPr>
              <a:t>3-1    </a:t>
            </a:r>
            <a:r>
              <a:rPr kumimoji="1" lang="zh-CN" altLang="en-US" sz="2800" kern="0" cap="none" spc="0" normalizeH="0" baseline="0" noProof="0">
                <a:solidFill>
                  <a:schemeClr val="accent2"/>
                </a:solidFill>
                <a:latin typeface="黑体" panose="02010609060101010101" pitchFamily="49" charset="-122"/>
                <a:ea typeface="黑体" panose="02010609060101010101" pitchFamily="49" charset="-122"/>
                <a:cs typeface="+mn-cs"/>
              </a:rPr>
              <a:t>指令系统概述</a:t>
            </a:r>
            <a:endParaRPr kumimoji="1" lang="en-US" altLang="zh-CN" sz="2800" kern="0" cap="none" spc="0" normalizeH="0" baseline="0" noProof="0">
              <a:solidFill>
                <a:srgbClr val="FF6600"/>
              </a:solidFill>
              <a:latin typeface="Times New Roman" panose="02020503050405090304" pitchFamily="18" charset="0"/>
              <a:ea typeface="+mn-ea"/>
              <a:cs typeface="+mn-cs"/>
            </a:endParaRPr>
          </a:p>
          <a:p>
            <a:pPr marL="342900" marR="0" indent="-342900" algn="just" defTabSz="425450" eaLnBrk="0" hangingPunct="0">
              <a:spcBef>
                <a:spcPct val="20000"/>
              </a:spcBef>
              <a:buSzTx/>
              <a:defRPr/>
            </a:pPr>
            <a:r>
              <a:rPr kumimoji="1" lang="zh-CN" altLang="en-US" kern="0" cap="none" spc="0" normalizeH="0" baseline="0" noProof="0">
                <a:solidFill>
                  <a:srgbClr val="FF6600"/>
                </a:solidFill>
                <a:effectLst>
                  <a:outerShdw blurRad="38100" dist="38100" dir="2700000" algn="tl">
                    <a:srgbClr val="C0C0C0"/>
                  </a:outerShdw>
                </a:effectLst>
                <a:latin typeface="Times New Roman" panose="02020503050405090304" pitchFamily="18" charset="0"/>
                <a:ea typeface="+mn-ea"/>
                <a:cs typeface="+mn-cs"/>
              </a:rPr>
              <a:t>  </a:t>
            </a:r>
            <a:r>
              <a:rPr kumimoji="1" lang="en-US" altLang="zh-CN" kern="0" cap="none" spc="0" normalizeH="0" baseline="0" noProof="0">
                <a:solidFill>
                  <a:srgbClr val="FF6600"/>
                </a:solidFill>
                <a:effectLst>
                  <a:outerShdw blurRad="38100" dist="38100" dir="2700000" algn="tl">
                    <a:srgbClr val="C0C0C0"/>
                  </a:outerShdw>
                </a:effectLst>
                <a:latin typeface="Times New Roman" panose="02020503050405090304" pitchFamily="18" charset="0"/>
                <a:ea typeface="+mn-ea"/>
                <a:cs typeface="+mn-cs"/>
              </a:rPr>
              <a:t>3.1.2</a:t>
            </a:r>
            <a:r>
              <a:rPr kumimoji="1" lang="zh-CN" altLang="en-US" kern="0" cap="none" spc="0" normalizeH="0" baseline="0" noProof="0">
                <a:solidFill>
                  <a:srgbClr val="FF6600"/>
                </a:solidFill>
                <a:effectLst>
                  <a:outerShdw blurRad="38100" dist="38100" dir="2700000" algn="tl">
                    <a:srgbClr val="C0C0C0"/>
                  </a:outerShdw>
                </a:effectLst>
                <a:latin typeface="Times New Roman" panose="02020503050405090304" pitchFamily="18" charset="0"/>
                <a:ea typeface="+mn-ea"/>
                <a:cs typeface="+mn-cs"/>
              </a:rPr>
              <a:t>  指令符号</a:t>
            </a:r>
            <a:endParaRPr kumimoji="1" lang="zh-CN" altLang="en-US" kern="0" cap="none" spc="0" normalizeH="0" baseline="0" noProof="0">
              <a:solidFill>
                <a:srgbClr val="FF6600"/>
              </a:solidFill>
              <a:latin typeface="Times New Roman" panose="02020503050405090304" pitchFamily="18" charset="0"/>
              <a:ea typeface="+mn-ea"/>
              <a:cs typeface="+mn-cs"/>
            </a:endParaRPr>
          </a:p>
          <a:p>
            <a:pPr marL="342900" marR="0" indent="-342900" algn="just" defTabSz="425450" eaLnBrk="0" hangingPunct="0">
              <a:buSzTx/>
              <a:defRPr/>
            </a:pPr>
            <a:r>
              <a:rPr kumimoji="1" lang="zh-CN" altLang="en-US" kern="0" cap="none" spc="0" normalizeH="0" baseline="0" noProof="0">
                <a:solidFill>
                  <a:schemeClr val="tx2"/>
                </a:solidFill>
                <a:latin typeface="Times New Roman" panose="02020503050405090304" pitchFamily="18" charset="0"/>
                <a:ea typeface="+mn-ea"/>
                <a:cs typeface="+mn-cs"/>
              </a:rPr>
              <a:t>		</a:t>
            </a:r>
            <a:endParaRPr kumimoji="1" lang="zh-CN" altLang="en-US" kern="0" cap="none" spc="0" normalizeH="0" baseline="0" noProof="0">
              <a:solidFill>
                <a:schemeClr val="tx2"/>
              </a:solidFill>
              <a:latin typeface="Times New Roman" panose="02020503050405090304" pitchFamily="18" charset="0"/>
              <a:ea typeface="+mn-ea"/>
              <a:cs typeface="+mn-cs"/>
            </a:endParaRPr>
          </a:p>
          <a:p>
            <a:pPr marL="342900" marR="0" indent="-342900" algn="just" defTabSz="425450" eaLnBrk="0" hangingPunct="0">
              <a:buSzTx/>
              <a:defRPr/>
            </a:pPr>
            <a:endParaRPr kumimoji="1" lang="zh-CN" altLang="en-US" sz="2800" kern="0" cap="none" spc="0" normalizeH="0" baseline="0" noProof="0" dirty="0">
              <a:solidFill>
                <a:srgbClr val="FF6600"/>
              </a:solidFill>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795">
                                            <p:txEl>
                                              <p:charRg st="1" end="32"/>
                                            </p:txEl>
                                          </p:spTgt>
                                        </p:tgtEl>
                                        <p:attrNameLst>
                                          <p:attrName>style.visibility</p:attrName>
                                        </p:attrNameLst>
                                      </p:cBhvr>
                                      <p:to>
                                        <p:strVal val="visible"/>
                                      </p:to>
                                    </p:set>
                                    <p:animEffect transition="in" filter="blinds(horizontal)">
                                      <p:cBhvr>
                                        <p:cTn id="7" dur="500"/>
                                        <p:tgtEl>
                                          <p:spTgt spid="33795">
                                            <p:txEl>
                                              <p:charRg st="1" end="3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3795">
                                            <p:txEl>
                                              <p:charRg st="32" end="74"/>
                                            </p:txEl>
                                          </p:spTgt>
                                        </p:tgtEl>
                                        <p:attrNameLst>
                                          <p:attrName>style.visibility</p:attrName>
                                        </p:attrNameLst>
                                      </p:cBhvr>
                                      <p:to>
                                        <p:strVal val="visible"/>
                                      </p:to>
                                    </p:set>
                                    <p:animEffect transition="in" filter="blinds(horizontal)">
                                      <p:cBhvr>
                                        <p:cTn id="12" dur="500"/>
                                        <p:tgtEl>
                                          <p:spTgt spid="33795">
                                            <p:txEl>
                                              <p:charRg st="32" end="7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3795">
                                            <p:txEl>
                                              <p:charRg st="74" end="112"/>
                                            </p:txEl>
                                          </p:spTgt>
                                        </p:tgtEl>
                                        <p:attrNameLst>
                                          <p:attrName>style.visibility</p:attrName>
                                        </p:attrNameLst>
                                      </p:cBhvr>
                                      <p:to>
                                        <p:strVal val="visible"/>
                                      </p:to>
                                    </p:set>
                                    <p:animEffect transition="in" filter="blinds(horizontal)">
                                      <p:cBhvr>
                                        <p:cTn id="17" dur="500"/>
                                        <p:tgtEl>
                                          <p:spTgt spid="33795">
                                            <p:txEl>
                                              <p:charRg st="74" end="11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3795">
                                            <p:txEl>
                                              <p:charRg st="112" end="133"/>
                                            </p:txEl>
                                          </p:spTgt>
                                        </p:tgtEl>
                                        <p:attrNameLst>
                                          <p:attrName>style.visibility</p:attrName>
                                        </p:attrNameLst>
                                      </p:cBhvr>
                                      <p:to>
                                        <p:strVal val="visible"/>
                                      </p:to>
                                    </p:set>
                                    <p:animEffect transition="in" filter="blinds(horizontal)">
                                      <p:cBhvr>
                                        <p:cTn id="22" dur="500"/>
                                        <p:tgtEl>
                                          <p:spTgt spid="33795">
                                            <p:txEl>
                                              <p:charRg st="112" end="13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3795">
                                            <p:txEl>
                                              <p:charRg st="133" end="157"/>
                                            </p:txEl>
                                          </p:spTgt>
                                        </p:tgtEl>
                                        <p:attrNameLst>
                                          <p:attrName>style.visibility</p:attrName>
                                        </p:attrNameLst>
                                      </p:cBhvr>
                                      <p:to>
                                        <p:strVal val="visible"/>
                                      </p:to>
                                    </p:set>
                                    <p:animEffect transition="in" filter="blinds(horizontal)">
                                      <p:cBhvr>
                                        <p:cTn id="27" dur="500"/>
                                        <p:tgtEl>
                                          <p:spTgt spid="33795">
                                            <p:txEl>
                                              <p:charRg st="133" end="15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3795">
                                            <p:txEl>
                                              <p:charRg st="157" end="186"/>
                                            </p:txEl>
                                          </p:spTgt>
                                        </p:tgtEl>
                                        <p:attrNameLst>
                                          <p:attrName>style.visibility</p:attrName>
                                        </p:attrNameLst>
                                      </p:cBhvr>
                                      <p:to>
                                        <p:strVal val="visible"/>
                                      </p:to>
                                    </p:set>
                                    <p:animEffect transition="in" filter="blinds(horizontal)">
                                      <p:cBhvr>
                                        <p:cTn id="32" dur="500"/>
                                        <p:tgtEl>
                                          <p:spTgt spid="33795">
                                            <p:txEl>
                                              <p:charRg st="157" end="18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3795">
                                            <p:txEl>
                                              <p:charRg st="186" end="210"/>
                                            </p:txEl>
                                          </p:spTgt>
                                        </p:tgtEl>
                                        <p:attrNameLst>
                                          <p:attrName>style.visibility</p:attrName>
                                        </p:attrNameLst>
                                      </p:cBhvr>
                                      <p:to>
                                        <p:strVal val="visible"/>
                                      </p:to>
                                    </p:set>
                                    <p:animEffect transition="in" filter="blinds(horizontal)">
                                      <p:cBhvr>
                                        <p:cTn id="37" dur="500"/>
                                        <p:tgtEl>
                                          <p:spTgt spid="33795">
                                            <p:txEl>
                                              <p:charRg st="186" end="21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3795">
                                            <p:txEl>
                                              <p:charRg st="210" end="236"/>
                                            </p:txEl>
                                          </p:spTgt>
                                        </p:tgtEl>
                                        <p:attrNameLst>
                                          <p:attrName>style.visibility</p:attrName>
                                        </p:attrNameLst>
                                      </p:cBhvr>
                                      <p:to>
                                        <p:strVal val="visible"/>
                                      </p:to>
                                    </p:set>
                                    <p:animEffect transition="in" filter="blinds(horizontal)">
                                      <p:cBhvr>
                                        <p:cTn id="42" dur="500"/>
                                        <p:tgtEl>
                                          <p:spTgt spid="33795">
                                            <p:txEl>
                                              <p:charRg st="210" end="23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3795">
                                            <p:txEl>
                                              <p:charRg st="236" end="260"/>
                                            </p:txEl>
                                          </p:spTgt>
                                        </p:tgtEl>
                                        <p:attrNameLst>
                                          <p:attrName>style.visibility</p:attrName>
                                        </p:attrNameLst>
                                      </p:cBhvr>
                                      <p:to>
                                        <p:strVal val="visible"/>
                                      </p:to>
                                    </p:set>
                                    <p:animEffect transition="in" filter="blinds(horizontal)">
                                      <p:cBhvr>
                                        <p:cTn id="47" dur="500"/>
                                        <p:tgtEl>
                                          <p:spTgt spid="33795">
                                            <p:txEl>
                                              <p:charRg st="236" end="26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Rectangle 2"/>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8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4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0723" name="Rectangle 3"/>
          <p:cNvSpPr>
            <a:spLocks noGrp="1"/>
          </p:cNvSpPr>
          <p:nvPr>
            <p:ph type="body" idx="4294967295"/>
          </p:nvPr>
        </p:nvSpPr>
        <p:spPr/>
        <p:txBody>
          <a:bodyPr vert="horz" wrap="square" lIns="91440" tIns="45720" rIns="91440" bIns="45720" anchor="t" anchorCtr="0"/>
          <a:p>
            <a:pPr algn="just" eaLnBrk="1" fontAlgn="b" hangingPunct="1">
              <a:lnSpc>
                <a:spcPct val="90000"/>
              </a:lnSpc>
              <a:buClrTx/>
              <a:buFontTx/>
              <a:buNone/>
            </a:pPr>
            <a:r>
              <a:rPr lang="zh-CN" altLang="en-US" dirty="0">
                <a:solidFill>
                  <a:srgbClr val="FF3300"/>
                </a:solidFill>
                <a:latin typeface="黑体" panose="02010609060101010101" pitchFamily="49" charset="-122"/>
                <a:ea typeface="黑体" panose="02010609060101010101" pitchFamily="49" charset="-122"/>
              </a:rPr>
              <a:t>指令中符号的意义</a:t>
            </a:r>
            <a:r>
              <a:rPr lang="en-US" altLang="zh-CN" dirty="0">
                <a:solidFill>
                  <a:schemeClr val="accent2"/>
                </a:solidFill>
                <a:latin typeface="黑体" panose="02010609060101010101" pitchFamily="49" charset="-122"/>
                <a:ea typeface="黑体" panose="02010609060101010101" pitchFamily="49" charset="-122"/>
              </a:rPr>
              <a:t>:---</a:t>
            </a:r>
            <a:r>
              <a:rPr lang="zh-CN" altLang="en-US" dirty="0">
                <a:solidFill>
                  <a:schemeClr val="accent2"/>
                </a:solidFill>
                <a:latin typeface="黑体" panose="02010609060101010101" pitchFamily="49" charset="-122"/>
                <a:ea typeface="黑体" panose="02010609060101010101" pitchFamily="49" charset="-122"/>
              </a:rPr>
              <a:t>续</a:t>
            </a:r>
            <a:endParaRPr lang="zh-CN" altLang="en-US" dirty="0">
              <a:solidFill>
                <a:schemeClr val="accent2"/>
              </a:solidFill>
              <a:latin typeface="黑体" panose="02010609060101010101" pitchFamily="49" charset="-122"/>
              <a:ea typeface="黑体" panose="02010609060101010101" pitchFamily="49" charset="-122"/>
            </a:endParaRPr>
          </a:p>
          <a:p>
            <a:pPr algn="just" eaLnBrk="1" fontAlgn="b" hangingPunct="1">
              <a:lnSpc>
                <a:spcPct val="90000"/>
              </a:lnSpc>
              <a:buClrTx/>
              <a:buFontTx/>
              <a:buNone/>
            </a:pPr>
            <a:endParaRPr lang="en-US" altLang="zh-CN" dirty="0">
              <a:solidFill>
                <a:srgbClr val="0033CC"/>
              </a:solidFill>
              <a:latin typeface="黑体" panose="02010609060101010101" pitchFamily="49" charset="-122"/>
              <a:ea typeface="黑体" panose="02010609060101010101" pitchFamily="49" charset="-122"/>
            </a:endParaRPr>
          </a:p>
          <a:p>
            <a:pPr algn="just" eaLnBrk="1" fontAlgn="b" hangingPunct="1">
              <a:lnSpc>
                <a:spcPct val="100000"/>
              </a:lnSpc>
              <a:buClrTx/>
              <a:buFontTx/>
              <a:buNone/>
            </a:pPr>
            <a:r>
              <a:rPr lang="en-US" altLang="zh-CN" dirty="0">
                <a:solidFill>
                  <a:srgbClr val="0033CC"/>
                </a:solidFill>
                <a:latin typeface="黑体" panose="02010609060101010101" pitchFamily="49" charset="-122"/>
                <a:ea typeface="黑体" panose="02010609060101010101" pitchFamily="49" charset="-122"/>
              </a:rPr>
              <a:t>addr11</a:t>
            </a:r>
            <a:r>
              <a:rPr lang="en-US" altLang="zh-CN" dirty="0">
                <a:solidFill>
                  <a:srgbClr val="000000"/>
                </a:solidFill>
                <a:latin typeface="黑体" panose="02010609060101010101" pitchFamily="49" charset="-122"/>
                <a:ea typeface="黑体" panose="02010609060101010101" pitchFamily="49" charset="-122"/>
              </a:rPr>
              <a:t>  11</a:t>
            </a:r>
            <a:r>
              <a:rPr lang="zh-CN" altLang="en-US" dirty="0">
                <a:solidFill>
                  <a:srgbClr val="000000"/>
                </a:solidFill>
                <a:latin typeface="黑体" panose="02010609060101010101" pitchFamily="49" charset="-122"/>
                <a:ea typeface="黑体" panose="02010609060101010101" pitchFamily="49" charset="-122"/>
              </a:rPr>
              <a:t>位目的地址</a:t>
            </a:r>
            <a:endParaRPr lang="zh-CN" altLang="en-US" dirty="0">
              <a:solidFill>
                <a:srgbClr val="000000"/>
              </a:solidFill>
              <a:latin typeface="黑体" panose="02010609060101010101" pitchFamily="49" charset="-122"/>
              <a:ea typeface="黑体" panose="02010609060101010101" pitchFamily="49" charset="-122"/>
            </a:endParaRPr>
          </a:p>
          <a:p>
            <a:pPr algn="just" eaLnBrk="1" fontAlgn="b" hangingPunct="1">
              <a:lnSpc>
                <a:spcPct val="100000"/>
              </a:lnSpc>
              <a:buClrTx/>
              <a:buFontTx/>
              <a:buNone/>
            </a:pPr>
            <a:r>
              <a:rPr lang="en-US" altLang="zh-CN" dirty="0">
                <a:solidFill>
                  <a:srgbClr val="0033CC"/>
                </a:solidFill>
                <a:latin typeface="黑体" panose="02010609060101010101" pitchFamily="49" charset="-122"/>
                <a:ea typeface="黑体" panose="02010609060101010101" pitchFamily="49" charset="-122"/>
              </a:rPr>
              <a:t>addr16</a:t>
            </a:r>
            <a:r>
              <a:rPr lang="en-US" altLang="zh-CN" dirty="0">
                <a:solidFill>
                  <a:srgbClr val="000000"/>
                </a:solidFill>
                <a:latin typeface="黑体" panose="02010609060101010101" pitchFamily="49" charset="-122"/>
                <a:ea typeface="黑体" panose="02010609060101010101" pitchFamily="49" charset="-122"/>
              </a:rPr>
              <a:t>  16</a:t>
            </a:r>
            <a:r>
              <a:rPr lang="zh-CN" altLang="en-US" dirty="0">
                <a:solidFill>
                  <a:srgbClr val="000000"/>
                </a:solidFill>
                <a:latin typeface="黑体" panose="02010609060101010101" pitchFamily="49" charset="-122"/>
                <a:ea typeface="黑体" panose="02010609060101010101" pitchFamily="49" charset="-122"/>
              </a:rPr>
              <a:t>位目的地址</a:t>
            </a:r>
            <a:endParaRPr lang="zh-CN" altLang="en-US" dirty="0">
              <a:solidFill>
                <a:srgbClr val="000000"/>
              </a:solidFill>
              <a:latin typeface="黑体" panose="02010609060101010101" pitchFamily="49" charset="-122"/>
              <a:ea typeface="黑体" panose="02010609060101010101" pitchFamily="49" charset="-122"/>
            </a:endParaRPr>
          </a:p>
          <a:p>
            <a:pPr algn="just" eaLnBrk="1" fontAlgn="b" hangingPunct="1">
              <a:lnSpc>
                <a:spcPct val="100000"/>
              </a:lnSpc>
              <a:buClrTx/>
              <a:buFontTx/>
              <a:buNone/>
            </a:pPr>
            <a:r>
              <a:rPr lang="en-US" altLang="zh-CN" dirty="0">
                <a:solidFill>
                  <a:srgbClr val="0033CC"/>
                </a:solidFill>
                <a:latin typeface="黑体" panose="02010609060101010101" pitchFamily="49" charset="-122"/>
                <a:ea typeface="黑体" panose="02010609060101010101" pitchFamily="49" charset="-122"/>
              </a:rPr>
              <a:t>@ </a:t>
            </a:r>
            <a:r>
              <a:rPr lang="zh-CN" altLang="en-US" dirty="0">
                <a:solidFill>
                  <a:srgbClr val="000000"/>
                </a:solidFill>
                <a:latin typeface="黑体" panose="02010609060101010101" pitchFamily="49" charset="-122"/>
                <a:ea typeface="黑体" panose="02010609060101010101" pitchFamily="49" charset="-122"/>
              </a:rPr>
              <a:t>间接寻址寄存器前缀，如</a:t>
            </a:r>
            <a:r>
              <a:rPr lang="en-US" altLang="zh-CN" dirty="0">
                <a:solidFill>
                  <a:srgbClr val="000000"/>
                </a:solidFill>
                <a:latin typeface="黑体" panose="02010609060101010101" pitchFamily="49" charset="-122"/>
                <a:ea typeface="黑体" panose="02010609060101010101" pitchFamily="49" charset="-122"/>
              </a:rPr>
              <a:t>@Ri</a:t>
            </a:r>
            <a:r>
              <a:rPr lang="zh-CN" altLang="en-US" dirty="0">
                <a:solidFill>
                  <a:srgbClr val="000000"/>
                </a:solidFill>
                <a:latin typeface="黑体" panose="02010609060101010101" pitchFamily="49" charset="-122"/>
                <a:ea typeface="黑体" panose="02010609060101010101" pitchFamily="49" charset="-122"/>
              </a:rPr>
              <a:t>，</a:t>
            </a:r>
            <a:r>
              <a:rPr lang="en-US" altLang="zh-CN" dirty="0">
                <a:solidFill>
                  <a:srgbClr val="000000"/>
                </a:solidFill>
                <a:latin typeface="黑体" panose="02010609060101010101" pitchFamily="49" charset="-122"/>
                <a:ea typeface="黑体" panose="02010609060101010101" pitchFamily="49" charset="-122"/>
              </a:rPr>
              <a:t>@A+DPTR</a:t>
            </a:r>
            <a:endParaRPr lang="en-US" altLang="zh-CN" dirty="0">
              <a:solidFill>
                <a:srgbClr val="000000"/>
              </a:solidFill>
              <a:latin typeface="黑体" panose="02010609060101010101" pitchFamily="49" charset="-122"/>
              <a:ea typeface="黑体" panose="02010609060101010101" pitchFamily="49" charset="-122"/>
            </a:endParaRPr>
          </a:p>
          <a:p>
            <a:pPr algn="just" eaLnBrk="1" fontAlgn="b" hangingPunct="1">
              <a:lnSpc>
                <a:spcPct val="100000"/>
              </a:lnSpc>
              <a:buClrTx/>
              <a:buFontTx/>
              <a:buNone/>
            </a:pPr>
            <a:r>
              <a:rPr lang="en-US" altLang="zh-CN" dirty="0">
                <a:solidFill>
                  <a:srgbClr val="0033CC"/>
                </a:solidFill>
                <a:latin typeface="黑体" panose="02010609060101010101" pitchFamily="49" charset="-122"/>
                <a:ea typeface="黑体" panose="02010609060101010101" pitchFamily="49" charset="-122"/>
              </a:rPr>
              <a:t>(X)</a:t>
            </a:r>
            <a:r>
              <a:rPr lang="en-US" altLang="zh-CN" dirty="0">
                <a:solidFill>
                  <a:srgbClr val="000000"/>
                </a:solidFill>
                <a:latin typeface="黑体" panose="02010609060101010101" pitchFamily="49" charset="-122"/>
                <a:ea typeface="黑体" panose="02010609060101010101" pitchFamily="49" charset="-122"/>
              </a:rPr>
              <a:t> X</a:t>
            </a:r>
            <a:r>
              <a:rPr lang="zh-CN" altLang="en-US" dirty="0">
                <a:solidFill>
                  <a:srgbClr val="000000"/>
                </a:solidFill>
                <a:latin typeface="黑体" panose="02010609060101010101" pitchFamily="49" charset="-122"/>
                <a:ea typeface="黑体" panose="02010609060101010101" pitchFamily="49" charset="-122"/>
              </a:rPr>
              <a:t>地址所对应的单元或寄存器中的内容。</a:t>
            </a:r>
            <a:endParaRPr lang="zh-CN" altLang="en-US" dirty="0">
              <a:solidFill>
                <a:srgbClr val="000000"/>
              </a:solidFill>
              <a:latin typeface="黑体" panose="02010609060101010101" pitchFamily="49" charset="-122"/>
              <a:ea typeface="黑体" panose="02010609060101010101" pitchFamily="49" charset="-122"/>
            </a:endParaRPr>
          </a:p>
          <a:p>
            <a:pPr algn="just" eaLnBrk="1" fontAlgn="b" hangingPunct="1">
              <a:lnSpc>
                <a:spcPct val="100000"/>
              </a:lnSpc>
              <a:buClrTx/>
              <a:buFontTx/>
              <a:buNone/>
            </a:pPr>
            <a:r>
              <a:rPr lang="en-US" altLang="zh-CN" dirty="0">
                <a:solidFill>
                  <a:srgbClr val="0033CC"/>
                </a:solidFill>
                <a:latin typeface="黑体" panose="02010609060101010101" pitchFamily="49" charset="-122"/>
                <a:ea typeface="黑体" panose="02010609060101010101" pitchFamily="49" charset="-122"/>
              </a:rPr>
              <a:t>((X))</a:t>
            </a:r>
            <a:r>
              <a:rPr lang="zh-CN" altLang="en-US" dirty="0">
                <a:solidFill>
                  <a:srgbClr val="000000"/>
                </a:solidFill>
                <a:latin typeface="黑体" panose="02010609060101010101" pitchFamily="49" charset="-122"/>
                <a:ea typeface="黑体" panose="02010609060101010101" pitchFamily="49" charset="-122"/>
              </a:rPr>
              <a:t>以</a:t>
            </a:r>
            <a:r>
              <a:rPr lang="en-US" altLang="zh-CN" dirty="0">
                <a:solidFill>
                  <a:srgbClr val="000000"/>
                </a:solidFill>
                <a:latin typeface="黑体" panose="02010609060101010101" pitchFamily="49" charset="-122"/>
                <a:ea typeface="黑体" panose="02010609060101010101" pitchFamily="49" charset="-122"/>
              </a:rPr>
              <a:t>X</a:t>
            </a:r>
            <a:r>
              <a:rPr lang="zh-CN" altLang="en-US" dirty="0">
                <a:solidFill>
                  <a:srgbClr val="000000"/>
                </a:solidFill>
                <a:latin typeface="黑体" panose="02010609060101010101" pitchFamily="49" charset="-122"/>
                <a:ea typeface="黑体" panose="02010609060101010101" pitchFamily="49" charset="-122"/>
              </a:rPr>
              <a:t>单元或寄存器内容为地址间接寻址单元的内容。</a:t>
            </a:r>
            <a:endParaRPr lang="zh-CN" altLang="en-US" dirty="0">
              <a:solidFill>
                <a:srgbClr val="000000"/>
              </a:solidFill>
              <a:latin typeface="黑体" panose="02010609060101010101" pitchFamily="49" charset="-122"/>
              <a:ea typeface="黑体" panose="02010609060101010101" pitchFamily="49" charset="-122"/>
            </a:endParaRPr>
          </a:p>
          <a:p>
            <a:pPr algn="just" eaLnBrk="1" fontAlgn="b" hangingPunct="1">
              <a:lnSpc>
                <a:spcPct val="100000"/>
              </a:lnSpc>
              <a:buClrTx/>
              <a:buFontTx/>
              <a:buNone/>
            </a:pPr>
            <a:r>
              <a:rPr lang="zh-CN" altLang="en-US" dirty="0">
                <a:solidFill>
                  <a:srgbClr val="000000"/>
                </a:solidFill>
                <a:latin typeface="黑体" panose="02010609060101010101" pitchFamily="49" charset="-122"/>
                <a:ea typeface="黑体" panose="02010609060101010101" pitchFamily="49" charset="-122"/>
              </a:rPr>
              <a:t>   箭头右边的内容送入箭头左边的单元中。</a:t>
            </a:r>
            <a:endParaRPr lang="zh-CN" altLang="en-US" dirty="0">
              <a:solidFill>
                <a:srgbClr val="000000"/>
              </a:solidFill>
              <a:latin typeface="黑体" panose="02010609060101010101" pitchFamily="49" charset="-122"/>
              <a:ea typeface="黑体" panose="02010609060101010101" pitchFamily="49" charset="-122"/>
            </a:endParaRPr>
          </a:p>
          <a:p>
            <a:pPr>
              <a:buNone/>
            </a:pPr>
            <a:endParaRPr lang="zh-CN" altLang="en-US" dirty="0"/>
          </a:p>
        </p:txBody>
      </p:sp>
      <p:cxnSp>
        <p:nvCxnSpPr>
          <p:cNvPr id="6" name="直接箭头连接符 5"/>
          <p:cNvCxnSpPr/>
          <p:nvPr/>
        </p:nvCxnSpPr>
        <p:spPr bwMode="auto">
          <a:xfrm rot="10800000">
            <a:off x="428625" y="5357813"/>
            <a:ext cx="357188" cy="1588"/>
          </a:xfrm>
          <a:prstGeom prst="straightConnector1">
            <a:avLst/>
          </a:prstGeom>
          <a:ln>
            <a:headEnd type="none" w="med" len="med"/>
            <a:tailEnd type="arrow"/>
          </a:ln>
        </p:spPr>
        <p:style>
          <a:lnRef idx="1">
            <a:schemeClr val="accent6"/>
          </a:lnRef>
          <a:fillRef idx="0">
            <a:schemeClr val="accent6"/>
          </a:fillRef>
          <a:effectRef idx="0">
            <a:schemeClr val="accent6"/>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723">
                                            <p:txEl>
                                              <p:charRg st="15" end="31"/>
                                            </p:txEl>
                                          </p:spTgt>
                                        </p:tgtEl>
                                        <p:attrNameLst>
                                          <p:attrName>style.visibility</p:attrName>
                                        </p:attrNameLst>
                                      </p:cBhvr>
                                      <p:to>
                                        <p:strVal val="visible"/>
                                      </p:to>
                                    </p:set>
                                    <p:anim calcmode="lin" valueType="num">
                                      <p:cBhvr additive="base">
                                        <p:cTn id="7" dur="500" fill="hold"/>
                                        <p:tgtEl>
                                          <p:spTgt spid="30723">
                                            <p:txEl>
                                              <p:charRg st="15" end="3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723">
                                            <p:txEl>
                                              <p:charRg st="15" end="3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0723">
                                            <p:txEl>
                                              <p:charRg st="31" end="47"/>
                                            </p:txEl>
                                          </p:spTgt>
                                        </p:tgtEl>
                                        <p:attrNameLst>
                                          <p:attrName>style.visibility</p:attrName>
                                        </p:attrNameLst>
                                      </p:cBhvr>
                                      <p:to>
                                        <p:strVal val="visible"/>
                                      </p:to>
                                    </p:set>
                                    <p:anim calcmode="lin" valueType="num">
                                      <p:cBhvr additive="base">
                                        <p:cTn id="13" dur="500" fill="hold"/>
                                        <p:tgtEl>
                                          <p:spTgt spid="30723">
                                            <p:txEl>
                                              <p:charRg st="31" end="4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0723">
                                            <p:txEl>
                                              <p:charRg st="31" end="47"/>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0723">
                                            <p:txEl>
                                              <p:charRg st="47" end="72"/>
                                            </p:txEl>
                                          </p:spTgt>
                                        </p:tgtEl>
                                        <p:attrNameLst>
                                          <p:attrName>style.visibility</p:attrName>
                                        </p:attrNameLst>
                                      </p:cBhvr>
                                      <p:to>
                                        <p:strVal val="visible"/>
                                      </p:to>
                                    </p:set>
                                    <p:anim calcmode="lin" valueType="num">
                                      <p:cBhvr additive="base">
                                        <p:cTn id="19" dur="500" fill="hold"/>
                                        <p:tgtEl>
                                          <p:spTgt spid="30723">
                                            <p:txEl>
                                              <p:charRg st="47" end="7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0723">
                                            <p:txEl>
                                              <p:charRg st="47" end="7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0723">
                                            <p:txEl>
                                              <p:charRg st="72" end="95"/>
                                            </p:txEl>
                                          </p:spTgt>
                                        </p:tgtEl>
                                        <p:attrNameLst>
                                          <p:attrName>style.visibility</p:attrName>
                                        </p:attrNameLst>
                                      </p:cBhvr>
                                      <p:to>
                                        <p:strVal val="visible"/>
                                      </p:to>
                                    </p:set>
                                    <p:anim calcmode="lin" valueType="num">
                                      <p:cBhvr additive="base">
                                        <p:cTn id="25" dur="500" fill="hold"/>
                                        <p:tgtEl>
                                          <p:spTgt spid="30723">
                                            <p:txEl>
                                              <p:charRg st="72" end="9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0723">
                                            <p:txEl>
                                              <p:charRg st="72" end="9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0723">
                                            <p:txEl>
                                              <p:charRg st="95" end="124"/>
                                            </p:txEl>
                                          </p:spTgt>
                                        </p:tgtEl>
                                        <p:attrNameLst>
                                          <p:attrName>style.visibility</p:attrName>
                                        </p:attrNameLst>
                                      </p:cBhvr>
                                      <p:to>
                                        <p:strVal val="visible"/>
                                      </p:to>
                                    </p:set>
                                    <p:anim calcmode="lin" valueType="num">
                                      <p:cBhvr additive="base">
                                        <p:cTn id="31" dur="500" fill="hold"/>
                                        <p:tgtEl>
                                          <p:spTgt spid="30723">
                                            <p:txEl>
                                              <p:charRg st="95" end="12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0723">
                                            <p:txEl>
                                              <p:charRg st="95" end="12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9" name="Rectangle 3"/>
          <p:cNvSpPr>
            <a:spLocks noGrp="1" noChangeArrowheads="1"/>
          </p:cNvSpPr>
          <p:nvPr>
            <p:ph type="body" idx="1"/>
          </p:nvPr>
        </p:nvSpPr>
        <p:spPr>
          <a:xfrm>
            <a:off x="228600" y="1368425"/>
            <a:ext cx="8763000" cy="4868863"/>
          </a:xfrm>
        </p:spPr>
        <p:txBody>
          <a:bodyPr vert="horz" wrap="square" lIns="91440" tIns="45720" rIns="91440" bIns="45720" numCol="1" anchor="t" anchorCtr="0" compatLnSpc="1"/>
          <a:lstStyle/>
          <a:p>
            <a:pPr marL="342900" marR="0" lvl="0" indent="-342900" algn="l" defTabSz="425450" rtl="0" eaLnBrk="0" fontAlgn="base" latinLnBrk="0" hangingPunct="0">
              <a:lnSpc>
                <a:spcPct val="110000"/>
              </a:lnSpc>
              <a:spcBef>
                <a:spcPct val="20000"/>
              </a:spcBef>
              <a:spcAft>
                <a:spcPct val="0"/>
              </a:spcAft>
              <a:buClr>
                <a:schemeClr val="tx1"/>
              </a:buClr>
              <a:buSzTx/>
              <a:buFont typeface="Wingdings" panose="05000000000000000000" pitchFamily="2" charset="2"/>
              <a:buNone/>
              <a:defRPr/>
            </a:pPr>
            <a:r>
              <a:rPr kumimoji="1" lang="en-US" altLang="zh-CN" sz="2400" b="1" i="0" u="none" strike="noStrike" kern="0" cap="none" spc="0" normalizeH="0" baseline="0" noProof="0" dirty="0" smtClean="0">
                <a:ln>
                  <a:noFill/>
                </a:ln>
                <a:solidFill>
                  <a:schemeClr val="accent2"/>
                </a:solidFill>
                <a:effectLst/>
                <a:uLnTx/>
                <a:uFillTx/>
                <a:latin typeface="+mn-lt"/>
                <a:ea typeface="黑体" panose="02010609060101010101" pitchFamily="49" charset="-122"/>
                <a:cs typeface="+mn-cs"/>
              </a:rPr>
              <a:t>  3.1.4 </a:t>
            </a:r>
            <a:r>
              <a:rPr kumimoji="1" lang="zh-CN" altLang="en-US" sz="2400" b="1" i="0" u="none" strike="noStrike" kern="0" cap="none" spc="0" normalizeH="0" baseline="0" noProof="0" dirty="0" smtClean="0">
                <a:ln>
                  <a:noFill/>
                </a:ln>
                <a:solidFill>
                  <a:schemeClr val="accent2"/>
                </a:solidFill>
                <a:effectLst/>
                <a:uLnTx/>
                <a:uFillTx/>
                <a:latin typeface="+mn-lt"/>
                <a:ea typeface="黑体" panose="02010609060101010101" pitchFamily="49" charset="-122"/>
                <a:cs typeface="+mn-cs"/>
              </a:rPr>
              <a:t>机器语言</a:t>
            </a:r>
            <a:r>
              <a:rPr kumimoji="1" lang="zh-CN" altLang="en-US" sz="2400" b="1" i="0" u="none" strike="noStrike" kern="0" cap="none" spc="0" normalizeH="0" baseline="0" noProof="0" dirty="0" smtClean="0">
                <a:ln>
                  <a:noFill/>
                </a:ln>
                <a:solidFill>
                  <a:schemeClr val="tx1"/>
                </a:solidFill>
                <a:effectLst/>
                <a:uLnTx/>
                <a:uFillTx/>
                <a:latin typeface="+mn-lt"/>
                <a:ea typeface="+mn-ea"/>
                <a:cs typeface="+mn-cs"/>
              </a:rPr>
              <a:t>的几种形式：</a:t>
            </a:r>
            <a:endParaRPr kumimoji="1" lang="zh-CN" altLang="en-US" sz="24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425450" rtl="0" eaLnBrk="0" fontAlgn="base" latinLnBrk="0" hangingPunct="0">
              <a:lnSpc>
                <a:spcPct val="130000"/>
              </a:lnSpc>
              <a:spcBef>
                <a:spcPct val="20000"/>
              </a:spcBef>
              <a:spcAft>
                <a:spcPct val="0"/>
              </a:spcAft>
              <a:buClr>
                <a:schemeClr val="tx1"/>
              </a:buClr>
              <a:buSzTx/>
              <a:buFont typeface="Wingdings" panose="05000000000000000000" pitchFamily="2" charset="2"/>
              <a:buNone/>
              <a:defRPr/>
            </a:pPr>
            <a:r>
              <a:rPr kumimoji="1" lang="zh-CN" altLang="en-US" sz="2000" b="1" i="0" u="none" strike="noStrike" kern="0" cap="none" spc="0" normalizeH="0" baseline="0" noProof="0" dirty="0" smtClean="0">
                <a:ln>
                  <a:noFill/>
                </a:ln>
                <a:solidFill>
                  <a:schemeClr val="tx1"/>
                </a:solidFill>
                <a:effectLst/>
                <a:uLnTx/>
                <a:uFillTx/>
                <a:latin typeface="+mn-lt"/>
                <a:ea typeface="+mn-ea"/>
                <a:cs typeface="+mn-cs"/>
              </a:rPr>
              <a:t>	</a:t>
            </a:r>
            <a:r>
              <a:rPr kumimoji="1" lang="zh-CN" altLang="en-US" sz="2000" b="1" i="0" u="none" strike="noStrike" kern="0" cap="none" spc="0" normalizeH="0" baseline="0" noProof="0" dirty="0" smtClean="0">
                <a:ln>
                  <a:noFill/>
                </a:ln>
                <a:solidFill>
                  <a:schemeClr val="accent2"/>
                </a:solidFill>
                <a:effectLst/>
                <a:uLnTx/>
                <a:uFillTx/>
                <a:latin typeface="+mn-lt"/>
                <a:ea typeface="+mn-ea"/>
                <a:cs typeface="+mn-cs"/>
              </a:rPr>
              <a:t>（</a:t>
            </a:r>
            <a:r>
              <a:rPr kumimoji="1" lang="en-US" altLang="zh-CN" sz="2000" b="1" i="0" u="none" strike="noStrike" kern="0" cap="none" spc="0" normalizeH="0" baseline="0" noProof="0" dirty="0" smtClean="0">
                <a:ln>
                  <a:noFill/>
                </a:ln>
                <a:solidFill>
                  <a:schemeClr val="accent2"/>
                </a:solidFill>
                <a:effectLst/>
                <a:uLnTx/>
                <a:uFillTx/>
                <a:latin typeface="+mn-lt"/>
                <a:ea typeface="+mn-ea"/>
                <a:cs typeface="+mn-cs"/>
              </a:rPr>
              <a:t>1</a:t>
            </a:r>
            <a:r>
              <a:rPr kumimoji="1" lang="zh-CN" altLang="en-US" sz="2000" b="1" i="0" u="none" strike="noStrike" kern="0" cap="none" spc="0" normalizeH="0" baseline="0" noProof="0" dirty="0" smtClean="0">
                <a:ln>
                  <a:noFill/>
                </a:ln>
                <a:solidFill>
                  <a:schemeClr val="accent2"/>
                </a:solidFill>
                <a:effectLst/>
                <a:uLnTx/>
                <a:uFillTx/>
                <a:latin typeface="+mn-lt"/>
                <a:ea typeface="+mn-ea"/>
                <a:cs typeface="+mn-cs"/>
              </a:rPr>
              <a:t>）单字节指令 </a:t>
            </a:r>
            <a:r>
              <a:rPr kumimoji="1" lang="en-US" altLang="zh-CN" sz="2000" b="1" i="0" u="none" strike="noStrike" kern="0" cap="none" spc="0" normalizeH="0" baseline="0" noProof="0" dirty="0" smtClean="0">
                <a:ln>
                  <a:noFill/>
                </a:ln>
                <a:solidFill>
                  <a:schemeClr val="accent2"/>
                </a:solidFill>
                <a:effectLst/>
                <a:uLnTx/>
                <a:uFillTx/>
                <a:latin typeface="+mn-lt"/>
                <a:ea typeface="+mn-ea"/>
                <a:cs typeface="+mn-cs"/>
              </a:rPr>
              <a:t>:</a:t>
            </a:r>
            <a:endParaRPr kumimoji="1" lang="en-US" altLang="zh-CN" sz="2000" b="1" i="0" u="none" strike="noStrike" kern="0" cap="none" spc="0" normalizeH="0" baseline="0" noProof="0" dirty="0" smtClean="0">
              <a:ln>
                <a:noFill/>
              </a:ln>
              <a:solidFill>
                <a:schemeClr val="accent2"/>
              </a:solidFill>
              <a:effectLst/>
              <a:uLnTx/>
              <a:uFillTx/>
              <a:latin typeface="+mn-lt"/>
              <a:ea typeface="+mn-ea"/>
              <a:cs typeface="+mn-cs"/>
            </a:endParaRPr>
          </a:p>
          <a:p>
            <a:pPr marL="812800" marR="0" lvl="0" indent="0" algn="l" defTabSz="425450" rtl="0" eaLnBrk="0" fontAlgn="base" latinLnBrk="0" hangingPunct="0">
              <a:lnSpc>
                <a:spcPct val="130000"/>
              </a:lnSpc>
              <a:spcBef>
                <a:spcPct val="20000"/>
              </a:spcBef>
              <a:spcAft>
                <a:spcPct val="0"/>
              </a:spcAft>
              <a:buClr>
                <a:schemeClr val="tx1"/>
              </a:buClr>
              <a:buSzTx/>
              <a:buFont typeface="Wingdings" panose="05000000000000000000" pitchFamily="2" charset="2"/>
              <a:buChar char="Ø"/>
              <a:defRPr/>
            </a:pPr>
            <a:r>
              <a:rPr kumimoji="1" lang="zh-CN" altLang="en-US" sz="2000" b="1" i="0" u="none" strike="noStrike" kern="0" cap="none" spc="0" normalizeH="0" baseline="0" noProof="0" dirty="0" smtClean="0">
                <a:ln>
                  <a:noFill/>
                </a:ln>
                <a:solidFill>
                  <a:schemeClr val="accent2"/>
                </a:solidFill>
                <a:effectLst/>
                <a:uLnTx/>
                <a:uFillTx/>
                <a:latin typeface="+mn-lt"/>
                <a:ea typeface="+mn-ea"/>
                <a:cs typeface="+mn-cs"/>
              </a:rPr>
              <a:t> </a:t>
            </a:r>
            <a:r>
              <a:rPr kumimoji="1" lang="zh-CN" altLang="en-US" sz="2000" b="1" i="0" u="none" strike="noStrike" kern="0" cap="none" spc="0" normalizeH="0" baseline="0" noProof="0" dirty="0" smtClean="0">
                <a:ln>
                  <a:noFill/>
                </a:ln>
                <a:solidFill>
                  <a:schemeClr val="tx1"/>
                </a:solidFill>
                <a:effectLst/>
                <a:uLnTx/>
                <a:uFillTx/>
                <a:latin typeface="+mn-lt"/>
                <a:ea typeface="+mn-ea"/>
                <a:cs typeface="+mn-cs"/>
              </a:rPr>
              <a:t>无操作数单字节指令</a:t>
            </a:r>
            <a:r>
              <a:rPr kumimoji="1" lang="en-US" altLang="zh-CN" sz="2000" b="1" i="0" u="none" strike="noStrike" kern="0" cap="none" spc="0" normalizeH="0" baseline="0" noProof="0" dirty="0" smtClean="0">
                <a:ln>
                  <a:noFill/>
                </a:ln>
                <a:solidFill>
                  <a:schemeClr val="tx1"/>
                </a:solidFill>
                <a:effectLst/>
                <a:uLnTx/>
                <a:uFillTx/>
                <a:latin typeface="+mn-lt"/>
                <a:ea typeface="+mn-ea"/>
                <a:cs typeface="+mn-cs"/>
              </a:rPr>
              <a:t>		</a:t>
            </a:r>
            <a:endParaRPr kumimoji="1" lang="en-US" altLang="zh-CN" sz="2000" b="1" i="0" u="none" strike="noStrike" kern="0" cap="none" spc="0" normalizeH="0" baseline="0" noProof="0" dirty="0" smtClean="0">
              <a:ln>
                <a:noFill/>
              </a:ln>
              <a:solidFill>
                <a:schemeClr val="tx1"/>
              </a:solidFill>
              <a:effectLst/>
              <a:uLnTx/>
              <a:uFillTx/>
              <a:latin typeface="+mn-lt"/>
              <a:ea typeface="+mn-ea"/>
              <a:cs typeface="+mn-cs"/>
            </a:endParaRPr>
          </a:p>
          <a:p>
            <a:pPr marL="901700" marR="0" lvl="0" indent="0" algn="l" defTabSz="425450" rtl="0" eaLnBrk="0" fontAlgn="base" latinLnBrk="0" hangingPunct="0">
              <a:lnSpc>
                <a:spcPct val="130000"/>
              </a:lnSpc>
              <a:spcBef>
                <a:spcPct val="20000"/>
              </a:spcBef>
              <a:spcAft>
                <a:spcPct val="0"/>
              </a:spcAft>
              <a:buClr>
                <a:schemeClr val="tx1"/>
              </a:buClr>
              <a:buSzTx/>
              <a:buFont typeface="Wingdings" panose="05000000000000000000" pitchFamily="2" charset="2"/>
              <a:buNone/>
              <a:defRPr/>
            </a:pPr>
            <a:r>
              <a:rPr kumimoji="1" lang="en-US" altLang="zh-CN" sz="2000" b="1" i="0" u="none" strike="noStrike" kern="0" cap="none" spc="0" normalizeH="0" baseline="0" noProof="0" dirty="0" smtClean="0">
                <a:ln>
                  <a:noFill/>
                </a:ln>
                <a:solidFill>
                  <a:schemeClr val="tx1"/>
                </a:solidFill>
                <a:effectLst/>
                <a:uLnTx/>
                <a:uFillTx/>
                <a:latin typeface="+mn-lt"/>
                <a:ea typeface="+mn-ea"/>
                <a:cs typeface="+mn-cs"/>
              </a:rPr>
              <a:t> NOP   </a:t>
            </a:r>
            <a:r>
              <a:rPr kumimoji="1" lang="zh-CN" altLang="en-US" sz="2000" b="1" i="0" u="none" strike="noStrike" kern="0" cap="none" spc="0" normalizeH="0" baseline="0" noProof="0" dirty="0" smtClean="0">
                <a:ln>
                  <a:noFill/>
                </a:ln>
                <a:solidFill>
                  <a:schemeClr val="tx1"/>
                </a:solidFill>
                <a:effectLst/>
                <a:uLnTx/>
                <a:uFillTx/>
                <a:latin typeface="+mn-lt"/>
                <a:ea typeface="+mn-ea"/>
                <a:cs typeface="+mn-cs"/>
              </a:rPr>
              <a:t>空操作指令 </a:t>
            </a:r>
            <a:r>
              <a:rPr kumimoji="1" lang="en-US" altLang="zh-CN" sz="2000" b="1" i="0" u="none" strike="noStrike" kern="0" cap="none" spc="0" normalizeH="0" baseline="0" noProof="0" dirty="0" smtClean="0">
                <a:ln>
                  <a:noFill/>
                </a:ln>
                <a:solidFill>
                  <a:schemeClr val="tx1"/>
                </a:solidFill>
                <a:effectLst/>
                <a:uLnTx/>
                <a:uFillTx/>
                <a:latin typeface="+mn-lt"/>
                <a:ea typeface="+mn-ea"/>
                <a:cs typeface="+mn-cs"/>
              </a:rPr>
              <a:t>	</a:t>
            </a:r>
            <a:r>
              <a:rPr kumimoji="1" lang="zh-CN" altLang="en-US" sz="2000" b="1" i="0" u="none" strike="noStrike" kern="0" cap="none" spc="0" normalizeH="0" baseline="0" noProof="0" dirty="0" smtClean="0">
                <a:ln>
                  <a:noFill/>
                </a:ln>
                <a:solidFill>
                  <a:schemeClr val="tx1"/>
                </a:solidFill>
                <a:effectLst/>
                <a:uLnTx/>
                <a:uFillTx/>
                <a:latin typeface="+mn-lt"/>
                <a:ea typeface="+mn-ea"/>
                <a:cs typeface="+mn-cs"/>
              </a:rPr>
              <a:t>指令机器代码：</a:t>
            </a:r>
            <a:r>
              <a:rPr kumimoji="1" lang="en-US" altLang="zh-CN" sz="2000" b="1" i="0" u="none" strike="noStrike" kern="0" cap="none" spc="0" normalizeH="0" baseline="0" noProof="0" dirty="0" smtClean="0">
                <a:ln>
                  <a:noFill/>
                </a:ln>
                <a:solidFill>
                  <a:schemeClr val="tx1"/>
                </a:solidFill>
                <a:effectLst/>
                <a:uLnTx/>
                <a:uFillTx/>
                <a:latin typeface="+mn-lt"/>
                <a:ea typeface="+mn-ea"/>
                <a:cs typeface="+mn-cs"/>
              </a:rPr>
              <a:t>00H</a:t>
            </a:r>
            <a:r>
              <a:rPr kumimoji="1" lang="en-US" altLang="zh-CN" sz="2000" b="1" i="0" u="none" strike="noStrike" kern="0" cap="none" spc="0" normalizeH="0" baseline="0" noProof="0" dirty="0" smtClean="0">
                <a:ln>
                  <a:noFill/>
                </a:ln>
                <a:solidFill>
                  <a:schemeClr val="accent2"/>
                </a:solidFill>
                <a:effectLst/>
                <a:uLnTx/>
                <a:uFillTx/>
                <a:latin typeface="+mn-lt"/>
                <a:ea typeface="+mn-ea"/>
                <a:cs typeface="+mn-cs"/>
              </a:rPr>
              <a:t>	</a:t>
            </a:r>
            <a:endParaRPr kumimoji="1" lang="en-US" altLang="zh-CN" sz="2000" b="1" i="0" u="none" strike="noStrike" kern="0" cap="none" spc="0" normalizeH="0" baseline="0" noProof="0" dirty="0" smtClean="0">
              <a:ln>
                <a:noFill/>
              </a:ln>
              <a:solidFill>
                <a:schemeClr val="accent2"/>
              </a:solidFill>
              <a:effectLst/>
              <a:uLnTx/>
              <a:uFillTx/>
              <a:latin typeface="+mn-lt"/>
              <a:ea typeface="+mn-ea"/>
              <a:cs typeface="+mn-cs"/>
            </a:endParaRPr>
          </a:p>
          <a:p>
            <a:pPr marL="812800" marR="0" lvl="0" indent="0" algn="l" defTabSz="425450" rtl="0" eaLnBrk="0" fontAlgn="base" latinLnBrk="0" hangingPunct="0">
              <a:lnSpc>
                <a:spcPct val="130000"/>
              </a:lnSpc>
              <a:spcBef>
                <a:spcPct val="20000"/>
              </a:spcBef>
              <a:spcAft>
                <a:spcPct val="0"/>
              </a:spcAft>
              <a:buClr>
                <a:schemeClr val="tx1"/>
              </a:buClr>
              <a:buSzTx/>
              <a:buFont typeface="Wingdings" panose="05000000000000000000" pitchFamily="2" charset="2"/>
              <a:buChar char="Ø"/>
              <a:defRPr/>
            </a:pPr>
            <a:r>
              <a:rPr kumimoji="1" lang="zh-CN" altLang="en-US" sz="2000" b="1" i="0" u="none" strike="noStrike" kern="0" cap="none" spc="0" normalizeH="0" baseline="0" noProof="0" dirty="0" smtClean="0">
                <a:ln>
                  <a:noFill/>
                </a:ln>
                <a:solidFill>
                  <a:schemeClr val="accent2"/>
                </a:solidFill>
                <a:effectLst/>
                <a:uLnTx/>
                <a:uFillTx/>
                <a:latin typeface="+mn-lt"/>
                <a:ea typeface="+mn-ea"/>
                <a:cs typeface="+mn-cs"/>
              </a:rPr>
              <a:t> </a:t>
            </a:r>
            <a:r>
              <a:rPr kumimoji="1" lang="zh-CN" altLang="en-US" sz="2000" b="1" i="0" u="none" strike="noStrike" kern="0" cap="none" spc="0" normalizeH="0" baseline="0" noProof="0" dirty="0" smtClean="0">
                <a:ln>
                  <a:noFill/>
                </a:ln>
                <a:solidFill>
                  <a:schemeClr val="tx1"/>
                </a:solidFill>
                <a:effectLst/>
                <a:uLnTx/>
                <a:uFillTx/>
                <a:latin typeface="+mn-lt"/>
                <a:ea typeface="+mn-ea"/>
                <a:cs typeface="+mn-cs"/>
              </a:rPr>
              <a:t>含有操作数所在寄存器编号的单字节指令</a:t>
            </a:r>
            <a:r>
              <a:rPr kumimoji="1" lang="en-US" altLang="zh-CN" sz="2000" b="1" i="0" u="none" strike="noStrike" kern="0" cap="none" spc="0" normalizeH="0" baseline="0" noProof="0" dirty="0" smtClean="0">
                <a:ln>
                  <a:noFill/>
                </a:ln>
                <a:solidFill>
                  <a:schemeClr val="tx1"/>
                </a:solidFill>
                <a:effectLst/>
                <a:uLnTx/>
                <a:uFillTx/>
                <a:latin typeface="+mn-lt"/>
                <a:ea typeface="+mn-ea"/>
                <a:cs typeface="+mn-cs"/>
              </a:rPr>
              <a:t>	</a:t>
            </a:r>
            <a:endParaRPr kumimoji="1" lang="en-US" altLang="zh-CN" sz="20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425450" rtl="0" eaLnBrk="0" fontAlgn="base" latinLnBrk="0" hangingPunct="0">
              <a:lnSpc>
                <a:spcPct val="130000"/>
              </a:lnSpc>
              <a:spcBef>
                <a:spcPct val="20000"/>
              </a:spcBef>
              <a:spcAft>
                <a:spcPct val="0"/>
              </a:spcAft>
              <a:buClr>
                <a:schemeClr val="tx1"/>
              </a:buClr>
              <a:buSzTx/>
              <a:buFont typeface="Wingdings" panose="05000000000000000000" pitchFamily="2" charset="2"/>
              <a:buNone/>
              <a:defRPr/>
            </a:pPr>
            <a:r>
              <a:rPr kumimoji="1" lang="en-US" altLang="zh-CN" sz="2000" b="1" i="0" u="none" strike="noStrike" kern="0" cap="none" spc="0" normalizeH="0" baseline="0" noProof="0" dirty="0" smtClean="0">
                <a:ln>
                  <a:noFill/>
                </a:ln>
                <a:solidFill>
                  <a:schemeClr val="tx1"/>
                </a:solidFill>
                <a:effectLst/>
                <a:uLnTx/>
                <a:uFillTx/>
                <a:latin typeface="+mn-lt"/>
                <a:ea typeface="+mn-ea"/>
                <a:cs typeface="+mn-cs"/>
              </a:rPr>
              <a:t>		        MOV A</a:t>
            </a:r>
            <a:r>
              <a:rPr kumimoji="1" lang="zh-CN" altLang="en-US" sz="2000" b="1" i="0" u="none" strike="noStrike" kern="0" cap="none" spc="0" normalizeH="0" baseline="0" noProof="0" dirty="0" smtClean="0">
                <a:ln>
                  <a:noFill/>
                </a:ln>
                <a:solidFill>
                  <a:schemeClr val="tx1"/>
                </a:solidFill>
                <a:effectLst/>
                <a:uLnTx/>
                <a:uFillTx/>
                <a:latin typeface="+mn-lt"/>
                <a:ea typeface="+mn-ea"/>
                <a:cs typeface="+mn-cs"/>
              </a:rPr>
              <a:t>，</a:t>
            </a:r>
            <a:r>
              <a:rPr kumimoji="1" lang="en-US" altLang="zh-CN" sz="2000" b="1" i="0" u="none" strike="noStrike" kern="0" cap="none" spc="0" normalizeH="0" baseline="0" noProof="0" dirty="0" err="1" smtClean="0">
                <a:ln>
                  <a:noFill/>
                </a:ln>
                <a:solidFill>
                  <a:schemeClr val="tx1"/>
                </a:solidFill>
                <a:effectLst/>
                <a:uLnTx/>
                <a:uFillTx/>
                <a:latin typeface="+mn-lt"/>
                <a:ea typeface="+mn-ea"/>
                <a:cs typeface="+mn-cs"/>
              </a:rPr>
              <a:t>Rn</a:t>
            </a:r>
            <a:r>
              <a:rPr kumimoji="1" lang="en-US" altLang="zh-CN" sz="2000" b="1" i="0" u="none" strike="noStrike" kern="0" cap="none" spc="0" normalizeH="0" baseline="0" noProof="0" dirty="0" smtClean="0">
                <a:ln>
                  <a:noFill/>
                </a:ln>
                <a:solidFill>
                  <a:schemeClr val="tx1"/>
                </a:solidFill>
                <a:effectLst/>
                <a:uLnTx/>
                <a:uFillTx/>
                <a:latin typeface="+mn-lt"/>
                <a:ea typeface="+mn-ea"/>
                <a:cs typeface="+mn-cs"/>
              </a:rPr>
              <a:t>              </a:t>
            </a:r>
            <a:r>
              <a:rPr kumimoji="1" lang="zh-CN" altLang="en-US" sz="2000" b="1" i="0" u="none" strike="noStrike" kern="0" cap="none" spc="0" normalizeH="0" baseline="0" noProof="0" dirty="0" smtClean="0">
                <a:ln>
                  <a:noFill/>
                </a:ln>
                <a:solidFill>
                  <a:schemeClr val="tx1"/>
                </a:solidFill>
                <a:effectLst/>
                <a:uLnTx/>
                <a:uFillTx/>
                <a:latin typeface="+mn-lt"/>
                <a:ea typeface="+mn-ea"/>
                <a:cs typeface="+mn-cs"/>
              </a:rPr>
              <a:t>指令机器代码：</a:t>
            </a:r>
            <a:r>
              <a:rPr kumimoji="1" lang="en-US" altLang="zh-CN" sz="2000" b="1" i="0" u="none" strike="noStrike" kern="0" cap="none" spc="0" normalizeH="0" baseline="0" noProof="0" dirty="0" smtClean="0">
                <a:ln>
                  <a:noFill/>
                </a:ln>
                <a:solidFill>
                  <a:schemeClr val="tx1"/>
                </a:solidFill>
                <a:effectLst/>
                <a:uLnTx/>
                <a:uFillTx/>
                <a:latin typeface="+mn-lt"/>
                <a:ea typeface="+mn-ea"/>
                <a:cs typeface="+mn-cs"/>
              </a:rPr>
              <a:t>E8H</a:t>
            </a:r>
            <a:endParaRPr kumimoji="1" lang="en-US" altLang="zh-CN" sz="20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425450" rtl="0" eaLnBrk="0" fontAlgn="base" latinLnBrk="0" hangingPunct="0">
              <a:lnSpc>
                <a:spcPct val="130000"/>
              </a:lnSpc>
              <a:spcBef>
                <a:spcPct val="20000"/>
              </a:spcBef>
              <a:spcAft>
                <a:spcPct val="0"/>
              </a:spcAft>
              <a:buClr>
                <a:schemeClr val="folHlink"/>
              </a:buClr>
              <a:buSzTx/>
              <a:buFont typeface="Wingdings" panose="05000000000000000000" pitchFamily="2" charset="2"/>
              <a:buNone/>
              <a:defRPr/>
            </a:pPr>
            <a:r>
              <a:rPr kumimoji="1" lang="en-US" altLang="zh-CN" sz="2000" b="1" i="0" u="none" strike="noStrike" kern="0" cap="none" spc="0" normalizeH="0" baseline="0" noProof="0" dirty="0" smtClean="0">
                <a:ln>
                  <a:noFill/>
                </a:ln>
                <a:solidFill>
                  <a:schemeClr val="tx1"/>
                </a:solidFill>
                <a:effectLst/>
                <a:uLnTx/>
                <a:uFillTx/>
                <a:latin typeface="+mn-lt"/>
                <a:ea typeface="+mn-ea"/>
                <a:cs typeface="+mn-cs"/>
              </a:rPr>
              <a:t> 	</a:t>
            </a:r>
            <a:r>
              <a:rPr kumimoji="1" lang="zh-CN" altLang="en-US" sz="2000" b="1" i="0" u="none" strike="noStrike" kern="0" cap="none" spc="0" normalizeH="0" baseline="0" noProof="0" dirty="0" smtClean="0">
                <a:ln>
                  <a:noFill/>
                </a:ln>
                <a:solidFill>
                  <a:schemeClr val="accent2"/>
                </a:solidFill>
                <a:effectLst/>
                <a:uLnTx/>
                <a:uFillTx/>
                <a:latin typeface="+mn-lt"/>
                <a:ea typeface="+mn-ea"/>
                <a:cs typeface="+mn-cs"/>
              </a:rPr>
              <a:t>（</a:t>
            </a:r>
            <a:r>
              <a:rPr kumimoji="1" lang="en-US" altLang="zh-CN" sz="2000" b="1" i="0" u="none" strike="noStrike" kern="0" cap="none" spc="0" normalizeH="0" baseline="0" noProof="0" dirty="0" smtClean="0">
                <a:ln>
                  <a:noFill/>
                </a:ln>
                <a:solidFill>
                  <a:schemeClr val="accent2"/>
                </a:solidFill>
                <a:effectLst/>
                <a:uLnTx/>
                <a:uFillTx/>
                <a:latin typeface="+mn-lt"/>
                <a:ea typeface="+mn-ea"/>
                <a:cs typeface="+mn-cs"/>
              </a:rPr>
              <a:t>2</a:t>
            </a:r>
            <a:r>
              <a:rPr kumimoji="1" lang="zh-CN" altLang="en-US" sz="2000" b="1" i="0" u="none" strike="noStrike" kern="0" cap="none" spc="0" normalizeH="0" baseline="0" noProof="0" dirty="0" smtClean="0">
                <a:ln>
                  <a:noFill/>
                </a:ln>
                <a:solidFill>
                  <a:schemeClr val="accent2"/>
                </a:solidFill>
                <a:effectLst/>
                <a:uLnTx/>
                <a:uFillTx/>
                <a:latin typeface="+mn-lt"/>
                <a:ea typeface="+mn-ea"/>
                <a:cs typeface="+mn-cs"/>
              </a:rPr>
              <a:t>） 双字节指令 </a:t>
            </a:r>
            <a:r>
              <a:rPr kumimoji="1" lang="en-US" altLang="zh-CN" sz="2000" b="1" i="0" u="none" strike="noStrike" kern="0" cap="none" spc="0" normalizeH="0" baseline="0" noProof="0" dirty="0" smtClean="0">
                <a:ln>
                  <a:noFill/>
                </a:ln>
                <a:solidFill>
                  <a:schemeClr val="accent2"/>
                </a:solidFill>
                <a:effectLst/>
                <a:uLnTx/>
                <a:uFillTx/>
                <a:latin typeface="+mn-lt"/>
                <a:ea typeface="+mn-ea"/>
                <a:cs typeface="+mn-cs"/>
              </a:rPr>
              <a:t>:</a:t>
            </a:r>
            <a:endParaRPr kumimoji="1" lang="en-US" altLang="zh-CN" sz="2000" b="1" i="0" u="none" strike="noStrike" kern="0" cap="none" spc="0" normalizeH="0" baseline="0" noProof="0" dirty="0" smtClean="0">
              <a:ln>
                <a:noFill/>
              </a:ln>
              <a:solidFill>
                <a:schemeClr val="accent2"/>
              </a:solidFill>
              <a:effectLst/>
              <a:uLnTx/>
              <a:uFillTx/>
              <a:latin typeface="+mn-lt"/>
              <a:ea typeface="+mn-ea"/>
              <a:cs typeface="+mn-cs"/>
            </a:endParaRPr>
          </a:p>
          <a:p>
            <a:pPr marL="342900" marR="0" lvl="0" indent="-342900" algn="l" defTabSz="425450" rtl="0" eaLnBrk="0" fontAlgn="base" latinLnBrk="0" hangingPunct="0">
              <a:lnSpc>
                <a:spcPct val="130000"/>
              </a:lnSpc>
              <a:spcBef>
                <a:spcPct val="20000"/>
              </a:spcBef>
              <a:spcAft>
                <a:spcPct val="0"/>
              </a:spcAft>
              <a:buClr>
                <a:schemeClr val="folHlink"/>
              </a:buClr>
              <a:buSzTx/>
              <a:buFont typeface="Wingdings" panose="05000000000000000000" pitchFamily="2" charset="2"/>
              <a:buNone/>
              <a:defRPr/>
            </a:pPr>
            <a:r>
              <a:rPr kumimoji="1" lang="en-US" altLang="zh-CN" sz="2000" b="1" i="0" u="none" strike="noStrike" kern="0" cap="none" spc="0" normalizeH="0" baseline="0" noProof="0" dirty="0" smtClean="0">
                <a:ln>
                  <a:noFill/>
                </a:ln>
                <a:solidFill>
                  <a:schemeClr val="tx1"/>
                </a:solidFill>
                <a:effectLst/>
                <a:uLnTx/>
                <a:uFillTx/>
                <a:latin typeface="+mn-lt"/>
                <a:ea typeface="+mn-ea"/>
                <a:cs typeface="+mn-cs"/>
              </a:rPr>
              <a:t>		      MOV A, #60H </a:t>
            </a:r>
            <a:r>
              <a:rPr kumimoji="1" lang="zh-CN" altLang="en-US" sz="2000" b="1" i="0" u="none" strike="noStrike" kern="0" cap="none" spc="0" normalizeH="0" baseline="0" noProof="0" dirty="0" smtClean="0">
                <a:ln>
                  <a:noFill/>
                </a:ln>
                <a:solidFill>
                  <a:schemeClr val="tx1"/>
                </a:solidFill>
                <a:effectLst/>
                <a:uLnTx/>
                <a:uFillTx/>
                <a:latin typeface="+mn-lt"/>
                <a:ea typeface="+mn-ea"/>
                <a:cs typeface="+mn-cs"/>
              </a:rPr>
              <a:t>指令机器代码：</a:t>
            </a:r>
            <a:r>
              <a:rPr kumimoji="1" lang="en-US" altLang="zh-CN" sz="2000" b="1" i="0" u="none" strike="noStrike" kern="0" cap="none" spc="0" normalizeH="0" baseline="0" noProof="0" dirty="0" smtClean="0">
                <a:ln>
                  <a:noFill/>
                </a:ln>
                <a:solidFill>
                  <a:schemeClr val="tx1"/>
                </a:solidFill>
                <a:effectLst/>
                <a:uLnTx/>
                <a:uFillTx/>
                <a:latin typeface="+mn-lt"/>
                <a:ea typeface="+mn-ea"/>
                <a:cs typeface="+mn-cs"/>
              </a:rPr>
              <a:t>74 60H</a:t>
            </a:r>
            <a:endParaRPr kumimoji="1" lang="en-US" altLang="zh-CN" sz="20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425450" rtl="0" eaLnBrk="0" fontAlgn="base" latinLnBrk="0" hangingPunct="0">
              <a:lnSpc>
                <a:spcPct val="130000"/>
              </a:lnSpc>
              <a:spcBef>
                <a:spcPct val="20000"/>
              </a:spcBef>
              <a:spcAft>
                <a:spcPct val="0"/>
              </a:spcAft>
              <a:buClr>
                <a:schemeClr val="folHlink"/>
              </a:buClr>
              <a:buSzTx/>
              <a:buFont typeface="Wingdings" panose="05000000000000000000" pitchFamily="2" charset="2"/>
              <a:buNone/>
              <a:defRPr/>
            </a:pPr>
            <a:r>
              <a:rPr kumimoji="1" lang="en-US" altLang="zh-CN" sz="2000" b="1" i="0" u="none" strike="noStrike" kern="0" cap="none" spc="0" normalizeH="0" baseline="0" noProof="0" dirty="0" smtClean="0">
                <a:ln>
                  <a:noFill/>
                </a:ln>
                <a:solidFill>
                  <a:schemeClr val="tx1"/>
                </a:solidFill>
                <a:effectLst/>
                <a:uLnTx/>
                <a:uFillTx/>
                <a:latin typeface="+mn-lt"/>
                <a:ea typeface="+mn-ea"/>
                <a:cs typeface="+mn-cs"/>
              </a:rPr>
              <a:t>  	</a:t>
            </a:r>
            <a:r>
              <a:rPr kumimoji="1" lang="zh-CN" altLang="en-US" sz="2000" b="1" i="0" u="none" strike="noStrike" kern="0" cap="none" spc="0" normalizeH="0" baseline="0" noProof="0" dirty="0" smtClean="0">
                <a:ln>
                  <a:noFill/>
                </a:ln>
                <a:solidFill>
                  <a:schemeClr val="accent2"/>
                </a:solidFill>
                <a:effectLst/>
                <a:uLnTx/>
                <a:uFillTx/>
                <a:latin typeface="+mn-lt"/>
                <a:ea typeface="+mn-ea"/>
                <a:cs typeface="+mn-cs"/>
              </a:rPr>
              <a:t>（</a:t>
            </a:r>
            <a:r>
              <a:rPr kumimoji="1" lang="en-US" altLang="zh-CN" sz="2000" b="1" i="0" u="none" strike="noStrike" kern="0" cap="none" spc="0" normalizeH="0" baseline="0" noProof="0" dirty="0" smtClean="0">
                <a:ln>
                  <a:noFill/>
                </a:ln>
                <a:solidFill>
                  <a:schemeClr val="accent2"/>
                </a:solidFill>
                <a:effectLst/>
                <a:uLnTx/>
                <a:uFillTx/>
                <a:latin typeface="+mn-lt"/>
                <a:ea typeface="+mn-ea"/>
                <a:cs typeface="+mn-cs"/>
              </a:rPr>
              <a:t>3</a:t>
            </a:r>
            <a:r>
              <a:rPr kumimoji="1" lang="zh-CN" altLang="en-US" sz="2000" b="1" i="0" u="none" strike="noStrike" kern="0" cap="none" spc="0" normalizeH="0" baseline="0" noProof="0" dirty="0" smtClean="0">
                <a:ln>
                  <a:noFill/>
                </a:ln>
                <a:solidFill>
                  <a:schemeClr val="accent2"/>
                </a:solidFill>
                <a:effectLst/>
                <a:uLnTx/>
                <a:uFillTx/>
                <a:latin typeface="+mn-lt"/>
                <a:ea typeface="+mn-ea"/>
                <a:cs typeface="+mn-cs"/>
              </a:rPr>
              <a:t>）三字节指令：</a:t>
            </a:r>
            <a:endParaRPr kumimoji="1" lang="zh-CN" altLang="en-US" sz="2000" b="1" i="0" u="none" strike="noStrike" kern="0" cap="none" spc="0" normalizeH="0" baseline="0" noProof="0" dirty="0" smtClean="0">
              <a:ln>
                <a:noFill/>
              </a:ln>
              <a:solidFill>
                <a:schemeClr val="accent2"/>
              </a:solidFill>
              <a:effectLst/>
              <a:uLnTx/>
              <a:uFillTx/>
              <a:latin typeface="+mn-lt"/>
              <a:ea typeface="+mn-ea"/>
              <a:cs typeface="+mn-cs"/>
            </a:endParaRPr>
          </a:p>
          <a:p>
            <a:pPr marL="342900" marR="0" lvl="0" indent="-342900" algn="l" defTabSz="425450" rtl="0" eaLnBrk="0" fontAlgn="base" latinLnBrk="0" hangingPunct="0">
              <a:lnSpc>
                <a:spcPct val="130000"/>
              </a:lnSpc>
              <a:spcBef>
                <a:spcPct val="20000"/>
              </a:spcBef>
              <a:spcAft>
                <a:spcPct val="0"/>
              </a:spcAft>
              <a:buClr>
                <a:schemeClr val="folHlink"/>
              </a:buClr>
              <a:buSzTx/>
              <a:buFont typeface="Wingdings" panose="05000000000000000000" pitchFamily="2" charset="2"/>
              <a:buNone/>
              <a:defRPr/>
            </a:pPr>
            <a:r>
              <a:rPr kumimoji="1" lang="zh-CN" altLang="en-US" sz="2000" b="1" i="0" u="none" strike="noStrike" kern="0" cap="none" spc="0" normalizeH="0" baseline="0" noProof="0" dirty="0" smtClean="0">
                <a:ln>
                  <a:noFill/>
                </a:ln>
                <a:solidFill>
                  <a:schemeClr val="tx1"/>
                </a:solidFill>
                <a:effectLst/>
                <a:uLnTx/>
                <a:uFillTx/>
                <a:latin typeface="+mn-lt"/>
                <a:ea typeface="+mn-ea"/>
                <a:cs typeface="+mn-cs"/>
              </a:rPr>
              <a:t>		        </a:t>
            </a:r>
            <a:r>
              <a:rPr kumimoji="1" lang="en-US" altLang="zh-CN" sz="2000" b="1" i="0" u="none" strike="noStrike" kern="0" cap="none" spc="0" normalizeH="0" baseline="0" noProof="0" dirty="0" smtClean="0">
                <a:ln>
                  <a:noFill/>
                </a:ln>
                <a:solidFill>
                  <a:schemeClr val="tx1"/>
                </a:solidFill>
                <a:effectLst/>
                <a:uLnTx/>
                <a:uFillTx/>
                <a:latin typeface="+mn-lt"/>
                <a:ea typeface="+mn-ea"/>
                <a:cs typeface="+mn-cs"/>
              </a:rPr>
              <a:t>MOV 20H, #00H      </a:t>
            </a:r>
            <a:r>
              <a:rPr kumimoji="1" lang="zh-CN" altLang="en-US" sz="2000" b="1" i="0" u="none" strike="noStrike" kern="0" cap="none" spc="0" normalizeH="0" baseline="0" noProof="0" dirty="0" smtClean="0">
                <a:ln>
                  <a:noFill/>
                </a:ln>
                <a:solidFill>
                  <a:schemeClr val="tx1"/>
                </a:solidFill>
                <a:effectLst/>
                <a:uLnTx/>
                <a:uFillTx/>
                <a:latin typeface="+mn-lt"/>
                <a:ea typeface="+mn-ea"/>
                <a:cs typeface="+mn-cs"/>
              </a:rPr>
              <a:t>指令机器代码： </a:t>
            </a:r>
            <a:r>
              <a:rPr kumimoji="1" lang="en-US" altLang="zh-CN" sz="2000" b="1" i="0" u="none" strike="noStrike" kern="0" cap="none" spc="0" normalizeH="0" baseline="0" noProof="0" dirty="0" smtClean="0">
                <a:ln>
                  <a:noFill/>
                </a:ln>
                <a:solidFill>
                  <a:schemeClr val="tx1"/>
                </a:solidFill>
                <a:effectLst/>
                <a:uLnTx/>
                <a:uFillTx/>
                <a:latin typeface="+mn-lt"/>
                <a:ea typeface="+mn-ea"/>
                <a:cs typeface="+mn-cs"/>
              </a:rPr>
              <a:t>75 20 00H </a:t>
            </a:r>
            <a:endParaRPr kumimoji="1" lang="en-US" altLang="zh-CN" sz="20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425450" rtl="0" eaLnBrk="0" fontAlgn="base" latinLnBrk="0" hangingPunct="0">
              <a:lnSpc>
                <a:spcPct val="130000"/>
              </a:lnSpc>
              <a:spcBef>
                <a:spcPct val="0"/>
              </a:spcBef>
              <a:spcAft>
                <a:spcPct val="0"/>
              </a:spcAft>
              <a:buClr>
                <a:schemeClr val="folHlink"/>
              </a:buClr>
              <a:buSzTx/>
              <a:buFont typeface="Wingdings" panose="05000000000000000000" pitchFamily="2" charset="2"/>
              <a:buNone/>
              <a:defRPr/>
            </a:pPr>
            <a:r>
              <a:rPr kumimoji="1" lang="en-US" altLang="zh-CN" sz="2000" b="1" i="0" u="none" strike="noStrike" kern="0" cap="none" spc="0" normalizeH="0" baseline="0" noProof="0" dirty="0" smtClean="0">
                <a:ln>
                  <a:noFill/>
                </a:ln>
                <a:solidFill>
                  <a:schemeClr val="tx1"/>
                </a:solidFill>
                <a:effectLst/>
                <a:uLnTx/>
                <a:uFillTx/>
                <a:latin typeface="+mn-lt"/>
                <a:ea typeface="+mn-ea"/>
                <a:cs typeface="+mn-cs"/>
              </a:rPr>
              <a:t>              LJMP  2000H          </a:t>
            </a:r>
            <a:r>
              <a:rPr kumimoji="1" lang="zh-CN" altLang="en-US" sz="2000" b="1" i="0" u="none" strike="noStrike" kern="0" cap="none" spc="0" normalizeH="0" baseline="0" noProof="0" dirty="0" smtClean="0">
                <a:ln>
                  <a:noFill/>
                </a:ln>
                <a:solidFill>
                  <a:schemeClr val="tx1"/>
                </a:solidFill>
                <a:effectLst/>
                <a:uLnTx/>
                <a:uFillTx/>
                <a:latin typeface="+mn-lt"/>
                <a:ea typeface="+mn-ea"/>
                <a:cs typeface="+mn-cs"/>
              </a:rPr>
              <a:t>指令机器代码：  </a:t>
            </a:r>
            <a:r>
              <a:rPr kumimoji="1" lang="en-US" altLang="zh-CN" sz="2000" b="1" i="0" u="none" strike="noStrike" kern="0" cap="none" spc="0" normalizeH="0" baseline="0" noProof="0" dirty="0" smtClean="0">
                <a:ln>
                  <a:noFill/>
                </a:ln>
                <a:solidFill>
                  <a:schemeClr val="tx1"/>
                </a:solidFill>
                <a:effectLst/>
                <a:uLnTx/>
                <a:uFillTx/>
                <a:latin typeface="+mn-lt"/>
                <a:ea typeface="+mn-ea"/>
                <a:cs typeface="+mn-cs"/>
              </a:rPr>
              <a:t>02 20 00H </a:t>
            </a:r>
            <a:endParaRPr kumimoji="1" lang="en-US" altLang="zh-CN" sz="20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425450" rtl="0" eaLnBrk="0" fontAlgn="base" latinLnBrk="0" hangingPunct="0">
              <a:lnSpc>
                <a:spcPct val="130000"/>
              </a:lnSpc>
              <a:spcBef>
                <a:spcPct val="20000"/>
              </a:spcBef>
              <a:spcAft>
                <a:spcPct val="0"/>
              </a:spcAft>
              <a:buClr>
                <a:schemeClr val="folHlink"/>
              </a:buClr>
              <a:buSzTx/>
              <a:buFont typeface="Wingdings" panose="05000000000000000000" pitchFamily="2" charset="2"/>
              <a:buChar char="v"/>
              <a:defRPr/>
            </a:pPr>
            <a:endParaRPr kumimoji="1" lang="zh-CN" altLang="en-US" sz="2000" b="1" i="0" u="none" strike="noStrike" kern="0" cap="none" spc="0" normalizeH="0" baseline="0" noProof="0" dirty="0" smtClean="0">
              <a:ln>
                <a:noFill/>
              </a:ln>
              <a:solidFill>
                <a:schemeClr val="tx1"/>
              </a:solidFill>
              <a:effectLst/>
              <a:uLnTx/>
              <a:uFillTx/>
              <a:latin typeface="+mn-lt"/>
              <a:ea typeface="+mn-ea"/>
              <a:cs typeface="+mn-cs"/>
            </a:endParaRPr>
          </a:p>
        </p:txBody>
      </p:sp>
      <p:sp>
        <p:nvSpPr>
          <p:cNvPr id="87042" name="Rectangle 2"/>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第三章     </a:t>
            </a:r>
            <a:r>
              <a:rPr kumimoji="1" lang="en-US" altLang="zh-CN"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8915" name="Rectangle 6"/>
          <p:cNvSpPr/>
          <p:nvPr/>
        </p:nvSpPr>
        <p:spPr>
          <a:xfrm>
            <a:off x="395288" y="981075"/>
            <a:ext cx="4060825" cy="565150"/>
          </a:xfrm>
          <a:prstGeom prst="rect">
            <a:avLst/>
          </a:prstGeom>
          <a:noFill/>
          <a:ln w="9525">
            <a:noFill/>
          </a:ln>
        </p:spPr>
        <p:txBody>
          <a:bodyPr wrap="square" anchor="t" anchorCtr="0">
            <a:spAutoFit/>
          </a:bodyPr>
          <a:p>
            <a:pPr>
              <a:lnSpc>
                <a:spcPct val="110000"/>
              </a:lnSpc>
              <a:spcBef>
                <a:spcPct val="20000"/>
              </a:spcBef>
              <a:buClrTx/>
              <a:buFontTx/>
            </a:pPr>
            <a:r>
              <a:rPr lang="en-US" altLang="zh-CN" sz="2800" dirty="0">
                <a:solidFill>
                  <a:srgbClr val="FF0000"/>
                </a:solidFill>
                <a:latin typeface="黑体" panose="02010609060101010101" pitchFamily="49" charset="-122"/>
                <a:ea typeface="黑体" panose="02010609060101010101" pitchFamily="49" charset="-122"/>
              </a:rPr>
              <a:t>3-1  </a:t>
            </a:r>
            <a:r>
              <a:rPr lang="zh-CN" altLang="en-US" sz="2800" dirty="0">
                <a:solidFill>
                  <a:srgbClr val="FF0000"/>
                </a:solidFill>
                <a:latin typeface="黑体" panose="02010609060101010101" pitchFamily="49" charset="-122"/>
                <a:ea typeface="黑体" panose="02010609060101010101" pitchFamily="49" charset="-122"/>
              </a:rPr>
              <a:t>指令系统概述</a:t>
            </a:r>
            <a:endParaRPr lang="zh-CN" altLang="en-US" sz="2800" dirty="0">
              <a:solidFill>
                <a:srgbClr val="FF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1859">
                                            <p:txEl>
                                              <p:charRg st="19" end="31"/>
                                            </p:txEl>
                                          </p:spTgt>
                                        </p:tgtEl>
                                        <p:attrNameLst>
                                          <p:attrName>style.visibility</p:attrName>
                                        </p:attrNameLst>
                                      </p:cBhvr>
                                      <p:to>
                                        <p:strVal val="visible"/>
                                      </p:to>
                                    </p:set>
                                    <p:animEffect transition="in" filter="blinds(horizontal)">
                                      <p:cBhvr>
                                        <p:cTn id="7" dur="500"/>
                                        <p:tgtEl>
                                          <p:spTgt spid="121859">
                                            <p:txEl>
                                              <p:charRg st="19" end="3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1859">
                                            <p:txEl>
                                              <p:charRg st="31" end="44"/>
                                            </p:txEl>
                                          </p:spTgt>
                                        </p:tgtEl>
                                        <p:attrNameLst>
                                          <p:attrName>style.visibility</p:attrName>
                                        </p:attrNameLst>
                                      </p:cBhvr>
                                      <p:to>
                                        <p:strVal val="visible"/>
                                      </p:to>
                                    </p:set>
                                    <p:animEffect transition="in" filter="blinds(horizontal)">
                                      <p:cBhvr>
                                        <p:cTn id="12" dur="500"/>
                                        <p:tgtEl>
                                          <p:spTgt spid="121859">
                                            <p:txEl>
                                              <p:charRg st="31" end="4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1859">
                                            <p:txEl>
                                              <p:charRg st="44" end="70"/>
                                            </p:txEl>
                                          </p:spTgt>
                                        </p:tgtEl>
                                        <p:attrNameLst>
                                          <p:attrName>style.visibility</p:attrName>
                                        </p:attrNameLst>
                                      </p:cBhvr>
                                      <p:to>
                                        <p:strVal val="visible"/>
                                      </p:to>
                                    </p:set>
                                    <p:animEffect transition="in" filter="blinds(horizontal)">
                                      <p:cBhvr>
                                        <p:cTn id="17" dur="500"/>
                                        <p:tgtEl>
                                          <p:spTgt spid="121859">
                                            <p:txEl>
                                              <p:charRg st="44" end="7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1859">
                                            <p:txEl>
                                              <p:charRg st="70" end="91"/>
                                            </p:txEl>
                                          </p:spTgt>
                                        </p:tgtEl>
                                        <p:attrNameLst>
                                          <p:attrName>style.visibility</p:attrName>
                                        </p:attrNameLst>
                                      </p:cBhvr>
                                      <p:to>
                                        <p:strVal val="visible"/>
                                      </p:to>
                                    </p:set>
                                    <p:animEffect transition="in" filter="blinds(horizontal)">
                                      <p:cBhvr>
                                        <p:cTn id="22" dur="500"/>
                                        <p:tgtEl>
                                          <p:spTgt spid="121859">
                                            <p:txEl>
                                              <p:charRg st="70" end="9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21859">
                                            <p:txEl>
                                              <p:charRg st="91" end="134"/>
                                            </p:txEl>
                                          </p:spTgt>
                                        </p:tgtEl>
                                        <p:attrNameLst>
                                          <p:attrName>style.visibility</p:attrName>
                                        </p:attrNameLst>
                                      </p:cBhvr>
                                      <p:to>
                                        <p:strVal val="visible"/>
                                      </p:to>
                                    </p:set>
                                    <p:animEffect transition="in" filter="blinds(horizontal)">
                                      <p:cBhvr>
                                        <p:cTn id="27" dur="500"/>
                                        <p:tgtEl>
                                          <p:spTgt spid="121859">
                                            <p:txEl>
                                              <p:charRg st="91" end="13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21859">
                                            <p:txEl>
                                              <p:charRg st="134" end="148"/>
                                            </p:txEl>
                                          </p:spTgt>
                                        </p:tgtEl>
                                        <p:attrNameLst>
                                          <p:attrName>style.visibility</p:attrName>
                                        </p:attrNameLst>
                                      </p:cBhvr>
                                      <p:to>
                                        <p:strVal val="visible"/>
                                      </p:to>
                                    </p:set>
                                    <p:animEffect transition="in" filter="blinds(horizontal)">
                                      <p:cBhvr>
                                        <p:cTn id="32" dur="500"/>
                                        <p:tgtEl>
                                          <p:spTgt spid="121859">
                                            <p:txEl>
                                              <p:charRg st="134" end="14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21859">
                                            <p:txEl>
                                              <p:charRg st="148" end="182"/>
                                            </p:txEl>
                                          </p:spTgt>
                                        </p:tgtEl>
                                        <p:attrNameLst>
                                          <p:attrName>style.visibility</p:attrName>
                                        </p:attrNameLst>
                                      </p:cBhvr>
                                      <p:to>
                                        <p:strVal val="visible"/>
                                      </p:to>
                                    </p:set>
                                    <p:animEffect transition="in" filter="blinds(horizontal)">
                                      <p:cBhvr>
                                        <p:cTn id="37" dur="500"/>
                                        <p:tgtEl>
                                          <p:spTgt spid="121859">
                                            <p:txEl>
                                              <p:charRg st="148" end="18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21859">
                                            <p:txEl>
                                              <p:charRg st="182" end="195"/>
                                            </p:txEl>
                                          </p:spTgt>
                                        </p:tgtEl>
                                        <p:attrNameLst>
                                          <p:attrName>style.visibility</p:attrName>
                                        </p:attrNameLst>
                                      </p:cBhvr>
                                      <p:to>
                                        <p:strVal val="visible"/>
                                      </p:to>
                                    </p:set>
                                    <p:animEffect transition="in" filter="blinds(horizontal)">
                                      <p:cBhvr>
                                        <p:cTn id="42" dur="500"/>
                                        <p:tgtEl>
                                          <p:spTgt spid="121859">
                                            <p:txEl>
                                              <p:charRg st="182" end="19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21859">
                                            <p:txEl>
                                              <p:charRg st="195" end="243"/>
                                            </p:txEl>
                                          </p:spTgt>
                                        </p:tgtEl>
                                        <p:attrNameLst>
                                          <p:attrName>style.visibility</p:attrName>
                                        </p:attrNameLst>
                                      </p:cBhvr>
                                      <p:to>
                                        <p:strVal val="visible"/>
                                      </p:to>
                                    </p:set>
                                    <p:animEffect transition="in" filter="blinds(horizontal)">
                                      <p:cBhvr>
                                        <p:cTn id="47" dur="500"/>
                                        <p:tgtEl>
                                          <p:spTgt spid="121859">
                                            <p:txEl>
                                              <p:charRg st="195" end="24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21859">
                                            <p:txEl>
                                              <p:charRg st="243" end="298"/>
                                            </p:txEl>
                                          </p:spTgt>
                                        </p:tgtEl>
                                        <p:attrNameLst>
                                          <p:attrName>style.visibility</p:attrName>
                                        </p:attrNameLst>
                                      </p:cBhvr>
                                      <p:to>
                                        <p:strVal val="visible"/>
                                      </p:to>
                                    </p:set>
                                    <p:animEffect transition="in" filter="blinds(horizontal)">
                                      <p:cBhvr>
                                        <p:cTn id="52" dur="500"/>
                                        <p:tgtEl>
                                          <p:spTgt spid="121859">
                                            <p:txEl>
                                              <p:charRg st="243" end="29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9"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9" name="Rectangle 3"/>
          <p:cNvSpPr>
            <a:spLocks noGrp="1" noChangeArrowheads="1"/>
          </p:cNvSpPr>
          <p:nvPr>
            <p:ph type="body" idx="1"/>
          </p:nvPr>
        </p:nvSpPr>
        <p:spPr>
          <a:xfrm>
            <a:off x="290513" y="1644650"/>
            <a:ext cx="7818438" cy="4868863"/>
          </a:xfrm>
        </p:spPr>
        <p:txBody>
          <a:bodyPr vert="horz" wrap="square" lIns="91440" tIns="45720" rIns="91440" bIns="45720" numCol="1" anchor="t" anchorCtr="0" compatLnSpc="1"/>
          <a:lstStyle/>
          <a:p>
            <a:pPr marL="342900" marR="0" lvl="0" indent="-342900" algn="l" defTabSz="425450" rtl="0" eaLnBrk="0" fontAlgn="base" latinLnBrk="0" hangingPunct="0">
              <a:lnSpc>
                <a:spcPct val="110000"/>
              </a:lnSpc>
              <a:spcBef>
                <a:spcPct val="20000"/>
              </a:spcBef>
              <a:spcAft>
                <a:spcPct val="0"/>
              </a:spcAft>
              <a:buClr>
                <a:schemeClr val="tx1"/>
              </a:buClr>
              <a:buSzTx/>
              <a:buFont typeface="Wingdings" panose="05000000000000000000" pitchFamily="2" charset="2"/>
              <a:buNone/>
              <a:defRPr/>
            </a:pPr>
            <a:r>
              <a:rPr kumimoji="1" lang="en-US" altLang="zh-CN" sz="2400" b="1" i="0" u="none" strike="noStrike" kern="0" cap="none" spc="0" normalizeH="0" baseline="0" noProof="0" dirty="0" smtClean="0">
                <a:ln>
                  <a:noFill/>
                </a:ln>
                <a:solidFill>
                  <a:schemeClr val="accent2"/>
                </a:solidFill>
                <a:effectLst/>
                <a:uLnTx/>
                <a:uFillTx/>
                <a:latin typeface="+mn-lt"/>
                <a:ea typeface="黑体" panose="02010609060101010101" pitchFamily="49" charset="-122"/>
                <a:cs typeface="+mn-cs"/>
              </a:rPr>
              <a:t>  3.1.5 </a:t>
            </a:r>
            <a:r>
              <a:rPr kumimoji="1" lang="zh-CN" altLang="en-US" sz="2400" b="1" i="0" u="none" strike="noStrike" kern="0" cap="none" spc="0" normalizeH="0" baseline="0" noProof="1">
                <a:solidFill>
                  <a:srgbClr val="3333FF"/>
                </a:solidFill>
                <a:latin typeface="+mn-lt"/>
                <a:ea typeface="+mn-ea"/>
                <a:cs typeface="+mn-cs"/>
                <a:sym typeface="+mn-ea"/>
              </a:rPr>
              <a:t>51单片机汇编语言的语句格式</a:t>
            </a:r>
            <a:r>
              <a:rPr kumimoji="1" lang="zh-CN" altLang="en-US" sz="2400" b="1" i="0" u="none" strike="noStrike" kern="0" cap="none" spc="0" normalizeH="0" baseline="0" noProof="0" dirty="0" smtClean="0">
                <a:ln>
                  <a:noFill/>
                </a:ln>
                <a:solidFill>
                  <a:schemeClr val="tx1"/>
                </a:solidFill>
                <a:effectLst/>
                <a:uLnTx/>
                <a:uFillTx/>
                <a:latin typeface="+mn-lt"/>
                <a:ea typeface="+mn-ea"/>
                <a:cs typeface="+mn-cs"/>
              </a:rPr>
              <a:t>：</a:t>
            </a:r>
            <a:endParaRPr kumimoji="1" lang="zh-CN" altLang="en-US" sz="24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425450" rtl="0" eaLnBrk="0" fontAlgn="base" latinLnBrk="0" hangingPunct="0">
              <a:lnSpc>
                <a:spcPct val="130000"/>
              </a:lnSpc>
              <a:spcBef>
                <a:spcPct val="20000"/>
              </a:spcBef>
              <a:spcAft>
                <a:spcPct val="0"/>
              </a:spcAft>
              <a:buClr>
                <a:schemeClr val="tx1"/>
              </a:buClr>
              <a:buSzTx/>
              <a:buFont typeface="Wingdings" panose="05000000000000000000" pitchFamily="2" charset="2"/>
              <a:buNone/>
              <a:defRPr/>
            </a:pPr>
            <a:endParaRPr kumimoji="1" lang="en-US" altLang="zh-CN" sz="2000" b="1" i="0" u="none" strike="noStrike" kern="0" cap="none" spc="0" normalizeH="0" baseline="0" noProof="0" dirty="0" smtClean="0">
              <a:ln>
                <a:noFill/>
              </a:ln>
              <a:solidFill>
                <a:schemeClr val="accent2"/>
              </a:solidFill>
              <a:effectLst/>
              <a:uLnTx/>
              <a:uFillTx/>
              <a:latin typeface="+mn-lt"/>
              <a:ea typeface="+mn-ea"/>
              <a:cs typeface="+mn-cs"/>
            </a:endParaRPr>
          </a:p>
          <a:p>
            <a:pPr marL="812800" marR="0" lvl="0" indent="0" algn="l" defTabSz="425450" rtl="0" eaLnBrk="0" fontAlgn="base" latinLnBrk="0" hangingPunct="0">
              <a:lnSpc>
                <a:spcPct val="130000"/>
              </a:lnSpc>
              <a:spcBef>
                <a:spcPct val="20000"/>
              </a:spcBef>
              <a:spcAft>
                <a:spcPct val="0"/>
              </a:spcAft>
              <a:buClr>
                <a:schemeClr val="tx1"/>
              </a:buClr>
              <a:buSzTx/>
              <a:buFont typeface="Wingdings" panose="05000000000000000000" pitchFamily="2" charset="2"/>
              <a:buChar char="Ø"/>
              <a:defRPr/>
            </a:pPr>
            <a:r>
              <a:rPr kumimoji="1" lang="zh-CN" altLang="en-US" sz="2400" b="1" i="0" u="none" strike="noStrike" kern="0" cap="none" spc="0" normalizeH="0" baseline="0" noProof="0" dirty="0" smtClean="0">
                <a:ln>
                  <a:noFill/>
                </a:ln>
                <a:solidFill>
                  <a:schemeClr val="accent2"/>
                </a:solidFill>
                <a:effectLst/>
                <a:uLnTx/>
                <a:uFillTx/>
                <a:latin typeface="+mn-lt"/>
                <a:ea typeface="+mn-ea"/>
                <a:cs typeface="+mn-cs"/>
              </a:rPr>
              <a:t> </a:t>
            </a:r>
            <a:r>
              <a:rPr kumimoji="1" lang="zh-CN" altLang="en-US" sz="2400" b="1" i="0" u="none" strike="noStrike" kern="0" cap="none" spc="0" normalizeH="0" baseline="0" noProof="1">
                <a:solidFill>
                  <a:srgbClr val="3333FF"/>
                </a:solidFill>
                <a:latin typeface="+mn-lt"/>
                <a:ea typeface="+mn-ea"/>
                <a:cs typeface="+mn-cs"/>
                <a:sym typeface="+mn-ea"/>
              </a:rPr>
              <a:t>51单片机指令系统操作码助记符按功能分为</a:t>
            </a:r>
            <a:r>
              <a:rPr kumimoji="1" lang="zh-CN" altLang="en-US" sz="2400" b="1" i="0" u="none" strike="noStrike" kern="0" cap="none" spc="0" normalizeH="0" baseline="0" noProof="1">
                <a:solidFill>
                  <a:srgbClr val="FF0000"/>
                </a:solidFill>
                <a:latin typeface="+mn-lt"/>
                <a:ea typeface="+mn-ea"/>
                <a:cs typeface="+mn-cs"/>
                <a:sym typeface="+mn-ea"/>
              </a:rPr>
              <a:t>五大类</a:t>
            </a:r>
            <a:r>
              <a:rPr kumimoji="1" lang="zh-CN" altLang="en-US" sz="2400" b="1" i="0" u="none" strike="noStrike" kern="0" cap="none" spc="0" normalizeH="0" baseline="0" noProof="1">
                <a:solidFill>
                  <a:srgbClr val="3333FF"/>
                </a:solidFill>
                <a:latin typeface="+mn-lt"/>
                <a:ea typeface="+mn-ea"/>
                <a:cs typeface="+mn-cs"/>
                <a:sym typeface="+mn-ea"/>
              </a:rPr>
              <a:t>，下面分别加以介绍。为了便于理解和记忆，对每个助记符给出了英语原文和中文含义。</a:t>
            </a:r>
            <a:endParaRPr kumimoji="1" lang="zh-CN" altLang="en-US" sz="2400" b="1" i="0" u="none" strike="noStrike" kern="0" cap="none" spc="0" normalizeH="0" baseline="0" noProof="1">
              <a:solidFill>
                <a:srgbClr val="3333FF"/>
              </a:solidFill>
              <a:latin typeface="+mn-lt"/>
              <a:ea typeface="+mn-ea"/>
              <a:cs typeface="+mn-cs"/>
            </a:endParaRPr>
          </a:p>
          <a:p>
            <a:pPr marL="812800" marR="0" lvl="0" indent="0" algn="l" defTabSz="425450" rtl="0" eaLnBrk="0" fontAlgn="base" latinLnBrk="0" hangingPunct="0">
              <a:lnSpc>
                <a:spcPct val="130000"/>
              </a:lnSpc>
              <a:spcBef>
                <a:spcPct val="20000"/>
              </a:spcBef>
              <a:spcAft>
                <a:spcPct val="0"/>
              </a:spcAft>
              <a:buClr>
                <a:schemeClr val="tx1"/>
              </a:buClr>
              <a:buSzTx/>
              <a:buFont typeface="Wingdings" panose="05000000000000000000" pitchFamily="2" charset="2"/>
              <a:buChar char="Ø"/>
              <a:defRPr/>
            </a:pPr>
            <a:endParaRPr kumimoji="1" lang="en-US" altLang="zh-CN" sz="24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425450" rtl="0" eaLnBrk="0" fontAlgn="base" latinLnBrk="0" hangingPunct="0">
              <a:lnSpc>
                <a:spcPct val="130000"/>
              </a:lnSpc>
              <a:spcBef>
                <a:spcPct val="20000"/>
              </a:spcBef>
              <a:spcAft>
                <a:spcPct val="0"/>
              </a:spcAft>
              <a:buClr>
                <a:schemeClr val="folHlink"/>
              </a:buClr>
              <a:buSzTx/>
              <a:buFont typeface="Wingdings" panose="05000000000000000000" pitchFamily="2" charset="2"/>
              <a:buChar char="v"/>
              <a:defRPr/>
            </a:pPr>
            <a:endParaRPr kumimoji="1" lang="zh-CN" altLang="en-US" sz="2400" b="1" i="0" u="none" strike="noStrike" kern="0" cap="none" spc="0" normalizeH="0" baseline="0" noProof="0" dirty="0" smtClean="0">
              <a:ln>
                <a:noFill/>
              </a:ln>
              <a:solidFill>
                <a:schemeClr val="tx1"/>
              </a:solidFill>
              <a:effectLst/>
              <a:uLnTx/>
              <a:uFillTx/>
              <a:latin typeface="+mn-lt"/>
              <a:ea typeface="+mn-ea"/>
              <a:cs typeface="+mn-cs"/>
            </a:endParaRPr>
          </a:p>
        </p:txBody>
      </p:sp>
      <p:sp>
        <p:nvSpPr>
          <p:cNvPr id="87042" name="Rectangle 2"/>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第三章     </a:t>
            </a:r>
            <a:r>
              <a:rPr kumimoji="1" lang="en-US" altLang="zh-CN"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9939" name="Rectangle 6"/>
          <p:cNvSpPr/>
          <p:nvPr/>
        </p:nvSpPr>
        <p:spPr>
          <a:xfrm>
            <a:off x="395288" y="981075"/>
            <a:ext cx="4060825" cy="565150"/>
          </a:xfrm>
          <a:prstGeom prst="rect">
            <a:avLst/>
          </a:prstGeom>
          <a:noFill/>
          <a:ln w="9525">
            <a:noFill/>
          </a:ln>
        </p:spPr>
        <p:txBody>
          <a:bodyPr wrap="square" anchor="t" anchorCtr="0">
            <a:spAutoFit/>
          </a:bodyPr>
          <a:p>
            <a:pPr>
              <a:lnSpc>
                <a:spcPct val="110000"/>
              </a:lnSpc>
              <a:spcBef>
                <a:spcPct val="20000"/>
              </a:spcBef>
              <a:buClrTx/>
              <a:buFontTx/>
            </a:pPr>
            <a:r>
              <a:rPr lang="en-US" altLang="zh-CN" sz="2800" dirty="0">
                <a:solidFill>
                  <a:srgbClr val="FF0000"/>
                </a:solidFill>
                <a:latin typeface="黑体" panose="02010609060101010101" pitchFamily="49" charset="-122"/>
                <a:ea typeface="黑体" panose="02010609060101010101" pitchFamily="49" charset="-122"/>
              </a:rPr>
              <a:t>3-1  </a:t>
            </a:r>
            <a:r>
              <a:rPr lang="zh-CN" altLang="en-US" sz="2800" dirty="0">
                <a:solidFill>
                  <a:srgbClr val="FF0000"/>
                </a:solidFill>
                <a:latin typeface="黑体" panose="02010609060101010101" pitchFamily="49" charset="-122"/>
                <a:ea typeface="黑体" panose="02010609060101010101" pitchFamily="49" charset="-122"/>
              </a:rPr>
              <a:t>指令系统概述</a:t>
            </a:r>
            <a:endParaRPr lang="zh-CN" altLang="en-US" sz="2800" dirty="0">
              <a:solidFill>
                <a:srgbClr val="FF0000"/>
              </a:solidFill>
              <a:latin typeface="黑体" panose="02010609060101010101" pitchFamily="49" charset="-122"/>
              <a:ea typeface="黑体" panose="02010609060101010101" pitchFamily="49"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第三章     </a:t>
            </a:r>
            <a:r>
              <a:rPr kumimoji="1" lang="en-US" altLang="zh-CN"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40962" name="标题 1"/>
          <p:cNvSpPr>
            <a:spLocks noGrp="1"/>
          </p:cNvSpPr>
          <p:nvPr/>
        </p:nvSpPr>
        <p:spPr>
          <a:xfrm>
            <a:off x="647700" y="701675"/>
            <a:ext cx="7848600" cy="1143000"/>
          </a:xfrm>
          <a:prstGeom prst="rect">
            <a:avLst/>
          </a:prstGeom>
          <a:noFill/>
          <a:ln w="9525">
            <a:noFill/>
          </a:ln>
        </p:spPr>
        <p:txBody>
          <a:bodyPr anchor="ctr" anchorCtr="0"/>
          <a:p>
            <a:pPr algn="ctr"/>
            <a:r>
              <a:rPr lang="zh-CN" altLang="en-US" sz="3200">
                <a:solidFill>
                  <a:srgbClr val="3333FF"/>
                </a:solidFill>
                <a:latin typeface="Times New Roman" panose="02020503050405090304" pitchFamily="18" charset="0"/>
                <a:ea typeface="楷体_GB2312" pitchFamily="49" charset="-122"/>
              </a:rPr>
              <a:t>1. 数据传送类指令</a:t>
            </a:r>
            <a:endParaRPr lang="zh-CN" altLang="en-US" sz="3200">
              <a:solidFill>
                <a:srgbClr val="3333FF"/>
              </a:solidFill>
              <a:latin typeface="Times New Roman" panose="02020503050405090304" pitchFamily="18" charset="0"/>
              <a:ea typeface="楷体_GB2312" pitchFamily="49" charset="-122"/>
            </a:endParaRPr>
          </a:p>
        </p:txBody>
      </p:sp>
      <p:sp>
        <p:nvSpPr>
          <p:cNvPr id="40963" name="内容占位符 2"/>
          <p:cNvSpPr>
            <a:spLocks noGrp="1"/>
          </p:cNvSpPr>
          <p:nvPr>
            <p:ph idx="4294967295"/>
          </p:nvPr>
        </p:nvSpPr>
        <p:spPr>
          <a:xfrm>
            <a:off x="346075" y="1666875"/>
            <a:ext cx="8451850" cy="4114800"/>
          </a:xfrm>
        </p:spPr>
        <p:txBody>
          <a:bodyPr anchor="t" anchorCtr="0"/>
          <a:p>
            <a:r>
              <a:rPr lang="zh-CN" altLang="en-US" sz="2400">
                <a:solidFill>
                  <a:srgbClr val="3333FF"/>
                </a:solidFill>
              </a:rPr>
              <a:t>（1）MOV：Move，对内部数据寄存器RAM和特殊功能寄存器SFR的数据进行传送。</a:t>
            </a:r>
            <a:endParaRPr lang="zh-CN" altLang="en-US" sz="2400">
              <a:solidFill>
                <a:srgbClr val="3333FF"/>
              </a:solidFill>
            </a:endParaRPr>
          </a:p>
          <a:p>
            <a:r>
              <a:rPr lang="zh-CN" altLang="en-US" sz="2400">
                <a:solidFill>
                  <a:srgbClr val="3333FF"/>
                </a:solidFill>
              </a:rPr>
              <a:t>（2）MOVC：Move Code，读取程序存储器数据表格的数据进行传送。</a:t>
            </a:r>
            <a:endParaRPr lang="zh-CN" altLang="en-US" sz="2400">
              <a:solidFill>
                <a:srgbClr val="3333FF"/>
              </a:solidFill>
            </a:endParaRPr>
          </a:p>
          <a:p>
            <a:r>
              <a:rPr lang="zh-CN" altLang="en-US" sz="2400">
                <a:solidFill>
                  <a:srgbClr val="3333FF"/>
                </a:solidFill>
              </a:rPr>
              <a:t>（3）XCH：Exchange，字节交换。</a:t>
            </a:r>
            <a:endParaRPr lang="zh-CN" altLang="en-US" sz="2400">
              <a:solidFill>
                <a:srgbClr val="3333FF"/>
              </a:solidFill>
            </a:endParaRPr>
          </a:p>
          <a:p>
            <a:r>
              <a:rPr lang="zh-CN" altLang="en-US" sz="2400">
                <a:solidFill>
                  <a:srgbClr val="3333FF"/>
                </a:solidFill>
              </a:rPr>
              <a:t>（4）XCHD：Exchange low-order Digit，低半字节交换。</a:t>
            </a:r>
            <a:endParaRPr lang="zh-CN" altLang="en-US" sz="2400">
              <a:solidFill>
                <a:srgbClr val="3333FF"/>
              </a:solidFill>
            </a:endParaRPr>
          </a:p>
          <a:p>
            <a:r>
              <a:rPr lang="zh-CN" altLang="en-US" sz="2400">
                <a:solidFill>
                  <a:srgbClr val="3333FF"/>
                </a:solidFill>
              </a:rPr>
              <a:t>（5）PUSH：Push into Stack，入栈。</a:t>
            </a:r>
            <a:endParaRPr lang="zh-CN" altLang="en-US" sz="2400">
              <a:solidFill>
                <a:srgbClr val="3333FF"/>
              </a:solidFill>
            </a:endParaRPr>
          </a:p>
          <a:p>
            <a:r>
              <a:rPr lang="zh-CN" altLang="en-US" sz="2400">
                <a:solidFill>
                  <a:srgbClr val="3333FF"/>
                </a:solidFill>
              </a:rPr>
              <a:t>（</a:t>
            </a:r>
            <a:r>
              <a:rPr lang="en-US" altLang="zh-CN" sz="2400">
                <a:solidFill>
                  <a:srgbClr val="3333FF"/>
                </a:solidFill>
              </a:rPr>
              <a:t>6</a:t>
            </a:r>
            <a:r>
              <a:rPr lang="zh-CN" altLang="en-US" sz="2400">
                <a:solidFill>
                  <a:srgbClr val="3333FF"/>
                </a:solidFill>
              </a:rPr>
              <a:t>）POP：Pop from Stack；出栈。</a:t>
            </a:r>
            <a:endParaRPr lang="zh-CN" altLang="en-US" sz="2400">
              <a:solidFill>
                <a:srgbClr val="3333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第三章     </a:t>
            </a:r>
            <a:r>
              <a:rPr kumimoji="1" lang="en-US" altLang="zh-CN"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41986" name="标题 1"/>
          <p:cNvSpPr>
            <a:spLocks noGrp="1"/>
          </p:cNvSpPr>
          <p:nvPr/>
        </p:nvSpPr>
        <p:spPr>
          <a:xfrm>
            <a:off x="647700" y="701675"/>
            <a:ext cx="7848600" cy="1143000"/>
          </a:xfrm>
          <a:prstGeom prst="rect">
            <a:avLst/>
          </a:prstGeom>
          <a:noFill/>
          <a:ln w="9525">
            <a:noFill/>
          </a:ln>
        </p:spPr>
        <p:txBody>
          <a:bodyPr anchor="ctr" anchorCtr="0"/>
          <a:p>
            <a:pPr algn="ctr"/>
            <a:r>
              <a:rPr lang="zh-CN" altLang="en-US" sz="3200">
                <a:solidFill>
                  <a:srgbClr val="3333FF"/>
                </a:solidFill>
                <a:latin typeface="Times New Roman" panose="02020503050405090304" pitchFamily="18" charset="0"/>
                <a:ea typeface="楷体_GB2312" pitchFamily="49" charset="-122"/>
              </a:rPr>
              <a:t>2. 算术运算类指令</a:t>
            </a:r>
            <a:endParaRPr lang="zh-CN" altLang="en-US" sz="3200">
              <a:solidFill>
                <a:srgbClr val="3333FF"/>
              </a:solidFill>
              <a:latin typeface="Times New Roman" panose="02020503050405090304" pitchFamily="18" charset="0"/>
              <a:ea typeface="楷体_GB2312" pitchFamily="49" charset="-122"/>
            </a:endParaRPr>
          </a:p>
        </p:txBody>
      </p:sp>
      <p:sp>
        <p:nvSpPr>
          <p:cNvPr id="41987" name="内容占位符 2"/>
          <p:cNvSpPr>
            <a:spLocks noGrp="1"/>
          </p:cNvSpPr>
          <p:nvPr>
            <p:ph idx="4294967295"/>
          </p:nvPr>
        </p:nvSpPr>
        <p:spPr>
          <a:xfrm>
            <a:off x="346075" y="1666875"/>
            <a:ext cx="8451850" cy="4114800"/>
          </a:xfrm>
        </p:spPr>
        <p:txBody>
          <a:bodyPr anchor="t" anchorCtr="0"/>
          <a:p>
            <a:r>
              <a:rPr lang="zh-CN" altLang="en-US" sz="2400">
                <a:solidFill>
                  <a:srgbClr val="3333FF"/>
                </a:solidFill>
              </a:rPr>
              <a:t>（1）ADD：Addition，加法。</a:t>
            </a:r>
            <a:endParaRPr lang="zh-CN" altLang="en-US" sz="2400">
              <a:solidFill>
                <a:srgbClr val="3333FF"/>
              </a:solidFill>
            </a:endParaRPr>
          </a:p>
          <a:p>
            <a:r>
              <a:rPr lang="zh-CN" altLang="en-US" sz="2400">
                <a:solidFill>
                  <a:srgbClr val="3333FF"/>
                </a:solidFill>
              </a:rPr>
              <a:t>（2）ADDC：Addition with Carry，带进位的加法。</a:t>
            </a:r>
            <a:endParaRPr lang="zh-CN" altLang="en-US" sz="2400">
              <a:solidFill>
                <a:srgbClr val="3333FF"/>
              </a:solidFill>
            </a:endParaRPr>
          </a:p>
          <a:p>
            <a:r>
              <a:rPr lang="zh-CN" altLang="en-US" sz="2400">
                <a:solidFill>
                  <a:srgbClr val="3333FF"/>
                </a:solidFill>
              </a:rPr>
              <a:t>（3）SUBB：Subtract with Borrow，带借位的减法。</a:t>
            </a:r>
            <a:endParaRPr lang="zh-CN" altLang="en-US" sz="2400">
              <a:solidFill>
                <a:srgbClr val="3333FF"/>
              </a:solidFill>
            </a:endParaRPr>
          </a:p>
          <a:p>
            <a:r>
              <a:rPr lang="zh-CN" altLang="en-US" sz="2400">
                <a:solidFill>
                  <a:srgbClr val="3333FF"/>
                </a:solidFill>
              </a:rPr>
              <a:t>（4）DA：Decimal Adjust，十进制调制。</a:t>
            </a:r>
            <a:endParaRPr lang="zh-CN" altLang="en-US" sz="2400">
              <a:solidFill>
                <a:srgbClr val="3333FF"/>
              </a:solidFill>
            </a:endParaRPr>
          </a:p>
          <a:p>
            <a:r>
              <a:rPr lang="zh-CN" altLang="en-US" sz="2400">
                <a:solidFill>
                  <a:srgbClr val="3333FF"/>
                </a:solidFill>
              </a:rPr>
              <a:t>（5）INC：Increment，加1。</a:t>
            </a:r>
            <a:endParaRPr lang="zh-CN" altLang="en-US" sz="2400">
              <a:solidFill>
                <a:srgbClr val="3333FF"/>
              </a:solidFill>
            </a:endParaRPr>
          </a:p>
          <a:p>
            <a:r>
              <a:rPr lang="zh-CN" altLang="en-US" sz="2400">
                <a:solidFill>
                  <a:srgbClr val="3333FF"/>
                </a:solidFill>
              </a:rPr>
              <a:t>（6）DEC：Decrement，减1。</a:t>
            </a:r>
            <a:endParaRPr lang="zh-CN" altLang="en-US" sz="2400">
              <a:solidFill>
                <a:srgbClr val="3333FF"/>
              </a:solidFill>
            </a:endParaRPr>
          </a:p>
          <a:p>
            <a:r>
              <a:rPr lang="zh-CN" altLang="en-US" sz="2400">
                <a:solidFill>
                  <a:srgbClr val="3333FF"/>
                </a:solidFill>
              </a:rPr>
              <a:t>（7）MUL：Multiplication、Multiply，乘法。</a:t>
            </a:r>
            <a:endParaRPr lang="zh-CN" altLang="en-US" sz="2400">
              <a:solidFill>
                <a:srgbClr val="3333FF"/>
              </a:solidFill>
            </a:endParaRPr>
          </a:p>
          <a:p>
            <a:r>
              <a:rPr lang="zh-CN" altLang="en-US" sz="2400">
                <a:solidFill>
                  <a:srgbClr val="3333FF"/>
                </a:solidFill>
              </a:rPr>
              <a:t>（8）DIV：Division、Divide，除法。</a:t>
            </a:r>
            <a:endParaRPr lang="zh-CN" altLang="en-US" sz="2400">
              <a:solidFill>
                <a:srgbClr val="3333F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第三章     </a:t>
            </a:r>
            <a:r>
              <a:rPr kumimoji="1" lang="en-US" altLang="zh-CN"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43010" name="标题 1"/>
          <p:cNvSpPr>
            <a:spLocks noGrp="1"/>
          </p:cNvSpPr>
          <p:nvPr/>
        </p:nvSpPr>
        <p:spPr>
          <a:xfrm>
            <a:off x="647700" y="701675"/>
            <a:ext cx="7848600" cy="1143000"/>
          </a:xfrm>
          <a:prstGeom prst="rect">
            <a:avLst/>
          </a:prstGeom>
          <a:noFill/>
          <a:ln w="9525">
            <a:noFill/>
          </a:ln>
        </p:spPr>
        <p:txBody>
          <a:bodyPr anchor="ctr" anchorCtr="0"/>
          <a:p>
            <a:pPr algn="ctr"/>
            <a:r>
              <a:rPr lang="zh-CN" altLang="en-US" sz="3200">
                <a:solidFill>
                  <a:srgbClr val="3333FF"/>
                </a:solidFill>
                <a:latin typeface="Times New Roman" panose="02020503050405090304" pitchFamily="18" charset="0"/>
                <a:ea typeface="楷体_GB2312" pitchFamily="49" charset="-122"/>
              </a:rPr>
              <a:t>3. 逻辑运算类指令 </a:t>
            </a:r>
            <a:endParaRPr lang="zh-CN" altLang="en-US" sz="3200">
              <a:solidFill>
                <a:srgbClr val="3333FF"/>
              </a:solidFill>
              <a:latin typeface="Times New Roman" panose="02020503050405090304" pitchFamily="18" charset="0"/>
              <a:ea typeface="楷体_GB2312" pitchFamily="49" charset="-122"/>
            </a:endParaRPr>
          </a:p>
        </p:txBody>
      </p:sp>
      <p:sp>
        <p:nvSpPr>
          <p:cNvPr id="43011" name="内容占位符 2"/>
          <p:cNvSpPr>
            <a:spLocks noGrp="1"/>
          </p:cNvSpPr>
          <p:nvPr>
            <p:ph idx="4294967295"/>
          </p:nvPr>
        </p:nvSpPr>
        <p:spPr>
          <a:xfrm>
            <a:off x="346075" y="1660525"/>
            <a:ext cx="8451850" cy="4114800"/>
          </a:xfrm>
        </p:spPr>
        <p:txBody>
          <a:bodyPr anchor="t" anchorCtr="0"/>
          <a:p>
            <a:pPr marL="0" indent="0">
              <a:buNone/>
            </a:pPr>
            <a:r>
              <a:rPr lang="zh-CN" altLang="en-US" sz="2000">
                <a:solidFill>
                  <a:srgbClr val="3333FF"/>
                </a:solidFill>
              </a:rPr>
              <a:t>（1）ANL：AND Logic，逻辑与。</a:t>
            </a:r>
            <a:endParaRPr lang="zh-CN" altLang="en-US" sz="2000">
              <a:solidFill>
                <a:srgbClr val="3333FF"/>
              </a:solidFill>
            </a:endParaRPr>
          </a:p>
          <a:p>
            <a:pPr marL="0" indent="0">
              <a:buNone/>
            </a:pPr>
            <a:r>
              <a:rPr lang="zh-CN" altLang="en-US" sz="2000">
                <a:solidFill>
                  <a:srgbClr val="3333FF"/>
                </a:solidFill>
              </a:rPr>
              <a:t>（2）ORL：OR Logic，逻辑或。</a:t>
            </a:r>
            <a:endParaRPr lang="zh-CN" altLang="en-US" sz="2000">
              <a:solidFill>
                <a:srgbClr val="3333FF"/>
              </a:solidFill>
            </a:endParaRPr>
          </a:p>
          <a:p>
            <a:pPr marL="0" indent="0">
              <a:buNone/>
            </a:pPr>
            <a:r>
              <a:rPr lang="zh-CN" altLang="en-US" sz="2000">
                <a:solidFill>
                  <a:srgbClr val="3333FF"/>
                </a:solidFill>
              </a:rPr>
              <a:t>（3）XRL：Exclusive-OR Logic，逻辑异或。</a:t>
            </a:r>
            <a:endParaRPr lang="zh-CN" altLang="en-US" sz="2000">
              <a:solidFill>
                <a:srgbClr val="3333FF"/>
              </a:solidFill>
            </a:endParaRPr>
          </a:p>
          <a:p>
            <a:pPr marL="0" indent="0">
              <a:buNone/>
            </a:pPr>
            <a:r>
              <a:rPr lang="zh-CN" altLang="en-US" sz="2000">
                <a:solidFill>
                  <a:srgbClr val="3333FF"/>
                </a:solidFill>
              </a:rPr>
              <a:t>（4）CLR：Clear，清0。</a:t>
            </a:r>
            <a:endParaRPr lang="zh-CN" altLang="en-US" sz="2000">
              <a:solidFill>
                <a:srgbClr val="3333FF"/>
              </a:solidFill>
            </a:endParaRPr>
          </a:p>
          <a:p>
            <a:pPr marL="0" indent="0">
              <a:buNone/>
            </a:pPr>
            <a:r>
              <a:rPr lang="zh-CN" altLang="en-US" sz="2000">
                <a:solidFill>
                  <a:srgbClr val="3333FF"/>
                </a:solidFill>
              </a:rPr>
              <a:t>（5）CPL：Complement，取反。</a:t>
            </a:r>
            <a:endParaRPr lang="zh-CN" altLang="en-US" sz="2000">
              <a:solidFill>
                <a:srgbClr val="3333FF"/>
              </a:solidFill>
            </a:endParaRPr>
          </a:p>
          <a:p>
            <a:pPr marL="0" indent="0">
              <a:buNone/>
            </a:pPr>
            <a:r>
              <a:rPr lang="zh-CN" altLang="en-US" sz="2000">
                <a:solidFill>
                  <a:srgbClr val="3333FF"/>
                </a:solidFill>
              </a:rPr>
              <a:t>（6）RL：Rotate Left，循环左移。</a:t>
            </a:r>
            <a:endParaRPr lang="zh-CN" altLang="en-US" sz="2000">
              <a:solidFill>
                <a:srgbClr val="3333FF"/>
              </a:solidFill>
            </a:endParaRPr>
          </a:p>
          <a:p>
            <a:pPr marL="0" indent="0">
              <a:buNone/>
            </a:pPr>
            <a:r>
              <a:rPr lang="zh-CN" altLang="en-US" sz="2000">
                <a:solidFill>
                  <a:srgbClr val="3333FF"/>
                </a:solidFill>
              </a:rPr>
              <a:t>（7）RLC：Rotate Left through the Carry flag，带进位循环左移。</a:t>
            </a:r>
            <a:endParaRPr lang="zh-CN" altLang="en-US" sz="2000">
              <a:solidFill>
                <a:srgbClr val="3333FF"/>
              </a:solidFill>
            </a:endParaRPr>
          </a:p>
          <a:p>
            <a:pPr marL="0" indent="0">
              <a:buNone/>
            </a:pPr>
            <a:r>
              <a:rPr lang="zh-CN" altLang="en-US" sz="2000">
                <a:solidFill>
                  <a:srgbClr val="3333FF"/>
                </a:solidFill>
              </a:rPr>
              <a:t>（8）RR：Rotate Right，循环右移。</a:t>
            </a:r>
            <a:endParaRPr lang="zh-CN" altLang="en-US" sz="2000">
              <a:solidFill>
                <a:srgbClr val="3333FF"/>
              </a:solidFill>
            </a:endParaRPr>
          </a:p>
          <a:p>
            <a:pPr marL="0" indent="0">
              <a:buNone/>
            </a:pPr>
            <a:r>
              <a:rPr lang="zh-CN" altLang="en-US" sz="2000">
                <a:solidFill>
                  <a:srgbClr val="3333FF"/>
                </a:solidFill>
              </a:rPr>
              <a:t>（9）RRC：Rotate Right  through the Carry flag，带进位循环右移。 </a:t>
            </a:r>
            <a:endParaRPr lang="zh-CN" altLang="en-US" sz="2000">
              <a:solidFill>
                <a:srgbClr val="3333FF"/>
              </a:solidFill>
            </a:endParaRPr>
          </a:p>
          <a:p>
            <a:pPr marL="0" indent="0">
              <a:buNone/>
            </a:pPr>
            <a:r>
              <a:rPr lang="zh-CN" altLang="en-US" sz="2000">
                <a:solidFill>
                  <a:srgbClr val="3333FF"/>
                </a:solidFill>
              </a:rPr>
              <a:t>（10）SWAP：Swap，低四位和高四位交换。</a:t>
            </a:r>
            <a:endParaRPr lang="zh-CN" altLang="en-US" sz="2000">
              <a:solidFill>
                <a:srgbClr val="3333FF"/>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第三章     </a:t>
            </a:r>
            <a:r>
              <a:rPr kumimoji="1" lang="en-US" altLang="zh-CN"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44034" name="标题 1"/>
          <p:cNvSpPr>
            <a:spLocks noGrp="1"/>
          </p:cNvSpPr>
          <p:nvPr/>
        </p:nvSpPr>
        <p:spPr>
          <a:xfrm>
            <a:off x="647700" y="701675"/>
            <a:ext cx="7848600" cy="1143000"/>
          </a:xfrm>
          <a:prstGeom prst="rect">
            <a:avLst/>
          </a:prstGeom>
          <a:noFill/>
          <a:ln w="9525">
            <a:noFill/>
          </a:ln>
        </p:spPr>
        <p:txBody>
          <a:bodyPr anchor="ctr" anchorCtr="0"/>
          <a:p>
            <a:pPr algn="ctr"/>
            <a:r>
              <a:rPr lang="zh-CN" altLang="en-US" sz="3200">
                <a:solidFill>
                  <a:srgbClr val="3333FF"/>
                </a:solidFill>
                <a:latin typeface="Times New Roman" panose="02020503050405090304" pitchFamily="18" charset="0"/>
                <a:ea typeface="楷体_GB2312" pitchFamily="49" charset="-122"/>
              </a:rPr>
              <a:t>4.控制转移类指令</a:t>
            </a:r>
            <a:endParaRPr lang="zh-CN" altLang="en-US" sz="3200">
              <a:solidFill>
                <a:srgbClr val="3333FF"/>
              </a:solidFill>
              <a:latin typeface="Times New Roman" panose="02020503050405090304" pitchFamily="18" charset="0"/>
              <a:ea typeface="楷体_GB2312" pitchFamily="49" charset="-122"/>
            </a:endParaRPr>
          </a:p>
        </p:txBody>
      </p:sp>
      <p:sp>
        <p:nvSpPr>
          <p:cNvPr id="44035" name="内容占位符 2"/>
          <p:cNvSpPr>
            <a:spLocks noGrp="1"/>
          </p:cNvSpPr>
          <p:nvPr>
            <p:ph idx="4294967295"/>
          </p:nvPr>
        </p:nvSpPr>
        <p:spPr>
          <a:xfrm>
            <a:off x="346075" y="1666875"/>
            <a:ext cx="8451850" cy="4114800"/>
          </a:xfrm>
        </p:spPr>
        <p:txBody>
          <a:bodyPr anchor="t" anchorCtr="0"/>
          <a:p>
            <a:r>
              <a:rPr lang="zh-CN" altLang="en-US" sz="2400">
                <a:solidFill>
                  <a:srgbClr val="3333FF"/>
                </a:solidFill>
              </a:rPr>
              <a:t>（1）ACALL：Absolute subroutine Call，子程序绝对调用。</a:t>
            </a:r>
            <a:endParaRPr lang="zh-CN" altLang="en-US" sz="2400">
              <a:solidFill>
                <a:srgbClr val="3333FF"/>
              </a:solidFill>
            </a:endParaRPr>
          </a:p>
          <a:p>
            <a:r>
              <a:rPr lang="zh-CN" altLang="en-US" sz="2400">
                <a:solidFill>
                  <a:srgbClr val="3333FF"/>
                </a:solidFill>
              </a:rPr>
              <a:t>（2）LCALL：Long subroutine Call，子程序长调用。</a:t>
            </a:r>
            <a:endParaRPr lang="zh-CN" altLang="en-US" sz="2400">
              <a:solidFill>
                <a:srgbClr val="3333FF"/>
              </a:solidFill>
            </a:endParaRPr>
          </a:p>
          <a:p>
            <a:r>
              <a:rPr lang="zh-CN" altLang="en-US" sz="2400">
                <a:solidFill>
                  <a:srgbClr val="3333FF"/>
                </a:solidFill>
              </a:rPr>
              <a:t>（3）RET：Return from subroutine ，子程序返回。</a:t>
            </a:r>
            <a:endParaRPr lang="zh-CN" altLang="en-US" sz="2400">
              <a:solidFill>
                <a:srgbClr val="3333FF"/>
              </a:solidFill>
            </a:endParaRPr>
          </a:p>
          <a:p>
            <a:r>
              <a:rPr lang="zh-CN" altLang="en-US" sz="2400">
                <a:solidFill>
                  <a:srgbClr val="3333FF"/>
                </a:solidFill>
              </a:rPr>
              <a:t>（4）RETI：Return from Interruption，中断返回。</a:t>
            </a:r>
            <a:endParaRPr lang="zh-CN" altLang="en-US" sz="2400">
              <a:solidFill>
                <a:srgbClr val="3333FF"/>
              </a:solidFill>
            </a:endParaRPr>
          </a:p>
          <a:p>
            <a:r>
              <a:rPr lang="zh-CN" altLang="en-US" sz="2400">
                <a:solidFill>
                  <a:srgbClr val="3333FF"/>
                </a:solidFill>
              </a:rPr>
              <a:t>（5）AJMP：Absolute Jump，绝对跳转。</a:t>
            </a:r>
            <a:endParaRPr lang="zh-CN" altLang="en-US" sz="2400">
              <a:solidFill>
                <a:srgbClr val="3333FF"/>
              </a:solidFill>
            </a:endParaRPr>
          </a:p>
          <a:p>
            <a:r>
              <a:rPr lang="zh-CN" altLang="en-US" sz="2400">
                <a:solidFill>
                  <a:srgbClr val="3333FF"/>
                </a:solidFill>
              </a:rPr>
              <a:t>（6）LJMP：Long Jump，长跳转。</a:t>
            </a:r>
            <a:endParaRPr lang="zh-CN" altLang="en-US" sz="2400">
              <a:solidFill>
                <a:srgbClr val="3333FF"/>
              </a:solidFill>
            </a:endParaRPr>
          </a:p>
          <a:p>
            <a:r>
              <a:rPr lang="zh-CN" altLang="en-US" sz="2400">
                <a:solidFill>
                  <a:srgbClr val="3333FF"/>
                </a:solidFill>
              </a:rPr>
              <a:t>（7）SJMP：Short Jump，短跳转。</a:t>
            </a:r>
            <a:endParaRPr lang="zh-CN" altLang="en-US" sz="2400">
              <a:solidFill>
                <a:srgbClr val="3333FF"/>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第三章     </a:t>
            </a:r>
            <a:r>
              <a:rPr kumimoji="1" lang="en-US" altLang="zh-CN"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45058" name="标题 1"/>
          <p:cNvSpPr>
            <a:spLocks noGrp="1"/>
          </p:cNvSpPr>
          <p:nvPr/>
        </p:nvSpPr>
        <p:spPr>
          <a:xfrm>
            <a:off x="647700" y="701675"/>
            <a:ext cx="7848600" cy="1143000"/>
          </a:xfrm>
          <a:prstGeom prst="rect">
            <a:avLst/>
          </a:prstGeom>
          <a:noFill/>
          <a:ln w="9525">
            <a:noFill/>
          </a:ln>
        </p:spPr>
        <p:txBody>
          <a:bodyPr anchor="ctr" anchorCtr="0"/>
          <a:p>
            <a:pPr algn="ctr"/>
            <a:r>
              <a:rPr lang="zh-CN" altLang="en-US" sz="3200">
                <a:solidFill>
                  <a:srgbClr val="3333FF"/>
                </a:solidFill>
                <a:latin typeface="Times New Roman" panose="02020503050405090304" pitchFamily="18" charset="0"/>
                <a:ea typeface="楷体_GB2312" pitchFamily="49" charset="-122"/>
                <a:sym typeface="楷体_GB2312" pitchFamily="49" charset="-122"/>
              </a:rPr>
              <a:t>4.控制转移类指令</a:t>
            </a:r>
            <a:endParaRPr lang="zh-CN" altLang="en-US" sz="3200">
              <a:solidFill>
                <a:srgbClr val="3333FF"/>
              </a:solidFill>
              <a:latin typeface="Times New Roman" panose="02020503050405090304" pitchFamily="18" charset="0"/>
              <a:ea typeface="楷体_GB2312" pitchFamily="49" charset="-122"/>
            </a:endParaRPr>
          </a:p>
        </p:txBody>
      </p:sp>
      <p:sp>
        <p:nvSpPr>
          <p:cNvPr id="45059" name="内容占位符 2"/>
          <p:cNvSpPr>
            <a:spLocks noGrp="1"/>
          </p:cNvSpPr>
          <p:nvPr>
            <p:ph idx="4294967295"/>
          </p:nvPr>
        </p:nvSpPr>
        <p:spPr>
          <a:xfrm>
            <a:off x="346075" y="1666875"/>
            <a:ext cx="8809038" cy="4114800"/>
          </a:xfrm>
        </p:spPr>
        <p:txBody>
          <a:bodyPr anchor="t" anchorCtr="0"/>
          <a:p>
            <a:r>
              <a:rPr lang="zh-CN" altLang="en-US" sz="2400">
                <a:solidFill>
                  <a:srgbClr val="3333FF"/>
                </a:solidFill>
              </a:rPr>
              <a:t>（8）JMP：Jump，跳转。</a:t>
            </a:r>
            <a:endParaRPr lang="zh-CN" altLang="en-US" sz="2400">
              <a:solidFill>
                <a:srgbClr val="3333FF"/>
              </a:solidFill>
            </a:endParaRPr>
          </a:p>
          <a:p>
            <a:r>
              <a:rPr lang="zh-CN" altLang="en-US" sz="2400">
                <a:solidFill>
                  <a:srgbClr val="3333FF"/>
                </a:solidFill>
              </a:rPr>
              <a:t>（9）CJNE：Compare Jump if Not Equal，比较不相等则转移。</a:t>
            </a:r>
            <a:endParaRPr lang="zh-CN" altLang="en-US" sz="2400">
              <a:solidFill>
                <a:srgbClr val="3333FF"/>
              </a:solidFill>
            </a:endParaRPr>
          </a:p>
          <a:p>
            <a:r>
              <a:rPr lang="zh-CN" altLang="en-US" sz="2400">
                <a:solidFill>
                  <a:srgbClr val="3333FF"/>
                </a:solidFill>
              </a:rPr>
              <a:t>（10）DJNZ：Decrement Jump if Not Zero，减1后不为0则转移。</a:t>
            </a:r>
            <a:endParaRPr lang="zh-CN" altLang="en-US" sz="2400">
              <a:solidFill>
                <a:srgbClr val="3333FF"/>
              </a:solidFill>
            </a:endParaRPr>
          </a:p>
          <a:p>
            <a:r>
              <a:rPr lang="zh-CN" altLang="en-US" sz="2400">
                <a:solidFill>
                  <a:srgbClr val="3333FF"/>
                </a:solidFill>
              </a:rPr>
              <a:t>（11）JZ：Jump if Zero，结果为0则转移。</a:t>
            </a:r>
            <a:endParaRPr lang="zh-CN" altLang="en-US" sz="2400">
              <a:solidFill>
                <a:srgbClr val="3333FF"/>
              </a:solidFill>
            </a:endParaRPr>
          </a:p>
          <a:p>
            <a:r>
              <a:rPr lang="zh-CN" altLang="en-US" sz="2400">
                <a:solidFill>
                  <a:srgbClr val="3333FF"/>
                </a:solidFill>
              </a:rPr>
              <a:t>（12）JNZ：Jump if Not Zero，结果不为0则转移。</a:t>
            </a:r>
            <a:endParaRPr lang="zh-CN" altLang="en-US" sz="2400">
              <a:solidFill>
                <a:srgbClr val="3333FF"/>
              </a:solidFill>
            </a:endParaRPr>
          </a:p>
          <a:p>
            <a:r>
              <a:rPr lang="zh-CN" altLang="en-US" sz="2400">
                <a:solidFill>
                  <a:srgbClr val="3333FF"/>
                </a:solidFill>
              </a:rPr>
              <a:t>（13）JC：Jump if the Carry flag is set，有进位则转移。</a:t>
            </a:r>
            <a:endParaRPr lang="zh-CN" altLang="en-US" sz="2400">
              <a:solidFill>
                <a:srgbClr val="3333FF"/>
              </a:solidFill>
            </a:endParaRPr>
          </a:p>
          <a:p>
            <a:r>
              <a:rPr lang="zh-CN" altLang="en-US" sz="2400">
                <a:solidFill>
                  <a:srgbClr val="3333FF"/>
                </a:solidFill>
              </a:rPr>
              <a:t>（14）JNC：Jump if Not Carry，无进位则转移。</a:t>
            </a:r>
            <a:endParaRPr lang="zh-CN" altLang="en-US" sz="2400">
              <a:solidFill>
                <a:srgbClr val="3333FF"/>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第三章     </a:t>
            </a:r>
            <a:r>
              <a:rPr kumimoji="1" lang="en-US" altLang="zh-CN"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46082" name="标题 1"/>
          <p:cNvSpPr>
            <a:spLocks noGrp="1"/>
          </p:cNvSpPr>
          <p:nvPr/>
        </p:nvSpPr>
        <p:spPr>
          <a:xfrm>
            <a:off x="647700" y="701675"/>
            <a:ext cx="7848600" cy="1143000"/>
          </a:xfrm>
          <a:prstGeom prst="rect">
            <a:avLst/>
          </a:prstGeom>
          <a:noFill/>
          <a:ln w="9525">
            <a:noFill/>
          </a:ln>
        </p:spPr>
        <p:txBody>
          <a:bodyPr anchor="ctr" anchorCtr="0"/>
          <a:p>
            <a:pPr algn="ctr"/>
            <a:r>
              <a:rPr lang="zh-CN" altLang="en-US" sz="3200">
                <a:solidFill>
                  <a:srgbClr val="3333FF"/>
                </a:solidFill>
                <a:latin typeface="Times New Roman" panose="02020503050405090304" pitchFamily="18" charset="0"/>
                <a:ea typeface="楷体_GB2312" pitchFamily="49" charset="-122"/>
                <a:sym typeface="楷体_GB2312" pitchFamily="49" charset="-122"/>
              </a:rPr>
              <a:t>4.控制转移类指令</a:t>
            </a:r>
            <a:endParaRPr lang="zh-CN" altLang="en-US" sz="3200">
              <a:solidFill>
                <a:srgbClr val="3333FF"/>
              </a:solidFill>
              <a:latin typeface="Times New Roman" panose="02020503050405090304" pitchFamily="18" charset="0"/>
              <a:ea typeface="楷体_GB2312" pitchFamily="49" charset="-122"/>
            </a:endParaRPr>
          </a:p>
        </p:txBody>
      </p:sp>
      <p:sp>
        <p:nvSpPr>
          <p:cNvPr id="46083" name="内容占位符 2"/>
          <p:cNvSpPr>
            <a:spLocks noGrp="1"/>
          </p:cNvSpPr>
          <p:nvPr>
            <p:ph idx="4294967295"/>
          </p:nvPr>
        </p:nvSpPr>
        <p:spPr>
          <a:xfrm>
            <a:off x="346075" y="1666875"/>
            <a:ext cx="8809038" cy="2713038"/>
          </a:xfrm>
        </p:spPr>
        <p:txBody>
          <a:bodyPr anchor="t" anchorCtr="0"/>
          <a:p>
            <a:r>
              <a:rPr lang="zh-CN" altLang="en-US" sz="2400">
                <a:solidFill>
                  <a:srgbClr val="3333FF"/>
                </a:solidFill>
                <a:sym typeface="楷体_GB2312" pitchFamily="49" charset="-122"/>
              </a:rPr>
              <a:t>（15）JB：Jump if the Bit is set，位为1则转移。</a:t>
            </a:r>
            <a:endParaRPr lang="zh-CN" altLang="en-US" sz="2400">
              <a:solidFill>
                <a:srgbClr val="3333FF"/>
              </a:solidFill>
            </a:endParaRPr>
          </a:p>
          <a:p>
            <a:r>
              <a:rPr lang="zh-CN" altLang="en-US" sz="2400">
                <a:solidFill>
                  <a:srgbClr val="3333FF"/>
                </a:solidFill>
                <a:sym typeface="楷体_GB2312" pitchFamily="49" charset="-122"/>
              </a:rPr>
              <a:t>（16）JBC：Jump if the Bit is set and Clear the bit，位为1则转移，并清除该位。</a:t>
            </a:r>
            <a:endParaRPr lang="zh-CN" altLang="en-US" sz="2400">
              <a:solidFill>
                <a:srgbClr val="3333FF"/>
              </a:solidFill>
            </a:endParaRPr>
          </a:p>
          <a:p>
            <a:r>
              <a:rPr lang="zh-CN" altLang="en-US" sz="2400">
                <a:solidFill>
                  <a:srgbClr val="3333FF"/>
                </a:solidFill>
                <a:sym typeface="楷体_GB2312" pitchFamily="49" charset="-122"/>
              </a:rPr>
              <a:t>（17）JNB：Jump if the Bit is Not set，位为0则转移。</a:t>
            </a:r>
            <a:endParaRPr lang="zh-CN" altLang="en-US" sz="2400">
              <a:solidFill>
                <a:srgbClr val="3333FF"/>
              </a:solidFill>
            </a:endParaRPr>
          </a:p>
          <a:p>
            <a:r>
              <a:rPr lang="zh-CN" altLang="en-US" sz="2400">
                <a:solidFill>
                  <a:srgbClr val="3333FF"/>
                </a:solidFill>
                <a:sym typeface="楷体_GB2312" pitchFamily="49" charset="-122"/>
              </a:rPr>
              <a:t>（18）NOP： No Operation，空操作</a:t>
            </a:r>
            <a:endParaRPr lang="zh-CN" altLang="en-US" sz="2400">
              <a:solidFill>
                <a:srgbClr val="3333FF"/>
              </a:solidFill>
            </a:endParaRPr>
          </a:p>
        </p:txBody>
      </p:sp>
      <p:sp>
        <p:nvSpPr>
          <p:cNvPr id="2" name="标题 1"/>
          <p:cNvSpPr>
            <a:spLocks noGrp="1"/>
          </p:cNvSpPr>
          <p:nvPr/>
        </p:nvSpPr>
        <p:spPr>
          <a:xfrm>
            <a:off x="647700" y="4265613"/>
            <a:ext cx="7848600" cy="1143000"/>
          </a:xfrm>
          <a:prstGeom prst="rect">
            <a:avLst/>
          </a:prstGeom>
          <a:noFill/>
          <a:ln w="9525">
            <a:noFill/>
          </a:ln>
        </p:spPr>
        <p:txBody>
          <a:bodyPr anchor="ctr" anchorCtr="0"/>
          <a:p>
            <a:pPr algn="ctr"/>
            <a:r>
              <a:rPr lang="zh-CN" altLang="en-US" sz="3200">
                <a:solidFill>
                  <a:srgbClr val="3333FF"/>
                </a:solidFill>
                <a:latin typeface="Times New Roman" panose="02020503050405090304" pitchFamily="18" charset="0"/>
                <a:ea typeface="楷体_GB2312" pitchFamily="49" charset="-122"/>
              </a:rPr>
              <a:t> 5. 位操作指令</a:t>
            </a:r>
            <a:endParaRPr lang="zh-CN" altLang="en-US" sz="3200">
              <a:solidFill>
                <a:srgbClr val="3333FF"/>
              </a:solidFill>
              <a:latin typeface="Times New Roman" panose="02020503050405090304" pitchFamily="18" charset="0"/>
              <a:ea typeface="楷体_GB2312" pitchFamily="49" charset="-122"/>
            </a:endParaRPr>
          </a:p>
        </p:txBody>
      </p:sp>
      <p:sp>
        <p:nvSpPr>
          <p:cNvPr id="38914" name="内容占位符 2"/>
          <p:cNvSpPr>
            <a:spLocks noGrp="1"/>
          </p:cNvSpPr>
          <p:nvPr/>
        </p:nvSpPr>
        <p:spPr>
          <a:xfrm>
            <a:off x="608013" y="5270500"/>
            <a:ext cx="8451850" cy="1241425"/>
          </a:xfrm>
          <a:prstGeom prst="rect">
            <a:avLst/>
          </a:prstGeom>
          <a:noFill/>
          <a:ln w="9525">
            <a:noFill/>
          </a:ln>
        </p:spPr>
        <p:txBody>
          <a:bodyPr anchor="t" anchorCtr="0"/>
          <a:p>
            <a:pPr marL="342900" indent="-342900">
              <a:lnSpc>
                <a:spcPct val="130000"/>
              </a:lnSpc>
              <a:spcBef>
                <a:spcPct val="20000"/>
              </a:spcBef>
              <a:buFont typeface="Wingdings" panose="05000000000000000000" charset="0"/>
              <a:buChar char="Ø"/>
            </a:pPr>
            <a:r>
              <a:rPr lang="en-US" altLang="zh-CN" b="0">
                <a:solidFill>
                  <a:srgbClr val="3333FF"/>
                </a:solidFill>
                <a:latin typeface="Arial" panose="020B0604020202090204" pitchFamily="34" charset="0"/>
                <a:ea typeface="楷体_GB2312" pitchFamily="49" charset="-122"/>
              </a:rPr>
              <a:t>  </a:t>
            </a:r>
            <a:r>
              <a:rPr lang="zh-CN" altLang="en-US" b="0">
                <a:solidFill>
                  <a:srgbClr val="3333FF"/>
                </a:solidFill>
                <a:latin typeface="Arial" panose="020B0604020202090204" pitchFamily="34" charset="0"/>
                <a:ea typeface="楷体_GB2312" pitchFamily="49" charset="-122"/>
              </a:rPr>
              <a:t>SETB：Set Bit，位置1。</a:t>
            </a:r>
            <a:endParaRPr lang="zh-CN" altLang="en-US" b="0">
              <a:solidFill>
                <a:srgbClr val="3333FF"/>
              </a:solidFill>
              <a:latin typeface="Arial" panose="020B0604020202090204" pitchFamily="34" charset="0"/>
              <a:ea typeface="楷体_GB2312" pitchFamily="49" charset="-122"/>
            </a:endParaRPr>
          </a:p>
        </p:txBody>
      </p:sp>
      <p:sp>
        <p:nvSpPr>
          <p:cNvPr id="3" name="动作按钮: 文档 2"/>
          <p:cNvSpPr/>
          <p:nvPr/>
        </p:nvSpPr>
        <p:spPr>
          <a:xfrm>
            <a:off x="6444615" y="5589270"/>
            <a:ext cx="1043940" cy="1043940"/>
          </a:xfrm>
          <a:prstGeom prst="actionButtonDocument">
            <a:avLst/>
          </a:prstGeom>
          <a:noFill/>
          <a:ln w="9525" cap="flat" cmpd="sng" algn="ctr">
            <a:noFill/>
            <a:prstDash val="solid"/>
            <a:round/>
            <a:headEnd type="none" w="med" len="med"/>
            <a:tailEnd type="none" w="med" len="med"/>
          </a:ln>
        </p:spPr>
        <p:txBody>
          <a:bodyPr vert="horz" wrap="square" lIns="91440" tIns="45720" rIns="91440" bIns="45720" numCol="1" anchor="t" anchorCtr="0" compatLnSpc="1">
            <a:spAutoFit/>
          </a:bodyPr>
          <a:p>
            <a:pPr marL="0" marR="0" indent="0" algn="l" defTabSz="914400" rtl="0" eaLnBrk="1" fontAlgn="base" latinLnBrk="0" hangingPunct="1">
              <a:lnSpc>
                <a:spcPct val="100000"/>
              </a:lnSpc>
              <a:spcBef>
                <a:spcPct val="50000"/>
              </a:spcBef>
              <a:spcAft>
                <a:spcPct val="0"/>
              </a:spcAft>
              <a:buClrTx/>
              <a:buSzTx/>
              <a:buFontTx/>
              <a:buNone/>
            </a:pPr>
            <a:endParaRPr kumimoji="1" lang="zh-CN" altLang="en-US" sz="800" b="1" i="0" u="none" strike="noStrike" cap="none" normalizeH="0" baseline="0" smtClean="0">
              <a:ln>
                <a:noFill/>
              </a:ln>
              <a:solidFill>
                <a:schemeClr val="tx1"/>
              </a:solidFill>
              <a:effectLst/>
              <a:latin typeface="Times New Roman" panose="02020503050405090304" pitchFamily="18" charset="0"/>
              <a:ea typeface="仿宋_GB2312" pitchFamily="49" charset="-122"/>
            </a:endParaRPr>
          </a:p>
        </p:txBody>
      </p:sp>
      <p:sp>
        <p:nvSpPr>
          <p:cNvPr id="4" name="圆角矩形 3"/>
          <p:cNvSpPr/>
          <p:nvPr/>
        </p:nvSpPr>
        <p:spPr>
          <a:xfrm>
            <a:off x="7020560" y="5661025"/>
            <a:ext cx="914400" cy="914400"/>
          </a:xfrm>
          <a:prstGeom prst="roundRect">
            <a:avLst/>
          </a:prstGeom>
          <a:noFill/>
          <a:ln w="9525" cap="flat" cmpd="sng" algn="ctr">
            <a:noFill/>
            <a:prstDash val="solid"/>
            <a:round/>
            <a:headEnd type="none" w="med" len="med"/>
            <a:tailEnd type="none" w="med" len="med"/>
          </a:ln>
        </p:spPr>
        <p:txBody>
          <a:bodyPr vert="horz" wrap="square" lIns="91440" tIns="45720" rIns="91440" bIns="45720" numCol="1" anchor="t" anchorCtr="0" compatLnSpc="1">
            <a:spAutoFit/>
          </a:bodyPr>
          <a:p>
            <a:pPr marL="0" marR="0" indent="0" algn="l" defTabSz="914400" rtl="0" eaLnBrk="1" fontAlgn="base" latinLnBrk="0" hangingPunct="1">
              <a:lnSpc>
                <a:spcPct val="100000"/>
              </a:lnSpc>
              <a:spcBef>
                <a:spcPct val="50000"/>
              </a:spcBef>
              <a:spcAft>
                <a:spcPct val="0"/>
              </a:spcAft>
              <a:buClrTx/>
              <a:buSzTx/>
              <a:buFontTx/>
              <a:buNone/>
            </a:pPr>
            <a:endParaRPr kumimoji="1" lang="zh-CN" altLang="en-US" sz="800" b="1" i="0" u="none" strike="noStrike" cap="none" normalizeH="0" baseline="0" smtClean="0">
              <a:ln>
                <a:noFill/>
              </a:ln>
              <a:solidFill>
                <a:schemeClr val="tx1"/>
              </a:solidFill>
              <a:effectLst/>
              <a:latin typeface="Times New Roman" panose="02020503050405090304" pitchFamily="18" charset="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8914"/>
                                        </p:tgtEl>
                                        <p:attrNameLst>
                                          <p:attrName>style.visibility</p:attrName>
                                        </p:attrNameLst>
                                      </p:cBhvr>
                                      <p:to>
                                        <p:strVal val="visible"/>
                                      </p:to>
                                    </p:set>
                                    <p:anim calcmode="lin" valueType="num">
                                      <p:cBhvr additive="base">
                                        <p:cTn id="13" dur="500" fill="hold"/>
                                        <p:tgtEl>
                                          <p:spTgt spid="38914"/>
                                        </p:tgtEl>
                                        <p:attrNameLst>
                                          <p:attrName>ppt_x</p:attrName>
                                        </p:attrNameLst>
                                      </p:cBhvr>
                                      <p:tavLst>
                                        <p:tav tm="0">
                                          <p:val>
                                            <p:strVal val="#ppt_x"/>
                                          </p:val>
                                        </p:tav>
                                        <p:tav tm="100000">
                                          <p:val>
                                            <p:strVal val="#ppt_x"/>
                                          </p:val>
                                        </p:tav>
                                      </p:tavLst>
                                    </p:anim>
                                    <p:anim calcmode="lin" valueType="num">
                                      <p:cBhvr additive="base">
                                        <p:cTn id="14" dur="500" fill="hold"/>
                                        <p:tgtEl>
                                          <p:spTgt spid="389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891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47106" name="Rectangle 5"/>
          <p:cNvSpPr/>
          <p:nvPr/>
        </p:nvSpPr>
        <p:spPr>
          <a:xfrm>
            <a:off x="179388" y="904875"/>
            <a:ext cx="6624637" cy="579438"/>
          </a:xfrm>
          <a:prstGeom prst="rect">
            <a:avLst/>
          </a:prstGeom>
          <a:noFill/>
          <a:ln w="9525">
            <a:noFill/>
          </a:ln>
        </p:spPr>
        <p:txBody>
          <a:bodyPr anchor="t" anchorCtr="0">
            <a:spAutoFit/>
          </a:bodyPr>
          <a:p>
            <a:pPr>
              <a:spcBef>
                <a:spcPct val="50000"/>
              </a:spcBef>
              <a:buClrTx/>
              <a:buFontTx/>
            </a:pPr>
            <a:r>
              <a:rPr lang="zh-CN" altLang="en-US" sz="3200" dirty="0">
                <a:latin typeface="黑体" panose="02010609060101010101" pitchFamily="49" charset="-122"/>
                <a:ea typeface="黑体" panose="02010609060101010101" pitchFamily="49" charset="-122"/>
              </a:rPr>
              <a:t>3-2</a:t>
            </a:r>
            <a:r>
              <a:rPr lang="zh-CN" altLang="en-US" sz="3200" dirty="0">
                <a:solidFill>
                  <a:srgbClr val="FF6600"/>
                </a:solidFill>
                <a:latin typeface="黑体" panose="02010609060101010101" pitchFamily="49" charset="-122"/>
                <a:ea typeface="黑体" panose="02010609060101010101" pitchFamily="49" charset="-122"/>
              </a:rPr>
              <a:t>  </a:t>
            </a:r>
            <a:r>
              <a:rPr lang="zh-CN" altLang="en-US" sz="3200" dirty="0">
                <a:solidFill>
                  <a:srgbClr val="FF6600"/>
                </a:solidFill>
                <a:latin typeface="黑体" panose="02010609060101010101" pitchFamily="49" charset="-122"/>
                <a:ea typeface="黑体" panose="02010609060101010101" pitchFamily="49" charset="-122"/>
                <a:hlinkClick r:id="rId1" action="ppaction://hlinkfile"/>
              </a:rPr>
              <a:t>指令寻址方式</a:t>
            </a:r>
            <a:endParaRPr lang="zh-CN" altLang="en-US" sz="3200" dirty="0">
              <a:solidFill>
                <a:srgbClr val="FF6600"/>
              </a:solidFill>
              <a:latin typeface="黑体" panose="02010609060101010101" pitchFamily="49" charset="-122"/>
              <a:ea typeface="黑体" panose="02010609060101010101" pitchFamily="49" charset="-122"/>
            </a:endParaRPr>
          </a:p>
        </p:txBody>
      </p:sp>
      <p:sp>
        <p:nvSpPr>
          <p:cNvPr id="19461" name="Rectangle 6"/>
          <p:cNvSpPr>
            <a:spLocks noChangeArrowheads="1"/>
          </p:cNvSpPr>
          <p:nvPr/>
        </p:nvSpPr>
        <p:spPr bwMode="auto">
          <a:xfrm>
            <a:off x="250825" y="1490663"/>
            <a:ext cx="8497888" cy="5262563"/>
          </a:xfrm>
          <a:prstGeom prst="rect">
            <a:avLst/>
          </a:prstGeom>
          <a:noFill/>
          <a:ln w="9525" algn="ctr">
            <a:noFill/>
            <a:miter lim="800000"/>
          </a:ln>
          <a:effectLst/>
        </p:spPr>
        <p:txBody>
          <a:bodyPr>
            <a:spAutoFit/>
          </a:bodyPr>
          <a:lstStyle/>
          <a:p>
            <a:pPr marL="0" marR="0" lvl="0" indent="457200" algn="l" defTabSz="914400" rtl="0" eaLnBrk="1" fontAlgn="base" latinLnBrk="0" hangingPunct="1">
              <a:lnSpc>
                <a:spcPct val="130000"/>
              </a:lnSpc>
              <a:spcBef>
                <a:spcPts val="0"/>
              </a:spcBef>
              <a:spcAft>
                <a:spcPct val="0"/>
              </a:spcAft>
              <a:buClrTx/>
              <a:buSzTx/>
              <a:buFontTx/>
              <a:buNone/>
              <a:defRPr/>
            </a:pPr>
            <a:r>
              <a:rPr kumimoji="0" lang="zh-CN" altLang="en-US" sz="2400" b="1" i="0" u="sng" strike="noStrike" kern="1200" cap="none" spc="0" normalizeH="0" baseline="0" noProof="0" dirty="0">
                <a:ln>
                  <a:noFill/>
                </a:ln>
                <a:solidFill>
                  <a:schemeClr val="tx1"/>
                </a:solidFill>
                <a:effectLst/>
                <a:uLnTx/>
                <a:uFillTx/>
                <a:latin typeface="Times New Roman" panose="02020503050405090304" pitchFamily="18" charset="0"/>
                <a:ea typeface="楷体_GB2312" pitchFamily="49" charset="-122"/>
                <a:cs typeface="+mn-cs"/>
              </a:rPr>
              <a:t>寻找操作数的方法叫寻址方式或</a:t>
            </a:r>
            <a:r>
              <a:rPr kumimoji="1" lang="zh-CN" altLang="en-US" sz="24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是指在指令中</a:t>
            </a:r>
            <a:r>
              <a:rPr kumimoji="1" lang="zh-CN" altLang="en-US" sz="2400" b="1" i="0" u="none" strike="noStrike" kern="120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说明操作数所在地址</a:t>
            </a:r>
            <a:r>
              <a:rPr kumimoji="1" lang="zh-CN" altLang="en-US" sz="24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的方法。</a:t>
            </a:r>
            <a:endParaRPr kumimoji="1" lang="en-US" altLang="zh-CN" sz="24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a:p>
            <a:pPr marL="0" marR="0" lvl="0" indent="457200" algn="l" defTabSz="914400" rtl="0" eaLnBrk="1" fontAlgn="base" latinLnBrk="0" hangingPunct="1">
              <a:lnSpc>
                <a:spcPct val="130000"/>
              </a:lnSpc>
              <a:spcBef>
                <a:spcPts val="0"/>
              </a:spcBef>
              <a:spcAft>
                <a:spcPct val="0"/>
              </a:spcAft>
              <a:buClrTx/>
              <a:buSzTx/>
              <a:buFontTx/>
              <a:buNone/>
              <a:defRPr/>
            </a:pPr>
            <a:r>
              <a:rPr kumimoji="1" lang="zh-CN" altLang="en-US" sz="24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有</a:t>
            </a:r>
            <a:r>
              <a:rPr kumimoji="1" lang="en-US" altLang="zh-CN" sz="2400" b="1" i="0" u="none" strike="noStrike" kern="1200" cap="none" spc="0" normalizeH="0" baseline="0" noProof="0" dirty="0">
                <a:ln>
                  <a:noFill/>
                </a:ln>
                <a:solidFill>
                  <a:schemeClr val="accent2"/>
                </a:solidFill>
                <a:effectLst/>
                <a:uLnTx/>
                <a:uFillTx/>
                <a:latin typeface="黑体" panose="02010609060101010101" pitchFamily="49" charset="-122"/>
                <a:ea typeface="黑体" panose="02010609060101010101" pitchFamily="49" charset="-122"/>
                <a:cs typeface="+mn-cs"/>
              </a:rPr>
              <a:t>7</a:t>
            </a:r>
            <a:r>
              <a:rPr kumimoji="1" lang="zh-CN" altLang="en-US" sz="2400" b="1" i="0" u="none" strike="noStrike" kern="1200" cap="none" spc="0" normalizeH="0" baseline="0" noProof="0" dirty="0">
                <a:ln>
                  <a:noFill/>
                </a:ln>
                <a:solidFill>
                  <a:schemeClr val="accent2"/>
                </a:solidFill>
                <a:effectLst/>
                <a:uLnTx/>
                <a:uFillTx/>
                <a:latin typeface="黑体" panose="02010609060101010101" pitchFamily="49" charset="-122"/>
                <a:ea typeface="黑体" panose="02010609060101010101" pitchFamily="49" charset="-122"/>
                <a:cs typeface="+mn-cs"/>
              </a:rPr>
              <a:t>种</a:t>
            </a:r>
            <a:r>
              <a:rPr kumimoji="1" lang="zh-CN" altLang="en-US" sz="24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方式：</a:t>
            </a:r>
            <a:endParaRPr kumimoji="1" lang="en-US" altLang="zh-CN" sz="24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a:p>
            <a:pPr marL="2057400" marR="0" lvl="0" indent="0" algn="l" defTabSz="914400" rtl="0" eaLnBrk="1" fontAlgn="base" latinLnBrk="0" hangingPunct="1">
              <a:lnSpc>
                <a:spcPct val="130000"/>
              </a:lnSpc>
              <a:spcBef>
                <a:spcPts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寄存器寻址方式</a:t>
            </a:r>
            <a:endPar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2057400" marR="0" lvl="0" indent="0" algn="l" defTabSz="914400" rtl="0" eaLnBrk="1" fontAlgn="base" latinLnBrk="0" hangingPunct="1">
              <a:lnSpc>
                <a:spcPct val="130000"/>
              </a:lnSpc>
              <a:spcBef>
                <a:spcPts val="0"/>
              </a:spcBef>
              <a:spcAft>
                <a:spcPct val="0"/>
              </a:spcAft>
              <a:buClrTx/>
              <a:buSzTx/>
              <a:buFontTx/>
              <a:buNone/>
              <a:defRPr/>
            </a:pP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立即寻址方式</a:t>
            </a:r>
            <a:endPar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2057400" marR="0" lvl="0" indent="0" algn="l" defTabSz="914400" rtl="0" eaLnBrk="1" fontAlgn="base" latinLnBrk="0" hangingPunct="1">
              <a:lnSpc>
                <a:spcPct val="130000"/>
              </a:lnSpc>
              <a:spcBef>
                <a:spcPts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直接寻址方式</a:t>
            </a:r>
            <a:endPar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2057400" marR="0" lvl="0" indent="0" algn="l" defTabSz="914400" rtl="0" eaLnBrk="1" fontAlgn="base" latinLnBrk="0" hangingPunct="1">
              <a:lnSpc>
                <a:spcPct val="130000"/>
              </a:lnSpc>
              <a:spcBef>
                <a:spcPts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寄存器间接寻址方式</a:t>
            </a:r>
            <a:endPar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2057400" marR="0" lvl="0" indent="0" algn="l" defTabSz="914400" rtl="0" eaLnBrk="1" fontAlgn="base" latinLnBrk="0" hangingPunct="1">
              <a:lnSpc>
                <a:spcPct val="130000"/>
              </a:lnSpc>
              <a:spcBef>
                <a:spcPts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变址寻址方式</a:t>
            </a:r>
            <a:endPar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2057400" marR="0" lvl="0" indent="0" algn="l" defTabSz="914400" rtl="0" eaLnBrk="1" fontAlgn="base" latinLnBrk="0" hangingPunct="1">
              <a:lnSpc>
                <a:spcPct val="130000"/>
              </a:lnSpc>
              <a:spcBef>
                <a:spcPts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位寻址方式</a:t>
            </a:r>
            <a:endPar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2057400" marR="0" lvl="0" indent="0" algn="l" defTabSz="914400" rtl="0" eaLnBrk="1" fontAlgn="base" latinLnBrk="0" hangingPunct="1">
              <a:lnSpc>
                <a:spcPct val="130000"/>
              </a:lnSpc>
              <a:spcBef>
                <a:spcPts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相对寻址方式 </a:t>
            </a:r>
            <a:endPar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16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48130" name="Rectangle 3"/>
          <p:cNvSpPr/>
          <p:nvPr/>
        </p:nvSpPr>
        <p:spPr>
          <a:xfrm>
            <a:off x="571500" y="1214438"/>
            <a:ext cx="6983413" cy="576262"/>
          </a:xfrm>
          <a:prstGeom prst="rect">
            <a:avLst/>
          </a:prstGeom>
          <a:noFill/>
          <a:ln w="9525">
            <a:noFill/>
          </a:ln>
        </p:spPr>
        <p:txBody>
          <a:bodyPr anchor="t" anchorCtr="0"/>
          <a:p>
            <a:pPr algn="just" eaLnBrk="0" hangingPunct="0"/>
            <a:r>
              <a:rPr lang="zh-CN" altLang="en-US" sz="2800" dirty="0">
                <a:latin typeface="宋体" pitchFamily="2" charset="-122"/>
                <a:ea typeface="仿宋_GB2312" pitchFamily="49" charset="-122"/>
              </a:rPr>
              <a:t>一、</a:t>
            </a:r>
            <a:r>
              <a:rPr lang="zh-CN" altLang="en-US" sz="2800" dirty="0">
                <a:solidFill>
                  <a:srgbClr val="FF0000"/>
                </a:solidFill>
                <a:latin typeface="宋体" pitchFamily="2" charset="-122"/>
                <a:ea typeface="仿宋_GB2312" pitchFamily="49" charset="-122"/>
              </a:rPr>
              <a:t>寄存器寻址方式</a:t>
            </a:r>
            <a:endParaRPr lang="zh-CN" altLang="en-US" sz="2800" dirty="0">
              <a:solidFill>
                <a:srgbClr val="FF0000"/>
              </a:solidFill>
              <a:latin typeface="宋体" pitchFamily="2" charset="-122"/>
              <a:ea typeface="仿宋_GB2312" pitchFamily="49" charset="-122"/>
            </a:endParaRPr>
          </a:p>
        </p:txBody>
      </p:sp>
      <p:sp>
        <p:nvSpPr>
          <p:cNvPr id="7" name="Rectangle 8"/>
          <p:cNvSpPr/>
          <p:nvPr/>
        </p:nvSpPr>
        <p:spPr>
          <a:xfrm>
            <a:off x="684213" y="1928813"/>
            <a:ext cx="7632700" cy="1727200"/>
          </a:xfrm>
          <a:prstGeom prst="rect">
            <a:avLst/>
          </a:prstGeom>
          <a:noFill/>
          <a:ln w="9525">
            <a:noFill/>
          </a:ln>
        </p:spPr>
        <p:txBody>
          <a:bodyPr anchor="t" anchorCtr="0"/>
          <a:p>
            <a:pPr indent="485775" algn="just" eaLnBrk="0" hangingPunct="0">
              <a:buBlip>
                <a:blip r:embed="rId1"/>
              </a:buBlip>
            </a:pPr>
            <a:r>
              <a:rPr lang="zh-CN" altLang="en-US" dirty="0">
                <a:latin typeface="Times New Roman" panose="02020503050405090304" pitchFamily="18" charset="0"/>
                <a:ea typeface="仿宋_GB2312" pitchFamily="49" charset="-122"/>
              </a:rPr>
              <a:t>操作数在寄存器中</a:t>
            </a:r>
            <a:endParaRPr lang="zh-CN" altLang="en-US" dirty="0">
              <a:latin typeface="Times New Roman" panose="02020503050405090304" pitchFamily="18" charset="0"/>
              <a:ea typeface="仿宋_GB2312" pitchFamily="49" charset="-122"/>
            </a:endParaRPr>
          </a:p>
          <a:p>
            <a:pPr indent="485775" algn="just" eaLnBrk="0" hangingPunct="0">
              <a:buBlip>
                <a:blip r:embed="rId1"/>
              </a:buBlip>
            </a:pPr>
            <a:r>
              <a:rPr lang="zh-CN" altLang="en-US" dirty="0">
                <a:latin typeface="Times New Roman" panose="02020503050405090304" pitchFamily="18" charset="0"/>
                <a:ea typeface="仿宋_GB2312" pitchFamily="49" charset="-122"/>
              </a:rPr>
              <a:t>寻址空间：</a:t>
            </a:r>
            <a:endParaRPr lang="zh-CN" altLang="en-US" dirty="0">
              <a:latin typeface="Times New Roman" panose="02020503050405090304" pitchFamily="18" charset="0"/>
              <a:ea typeface="仿宋_GB2312" pitchFamily="49" charset="-122"/>
            </a:endParaRPr>
          </a:p>
          <a:p>
            <a:pPr indent="485775" algn="just" eaLnBrk="0" hangingPunct="0">
              <a:buNone/>
            </a:pPr>
            <a:r>
              <a:rPr lang="en-US" altLang="zh-CN" dirty="0">
                <a:solidFill>
                  <a:srgbClr val="666633"/>
                </a:solidFill>
                <a:latin typeface="Times New Roman" panose="02020503050405090304" pitchFamily="18" charset="0"/>
                <a:ea typeface="仿宋_GB2312" pitchFamily="49" charset="-122"/>
              </a:rPr>
              <a:t>R0</a:t>
            </a:r>
            <a:r>
              <a:rPr lang="en-US" altLang="zh-CN" dirty="0">
                <a:solidFill>
                  <a:srgbClr val="666633"/>
                </a:solidFill>
                <a:latin typeface="Arial Narrow" panose="020B0606020202030204" pitchFamily="34" charset="0"/>
                <a:ea typeface="楷体_GB2312" pitchFamily="49" charset="-122"/>
              </a:rPr>
              <a:t>~</a:t>
            </a:r>
            <a:r>
              <a:rPr lang="en-US" altLang="zh-CN" dirty="0">
                <a:solidFill>
                  <a:srgbClr val="666633"/>
                </a:solidFill>
                <a:latin typeface="Times New Roman" panose="02020503050405090304" pitchFamily="18" charset="0"/>
                <a:ea typeface="仿宋_GB2312" pitchFamily="49" charset="-122"/>
              </a:rPr>
              <a:t>R7</a:t>
            </a:r>
            <a:r>
              <a:rPr lang="zh-CN" altLang="en-US" dirty="0">
                <a:solidFill>
                  <a:srgbClr val="666633"/>
                </a:solidFill>
                <a:latin typeface="Times New Roman" panose="02020503050405090304" pitchFamily="18" charset="0"/>
                <a:ea typeface="仿宋_GB2312" pitchFamily="49" charset="-122"/>
              </a:rPr>
              <a:t>、</a:t>
            </a:r>
            <a:r>
              <a:rPr lang="en-US" altLang="zh-CN" dirty="0">
                <a:solidFill>
                  <a:srgbClr val="666633"/>
                </a:solidFill>
                <a:latin typeface="Times New Roman" panose="02020503050405090304" pitchFamily="18" charset="0"/>
                <a:ea typeface="仿宋_GB2312" pitchFamily="49" charset="-122"/>
              </a:rPr>
              <a:t>A</a:t>
            </a:r>
            <a:r>
              <a:rPr lang="zh-CN" altLang="en-US" dirty="0">
                <a:solidFill>
                  <a:srgbClr val="666633"/>
                </a:solidFill>
                <a:latin typeface="Times New Roman" panose="02020503050405090304" pitchFamily="18" charset="0"/>
                <a:ea typeface="仿宋_GB2312" pitchFamily="49" charset="-122"/>
              </a:rPr>
              <a:t>、</a:t>
            </a:r>
            <a:r>
              <a:rPr lang="en-US" altLang="zh-CN" dirty="0">
                <a:solidFill>
                  <a:srgbClr val="666633"/>
                </a:solidFill>
                <a:latin typeface="Times New Roman" panose="02020503050405090304" pitchFamily="18" charset="0"/>
                <a:ea typeface="仿宋_GB2312" pitchFamily="49" charset="-122"/>
              </a:rPr>
              <a:t>B(AB</a:t>
            </a:r>
            <a:r>
              <a:rPr lang="zh-CN" altLang="en-US" dirty="0">
                <a:solidFill>
                  <a:srgbClr val="666633"/>
                </a:solidFill>
                <a:latin typeface="Times New Roman" panose="02020503050405090304" pitchFamily="18" charset="0"/>
                <a:ea typeface="仿宋_GB2312" pitchFamily="49" charset="-122"/>
              </a:rPr>
              <a:t>形式）</a:t>
            </a:r>
            <a:endParaRPr lang="zh-CN" altLang="en-US" dirty="0">
              <a:solidFill>
                <a:srgbClr val="666633"/>
              </a:solidFill>
              <a:latin typeface="Times New Roman" panose="02020503050405090304" pitchFamily="18" charset="0"/>
              <a:ea typeface="仿宋_GB2312" pitchFamily="49" charset="-122"/>
            </a:endParaRPr>
          </a:p>
          <a:p>
            <a:pPr indent="485775" algn="just" eaLnBrk="0" hangingPunct="0">
              <a:buNone/>
            </a:pPr>
            <a:r>
              <a:rPr lang="zh-CN" altLang="en-US" dirty="0">
                <a:solidFill>
                  <a:srgbClr val="666633"/>
                </a:solidFill>
                <a:latin typeface="Times New Roman" panose="02020503050405090304" pitchFamily="18" charset="0"/>
                <a:ea typeface="仿宋_GB2312" pitchFamily="49" charset="-122"/>
              </a:rPr>
              <a:t>和</a:t>
            </a:r>
            <a:r>
              <a:rPr lang="en-US" altLang="zh-CN" dirty="0">
                <a:solidFill>
                  <a:srgbClr val="666633"/>
                </a:solidFill>
                <a:latin typeface="Times New Roman" panose="02020503050405090304" pitchFamily="18" charset="0"/>
                <a:ea typeface="仿宋_GB2312" pitchFamily="49" charset="-122"/>
              </a:rPr>
              <a:t>DPTR</a:t>
            </a:r>
            <a:endParaRPr lang="en-US" altLang="zh-CN" dirty="0">
              <a:solidFill>
                <a:srgbClr val="666633"/>
              </a:solidFill>
              <a:latin typeface="Times New Roman" panose="02020503050405090304" pitchFamily="18" charset="0"/>
              <a:ea typeface="仿宋_GB2312" pitchFamily="49" charset="-122"/>
            </a:endParaRPr>
          </a:p>
        </p:txBody>
      </p:sp>
      <p:graphicFrame>
        <p:nvGraphicFramePr>
          <p:cNvPr id="8" name="Object 9"/>
          <p:cNvGraphicFramePr/>
          <p:nvPr/>
        </p:nvGraphicFramePr>
        <p:xfrm>
          <a:off x="4357688" y="3292475"/>
          <a:ext cx="4927600" cy="2422525"/>
        </p:xfrm>
        <a:graphic>
          <a:graphicData uri="http://schemas.openxmlformats.org/presentationml/2006/ole">
            <mc:AlternateContent xmlns:mc="http://schemas.openxmlformats.org/markup-compatibility/2006">
              <mc:Choice xmlns:v="urn:schemas-microsoft-com:vml" Requires="v">
                <p:oleObj spid="_x0000_s3077" name="" r:id="rId2" imgW="3159125" imgH="1485900" progId="Visio.Drawing.11">
                  <p:embed/>
                </p:oleObj>
              </mc:Choice>
              <mc:Fallback>
                <p:oleObj name="" r:id="rId2" imgW="3159125" imgH="1485900" progId="Visio.Drawing.11">
                  <p:embed/>
                  <p:pic>
                    <p:nvPicPr>
                      <p:cNvPr id="0" name="Picture 3076"/>
                      <p:cNvPicPr/>
                      <p:nvPr/>
                    </p:nvPicPr>
                    <p:blipFill>
                      <a:blip r:embed="rId3"/>
                      <a:stretch>
                        <a:fillRect/>
                      </a:stretch>
                    </p:blipFill>
                    <p:spPr>
                      <a:xfrm>
                        <a:off x="4357688" y="3292475"/>
                        <a:ext cx="4927600" cy="2422525"/>
                      </a:xfrm>
                      <a:prstGeom prst="rect">
                        <a:avLst/>
                      </a:prstGeom>
                      <a:noFill/>
                      <a:ln w="38100">
                        <a:noFill/>
                        <a:miter/>
                      </a:ln>
                    </p:spPr>
                  </p:pic>
                </p:oleObj>
              </mc:Fallback>
            </mc:AlternateContent>
          </a:graphicData>
        </a:graphic>
      </p:graphicFrame>
      <p:sp>
        <p:nvSpPr>
          <p:cNvPr id="9" name="Rectangle 10"/>
          <p:cNvSpPr/>
          <p:nvPr/>
        </p:nvSpPr>
        <p:spPr>
          <a:xfrm>
            <a:off x="1071563" y="3944938"/>
            <a:ext cx="3238500" cy="720725"/>
          </a:xfrm>
          <a:prstGeom prst="rect">
            <a:avLst/>
          </a:prstGeom>
          <a:noFill/>
          <a:ln w="9525">
            <a:noFill/>
          </a:ln>
        </p:spPr>
        <p:txBody>
          <a:bodyPr anchor="t" anchorCtr="0"/>
          <a:p>
            <a:pPr eaLnBrk="0" hangingPunct="0">
              <a:lnSpc>
                <a:spcPct val="150000"/>
              </a:lnSpc>
            </a:pPr>
            <a:r>
              <a:rPr lang="zh-CN" altLang="en-US" dirty="0">
                <a:solidFill>
                  <a:srgbClr val="CC0000"/>
                </a:solidFill>
                <a:latin typeface="Times New Roman" panose="02020503050405090304" pitchFamily="18" charset="0"/>
                <a:ea typeface="仿宋_GB2312" pitchFamily="49" charset="-122"/>
              </a:rPr>
              <a:t>特点：</a:t>
            </a:r>
            <a:endParaRPr lang="zh-CN" altLang="en-US" dirty="0">
              <a:solidFill>
                <a:srgbClr val="CC0000"/>
              </a:solidFill>
              <a:latin typeface="Times New Roman" panose="02020503050405090304" pitchFamily="18" charset="0"/>
              <a:ea typeface="仿宋_GB2312" pitchFamily="49" charset="-122"/>
            </a:endParaRPr>
          </a:p>
          <a:p>
            <a:pPr eaLnBrk="0" hangingPunct="0">
              <a:lnSpc>
                <a:spcPct val="150000"/>
              </a:lnSpc>
            </a:pPr>
            <a:r>
              <a:rPr lang="zh-CN" altLang="en-US" dirty="0">
                <a:solidFill>
                  <a:schemeClr val="tx2"/>
                </a:solidFill>
                <a:latin typeface="Times New Roman" panose="02020503050405090304" pitchFamily="18" charset="0"/>
                <a:ea typeface="仿宋_GB2312" pitchFamily="49" charset="-122"/>
              </a:rPr>
              <a:t>传送和执行速度快</a:t>
            </a:r>
            <a:endParaRPr lang="en-US" altLang="zh-CN" dirty="0">
              <a:solidFill>
                <a:schemeClr val="tx2"/>
              </a:solidFill>
              <a:latin typeface="Times New Roman" panose="02020503050405090304" pitchFamily="18" charset="0"/>
              <a:ea typeface="Times New Roman" panose="02020503050405090304" pitchFamily="18" charset="0"/>
            </a:endParaRPr>
          </a:p>
        </p:txBody>
      </p:sp>
      <p:sp>
        <p:nvSpPr>
          <p:cNvPr id="10" name="Rectangle 12"/>
          <p:cNvSpPr/>
          <p:nvPr/>
        </p:nvSpPr>
        <p:spPr>
          <a:xfrm>
            <a:off x="4572000" y="2214563"/>
            <a:ext cx="4148138" cy="457200"/>
          </a:xfrm>
          <a:prstGeom prst="rect">
            <a:avLst/>
          </a:prstGeom>
          <a:noFill/>
          <a:ln w="9525">
            <a:noFill/>
          </a:ln>
        </p:spPr>
        <p:txBody>
          <a:bodyPr wrap="none" anchor="ctr" anchorCtr="0">
            <a:spAutoFit/>
          </a:bodyPr>
          <a:p>
            <a:pPr eaLnBrk="0" hangingPunct="0">
              <a:buClrTx/>
              <a:buFontTx/>
            </a:pPr>
            <a:r>
              <a:rPr lang="zh-CN" altLang="en-US" b="0" dirty="0">
                <a:latin typeface="Times New Roman" panose="02020503050405090304" pitchFamily="18" charset="0"/>
                <a:ea typeface="仿宋_GB2312" pitchFamily="49" charset="-122"/>
              </a:rPr>
              <a:t>执行</a:t>
            </a:r>
            <a:r>
              <a:rPr lang="en-US" altLang="zh-CN" b="0" dirty="0">
                <a:latin typeface="Times New Roman" panose="02020503050405090304" pitchFamily="18" charset="0"/>
                <a:ea typeface="仿宋_GB2312" pitchFamily="49" charset="-122"/>
              </a:rPr>
              <a:t>MOV  A,R0</a:t>
            </a:r>
            <a:r>
              <a:rPr lang="zh-CN" altLang="en-US" b="0" dirty="0">
                <a:latin typeface="Times New Roman" panose="02020503050405090304" pitchFamily="18" charset="0"/>
                <a:ea typeface="仿宋_GB2312" pitchFamily="49" charset="-122"/>
              </a:rPr>
              <a:t>后</a:t>
            </a:r>
            <a:r>
              <a:rPr lang="en-US" altLang="zh-CN" b="0" dirty="0">
                <a:latin typeface="Times New Roman" panose="02020503050405090304" pitchFamily="18" charset="0"/>
                <a:ea typeface="仿宋_GB2312" pitchFamily="49" charset="-122"/>
              </a:rPr>
              <a:t>,</a:t>
            </a:r>
            <a:r>
              <a:rPr lang="zh-CN" altLang="en-US" b="0" dirty="0">
                <a:latin typeface="Times New Roman" panose="02020503050405090304" pitchFamily="18" charset="0"/>
                <a:ea typeface="仿宋_GB2312" pitchFamily="49" charset="-122"/>
              </a:rPr>
              <a:t>（</a:t>
            </a:r>
            <a:r>
              <a:rPr lang="en-US" altLang="zh-CN" b="0" dirty="0">
                <a:latin typeface="Times New Roman" panose="02020503050405090304" pitchFamily="18" charset="0"/>
                <a:ea typeface="仿宋_GB2312" pitchFamily="49" charset="-122"/>
              </a:rPr>
              <a:t>A</a:t>
            </a:r>
            <a:r>
              <a:rPr lang="zh-CN" altLang="en-US" b="0" dirty="0">
                <a:latin typeface="Times New Roman" panose="02020503050405090304" pitchFamily="18" charset="0"/>
                <a:ea typeface="仿宋_GB2312" pitchFamily="49" charset="-122"/>
              </a:rPr>
              <a:t>）</a:t>
            </a:r>
            <a:r>
              <a:rPr lang="en-US" altLang="zh-CN" b="0" dirty="0">
                <a:latin typeface="Times New Roman" panose="02020503050405090304" pitchFamily="18" charset="0"/>
                <a:ea typeface="仿宋_GB2312" pitchFamily="49" charset="-122"/>
              </a:rPr>
              <a:t>=30H</a:t>
            </a:r>
            <a:r>
              <a:rPr lang="en-US" altLang="zh-CN" dirty="0">
                <a:latin typeface="Times New Roman" panose="02020503050405090304" pitchFamily="18" charset="0"/>
                <a:ea typeface="仿宋_GB2312" pitchFamily="49" charset="-122"/>
              </a:rPr>
              <a:t> </a:t>
            </a:r>
            <a:endParaRPr lang="en-US" altLang="zh-CN" dirty="0">
              <a:latin typeface="Times New Roman" panose="02020503050405090304" pitchFamily="18" charset="0"/>
              <a:ea typeface="仿宋_GB2312" pitchFamily="49" charset="-122"/>
            </a:endParaRPr>
          </a:p>
        </p:txBody>
      </p:sp>
      <p:sp>
        <p:nvSpPr>
          <p:cNvPr id="12" name="Rectangle 11"/>
          <p:cNvSpPr/>
          <p:nvPr/>
        </p:nvSpPr>
        <p:spPr>
          <a:xfrm>
            <a:off x="4500563" y="1643063"/>
            <a:ext cx="3392487" cy="457200"/>
          </a:xfrm>
          <a:prstGeom prst="rect">
            <a:avLst/>
          </a:prstGeom>
          <a:noFill/>
          <a:ln w="9525">
            <a:noFill/>
          </a:ln>
        </p:spPr>
        <p:txBody>
          <a:bodyPr wrap="none" anchor="ctr" anchorCtr="0">
            <a:spAutoFit/>
          </a:bodyPr>
          <a:p>
            <a:pPr eaLnBrk="0" hangingPunct="0">
              <a:buClrTx/>
              <a:buFontTx/>
            </a:pPr>
            <a:r>
              <a:rPr lang="en-US" altLang="zh-CN" b="0" dirty="0">
                <a:latin typeface="Times New Roman" panose="02020503050405090304" pitchFamily="18" charset="0"/>
                <a:ea typeface="仿宋_GB2312" pitchFamily="49" charset="-122"/>
              </a:rPr>
              <a:t>【</a:t>
            </a:r>
            <a:r>
              <a:rPr lang="zh-CN" altLang="en-US" dirty="0">
                <a:latin typeface="Times New Roman" panose="02020503050405090304" pitchFamily="18" charset="0"/>
                <a:ea typeface="仿宋_GB2312" pitchFamily="49" charset="-122"/>
              </a:rPr>
              <a:t>例</a:t>
            </a:r>
            <a:r>
              <a:rPr lang="en-US" altLang="zh-CN" dirty="0">
                <a:latin typeface="Times New Roman" panose="02020503050405090304" pitchFamily="18" charset="0"/>
                <a:ea typeface="仿宋_GB2312" pitchFamily="49" charset="-122"/>
              </a:rPr>
              <a:t>】</a:t>
            </a:r>
            <a:r>
              <a:rPr lang="zh-CN" altLang="en-US" dirty="0">
                <a:latin typeface="Times New Roman" panose="02020503050405090304" pitchFamily="18" charset="0"/>
                <a:ea typeface="仿宋_GB2312" pitchFamily="49" charset="-122"/>
              </a:rPr>
              <a:t>若（</a:t>
            </a:r>
            <a:r>
              <a:rPr lang="en-US" altLang="zh-CN" b="0" dirty="0">
                <a:latin typeface="Times New Roman" panose="02020503050405090304" pitchFamily="18" charset="0"/>
                <a:ea typeface="仿宋_GB2312" pitchFamily="49" charset="-122"/>
              </a:rPr>
              <a:t>R0</a:t>
            </a:r>
            <a:r>
              <a:rPr lang="zh-CN" altLang="en-US" b="0" dirty="0">
                <a:latin typeface="Times New Roman" panose="02020503050405090304" pitchFamily="18" charset="0"/>
                <a:ea typeface="仿宋_GB2312" pitchFamily="49" charset="-122"/>
              </a:rPr>
              <a:t>）</a:t>
            </a:r>
            <a:r>
              <a:rPr lang="en-US" altLang="zh-CN" b="0" dirty="0">
                <a:latin typeface="Times New Roman" panose="02020503050405090304" pitchFamily="18" charset="0"/>
                <a:ea typeface="仿宋_GB2312" pitchFamily="49" charset="-122"/>
              </a:rPr>
              <a:t>=30H</a:t>
            </a:r>
            <a:r>
              <a:rPr lang="zh-CN" altLang="en-US" b="0" dirty="0">
                <a:latin typeface="Times New Roman" panose="02020503050405090304" pitchFamily="18" charset="0"/>
                <a:ea typeface="仿宋_GB2312" pitchFamily="49" charset="-122"/>
              </a:rPr>
              <a:t>，</a:t>
            </a:r>
            <a:r>
              <a:rPr lang="zh-CN" altLang="en-US" dirty="0">
                <a:latin typeface="Times New Roman" panose="02020503050405090304" pitchFamily="18" charset="0"/>
                <a:ea typeface="仿宋_GB2312" pitchFamily="49" charset="-122"/>
              </a:rPr>
              <a:t> </a:t>
            </a:r>
            <a:endParaRPr lang="zh-CN" altLang="en-US" dirty="0">
              <a:latin typeface="Times New Roman" panose="02020503050405090304" pitchFamily="18" charset="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49154" name="Rectangle 3"/>
          <p:cNvSpPr>
            <a:spLocks noGrp="1"/>
          </p:cNvSpPr>
          <p:nvPr>
            <p:ph type="body" idx="4294967295"/>
          </p:nvPr>
        </p:nvSpPr>
        <p:spPr>
          <a:xfrm>
            <a:off x="214313" y="1025525"/>
            <a:ext cx="8534400" cy="546100"/>
          </a:xfrm>
        </p:spPr>
        <p:txBody>
          <a:bodyPr vert="horz" wrap="square" lIns="91440" tIns="45720" rIns="91440" bIns="45720" anchor="t" anchorCtr="0"/>
          <a:p>
            <a:pPr marL="0" indent="0" algn="just">
              <a:lnSpc>
                <a:spcPct val="100000"/>
              </a:lnSpc>
              <a:spcBef>
                <a:spcPct val="0"/>
              </a:spcBef>
              <a:buNone/>
            </a:pPr>
            <a:r>
              <a:rPr lang="zh-CN" altLang="en-US" dirty="0">
                <a:latin typeface="宋体" pitchFamily="2" charset="-122"/>
              </a:rPr>
              <a:t>二、</a:t>
            </a:r>
            <a:r>
              <a:rPr lang="zh-CN" altLang="en-US" dirty="0">
                <a:solidFill>
                  <a:srgbClr val="FF0000"/>
                </a:solidFill>
                <a:latin typeface="宋体" pitchFamily="2" charset="-122"/>
              </a:rPr>
              <a:t>直接寻址方式</a:t>
            </a:r>
            <a:endParaRPr lang="en-US" altLang="zh-CN" dirty="0">
              <a:solidFill>
                <a:srgbClr val="FF0000"/>
              </a:solidFill>
              <a:latin typeface="宋体" pitchFamily="2" charset="-122"/>
            </a:endParaRPr>
          </a:p>
          <a:p>
            <a:pPr marL="0" indent="0" algn="just">
              <a:lnSpc>
                <a:spcPct val="100000"/>
              </a:lnSpc>
              <a:spcBef>
                <a:spcPct val="0"/>
              </a:spcBef>
              <a:buNone/>
            </a:pPr>
            <a:r>
              <a:rPr lang="zh-CN" altLang="en-US" sz="2400" dirty="0">
                <a:latin typeface="宋体" pitchFamily="2" charset="-122"/>
              </a:rPr>
              <a:t>     </a:t>
            </a:r>
            <a:endParaRPr lang="zh-CN" altLang="en-US" sz="2400" dirty="0">
              <a:latin typeface="宋体" pitchFamily="2" charset="-122"/>
            </a:endParaRPr>
          </a:p>
          <a:p>
            <a:pPr marL="0" indent="0" algn="just">
              <a:lnSpc>
                <a:spcPct val="100000"/>
              </a:lnSpc>
              <a:spcBef>
                <a:spcPct val="0"/>
              </a:spcBef>
              <a:buNone/>
            </a:pPr>
            <a:r>
              <a:rPr lang="zh-CN" altLang="en-US" sz="2400" dirty="0">
                <a:latin typeface="宋体" pitchFamily="2" charset="-122"/>
              </a:rPr>
              <a:t>    </a:t>
            </a:r>
            <a:endParaRPr lang="zh-CN" altLang="zh-CN" sz="2400" dirty="0">
              <a:latin typeface="宋体" pitchFamily="2" charset="-122"/>
            </a:endParaRPr>
          </a:p>
        </p:txBody>
      </p:sp>
      <p:sp>
        <p:nvSpPr>
          <p:cNvPr id="24" name="Rectangle 7"/>
          <p:cNvSpPr/>
          <p:nvPr/>
        </p:nvSpPr>
        <p:spPr>
          <a:xfrm>
            <a:off x="684213" y="1714500"/>
            <a:ext cx="8208962" cy="1944688"/>
          </a:xfrm>
          <a:prstGeom prst="rect">
            <a:avLst/>
          </a:prstGeom>
          <a:noFill/>
          <a:ln w="9525">
            <a:noFill/>
          </a:ln>
        </p:spPr>
        <p:txBody>
          <a:bodyPr anchor="t" anchorCtr="0"/>
          <a:p>
            <a:pPr indent="485775" algn="just" eaLnBrk="0" hangingPunct="0">
              <a:buBlip>
                <a:blip r:embed="rId1"/>
              </a:buBlip>
            </a:pPr>
            <a:r>
              <a:rPr lang="zh-CN" altLang="en-US" dirty="0">
                <a:latin typeface="Times New Roman" panose="02020503050405090304" pitchFamily="18" charset="0"/>
                <a:ea typeface="仿宋_GB2312" pitchFamily="49" charset="-122"/>
              </a:rPr>
              <a:t>操作码后字节存放的是操作数的地址</a:t>
            </a:r>
            <a:endParaRPr lang="zh-CN" altLang="en-US" dirty="0">
              <a:latin typeface="Times New Roman" panose="02020503050405090304" pitchFamily="18" charset="0"/>
              <a:ea typeface="仿宋_GB2312" pitchFamily="49" charset="-122"/>
            </a:endParaRPr>
          </a:p>
          <a:p>
            <a:pPr indent="485775" algn="just" eaLnBrk="0" hangingPunct="0">
              <a:buBlip>
                <a:blip r:embed="rId1"/>
              </a:buBlip>
            </a:pPr>
            <a:r>
              <a:rPr lang="zh-CN" altLang="en-US" dirty="0">
                <a:latin typeface="Times New Roman" panose="02020503050405090304" pitchFamily="18" charset="0"/>
                <a:ea typeface="仿宋_GB2312" pitchFamily="49" charset="-122"/>
              </a:rPr>
              <a:t>寻址空间：</a:t>
            </a:r>
            <a:endParaRPr lang="zh-CN" altLang="en-US" dirty="0">
              <a:latin typeface="Times New Roman" panose="02020503050405090304" pitchFamily="18" charset="0"/>
              <a:ea typeface="仿宋_GB2312" pitchFamily="49" charset="-122"/>
            </a:endParaRPr>
          </a:p>
          <a:p>
            <a:pPr indent="485775" algn="just" eaLnBrk="0" hangingPunct="0">
              <a:buNone/>
            </a:pPr>
            <a:r>
              <a:rPr lang="zh-CN" altLang="en-US" dirty="0">
                <a:solidFill>
                  <a:srgbClr val="666633"/>
                </a:solidFill>
                <a:latin typeface="Times New Roman" panose="02020503050405090304" pitchFamily="18" charset="0"/>
                <a:ea typeface="仿宋_GB2312" pitchFamily="49" charset="-122"/>
              </a:rPr>
              <a:t>片内</a:t>
            </a:r>
            <a:r>
              <a:rPr lang="en-US" altLang="zh-CN" dirty="0">
                <a:solidFill>
                  <a:srgbClr val="666633"/>
                </a:solidFill>
                <a:latin typeface="Times New Roman" panose="02020503050405090304" pitchFamily="18" charset="0"/>
                <a:ea typeface="仿宋_GB2312" pitchFamily="49" charset="-122"/>
              </a:rPr>
              <a:t>RAM</a:t>
            </a:r>
            <a:r>
              <a:rPr lang="zh-CN" altLang="en-US" dirty="0">
                <a:solidFill>
                  <a:srgbClr val="666633"/>
                </a:solidFill>
                <a:latin typeface="Times New Roman" panose="02020503050405090304" pitchFamily="18" charset="0"/>
                <a:ea typeface="仿宋_GB2312" pitchFamily="49" charset="-122"/>
              </a:rPr>
              <a:t>低</a:t>
            </a:r>
            <a:r>
              <a:rPr lang="en-US" altLang="zh-CN" dirty="0">
                <a:solidFill>
                  <a:srgbClr val="666633"/>
                </a:solidFill>
                <a:latin typeface="Times New Roman" panose="02020503050405090304" pitchFamily="18" charset="0"/>
                <a:ea typeface="仿宋_GB2312" pitchFamily="49" charset="-122"/>
              </a:rPr>
              <a:t>128</a:t>
            </a:r>
            <a:r>
              <a:rPr lang="zh-CN" altLang="en-US" dirty="0">
                <a:solidFill>
                  <a:srgbClr val="666633"/>
                </a:solidFill>
                <a:latin typeface="Times New Roman" panose="02020503050405090304" pitchFamily="18" charset="0"/>
                <a:ea typeface="仿宋_GB2312" pitchFamily="49" charset="-122"/>
              </a:rPr>
              <a:t>字节</a:t>
            </a:r>
            <a:endParaRPr lang="zh-CN" altLang="en-US" dirty="0">
              <a:solidFill>
                <a:srgbClr val="666633"/>
              </a:solidFill>
              <a:latin typeface="Times New Roman" panose="02020503050405090304" pitchFamily="18" charset="0"/>
              <a:ea typeface="仿宋_GB2312" pitchFamily="49" charset="-122"/>
            </a:endParaRPr>
          </a:p>
          <a:p>
            <a:pPr indent="485775" algn="just" eaLnBrk="0" hangingPunct="0">
              <a:buNone/>
            </a:pPr>
            <a:r>
              <a:rPr lang="en-US" altLang="zh-CN" dirty="0">
                <a:solidFill>
                  <a:srgbClr val="666633"/>
                </a:solidFill>
                <a:latin typeface="Times New Roman" panose="02020503050405090304" pitchFamily="18" charset="0"/>
                <a:ea typeface="仿宋_GB2312" pitchFamily="49" charset="-122"/>
              </a:rPr>
              <a:t>SFR</a:t>
            </a:r>
            <a:r>
              <a:rPr lang="zh-CN" altLang="en-US" dirty="0">
                <a:solidFill>
                  <a:srgbClr val="666633"/>
                </a:solidFill>
                <a:latin typeface="Times New Roman" panose="02020503050405090304" pitchFamily="18" charset="0"/>
                <a:ea typeface="仿宋_GB2312" pitchFamily="49" charset="-122"/>
              </a:rPr>
              <a:t>（符号形式）</a:t>
            </a:r>
            <a:endParaRPr lang="zh-CN" altLang="en-US" dirty="0">
              <a:solidFill>
                <a:srgbClr val="666633"/>
              </a:solidFill>
              <a:latin typeface="Times New Roman" panose="02020503050405090304" pitchFamily="18" charset="0"/>
              <a:ea typeface="仿宋_GB2312" pitchFamily="49" charset="-122"/>
            </a:endParaRPr>
          </a:p>
        </p:txBody>
      </p:sp>
      <p:graphicFrame>
        <p:nvGraphicFramePr>
          <p:cNvPr id="25" name="Object 8"/>
          <p:cNvGraphicFramePr/>
          <p:nvPr/>
        </p:nvGraphicFramePr>
        <p:xfrm>
          <a:off x="3995738" y="3751263"/>
          <a:ext cx="5148262" cy="2557462"/>
        </p:xfrm>
        <a:graphic>
          <a:graphicData uri="http://schemas.openxmlformats.org/presentationml/2006/ole">
            <mc:AlternateContent xmlns:mc="http://schemas.openxmlformats.org/markup-compatibility/2006">
              <mc:Choice xmlns:v="urn:schemas-microsoft-com:vml" Requires="v">
                <p:oleObj spid="_x0000_s3080" name="" r:id="rId2" imgW="3159125" imgH="1569085" progId="Visio.Drawing.11">
                  <p:embed/>
                </p:oleObj>
              </mc:Choice>
              <mc:Fallback>
                <p:oleObj name="" r:id="rId2" imgW="3159125" imgH="1569085" progId="Visio.Drawing.11">
                  <p:embed/>
                  <p:pic>
                    <p:nvPicPr>
                      <p:cNvPr id="0" name="Picture 3079"/>
                      <p:cNvPicPr/>
                      <p:nvPr/>
                    </p:nvPicPr>
                    <p:blipFill>
                      <a:blip r:embed="rId3"/>
                      <a:stretch>
                        <a:fillRect/>
                      </a:stretch>
                    </p:blipFill>
                    <p:spPr>
                      <a:xfrm>
                        <a:off x="3995738" y="3751263"/>
                        <a:ext cx="5148262" cy="2557462"/>
                      </a:xfrm>
                      <a:prstGeom prst="rect">
                        <a:avLst/>
                      </a:prstGeom>
                      <a:noFill/>
                      <a:ln w="38100">
                        <a:noFill/>
                        <a:miter/>
                      </a:ln>
                    </p:spPr>
                  </p:pic>
                </p:oleObj>
              </mc:Fallback>
            </mc:AlternateContent>
          </a:graphicData>
        </a:graphic>
      </p:graphicFrame>
      <p:sp>
        <p:nvSpPr>
          <p:cNvPr id="26" name="Rectangle 11"/>
          <p:cNvSpPr/>
          <p:nvPr/>
        </p:nvSpPr>
        <p:spPr>
          <a:xfrm>
            <a:off x="827088" y="4149725"/>
            <a:ext cx="2376487" cy="1655763"/>
          </a:xfrm>
          <a:prstGeom prst="rect">
            <a:avLst/>
          </a:prstGeom>
          <a:noFill/>
          <a:ln w="9525">
            <a:noFill/>
          </a:ln>
        </p:spPr>
        <p:txBody>
          <a:bodyPr anchor="t" anchorCtr="0"/>
          <a:p>
            <a:pPr indent="182880" algn="just" eaLnBrk="0" hangingPunct="0">
              <a:lnSpc>
                <a:spcPct val="130000"/>
              </a:lnSpc>
            </a:pPr>
            <a:r>
              <a:rPr lang="zh-CN" altLang="en-US" dirty="0">
                <a:solidFill>
                  <a:srgbClr val="0A10F8"/>
                </a:solidFill>
                <a:latin typeface="Times New Roman" panose="02020503050405090304" pitchFamily="18" charset="0"/>
                <a:ea typeface="仿宋_GB2312" pitchFamily="49" charset="-122"/>
              </a:rPr>
              <a:t>另一类直接寻址是转移目标地址的寻址。如：</a:t>
            </a:r>
            <a:r>
              <a:rPr lang="en-US" altLang="zh-CN" dirty="0">
                <a:latin typeface="Times New Roman" panose="02020503050405090304" pitchFamily="18" charset="0"/>
                <a:ea typeface="仿宋_GB2312" pitchFamily="49" charset="-122"/>
              </a:rPr>
              <a:t>LJMP ADDR16</a:t>
            </a:r>
            <a:endParaRPr lang="en-US" altLang="zh-CN" dirty="0">
              <a:latin typeface="Times New Roman" panose="02020503050405090304" pitchFamily="18" charset="0"/>
              <a:ea typeface="仿宋_GB2312" pitchFamily="49" charset="-122"/>
            </a:endParaRPr>
          </a:p>
        </p:txBody>
      </p:sp>
      <p:sp>
        <p:nvSpPr>
          <p:cNvPr id="27" name="Rectangle 12"/>
          <p:cNvSpPr/>
          <p:nvPr/>
        </p:nvSpPr>
        <p:spPr>
          <a:xfrm>
            <a:off x="4284663" y="2492375"/>
            <a:ext cx="3711575" cy="457200"/>
          </a:xfrm>
          <a:prstGeom prst="rect">
            <a:avLst/>
          </a:prstGeom>
          <a:noFill/>
          <a:ln w="9525">
            <a:noFill/>
          </a:ln>
        </p:spPr>
        <p:txBody>
          <a:bodyPr wrap="none" anchor="ctr" anchorCtr="0">
            <a:spAutoFit/>
          </a:bodyPr>
          <a:p>
            <a:pPr eaLnBrk="0" hangingPunct="0">
              <a:buClrTx/>
              <a:buFontTx/>
            </a:pPr>
            <a:r>
              <a:rPr lang="en-US" altLang="zh-CN" b="0" dirty="0">
                <a:latin typeface="Times New Roman" panose="02020503050405090304" pitchFamily="18" charset="0"/>
                <a:ea typeface="仿宋_GB2312" pitchFamily="49" charset="-122"/>
              </a:rPr>
              <a:t>【</a:t>
            </a:r>
            <a:r>
              <a:rPr lang="zh-CN" altLang="en-US" dirty="0">
                <a:latin typeface="Times New Roman" panose="02020503050405090304" pitchFamily="18" charset="0"/>
                <a:ea typeface="仿宋_GB2312" pitchFamily="49" charset="-122"/>
              </a:rPr>
              <a:t>例</a:t>
            </a:r>
            <a:r>
              <a:rPr lang="en-US" altLang="zh-CN" dirty="0">
                <a:latin typeface="Times New Roman" panose="02020503050405090304" pitchFamily="18" charset="0"/>
                <a:ea typeface="仿宋_GB2312" pitchFamily="49" charset="-122"/>
              </a:rPr>
              <a:t>】</a:t>
            </a:r>
            <a:r>
              <a:rPr lang="zh-CN" altLang="en-US" dirty="0">
                <a:latin typeface="Times New Roman" panose="02020503050405090304" pitchFamily="18" charset="0"/>
                <a:ea typeface="仿宋_GB2312" pitchFamily="49" charset="-122"/>
              </a:rPr>
              <a:t>若（</a:t>
            </a:r>
            <a:r>
              <a:rPr lang="en-US" altLang="zh-CN" dirty="0">
                <a:latin typeface="Times New Roman" panose="02020503050405090304" pitchFamily="18" charset="0"/>
                <a:ea typeface="仿宋_GB2312" pitchFamily="49" charset="-122"/>
              </a:rPr>
              <a:t>50H</a:t>
            </a:r>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=3AH </a:t>
            </a:r>
            <a:r>
              <a:rPr lang="zh-CN" altLang="en-US" b="0" dirty="0">
                <a:latin typeface="Times New Roman" panose="02020503050405090304" pitchFamily="18" charset="0"/>
                <a:ea typeface="仿宋_GB2312" pitchFamily="49" charset="-122"/>
              </a:rPr>
              <a:t>，</a:t>
            </a:r>
            <a:r>
              <a:rPr lang="zh-CN" altLang="en-US" dirty="0">
                <a:latin typeface="Times New Roman" panose="02020503050405090304" pitchFamily="18" charset="0"/>
                <a:ea typeface="仿宋_GB2312" pitchFamily="49" charset="-122"/>
              </a:rPr>
              <a:t> </a:t>
            </a:r>
            <a:endParaRPr lang="zh-CN" altLang="en-US" dirty="0">
              <a:latin typeface="Times New Roman" panose="02020503050405090304" pitchFamily="18" charset="0"/>
              <a:ea typeface="仿宋_GB2312" pitchFamily="49" charset="-122"/>
            </a:endParaRPr>
          </a:p>
        </p:txBody>
      </p:sp>
      <p:sp>
        <p:nvSpPr>
          <p:cNvPr id="28" name="Rectangle 13"/>
          <p:cNvSpPr/>
          <p:nvPr/>
        </p:nvSpPr>
        <p:spPr>
          <a:xfrm>
            <a:off x="4572000" y="2997200"/>
            <a:ext cx="4300538" cy="457200"/>
          </a:xfrm>
          <a:prstGeom prst="rect">
            <a:avLst/>
          </a:prstGeom>
          <a:noFill/>
          <a:ln w="9525">
            <a:noFill/>
          </a:ln>
        </p:spPr>
        <p:txBody>
          <a:bodyPr wrap="none" anchor="ctr" anchorCtr="0">
            <a:spAutoFit/>
          </a:bodyPr>
          <a:p>
            <a:pPr eaLnBrk="0" hangingPunct="0">
              <a:buClrTx/>
              <a:buFontTx/>
            </a:pPr>
            <a:r>
              <a:rPr lang="zh-CN" altLang="en-US" b="0" dirty="0">
                <a:latin typeface="Times New Roman" panose="02020503050405090304" pitchFamily="18" charset="0"/>
                <a:ea typeface="仿宋_GB2312" pitchFamily="49" charset="-122"/>
              </a:rPr>
              <a:t>执行</a:t>
            </a:r>
            <a:r>
              <a:rPr lang="en-US" altLang="zh-CN" b="0" dirty="0">
                <a:latin typeface="Times New Roman" panose="02020503050405090304" pitchFamily="18" charset="0"/>
                <a:ea typeface="仿宋_GB2312" pitchFamily="49" charset="-122"/>
              </a:rPr>
              <a:t>MOV  A,50H</a:t>
            </a:r>
            <a:r>
              <a:rPr lang="zh-CN" altLang="en-US" b="0" dirty="0">
                <a:latin typeface="Times New Roman" panose="02020503050405090304" pitchFamily="18" charset="0"/>
                <a:ea typeface="仿宋_GB2312" pitchFamily="49" charset="-122"/>
              </a:rPr>
              <a:t>后</a:t>
            </a:r>
            <a:r>
              <a:rPr lang="en-US" altLang="zh-CN" b="0" dirty="0">
                <a:latin typeface="Times New Roman" panose="02020503050405090304" pitchFamily="18" charset="0"/>
                <a:ea typeface="仿宋_GB2312" pitchFamily="49" charset="-122"/>
              </a:rPr>
              <a:t>,</a:t>
            </a:r>
            <a:r>
              <a:rPr lang="zh-CN" altLang="en-US" b="0" dirty="0">
                <a:latin typeface="Times New Roman" panose="02020503050405090304" pitchFamily="18" charset="0"/>
                <a:ea typeface="仿宋_GB2312" pitchFamily="49" charset="-122"/>
              </a:rPr>
              <a:t>（</a:t>
            </a:r>
            <a:r>
              <a:rPr lang="en-US" altLang="zh-CN" b="0" dirty="0">
                <a:latin typeface="Times New Roman" panose="02020503050405090304" pitchFamily="18" charset="0"/>
                <a:ea typeface="仿宋_GB2312" pitchFamily="49" charset="-122"/>
              </a:rPr>
              <a:t>A</a:t>
            </a:r>
            <a:r>
              <a:rPr lang="zh-CN" altLang="en-US" b="0" dirty="0">
                <a:latin typeface="Times New Roman" panose="02020503050405090304" pitchFamily="18" charset="0"/>
                <a:ea typeface="仿宋_GB2312" pitchFamily="49" charset="-122"/>
              </a:rPr>
              <a:t>）</a:t>
            </a:r>
            <a:r>
              <a:rPr lang="en-US" altLang="zh-CN" b="0" dirty="0">
                <a:latin typeface="Times New Roman" panose="02020503050405090304" pitchFamily="18" charset="0"/>
                <a:ea typeface="仿宋_GB2312" pitchFamily="49" charset="-122"/>
              </a:rPr>
              <a:t>=3AH</a:t>
            </a:r>
            <a:r>
              <a:rPr lang="en-US" altLang="zh-CN" dirty="0">
                <a:latin typeface="Times New Roman" panose="02020503050405090304" pitchFamily="18" charset="0"/>
                <a:ea typeface="仿宋_GB2312" pitchFamily="49" charset="-122"/>
              </a:rPr>
              <a:t> </a:t>
            </a:r>
            <a:endParaRPr lang="en-US" altLang="zh-CN" dirty="0">
              <a:latin typeface="Times New Roman" panose="02020503050405090304" pitchFamily="18" charset="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500" fill="hold"/>
                                        <p:tgtEl>
                                          <p:spTgt spid="25"/>
                                        </p:tgtEl>
                                        <p:attrNameLst>
                                          <p:attrName>ppt_x</p:attrName>
                                        </p:attrNameLst>
                                      </p:cBhvr>
                                      <p:tavLst>
                                        <p:tav tm="0">
                                          <p:val>
                                            <p:strVal val="#ppt_x"/>
                                          </p:val>
                                        </p:tav>
                                        <p:tav tm="100000">
                                          <p:val>
                                            <p:strVal val="#ppt_x"/>
                                          </p:val>
                                        </p:tav>
                                      </p:tavLst>
                                    </p:anim>
                                    <p:anim calcmode="lin" valueType="num">
                                      <p:cBhvr additive="base">
                                        <p:cTn id="14" dur="500" fill="hold"/>
                                        <p:tgtEl>
                                          <p:spTgt spid="25"/>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 calcmode="lin" valueType="num">
                                      <p:cBhvr additive="base">
                                        <p:cTn id="17" dur="500" fill="hold"/>
                                        <p:tgtEl>
                                          <p:spTgt spid="27"/>
                                        </p:tgtEl>
                                        <p:attrNameLst>
                                          <p:attrName>ppt_x</p:attrName>
                                        </p:attrNameLst>
                                      </p:cBhvr>
                                      <p:tavLst>
                                        <p:tav tm="0">
                                          <p:val>
                                            <p:strVal val="#ppt_x"/>
                                          </p:val>
                                        </p:tav>
                                        <p:tav tm="100000">
                                          <p:val>
                                            <p:strVal val="#ppt_x"/>
                                          </p:val>
                                        </p:tav>
                                      </p:tavLst>
                                    </p:anim>
                                    <p:anim calcmode="lin" valueType="num">
                                      <p:cBhvr additive="base">
                                        <p:cTn id="18" dur="500" fill="hold"/>
                                        <p:tgtEl>
                                          <p:spTgt spid="27"/>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anim calcmode="lin" valueType="num">
                                      <p:cBhvr additive="base">
                                        <p:cTn id="21" dur="500" fill="hold"/>
                                        <p:tgtEl>
                                          <p:spTgt spid="28"/>
                                        </p:tgtEl>
                                        <p:attrNameLst>
                                          <p:attrName>ppt_x</p:attrName>
                                        </p:attrNameLst>
                                      </p:cBhvr>
                                      <p:tavLst>
                                        <p:tav tm="0">
                                          <p:val>
                                            <p:strVal val="#ppt_x"/>
                                          </p:val>
                                        </p:tav>
                                        <p:tav tm="100000">
                                          <p:val>
                                            <p:strVal val="#ppt_x"/>
                                          </p:val>
                                        </p:tav>
                                      </p:tavLst>
                                    </p:anim>
                                    <p:anim calcmode="lin" valueType="num">
                                      <p:cBhvr additive="base">
                                        <p:cTn id="22"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anim calcmode="lin" valueType="num">
                                      <p:cBhvr additive="base">
                                        <p:cTn id="27" dur="500" fill="hold"/>
                                        <p:tgtEl>
                                          <p:spTgt spid="26"/>
                                        </p:tgtEl>
                                        <p:attrNameLst>
                                          <p:attrName>ppt_x</p:attrName>
                                        </p:attrNameLst>
                                      </p:cBhvr>
                                      <p:tavLst>
                                        <p:tav tm="0">
                                          <p:val>
                                            <p:strVal val="#ppt_x"/>
                                          </p:val>
                                        </p:tav>
                                        <p:tav tm="100000">
                                          <p:val>
                                            <p:strVal val="#ppt_x"/>
                                          </p:val>
                                        </p:tav>
                                      </p:tavLst>
                                    </p:anim>
                                    <p:anim calcmode="lin" valueType="num">
                                      <p:cBhvr additive="base">
                                        <p:cTn id="2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6" grpId="0"/>
      <p:bldP spid="27" grpId="0"/>
      <p:bldP spid="2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3"/>
          <p:cNvSpPr>
            <a:spLocks noGrp="1"/>
          </p:cNvSpPr>
          <p:nvPr>
            <p:ph type="body" idx="4294967295"/>
          </p:nvPr>
        </p:nvSpPr>
        <p:spPr/>
        <p:txBody>
          <a:bodyPr vert="horz" wrap="square" lIns="91440" tIns="45720" rIns="91440" bIns="45720" anchor="t" anchorCtr="0"/>
          <a:p>
            <a:pPr algn="just">
              <a:lnSpc>
                <a:spcPct val="100000"/>
              </a:lnSpc>
              <a:spcBef>
                <a:spcPct val="0"/>
              </a:spcBef>
              <a:buNone/>
            </a:pPr>
            <a:r>
              <a:rPr lang="zh-CN" altLang="en-US" dirty="0">
                <a:latin typeface="宋体" pitchFamily="2" charset="-122"/>
              </a:rPr>
              <a:t>二、</a:t>
            </a:r>
            <a:r>
              <a:rPr lang="zh-CN" altLang="en-US" dirty="0">
                <a:solidFill>
                  <a:srgbClr val="FF0000"/>
                </a:solidFill>
                <a:latin typeface="宋体" pitchFamily="2" charset="-122"/>
              </a:rPr>
              <a:t>直接寻址方式</a:t>
            </a:r>
            <a:endParaRPr lang="en-US" altLang="zh-CN" dirty="0">
              <a:solidFill>
                <a:srgbClr val="FF0000"/>
              </a:solidFill>
              <a:latin typeface="宋体" pitchFamily="2" charset="-122"/>
            </a:endParaRPr>
          </a:p>
          <a:p>
            <a:pPr>
              <a:lnSpc>
                <a:spcPct val="120000"/>
              </a:lnSpc>
              <a:buNone/>
            </a:pPr>
            <a:r>
              <a:rPr lang="en-US" altLang="zh-CN" b="0" dirty="0">
                <a:solidFill>
                  <a:schemeClr val="tx2"/>
                </a:solidFill>
                <a:latin typeface="黑体" panose="02010609060101010101" pitchFamily="49" charset="-122"/>
                <a:ea typeface="黑体" panose="02010609060101010101" pitchFamily="49" charset="-122"/>
              </a:rPr>
              <a:t> </a:t>
            </a:r>
            <a:endParaRPr lang="en-US" altLang="zh-CN" b="0" dirty="0">
              <a:solidFill>
                <a:schemeClr val="tx2"/>
              </a:solidFill>
              <a:latin typeface="黑体" panose="02010609060101010101" pitchFamily="49" charset="-122"/>
              <a:ea typeface="黑体" panose="02010609060101010101" pitchFamily="49" charset="-122"/>
            </a:endParaRPr>
          </a:p>
          <a:p>
            <a:pPr>
              <a:lnSpc>
                <a:spcPct val="120000"/>
              </a:lnSpc>
              <a:buNone/>
            </a:pPr>
            <a:r>
              <a:rPr lang="zh-CN" altLang="en-US" sz="2400" b="0" dirty="0">
                <a:solidFill>
                  <a:schemeClr val="tx2"/>
                </a:solidFill>
                <a:latin typeface="黑体" panose="02010609060101010101" pitchFamily="49" charset="-122"/>
                <a:ea typeface="黑体" panose="02010609060101010101" pitchFamily="49" charset="-122"/>
              </a:rPr>
              <a:t>寻址范围：</a:t>
            </a:r>
            <a:endParaRPr lang="zh-CN" altLang="en-US" sz="2400" b="0" dirty="0">
              <a:solidFill>
                <a:schemeClr val="tx2"/>
              </a:solidFill>
              <a:latin typeface="黑体" panose="02010609060101010101" pitchFamily="49" charset="-122"/>
              <a:ea typeface="黑体" panose="02010609060101010101" pitchFamily="49" charset="-122"/>
            </a:endParaRPr>
          </a:p>
          <a:p>
            <a:pPr>
              <a:lnSpc>
                <a:spcPct val="120000"/>
              </a:lnSpc>
              <a:buNone/>
            </a:pPr>
            <a:r>
              <a:rPr lang="zh-CN" altLang="en-US" sz="2400" b="0" dirty="0">
                <a:solidFill>
                  <a:schemeClr val="tx2"/>
                </a:solidFill>
                <a:latin typeface="黑体" panose="02010609060101010101" pitchFamily="49" charset="-122"/>
                <a:ea typeface="黑体" panose="02010609060101010101" pitchFamily="49" charset="-122"/>
              </a:rPr>
              <a:t>  </a:t>
            </a:r>
            <a:r>
              <a:rPr lang="en-US" altLang="zh-CN" sz="2400" b="0" dirty="0">
                <a:solidFill>
                  <a:schemeClr val="tx2"/>
                </a:solidFill>
                <a:latin typeface="黑体" panose="02010609060101010101" pitchFamily="49" charset="-122"/>
                <a:ea typeface="黑体" panose="02010609060101010101" pitchFamily="49" charset="-122"/>
              </a:rPr>
              <a:t>(1) </a:t>
            </a:r>
            <a:r>
              <a:rPr lang="zh-CN" altLang="en-US" sz="2400" b="0" dirty="0">
                <a:solidFill>
                  <a:schemeClr val="tx2"/>
                </a:solidFill>
                <a:latin typeface="黑体" panose="02010609060101010101" pitchFamily="49" charset="-122"/>
                <a:ea typeface="黑体" panose="02010609060101010101" pitchFamily="49" charset="-122"/>
              </a:rPr>
              <a:t>内部</a:t>
            </a:r>
            <a:r>
              <a:rPr lang="en-US" altLang="zh-CN" sz="2400" b="0" dirty="0">
                <a:solidFill>
                  <a:schemeClr val="tx2"/>
                </a:solidFill>
                <a:latin typeface="黑体" panose="02010609060101010101" pitchFamily="49" charset="-122"/>
                <a:ea typeface="黑体" panose="02010609060101010101" pitchFamily="49" charset="-122"/>
              </a:rPr>
              <a:t>RAM</a:t>
            </a:r>
            <a:r>
              <a:rPr lang="zh-CN" altLang="en-US" sz="2400" b="0" dirty="0">
                <a:solidFill>
                  <a:schemeClr val="tx2"/>
                </a:solidFill>
                <a:latin typeface="黑体" panose="02010609060101010101" pitchFamily="49" charset="-122"/>
                <a:ea typeface="黑体" panose="02010609060101010101" pitchFamily="49" charset="-122"/>
              </a:rPr>
              <a:t>的</a:t>
            </a:r>
            <a:r>
              <a:rPr lang="en-US" altLang="zh-CN" sz="2400" b="0" dirty="0">
                <a:solidFill>
                  <a:schemeClr val="tx2"/>
                </a:solidFill>
                <a:latin typeface="黑体" panose="02010609060101010101" pitchFamily="49" charset="-122"/>
                <a:ea typeface="黑体" panose="02010609060101010101" pitchFamily="49" charset="-122"/>
              </a:rPr>
              <a:t>128</a:t>
            </a:r>
            <a:r>
              <a:rPr lang="zh-CN" altLang="en-US" sz="2400" b="0" dirty="0">
                <a:solidFill>
                  <a:schemeClr val="tx2"/>
                </a:solidFill>
                <a:latin typeface="黑体" panose="02010609060101010101" pitchFamily="49" charset="-122"/>
                <a:ea typeface="黑体" panose="02010609060101010101" pitchFamily="49" charset="-122"/>
              </a:rPr>
              <a:t>个单元（00H~7FH）。</a:t>
            </a:r>
            <a:endParaRPr lang="zh-CN" altLang="en-US" sz="2000" b="0" dirty="0">
              <a:latin typeface="黑体" panose="02010609060101010101" pitchFamily="49" charset="-122"/>
              <a:ea typeface="黑体" panose="02010609060101010101" pitchFamily="49" charset="-122"/>
            </a:endParaRPr>
          </a:p>
          <a:p>
            <a:pPr>
              <a:lnSpc>
                <a:spcPct val="120000"/>
              </a:lnSpc>
              <a:buNone/>
            </a:pPr>
            <a:r>
              <a:rPr lang="zh-CN" altLang="en-US" sz="2400" b="0" dirty="0">
                <a:solidFill>
                  <a:schemeClr val="tx2"/>
                </a:solidFill>
                <a:latin typeface="黑体" panose="02010609060101010101" pitchFamily="49" charset="-122"/>
                <a:ea typeface="黑体" panose="02010609060101010101" pitchFamily="49" charset="-122"/>
              </a:rPr>
              <a:t>	</a:t>
            </a:r>
            <a:r>
              <a:rPr lang="en-US" altLang="zh-CN" sz="2400" b="0" dirty="0">
                <a:solidFill>
                  <a:schemeClr val="tx2"/>
                </a:solidFill>
                <a:latin typeface="黑体" panose="02010609060101010101" pitchFamily="49" charset="-122"/>
                <a:ea typeface="黑体" panose="02010609060101010101" pitchFamily="49" charset="-122"/>
              </a:rPr>
              <a:t>(2) </a:t>
            </a:r>
            <a:r>
              <a:rPr lang="zh-CN" altLang="en-US" sz="2400" b="0" dirty="0">
                <a:solidFill>
                  <a:schemeClr val="tx2"/>
                </a:solidFill>
                <a:latin typeface="黑体" panose="02010609060101010101" pitchFamily="49" charset="-122"/>
                <a:ea typeface="黑体" panose="02010609060101010101" pitchFamily="49" charset="-122"/>
              </a:rPr>
              <a:t>特殊功能寄存器。除了以单元地址的形式外</a:t>
            </a:r>
            <a:r>
              <a:rPr lang="en-US" altLang="zh-CN" sz="2400" b="0" dirty="0">
                <a:solidFill>
                  <a:schemeClr val="tx2"/>
                </a:solidFill>
                <a:latin typeface="黑体" panose="02010609060101010101" pitchFamily="49" charset="-122"/>
                <a:ea typeface="黑体" panose="02010609060101010101" pitchFamily="49" charset="-122"/>
              </a:rPr>
              <a:t>,</a:t>
            </a:r>
            <a:r>
              <a:rPr lang="zh-CN" altLang="en-US" sz="2400" b="0" dirty="0">
                <a:solidFill>
                  <a:schemeClr val="tx2"/>
                </a:solidFill>
                <a:latin typeface="黑体" panose="02010609060101010101" pitchFamily="49" charset="-122"/>
                <a:ea typeface="黑体" panose="02010609060101010101" pitchFamily="49" charset="-122"/>
              </a:rPr>
              <a:t>还</a:t>
            </a:r>
            <a:r>
              <a:rPr lang="zh-CN" altLang="en-US" sz="2400" b="0" dirty="0">
                <a:solidFill>
                  <a:schemeClr val="hlink"/>
                </a:solidFill>
                <a:latin typeface="黑体" panose="02010609060101010101" pitchFamily="49" charset="-122"/>
                <a:ea typeface="黑体" panose="02010609060101010101" pitchFamily="49" charset="-122"/>
              </a:rPr>
              <a:t>可用寄存器符号</a:t>
            </a:r>
            <a:r>
              <a:rPr lang="zh-CN" altLang="en-US" sz="2400" b="0" dirty="0">
                <a:solidFill>
                  <a:schemeClr val="tx2"/>
                </a:solidFill>
                <a:latin typeface="黑体" panose="02010609060101010101" pitchFamily="49" charset="-122"/>
                <a:ea typeface="黑体" panose="02010609060101010101" pitchFamily="49" charset="-122"/>
              </a:rPr>
              <a:t>的形式给出。例如：</a:t>
            </a:r>
            <a:endParaRPr lang="zh-CN" altLang="en-US" sz="2400" b="0" dirty="0">
              <a:solidFill>
                <a:schemeClr val="tx2"/>
              </a:solidFill>
              <a:latin typeface="黑体" panose="02010609060101010101" pitchFamily="49" charset="-122"/>
              <a:ea typeface="黑体" panose="02010609060101010101" pitchFamily="49" charset="-122"/>
            </a:endParaRPr>
          </a:p>
          <a:p>
            <a:pPr>
              <a:lnSpc>
                <a:spcPct val="120000"/>
              </a:lnSpc>
              <a:buNone/>
            </a:pPr>
            <a:r>
              <a:rPr lang="zh-CN" altLang="en-US" sz="2400" b="0" dirty="0">
                <a:solidFill>
                  <a:schemeClr val="tx2"/>
                </a:solidFill>
                <a:latin typeface="黑体" panose="02010609060101010101" pitchFamily="49" charset="-122"/>
                <a:ea typeface="黑体" panose="02010609060101010101" pitchFamily="49" charset="-122"/>
              </a:rPr>
              <a:t>      </a:t>
            </a:r>
            <a:r>
              <a:rPr lang="en-US" altLang="zh-CN" sz="2400" b="0" dirty="0">
                <a:solidFill>
                  <a:srgbClr val="FF0000"/>
                </a:solidFill>
                <a:latin typeface="黑体" panose="02010609060101010101" pitchFamily="49" charset="-122"/>
                <a:ea typeface="黑体" panose="02010609060101010101" pitchFamily="49" charset="-122"/>
              </a:rPr>
              <a:t>MOV  A</a:t>
            </a:r>
            <a:r>
              <a:rPr lang="zh-CN" altLang="en-US" sz="2400" b="0" dirty="0">
                <a:solidFill>
                  <a:srgbClr val="FF0000"/>
                </a:solidFill>
                <a:latin typeface="黑体" panose="02010609060101010101" pitchFamily="49" charset="-122"/>
                <a:ea typeface="黑体" panose="02010609060101010101" pitchFamily="49" charset="-122"/>
              </a:rPr>
              <a:t>，</a:t>
            </a:r>
            <a:r>
              <a:rPr lang="en-US" altLang="zh-CN" sz="2400" b="0" dirty="0">
                <a:solidFill>
                  <a:srgbClr val="FF0000"/>
                </a:solidFill>
                <a:latin typeface="黑体" panose="02010609060101010101" pitchFamily="49" charset="-122"/>
                <a:ea typeface="黑体" panose="02010609060101010101" pitchFamily="49" charset="-122"/>
              </a:rPr>
              <a:t>80H</a:t>
            </a:r>
            <a:r>
              <a:rPr lang="en-US" altLang="zh-CN" sz="2400" b="0" dirty="0">
                <a:solidFill>
                  <a:schemeClr val="hlink"/>
                </a:solidFill>
                <a:latin typeface="黑体" panose="02010609060101010101" pitchFamily="49" charset="-122"/>
                <a:ea typeface="黑体" panose="02010609060101010101" pitchFamily="49" charset="-122"/>
              </a:rPr>
              <a:t> </a:t>
            </a:r>
            <a:r>
              <a:rPr lang="zh-CN" altLang="en-US" sz="2400" b="0" dirty="0">
                <a:solidFill>
                  <a:schemeClr val="hlink"/>
                </a:solidFill>
                <a:latin typeface="黑体" panose="02010609060101010101" pitchFamily="49" charset="-122"/>
                <a:ea typeface="黑体" panose="02010609060101010101" pitchFamily="49" charset="-122"/>
              </a:rPr>
              <a:t>与  </a:t>
            </a:r>
            <a:r>
              <a:rPr lang="en-US" altLang="zh-CN" sz="2400" b="0" dirty="0">
                <a:solidFill>
                  <a:srgbClr val="FF0000"/>
                </a:solidFill>
                <a:latin typeface="黑体" panose="02010609060101010101" pitchFamily="49" charset="-122"/>
                <a:ea typeface="黑体" panose="02010609060101010101" pitchFamily="49" charset="-122"/>
              </a:rPr>
              <a:t>MOV  A</a:t>
            </a:r>
            <a:r>
              <a:rPr lang="zh-CN" altLang="en-US" sz="2400" b="0" dirty="0">
                <a:solidFill>
                  <a:srgbClr val="FF0000"/>
                </a:solidFill>
                <a:latin typeface="黑体" panose="02010609060101010101" pitchFamily="49" charset="-122"/>
                <a:ea typeface="黑体" panose="02010609060101010101" pitchFamily="49" charset="-122"/>
              </a:rPr>
              <a:t>，</a:t>
            </a:r>
            <a:r>
              <a:rPr lang="en-US" altLang="zh-CN" sz="2400" b="0" dirty="0">
                <a:solidFill>
                  <a:srgbClr val="FF0000"/>
                </a:solidFill>
                <a:latin typeface="黑体" panose="02010609060101010101" pitchFamily="49" charset="-122"/>
                <a:ea typeface="黑体" panose="02010609060101010101" pitchFamily="49" charset="-122"/>
              </a:rPr>
              <a:t>P0</a:t>
            </a:r>
            <a:r>
              <a:rPr lang="zh-CN" altLang="en-US" sz="2400" b="0" dirty="0">
                <a:solidFill>
                  <a:schemeClr val="hlink"/>
                </a:solidFill>
                <a:latin typeface="黑体" panose="02010609060101010101" pitchFamily="49" charset="-122"/>
                <a:ea typeface="黑体" panose="02010609060101010101" pitchFamily="49" charset="-122"/>
              </a:rPr>
              <a:t>是等价的</a:t>
            </a:r>
            <a:r>
              <a:rPr lang="zh-CN" altLang="en-US" sz="2400" b="0" dirty="0">
                <a:solidFill>
                  <a:schemeClr val="tx2"/>
                </a:solidFill>
                <a:latin typeface="黑体" panose="02010609060101010101" pitchFamily="49" charset="-122"/>
                <a:ea typeface="黑体" panose="02010609060101010101" pitchFamily="49" charset="-122"/>
              </a:rPr>
              <a:t>。</a:t>
            </a:r>
            <a:endParaRPr lang="zh-CN" altLang="en-US" sz="2400" b="0" dirty="0">
              <a:solidFill>
                <a:schemeClr val="tx2"/>
              </a:solidFill>
              <a:latin typeface="黑体" panose="02010609060101010101" pitchFamily="49" charset="-122"/>
              <a:ea typeface="黑体" panose="02010609060101010101" pitchFamily="49" charset="-122"/>
            </a:endParaRPr>
          </a:p>
          <a:p>
            <a:pPr>
              <a:lnSpc>
                <a:spcPct val="120000"/>
              </a:lnSpc>
              <a:buNone/>
            </a:pPr>
            <a:r>
              <a:rPr lang="zh-CN" altLang="en-US" sz="2400" b="0" dirty="0">
                <a:solidFill>
                  <a:schemeClr val="tx2"/>
                </a:solidFill>
                <a:latin typeface="黑体" panose="02010609060101010101" pitchFamily="49" charset="-122"/>
                <a:ea typeface="黑体" panose="02010609060101010101" pitchFamily="49" charset="-122"/>
              </a:rPr>
              <a:t> （</a:t>
            </a:r>
            <a:r>
              <a:rPr lang="en-US" altLang="zh-CN" sz="2400" b="0" dirty="0">
                <a:solidFill>
                  <a:schemeClr val="tx2"/>
                </a:solidFill>
                <a:latin typeface="黑体" panose="02010609060101010101" pitchFamily="49" charset="-122"/>
                <a:ea typeface="黑体" panose="02010609060101010101" pitchFamily="49" charset="-122"/>
              </a:rPr>
              <a:t>3</a:t>
            </a:r>
            <a:r>
              <a:rPr lang="zh-CN" altLang="en-US" sz="2400" b="0" dirty="0">
                <a:solidFill>
                  <a:schemeClr val="tx2"/>
                </a:solidFill>
                <a:latin typeface="黑体" panose="02010609060101010101" pitchFamily="49" charset="-122"/>
                <a:ea typeface="黑体" panose="02010609060101010101" pitchFamily="49" charset="-122"/>
              </a:rPr>
              <a:t>）位地址空间</a:t>
            </a:r>
            <a:endParaRPr lang="zh-CN" altLang="en-US" sz="2400" b="0" dirty="0">
              <a:solidFill>
                <a:schemeClr val="tx2"/>
              </a:solidFill>
              <a:latin typeface="黑体" panose="02010609060101010101" pitchFamily="49" charset="-122"/>
              <a:ea typeface="黑体" panose="02010609060101010101" pitchFamily="49" charset="-122"/>
            </a:endParaRPr>
          </a:p>
        </p:txBody>
      </p:sp>
      <p:sp>
        <p:nvSpPr>
          <p:cNvPr id="87042" name="Rectangle 2"/>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第三章     </a:t>
            </a:r>
            <a:r>
              <a:rPr kumimoji="1" lang="en-US" altLang="zh-CN"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794">
                                            <p:txEl>
                                              <p:charRg st="11" end="17"/>
                                            </p:txEl>
                                          </p:spTgt>
                                        </p:tgtEl>
                                        <p:attrNameLst>
                                          <p:attrName>style.visibility</p:attrName>
                                        </p:attrNameLst>
                                      </p:cBhvr>
                                      <p:to>
                                        <p:strVal val="visible"/>
                                      </p:to>
                                    </p:set>
                                    <p:animEffect transition="in" filter="blinds(horizontal)">
                                      <p:cBhvr>
                                        <p:cTn id="7" dur="500"/>
                                        <p:tgtEl>
                                          <p:spTgt spid="33794">
                                            <p:txEl>
                                              <p:charRg st="11" end="17"/>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3794">
                                            <p:txEl>
                                              <p:charRg st="17" end="102"/>
                                            </p:txEl>
                                          </p:spTgt>
                                        </p:tgtEl>
                                        <p:attrNameLst>
                                          <p:attrName>style.visibility</p:attrName>
                                        </p:attrNameLst>
                                      </p:cBhvr>
                                      <p:to>
                                        <p:strVal val="visible"/>
                                      </p:to>
                                    </p:set>
                                    <p:animEffect transition="in" filter="blinds(horizontal)">
                                      <p:cBhvr>
                                        <p:cTn id="12" dur="500"/>
                                        <p:tgtEl>
                                          <p:spTgt spid="33794">
                                            <p:txEl>
                                              <p:charRg st="17" end="10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3794">
                                            <p:txEl>
                                              <p:charRg st="102" end="145"/>
                                            </p:txEl>
                                          </p:spTgt>
                                        </p:tgtEl>
                                        <p:attrNameLst>
                                          <p:attrName>style.visibility</p:attrName>
                                        </p:attrNameLst>
                                      </p:cBhvr>
                                      <p:to>
                                        <p:strVal val="visible"/>
                                      </p:to>
                                    </p:set>
                                    <p:animEffect transition="in" filter="blinds(horizontal)">
                                      <p:cBhvr>
                                        <p:cTn id="17" dur="500"/>
                                        <p:tgtEl>
                                          <p:spTgt spid="33794">
                                            <p:txEl>
                                              <p:charRg st="102" end="14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3794">
                                            <p:txEl>
                                              <p:charRg st="145" end="180"/>
                                            </p:txEl>
                                          </p:spTgt>
                                        </p:tgtEl>
                                        <p:attrNameLst>
                                          <p:attrName>style.visibility</p:attrName>
                                        </p:attrNameLst>
                                      </p:cBhvr>
                                      <p:to>
                                        <p:strVal val="visible"/>
                                      </p:to>
                                    </p:set>
                                    <p:animEffect transition="in" filter="blinds(horizontal)">
                                      <p:cBhvr>
                                        <p:cTn id="22" dur="500"/>
                                        <p:tgtEl>
                                          <p:spTgt spid="33794">
                                            <p:txEl>
                                              <p:charRg st="145" end="18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3794">
                                            <p:txEl>
                                              <p:charRg st="180" end="190"/>
                                            </p:txEl>
                                          </p:spTgt>
                                        </p:tgtEl>
                                        <p:attrNameLst>
                                          <p:attrName>style.visibility</p:attrName>
                                        </p:attrNameLst>
                                      </p:cBhvr>
                                      <p:to>
                                        <p:strVal val="visible"/>
                                      </p:to>
                                    </p:set>
                                    <p:animEffect transition="in" filter="blinds(horizontal)">
                                      <p:cBhvr>
                                        <p:cTn id="27" dur="500"/>
                                        <p:tgtEl>
                                          <p:spTgt spid="33794">
                                            <p:txEl>
                                              <p:charRg st="180" end="19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4"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Rectangle 3"/>
          <p:cNvSpPr>
            <a:spLocks noGrp="1"/>
          </p:cNvSpPr>
          <p:nvPr>
            <p:ph type="body" idx="4294967295"/>
          </p:nvPr>
        </p:nvSpPr>
        <p:spPr>
          <a:xfrm>
            <a:off x="228600" y="996950"/>
            <a:ext cx="4700588" cy="574675"/>
          </a:xfrm>
        </p:spPr>
        <p:txBody>
          <a:bodyPr vert="horz" wrap="square" lIns="91440" tIns="45720" rIns="91440" bIns="45720" anchor="t" anchorCtr="0"/>
          <a:p>
            <a:pPr algn="just">
              <a:lnSpc>
                <a:spcPct val="100000"/>
              </a:lnSpc>
              <a:spcBef>
                <a:spcPct val="0"/>
              </a:spcBef>
              <a:buNone/>
            </a:pPr>
            <a:r>
              <a:rPr lang="zh-CN" altLang="en-US" dirty="0">
                <a:latin typeface="宋体" pitchFamily="2" charset="-122"/>
              </a:rPr>
              <a:t>三、</a:t>
            </a:r>
            <a:r>
              <a:rPr lang="zh-CN" altLang="en-US" dirty="0">
                <a:solidFill>
                  <a:srgbClr val="FF0000"/>
                </a:solidFill>
                <a:latin typeface="宋体" pitchFamily="2" charset="-122"/>
              </a:rPr>
              <a:t>立即寻址方式</a:t>
            </a:r>
            <a:endParaRPr lang="en-US" altLang="zh-CN" dirty="0">
              <a:solidFill>
                <a:srgbClr val="FF0000"/>
              </a:solidFill>
              <a:latin typeface="宋体" pitchFamily="2" charset="-122"/>
            </a:endParaRPr>
          </a:p>
          <a:p>
            <a:pPr>
              <a:lnSpc>
                <a:spcPct val="120000"/>
              </a:lnSpc>
              <a:buNone/>
            </a:pPr>
            <a:r>
              <a:rPr lang="en-US" altLang="zh-CN" b="0" dirty="0">
                <a:solidFill>
                  <a:schemeClr val="tx2"/>
                </a:solidFill>
                <a:latin typeface="黑体" panose="02010609060101010101" pitchFamily="49" charset="-122"/>
                <a:ea typeface="黑体" panose="02010609060101010101" pitchFamily="49" charset="-122"/>
              </a:rPr>
              <a:t> </a:t>
            </a:r>
            <a:endParaRPr lang="en-US" altLang="zh-CN" b="0" dirty="0">
              <a:solidFill>
                <a:schemeClr val="tx2"/>
              </a:solidFill>
              <a:latin typeface="黑体" panose="02010609060101010101" pitchFamily="49" charset="-122"/>
              <a:ea typeface="黑体" panose="02010609060101010101" pitchFamily="49" charset="-122"/>
            </a:endParaRPr>
          </a:p>
        </p:txBody>
      </p:sp>
      <p:sp>
        <p:nvSpPr>
          <p:cNvPr id="87042" name="Rectangle 2"/>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第三章     </a:t>
            </a:r>
            <a:r>
              <a:rPr kumimoji="1" lang="en-US" altLang="zh-CN"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5" name="Rectangle 3"/>
          <p:cNvSpPr/>
          <p:nvPr/>
        </p:nvSpPr>
        <p:spPr>
          <a:xfrm>
            <a:off x="0" y="1714500"/>
            <a:ext cx="3887788" cy="1368425"/>
          </a:xfrm>
          <a:prstGeom prst="rect">
            <a:avLst/>
          </a:prstGeom>
          <a:noFill/>
          <a:ln w="9525">
            <a:noFill/>
          </a:ln>
        </p:spPr>
        <p:txBody>
          <a:bodyPr anchor="t" anchorCtr="0"/>
          <a:p>
            <a:pPr indent="485775" algn="just" eaLnBrk="0" hangingPunct="0">
              <a:buBlip>
                <a:blip r:embed="rId1"/>
              </a:buBlip>
            </a:pPr>
            <a:r>
              <a:rPr lang="zh-CN" altLang="en-US" dirty="0">
                <a:latin typeface="Times New Roman" panose="02020503050405090304" pitchFamily="18" charset="0"/>
                <a:ea typeface="仿宋_GB2312" pitchFamily="49" charset="-122"/>
              </a:rPr>
              <a:t>操作数在指令编码中</a:t>
            </a:r>
            <a:endParaRPr lang="zh-CN" altLang="en-US" dirty="0">
              <a:latin typeface="Times New Roman" panose="02020503050405090304" pitchFamily="18" charset="0"/>
              <a:ea typeface="仿宋_GB2312" pitchFamily="49" charset="-122"/>
            </a:endParaRPr>
          </a:p>
          <a:p>
            <a:pPr indent="485775" algn="just" eaLnBrk="0" hangingPunct="0">
              <a:buBlip>
                <a:blip r:embed="rId1"/>
              </a:buBlip>
            </a:pPr>
            <a:r>
              <a:rPr lang="zh-CN" altLang="en-US" dirty="0">
                <a:latin typeface="Times New Roman" panose="02020503050405090304" pitchFamily="18" charset="0"/>
                <a:ea typeface="仿宋_GB2312" pitchFamily="49" charset="-122"/>
              </a:rPr>
              <a:t>寻址空间：</a:t>
            </a:r>
            <a:endParaRPr lang="zh-CN" altLang="en-US" dirty="0">
              <a:latin typeface="Times New Roman" panose="02020503050405090304" pitchFamily="18" charset="0"/>
              <a:ea typeface="仿宋_GB2312" pitchFamily="49" charset="-122"/>
            </a:endParaRPr>
          </a:p>
          <a:p>
            <a:pPr indent="485775" algn="just" eaLnBrk="0" hangingPunct="0">
              <a:buNone/>
            </a:pPr>
            <a:r>
              <a:rPr lang="en-US" altLang="zh-CN" dirty="0">
                <a:solidFill>
                  <a:srgbClr val="666633"/>
                </a:solidFill>
                <a:latin typeface="Times New Roman" panose="02020503050405090304" pitchFamily="18" charset="0"/>
                <a:ea typeface="仿宋_GB2312" pitchFamily="49" charset="-122"/>
              </a:rPr>
              <a:t>ROM</a:t>
            </a:r>
            <a:endParaRPr lang="zh-CN" altLang="en-US" dirty="0">
              <a:solidFill>
                <a:srgbClr val="666633"/>
              </a:solidFill>
              <a:latin typeface="Times New Roman" panose="02020503050405090304" pitchFamily="18" charset="0"/>
              <a:ea typeface="仿宋_GB2312" pitchFamily="49" charset="-122"/>
            </a:endParaRPr>
          </a:p>
        </p:txBody>
      </p:sp>
      <p:sp>
        <p:nvSpPr>
          <p:cNvPr id="51204" name="Rectangle 6"/>
          <p:cNvSpPr/>
          <p:nvPr/>
        </p:nvSpPr>
        <p:spPr>
          <a:xfrm>
            <a:off x="0" y="2743200"/>
            <a:ext cx="9144000" cy="0"/>
          </a:xfrm>
          <a:prstGeom prst="rect">
            <a:avLst/>
          </a:prstGeom>
          <a:noFill/>
          <a:ln w="9525">
            <a:noFill/>
          </a:ln>
        </p:spPr>
        <p:txBody>
          <a:bodyPr wrap="none" anchor="ctr" anchorCtr="0">
            <a:spAutoFit/>
          </a:bodyPr>
          <a:p>
            <a:pPr eaLnBrk="0" hangingPunct="0"/>
            <a:endParaRPr lang="zh-CN" altLang="en-US" dirty="0">
              <a:latin typeface="Times New Roman" panose="02020503050405090304" pitchFamily="18" charset="0"/>
              <a:ea typeface="仿宋_GB2312" pitchFamily="49" charset="-122"/>
            </a:endParaRPr>
          </a:p>
        </p:txBody>
      </p:sp>
      <p:graphicFrame>
        <p:nvGraphicFramePr>
          <p:cNvPr id="7" name="Object 5"/>
          <p:cNvGraphicFramePr/>
          <p:nvPr/>
        </p:nvGraphicFramePr>
        <p:xfrm>
          <a:off x="3887788" y="2849563"/>
          <a:ext cx="5399087" cy="2635250"/>
        </p:xfrm>
        <a:graphic>
          <a:graphicData uri="http://schemas.openxmlformats.org/presentationml/2006/ole">
            <mc:AlternateContent xmlns:mc="http://schemas.openxmlformats.org/markup-compatibility/2006">
              <mc:Choice xmlns:v="urn:schemas-microsoft-com:vml" Requires="v">
                <p:oleObj spid="_x0000_s3079" name="" r:id="rId2" imgW="3065145" imgH="1496060" progId="Visio.Drawing.11">
                  <p:embed/>
                </p:oleObj>
              </mc:Choice>
              <mc:Fallback>
                <p:oleObj name="" r:id="rId2" imgW="3065145" imgH="1496060" progId="Visio.Drawing.11">
                  <p:embed/>
                  <p:pic>
                    <p:nvPicPr>
                      <p:cNvPr id="0" name="Picture 3078"/>
                      <p:cNvPicPr/>
                      <p:nvPr/>
                    </p:nvPicPr>
                    <p:blipFill>
                      <a:blip r:embed="rId3"/>
                      <a:stretch>
                        <a:fillRect/>
                      </a:stretch>
                    </p:blipFill>
                    <p:spPr>
                      <a:xfrm>
                        <a:off x="3887788" y="2849563"/>
                        <a:ext cx="5399087" cy="2635250"/>
                      </a:xfrm>
                      <a:prstGeom prst="rect">
                        <a:avLst/>
                      </a:prstGeom>
                      <a:noFill/>
                      <a:ln w="38100">
                        <a:noFill/>
                        <a:miter/>
                      </a:ln>
                    </p:spPr>
                  </p:pic>
                </p:oleObj>
              </mc:Fallback>
            </mc:AlternateContent>
          </a:graphicData>
        </a:graphic>
      </p:graphicFrame>
      <p:sp>
        <p:nvSpPr>
          <p:cNvPr id="8" name="Rectangle 7"/>
          <p:cNvSpPr/>
          <p:nvPr/>
        </p:nvSpPr>
        <p:spPr>
          <a:xfrm>
            <a:off x="827088" y="5500688"/>
            <a:ext cx="7993062" cy="1196975"/>
          </a:xfrm>
          <a:prstGeom prst="rect">
            <a:avLst/>
          </a:prstGeom>
          <a:noFill/>
          <a:ln w="9525">
            <a:noFill/>
          </a:ln>
        </p:spPr>
        <p:txBody>
          <a:bodyPr anchor="t" anchorCtr="0"/>
          <a:p>
            <a:pPr indent="457200" algn="just" eaLnBrk="0" hangingPunct="0">
              <a:lnSpc>
                <a:spcPct val="120000"/>
              </a:lnSpc>
            </a:pPr>
            <a:r>
              <a:rPr lang="zh-CN" altLang="en-US" dirty="0">
                <a:solidFill>
                  <a:srgbClr val="0A10F8"/>
                </a:solidFill>
                <a:latin typeface="Times New Roman" panose="02020503050405090304" pitchFamily="18" charset="0"/>
                <a:ea typeface="仿宋_GB2312" pitchFamily="49" charset="-122"/>
              </a:rPr>
              <a:t>对于</a:t>
            </a:r>
            <a:r>
              <a:rPr lang="en-US" altLang="zh-CN" dirty="0">
                <a:solidFill>
                  <a:srgbClr val="0A10F8"/>
                </a:solidFill>
                <a:latin typeface="Times New Roman" panose="02020503050405090304" pitchFamily="18" charset="0"/>
                <a:ea typeface="仿宋_GB2312" pitchFamily="49" charset="-122"/>
              </a:rPr>
              <a:t>MOV DPTR</a:t>
            </a:r>
            <a:r>
              <a:rPr lang="zh-CN" altLang="en-US" dirty="0">
                <a:solidFill>
                  <a:srgbClr val="0A10F8"/>
                </a:solidFill>
                <a:latin typeface="Times New Roman" panose="02020503050405090304" pitchFamily="18" charset="0"/>
                <a:ea typeface="仿宋_GB2312" pitchFamily="49" charset="-122"/>
              </a:rPr>
              <a:t>，</a:t>
            </a:r>
            <a:r>
              <a:rPr lang="en-US" altLang="zh-CN" dirty="0">
                <a:solidFill>
                  <a:srgbClr val="0A10F8"/>
                </a:solidFill>
                <a:latin typeface="Times New Roman" panose="02020503050405090304" pitchFamily="18" charset="0"/>
                <a:ea typeface="仿宋_GB2312" pitchFamily="49" charset="-122"/>
              </a:rPr>
              <a:t>#2100H</a:t>
            </a:r>
            <a:r>
              <a:rPr lang="zh-CN" altLang="en-US" dirty="0">
                <a:solidFill>
                  <a:srgbClr val="0A10F8"/>
                </a:solidFill>
                <a:latin typeface="Times New Roman" panose="02020503050405090304" pitchFamily="18" charset="0"/>
                <a:ea typeface="仿宋_GB2312" pitchFamily="49" charset="-122"/>
              </a:rPr>
              <a:t>指令，立即数高</a:t>
            </a:r>
            <a:r>
              <a:rPr lang="en-US" altLang="zh-CN" dirty="0">
                <a:solidFill>
                  <a:srgbClr val="0A10F8"/>
                </a:solidFill>
                <a:latin typeface="Times New Roman" panose="02020503050405090304" pitchFamily="18" charset="0"/>
                <a:ea typeface="仿宋_GB2312" pitchFamily="49" charset="-122"/>
              </a:rPr>
              <a:t>8</a:t>
            </a:r>
            <a:r>
              <a:rPr lang="zh-CN" altLang="en-US" dirty="0">
                <a:solidFill>
                  <a:srgbClr val="0A10F8"/>
                </a:solidFill>
                <a:latin typeface="Times New Roman" panose="02020503050405090304" pitchFamily="18" charset="0"/>
                <a:ea typeface="仿宋_GB2312" pitchFamily="49" charset="-122"/>
              </a:rPr>
              <a:t>位</a:t>
            </a:r>
            <a:r>
              <a:rPr lang="zh-CN" altLang="en-US" dirty="0">
                <a:solidFill>
                  <a:srgbClr val="0A10F8"/>
                </a:solidFill>
                <a:latin typeface="Arial" panose="020B0604020202090204" pitchFamily="34" charset="0"/>
                <a:ea typeface="仿宋_GB2312" pitchFamily="49" charset="-122"/>
              </a:rPr>
              <a:t>“</a:t>
            </a:r>
            <a:r>
              <a:rPr lang="en-US" altLang="zh-CN" dirty="0">
                <a:solidFill>
                  <a:srgbClr val="0A10F8"/>
                </a:solidFill>
                <a:latin typeface="Times New Roman" panose="02020503050405090304" pitchFamily="18" charset="0"/>
                <a:ea typeface="仿宋_GB2312" pitchFamily="49" charset="-122"/>
              </a:rPr>
              <a:t>21H</a:t>
            </a:r>
            <a:r>
              <a:rPr lang="en-US" altLang="zh-CN" dirty="0">
                <a:solidFill>
                  <a:srgbClr val="0A10F8"/>
                </a:solidFill>
                <a:latin typeface="Arial" panose="020B0604020202090204" pitchFamily="34" charset="0"/>
                <a:ea typeface="仿宋_GB2312" pitchFamily="49" charset="-122"/>
              </a:rPr>
              <a:t>”</a:t>
            </a:r>
            <a:r>
              <a:rPr lang="zh-CN" altLang="en-US" dirty="0">
                <a:solidFill>
                  <a:srgbClr val="0A10F8"/>
                </a:solidFill>
                <a:latin typeface="Times New Roman" panose="02020503050405090304" pitchFamily="18" charset="0"/>
                <a:ea typeface="仿宋_GB2312" pitchFamily="49" charset="-122"/>
              </a:rPr>
              <a:t>装入</a:t>
            </a:r>
            <a:r>
              <a:rPr lang="en-US" altLang="zh-CN" dirty="0">
                <a:solidFill>
                  <a:srgbClr val="0A10F8"/>
                </a:solidFill>
                <a:latin typeface="Times New Roman" panose="02020503050405090304" pitchFamily="18" charset="0"/>
                <a:ea typeface="仿宋_GB2312" pitchFamily="49" charset="-122"/>
              </a:rPr>
              <a:t>DPH </a:t>
            </a:r>
            <a:r>
              <a:rPr lang="zh-CN" altLang="en-US" dirty="0">
                <a:solidFill>
                  <a:srgbClr val="0A10F8"/>
                </a:solidFill>
                <a:latin typeface="Times New Roman" panose="02020503050405090304" pitchFamily="18" charset="0"/>
                <a:ea typeface="仿宋_GB2312" pitchFamily="49" charset="-122"/>
              </a:rPr>
              <a:t> ，低</a:t>
            </a:r>
            <a:r>
              <a:rPr lang="en-US" altLang="zh-CN" dirty="0">
                <a:solidFill>
                  <a:srgbClr val="0A10F8"/>
                </a:solidFill>
                <a:latin typeface="Times New Roman" panose="02020503050405090304" pitchFamily="18" charset="0"/>
                <a:ea typeface="仿宋_GB2312" pitchFamily="49" charset="-122"/>
              </a:rPr>
              <a:t>8</a:t>
            </a:r>
            <a:r>
              <a:rPr lang="zh-CN" altLang="en-US" dirty="0">
                <a:solidFill>
                  <a:srgbClr val="0A10F8"/>
                </a:solidFill>
                <a:latin typeface="Times New Roman" panose="02020503050405090304" pitchFamily="18" charset="0"/>
                <a:ea typeface="仿宋_GB2312" pitchFamily="49" charset="-122"/>
              </a:rPr>
              <a:t>位</a:t>
            </a:r>
            <a:r>
              <a:rPr lang="zh-CN" altLang="en-US" dirty="0">
                <a:solidFill>
                  <a:srgbClr val="0A10F8"/>
                </a:solidFill>
                <a:latin typeface="Arial" panose="020B0604020202090204" pitchFamily="34" charset="0"/>
                <a:ea typeface="仿宋_GB2312" pitchFamily="49" charset="-122"/>
              </a:rPr>
              <a:t>“</a:t>
            </a:r>
            <a:r>
              <a:rPr lang="en-US" altLang="zh-CN" dirty="0">
                <a:solidFill>
                  <a:srgbClr val="0A10F8"/>
                </a:solidFill>
                <a:latin typeface="Arial" panose="020B0604020202090204" pitchFamily="34" charset="0"/>
                <a:ea typeface="仿宋_GB2312" pitchFamily="49" charset="-122"/>
              </a:rPr>
              <a:t>00</a:t>
            </a:r>
            <a:r>
              <a:rPr lang="en-US" altLang="zh-CN" dirty="0">
                <a:solidFill>
                  <a:srgbClr val="0A10F8"/>
                </a:solidFill>
                <a:latin typeface="Times New Roman" panose="02020503050405090304" pitchFamily="18" charset="0"/>
                <a:ea typeface="仿宋_GB2312" pitchFamily="49" charset="-122"/>
              </a:rPr>
              <a:t>H</a:t>
            </a:r>
            <a:r>
              <a:rPr lang="en-US" altLang="zh-CN" dirty="0">
                <a:solidFill>
                  <a:srgbClr val="0A10F8"/>
                </a:solidFill>
                <a:latin typeface="Arial" panose="020B0604020202090204" pitchFamily="34" charset="0"/>
                <a:ea typeface="仿宋_GB2312" pitchFamily="49" charset="-122"/>
              </a:rPr>
              <a:t>”</a:t>
            </a:r>
            <a:r>
              <a:rPr lang="zh-CN" altLang="en-US" dirty="0">
                <a:solidFill>
                  <a:srgbClr val="0A10F8"/>
                </a:solidFill>
                <a:latin typeface="Times New Roman" panose="02020503050405090304" pitchFamily="18" charset="0"/>
                <a:ea typeface="仿宋_GB2312" pitchFamily="49" charset="-122"/>
              </a:rPr>
              <a:t>装入</a:t>
            </a:r>
            <a:r>
              <a:rPr lang="en-US" altLang="zh-CN" dirty="0">
                <a:solidFill>
                  <a:srgbClr val="0A10F8"/>
                </a:solidFill>
                <a:latin typeface="Times New Roman" panose="02020503050405090304" pitchFamily="18" charset="0"/>
                <a:ea typeface="仿宋_GB2312" pitchFamily="49" charset="-122"/>
              </a:rPr>
              <a:t>DPL</a:t>
            </a:r>
            <a:endParaRPr lang="en-US" altLang="zh-CN" dirty="0">
              <a:solidFill>
                <a:srgbClr val="0A10F8"/>
              </a:solidFill>
              <a:latin typeface="Times New Roman" panose="02020503050405090304" pitchFamily="18" charset="0"/>
              <a:ea typeface="仿宋_GB2312" pitchFamily="49" charset="-122"/>
            </a:endParaRPr>
          </a:p>
        </p:txBody>
      </p:sp>
      <p:sp>
        <p:nvSpPr>
          <p:cNvPr id="9" name="Rectangle 8"/>
          <p:cNvSpPr/>
          <p:nvPr/>
        </p:nvSpPr>
        <p:spPr>
          <a:xfrm>
            <a:off x="4859338" y="1557338"/>
            <a:ext cx="4022725" cy="457200"/>
          </a:xfrm>
          <a:prstGeom prst="rect">
            <a:avLst/>
          </a:prstGeom>
          <a:noFill/>
          <a:ln w="9525">
            <a:noFill/>
          </a:ln>
        </p:spPr>
        <p:txBody>
          <a:bodyPr wrap="none" anchor="ctr" anchorCtr="0">
            <a:spAutoFit/>
          </a:bodyPr>
          <a:p>
            <a:pPr eaLnBrk="0" hangingPunct="0">
              <a:buClrTx/>
              <a:buFontTx/>
            </a:pPr>
            <a:r>
              <a:rPr lang="en-US" altLang="zh-CN" b="0" dirty="0">
                <a:latin typeface="Times New Roman" panose="02020503050405090304" pitchFamily="18" charset="0"/>
                <a:ea typeface="仿宋_GB2312" pitchFamily="49" charset="-122"/>
              </a:rPr>
              <a:t>【</a:t>
            </a:r>
            <a:r>
              <a:rPr lang="zh-CN" altLang="en-US" dirty="0">
                <a:latin typeface="Times New Roman" panose="02020503050405090304" pitchFamily="18" charset="0"/>
                <a:ea typeface="仿宋_GB2312" pitchFamily="49" charset="-122"/>
              </a:rPr>
              <a:t>例</a:t>
            </a:r>
            <a:r>
              <a:rPr lang="en-US" altLang="zh-CN" dirty="0">
                <a:latin typeface="Times New Roman" panose="02020503050405090304" pitchFamily="18" charset="0"/>
                <a:ea typeface="仿宋_GB2312" pitchFamily="49" charset="-122"/>
              </a:rPr>
              <a:t>】</a:t>
            </a:r>
            <a:r>
              <a:rPr lang="zh-CN" altLang="en-US" dirty="0">
                <a:latin typeface="Times New Roman" panose="02020503050405090304" pitchFamily="18" charset="0"/>
                <a:ea typeface="仿宋_GB2312" pitchFamily="49" charset="-122"/>
              </a:rPr>
              <a:t>执行</a:t>
            </a:r>
            <a:r>
              <a:rPr lang="en-US" altLang="zh-CN" dirty="0">
                <a:latin typeface="Times New Roman" panose="02020503050405090304" pitchFamily="18" charset="0"/>
                <a:ea typeface="仿宋_GB2312" pitchFamily="49" charset="-122"/>
              </a:rPr>
              <a:t>MOV  A</a:t>
            </a:r>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#50H  </a:t>
            </a:r>
            <a:r>
              <a:rPr lang="zh-CN" altLang="en-US" dirty="0">
                <a:latin typeface="Times New Roman" panose="02020503050405090304" pitchFamily="18" charset="0"/>
                <a:ea typeface="仿宋_GB2312" pitchFamily="49" charset="-122"/>
              </a:rPr>
              <a:t> </a:t>
            </a:r>
            <a:endParaRPr lang="zh-CN" altLang="en-US" dirty="0">
              <a:latin typeface="Times New Roman" panose="02020503050405090304" pitchFamily="18" charset="0"/>
              <a:ea typeface="仿宋_GB2312" pitchFamily="49" charset="-122"/>
            </a:endParaRPr>
          </a:p>
        </p:txBody>
      </p:sp>
      <p:sp>
        <p:nvSpPr>
          <p:cNvPr id="10" name="Rectangle 9"/>
          <p:cNvSpPr/>
          <p:nvPr/>
        </p:nvSpPr>
        <p:spPr>
          <a:xfrm>
            <a:off x="5003800" y="2060575"/>
            <a:ext cx="3101975" cy="457200"/>
          </a:xfrm>
          <a:prstGeom prst="rect">
            <a:avLst/>
          </a:prstGeom>
          <a:noFill/>
          <a:ln w="9525">
            <a:noFill/>
          </a:ln>
        </p:spPr>
        <p:txBody>
          <a:bodyPr wrap="none" anchor="ctr" anchorCtr="0">
            <a:spAutoFit/>
          </a:bodyPr>
          <a:p>
            <a:pPr eaLnBrk="0" hangingPunct="0">
              <a:buClrTx/>
              <a:buFontTx/>
            </a:pPr>
            <a:r>
              <a:rPr lang="zh-CN" altLang="en-US" dirty="0">
                <a:latin typeface="Times New Roman" panose="02020503050405090304" pitchFamily="18" charset="0"/>
                <a:ea typeface="仿宋_GB2312" pitchFamily="49" charset="-122"/>
              </a:rPr>
              <a:t>结果：（</a:t>
            </a:r>
            <a:r>
              <a:rPr lang="en-US" altLang="zh-CN" dirty="0">
                <a:latin typeface="Times New Roman" panose="02020503050405090304" pitchFamily="18" charset="0"/>
                <a:ea typeface="仿宋_GB2312" pitchFamily="49" charset="-122"/>
              </a:rPr>
              <a:t>A</a:t>
            </a:r>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=50H   </a:t>
            </a:r>
            <a:r>
              <a:rPr lang="zh-CN" altLang="en-US" dirty="0">
                <a:latin typeface="Times New Roman" panose="02020503050405090304" pitchFamily="18" charset="0"/>
                <a:ea typeface="仿宋_GB2312" pitchFamily="49" charset="-122"/>
              </a:rPr>
              <a:t> </a:t>
            </a:r>
            <a:endParaRPr lang="zh-CN" altLang="en-US" dirty="0">
              <a:latin typeface="Times New Roman" panose="02020503050405090304" pitchFamily="18" charset="0"/>
              <a:ea typeface="仿宋_GB2312" pitchFamily="49" charset="-122"/>
            </a:endParaRPr>
          </a:p>
        </p:txBody>
      </p:sp>
      <p:sp>
        <p:nvSpPr>
          <p:cNvPr id="11" name="矩形 10"/>
          <p:cNvSpPr/>
          <p:nvPr/>
        </p:nvSpPr>
        <p:spPr>
          <a:xfrm>
            <a:off x="214313" y="2928938"/>
            <a:ext cx="3429000" cy="2265362"/>
          </a:xfrm>
          <a:prstGeom prst="rect">
            <a:avLst/>
          </a:prstGeom>
          <a:noFill/>
          <a:ln w="9525">
            <a:noFill/>
          </a:ln>
        </p:spPr>
        <p:txBody>
          <a:bodyPr anchor="t" anchorCtr="0">
            <a:spAutoFit/>
          </a:bodyPr>
          <a:p>
            <a:pPr eaLnBrk="0" hangingPunct="0">
              <a:lnSpc>
                <a:spcPct val="120000"/>
              </a:lnSpc>
            </a:pPr>
            <a:r>
              <a:rPr lang="zh-CN" altLang="en-US" dirty="0">
                <a:solidFill>
                  <a:schemeClr val="accent2"/>
                </a:solidFill>
                <a:latin typeface="宋体" pitchFamily="2" charset="-122"/>
                <a:ea typeface="仿宋_GB2312" pitchFamily="49" charset="-122"/>
              </a:rPr>
              <a:t>立即数：</a:t>
            </a:r>
            <a:r>
              <a:rPr lang="zh-CN" altLang="en-US" b="0" dirty="0">
                <a:solidFill>
                  <a:srgbClr val="3333CC"/>
                </a:solidFill>
                <a:latin typeface="Times New Roman" panose="02020503050405090304" pitchFamily="18" charset="0"/>
                <a:ea typeface="黑体" panose="02010609060101010101" pitchFamily="49" charset="-122"/>
              </a:rPr>
              <a:t>在指令中直接给出了参与运算的操作数。</a:t>
            </a:r>
            <a:r>
              <a:rPr lang="zh-CN" altLang="en-US" dirty="0">
                <a:solidFill>
                  <a:srgbClr val="000000"/>
                </a:solidFill>
                <a:latin typeface="黑体" panose="02010609060101010101" pitchFamily="49" charset="-122"/>
                <a:ea typeface="黑体" panose="02010609060101010101" pitchFamily="49" charset="-122"/>
              </a:rPr>
              <a:t>需在操作数前面加前缀 </a:t>
            </a:r>
            <a:r>
              <a:rPr lang="zh-CN" altLang="en-US" dirty="0">
                <a:solidFill>
                  <a:srgbClr val="000000"/>
                </a:solidFill>
                <a:latin typeface="Times New Roman" panose="02020503050405090304" pitchFamily="18" charset="0"/>
                <a:ea typeface="黑体" panose="02010609060101010101" pitchFamily="49" charset="-122"/>
              </a:rPr>
              <a:t>“</a:t>
            </a:r>
            <a:r>
              <a:rPr lang="en-US" altLang="zh-CN" dirty="0">
                <a:solidFill>
                  <a:srgbClr val="000000"/>
                </a:solidFill>
                <a:latin typeface="黑体" panose="02010609060101010101" pitchFamily="49" charset="-122"/>
                <a:ea typeface="黑体" panose="02010609060101010101" pitchFamily="49" charset="-122"/>
              </a:rPr>
              <a:t>#</a:t>
            </a:r>
            <a:r>
              <a:rPr lang="en-US" altLang="zh-CN" dirty="0">
                <a:solidFill>
                  <a:srgbClr val="000000"/>
                </a:solidFill>
                <a:latin typeface="Times New Roman" panose="02020503050405090304" pitchFamily="18" charset="0"/>
                <a:ea typeface="黑体" panose="02010609060101010101" pitchFamily="49" charset="-122"/>
              </a:rPr>
              <a:t>”</a:t>
            </a:r>
            <a:r>
              <a:rPr lang="zh-CN" altLang="en-US" dirty="0">
                <a:solidFill>
                  <a:srgbClr val="000000"/>
                </a:solidFill>
                <a:latin typeface="Times New Roman" panose="02020503050405090304" pitchFamily="18" charset="0"/>
                <a:ea typeface="黑体" panose="02010609060101010101" pitchFamily="49" charset="-122"/>
              </a:rPr>
              <a:t>，只能作源操作数。</a:t>
            </a:r>
            <a:endParaRPr lang="zh-CN" altLang="en-US" dirty="0">
              <a:latin typeface="Times New Roman" panose="02020503050405090304" pitchFamily="18" charset="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P spid="10" grpId="0"/>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23556" name="TextBox 18"/>
          <p:cNvSpPr txBox="1">
            <a:spLocks noChangeArrowheads="1"/>
          </p:cNvSpPr>
          <p:nvPr/>
        </p:nvSpPr>
        <p:spPr bwMode="auto">
          <a:xfrm>
            <a:off x="449263" y="981075"/>
            <a:ext cx="8266113" cy="1631950"/>
          </a:xfrm>
          <a:prstGeom prst="rect">
            <a:avLst/>
          </a:prstGeom>
          <a:noFill/>
          <a:ln w="9525">
            <a:noFill/>
            <a:miter lim="800000"/>
          </a:ln>
        </p:spPr>
        <p:txBody>
          <a:bodyPr>
            <a:spAutoFit/>
          </a:bodyPr>
          <a:lstStyle/>
          <a:p>
            <a:pPr marR="0" defTabSz="914400">
              <a:spcBef>
                <a:spcPct val="50000"/>
              </a:spcBef>
              <a:buClrTx/>
              <a:buSzTx/>
              <a:buFontTx/>
              <a:defRPr/>
            </a:pPr>
            <a:r>
              <a:rPr kumimoji="1" lang="zh-CN" altLang="en-US" sz="2800" kern="1200" cap="none" spc="0" normalizeH="0" baseline="0" noProof="0" dirty="0">
                <a:latin typeface="楷体_GB2312" pitchFamily="49" charset="-122"/>
                <a:ea typeface="楷体_GB2312" pitchFamily="49" charset="-122"/>
                <a:cs typeface="+mn-cs"/>
              </a:rPr>
              <a:t>四、</a:t>
            </a:r>
            <a:r>
              <a:rPr kumimoji="1" lang="zh-CN" altLang="en-US" sz="2800" kern="1200" cap="none" spc="0" normalizeH="0" baseline="0" noProof="0" dirty="0">
                <a:solidFill>
                  <a:srgbClr val="FF0000"/>
                </a:solidFill>
                <a:latin typeface="楷体_GB2312" pitchFamily="49" charset="-122"/>
                <a:ea typeface="楷体_GB2312" pitchFamily="49" charset="-122"/>
                <a:cs typeface="+mn-cs"/>
              </a:rPr>
              <a:t>寄存器间接寻址方式</a:t>
            </a:r>
            <a:endParaRPr kumimoji="1" lang="zh-CN" altLang="en-US" sz="2800" kern="1200" cap="none" spc="0" normalizeH="0" baseline="0" noProof="0" dirty="0">
              <a:latin typeface="楷体_GB2312" pitchFamily="49" charset="-122"/>
              <a:ea typeface="楷体_GB2312" pitchFamily="49" charset="-122"/>
              <a:cs typeface="+mn-cs"/>
            </a:endParaRPr>
          </a:p>
          <a:p>
            <a:pPr marR="0" indent="177800" algn="just" defTabSz="914400">
              <a:lnSpc>
                <a:spcPct val="150000"/>
              </a:lnSpc>
              <a:buClrTx/>
              <a:buSzTx/>
              <a:defRPr/>
            </a:pPr>
            <a:r>
              <a:rPr kumimoji="1" lang="zh-CN" altLang="en-US" kern="1200" cap="none" spc="0" normalizeH="0" baseline="0" noProof="0" dirty="0">
                <a:latin typeface="楷体_GB2312" pitchFamily="49" charset="-122"/>
                <a:ea typeface="楷体_GB2312" pitchFamily="49" charset="-122"/>
                <a:cs typeface="+mn-cs"/>
              </a:rPr>
              <a:t>   以某一寄存器的内容作为参与操作的数据的地址的方式。</a:t>
            </a:r>
            <a:endParaRPr kumimoji="1" lang="zh-CN" altLang="en-US" kern="1200" cap="none" spc="0" normalizeH="0" baseline="0" noProof="0" dirty="0">
              <a:latin typeface="楷体_GB2312" pitchFamily="49" charset="-122"/>
              <a:ea typeface="楷体_GB2312" pitchFamily="49" charset="-122"/>
              <a:cs typeface="+mn-cs"/>
            </a:endParaRPr>
          </a:p>
          <a:p>
            <a:pPr marR="0" defTabSz="914400">
              <a:spcBef>
                <a:spcPct val="50000"/>
              </a:spcBef>
              <a:buClrTx/>
              <a:buSzTx/>
              <a:buFontTx/>
              <a:defRPr/>
            </a:pPr>
            <a:endParaRPr kumimoji="1" lang="zh-CN" altLang="en-US" kern="1200" cap="none" spc="0" normalizeH="0" baseline="0" noProof="0" dirty="0">
              <a:latin typeface="Times New Roman" panose="02020503050405090304" pitchFamily="18" charset="0"/>
              <a:ea typeface="仿宋_GB2312" pitchFamily="49" charset="-122"/>
              <a:cs typeface="+mn-cs"/>
            </a:endParaRPr>
          </a:p>
        </p:txBody>
      </p:sp>
      <p:sp>
        <p:nvSpPr>
          <p:cNvPr id="23560" name="Rectangle 13"/>
          <p:cNvSpPr/>
          <p:nvPr/>
        </p:nvSpPr>
        <p:spPr>
          <a:xfrm>
            <a:off x="0" y="4797425"/>
            <a:ext cx="8748713" cy="2160588"/>
          </a:xfrm>
          <a:prstGeom prst="rect">
            <a:avLst/>
          </a:prstGeom>
          <a:noFill/>
          <a:ln w="9525">
            <a:noFill/>
          </a:ln>
        </p:spPr>
        <p:txBody>
          <a:bodyPr anchor="t" anchorCtr="0">
            <a:spAutoFit/>
          </a:bodyPr>
          <a:p>
            <a:pPr>
              <a:lnSpc>
                <a:spcPct val="130000"/>
              </a:lnSpc>
              <a:spcBef>
                <a:spcPct val="20000"/>
              </a:spcBef>
              <a:buClrTx/>
              <a:buFontTx/>
            </a:pPr>
            <a:r>
              <a:rPr lang="zh-CN" altLang="en-US" dirty="0">
                <a:solidFill>
                  <a:srgbClr val="0033CC"/>
                </a:solidFill>
                <a:latin typeface="黑体" panose="02010609060101010101" pitchFamily="49" charset="-122"/>
                <a:ea typeface="黑体" panose="02010609060101010101" pitchFamily="49" charset="-122"/>
              </a:rPr>
              <a:t> 寄存器中存放的是操作数的地址，</a:t>
            </a:r>
            <a:r>
              <a:rPr lang="zh-CN" altLang="en-US" dirty="0">
                <a:solidFill>
                  <a:srgbClr val="000000"/>
                </a:solidFill>
                <a:latin typeface="黑体" panose="02010609060101010101" pitchFamily="49" charset="-122"/>
                <a:ea typeface="黑体" panose="02010609060101010101" pitchFamily="49" charset="-122"/>
              </a:rPr>
              <a:t>在寄存器前加</a:t>
            </a:r>
            <a:r>
              <a:rPr lang="zh-CN" altLang="en-US" dirty="0">
                <a:solidFill>
                  <a:srgbClr val="FF0000"/>
                </a:solidFill>
                <a:latin typeface="黑体" panose="02010609060101010101" pitchFamily="49" charset="-122"/>
                <a:ea typeface="黑体" panose="02010609060101010101" pitchFamily="49" charset="-122"/>
              </a:rPr>
              <a:t>前缀标志</a:t>
            </a:r>
            <a:r>
              <a:rPr lang="zh-CN" altLang="en-US" dirty="0">
                <a:solidFill>
                  <a:srgbClr val="FF0000"/>
                </a:solidFill>
                <a:latin typeface="Times New Roman" panose="02020503050405090304" pitchFamily="18" charset="0"/>
                <a:ea typeface="黑体" panose="02010609060101010101" pitchFamily="49" charset="-122"/>
              </a:rPr>
              <a:t>“</a:t>
            </a:r>
            <a:r>
              <a:rPr lang="en-US" altLang="zh-CN" dirty="0">
                <a:solidFill>
                  <a:srgbClr val="FF0000"/>
                </a:solidFill>
                <a:latin typeface="黑体" panose="02010609060101010101" pitchFamily="49" charset="-122"/>
                <a:ea typeface="黑体" panose="02010609060101010101" pitchFamily="49" charset="-122"/>
              </a:rPr>
              <a:t>@</a:t>
            </a:r>
            <a:endParaRPr lang="en-US" altLang="zh-CN" dirty="0">
              <a:solidFill>
                <a:srgbClr val="FF0000"/>
              </a:solidFill>
              <a:latin typeface="黑体" panose="02010609060101010101" pitchFamily="49" charset="-122"/>
              <a:ea typeface="黑体" panose="02010609060101010101" pitchFamily="49" charset="-122"/>
            </a:endParaRPr>
          </a:p>
          <a:p>
            <a:pPr>
              <a:lnSpc>
                <a:spcPct val="130000"/>
              </a:lnSpc>
              <a:spcBef>
                <a:spcPct val="20000"/>
              </a:spcBef>
              <a:buClrTx/>
              <a:buFontTx/>
            </a:pPr>
            <a:r>
              <a:rPr lang="zh-CN" altLang="en-US" dirty="0">
                <a:solidFill>
                  <a:srgbClr val="FF0000"/>
                </a:solidFill>
                <a:latin typeface="黑体" panose="02010609060101010101" pitchFamily="49" charset="-122"/>
                <a:ea typeface="黑体" panose="02010609060101010101" pitchFamily="49" charset="-122"/>
              </a:rPr>
              <a:t> </a:t>
            </a:r>
            <a:r>
              <a:rPr lang="zh-CN" altLang="en-US" b="0" dirty="0">
                <a:solidFill>
                  <a:srgbClr val="3333CC"/>
                </a:solidFill>
                <a:latin typeface="Tahoma" panose="020B0604030504040204" pitchFamily="34" charset="0"/>
                <a:ea typeface="黑体" panose="02010609060101010101" pitchFamily="49" charset="-122"/>
              </a:rPr>
              <a:t>地址寄存器可以是：</a:t>
            </a:r>
            <a:r>
              <a:rPr lang="en-US" altLang="zh-CN" b="0" dirty="0">
                <a:solidFill>
                  <a:srgbClr val="3333CC"/>
                </a:solidFill>
                <a:latin typeface="Times New Roman" panose="02020503050405090304" pitchFamily="18" charset="0"/>
                <a:ea typeface="黑体" panose="02010609060101010101" pitchFamily="49" charset="-122"/>
              </a:rPr>
              <a:t>R0</a:t>
            </a:r>
            <a:r>
              <a:rPr lang="zh-CN" altLang="en-US" b="0" dirty="0">
                <a:solidFill>
                  <a:srgbClr val="3333CC"/>
                </a:solidFill>
                <a:latin typeface="Times New Roman" panose="02020503050405090304" pitchFamily="18" charset="0"/>
                <a:ea typeface="黑体" panose="02010609060101010101" pitchFamily="49" charset="-122"/>
              </a:rPr>
              <a:t>、</a:t>
            </a:r>
            <a:r>
              <a:rPr lang="en-US" altLang="zh-CN" b="0" dirty="0">
                <a:solidFill>
                  <a:srgbClr val="3333CC"/>
                </a:solidFill>
                <a:latin typeface="Times New Roman" panose="02020503050405090304" pitchFamily="18" charset="0"/>
                <a:ea typeface="黑体" panose="02010609060101010101" pitchFamily="49" charset="-122"/>
              </a:rPr>
              <a:t>R1</a:t>
            </a:r>
            <a:r>
              <a:rPr lang="zh-CN" altLang="en-US" b="0" dirty="0">
                <a:solidFill>
                  <a:srgbClr val="3333CC"/>
                </a:solidFill>
                <a:latin typeface="Times New Roman" panose="02020503050405090304" pitchFamily="18" charset="0"/>
                <a:ea typeface="黑体" panose="02010609060101010101" pitchFamily="49" charset="-122"/>
              </a:rPr>
              <a:t>、</a:t>
            </a:r>
            <a:r>
              <a:rPr lang="en-US" altLang="zh-CN" b="0" dirty="0">
                <a:solidFill>
                  <a:srgbClr val="3333CC"/>
                </a:solidFill>
                <a:latin typeface="Times New Roman" panose="02020503050405090304" pitchFamily="18" charset="0"/>
                <a:ea typeface="黑体" panose="02010609060101010101" pitchFamily="49" charset="-122"/>
              </a:rPr>
              <a:t>DPTR</a:t>
            </a:r>
            <a:r>
              <a:rPr lang="zh-CN" altLang="en-US" b="0" dirty="0">
                <a:solidFill>
                  <a:srgbClr val="3333CC"/>
                </a:solidFill>
                <a:latin typeface="Tahoma" panose="020B0604030504040204" pitchFamily="34" charset="0"/>
                <a:ea typeface="黑体" panose="02010609060101010101" pitchFamily="49" charset="-122"/>
              </a:rPr>
              <a:t>。在指令中表示为</a:t>
            </a:r>
            <a:r>
              <a:rPr lang="en-US" altLang="zh-CN" b="0" dirty="0">
                <a:solidFill>
                  <a:srgbClr val="3333CC"/>
                </a:solidFill>
                <a:latin typeface="Times New Roman" panose="02020503050405090304" pitchFamily="18" charset="0"/>
                <a:ea typeface="黑体" panose="02010609060101010101" pitchFamily="49" charset="-122"/>
              </a:rPr>
              <a:t>@R0</a:t>
            </a:r>
            <a:r>
              <a:rPr lang="zh-CN" altLang="en-US" b="0" dirty="0">
                <a:solidFill>
                  <a:srgbClr val="3333CC"/>
                </a:solidFill>
                <a:latin typeface="Times New Roman" panose="02020503050405090304" pitchFamily="18" charset="0"/>
                <a:ea typeface="黑体" panose="02010609060101010101" pitchFamily="49" charset="-122"/>
              </a:rPr>
              <a:t>、</a:t>
            </a:r>
            <a:r>
              <a:rPr lang="en-US" altLang="zh-CN" b="0" dirty="0">
                <a:solidFill>
                  <a:srgbClr val="3333CC"/>
                </a:solidFill>
                <a:latin typeface="Times New Roman" panose="02020503050405090304" pitchFamily="18" charset="0"/>
                <a:ea typeface="黑体" panose="02010609060101010101" pitchFamily="49" charset="-122"/>
              </a:rPr>
              <a:t>@R1</a:t>
            </a:r>
            <a:r>
              <a:rPr lang="zh-CN" altLang="en-US" b="0" dirty="0">
                <a:solidFill>
                  <a:srgbClr val="3333CC"/>
                </a:solidFill>
                <a:latin typeface="Times New Roman" panose="02020503050405090304" pitchFamily="18" charset="0"/>
                <a:ea typeface="黑体" panose="02010609060101010101" pitchFamily="49" charset="-122"/>
              </a:rPr>
              <a:t>、 </a:t>
            </a:r>
            <a:r>
              <a:rPr lang="en-US" altLang="zh-CN" b="0" dirty="0">
                <a:solidFill>
                  <a:srgbClr val="3333CC"/>
                </a:solidFill>
                <a:latin typeface="Times New Roman" panose="02020503050405090304" pitchFamily="18" charset="0"/>
                <a:ea typeface="黑体" panose="02010609060101010101" pitchFamily="49" charset="-122"/>
              </a:rPr>
              <a:t>@DPTR</a:t>
            </a:r>
            <a:endParaRPr lang="en-US" altLang="zh-CN" b="0" dirty="0">
              <a:solidFill>
                <a:srgbClr val="3333CC"/>
              </a:solidFill>
              <a:latin typeface="Times New Roman" panose="02020503050405090304" pitchFamily="18" charset="0"/>
              <a:ea typeface="黑体" panose="02010609060101010101" pitchFamily="49" charset="-122"/>
            </a:endParaRPr>
          </a:p>
          <a:p>
            <a:pPr>
              <a:lnSpc>
                <a:spcPct val="130000"/>
              </a:lnSpc>
              <a:spcBef>
                <a:spcPct val="20000"/>
              </a:spcBef>
              <a:buClrTx/>
              <a:buFontTx/>
            </a:pPr>
            <a:endParaRPr lang="zh-CN" altLang="en-US" dirty="0">
              <a:solidFill>
                <a:srgbClr val="000000"/>
              </a:solidFill>
              <a:latin typeface="黑体" panose="02010609060101010101" pitchFamily="49" charset="-122"/>
              <a:ea typeface="黑体" panose="02010609060101010101" pitchFamily="49" charset="-122"/>
            </a:endParaRPr>
          </a:p>
        </p:txBody>
      </p:sp>
      <p:graphicFrame>
        <p:nvGraphicFramePr>
          <p:cNvPr id="17" name="Object 10"/>
          <p:cNvGraphicFramePr/>
          <p:nvPr/>
        </p:nvGraphicFramePr>
        <p:xfrm>
          <a:off x="3929063" y="2286000"/>
          <a:ext cx="5257800" cy="2473325"/>
        </p:xfrm>
        <a:graphic>
          <a:graphicData uri="http://schemas.openxmlformats.org/presentationml/2006/ole">
            <mc:AlternateContent xmlns:mc="http://schemas.openxmlformats.org/markup-compatibility/2006">
              <mc:Choice xmlns:v="urn:schemas-microsoft-com:vml" Requires="v">
                <p:oleObj spid="_x0000_s3078" name="" r:id="rId1" imgW="3159125" imgH="1485900" progId="Visio.Drawing.11">
                  <p:embed/>
                </p:oleObj>
              </mc:Choice>
              <mc:Fallback>
                <p:oleObj name="" r:id="rId1" imgW="3159125" imgH="1485900" progId="Visio.Drawing.11">
                  <p:embed/>
                  <p:pic>
                    <p:nvPicPr>
                      <p:cNvPr id="0" name="Picture 3077"/>
                      <p:cNvPicPr/>
                      <p:nvPr/>
                    </p:nvPicPr>
                    <p:blipFill>
                      <a:blip r:embed="rId2"/>
                      <a:stretch>
                        <a:fillRect/>
                      </a:stretch>
                    </p:blipFill>
                    <p:spPr>
                      <a:xfrm>
                        <a:off x="3929063" y="2286000"/>
                        <a:ext cx="5257800" cy="2473325"/>
                      </a:xfrm>
                      <a:prstGeom prst="rect">
                        <a:avLst/>
                      </a:prstGeom>
                      <a:noFill/>
                      <a:ln w="38100">
                        <a:noFill/>
                        <a:miter/>
                      </a:ln>
                    </p:spPr>
                  </p:pic>
                </p:oleObj>
              </mc:Fallback>
            </mc:AlternateContent>
          </a:graphicData>
        </a:graphic>
      </p:graphicFrame>
      <p:sp>
        <p:nvSpPr>
          <p:cNvPr id="18" name="Rectangle 12"/>
          <p:cNvSpPr/>
          <p:nvPr/>
        </p:nvSpPr>
        <p:spPr>
          <a:xfrm>
            <a:off x="357188" y="2357438"/>
            <a:ext cx="3357562" cy="830262"/>
          </a:xfrm>
          <a:prstGeom prst="rect">
            <a:avLst/>
          </a:prstGeom>
          <a:noFill/>
          <a:ln w="9525">
            <a:noFill/>
          </a:ln>
        </p:spPr>
        <p:txBody>
          <a:bodyPr anchor="ctr" anchorCtr="0">
            <a:spAutoFit/>
          </a:bodyPr>
          <a:p>
            <a:pPr marL="1257300" indent="-1257300" defTabSz="914400" eaLnBrk="0" hangingPunct="0">
              <a:buClrTx/>
              <a:buFontTx/>
              <a:tabLst>
                <a:tab pos="901700" algn="l"/>
                <a:tab pos="1790700" algn="l"/>
                <a:tab pos="1879600" algn="l"/>
              </a:tabLst>
            </a:pPr>
            <a:r>
              <a:rPr lang="en-US" altLang="zh-CN" b="0" dirty="0">
                <a:latin typeface="Times New Roman" panose="02020503050405090304" pitchFamily="18" charset="0"/>
                <a:ea typeface="仿宋_GB2312" pitchFamily="49" charset="-122"/>
              </a:rPr>
              <a:t>【</a:t>
            </a:r>
            <a:r>
              <a:rPr lang="zh-CN" altLang="en-US" dirty="0">
                <a:latin typeface="Times New Roman" panose="02020503050405090304" pitchFamily="18" charset="0"/>
                <a:ea typeface="仿宋_GB2312" pitchFamily="49" charset="-122"/>
              </a:rPr>
              <a:t>例</a:t>
            </a:r>
            <a:r>
              <a:rPr lang="en-US" altLang="zh-CN" dirty="0">
                <a:latin typeface="Times New Roman" panose="02020503050405090304" pitchFamily="18" charset="0"/>
                <a:ea typeface="仿宋_GB2312" pitchFamily="49" charset="-122"/>
              </a:rPr>
              <a:t>】</a:t>
            </a:r>
            <a:r>
              <a:rPr lang="zh-CN" altLang="en-US" dirty="0">
                <a:latin typeface="Times New Roman" panose="02020503050405090304" pitchFamily="18" charset="0"/>
                <a:ea typeface="仿宋_GB2312" pitchFamily="49" charset="-122"/>
              </a:rPr>
              <a:t>若（</a:t>
            </a:r>
            <a:r>
              <a:rPr lang="en-US" altLang="zh-CN" b="0" dirty="0">
                <a:latin typeface="Times New Roman" panose="02020503050405090304" pitchFamily="18" charset="0"/>
                <a:ea typeface="仿宋_GB2312" pitchFamily="49" charset="-122"/>
              </a:rPr>
              <a:t>R0</a:t>
            </a:r>
            <a:r>
              <a:rPr lang="zh-CN" altLang="en-US" b="0" dirty="0">
                <a:latin typeface="Times New Roman" panose="02020503050405090304" pitchFamily="18" charset="0"/>
                <a:ea typeface="仿宋_GB2312" pitchFamily="49" charset="-122"/>
              </a:rPr>
              <a:t>）</a:t>
            </a:r>
            <a:r>
              <a:rPr lang="en-US" altLang="zh-CN" b="0" dirty="0">
                <a:latin typeface="Times New Roman" panose="02020503050405090304" pitchFamily="18" charset="0"/>
                <a:ea typeface="仿宋_GB2312" pitchFamily="49" charset="-122"/>
              </a:rPr>
              <a:t>=30H,</a:t>
            </a:r>
            <a:r>
              <a:rPr lang="zh-CN" altLang="en-US" b="0" dirty="0">
                <a:latin typeface="Times New Roman" panose="02020503050405090304" pitchFamily="18" charset="0"/>
                <a:ea typeface="仿宋_GB2312" pitchFamily="49" charset="-122"/>
              </a:rPr>
              <a:t>（</a:t>
            </a:r>
            <a:r>
              <a:rPr lang="en-US" altLang="zh-CN" b="0" dirty="0">
                <a:latin typeface="Times New Roman" panose="02020503050405090304" pitchFamily="18" charset="0"/>
                <a:ea typeface="仿宋_GB2312" pitchFamily="49" charset="-122"/>
              </a:rPr>
              <a:t>30H</a:t>
            </a:r>
            <a:r>
              <a:rPr lang="zh-CN" altLang="en-US" b="0" dirty="0">
                <a:latin typeface="Times New Roman" panose="02020503050405090304" pitchFamily="18" charset="0"/>
                <a:ea typeface="仿宋_GB2312" pitchFamily="49" charset="-122"/>
              </a:rPr>
              <a:t>）</a:t>
            </a:r>
            <a:r>
              <a:rPr lang="en-US" altLang="zh-CN" b="0" dirty="0">
                <a:latin typeface="Times New Roman" panose="02020503050405090304" pitchFamily="18" charset="0"/>
                <a:ea typeface="仿宋_GB2312" pitchFamily="49" charset="-122"/>
              </a:rPr>
              <a:t>=5AH</a:t>
            </a:r>
            <a:r>
              <a:rPr lang="en-US" altLang="zh-CN" dirty="0">
                <a:latin typeface="Times New Roman" panose="02020503050405090304" pitchFamily="18" charset="0"/>
                <a:ea typeface="仿宋_GB2312" pitchFamily="49" charset="-122"/>
              </a:rPr>
              <a:t> </a:t>
            </a:r>
            <a:r>
              <a:rPr lang="zh-CN" altLang="en-US" dirty="0">
                <a:latin typeface="Times New Roman" panose="02020503050405090304" pitchFamily="18" charset="0"/>
                <a:ea typeface="仿宋_GB2312" pitchFamily="49" charset="-122"/>
              </a:rPr>
              <a:t> </a:t>
            </a:r>
            <a:endParaRPr lang="zh-CN" altLang="en-US" dirty="0">
              <a:latin typeface="Times New Roman" panose="02020503050405090304" pitchFamily="18" charset="0"/>
              <a:ea typeface="仿宋_GB2312" pitchFamily="49" charset="-122"/>
            </a:endParaRPr>
          </a:p>
        </p:txBody>
      </p:sp>
      <p:sp>
        <p:nvSpPr>
          <p:cNvPr id="19" name="Rectangle 13"/>
          <p:cNvSpPr/>
          <p:nvPr/>
        </p:nvSpPr>
        <p:spPr>
          <a:xfrm>
            <a:off x="642938" y="3357563"/>
            <a:ext cx="3071812" cy="830262"/>
          </a:xfrm>
          <a:prstGeom prst="rect">
            <a:avLst/>
          </a:prstGeom>
          <a:noFill/>
          <a:ln w="9525">
            <a:noFill/>
          </a:ln>
        </p:spPr>
        <p:txBody>
          <a:bodyPr anchor="ctr" anchorCtr="0">
            <a:spAutoFit/>
          </a:bodyPr>
          <a:p>
            <a:pPr eaLnBrk="0" hangingPunct="0">
              <a:buClrTx/>
              <a:buFontTx/>
            </a:pPr>
            <a:r>
              <a:rPr lang="zh-CN" altLang="en-US" b="0" dirty="0">
                <a:latin typeface="Times New Roman" panose="02020503050405090304" pitchFamily="18" charset="0"/>
                <a:ea typeface="仿宋_GB2312" pitchFamily="49" charset="-122"/>
              </a:rPr>
              <a:t>执行</a:t>
            </a:r>
            <a:r>
              <a:rPr lang="en-US" altLang="zh-CN" b="0" dirty="0">
                <a:latin typeface="Times New Roman" panose="02020503050405090304" pitchFamily="18" charset="0"/>
                <a:ea typeface="仿宋_GB2312" pitchFamily="49" charset="-122"/>
              </a:rPr>
              <a:t>MOV  A,@R0</a:t>
            </a:r>
            <a:r>
              <a:rPr lang="zh-CN" altLang="en-US" b="0" dirty="0">
                <a:latin typeface="Times New Roman" panose="02020503050405090304" pitchFamily="18" charset="0"/>
                <a:ea typeface="仿宋_GB2312" pitchFamily="49" charset="-122"/>
              </a:rPr>
              <a:t>后</a:t>
            </a:r>
            <a:r>
              <a:rPr lang="en-US" altLang="zh-CN" b="0" dirty="0">
                <a:latin typeface="Times New Roman" panose="02020503050405090304" pitchFamily="18" charset="0"/>
                <a:ea typeface="仿宋_GB2312" pitchFamily="49" charset="-122"/>
              </a:rPr>
              <a:t>,</a:t>
            </a:r>
            <a:r>
              <a:rPr lang="zh-CN" altLang="en-US" b="0" dirty="0">
                <a:latin typeface="Times New Roman" panose="02020503050405090304" pitchFamily="18" charset="0"/>
                <a:ea typeface="仿宋_GB2312" pitchFamily="49" charset="-122"/>
              </a:rPr>
              <a:t>（</a:t>
            </a:r>
            <a:r>
              <a:rPr lang="en-US" altLang="zh-CN" b="0" dirty="0">
                <a:latin typeface="Times New Roman" panose="02020503050405090304" pitchFamily="18" charset="0"/>
                <a:ea typeface="仿宋_GB2312" pitchFamily="49" charset="-122"/>
              </a:rPr>
              <a:t>A</a:t>
            </a:r>
            <a:r>
              <a:rPr lang="zh-CN" altLang="en-US" b="0" dirty="0">
                <a:latin typeface="Times New Roman" panose="02020503050405090304" pitchFamily="18" charset="0"/>
                <a:ea typeface="仿宋_GB2312" pitchFamily="49" charset="-122"/>
              </a:rPr>
              <a:t>）</a:t>
            </a:r>
            <a:r>
              <a:rPr lang="en-US" altLang="zh-CN" b="0" dirty="0">
                <a:latin typeface="Times New Roman" panose="02020503050405090304" pitchFamily="18" charset="0"/>
                <a:ea typeface="仿宋_GB2312" pitchFamily="49" charset="-122"/>
              </a:rPr>
              <a:t>=5AH</a:t>
            </a:r>
            <a:r>
              <a:rPr lang="en-US" altLang="zh-CN" dirty="0">
                <a:latin typeface="Times New Roman" panose="02020503050405090304" pitchFamily="18" charset="0"/>
                <a:ea typeface="仿宋_GB2312" pitchFamily="49" charset="-122"/>
              </a:rPr>
              <a:t> </a:t>
            </a:r>
            <a:endParaRPr lang="en-US" altLang="zh-CN" dirty="0">
              <a:latin typeface="Times New Roman" panose="02020503050405090304" pitchFamily="18" charset="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500" fill="hold"/>
                                        <p:tgtEl>
                                          <p:spTgt spid="19"/>
                                        </p:tgtEl>
                                        <p:attrNameLst>
                                          <p:attrName>ppt_x</p:attrName>
                                        </p:attrNameLst>
                                      </p:cBhvr>
                                      <p:tavLst>
                                        <p:tav tm="0">
                                          <p:val>
                                            <p:strVal val="#ppt_x"/>
                                          </p:val>
                                        </p:tav>
                                        <p:tav tm="100000">
                                          <p:val>
                                            <p:strVal val="#ppt_x"/>
                                          </p:val>
                                        </p:tav>
                                      </p:tavLst>
                                    </p:anim>
                                    <p:anim calcmode="lin" valueType="num">
                                      <p:cBhvr additive="base">
                                        <p:cTn id="1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3560"/>
                                        </p:tgtEl>
                                        <p:attrNameLst>
                                          <p:attrName>style.visibility</p:attrName>
                                        </p:attrNameLst>
                                      </p:cBhvr>
                                      <p:to>
                                        <p:strVal val="visible"/>
                                      </p:to>
                                    </p:set>
                                    <p:anim calcmode="lin" valueType="num">
                                      <p:cBhvr additive="base">
                                        <p:cTn id="21" dur="500" fill="hold"/>
                                        <p:tgtEl>
                                          <p:spTgt spid="23560"/>
                                        </p:tgtEl>
                                        <p:attrNameLst>
                                          <p:attrName>ppt_x</p:attrName>
                                        </p:attrNameLst>
                                      </p:cBhvr>
                                      <p:tavLst>
                                        <p:tav tm="0">
                                          <p:val>
                                            <p:strVal val="#ppt_x"/>
                                          </p:val>
                                        </p:tav>
                                        <p:tav tm="100000">
                                          <p:val>
                                            <p:strVal val="#ppt_x"/>
                                          </p:val>
                                        </p:tav>
                                      </p:tavLst>
                                    </p:anim>
                                    <p:anim calcmode="lin" valueType="num">
                                      <p:cBhvr additive="base">
                                        <p:cTn id="22" dur="500" fill="hold"/>
                                        <p:tgtEl>
                                          <p:spTgt spid="235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0" grpId="0"/>
      <p:bldP spid="18" grpId="0"/>
      <p:bldP spid="1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3"/>
          <p:cNvSpPr>
            <a:spLocks noGrp="1"/>
          </p:cNvSpPr>
          <p:nvPr>
            <p:ph type="body" idx="4294967295"/>
          </p:nvPr>
        </p:nvSpPr>
        <p:spPr/>
        <p:txBody>
          <a:bodyPr vert="horz" wrap="square" lIns="91440" tIns="45720" rIns="91440" bIns="45720" anchor="t" anchorCtr="0"/>
          <a:p>
            <a:pPr>
              <a:buNone/>
            </a:pPr>
            <a:r>
              <a:rPr lang="zh-CN" altLang="en-US" sz="2400" b="0" dirty="0">
                <a:solidFill>
                  <a:schemeClr val="tx2"/>
                </a:solidFill>
                <a:latin typeface="黑体" panose="02010609060101010101" pitchFamily="49" charset="-122"/>
                <a:ea typeface="黑体" panose="02010609060101010101" pitchFamily="49" charset="-122"/>
              </a:rPr>
              <a:t>寻址范围：</a:t>
            </a:r>
            <a:endParaRPr lang="zh-CN" altLang="en-US" sz="2400" b="0" dirty="0">
              <a:solidFill>
                <a:schemeClr val="tx2"/>
              </a:solidFill>
              <a:latin typeface="黑体" panose="02010609060101010101" pitchFamily="49" charset="-122"/>
              <a:ea typeface="黑体" panose="02010609060101010101" pitchFamily="49" charset="-122"/>
            </a:endParaRPr>
          </a:p>
          <a:p>
            <a:pPr>
              <a:buNone/>
            </a:pPr>
            <a:r>
              <a:rPr lang="zh-CN" altLang="en-US" sz="2400" b="0" dirty="0">
                <a:solidFill>
                  <a:schemeClr val="tx2"/>
                </a:solidFill>
                <a:latin typeface="黑体" panose="02010609060101010101" pitchFamily="49" charset="-122"/>
                <a:ea typeface="黑体" panose="02010609060101010101" pitchFamily="49" charset="-122"/>
              </a:rPr>
              <a:t>（</a:t>
            </a:r>
            <a:r>
              <a:rPr lang="en-US" altLang="zh-CN" sz="2400" b="0" dirty="0">
                <a:solidFill>
                  <a:schemeClr val="tx2"/>
                </a:solidFill>
                <a:latin typeface="黑体" panose="02010609060101010101" pitchFamily="49" charset="-122"/>
                <a:ea typeface="黑体" panose="02010609060101010101" pitchFamily="49" charset="-122"/>
              </a:rPr>
              <a:t>1</a:t>
            </a:r>
            <a:r>
              <a:rPr lang="zh-CN" altLang="en-US" sz="2400" b="0" dirty="0">
                <a:solidFill>
                  <a:schemeClr val="tx2"/>
                </a:solidFill>
                <a:latin typeface="黑体" panose="02010609060101010101" pitchFamily="49" charset="-122"/>
                <a:ea typeface="黑体" panose="02010609060101010101" pitchFamily="49" charset="-122"/>
              </a:rPr>
              <a:t>）访问</a:t>
            </a:r>
            <a:r>
              <a:rPr lang="zh-CN" altLang="en-US" sz="2400" b="0" dirty="0">
                <a:solidFill>
                  <a:srgbClr val="0000FF"/>
                </a:solidFill>
                <a:latin typeface="黑体" panose="02010609060101010101" pitchFamily="49" charset="-122"/>
                <a:ea typeface="黑体" panose="02010609060101010101" pitchFamily="49" charset="-122"/>
              </a:rPr>
              <a:t>内部</a:t>
            </a:r>
            <a:r>
              <a:rPr lang="en-US" altLang="zh-CN" sz="2400" b="0" dirty="0">
                <a:solidFill>
                  <a:srgbClr val="0000FF"/>
                </a:solidFill>
                <a:latin typeface="黑体" panose="02010609060101010101" pitchFamily="49" charset="-122"/>
                <a:ea typeface="黑体" panose="02010609060101010101" pitchFamily="49" charset="-122"/>
              </a:rPr>
              <a:t>RAM</a:t>
            </a:r>
            <a:r>
              <a:rPr lang="zh-CN" altLang="en-US" sz="2400" b="0" dirty="0">
                <a:solidFill>
                  <a:srgbClr val="0000FF"/>
                </a:solidFill>
                <a:latin typeface="黑体" panose="02010609060101010101" pitchFamily="49" charset="-122"/>
                <a:ea typeface="黑体" panose="02010609060101010101" pitchFamily="49" charset="-122"/>
              </a:rPr>
              <a:t>低</a:t>
            </a:r>
            <a:r>
              <a:rPr lang="en-US" altLang="zh-CN" sz="2400" b="0" dirty="0">
                <a:solidFill>
                  <a:srgbClr val="0000FF"/>
                </a:solidFill>
                <a:latin typeface="黑体" panose="02010609060101010101" pitchFamily="49" charset="-122"/>
                <a:ea typeface="黑体" panose="02010609060101010101" pitchFamily="49" charset="-122"/>
              </a:rPr>
              <a:t>128</a:t>
            </a:r>
            <a:r>
              <a:rPr lang="zh-CN" altLang="en-US" sz="2400" b="0" dirty="0">
                <a:solidFill>
                  <a:srgbClr val="0000FF"/>
                </a:solidFill>
                <a:latin typeface="黑体" panose="02010609060101010101" pitchFamily="49" charset="-122"/>
                <a:ea typeface="黑体" panose="02010609060101010101" pitchFamily="49" charset="-122"/>
              </a:rPr>
              <a:t>个</a:t>
            </a:r>
            <a:r>
              <a:rPr lang="zh-CN" altLang="en-US" sz="2400" b="0" dirty="0">
                <a:solidFill>
                  <a:schemeClr val="tx2"/>
                </a:solidFill>
                <a:latin typeface="黑体" panose="02010609060101010101" pitchFamily="49" charset="-122"/>
                <a:ea typeface="黑体" panose="02010609060101010101" pitchFamily="49" charset="-122"/>
              </a:rPr>
              <a:t>单元，其通用形式为</a:t>
            </a:r>
            <a:r>
              <a:rPr lang="en-US" altLang="zh-CN" sz="2400" b="0" dirty="0">
                <a:solidFill>
                  <a:schemeClr val="tx2"/>
                </a:solidFill>
                <a:latin typeface="黑体" panose="02010609060101010101" pitchFamily="49" charset="-122"/>
                <a:ea typeface="黑体" panose="02010609060101010101" pitchFamily="49" charset="-122"/>
              </a:rPr>
              <a:t>@Ri</a:t>
            </a:r>
            <a:endParaRPr lang="en-US" altLang="zh-CN" sz="2400" b="0" dirty="0">
              <a:solidFill>
                <a:schemeClr val="tx2"/>
              </a:solidFill>
              <a:latin typeface="黑体" panose="02010609060101010101" pitchFamily="49" charset="-122"/>
              <a:ea typeface="黑体" panose="02010609060101010101" pitchFamily="49" charset="-122"/>
            </a:endParaRPr>
          </a:p>
          <a:p>
            <a:pPr>
              <a:buNone/>
            </a:pPr>
            <a:r>
              <a:rPr lang="en-US" altLang="zh-CN" sz="2400" b="0" dirty="0">
                <a:solidFill>
                  <a:schemeClr val="hlink"/>
                </a:solidFill>
                <a:latin typeface="黑体" panose="02010609060101010101" pitchFamily="49" charset="-122"/>
                <a:ea typeface="黑体" panose="02010609060101010101" pitchFamily="49" charset="-122"/>
              </a:rPr>
              <a:t>        MOV  A</a:t>
            </a:r>
            <a:r>
              <a:rPr lang="zh-CN" altLang="en-US" sz="2400" b="0" dirty="0">
                <a:solidFill>
                  <a:schemeClr val="hlink"/>
                </a:solidFill>
                <a:latin typeface="黑体" panose="02010609060101010101" pitchFamily="49" charset="-122"/>
                <a:ea typeface="黑体" panose="02010609060101010101" pitchFamily="49" charset="-122"/>
              </a:rPr>
              <a:t>，</a:t>
            </a:r>
            <a:r>
              <a:rPr lang="en-US" altLang="zh-CN" sz="2400" b="0" dirty="0">
                <a:solidFill>
                  <a:schemeClr val="hlink"/>
                </a:solidFill>
                <a:latin typeface="黑体" panose="02010609060101010101" pitchFamily="49" charset="-122"/>
                <a:ea typeface="黑体" panose="02010609060101010101" pitchFamily="49" charset="-122"/>
              </a:rPr>
              <a:t>@Ri</a:t>
            </a:r>
            <a:r>
              <a:rPr lang="en-US" altLang="zh-CN" sz="2400" b="0" dirty="0">
                <a:solidFill>
                  <a:schemeClr val="tx2"/>
                </a:solidFill>
                <a:latin typeface="黑体" panose="02010609060101010101" pitchFamily="49" charset="-122"/>
                <a:ea typeface="黑体" panose="02010609060101010101" pitchFamily="49" charset="-122"/>
              </a:rPr>
              <a:t>     </a:t>
            </a:r>
            <a:r>
              <a:rPr lang="zh-CN" altLang="en-US" sz="2400" b="0" dirty="0">
                <a:solidFill>
                  <a:schemeClr val="tx2"/>
                </a:solidFill>
                <a:latin typeface="黑体" panose="02010609060101010101" pitchFamily="49" charset="-122"/>
                <a:ea typeface="黑体" panose="02010609060101010101" pitchFamily="49" charset="-122"/>
              </a:rPr>
              <a:t>；</a:t>
            </a:r>
            <a:r>
              <a:rPr lang="en-US" altLang="zh-CN" sz="2400" b="0" dirty="0">
                <a:solidFill>
                  <a:schemeClr val="tx2"/>
                </a:solidFill>
                <a:latin typeface="黑体" panose="02010609060101010101" pitchFamily="49" charset="-122"/>
                <a:ea typeface="黑体" panose="02010609060101010101" pitchFamily="49" charset="-122"/>
              </a:rPr>
              <a:t>i=0</a:t>
            </a:r>
            <a:r>
              <a:rPr lang="zh-CN" altLang="en-US" sz="2400" b="0" dirty="0">
                <a:solidFill>
                  <a:schemeClr val="tx2"/>
                </a:solidFill>
                <a:latin typeface="黑体" panose="02010609060101010101" pitchFamily="49" charset="-122"/>
                <a:ea typeface="黑体" panose="02010609060101010101" pitchFamily="49" charset="-122"/>
              </a:rPr>
              <a:t>或</a:t>
            </a:r>
            <a:r>
              <a:rPr lang="en-US" altLang="zh-CN" sz="2400" b="0" dirty="0">
                <a:solidFill>
                  <a:schemeClr val="tx2"/>
                </a:solidFill>
                <a:latin typeface="黑体" panose="02010609060101010101" pitchFamily="49" charset="-122"/>
                <a:ea typeface="黑体" panose="02010609060101010101" pitchFamily="49" charset="-122"/>
              </a:rPr>
              <a:t>1</a:t>
            </a:r>
            <a:endParaRPr lang="en-US" altLang="zh-CN" sz="2400" b="0" dirty="0">
              <a:solidFill>
                <a:schemeClr val="tx2"/>
              </a:solidFill>
              <a:latin typeface="黑体" panose="02010609060101010101" pitchFamily="49" charset="-122"/>
              <a:ea typeface="黑体" panose="02010609060101010101" pitchFamily="49" charset="-122"/>
            </a:endParaRPr>
          </a:p>
          <a:p>
            <a:pPr>
              <a:buNone/>
            </a:pPr>
            <a:r>
              <a:rPr lang="zh-CN" altLang="en-US" sz="2400" b="0" dirty="0">
                <a:solidFill>
                  <a:schemeClr val="tx2"/>
                </a:solidFill>
                <a:latin typeface="黑体" panose="02010609060101010101" pitchFamily="49" charset="-122"/>
                <a:ea typeface="黑体" panose="02010609060101010101" pitchFamily="49" charset="-122"/>
              </a:rPr>
              <a:t>（</a:t>
            </a:r>
            <a:r>
              <a:rPr lang="en-US" altLang="zh-CN" sz="2400" b="0" dirty="0">
                <a:solidFill>
                  <a:schemeClr val="tx2"/>
                </a:solidFill>
                <a:latin typeface="黑体" panose="02010609060101010101" pitchFamily="49" charset="-122"/>
                <a:ea typeface="黑体" panose="02010609060101010101" pitchFamily="49" charset="-122"/>
              </a:rPr>
              <a:t>2</a:t>
            </a:r>
            <a:r>
              <a:rPr lang="zh-CN" altLang="en-US" sz="2400" b="0" dirty="0">
                <a:solidFill>
                  <a:schemeClr val="tx2"/>
                </a:solidFill>
                <a:latin typeface="黑体" panose="02010609060101010101" pitchFamily="49" charset="-122"/>
                <a:ea typeface="黑体" panose="02010609060101010101" pitchFamily="49" charset="-122"/>
              </a:rPr>
              <a:t>）对</a:t>
            </a:r>
            <a:r>
              <a:rPr lang="zh-CN" altLang="en-US" sz="2400" b="0" dirty="0">
                <a:solidFill>
                  <a:srgbClr val="FF0000"/>
                </a:solidFill>
                <a:latin typeface="黑体" panose="02010609060101010101" pitchFamily="49" charset="-122"/>
                <a:ea typeface="黑体" panose="02010609060101010101" pitchFamily="49" charset="-122"/>
              </a:rPr>
              <a:t>外部</a:t>
            </a:r>
            <a:r>
              <a:rPr lang="en-US" altLang="zh-CN" sz="2400" b="0" dirty="0">
                <a:solidFill>
                  <a:srgbClr val="FF0000"/>
                </a:solidFill>
                <a:latin typeface="黑体" panose="02010609060101010101" pitchFamily="49" charset="-122"/>
                <a:ea typeface="黑体" panose="02010609060101010101" pitchFamily="49" charset="-122"/>
              </a:rPr>
              <a:t>RAM</a:t>
            </a:r>
            <a:r>
              <a:rPr lang="zh-CN" altLang="en-US" sz="2400" b="0" dirty="0">
                <a:solidFill>
                  <a:srgbClr val="FF0000"/>
                </a:solidFill>
                <a:latin typeface="黑体" panose="02010609060101010101" pitchFamily="49" charset="-122"/>
                <a:ea typeface="黑体" panose="02010609060101010101" pitchFamily="49" charset="-122"/>
              </a:rPr>
              <a:t>的</a:t>
            </a:r>
            <a:r>
              <a:rPr lang="en-US" altLang="zh-CN" sz="2400" b="0" dirty="0">
                <a:solidFill>
                  <a:srgbClr val="FF0000"/>
                </a:solidFill>
                <a:latin typeface="黑体" panose="02010609060101010101" pitchFamily="49" charset="-122"/>
                <a:ea typeface="黑体" panose="02010609060101010101" pitchFamily="49" charset="-122"/>
              </a:rPr>
              <a:t>64K</a:t>
            </a:r>
            <a:r>
              <a:rPr lang="zh-CN" altLang="en-US" sz="2400" b="0" dirty="0">
                <a:solidFill>
                  <a:srgbClr val="FF0000"/>
                </a:solidFill>
                <a:latin typeface="黑体" panose="02010609060101010101" pitchFamily="49" charset="-122"/>
                <a:ea typeface="黑体" panose="02010609060101010101" pitchFamily="49" charset="-122"/>
              </a:rPr>
              <a:t>字节</a:t>
            </a:r>
            <a:r>
              <a:rPr lang="zh-CN" altLang="en-US" sz="2400" b="0" dirty="0">
                <a:solidFill>
                  <a:schemeClr val="tx2"/>
                </a:solidFill>
                <a:latin typeface="黑体" panose="02010609060101010101" pitchFamily="49" charset="-122"/>
                <a:ea typeface="黑体" panose="02010609060101010101" pitchFamily="49" charset="-122"/>
              </a:rPr>
              <a:t>的间接寻址，例如：</a:t>
            </a:r>
            <a:endParaRPr lang="zh-CN" altLang="en-US" sz="2400" b="0" dirty="0">
              <a:solidFill>
                <a:schemeClr val="tx2"/>
              </a:solidFill>
              <a:latin typeface="黑体" panose="02010609060101010101" pitchFamily="49" charset="-122"/>
              <a:ea typeface="黑体" panose="02010609060101010101" pitchFamily="49" charset="-122"/>
            </a:endParaRPr>
          </a:p>
          <a:p>
            <a:pPr>
              <a:buNone/>
            </a:pPr>
            <a:r>
              <a:rPr lang="zh-CN" altLang="en-US" sz="2400" b="0" dirty="0">
                <a:solidFill>
                  <a:schemeClr val="tx2"/>
                </a:solidFill>
                <a:latin typeface="黑体" panose="02010609060101010101" pitchFamily="49" charset="-122"/>
                <a:ea typeface="黑体" panose="02010609060101010101" pitchFamily="49" charset="-122"/>
              </a:rPr>
              <a:t>     		</a:t>
            </a:r>
            <a:r>
              <a:rPr lang="en-US" altLang="zh-CN" sz="2400" b="0" dirty="0">
                <a:solidFill>
                  <a:schemeClr val="hlink"/>
                </a:solidFill>
                <a:latin typeface="黑体" panose="02010609060101010101" pitchFamily="49" charset="-122"/>
                <a:ea typeface="黑体" panose="02010609060101010101" pitchFamily="49" charset="-122"/>
              </a:rPr>
              <a:t>MOVX    A</a:t>
            </a:r>
            <a:r>
              <a:rPr lang="zh-CN" altLang="en-US" sz="2400" b="0" dirty="0">
                <a:solidFill>
                  <a:schemeClr val="hlink"/>
                </a:solidFill>
                <a:latin typeface="黑体" panose="02010609060101010101" pitchFamily="49" charset="-122"/>
                <a:ea typeface="黑体" panose="02010609060101010101" pitchFamily="49" charset="-122"/>
              </a:rPr>
              <a:t>，</a:t>
            </a:r>
            <a:r>
              <a:rPr lang="en-US" altLang="zh-CN" sz="2400" b="0" dirty="0">
                <a:solidFill>
                  <a:schemeClr val="hlink"/>
                </a:solidFill>
                <a:latin typeface="黑体" panose="02010609060101010101" pitchFamily="49" charset="-122"/>
                <a:ea typeface="黑体" panose="02010609060101010101" pitchFamily="49" charset="-122"/>
              </a:rPr>
              <a:t>@DPTR</a:t>
            </a:r>
            <a:endParaRPr lang="en-US" altLang="zh-CN" sz="2400" b="0" dirty="0">
              <a:solidFill>
                <a:schemeClr val="hlink"/>
              </a:solidFill>
              <a:latin typeface="黑体" panose="02010609060101010101" pitchFamily="49" charset="-122"/>
              <a:ea typeface="黑体" panose="02010609060101010101" pitchFamily="49" charset="-122"/>
            </a:endParaRPr>
          </a:p>
          <a:p>
            <a:pPr>
              <a:lnSpc>
                <a:spcPct val="120000"/>
              </a:lnSpc>
              <a:buNone/>
            </a:pPr>
            <a:r>
              <a:rPr lang="zh-CN" altLang="en-US" sz="2400" b="0" dirty="0">
                <a:solidFill>
                  <a:schemeClr val="tx2"/>
                </a:solidFill>
                <a:latin typeface="黑体" panose="02010609060101010101" pitchFamily="49" charset="-122"/>
                <a:ea typeface="黑体" panose="02010609060101010101" pitchFamily="49" charset="-122"/>
              </a:rPr>
              <a:t>（</a:t>
            </a:r>
            <a:r>
              <a:rPr lang="en-US" altLang="zh-CN" sz="2400" b="0" dirty="0">
                <a:solidFill>
                  <a:schemeClr val="tx2"/>
                </a:solidFill>
                <a:latin typeface="黑体" panose="02010609060101010101" pitchFamily="49" charset="-122"/>
                <a:ea typeface="黑体" panose="02010609060101010101" pitchFamily="49" charset="-122"/>
              </a:rPr>
              <a:t>3</a:t>
            </a:r>
            <a:r>
              <a:rPr lang="zh-CN" altLang="en-US" sz="2400" b="0" dirty="0">
                <a:solidFill>
                  <a:schemeClr val="tx2"/>
                </a:solidFill>
                <a:latin typeface="黑体" panose="02010609060101010101" pitchFamily="49" charset="-122"/>
                <a:ea typeface="黑体" panose="02010609060101010101" pitchFamily="49" charset="-122"/>
              </a:rPr>
              <a:t>）片外数据存储器的</a:t>
            </a:r>
            <a:r>
              <a:rPr lang="zh-CN" altLang="en-US" sz="2400" b="0" dirty="0">
                <a:solidFill>
                  <a:schemeClr val="accent2"/>
                </a:solidFill>
                <a:latin typeface="黑体" panose="02010609060101010101" pitchFamily="49" charset="-122"/>
                <a:ea typeface="黑体" panose="02010609060101010101" pitchFamily="49" charset="-122"/>
              </a:rPr>
              <a:t>低</a:t>
            </a:r>
            <a:r>
              <a:rPr lang="en-US" altLang="zh-CN" sz="2400" b="0" dirty="0">
                <a:solidFill>
                  <a:schemeClr val="accent2"/>
                </a:solidFill>
                <a:latin typeface="黑体" panose="02010609060101010101" pitchFamily="49" charset="-122"/>
                <a:ea typeface="黑体" panose="02010609060101010101" pitchFamily="49" charset="-122"/>
              </a:rPr>
              <a:t>256</a:t>
            </a:r>
            <a:r>
              <a:rPr lang="zh-CN" altLang="en-US" sz="2400" b="0" dirty="0">
                <a:solidFill>
                  <a:schemeClr val="accent2"/>
                </a:solidFill>
                <a:latin typeface="黑体" panose="02010609060101010101" pitchFamily="49" charset="-122"/>
                <a:ea typeface="黑体" panose="02010609060101010101" pitchFamily="49" charset="-122"/>
              </a:rPr>
              <a:t>字节</a:t>
            </a:r>
            <a:endParaRPr lang="zh-CN" altLang="en-US" sz="2400" b="0" dirty="0">
              <a:solidFill>
                <a:schemeClr val="accent2"/>
              </a:solidFill>
              <a:latin typeface="黑体" panose="02010609060101010101" pitchFamily="49" charset="-122"/>
              <a:ea typeface="黑体" panose="02010609060101010101" pitchFamily="49" charset="-122"/>
            </a:endParaRPr>
          </a:p>
          <a:p>
            <a:pPr>
              <a:lnSpc>
                <a:spcPct val="120000"/>
              </a:lnSpc>
              <a:buNone/>
            </a:pPr>
            <a:r>
              <a:rPr lang="zh-CN" altLang="en-US" sz="2400" b="0" dirty="0">
                <a:solidFill>
                  <a:schemeClr val="tx2"/>
                </a:solidFill>
                <a:latin typeface="黑体" panose="02010609060101010101" pitchFamily="49" charset="-122"/>
                <a:ea typeface="黑体" panose="02010609060101010101" pitchFamily="49" charset="-122"/>
              </a:rPr>
              <a:t>        例如：</a:t>
            </a:r>
            <a:r>
              <a:rPr lang="en-US" altLang="zh-CN" sz="2400" b="0" dirty="0">
                <a:solidFill>
                  <a:schemeClr val="hlink"/>
                </a:solidFill>
                <a:latin typeface="黑体" panose="02010609060101010101" pitchFamily="49" charset="-122"/>
                <a:ea typeface="黑体" panose="02010609060101010101" pitchFamily="49" charset="-122"/>
              </a:rPr>
              <a:t>MOVX  A</a:t>
            </a:r>
            <a:r>
              <a:rPr lang="zh-CN" altLang="en-US" sz="2400" b="0" dirty="0">
                <a:solidFill>
                  <a:schemeClr val="hlink"/>
                </a:solidFill>
                <a:latin typeface="黑体" panose="02010609060101010101" pitchFamily="49" charset="-122"/>
                <a:ea typeface="黑体" panose="02010609060101010101" pitchFamily="49" charset="-122"/>
              </a:rPr>
              <a:t>，</a:t>
            </a:r>
            <a:r>
              <a:rPr lang="en-US" altLang="zh-CN" sz="2400" b="0" dirty="0">
                <a:solidFill>
                  <a:schemeClr val="hlink"/>
                </a:solidFill>
                <a:latin typeface="黑体" panose="02010609060101010101" pitchFamily="49" charset="-122"/>
                <a:ea typeface="黑体" panose="02010609060101010101" pitchFamily="49" charset="-122"/>
              </a:rPr>
              <a:t>@Ri</a:t>
            </a:r>
            <a:endParaRPr lang="en-US" altLang="zh-CN" sz="2400" b="0" dirty="0">
              <a:solidFill>
                <a:schemeClr val="hlink"/>
              </a:solidFill>
              <a:latin typeface="黑体" panose="02010609060101010101" pitchFamily="49" charset="-122"/>
              <a:ea typeface="黑体" panose="02010609060101010101" pitchFamily="49" charset="-122"/>
            </a:endParaRPr>
          </a:p>
          <a:p>
            <a:pPr>
              <a:lnSpc>
                <a:spcPct val="120000"/>
              </a:lnSpc>
              <a:buNone/>
            </a:pPr>
            <a:r>
              <a:rPr lang="zh-CN" altLang="en-US" sz="2400" b="0" dirty="0">
                <a:solidFill>
                  <a:schemeClr val="tx2"/>
                </a:solidFill>
                <a:latin typeface="黑体" panose="02010609060101010101" pitchFamily="49" charset="-122"/>
                <a:ea typeface="黑体" panose="02010609060101010101" pitchFamily="49" charset="-122"/>
              </a:rPr>
              <a:t>（</a:t>
            </a:r>
            <a:r>
              <a:rPr lang="en-US" altLang="zh-CN" sz="2400" b="0" dirty="0">
                <a:solidFill>
                  <a:schemeClr val="tx2"/>
                </a:solidFill>
                <a:latin typeface="黑体" panose="02010609060101010101" pitchFamily="49" charset="-122"/>
                <a:ea typeface="黑体" panose="02010609060101010101" pitchFamily="49" charset="-122"/>
              </a:rPr>
              <a:t>4</a:t>
            </a:r>
            <a:r>
              <a:rPr lang="zh-CN" altLang="en-US" sz="2400" b="0" dirty="0">
                <a:solidFill>
                  <a:schemeClr val="tx2"/>
                </a:solidFill>
                <a:latin typeface="黑体" panose="02010609060101010101" pitchFamily="49" charset="-122"/>
                <a:ea typeface="黑体" panose="02010609060101010101" pitchFamily="49" charset="-122"/>
              </a:rPr>
              <a:t>）堆栈区 </a:t>
            </a:r>
            <a:endParaRPr lang="zh-CN" altLang="en-US" sz="2400" b="0" dirty="0">
              <a:solidFill>
                <a:schemeClr val="tx2"/>
              </a:solidFill>
              <a:latin typeface="黑体" panose="02010609060101010101" pitchFamily="49" charset="-122"/>
              <a:ea typeface="黑体" panose="02010609060101010101" pitchFamily="49" charset="-122"/>
            </a:endParaRPr>
          </a:p>
          <a:p>
            <a:pPr>
              <a:lnSpc>
                <a:spcPct val="120000"/>
              </a:lnSpc>
              <a:buNone/>
            </a:pPr>
            <a:r>
              <a:rPr lang="zh-CN" altLang="en-US" sz="2400" b="0" dirty="0">
                <a:solidFill>
                  <a:schemeClr val="tx2"/>
                </a:solidFill>
                <a:latin typeface="黑体" panose="02010609060101010101" pitchFamily="49" charset="-122"/>
                <a:ea typeface="黑体" panose="02010609060101010101" pitchFamily="49" charset="-122"/>
              </a:rPr>
              <a:t>         堆栈操作指令</a:t>
            </a:r>
            <a:r>
              <a:rPr lang="en-US" altLang="zh-CN" sz="2400" b="0" dirty="0">
                <a:solidFill>
                  <a:schemeClr val="tx2"/>
                </a:solidFill>
                <a:latin typeface="黑体" panose="02010609060101010101" pitchFamily="49" charset="-122"/>
                <a:ea typeface="黑体" panose="02010609060101010101" pitchFamily="49" charset="-122"/>
              </a:rPr>
              <a:t>PUSH</a:t>
            </a:r>
            <a:r>
              <a:rPr lang="zh-CN" altLang="en-US" sz="2400" b="0" dirty="0">
                <a:solidFill>
                  <a:schemeClr val="tx2"/>
                </a:solidFill>
                <a:latin typeface="黑体" panose="02010609060101010101" pitchFamily="49" charset="-122"/>
                <a:ea typeface="黑体" panose="02010609060101010101" pitchFamily="49" charset="-122"/>
              </a:rPr>
              <a:t>（压栈）和</a:t>
            </a:r>
            <a:r>
              <a:rPr lang="en-US" altLang="zh-CN" sz="2400" b="0" dirty="0">
                <a:solidFill>
                  <a:schemeClr val="tx2"/>
                </a:solidFill>
                <a:latin typeface="黑体" panose="02010609060101010101" pitchFamily="49" charset="-122"/>
                <a:ea typeface="黑体" panose="02010609060101010101" pitchFamily="49" charset="-122"/>
              </a:rPr>
              <a:t>POP</a:t>
            </a:r>
            <a:r>
              <a:rPr lang="zh-CN" altLang="en-US" sz="2400" b="0" dirty="0">
                <a:solidFill>
                  <a:schemeClr val="tx2"/>
                </a:solidFill>
                <a:latin typeface="黑体" panose="02010609060101010101" pitchFamily="49" charset="-122"/>
                <a:ea typeface="黑体" panose="02010609060101010101" pitchFamily="49" charset="-122"/>
              </a:rPr>
              <a:t>（出栈）使用堆栈指针（</a:t>
            </a:r>
            <a:r>
              <a:rPr lang="en-US" altLang="zh-CN" sz="2400" b="0" dirty="0">
                <a:solidFill>
                  <a:schemeClr val="accent2"/>
                </a:solidFill>
                <a:latin typeface="黑体" panose="02010609060101010101" pitchFamily="49" charset="-122"/>
                <a:ea typeface="黑体" panose="02010609060101010101" pitchFamily="49" charset="-122"/>
              </a:rPr>
              <a:t>SP</a:t>
            </a:r>
            <a:r>
              <a:rPr lang="zh-CN" altLang="en-US" sz="2400" b="0" dirty="0">
                <a:solidFill>
                  <a:schemeClr val="tx2"/>
                </a:solidFill>
                <a:latin typeface="黑体" panose="02010609060101010101" pitchFamily="49" charset="-122"/>
                <a:ea typeface="黑体" panose="02010609060101010101" pitchFamily="49" charset="-122"/>
              </a:rPr>
              <a:t>）作</a:t>
            </a:r>
            <a:r>
              <a:rPr lang="zh-CN" altLang="en-US" sz="2400" b="0" dirty="0">
                <a:solidFill>
                  <a:schemeClr val="accent2"/>
                </a:solidFill>
                <a:latin typeface="黑体" panose="02010609060101010101" pitchFamily="49" charset="-122"/>
                <a:ea typeface="黑体" panose="02010609060101010101" pitchFamily="49" charset="-122"/>
              </a:rPr>
              <a:t>间址寄存器</a:t>
            </a:r>
            <a:endParaRPr lang="zh-CN" altLang="en-US" sz="2400" b="0" dirty="0">
              <a:solidFill>
                <a:schemeClr val="accent2"/>
              </a:solidFill>
              <a:latin typeface="黑体" panose="02010609060101010101" pitchFamily="49" charset="-122"/>
              <a:ea typeface="黑体" panose="02010609060101010101" pitchFamily="49" charset="-122"/>
            </a:endParaRPr>
          </a:p>
          <a:p>
            <a:endParaRPr lang="zh-CN" altLang="en-US" sz="2400" dirty="0"/>
          </a:p>
        </p:txBody>
      </p:sp>
      <p:sp>
        <p:nvSpPr>
          <p:cNvPr id="87042" name="Rectangle 2"/>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     </a:t>
            </a:r>
            <a:r>
              <a:rPr kumimoji="1" lang="en-US" altLang="zh-CN" sz="32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32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818">
                                            <p:txEl>
                                              <p:charRg st="0" end="6"/>
                                            </p:txEl>
                                          </p:spTgt>
                                        </p:tgtEl>
                                        <p:attrNameLst>
                                          <p:attrName>style.visibility</p:attrName>
                                        </p:attrNameLst>
                                      </p:cBhvr>
                                      <p:to>
                                        <p:strVal val="visible"/>
                                      </p:to>
                                    </p:set>
                                    <p:animEffect transition="in" filter="blinds(horizontal)">
                                      <p:cBhvr>
                                        <p:cTn id="7" dur="500"/>
                                        <p:tgtEl>
                                          <p:spTgt spid="34818">
                                            <p:txEl>
                                              <p:charRg st="0"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4818">
                                            <p:txEl>
                                              <p:charRg st="6" end="34"/>
                                            </p:txEl>
                                          </p:spTgt>
                                        </p:tgtEl>
                                        <p:attrNameLst>
                                          <p:attrName>style.visibility</p:attrName>
                                        </p:attrNameLst>
                                      </p:cBhvr>
                                      <p:to>
                                        <p:strVal val="visible"/>
                                      </p:to>
                                    </p:set>
                                    <p:animEffect transition="in" filter="blinds(horizontal)">
                                      <p:cBhvr>
                                        <p:cTn id="12" dur="500"/>
                                        <p:tgtEl>
                                          <p:spTgt spid="34818">
                                            <p:txEl>
                                              <p:charRg st="6" end="3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4818">
                                            <p:txEl>
                                              <p:charRg st="34" end="64"/>
                                            </p:txEl>
                                          </p:spTgt>
                                        </p:tgtEl>
                                        <p:attrNameLst>
                                          <p:attrName>style.visibility</p:attrName>
                                        </p:attrNameLst>
                                      </p:cBhvr>
                                      <p:to>
                                        <p:strVal val="visible"/>
                                      </p:to>
                                    </p:set>
                                    <p:animEffect transition="in" filter="blinds(horizontal)">
                                      <p:cBhvr>
                                        <p:cTn id="17" dur="500"/>
                                        <p:tgtEl>
                                          <p:spTgt spid="34818">
                                            <p:txEl>
                                              <p:charRg st="34" end="6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4818">
                                            <p:txEl>
                                              <p:charRg st="64" end="89"/>
                                            </p:txEl>
                                          </p:spTgt>
                                        </p:tgtEl>
                                        <p:attrNameLst>
                                          <p:attrName>style.visibility</p:attrName>
                                        </p:attrNameLst>
                                      </p:cBhvr>
                                      <p:to>
                                        <p:strVal val="visible"/>
                                      </p:to>
                                    </p:set>
                                    <p:animEffect transition="in" filter="blinds(horizontal)">
                                      <p:cBhvr>
                                        <p:cTn id="22" dur="500"/>
                                        <p:tgtEl>
                                          <p:spTgt spid="34818">
                                            <p:txEl>
                                              <p:charRg st="64" end="8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4818">
                                            <p:txEl>
                                              <p:charRg st="89" end="112"/>
                                            </p:txEl>
                                          </p:spTgt>
                                        </p:tgtEl>
                                        <p:attrNameLst>
                                          <p:attrName>style.visibility</p:attrName>
                                        </p:attrNameLst>
                                      </p:cBhvr>
                                      <p:to>
                                        <p:strVal val="visible"/>
                                      </p:to>
                                    </p:set>
                                    <p:animEffect transition="in" filter="blinds(horizontal)">
                                      <p:cBhvr>
                                        <p:cTn id="27" dur="500"/>
                                        <p:tgtEl>
                                          <p:spTgt spid="34818">
                                            <p:txEl>
                                              <p:charRg st="89" end="11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4818">
                                            <p:txEl>
                                              <p:charRg st="112" end="130"/>
                                            </p:txEl>
                                          </p:spTgt>
                                        </p:tgtEl>
                                        <p:attrNameLst>
                                          <p:attrName>style.visibility</p:attrName>
                                        </p:attrNameLst>
                                      </p:cBhvr>
                                      <p:to>
                                        <p:strVal val="visible"/>
                                      </p:to>
                                    </p:set>
                                    <p:animEffect transition="in" filter="blinds(horizontal)">
                                      <p:cBhvr>
                                        <p:cTn id="32" dur="500"/>
                                        <p:tgtEl>
                                          <p:spTgt spid="34818">
                                            <p:txEl>
                                              <p:charRg st="112" end="13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4818">
                                            <p:txEl>
                                              <p:charRg st="130" end="153"/>
                                            </p:txEl>
                                          </p:spTgt>
                                        </p:tgtEl>
                                        <p:attrNameLst>
                                          <p:attrName>style.visibility</p:attrName>
                                        </p:attrNameLst>
                                      </p:cBhvr>
                                      <p:to>
                                        <p:strVal val="visible"/>
                                      </p:to>
                                    </p:set>
                                    <p:animEffect transition="in" filter="blinds(horizontal)">
                                      <p:cBhvr>
                                        <p:cTn id="37" dur="500"/>
                                        <p:tgtEl>
                                          <p:spTgt spid="34818">
                                            <p:txEl>
                                              <p:charRg st="130" end="15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4818">
                                            <p:txEl>
                                              <p:charRg st="153" end="161"/>
                                            </p:txEl>
                                          </p:spTgt>
                                        </p:tgtEl>
                                        <p:attrNameLst>
                                          <p:attrName>style.visibility</p:attrName>
                                        </p:attrNameLst>
                                      </p:cBhvr>
                                      <p:to>
                                        <p:strVal val="visible"/>
                                      </p:to>
                                    </p:set>
                                    <p:animEffect transition="in" filter="blinds(horizontal)">
                                      <p:cBhvr>
                                        <p:cTn id="42" dur="500"/>
                                        <p:tgtEl>
                                          <p:spTgt spid="34818">
                                            <p:txEl>
                                              <p:charRg st="153" end="16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4818">
                                            <p:txEl>
                                              <p:charRg st="161" end="209"/>
                                            </p:txEl>
                                          </p:spTgt>
                                        </p:tgtEl>
                                        <p:attrNameLst>
                                          <p:attrName>style.visibility</p:attrName>
                                        </p:attrNameLst>
                                      </p:cBhvr>
                                      <p:to>
                                        <p:strVal val="visible"/>
                                      </p:to>
                                    </p:set>
                                    <p:animEffect transition="in" filter="blinds(horizontal)">
                                      <p:cBhvr>
                                        <p:cTn id="47" dur="500"/>
                                        <p:tgtEl>
                                          <p:spTgt spid="34818">
                                            <p:txEl>
                                              <p:charRg st="161" end="20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5124" name="Rectangle 3"/>
          <p:cNvSpPr>
            <a:spLocks noGrp="1"/>
          </p:cNvSpPr>
          <p:nvPr>
            <p:ph type="body" idx="4294967295"/>
          </p:nvPr>
        </p:nvSpPr>
        <p:spPr>
          <a:xfrm>
            <a:off x="0" y="928688"/>
            <a:ext cx="9144000" cy="2357437"/>
          </a:xfrm>
        </p:spPr>
        <p:txBody>
          <a:bodyPr vert="horz" wrap="square" lIns="91440" tIns="45720" rIns="91440" bIns="45720" anchor="t" anchorCtr="0"/>
          <a:p>
            <a:pPr marL="0" indent="0">
              <a:lnSpc>
                <a:spcPct val="150000"/>
              </a:lnSpc>
              <a:spcBef>
                <a:spcPct val="0"/>
              </a:spcBef>
              <a:buNone/>
            </a:pPr>
            <a:r>
              <a:rPr lang="zh-CN" altLang="en-US" sz="3200" dirty="0">
                <a:latin typeface="宋体" pitchFamily="2" charset="-122"/>
              </a:rPr>
              <a:t>五、</a:t>
            </a:r>
            <a:r>
              <a:rPr lang="zh-CN" altLang="en-US" sz="3200" dirty="0">
                <a:solidFill>
                  <a:srgbClr val="FF0000"/>
                </a:solidFill>
                <a:latin typeface="宋体" pitchFamily="2" charset="-122"/>
              </a:rPr>
              <a:t>基址加变址寻址方式（</a:t>
            </a:r>
            <a:r>
              <a:rPr lang="zh-CN" altLang="en-US" sz="1800" dirty="0">
                <a:solidFill>
                  <a:schemeClr val="accent2"/>
                </a:solidFill>
                <a:latin typeface="宋体" pitchFamily="2" charset="-122"/>
              </a:rPr>
              <a:t>基寄存器加变址寄存器间接寻址</a:t>
            </a:r>
            <a:r>
              <a:rPr lang="zh-CN" altLang="en-US" sz="3200" dirty="0">
                <a:solidFill>
                  <a:srgbClr val="FF0000"/>
                </a:solidFill>
                <a:latin typeface="宋体" pitchFamily="2" charset="-122"/>
              </a:rPr>
              <a:t>）</a:t>
            </a:r>
            <a:br>
              <a:rPr lang="zh-CN" altLang="en-US" sz="3200" dirty="0">
                <a:latin typeface="；"/>
              </a:rPr>
            </a:br>
            <a:r>
              <a:rPr lang="zh-CN" altLang="en-US" dirty="0">
                <a:latin typeface="；"/>
              </a:rPr>
              <a:t>   </a:t>
            </a:r>
            <a:r>
              <a:rPr lang="zh-CN" altLang="en-US" sz="2300" dirty="0">
                <a:latin typeface="宋体" pitchFamily="2" charset="-122"/>
              </a:rPr>
              <a:t>数据在存储器中，指令给出的寄存器中为数据的基地址和偏移量。</a:t>
            </a:r>
            <a:endParaRPr lang="zh-CN" altLang="en-US" sz="2300" dirty="0">
              <a:latin typeface="宋体" pitchFamily="2" charset="-122"/>
            </a:endParaRPr>
          </a:p>
          <a:p>
            <a:pPr marL="0" indent="0">
              <a:lnSpc>
                <a:spcPct val="150000"/>
              </a:lnSpc>
              <a:spcBef>
                <a:spcPct val="0"/>
              </a:spcBef>
              <a:buNone/>
            </a:pPr>
            <a:r>
              <a:rPr lang="zh-CN" altLang="en-US" sz="2300" dirty="0">
                <a:solidFill>
                  <a:srgbClr val="000000"/>
                </a:solidFill>
                <a:latin typeface="黑体" panose="02010609060101010101" pitchFamily="49" charset="-122"/>
                <a:ea typeface="黑体" panose="02010609060101010101" pitchFamily="49" charset="-122"/>
              </a:rPr>
              <a:t>   以</a:t>
            </a:r>
            <a:r>
              <a:rPr lang="en-US" altLang="zh-CN" sz="2300" dirty="0">
                <a:solidFill>
                  <a:srgbClr val="0000FF"/>
                </a:solidFill>
                <a:latin typeface="黑体" panose="02010609060101010101" pitchFamily="49" charset="-122"/>
                <a:ea typeface="黑体" panose="02010609060101010101" pitchFamily="49" charset="-122"/>
              </a:rPr>
              <a:t>DPTR</a:t>
            </a:r>
            <a:r>
              <a:rPr lang="zh-CN" altLang="en-US" sz="2300" dirty="0">
                <a:solidFill>
                  <a:srgbClr val="000000"/>
                </a:solidFill>
                <a:latin typeface="黑体" panose="02010609060101010101" pitchFamily="49" charset="-122"/>
                <a:ea typeface="黑体" panose="02010609060101010101" pitchFamily="49" charset="-122"/>
              </a:rPr>
              <a:t>或</a:t>
            </a:r>
            <a:r>
              <a:rPr lang="en-US" altLang="zh-CN" sz="2300" dirty="0">
                <a:solidFill>
                  <a:srgbClr val="0000FF"/>
                </a:solidFill>
                <a:latin typeface="黑体" panose="02010609060101010101" pitchFamily="49" charset="-122"/>
                <a:ea typeface="黑体" panose="02010609060101010101" pitchFamily="49" charset="-122"/>
              </a:rPr>
              <a:t>PC</a:t>
            </a:r>
            <a:r>
              <a:rPr lang="zh-CN" altLang="en-US" sz="2300" dirty="0">
                <a:solidFill>
                  <a:srgbClr val="000000"/>
                </a:solidFill>
                <a:latin typeface="黑体" panose="02010609060101010101" pitchFamily="49" charset="-122"/>
                <a:ea typeface="黑体" panose="02010609060101010101" pitchFamily="49" charset="-122"/>
              </a:rPr>
              <a:t>作基址寄存器，以累加器</a:t>
            </a:r>
            <a:r>
              <a:rPr lang="en-US" altLang="zh-CN" sz="2300" dirty="0">
                <a:solidFill>
                  <a:srgbClr val="0000FF"/>
                </a:solidFill>
                <a:latin typeface="黑体" panose="02010609060101010101" pitchFamily="49" charset="-122"/>
                <a:ea typeface="黑体" panose="02010609060101010101" pitchFamily="49" charset="-122"/>
              </a:rPr>
              <a:t>A</a:t>
            </a:r>
            <a:r>
              <a:rPr lang="zh-CN" altLang="en-US" sz="2300" dirty="0">
                <a:solidFill>
                  <a:srgbClr val="000000"/>
                </a:solidFill>
                <a:latin typeface="黑体" panose="02010609060101010101" pitchFamily="49" charset="-122"/>
                <a:ea typeface="黑体" panose="02010609060101010101" pitchFamily="49" charset="-122"/>
              </a:rPr>
              <a:t>作为</a:t>
            </a:r>
            <a:r>
              <a:rPr lang="zh-CN" altLang="en-US" sz="2300" dirty="0">
                <a:solidFill>
                  <a:srgbClr val="0000FF"/>
                </a:solidFill>
                <a:latin typeface="黑体" panose="02010609060101010101" pitchFamily="49" charset="-122"/>
                <a:ea typeface="黑体" panose="02010609060101010101" pitchFamily="49" charset="-122"/>
              </a:rPr>
              <a:t>变址寄存器</a:t>
            </a:r>
            <a:r>
              <a:rPr lang="zh-CN" altLang="en-US" sz="2300" dirty="0">
                <a:solidFill>
                  <a:srgbClr val="000000"/>
                </a:solidFill>
                <a:latin typeface="黑体" panose="02010609060101010101" pitchFamily="49" charset="-122"/>
                <a:ea typeface="黑体" panose="02010609060101010101" pitchFamily="49" charset="-122"/>
              </a:rPr>
              <a:t>。</a:t>
            </a:r>
            <a:r>
              <a:rPr lang="zh-CN" altLang="en-US" sz="2300" dirty="0">
                <a:latin typeface="宋体" pitchFamily="2" charset="-122"/>
              </a:rPr>
              <a:t> </a:t>
            </a:r>
            <a:br>
              <a:rPr lang="zh-CN" altLang="en-US" sz="2300" dirty="0">
                <a:latin typeface="宋体" pitchFamily="2" charset="-122"/>
              </a:rPr>
            </a:br>
            <a:r>
              <a:rPr lang="zh-CN" altLang="en-US" sz="2300" dirty="0">
                <a:latin typeface="宋体" pitchFamily="2" charset="-122"/>
              </a:rPr>
              <a:t>	数据地址 = 基地址 + 偏移量，形成</a:t>
            </a:r>
            <a:r>
              <a:rPr lang="en-US" altLang="zh-CN" sz="2300" dirty="0">
                <a:latin typeface="宋体" pitchFamily="2" charset="-122"/>
              </a:rPr>
              <a:t>16</a:t>
            </a:r>
            <a:r>
              <a:rPr lang="zh-CN" altLang="en-US" sz="2300" dirty="0">
                <a:latin typeface="宋体" pitchFamily="2" charset="-122"/>
              </a:rPr>
              <a:t>位数作为</a:t>
            </a:r>
            <a:r>
              <a:rPr lang="en-US" altLang="zh-CN" sz="2300" dirty="0">
                <a:latin typeface="宋体" pitchFamily="2" charset="-122"/>
              </a:rPr>
              <a:t>ROM</a:t>
            </a:r>
            <a:r>
              <a:rPr lang="zh-CN" altLang="en-US" sz="2300" dirty="0">
                <a:latin typeface="宋体" pitchFamily="2" charset="-122"/>
              </a:rPr>
              <a:t>地址。</a:t>
            </a:r>
            <a:endParaRPr lang="zh-CN" altLang="zh-CN" sz="2300" dirty="0">
              <a:latin typeface="宋体" pitchFamily="2" charset="-122"/>
            </a:endParaRPr>
          </a:p>
        </p:txBody>
      </p:sp>
      <p:graphicFrame>
        <p:nvGraphicFramePr>
          <p:cNvPr id="17" name="Object 7"/>
          <p:cNvGraphicFramePr/>
          <p:nvPr/>
        </p:nvGraphicFramePr>
        <p:xfrm>
          <a:off x="3492500" y="3405188"/>
          <a:ext cx="5400675" cy="2881312"/>
        </p:xfrm>
        <a:graphic>
          <a:graphicData uri="http://schemas.openxmlformats.org/presentationml/2006/ole">
            <mc:AlternateContent xmlns:mc="http://schemas.openxmlformats.org/markup-compatibility/2006">
              <mc:Choice xmlns:v="urn:schemas-microsoft-com:vml" Requires="v">
                <p:oleObj spid="_x0000_s3087" name="" r:id="rId1" imgW="3159125" imgH="1496060" progId="Visio.Drawing.11">
                  <p:embed/>
                </p:oleObj>
              </mc:Choice>
              <mc:Fallback>
                <p:oleObj name="" r:id="rId1" imgW="3159125" imgH="1496060" progId="Visio.Drawing.11">
                  <p:embed/>
                  <p:pic>
                    <p:nvPicPr>
                      <p:cNvPr id="0" name="Picture 3086"/>
                      <p:cNvPicPr/>
                      <p:nvPr/>
                    </p:nvPicPr>
                    <p:blipFill>
                      <a:blip r:embed="rId2"/>
                      <a:stretch>
                        <a:fillRect/>
                      </a:stretch>
                    </p:blipFill>
                    <p:spPr>
                      <a:xfrm>
                        <a:off x="3492500" y="3405188"/>
                        <a:ext cx="5400675" cy="2881312"/>
                      </a:xfrm>
                      <a:prstGeom prst="rect">
                        <a:avLst/>
                      </a:prstGeom>
                      <a:noFill/>
                      <a:ln w="38100">
                        <a:noFill/>
                        <a:miter/>
                      </a:ln>
                    </p:spPr>
                  </p:pic>
                </p:oleObj>
              </mc:Fallback>
            </mc:AlternateContent>
          </a:graphicData>
        </a:graphic>
      </p:graphicFrame>
      <p:sp>
        <p:nvSpPr>
          <p:cNvPr id="18" name="Rectangle 10"/>
          <p:cNvSpPr/>
          <p:nvPr/>
        </p:nvSpPr>
        <p:spPr>
          <a:xfrm>
            <a:off x="250825" y="3429000"/>
            <a:ext cx="3252788" cy="457200"/>
          </a:xfrm>
          <a:prstGeom prst="rect">
            <a:avLst/>
          </a:prstGeom>
          <a:noFill/>
          <a:ln w="9525">
            <a:noFill/>
          </a:ln>
        </p:spPr>
        <p:txBody>
          <a:bodyPr wrap="none" anchor="ctr" anchorCtr="0">
            <a:spAutoFit/>
          </a:bodyPr>
          <a:p>
            <a:pPr eaLnBrk="0" hangingPunct="0">
              <a:buClrTx/>
              <a:buFontTx/>
            </a:pPr>
            <a:r>
              <a:rPr lang="en-US" altLang="zh-CN" b="0" dirty="0">
                <a:latin typeface="Times New Roman" panose="02020503050405090304" pitchFamily="18" charset="0"/>
                <a:ea typeface="仿宋_GB2312" pitchFamily="49" charset="-122"/>
              </a:rPr>
              <a:t>【</a:t>
            </a:r>
            <a:r>
              <a:rPr lang="zh-CN" altLang="en-US" dirty="0">
                <a:latin typeface="Times New Roman" panose="02020503050405090304" pitchFamily="18" charset="0"/>
                <a:ea typeface="仿宋_GB2312" pitchFamily="49" charset="-122"/>
              </a:rPr>
              <a:t>例</a:t>
            </a:r>
            <a:r>
              <a:rPr lang="en-US" altLang="zh-CN" dirty="0">
                <a:latin typeface="Times New Roman" panose="02020503050405090304" pitchFamily="18" charset="0"/>
                <a:ea typeface="仿宋_GB2312" pitchFamily="49" charset="-122"/>
              </a:rPr>
              <a:t>】</a:t>
            </a:r>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A</a:t>
            </a:r>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0FH   </a:t>
            </a:r>
            <a:r>
              <a:rPr lang="zh-CN" altLang="en-US" dirty="0">
                <a:latin typeface="Times New Roman" panose="02020503050405090304" pitchFamily="18" charset="0"/>
                <a:ea typeface="仿宋_GB2312" pitchFamily="49" charset="-122"/>
              </a:rPr>
              <a:t> </a:t>
            </a:r>
            <a:endParaRPr lang="zh-CN" altLang="en-US" dirty="0">
              <a:latin typeface="Times New Roman" panose="02020503050405090304" pitchFamily="18" charset="0"/>
              <a:ea typeface="仿宋_GB2312" pitchFamily="49" charset="-122"/>
            </a:endParaRPr>
          </a:p>
        </p:txBody>
      </p:sp>
      <p:sp>
        <p:nvSpPr>
          <p:cNvPr id="19" name="Rectangle 11"/>
          <p:cNvSpPr/>
          <p:nvPr/>
        </p:nvSpPr>
        <p:spPr>
          <a:xfrm>
            <a:off x="539750" y="4005263"/>
            <a:ext cx="2490788" cy="457200"/>
          </a:xfrm>
          <a:prstGeom prst="rect">
            <a:avLst/>
          </a:prstGeom>
          <a:noFill/>
          <a:ln w="9525">
            <a:noFill/>
          </a:ln>
        </p:spPr>
        <p:txBody>
          <a:bodyPr wrap="none" anchor="ctr" anchorCtr="0">
            <a:spAutoFit/>
          </a:bodyPr>
          <a:p>
            <a:pPr eaLnBrk="0" hangingPunct="0">
              <a:buClrTx/>
              <a:buFontTx/>
            </a:pPr>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DPTR</a:t>
            </a:r>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=2400H </a:t>
            </a:r>
            <a:endParaRPr lang="en-US" altLang="zh-CN" dirty="0">
              <a:latin typeface="Times New Roman" panose="02020503050405090304" pitchFamily="18" charset="0"/>
              <a:ea typeface="仿宋_GB2312" pitchFamily="49" charset="-122"/>
            </a:endParaRPr>
          </a:p>
        </p:txBody>
      </p:sp>
      <p:sp>
        <p:nvSpPr>
          <p:cNvPr id="25" name="Rectangle 12"/>
          <p:cNvSpPr/>
          <p:nvPr/>
        </p:nvSpPr>
        <p:spPr>
          <a:xfrm>
            <a:off x="785813" y="4500563"/>
            <a:ext cx="2714625" cy="830262"/>
          </a:xfrm>
          <a:prstGeom prst="rect">
            <a:avLst/>
          </a:prstGeom>
          <a:noFill/>
          <a:ln w="9525">
            <a:noFill/>
          </a:ln>
        </p:spPr>
        <p:txBody>
          <a:bodyPr anchor="ctr" anchorCtr="0">
            <a:spAutoFit/>
          </a:bodyPr>
          <a:p>
            <a:pPr eaLnBrk="0" hangingPunct="0">
              <a:buClrTx/>
              <a:buFontTx/>
            </a:pPr>
            <a:r>
              <a:rPr lang="zh-CN" altLang="en-US" dirty="0">
                <a:latin typeface="Times New Roman" panose="02020503050405090304" pitchFamily="18" charset="0"/>
                <a:ea typeface="仿宋_GB2312" pitchFamily="49" charset="-122"/>
              </a:rPr>
              <a:t>执行</a:t>
            </a:r>
            <a:r>
              <a:rPr lang="en-US" altLang="zh-CN" dirty="0">
                <a:latin typeface="Times New Roman" panose="02020503050405090304" pitchFamily="18" charset="0"/>
                <a:ea typeface="仿宋_GB2312" pitchFamily="49" charset="-122"/>
              </a:rPr>
              <a:t>MOVC A,@A+DPTR</a:t>
            </a:r>
            <a:r>
              <a:rPr lang="en-US" altLang="zh-CN" dirty="0">
                <a:latin typeface="Arial" panose="020B0604020202090204" pitchFamily="34" charset="0"/>
                <a:ea typeface="仿宋_GB2312" pitchFamily="49" charset="-122"/>
              </a:rPr>
              <a:t/>
            </a:r>
            <a:r>
              <a:rPr lang="zh-CN" altLang="en-US" dirty="0">
                <a:latin typeface="Times New Roman" panose="02020503050405090304" pitchFamily="18" charset="0"/>
                <a:ea typeface="仿宋_GB2312" pitchFamily="49" charset="-122"/>
              </a:rPr>
              <a:t>后</a:t>
            </a:r>
            <a:endParaRPr lang="zh-CN" altLang="en-US" dirty="0">
              <a:latin typeface="Times New Roman" panose="02020503050405090304" pitchFamily="18" charset="0"/>
              <a:ea typeface="仿宋_GB2312" pitchFamily="49" charset="-122"/>
            </a:endParaRPr>
          </a:p>
        </p:txBody>
      </p:sp>
      <p:sp>
        <p:nvSpPr>
          <p:cNvPr id="26" name="Rectangle 13"/>
          <p:cNvSpPr/>
          <p:nvPr/>
        </p:nvSpPr>
        <p:spPr>
          <a:xfrm>
            <a:off x="142875" y="5500688"/>
            <a:ext cx="3101975" cy="457200"/>
          </a:xfrm>
          <a:prstGeom prst="rect">
            <a:avLst/>
          </a:prstGeom>
          <a:noFill/>
          <a:ln w="9525">
            <a:noFill/>
          </a:ln>
        </p:spPr>
        <p:txBody>
          <a:bodyPr wrap="none" anchor="ctr" anchorCtr="0">
            <a:spAutoFit/>
          </a:bodyPr>
          <a:p>
            <a:pPr eaLnBrk="0" hangingPunct="0">
              <a:buClrTx/>
              <a:buFontTx/>
            </a:pPr>
            <a:r>
              <a:rPr lang="zh-CN" altLang="en-US" dirty="0">
                <a:latin typeface="Times New Roman" panose="02020503050405090304" pitchFamily="18" charset="0"/>
                <a:ea typeface="仿宋_GB2312" pitchFamily="49" charset="-122"/>
              </a:rPr>
              <a:t>结果：（</a:t>
            </a:r>
            <a:r>
              <a:rPr lang="en-US" altLang="zh-CN" dirty="0">
                <a:latin typeface="Times New Roman" panose="02020503050405090304" pitchFamily="18" charset="0"/>
                <a:ea typeface="仿宋_GB2312" pitchFamily="49" charset="-122"/>
              </a:rPr>
              <a:t>A</a:t>
            </a:r>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=88H   </a:t>
            </a:r>
            <a:r>
              <a:rPr lang="zh-CN" altLang="en-US" dirty="0">
                <a:latin typeface="Times New Roman" panose="02020503050405090304" pitchFamily="18" charset="0"/>
                <a:ea typeface="仿宋_GB2312" pitchFamily="49" charset="-122"/>
              </a:rPr>
              <a:t> </a:t>
            </a:r>
            <a:endParaRPr lang="zh-CN" altLang="en-US" dirty="0">
              <a:latin typeface="Times New Roman" panose="02020503050405090304" pitchFamily="18" charset="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24">
                                            <p:txEl>
                                              <p:charRg st="62" end="128"/>
                                            </p:txEl>
                                          </p:spTgt>
                                        </p:tgtEl>
                                        <p:attrNameLst>
                                          <p:attrName>style.visibility</p:attrName>
                                        </p:attrNameLst>
                                      </p:cBhvr>
                                      <p:to>
                                        <p:strVal val="visible"/>
                                      </p:to>
                                    </p:set>
                                    <p:animEffect transition="in" filter="blinds(horizontal)">
                                      <p:cBhvr>
                                        <p:cTn id="7" dur="500"/>
                                        <p:tgtEl>
                                          <p:spTgt spid="5124">
                                            <p:txEl>
                                              <p:charRg st="62" end="128"/>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additive="base">
                                        <p:cTn id="12" dur="500" fill="hold"/>
                                        <p:tgtEl>
                                          <p:spTgt spid="17"/>
                                        </p:tgtEl>
                                        <p:attrNameLst>
                                          <p:attrName>ppt_x</p:attrName>
                                        </p:attrNameLst>
                                      </p:cBhvr>
                                      <p:tavLst>
                                        <p:tav tm="0">
                                          <p:val>
                                            <p:strVal val="#ppt_x"/>
                                          </p:val>
                                        </p:tav>
                                        <p:tav tm="100000">
                                          <p:val>
                                            <p:strVal val="#ppt_x"/>
                                          </p:val>
                                        </p:tav>
                                      </p:tavLst>
                                    </p:anim>
                                    <p:anim calcmode="lin" valueType="num">
                                      <p:cBhvr additive="base">
                                        <p:cTn id="13" dur="500" fill="hold"/>
                                        <p:tgtEl>
                                          <p:spTgt spid="17"/>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 calcmode="lin" valueType="num">
                                      <p:cBhvr additive="base">
                                        <p:cTn id="16" dur="500" fill="hold"/>
                                        <p:tgtEl>
                                          <p:spTgt spid="18"/>
                                        </p:tgtEl>
                                        <p:attrNameLst>
                                          <p:attrName>ppt_x</p:attrName>
                                        </p:attrNameLst>
                                      </p:cBhvr>
                                      <p:tavLst>
                                        <p:tav tm="0">
                                          <p:val>
                                            <p:strVal val="#ppt_x"/>
                                          </p:val>
                                        </p:tav>
                                        <p:tav tm="100000">
                                          <p:val>
                                            <p:strVal val="#ppt_x"/>
                                          </p:val>
                                        </p:tav>
                                      </p:tavLst>
                                    </p:anim>
                                    <p:anim calcmode="lin" valueType="num">
                                      <p:cBhvr additive="base">
                                        <p:cTn id="17" dur="500" fill="hold"/>
                                        <p:tgtEl>
                                          <p:spTgt spid="18"/>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19"/>
                                        </p:tgtEl>
                                        <p:attrNameLst>
                                          <p:attrName>style.visibility</p:attrName>
                                        </p:attrNameLst>
                                      </p:cBhvr>
                                      <p:to>
                                        <p:strVal val="visible"/>
                                      </p:to>
                                    </p:set>
                                    <p:anim calcmode="lin" valueType="num">
                                      <p:cBhvr additive="base">
                                        <p:cTn id="20" dur="500" fill="hold"/>
                                        <p:tgtEl>
                                          <p:spTgt spid="19"/>
                                        </p:tgtEl>
                                        <p:attrNameLst>
                                          <p:attrName>ppt_x</p:attrName>
                                        </p:attrNameLst>
                                      </p:cBhvr>
                                      <p:tavLst>
                                        <p:tav tm="0">
                                          <p:val>
                                            <p:strVal val="#ppt_x"/>
                                          </p:val>
                                        </p:tav>
                                        <p:tav tm="100000">
                                          <p:val>
                                            <p:strVal val="#ppt_x"/>
                                          </p:val>
                                        </p:tav>
                                      </p:tavLst>
                                    </p:anim>
                                    <p:anim calcmode="lin" valueType="num">
                                      <p:cBhvr additive="base">
                                        <p:cTn id="21" dur="500" fill="hold"/>
                                        <p:tgtEl>
                                          <p:spTgt spid="19"/>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25"/>
                                        </p:tgtEl>
                                        <p:attrNameLst>
                                          <p:attrName>style.visibility</p:attrName>
                                        </p:attrNameLst>
                                      </p:cBhvr>
                                      <p:to>
                                        <p:strVal val="visible"/>
                                      </p:to>
                                    </p:set>
                                    <p:anim calcmode="lin" valueType="num">
                                      <p:cBhvr additive="base">
                                        <p:cTn id="24" dur="500" fill="hold"/>
                                        <p:tgtEl>
                                          <p:spTgt spid="25"/>
                                        </p:tgtEl>
                                        <p:attrNameLst>
                                          <p:attrName>ppt_x</p:attrName>
                                        </p:attrNameLst>
                                      </p:cBhvr>
                                      <p:tavLst>
                                        <p:tav tm="0">
                                          <p:val>
                                            <p:strVal val="#ppt_x"/>
                                          </p:val>
                                        </p:tav>
                                        <p:tav tm="100000">
                                          <p:val>
                                            <p:strVal val="#ppt_x"/>
                                          </p:val>
                                        </p:tav>
                                      </p:tavLst>
                                    </p:anim>
                                    <p:anim calcmode="lin" valueType="num">
                                      <p:cBhvr additive="base">
                                        <p:cTn id="25"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26"/>
                                        </p:tgtEl>
                                        <p:attrNameLst>
                                          <p:attrName>style.visibility</p:attrName>
                                        </p:attrNameLst>
                                      </p:cBhvr>
                                      <p:to>
                                        <p:strVal val="visible"/>
                                      </p:to>
                                    </p:set>
                                    <p:anim calcmode="lin" valueType="num">
                                      <p:cBhvr additive="base">
                                        <p:cTn id="30" dur="500" fill="hold"/>
                                        <p:tgtEl>
                                          <p:spTgt spid="26"/>
                                        </p:tgtEl>
                                        <p:attrNameLst>
                                          <p:attrName>ppt_x</p:attrName>
                                        </p:attrNameLst>
                                      </p:cBhvr>
                                      <p:tavLst>
                                        <p:tav tm="0">
                                          <p:val>
                                            <p:strVal val="#ppt_x"/>
                                          </p:val>
                                        </p:tav>
                                        <p:tav tm="100000">
                                          <p:val>
                                            <p:strVal val="#ppt_x"/>
                                          </p:val>
                                        </p:tav>
                                      </p:tavLst>
                                    </p:anim>
                                    <p:anim calcmode="lin" valueType="num">
                                      <p:cBhvr additive="base">
                                        <p:cTn id="31"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 grpId="0" uiExpand="1" build="p"/>
      <p:bldP spid="18" grpId="0"/>
      <p:bldP spid="19" grpId="0"/>
      <p:bldP spid="25" grpId="0"/>
      <p:bldP spid="2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3"/>
          <p:cNvSpPr>
            <a:spLocks noGrp="1"/>
          </p:cNvSpPr>
          <p:nvPr>
            <p:ph type="body" idx="4294967295"/>
          </p:nvPr>
        </p:nvSpPr>
        <p:spPr/>
        <p:txBody>
          <a:bodyPr vert="horz" wrap="square" lIns="91440" tIns="45720" rIns="91440" bIns="45720" anchor="t" anchorCtr="0"/>
          <a:p>
            <a:pPr algn="just" eaLnBrk="1" fontAlgn="b" hangingPunct="1">
              <a:lnSpc>
                <a:spcPct val="120000"/>
              </a:lnSpc>
              <a:buClrTx/>
              <a:buFontTx/>
              <a:buNone/>
            </a:pPr>
            <a:r>
              <a:rPr lang="zh-CN" altLang="en-US" sz="3200" dirty="0">
                <a:latin typeface="宋体" pitchFamily="2" charset="-122"/>
              </a:rPr>
              <a:t>五、</a:t>
            </a:r>
            <a:r>
              <a:rPr lang="zh-CN" altLang="en-US" sz="3200" dirty="0">
                <a:solidFill>
                  <a:srgbClr val="FF0000"/>
                </a:solidFill>
                <a:latin typeface="宋体" pitchFamily="2" charset="-122"/>
              </a:rPr>
              <a:t>基址加变址寻址方式（续）</a:t>
            </a:r>
            <a:endParaRPr lang="zh-CN" altLang="en-US" sz="3200" dirty="0">
              <a:solidFill>
                <a:srgbClr val="FF0000"/>
              </a:solidFill>
              <a:latin typeface="宋体" pitchFamily="2" charset="-122"/>
            </a:endParaRPr>
          </a:p>
          <a:p>
            <a:pPr algn="just" eaLnBrk="1" fontAlgn="b" hangingPunct="1">
              <a:lnSpc>
                <a:spcPct val="120000"/>
              </a:lnSpc>
              <a:buClrTx/>
              <a:buFontTx/>
              <a:buNone/>
            </a:pPr>
            <a:endParaRPr lang="zh-CN" altLang="en-US" sz="2400" dirty="0">
              <a:solidFill>
                <a:srgbClr val="000000"/>
              </a:solidFill>
              <a:latin typeface="黑体" panose="02010609060101010101" pitchFamily="49" charset="-122"/>
              <a:ea typeface="黑体" panose="02010609060101010101" pitchFamily="49" charset="-122"/>
            </a:endParaRPr>
          </a:p>
          <a:p>
            <a:pPr algn="just" eaLnBrk="1" fontAlgn="b" hangingPunct="1">
              <a:lnSpc>
                <a:spcPct val="120000"/>
              </a:lnSpc>
              <a:buClrTx/>
              <a:buFontTx/>
              <a:buNone/>
            </a:pPr>
            <a:r>
              <a:rPr lang="zh-CN" altLang="en-US" sz="2400" dirty="0">
                <a:solidFill>
                  <a:srgbClr val="000000"/>
                </a:solidFill>
                <a:latin typeface="黑体" panose="02010609060101010101" pitchFamily="49" charset="-122"/>
                <a:ea typeface="黑体" panose="02010609060101010101" pitchFamily="49" charset="-122"/>
              </a:rPr>
              <a:t>说明： </a:t>
            </a:r>
            <a:endParaRPr lang="zh-CN" altLang="en-US" sz="2400" dirty="0">
              <a:solidFill>
                <a:srgbClr val="000000"/>
              </a:solidFill>
              <a:latin typeface="黑体" panose="02010609060101010101" pitchFamily="49" charset="-122"/>
              <a:ea typeface="黑体" panose="02010609060101010101" pitchFamily="49" charset="-122"/>
            </a:endParaRPr>
          </a:p>
          <a:p>
            <a:pPr algn="just" eaLnBrk="1" fontAlgn="b" hangingPunct="1">
              <a:lnSpc>
                <a:spcPct val="120000"/>
              </a:lnSpc>
              <a:buClrTx/>
              <a:buFontTx/>
              <a:buNone/>
            </a:pPr>
            <a:r>
              <a:rPr lang="zh-CN" altLang="en-US" sz="2400" dirty="0">
                <a:solidFill>
                  <a:srgbClr val="000000"/>
                </a:solidFill>
                <a:latin typeface="黑体" panose="02010609060101010101" pitchFamily="49" charset="-122"/>
                <a:ea typeface="黑体" panose="02010609060101010101" pitchFamily="49" charset="-122"/>
              </a:rPr>
              <a:t>（</a:t>
            </a:r>
            <a:r>
              <a:rPr lang="en-US" altLang="zh-CN" sz="2400" dirty="0">
                <a:solidFill>
                  <a:srgbClr val="000000"/>
                </a:solidFill>
                <a:latin typeface="黑体" panose="02010609060101010101" pitchFamily="49" charset="-122"/>
                <a:ea typeface="黑体" panose="02010609060101010101" pitchFamily="49" charset="-122"/>
              </a:rPr>
              <a:t>1</a:t>
            </a:r>
            <a:r>
              <a:rPr lang="zh-CN" altLang="en-US" sz="2400" dirty="0">
                <a:solidFill>
                  <a:srgbClr val="000000"/>
                </a:solidFill>
                <a:latin typeface="黑体" panose="02010609060101010101" pitchFamily="49" charset="-122"/>
                <a:ea typeface="黑体" panose="02010609060101010101" pitchFamily="49" charset="-122"/>
              </a:rPr>
              <a:t>）本寻址方式是</a:t>
            </a:r>
            <a:r>
              <a:rPr lang="zh-CN" altLang="en-US" sz="2400" dirty="0">
                <a:solidFill>
                  <a:srgbClr val="FF0000"/>
                </a:solidFill>
                <a:latin typeface="黑体" panose="02010609060101010101" pitchFamily="49" charset="-122"/>
                <a:ea typeface="黑体" panose="02010609060101010101" pitchFamily="49" charset="-122"/>
              </a:rPr>
              <a:t>专门针对程序存储器</a:t>
            </a:r>
            <a:r>
              <a:rPr lang="zh-CN" altLang="en-US" sz="2400" dirty="0">
                <a:solidFill>
                  <a:srgbClr val="000000"/>
                </a:solidFill>
                <a:latin typeface="黑体" panose="02010609060101010101" pitchFamily="49" charset="-122"/>
                <a:ea typeface="黑体" panose="02010609060101010101" pitchFamily="49" charset="-122"/>
              </a:rPr>
              <a:t>的寻址方式，当基地址为</a:t>
            </a:r>
            <a:r>
              <a:rPr lang="en-US" altLang="zh-CN" sz="2400" dirty="0">
                <a:solidFill>
                  <a:srgbClr val="000000"/>
                </a:solidFill>
                <a:latin typeface="黑体" panose="02010609060101010101" pitchFamily="49" charset="-122"/>
                <a:ea typeface="黑体" panose="02010609060101010101" pitchFamily="49" charset="-122"/>
              </a:rPr>
              <a:t>DPTR</a:t>
            </a:r>
            <a:r>
              <a:rPr lang="zh-CN" altLang="en-US" sz="2400" dirty="0">
                <a:solidFill>
                  <a:srgbClr val="000000"/>
                </a:solidFill>
                <a:latin typeface="黑体" panose="02010609060101010101" pitchFamily="49" charset="-122"/>
                <a:ea typeface="黑体" panose="02010609060101010101" pitchFamily="49" charset="-122"/>
              </a:rPr>
              <a:t>时寻址范围可达到</a:t>
            </a:r>
            <a:r>
              <a:rPr lang="en-US" altLang="zh-CN" sz="2400" dirty="0">
                <a:solidFill>
                  <a:srgbClr val="000000"/>
                </a:solidFill>
                <a:latin typeface="黑体" panose="02010609060101010101" pitchFamily="49" charset="-122"/>
                <a:ea typeface="黑体" panose="02010609060101010101" pitchFamily="49" charset="-122"/>
              </a:rPr>
              <a:t>64KB</a:t>
            </a:r>
            <a:r>
              <a:rPr lang="zh-CN" altLang="en-US" sz="2400" dirty="0">
                <a:solidFill>
                  <a:srgbClr val="000000"/>
                </a:solidFill>
                <a:latin typeface="黑体" panose="02010609060101010101" pitchFamily="49" charset="-122"/>
                <a:ea typeface="黑体" panose="02010609060101010101" pitchFamily="49" charset="-122"/>
              </a:rPr>
              <a:t>（</a:t>
            </a:r>
            <a:r>
              <a:rPr lang="en-US" altLang="zh-CN" sz="2400" dirty="0">
                <a:solidFill>
                  <a:srgbClr val="000000"/>
                </a:solidFill>
                <a:latin typeface="黑体" panose="02010609060101010101" pitchFamily="49" charset="-122"/>
                <a:ea typeface="黑体" panose="02010609060101010101" pitchFamily="49" charset="-122"/>
              </a:rPr>
              <a:t>DPTR</a:t>
            </a:r>
            <a:r>
              <a:rPr lang="zh-CN" altLang="en-US" sz="2400" dirty="0">
                <a:solidFill>
                  <a:srgbClr val="000000"/>
                </a:solidFill>
                <a:latin typeface="黑体" panose="02010609060101010101" pitchFamily="49" charset="-122"/>
                <a:ea typeface="黑体" panose="02010609060101010101" pitchFamily="49" charset="-122"/>
              </a:rPr>
              <a:t>使用前可赋值），基地址为</a:t>
            </a:r>
            <a:r>
              <a:rPr lang="en-US" altLang="zh-CN" sz="2400" dirty="0">
                <a:solidFill>
                  <a:srgbClr val="000000"/>
                </a:solidFill>
                <a:latin typeface="黑体" panose="02010609060101010101" pitchFamily="49" charset="-122"/>
                <a:ea typeface="黑体" panose="02010609060101010101" pitchFamily="49" charset="-122"/>
              </a:rPr>
              <a:t>PC</a:t>
            </a:r>
            <a:r>
              <a:rPr lang="zh-CN" altLang="en-US" sz="2400" dirty="0">
                <a:solidFill>
                  <a:srgbClr val="000000"/>
                </a:solidFill>
                <a:latin typeface="黑体" panose="02010609060101010101" pitchFamily="49" charset="-122"/>
                <a:ea typeface="黑体" panose="02010609060101010101" pitchFamily="49" charset="-122"/>
              </a:rPr>
              <a:t>时，寻址范围为</a:t>
            </a:r>
            <a:r>
              <a:rPr lang="en-US" altLang="zh-CN" sz="2400" dirty="0">
                <a:solidFill>
                  <a:srgbClr val="000000"/>
                </a:solidFill>
                <a:latin typeface="黑体" panose="02010609060101010101" pitchFamily="49" charset="-122"/>
                <a:ea typeface="黑体" panose="02010609060101010101" pitchFamily="49" charset="-122"/>
              </a:rPr>
              <a:t>256B</a:t>
            </a:r>
            <a:r>
              <a:rPr lang="zh-CN" altLang="en-US" sz="2400" dirty="0">
                <a:solidFill>
                  <a:srgbClr val="000000"/>
                </a:solidFill>
                <a:latin typeface="黑体" panose="02010609060101010101" pitchFamily="49" charset="-122"/>
                <a:ea typeface="黑体" panose="02010609060101010101" pitchFamily="49" charset="-122"/>
              </a:rPr>
              <a:t>。</a:t>
            </a:r>
            <a:endParaRPr lang="zh-CN" altLang="en-US" sz="2400" dirty="0">
              <a:solidFill>
                <a:srgbClr val="000000"/>
              </a:solidFill>
              <a:latin typeface="黑体" panose="02010609060101010101" pitchFamily="49" charset="-122"/>
              <a:ea typeface="黑体" panose="02010609060101010101" pitchFamily="49" charset="-122"/>
            </a:endParaRPr>
          </a:p>
          <a:p>
            <a:pPr algn="just" eaLnBrk="1" fontAlgn="b" hangingPunct="1">
              <a:lnSpc>
                <a:spcPct val="120000"/>
              </a:lnSpc>
              <a:buClrTx/>
              <a:buFontTx/>
              <a:buNone/>
            </a:pPr>
            <a:r>
              <a:rPr lang="zh-CN" altLang="en-US" sz="2400" dirty="0">
                <a:solidFill>
                  <a:srgbClr val="000000"/>
                </a:solidFill>
                <a:latin typeface="黑体" panose="02010609060101010101" pitchFamily="49" charset="-122"/>
                <a:ea typeface="黑体" panose="02010609060101010101" pitchFamily="49" charset="-122"/>
              </a:rPr>
              <a:t>（</a:t>
            </a:r>
            <a:r>
              <a:rPr lang="en-US" altLang="zh-CN" sz="2400" dirty="0">
                <a:solidFill>
                  <a:srgbClr val="000000"/>
                </a:solidFill>
                <a:latin typeface="黑体" panose="02010609060101010101" pitchFamily="49" charset="-122"/>
                <a:ea typeface="黑体" panose="02010609060101010101" pitchFamily="49" charset="-122"/>
              </a:rPr>
              <a:t>2</a:t>
            </a:r>
            <a:r>
              <a:rPr lang="zh-CN" altLang="en-US" sz="2400" dirty="0">
                <a:solidFill>
                  <a:srgbClr val="000000"/>
                </a:solidFill>
                <a:latin typeface="黑体" panose="02010609060101010101" pitchFamily="49" charset="-122"/>
                <a:ea typeface="黑体" panose="02010609060101010101" pitchFamily="49" charset="-122"/>
              </a:rPr>
              <a:t>）</a:t>
            </a:r>
            <a:r>
              <a:rPr lang="zh-CN" altLang="en-US" sz="2400" dirty="0">
                <a:solidFill>
                  <a:srgbClr val="0033CC"/>
                </a:solidFill>
                <a:latin typeface="黑体" panose="02010609060101010101" pitchFamily="49" charset="-122"/>
                <a:ea typeface="黑体" panose="02010609060101010101" pitchFamily="49" charset="-122"/>
              </a:rPr>
              <a:t>本寻址方式的指令只有</a:t>
            </a:r>
            <a:r>
              <a:rPr lang="en-US" altLang="zh-CN" sz="2400" dirty="0">
                <a:solidFill>
                  <a:srgbClr val="FF0000"/>
                </a:solidFill>
                <a:latin typeface="黑体" panose="02010609060101010101" pitchFamily="49" charset="-122"/>
                <a:ea typeface="黑体" panose="02010609060101010101" pitchFamily="49" charset="-122"/>
              </a:rPr>
              <a:t>3</a:t>
            </a:r>
            <a:r>
              <a:rPr lang="zh-CN" altLang="en-US" sz="2400" dirty="0">
                <a:solidFill>
                  <a:srgbClr val="FF0000"/>
                </a:solidFill>
                <a:latin typeface="黑体" panose="02010609060101010101" pitchFamily="49" charset="-122"/>
                <a:ea typeface="黑体" panose="02010609060101010101" pitchFamily="49" charset="-122"/>
              </a:rPr>
              <a:t>条</a:t>
            </a:r>
            <a:r>
              <a:rPr lang="zh-CN" altLang="en-US" sz="2400" dirty="0">
                <a:solidFill>
                  <a:srgbClr val="0033CC"/>
                </a:solidFill>
                <a:latin typeface="黑体" panose="02010609060101010101" pitchFamily="49" charset="-122"/>
                <a:ea typeface="黑体" panose="02010609060101010101" pitchFamily="49" charset="-122"/>
              </a:rPr>
              <a:t>：</a:t>
            </a:r>
            <a:endParaRPr lang="zh-CN" altLang="en-US" sz="2400" dirty="0">
              <a:solidFill>
                <a:srgbClr val="0033CC"/>
              </a:solidFill>
              <a:latin typeface="黑体" panose="02010609060101010101" pitchFamily="49" charset="-122"/>
              <a:ea typeface="黑体" panose="02010609060101010101" pitchFamily="49" charset="-122"/>
            </a:endParaRPr>
          </a:p>
          <a:p>
            <a:pPr algn="just" eaLnBrk="1" fontAlgn="b" hangingPunct="1">
              <a:lnSpc>
                <a:spcPct val="120000"/>
              </a:lnSpc>
              <a:buClrTx/>
              <a:buFontTx/>
              <a:buNone/>
            </a:pPr>
            <a:r>
              <a:rPr lang="zh-CN" altLang="en-US" sz="2400" dirty="0">
                <a:solidFill>
                  <a:srgbClr val="000000"/>
                </a:solidFill>
                <a:latin typeface="黑体" panose="02010609060101010101" pitchFamily="49" charset="-122"/>
                <a:ea typeface="黑体" panose="02010609060101010101" pitchFamily="49" charset="-122"/>
              </a:rPr>
              <a:t>		</a:t>
            </a:r>
            <a:r>
              <a:rPr lang="en-US" altLang="zh-CN" sz="2400" dirty="0">
                <a:solidFill>
                  <a:srgbClr val="0033CC"/>
                </a:solidFill>
                <a:latin typeface="黑体" panose="02010609060101010101" pitchFamily="49" charset="-122"/>
                <a:ea typeface="黑体" panose="02010609060101010101" pitchFamily="49" charset="-122"/>
              </a:rPr>
              <a:t>MOVC   A</a:t>
            </a:r>
            <a:r>
              <a:rPr lang="zh-CN" altLang="en-US" sz="2400" dirty="0">
                <a:solidFill>
                  <a:srgbClr val="0033CC"/>
                </a:solidFill>
                <a:latin typeface="黑体" panose="02010609060101010101" pitchFamily="49" charset="-122"/>
                <a:ea typeface="黑体" panose="02010609060101010101" pitchFamily="49" charset="-122"/>
              </a:rPr>
              <a:t>，</a:t>
            </a:r>
            <a:r>
              <a:rPr lang="en-US" altLang="zh-CN" sz="2400" dirty="0">
                <a:solidFill>
                  <a:srgbClr val="0033CC"/>
                </a:solidFill>
                <a:latin typeface="黑体" panose="02010609060101010101" pitchFamily="49" charset="-122"/>
                <a:ea typeface="黑体" panose="02010609060101010101" pitchFamily="49" charset="-122"/>
              </a:rPr>
              <a:t>@A+DPTR</a:t>
            </a:r>
            <a:endParaRPr lang="en-US" altLang="zh-CN" sz="2400" dirty="0">
              <a:solidFill>
                <a:srgbClr val="0033CC"/>
              </a:solidFill>
              <a:latin typeface="黑体" panose="02010609060101010101" pitchFamily="49" charset="-122"/>
              <a:ea typeface="黑体" panose="02010609060101010101" pitchFamily="49" charset="-122"/>
            </a:endParaRPr>
          </a:p>
          <a:p>
            <a:pPr algn="just" eaLnBrk="1" fontAlgn="b" hangingPunct="1">
              <a:lnSpc>
                <a:spcPct val="120000"/>
              </a:lnSpc>
              <a:buClrTx/>
              <a:buFontTx/>
              <a:buNone/>
            </a:pPr>
            <a:r>
              <a:rPr lang="en-US" altLang="zh-CN" sz="2400" dirty="0">
                <a:solidFill>
                  <a:srgbClr val="0033CC"/>
                </a:solidFill>
                <a:latin typeface="黑体" panose="02010609060101010101" pitchFamily="49" charset="-122"/>
                <a:ea typeface="黑体" panose="02010609060101010101" pitchFamily="49" charset="-122"/>
              </a:rPr>
              <a:t>		MOVC   A</a:t>
            </a:r>
            <a:r>
              <a:rPr lang="zh-CN" altLang="en-US" sz="2400" dirty="0">
                <a:solidFill>
                  <a:srgbClr val="0033CC"/>
                </a:solidFill>
                <a:latin typeface="黑体" panose="02010609060101010101" pitchFamily="49" charset="-122"/>
                <a:ea typeface="黑体" panose="02010609060101010101" pitchFamily="49" charset="-122"/>
              </a:rPr>
              <a:t>，</a:t>
            </a:r>
            <a:r>
              <a:rPr lang="en-US" altLang="zh-CN" sz="2400" dirty="0">
                <a:solidFill>
                  <a:srgbClr val="0033CC"/>
                </a:solidFill>
                <a:latin typeface="黑体" panose="02010609060101010101" pitchFamily="49" charset="-122"/>
                <a:ea typeface="黑体" panose="02010609060101010101" pitchFamily="49" charset="-122"/>
              </a:rPr>
              <a:t>@A+PC</a:t>
            </a:r>
            <a:endParaRPr lang="en-US" altLang="zh-CN" sz="2400" dirty="0">
              <a:solidFill>
                <a:srgbClr val="0033CC"/>
              </a:solidFill>
              <a:latin typeface="黑体" panose="02010609060101010101" pitchFamily="49" charset="-122"/>
              <a:ea typeface="黑体" panose="02010609060101010101" pitchFamily="49" charset="-122"/>
            </a:endParaRPr>
          </a:p>
          <a:p>
            <a:pPr algn="just" eaLnBrk="1" fontAlgn="b" hangingPunct="1">
              <a:lnSpc>
                <a:spcPct val="120000"/>
              </a:lnSpc>
              <a:buClrTx/>
              <a:buFontTx/>
              <a:buNone/>
            </a:pPr>
            <a:r>
              <a:rPr lang="en-US" altLang="zh-CN" sz="2400" dirty="0">
                <a:solidFill>
                  <a:srgbClr val="0033CC"/>
                </a:solidFill>
                <a:latin typeface="黑体" panose="02010609060101010101" pitchFamily="49" charset="-122"/>
                <a:ea typeface="黑体" panose="02010609060101010101" pitchFamily="49" charset="-122"/>
              </a:rPr>
              <a:t>		JMP    @A+DPTR</a:t>
            </a:r>
            <a:endParaRPr lang="en-US" altLang="zh-CN" sz="2400" dirty="0">
              <a:solidFill>
                <a:srgbClr val="0033CC"/>
              </a:solidFill>
              <a:latin typeface="黑体" panose="02010609060101010101" pitchFamily="49" charset="-122"/>
              <a:ea typeface="黑体" panose="02010609060101010101" pitchFamily="49" charset="-122"/>
            </a:endParaRPr>
          </a:p>
          <a:p>
            <a:endParaRPr lang="zh-CN" altLang="en-US" dirty="0"/>
          </a:p>
        </p:txBody>
      </p:sp>
      <p:sp>
        <p:nvSpPr>
          <p:cNvPr id="87042" name="Rectangle 2"/>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第三章     </a:t>
            </a:r>
            <a:r>
              <a:rPr kumimoji="1" lang="en-US" altLang="zh-CN"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842">
                                            <p:txEl>
                                              <p:charRg st="0" end="27"/>
                                            </p:txEl>
                                          </p:spTgt>
                                        </p:tgtEl>
                                        <p:attrNameLst>
                                          <p:attrName>style.visibility</p:attrName>
                                        </p:attrNameLst>
                                      </p:cBhvr>
                                      <p:to>
                                        <p:strVal val="visible"/>
                                      </p:to>
                                    </p:set>
                                    <p:animEffect transition="in" filter="blinds(horizontal)">
                                      <p:cBhvr>
                                        <p:cTn id="7" dur="500"/>
                                        <p:tgtEl>
                                          <p:spTgt spid="35842">
                                            <p:txEl>
                                              <p:charRg st="0" end="27"/>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5842">
                                            <p:txEl>
                                              <p:charRg st="28" end="33"/>
                                            </p:txEl>
                                          </p:spTgt>
                                        </p:tgtEl>
                                        <p:attrNameLst>
                                          <p:attrName>style.visibility</p:attrName>
                                        </p:attrNameLst>
                                      </p:cBhvr>
                                      <p:to>
                                        <p:strVal val="visible"/>
                                      </p:to>
                                    </p:set>
                                    <p:animEffect transition="in" filter="blinds(horizontal)">
                                      <p:cBhvr>
                                        <p:cTn id="12" dur="500"/>
                                        <p:tgtEl>
                                          <p:spTgt spid="35842">
                                            <p:txEl>
                                              <p:charRg st="28" end="3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5842">
                                            <p:txEl>
                                              <p:charRg st="33" end="110"/>
                                            </p:txEl>
                                          </p:spTgt>
                                        </p:tgtEl>
                                        <p:attrNameLst>
                                          <p:attrName>style.visibility</p:attrName>
                                        </p:attrNameLst>
                                      </p:cBhvr>
                                      <p:to>
                                        <p:strVal val="visible"/>
                                      </p:to>
                                    </p:set>
                                    <p:animEffect transition="in" filter="blinds(horizontal)">
                                      <p:cBhvr>
                                        <p:cTn id="17" dur="500"/>
                                        <p:tgtEl>
                                          <p:spTgt spid="35842">
                                            <p:txEl>
                                              <p:charRg st="33" end="11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5842">
                                            <p:txEl>
                                              <p:charRg st="110" end="127"/>
                                            </p:txEl>
                                          </p:spTgt>
                                        </p:tgtEl>
                                        <p:attrNameLst>
                                          <p:attrName>style.visibility</p:attrName>
                                        </p:attrNameLst>
                                      </p:cBhvr>
                                      <p:to>
                                        <p:strVal val="visible"/>
                                      </p:to>
                                    </p:set>
                                    <p:animEffect transition="in" filter="blinds(horizontal)">
                                      <p:cBhvr>
                                        <p:cTn id="22" dur="500"/>
                                        <p:tgtEl>
                                          <p:spTgt spid="35842">
                                            <p:txEl>
                                              <p:charRg st="110" end="12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5842">
                                            <p:txEl>
                                              <p:charRg st="127" end="146"/>
                                            </p:txEl>
                                          </p:spTgt>
                                        </p:tgtEl>
                                        <p:attrNameLst>
                                          <p:attrName>style.visibility</p:attrName>
                                        </p:attrNameLst>
                                      </p:cBhvr>
                                      <p:to>
                                        <p:strVal val="visible"/>
                                      </p:to>
                                    </p:set>
                                    <p:animEffect transition="in" filter="blinds(horizontal)">
                                      <p:cBhvr>
                                        <p:cTn id="27" dur="500"/>
                                        <p:tgtEl>
                                          <p:spTgt spid="35842">
                                            <p:txEl>
                                              <p:charRg st="127" end="14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5842">
                                            <p:txEl>
                                              <p:charRg st="146" end="163"/>
                                            </p:txEl>
                                          </p:spTgt>
                                        </p:tgtEl>
                                        <p:attrNameLst>
                                          <p:attrName>style.visibility</p:attrName>
                                        </p:attrNameLst>
                                      </p:cBhvr>
                                      <p:to>
                                        <p:strVal val="visible"/>
                                      </p:to>
                                    </p:set>
                                    <p:animEffect transition="in" filter="blinds(horizontal)">
                                      <p:cBhvr>
                                        <p:cTn id="32" dur="500"/>
                                        <p:tgtEl>
                                          <p:spTgt spid="35842">
                                            <p:txEl>
                                              <p:charRg st="146" end="16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5842">
                                            <p:txEl>
                                              <p:charRg st="163" end="180"/>
                                            </p:txEl>
                                          </p:spTgt>
                                        </p:tgtEl>
                                        <p:attrNameLst>
                                          <p:attrName>style.visibility</p:attrName>
                                        </p:attrNameLst>
                                      </p:cBhvr>
                                      <p:to>
                                        <p:strVal val="visible"/>
                                      </p:to>
                                    </p:set>
                                    <p:animEffect transition="in" filter="blinds(horizontal)">
                                      <p:cBhvr>
                                        <p:cTn id="37" dur="500"/>
                                        <p:tgtEl>
                                          <p:spTgt spid="35842">
                                            <p:txEl>
                                              <p:charRg st="163" end="18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14339" name="Rectangle 3"/>
          <p:cNvSpPr>
            <a:spLocks noGrp="1" noChangeArrowheads="1"/>
          </p:cNvSpPr>
          <p:nvPr>
            <p:ph type="body" idx="1"/>
          </p:nvPr>
        </p:nvSpPr>
        <p:spPr>
          <a:xfrm>
            <a:off x="179388" y="981075"/>
            <a:ext cx="8715375" cy="5256213"/>
          </a:xfrm>
        </p:spPr>
        <p:txBody>
          <a:bodyPr vert="horz" wrap="square" lIns="91440" tIns="45720" rIns="91440" bIns="45720" numCol="1" anchor="t" anchorCtr="0" compatLnSpc="1"/>
          <a:lstStyle/>
          <a:p>
            <a:pPr marL="342900" marR="0" lvl="0" indent="-342900" algn="l" defTabSz="42545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r>
              <a:rPr kumimoji="1" lang="zh-CN" altLang="en-US" sz="3200" b="1" i="0" u="none" strike="noStrike" kern="0" cap="none" spc="0" normalizeH="0" baseline="0" noProof="0" dirty="0" smtClean="0">
                <a:ln>
                  <a:noFill/>
                </a:ln>
                <a:solidFill>
                  <a:schemeClr val="tx1"/>
                </a:solidFill>
                <a:effectLst/>
                <a:uLnTx/>
                <a:uFillTx/>
                <a:latin typeface="+mn-lt"/>
                <a:ea typeface="+mn-ea"/>
                <a:cs typeface="+mn-cs"/>
              </a:rPr>
              <a:t>六、</a:t>
            </a:r>
            <a:r>
              <a:rPr kumimoji="1" lang="zh-CN" altLang="en-US" sz="3200" b="1" i="0" u="none" strike="noStrike" kern="0" cap="none" spc="0" normalizeH="0" baseline="0" noProof="0" dirty="0" smtClean="0">
                <a:ln>
                  <a:noFill/>
                </a:ln>
                <a:solidFill>
                  <a:srgbClr val="FF0000"/>
                </a:solidFill>
                <a:effectLst/>
                <a:uLnTx/>
                <a:uFillTx/>
                <a:latin typeface="宋体" pitchFamily="2" charset="-122"/>
                <a:ea typeface="+mn-ea"/>
                <a:cs typeface="+mn-cs"/>
              </a:rPr>
              <a:t>相对寻址方式</a:t>
            </a:r>
            <a:endParaRPr kumimoji="1" lang="zh-CN" altLang="en-US" sz="3200" b="1" i="0" u="none" strike="noStrike" kern="0" cap="none" spc="0" normalizeH="0" baseline="0" noProof="0" dirty="0" smtClean="0">
              <a:ln>
                <a:noFill/>
              </a:ln>
              <a:solidFill>
                <a:srgbClr val="FF0000"/>
              </a:solidFill>
              <a:effectLst/>
              <a:uLnTx/>
              <a:uFillTx/>
              <a:latin typeface="宋体" pitchFamily="2" charset="-122"/>
              <a:ea typeface="+mn-ea"/>
              <a:cs typeface="+mn-cs"/>
            </a:endParaRPr>
          </a:p>
          <a:p>
            <a:pPr marL="742950" marR="0" lvl="1" indent="-285750" algn="l" defTabSz="425450" rtl="0" eaLnBrk="0" fontAlgn="base" latinLnBrk="0" hangingPunct="0">
              <a:lnSpc>
                <a:spcPct val="100000"/>
              </a:lnSpc>
              <a:spcBef>
                <a:spcPct val="0"/>
              </a:spcBef>
              <a:spcAft>
                <a:spcPct val="0"/>
              </a:spcAft>
              <a:buClr>
                <a:schemeClr val="accent2"/>
              </a:buClr>
              <a:buSzTx/>
              <a:buFontTx/>
              <a:buNone/>
              <a:defRPr/>
            </a:pPr>
            <a:r>
              <a:rPr kumimoji="0" lang="zh-CN" altLang="en-US" sz="2400" b="0" i="0" u="none" strike="noStrike" kern="0" cap="none" spc="0" normalizeH="0" baseline="0" noProof="0" dirty="0" smtClean="0">
                <a:ln>
                  <a:noFill/>
                </a:ln>
                <a:solidFill>
                  <a:srgbClr val="3333CC"/>
                </a:solidFill>
                <a:effectLst/>
                <a:uLnTx/>
                <a:uFillTx/>
                <a:latin typeface="Tahoma" panose="020B0604030504040204" pitchFamily="34" charset="0"/>
                <a:ea typeface="黑体" panose="02010609060101010101" pitchFamily="49" charset="-122"/>
                <a:cs typeface="+mn-ea"/>
              </a:rPr>
              <a:t>         与程序的执行顺序有关，在指令执行时改变了程序计数器</a:t>
            </a:r>
            <a:r>
              <a:rPr kumimoji="0" lang="en-US" altLang="zh-CN" sz="2400" b="0" i="0" u="none" strike="noStrike" kern="0" cap="none" spc="0" normalizeH="0" baseline="0" noProof="0" dirty="0" smtClean="0">
                <a:ln>
                  <a:noFill/>
                </a:ln>
                <a:solidFill>
                  <a:srgbClr val="3333CC"/>
                </a:solidFill>
                <a:effectLst/>
                <a:uLnTx/>
                <a:uFillTx/>
                <a:latin typeface="Times New Roman" panose="02020503050405090304" pitchFamily="18" charset="0"/>
                <a:ea typeface="黑体" panose="02010609060101010101" pitchFamily="49" charset="-122"/>
                <a:cs typeface="+mn-ea"/>
              </a:rPr>
              <a:t>PC</a:t>
            </a:r>
            <a:r>
              <a:rPr kumimoji="0" lang="zh-CN" altLang="en-US" sz="2400" b="0" i="0" u="none" strike="noStrike" kern="0" cap="none" spc="0" normalizeH="0" baseline="0" noProof="0" dirty="0" smtClean="0">
                <a:ln>
                  <a:noFill/>
                </a:ln>
                <a:solidFill>
                  <a:srgbClr val="3333CC"/>
                </a:solidFill>
                <a:effectLst/>
                <a:uLnTx/>
                <a:uFillTx/>
                <a:latin typeface="Tahoma" panose="020B0604030504040204" pitchFamily="34" charset="0"/>
                <a:ea typeface="黑体" panose="02010609060101010101" pitchFamily="49" charset="-122"/>
                <a:cs typeface="+mn-ea"/>
              </a:rPr>
              <a:t>的内容，从而改变了程序转移的目标地址。</a:t>
            </a:r>
            <a:endParaRPr kumimoji="0" lang="zh-CN" altLang="en-US" sz="2400" b="0" i="0" u="none" strike="noStrike" kern="0" cap="none" spc="0" normalizeH="0" baseline="0" noProof="0" dirty="0" smtClean="0">
              <a:ln>
                <a:noFill/>
              </a:ln>
              <a:solidFill>
                <a:srgbClr val="3333CC"/>
              </a:solidFill>
              <a:effectLst/>
              <a:uLnTx/>
              <a:uFillTx/>
              <a:latin typeface="Tahoma" panose="020B0604030504040204" pitchFamily="34" charset="0"/>
              <a:ea typeface="黑体" panose="02010609060101010101" pitchFamily="49" charset="-122"/>
              <a:cs typeface="+mn-ea"/>
            </a:endParaRPr>
          </a:p>
          <a:p>
            <a:pPr marL="742950" marR="0" lvl="1" indent="-285750" algn="l" defTabSz="425450" rtl="0" eaLnBrk="0" fontAlgn="base" latinLnBrk="0" hangingPunct="0">
              <a:lnSpc>
                <a:spcPct val="100000"/>
              </a:lnSpc>
              <a:spcBef>
                <a:spcPct val="0"/>
              </a:spcBef>
              <a:spcAft>
                <a:spcPct val="0"/>
              </a:spcAft>
              <a:buClr>
                <a:schemeClr val="accent2"/>
              </a:buClr>
              <a:buSzTx/>
              <a:buFontTx/>
              <a:buNone/>
              <a:defRPr/>
            </a:pPr>
            <a:r>
              <a:rPr kumimoji="0" lang="zh-CN" altLang="en-US" sz="2400" b="0" i="0" u="none" strike="noStrike" kern="0" cap="none" spc="0" normalizeH="0" baseline="0" noProof="0" dirty="0" smtClean="0">
                <a:ln>
                  <a:noFill/>
                </a:ln>
                <a:solidFill>
                  <a:srgbClr val="3333CC"/>
                </a:solidFill>
                <a:effectLst/>
                <a:uLnTx/>
                <a:uFillTx/>
                <a:latin typeface="Tahoma" panose="020B0604030504040204" pitchFamily="34" charset="0"/>
                <a:ea typeface="黑体" panose="02010609060101010101" pitchFamily="49" charset="-122"/>
                <a:cs typeface="+mn-ea"/>
              </a:rPr>
              <a:t>          当前的</a:t>
            </a:r>
            <a:r>
              <a:rPr kumimoji="0" lang="en-US" altLang="zh-CN" sz="2400" b="0" i="0" u="none" strike="noStrike" kern="0" cap="none" spc="0" normalizeH="0" baseline="0" noProof="0" dirty="0" smtClean="0">
                <a:ln>
                  <a:noFill/>
                </a:ln>
                <a:solidFill>
                  <a:srgbClr val="3333CC"/>
                </a:solidFill>
                <a:effectLst/>
                <a:uLnTx/>
                <a:uFillTx/>
                <a:latin typeface="Times New Roman" panose="02020503050405090304" pitchFamily="18" charset="0"/>
                <a:ea typeface="黑体" panose="02010609060101010101" pitchFamily="49" charset="-122"/>
                <a:cs typeface="+mn-ea"/>
              </a:rPr>
              <a:t>PC</a:t>
            </a:r>
            <a:r>
              <a:rPr kumimoji="0" lang="zh-CN" altLang="en-US" sz="2400" b="0" i="0" u="none" strike="noStrike" kern="0" cap="none" spc="0" normalizeH="0" baseline="0" noProof="0" dirty="0" smtClean="0">
                <a:ln>
                  <a:noFill/>
                </a:ln>
                <a:solidFill>
                  <a:srgbClr val="3333CC"/>
                </a:solidFill>
                <a:effectLst/>
                <a:uLnTx/>
                <a:uFillTx/>
                <a:latin typeface="Tahoma" panose="020B0604030504040204" pitchFamily="34" charset="0"/>
                <a:ea typeface="黑体" panose="02010609060101010101" pitchFamily="49" charset="-122"/>
                <a:cs typeface="+mn-ea"/>
              </a:rPr>
              <a:t>值加上指令中给出的地址偏移量</a:t>
            </a:r>
            <a:r>
              <a:rPr kumimoji="0" lang="en-US" altLang="zh-CN" sz="2400" b="0" i="0" u="none" strike="noStrike" kern="0" cap="none" spc="0" normalizeH="0" baseline="0" noProof="0" dirty="0" err="1" smtClean="0">
                <a:ln>
                  <a:noFill/>
                </a:ln>
                <a:solidFill>
                  <a:srgbClr val="3333CC"/>
                </a:solidFill>
                <a:effectLst/>
                <a:uLnTx/>
                <a:uFillTx/>
                <a:latin typeface="Times New Roman" panose="02020503050405090304" pitchFamily="18" charset="0"/>
                <a:ea typeface="黑体" panose="02010609060101010101" pitchFamily="49" charset="-122"/>
                <a:cs typeface="+mn-ea"/>
              </a:rPr>
              <a:t>rel</a:t>
            </a:r>
            <a:r>
              <a:rPr kumimoji="0" lang="zh-CN" altLang="en-US" sz="2400" b="0" i="0" u="none" strike="noStrike" kern="0" cap="none" spc="0" normalizeH="0" baseline="0" noProof="0" dirty="0" smtClean="0">
                <a:ln>
                  <a:noFill/>
                </a:ln>
                <a:solidFill>
                  <a:srgbClr val="3333CC"/>
                </a:solidFill>
                <a:effectLst/>
                <a:uLnTx/>
                <a:uFillTx/>
                <a:latin typeface="Tahoma" panose="020B0604030504040204" pitchFamily="34" charset="0"/>
                <a:ea typeface="黑体" panose="02010609060101010101" pitchFamily="49" charset="-122"/>
                <a:cs typeface="+mn-ea"/>
              </a:rPr>
              <a:t>而形成的目的（标）地址。即：</a:t>
            </a:r>
            <a:r>
              <a:rPr kumimoji="1" lang="zh-CN" altLang="en-US"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楷体_GB2312" pitchFamily="49" charset="-122"/>
                <a:ea typeface="+mn-ea"/>
                <a:cs typeface="+mn-ea"/>
              </a:rPr>
              <a:t>以</a:t>
            </a:r>
            <a:r>
              <a:rPr kumimoji="1" lang="en-US" altLang="zh-CN"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楷体_GB2312" pitchFamily="49" charset="-122"/>
                <a:ea typeface="+mn-ea"/>
                <a:cs typeface="+mn-ea"/>
              </a:rPr>
              <a:t>PC</a:t>
            </a:r>
            <a:r>
              <a:rPr kumimoji="1" lang="zh-CN" altLang="en-US"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楷体_GB2312" pitchFamily="49" charset="-122"/>
                <a:ea typeface="+mn-ea"/>
                <a:cs typeface="+mn-ea"/>
              </a:rPr>
              <a:t>的内容作为基地址，加上偏移量，所得结果送</a:t>
            </a:r>
            <a:r>
              <a:rPr kumimoji="1" lang="en-US" altLang="zh-CN"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楷体_GB2312" pitchFamily="49" charset="-122"/>
                <a:ea typeface="+mn-ea"/>
                <a:cs typeface="+mn-ea"/>
              </a:rPr>
              <a:t>PC</a:t>
            </a:r>
            <a:r>
              <a:rPr kumimoji="1" lang="zh-CN" altLang="en-US"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楷体_GB2312" pitchFamily="49" charset="-122"/>
                <a:ea typeface="+mn-ea"/>
                <a:cs typeface="+mn-ea"/>
              </a:rPr>
              <a:t>寄存器作为转移地址。偏移量在</a:t>
            </a:r>
            <a:r>
              <a:rPr kumimoji="1" lang="zh-CN" altLang="en-US" sz="2400" b="1" i="0" u="sng" strike="noStrike" kern="0" cap="none" spc="0" normalizeH="0" baseline="0" noProof="0" dirty="0" smtClean="0">
                <a:ln>
                  <a:noFill/>
                </a:ln>
                <a:solidFill>
                  <a:schemeClr val="tx2"/>
                </a:solidFill>
                <a:effectLst>
                  <a:outerShdw blurRad="38100" dist="38100" dir="2700000" algn="tl">
                    <a:srgbClr val="C0C0C0"/>
                  </a:outerShdw>
                </a:effectLst>
                <a:uLnTx/>
                <a:uFillTx/>
                <a:latin typeface="楷体_GB2312" pitchFamily="49" charset="-122"/>
                <a:ea typeface="+mn-ea"/>
                <a:cs typeface="+mn-ea"/>
              </a:rPr>
              <a:t>－128～ +127</a:t>
            </a:r>
            <a:r>
              <a:rPr kumimoji="1" lang="zh-CN" altLang="en-US"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楷体_GB2312" pitchFamily="49" charset="-122"/>
                <a:ea typeface="+mn-ea"/>
                <a:cs typeface="+mn-ea"/>
              </a:rPr>
              <a:t>之间。</a:t>
            </a:r>
            <a:endParaRPr kumimoji="1" lang="zh-CN" altLang="en-US"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楷体_GB2312" pitchFamily="49" charset="-122"/>
              <a:ea typeface="+mn-ea"/>
              <a:cs typeface="+mn-ea"/>
            </a:endParaRPr>
          </a:p>
          <a:p>
            <a:pPr marL="742950" marR="0" lvl="1" indent="-285750" algn="l" defTabSz="425450" rtl="0" eaLnBrk="0" fontAlgn="base" latinLnBrk="0" hangingPunct="0">
              <a:lnSpc>
                <a:spcPct val="100000"/>
              </a:lnSpc>
              <a:spcBef>
                <a:spcPct val="0"/>
              </a:spcBef>
              <a:spcAft>
                <a:spcPct val="0"/>
              </a:spcAft>
              <a:buClr>
                <a:schemeClr val="accent2"/>
              </a:buClr>
              <a:buSzTx/>
              <a:buFontTx/>
              <a:buNone/>
              <a:defRPr/>
            </a:pPr>
            <a:r>
              <a:rPr kumimoji="1" lang="zh-CN" altLang="en-US"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楷体_GB2312" pitchFamily="49" charset="-122"/>
                <a:ea typeface="+mn-ea"/>
                <a:cs typeface="+mn-ea"/>
              </a:rPr>
              <a:t> </a:t>
            </a:r>
            <a:endParaRPr kumimoji="1" lang="zh-CN" altLang="en-US"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楷体_GB2312" pitchFamily="49" charset="-122"/>
              <a:ea typeface="+mn-ea"/>
              <a:cs typeface="+mn-ea"/>
            </a:endParaRPr>
          </a:p>
          <a:p>
            <a:pPr marL="742950" marR="0" lvl="1" indent="-285750" algn="l" defTabSz="425450" rtl="0" eaLnBrk="1" fontAlgn="base" latinLnBrk="0" hangingPunct="1">
              <a:lnSpc>
                <a:spcPct val="90000"/>
              </a:lnSpc>
              <a:spcBef>
                <a:spcPct val="20000"/>
              </a:spcBef>
              <a:spcAft>
                <a:spcPct val="0"/>
              </a:spcAft>
              <a:buClr>
                <a:schemeClr val="hlink"/>
              </a:buClr>
              <a:buSzPct val="55000"/>
              <a:buFont typeface="Wingdings" panose="05000000000000000000" pitchFamily="2" charset="2"/>
              <a:buNone/>
              <a:defRPr/>
            </a:pPr>
            <a:r>
              <a:rPr kumimoji="0" lang="zh-CN" altLang="en-US" sz="2400" b="0" i="0" u="none" strike="noStrike" kern="0" cap="none" spc="0" normalizeH="0" baseline="0" noProof="0" dirty="0" smtClean="0">
                <a:ln>
                  <a:noFill/>
                </a:ln>
                <a:solidFill>
                  <a:srgbClr val="FF0000"/>
                </a:solidFill>
                <a:effectLst/>
                <a:uLnTx/>
                <a:uFillTx/>
                <a:latin typeface="Tahoma" panose="020B0604030504040204" pitchFamily="34" charset="0"/>
                <a:ea typeface="黑体" panose="02010609060101010101" pitchFamily="49" charset="-122"/>
                <a:cs typeface="+mn-ea"/>
              </a:rPr>
              <a:t>相对寻址只出现在相对转移指令中</a:t>
            </a:r>
            <a:r>
              <a:rPr kumimoji="0" lang="zh-CN" altLang="en-US" sz="2400" b="0" i="0" u="none" strike="noStrike" kern="0" cap="none" spc="0" normalizeH="0" baseline="0" noProof="0" dirty="0" smtClean="0">
                <a:ln>
                  <a:noFill/>
                </a:ln>
                <a:solidFill>
                  <a:srgbClr val="333399"/>
                </a:solidFill>
                <a:effectLst/>
                <a:uLnTx/>
                <a:uFillTx/>
                <a:latin typeface="Tahoma" panose="020B0604030504040204" pitchFamily="34" charset="0"/>
                <a:ea typeface="黑体" panose="02010609060101010101" pitchFamily="49" charset="-122"/>
                <a:cs typeface="+mn-ea"/>
              </a:rPr>
              <a:t>。</a:t>
            </a:r>
            <a:endParaRPr kumimoji="0" lang="zh-CN" altLang="en-US" sz="2400" b="0" i="0" u="none" strike="noStrike" kern="0" cap="none" spc="0" normalizeH="0" baseline="0" noProof="0" dirty="0" smtClean="0">
              <a:ln>
                <a:noFill/>
              </a:ln>
              <a:solidFill>
                <a:srgbClr val="333399"/>
              </a:solidFill>
              <a:effectLst/>
              <a:uLnTx/>
              <a:uFillTx/>
              <a:latin typeface="Tahoma" panose="020B0604030504040204" pitchFamily="34" charset="0"/>
              <a:ea typeface="黑体" panose="02010609060101010101" pitchFamily="49" charset="-122"/>
              <a:cs typeface="+mn-ea"/>
            </a:endParaRPr>
          </a:p>
          <a:p>
            <a:pPr marL="342900" marR="0" lvl="0" indent="-342900" algn="l" defTabSz="42545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defRPr/>
            </a:pPr>
            <a:r>
              <a:rPr kumimoji="0" lang="zh-CN" altLang="en-US" sz="2400" b="0" i="0" u="none" strike="noStrike" kern="0" cap="none" spc="0" normalizeH="0" baseline="0" noProof="0" dirty="0" smtClean="0">
                <a:ln>
                  <a:noFill/>
                </a:ln>
                <a:solidFill>
                  <a:srgbClr val="3333CC"/>
                </a:solidFill>
                <a:effectLst/>
                <a:uLnTx/>
                <a:uFillTx/>
                <a:latin typeface="Times New Roman" panose="02020503050405090304" pitchFamily="18" charset="0"/>
                <a:ea typeface="黑体" panose="02010609060101010101" pitchFamily="49" charset="-122"/>
                <a:cs typeface="+mn-cs"/>
              </a:rPr>
              <a:t>            </a:t>
            </a:r>
            <a:r>
              <a:rPr kumimoji="0" lang="zh-CN" altLang="en-US" sz="2400" b="0" i="0" u="none" strike="noStrike" kern="0" cap="none" spc="0" normalizeH="0" baseline="0" noProof="0" dirty="0" smtClean="0">
                <a:ln>
                  <a:noFill/>
                </a:ln>
                <a:solidFill>
                  <a:srgbClr val="3333CC"/>
                </a:solidFill>
                <a:effectLst/>
                <a:uLnTx/>
                <a:uFillTx/>
                <a:latin typeface="黑体" panose="02010609060101010101" pitchFamily="49" charset="-122"/>
                <a:ea typeface="黑体" panose="02010609060101010101" pitchFamily="49" charset="-122"/>
                <a:cs typeface="+mn-cs"/>
              </a:rPr>
              <a:t>目的地址</a:t>
            </a:r>
            <a:r>
              <a:rPr kumimoji="0" lang="en-US" altLang="zh-CN" sz="2400" b="0" i="0" u="none" strike="noStrike" kern="0" cap="none" spc="0" normalizeH="0" baseline="0" noProof="0" dirty="0" smtClean="0">
                <a:ln>
                  <a:noFill/>
                </a:ln>
                <a:solidFill>
                  <a:srgbClr val="3333CC"/>
                </a:solidFill>
                <a:effectLst/>
                <a:uLnTx/>
                <a:uFillTx/>
                <a:latin typeface="黑体" panose="02010609060101010101" pitchFamily="49" charset="-122"/>
                <a:ea typeface="黑体" panose="02010609060101010101" pitchFamily="49" charset="-122"/>
                <a:cs typeface="+mn-cs"/>
              </a:rPr>
              <a:t>=</a:t>
            </a:r>
            <a:r>
              <a:rPr kumimoji="0" lang="zh-CN" altLang="en-US" sz="2400" b="0" i="0" u="none" strike="noStrike" kern="0" cap="none" spc="0" normalizeH="0" baseline="0" noProof="0" dirty="0" smtClean="0">
                <a:ln>
                  <a:noFill/>
                </a:ln>
                <a:solidFill>
                  <a:srgbClr val="3333CC"/>
                </a:solidFill>
                <a:effectLst/>
                <a:uLnTx/>
                <a:uFillTx/>
                <a:latin typeface="黑体" panose="02010609060101010101" pitchFamily="49" charset="-122"/>
                <a:ea typeface="黑体" panose="02010609060101010101" pitchFamily="49" charset="-122"/>
                <a:cs typeface="+mn-cs"/>
              </a:rPr>
              <a:t>源地址</a:t>
            </a:r>
            <a:r>
              <a:rPr kumimoji="0" lang="en-US" altLang="zh-CN" sz="2400" b="0" i="0" u="none" strike="noStrike" kern="0" cap="none" spc="0" normalizeH="0" baseline="0" noProof="0" dirty="0" smtClean="0">
                <a:ln>
                  <a:noFill/>
                </a:ln>
                <a:solidFill>
                  <a:srgbClr val="3333CC"/>
                </a:solidFill>
                <a:effectLst/>
                <a:uLnTx/>
                <a:uFillTx/>
                <a:latin typeface="黑体" panose="02010609060101010101" pitchFamily="49" charset="-122"/>
                <a:ea typeface="黑体" panose="02010609060101010101" pitchFamily="49" charset="-122"/>
                <a:cs typeface="+mn-cs"/>
              </a:rPr>
              <a:t>+</a:t>
            </a:r>
            <a:r>
              <a:rPr kumimoji="0" lang="en-US" altLang="zh-CN" sz="2400" b="0" i="0" u="none" strike="noStrike" kern="0" cap="none" spc="0" normalizeH="0" baseline="0" noProof="0" dirty="0" err="1" smtClean="0">
                <a:ln>
                  <a:noFill/>
                </a:ln>
                <a:solidFill>
                  <a:srgbClr val="3333CC"/>
                </a:solidFill>
                <a:effectLst/>
                <a:uLnTx/>
                <a:uFillTx/>
                <a:latin typeface="Times New Roman" panose="02020503050405090304" pitchFamily="18" charset="0"/>
                <a:ea typeface="黑体" panose="02010609060101010101" pitchFamily="49" charset="-122"/>
                <a:cs typeface="+mn-cs"/>
              </a:rPr>
              <a:t>rel</a:t>
            </a:r>
            <a:r>
              <a:rPr kumimoji="0" lang="en-US" altLang="zh-CN" sz="2400" b="0" i="0" u="none" strike="noStrike" kern="0" cap="none" spc="0" normalizeH="0" baseline="0" noProof="0" dirty="0" smtClean="0">
                <a:ln>
                  <a:noFill/>
                </a:ln>
                <a:solidFill>
                  <a:srgbClr val="3333CC"/>
                </a:solidFill>
                <a:effectLst/>
                <a:uLnTx/>
                <a:uFillTx/>
                <a:latin typeface="黑体" panose="02010609060101010101" pitchFamily="49" charset="-122"/>
                <a:ea typeface="黑体" panose="02010609060101010101" pitchFamily="49" charset="-122"/>
                <a:cs typeface="+mn-cs"/>
              </a:rPr>
              <a:t>+</a:t>
            </a:r>
            <a:r>
              <a:rPr kumimoji="0" lang="zh-CN" altLang="en-US" sz="2400" b="0" i="0" u="none" strike="noStrike" kern="0" cap="none" spc="0" normalizeH="0" baseline="0" noProof="0" dirty="0" smtClean="0">
                <a:ln>
                  <a:noFill/>
                </a:ln>
                <a:solidFill>
                  <a:srgbClr val="3333CC"/>
                </a:solidFill>
                <a:effectLst/>
                <a:uLnTx/>
                <a:uFillTx/>
                <a:latin typeface="黑体" panose="02010609060101010101" pitchFamily="49" charset="-122"/>
                <a:ea typeface="黑体" panose="02010609060101010101" pitchFamily="49" charset="-122"/>
                <a:cs typeface="+mn-cs"/>
              </a:rPr>
              <a:t>指令的字节数</a:t>
            </a:r>
            <a:endParaRPr kumimoji="0" lang="zh-CN" altLang="en-US" sz="2400" b="0" i="0" u="none" strike="noStrike" kern="0" cap="none" spc="0" normalizeH="0" baseline="0" noProof="0" dirty="0" smtClean="0">
              <a:ln>
                <a:noFill/>
              </a:ln>
              <a:solidFill>
                <a:srgbClr val="3333CC"/>
              </a:solidFill>
              <a:effectLst/>
              <a:uLnTx/>
              <a:uFillTx/>
              <a:latin typeface="黑体" panose="02010609060101010101" pitchFamily="49" charset="-122"/>
              <a:ea typeface="黑体" panose="02010609060101010101" pitchFamily="49" charset="-122"/>
              <a:cs typeface="+mn-cs"/>
            </a:endParaRPr>
          </a:p>
          <a:p>
            <a:pPr marL="342900" marR="0" lvl="0" indent="-342900" algn="l" defTabSz="42545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defRPr/>
            </a:pPr>
            <a:r>
              <a:rPr kumimoji="0" lang="zh-CN" altLang="en-US" sz="2400" b="0" i="0" u="none" strike="noStrike" kern="0" cap="none" spc="0" normalizeH="0" baseline="0" noProof="0" dirty="0" smtClean="0">
                <a:ln>
                  <a:noFill/>
                </a:ln>
                <a:solidFill>
                  <a:srgbClr val="3333CC"/>
                </a:solidFill>
                <a:effectLst/>
                <a:uLnTx/>
                <a:uFillTx/>
                <a:latin typeface="黑体" panose="02010609060101010101" pitchFamily="49" charset="-122"/>
                <a:ea typeface="黑体" panose="02010609060101010101" pitchFamily="49" charset="-122"/>
                <a:cs typeface="+mn-cs"/>
              </a:rPr>
              <a:t>      </a:t>
            </a:r>
            <a:r>
              <a:rPr kumimoji="0" lang="en-US" altLang="zh-CN" sz="2400" b="0" i="0" u="none" strike="noStrike" kern="0" cap="none" spc="0" normalizeH="0" baseline="0" noProof="0" dirty="0" err="1" smtClean="0">
                <a:ln>
                  <a:noFill/>
                </a:ln>
                <a:solidFill>
                  <a:srgbClr val="3333CC"/>
                </a:solidFill>
                <a:effectLst/>
                <a:uLnTx/>
                <a:uFillTx/>
                <a:latin typeface="Times New Roman" panose="02020503050405090304" pitchFamily="18" charset="0"/>
                <a:ea typeface="黑体" panose="02010609060101010101" pitchFamily="49" charset="-122"/>
                <a:cs typeface="+mn-cs"/>
              </a:rPr>
              <a:t>rel</a:t>
            </a:r>
            <a:r>
              <a:rPr kumimoji="0" lang="en-US" altLang="zh-CN" sz="2400" b="0" i="0" u="none" strike="noStrike" kern="0" cap="none" spc="0" normalizeH="0" baseline="0" noProof="0" dirty="0" smtClean="0">
                <a:ln>
                  <a:noFill/>
                </a:ln>
                <a:solidFill>
                  <a:srgbClr val="3333CC"/>
                </a:solidFill>
                <a:effectLst/>
                <a:uLnTx/>
                <a:uFillTx/>
                <a:latin typeface="Times New Roman" panose="02020503050405090304" pitchFamily="18" charset="0"/>
                <a:ea typeface="黑体" panose="02010609060101010101" pitchFamily="49" charset="-122"/>
                <a:cs typeface="+mn-cs"/>
              </a:rPr>
              <a:t> </a:t>
            </a:r>
            <a:r>
              <a:rPr kumimoji="0" lang="en-US" altLang="zh-CN" sz="2400" b="0" i="0" u="none" strike="noStrike" kern="0" cap="none" spc="0" normalizeH="0" baseline="0" noProof="0" dirty="0" smtClean="0">
                <a:ln>
                  <a:noFill/>
                </a:ln>
                <a:solidFill>
                  <a:srgbClr val="3333CC"/>
                </a:solidFill>
                <a:effectLst/>
                <a:uLnTx/>
                <a:uFillTx/>
                <a:latin typeface="黑体" panose="02010609060101010101" pitchFamily="49" charset="-122"/>
                <a:ea typeface="黑体" panose="02010609060101010101" pitchFamily="49" charset="-122"/>
                <a:cs typeface="+mn-cs"/>
              </a:rPr>
              <a:t>=</a:t>
            </a:r>
            <a:r>
              <a:rPr kumimoji="0" lang="zh-CN" altLang="en-US" sz="2400" b="0" i="0" u="none" strike="noStrike" kern="0" cap="none" spc="0" normalizeH="0" baseline="0" noProof="0" dirty="0" smtClean="0">
                <a:ln>
                  <a:noFill/>
                </a:ln>
                <a:solidFill>
                  <a:srgbClr val="3333CC"/>
                </a:solidFill>
                <a:effectLst/>
                <a:uLnTx/>
                <a:uFillTx/>
                <a:latin typeface="黑体" panose="02010609060101010101" pitchFamily="49" charset="-122"/>
                <a:ea typeface="黑体" panose="02010609060101010101" pitchFamily="49" charset="-122"/>
                <a:cs typeface="+mn-cs"/>
              </a:rPr>
              <a:t>目的地址</a:t>
            </a:r>
            <a:r>
              <a:rPr kumimoji="0" lang="en-US" altLang="zh-CN" sz="2400" b="0" i="0" u="none" strike="noStrike" kern="0" cap="none" spc="0" normalizeH="0" baseline="0" noProof="0" dirty="0" smtClean="0">
                <a:ln>
                  <a:noFill/>
                </a:ln>
                <a:solidFill>
                  <a:srgbClr val="3333CC"/>
                </a:solidFill>
                <a:effectLst/>
                <a:uLnTx/>
                <a:uFillTx/>
                <a:latin typeface="Times New Roman" panose="02020503050405090304"/>
                <a:ea typeface="黑体" panose="02010609060101010101" pitchFamily="49" charset="-122"/>
                <a:cs typeface="+mn-cs"/>
              </a:rPr>
              <a:t>—</a:t>
            </a:r>
            <a:r>
              <a:rPr kumimoji="0" lang="zh-CN" altLang="en-US" sz="2400" b="0" i="0" u="none" strike="noStrike" kern="0" cap="none" spc="0" normalizeH="0" baseline="0" noProof="0" dirty="0" smtClean="0">
                <a:ln>
                  <a:noFill/>
                </a:ln>
                <a:solidFill>
                  <a:srgbClr val="3333CC"/>
                </a:solidFill>
                <a:effectLst/>
                <a:uLnTx/>
                <a:uFillTx/>
                <a:latin typeface="黑体" panose="02010609060101010101" pitchFamily="49" charset="-122"/>
                <a:ea typeface="黑体" panose="02010609060101010101" pitchFamily="49" charset="-122"/>
                <a:cs typeface="+mn-cs"/>
              </a:rPr>
              <a:t>源地址</a:t>
            </a:r>
            <a:r>
              <a:rPr kumimoji="0" lang="en-US" altLang="zh-CN" sz="2400" b="0" i="0" u="none" strike="noStrike" kern="0" cap="none" spc="0" normalizeH="0" baseline="0" noProof="0" dirty="0" smtClean="0">
                <a:ln>
                  <a:noFill/>
                </a:ln>
                <a:solidFill>
                  <a:srgbClr val="3333CC"/>
                </a:solidFill>
                <a:effectLst/>
                <a:uLnTx/>
                <a:uFillTx/>
                <a:latin typeface="Times New Roman" panose="02020503050405090304"/>
                <a:ea typeface="黑体" panose="02010609060101010101" pitchFamily="49" charset="-122"/>
                <a:cs typeface="+mn-cs"/>
              </a:rPr>
              <a:t>—</a:t>
            </a:r>
            <a:r>
              <a:rPr kumimoji="0" lang="zh-CN" altLang="en-US" sz="2400" b="0" i="0" u="none" strike="noStrike" kern="0" cap="none" spc="0" normalizeH="0" baseline="0" noProof="0" dirty="0" smtClean="0">
                <a:ln>
                  <a:noFill/>
                </a:ln>
                <a:solidFill>
                  <a:srgbClr val="3333CC"/>
                </a:solidFill>
                <a:effectLst/>
                <a:uLnTx/>
                <a:uFillTx/>
                <a:latin typeface="黑体" panose="02010609060101010101" pitchFamily="49" charset="-122"/>
                <a:ea typeface="黑体" panose="02010609060101010101" pitchFamily="49" charset="-122"/>
                <a:cs typeface="+mn-cs"/>
              </a:rPr>
              <a:t>指令的字节数</a:t>
            </a:r>
            <a:endParaRPr kumimoji="0" lang="zh-CN" altLang="en-US" sz="2400" b="0" i="0" u="none" strike="noStrike" kern="0" cap="none" spc="0" normalizeH="0" baseline="0" noProof="0" dirty="0" smtClean="0">
              <a:ln>
                <a:noFill/>
              </a:ln>
              <a:solidFill>
                <a:srgbClr val="3333CC"/>
              </a:solidFill>
              <a:effectLst/>
              <a:uLnTx/>
              <a:uFillTx/>
              <a:latin typeface="黑体" panose="02010609060101010101" pitchFamily="49" charset="-122"/>
              <a:ea typeface="黑体" panose="02010609060101010101" pitchFamily="49" charset="-122"/>
              <a:cs typeface="+mn-cs"/>
            </a:endParaRPr>
          </a:p>
          <a:p>
            <a:pPr marL="342900" marR="0" lvl="0" indent="-342900" algn="l" defTabSz="42545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defRPr/>
            </a:pPr>
            <a:r>
              <a:rPr kumimoji="0" lang="zh-CN" altLang="en-US" sz="2400" b="0" i="0" u="none" strike="noStrike" kern="0" cap="none" spc="0" normalizeH="0" baseline="0" noProof="0" dirty="0" smtClean="0">
                <a:ln>
                  <a:noFill/>
                </a:ln>
                <a:solidFill>
                  <a:srgbClr val="3333CC"/>
                </a:solidFill>
                <a:effectLst/>
                <a:uLnTx/>
                <a:uFillTx/>
                <a:latin typeface="黑体" panose="02010609060101010101" pitchFamily="49" charset="-122"/>
                <a:ea typeface="黑体" panose="02010609060101010101" pitchFamily="49" charset="-122"/>
                <a:cs typeface="+mn-cs"/>
              </a:rPr>
              <a:t>      </a:t>
            </a:r>
            <a:r>
              <a:rPr kumimoji="0" lang="en-US" altLang="zh-CN" sz="2400" b="0" i="0" u="sng" strike="noStrike" kern="0" cap="none" spc="0" normalizeH="0" baseline="0" noProof="0" dirty="0" err="1" smtClean="0">
                <a:ln>
                  <a:noFill/>
                </a:ln>
                <a:solidFill>
                  <a:srgbClr val="FF0000"/>
                </a:solidFill>
                <a:effectLst/>
                <a:uLnTx/>
                <a:uFillTx/>
                <a:latin typeface="Times New Roman" panose="02020503050405090304" pitchFamily="18" charset="0"/>
                <a:ea typeface="黑体" panose="02010609060101010101" pitchFamily="49" charset="-122"/>
                <a:cs typeface="+mn-cs"/>
              </a:rPr>
              <a:t>rel</a:t>
            </a:r>
            <a:r>
              <a:rPr kumimoji="0" lang="zh-CN" altLang="en-US" sz="2400" b="0" i="0" u="sng" strike="noStrike" kern="0" cap="none" spc="0" normalizeH="0" baseline="0" noProof="0" dirty="0" smtClean="0">
                <a:ln>
                  <a:noFill/>
                </a:ln>
                <a:solidFill>
                  <a:srgbClr val="FF0000"/>
                </a:solidFill>
                <a:effectLst/>
                <a:uLnTx/>
                <a:uFillTx/>
                <a:latin typeface="Times New Roman" panose="02020503050405090304" pitchFamily="18" charset="0"/>
                <a:ea typeface="黑体" panose="02010609060101010101" pitchFamily="49" charset="-122"/>
                <a:cs typeface="+mn-cs"/>
              </a:rPr>
              <a:t>：指令中给出的地址偏移量</a:t>
            </a:r>
            <a:r>
              <a:rPr kumimoji="0" lang="zh-CN" altLang="en-US" sz="2400" b="0" i="0" u="none" strike="noStrike" kern="0" cap="none" spc="0" normalizeH="0" baseline="0" noProof="0" dirty="0" smtClean="0">
                <a:ln>
                  <a:noFill/>
                </a:ln>
                <a:solidFill>
                  <a:srgbClr val="3333CC"/>
                </a:solidFill>
                <a:effectLst/>
                <a:uLnTx/>
                <a:uFillTx/>
                <a:latin typeface="Times New Roman" panose="02020503050405090304" pitchFamily="18" charset="0"/>
                <a:ea typeface="黑体" panose="02010609060101010101" pitchFamily="49" charset="-122"/>
                <a:cs typeface="+mn-cs"/>
              </a:rPr>
              <a:t>。</a:t>
            </a:r>
            <a:r>
              <a:rPr kumimoji="0" lang="en-US" altLang="zh-CN" sz="2400" b="0" i="0" u="none" strike="noStrike" kern="0" cap="none" spc="0" normalizeH="0" baseline="0" noProof="0" dirty="0" smtClean="0">
                <a:ln>
                  <a:noFill/>
                </a:ln>
                <a:solidFill>
                  <a:srgbClr val="3333CC"/>
                </a:solidFill>
                <a:effectLst/>
                <a:uLnTx/>
                <a:uFillTx/>
                <a:latin typeface="Times New Roman" panose="02020503050405090304" pitchFamily="18" charset="0"/>
                <a:ea typeface="黑体" panose="02010609060101010101" pitchFamily="49" charset="-122"/>
                <a:cs typeface="+mn-cs"/>
              </a:rPr>
              <a:t>-128~+127</a:t>
            </a:r>
            <a:r>
              <a:rPr kumimoji="0" lang="zh-CN" altLang="en-US" sz="2400" b="0" i="0" u="none" strike="noStrike" kern="0" cap="none" spc="0" normalizeH="0" baseline="0" noProof="0" dirty="0" smtClean="0">
                <a:ln>
                  <a:noFill/>
                </a:ln>
                <a:solidFill>
                  <a:srgbClr val="3333CC"/>
                </a:solidFill>
                <a:effectLst/>
                <a:uLnTx/>
                <a:uFillTx/>
                <a:latin typeface="Times New Roman" panose="02020503050405090304" pitchFamily="18" charset="0"/>
                <a:ea typeface="黑体" panose="02010609060101010101" pitchFamily="49" charset="-122"/>
                <a:cs typeface="+mn-cs"/>
              </a:rPr>
              <a:t>，用补码表示，大于</a:t>
            </a:r>
            <a:r>
              <a:rPr kumimoji="0" lang="en-US" altLang="zh-CN" sz="2400" b="0" i="0" u="none" strike="noStrike" kern="0" cap="none" spc="0" normalizeH="0" baseline="0" noProof="0" dirty="0" smtClean="0">
                <a:ln>
                  <a:noFill/>
                </a:ln>
                <a:solidFill>
                  <a:srgbClr val="3333CC"/>
                </a:solidFill>
                <a:effectLst/>
                <a:uLnTx/>
                <a:uFillTx/>
                <a:latin typeface="Times New Roman" panose="02020503050405090304" pitchFamily="18" charset="0"/>
                <a:ea typeface="黑体" panose="02010609060101010101" pitchFamily="49" charset="-122"/>
                <a:cs typeface="+mn-cs"/>
              </a:rPr>
              <a:t>0</a:t>
            </a:r>
            <a:r>
              <a:rPr kumimoji="0" lang="zh-CN" altLang="en-US" sz="2400" b="0" i="0" u="none" strike="noStrike" kern="0" cap="none" spc="0" normalizeH="0" baseline="0" noProof="0" dirty="0" smtClean="0">
                <a:ln>
                  <a:noFill/>
                </a:ln>
                <a:solidFill>
                  <a:srgbClr val="3333CC"/>
                </a:solidFill>
                <a:effectLst/>
                <a:uLnTx/>
                <a:uFillTx/>
                <a:latin typeface="Times New Roman" panose="02020503050405090304" pitchFamily="18" charset="0"/>
                <a:ea typeface="黑体" panose="02010609060101010101" pitchFamily="49" charset="-122"/>
                <a:cs typeface="+mn-cs"/>
              </a:rPr>
              <a:t>正向跳转（向后），小于</a:t>
            </a:r>
            <a:r>
              <a:rPr kumimoji="0" lang="en-US" altLang="zh-CN" sz="2400" b="0" i="0" u="none" strike="noStrike" kern="0" cap="none" spc="0" normalizeH="0" baseline="0" noProof="0" dirty="0" smtClean="0">
                <a:ln>
                  <a:noFill/>
                </a:ln>
                <a:solidFill>
                  <a:srgbClr val="3333CC"/>
                </a:solidFill>
                <a:effectLst/>
                <a:uLnTx/>
                <a:uFillTx/>
                <a:latin typeface="Times New Roman" panose="02020503050405090304" pitchFamily="18" charset="0"/>
                <a:ea typeface="黑体" panose="02010609060101010101" pitchFamily="49" charset="-122"/>
                <a:cs typeface="+mn-cs"/>
              </a:rPr>
              <a:t>0</a:t>
            </a:r>
            <a:r>
              <a:rPr kumimoji="0" lang="zh-CN" altLang="en-US" sz="2400" b="0" i="0" u="none" strike="noStrike" kern="0" cap="none" spc="0" normalizeH="0" baseline="0" noProof="0" dirty="0" smtClean="0">
                <a:ln>
                  <a:noFill/>
                </a:ln>
                <a:solidFill>
                  <a:srgbClr val="3333CC"/>
                </a:solidFill>
                <a:effectLst/>
                <a:uLnTx/>
                <a:uFillTx/>
                <a:latin typeface="Times New Roman" panose="02020503050405090304" pitchFamily="18" charset="0"/>
                <a:ea typeface="黑体" panose="02010609060101010101" pitchFamily="49" charset="-122"/>
                <a:cs typeface="+mn-cs"/>
              </a:rPr>
              <a:t>则反向跳转（向前）。</a:t>
            </a:r>
            <a:endParaRPr kumimoji="1" lang="zh-CN" altLang="en-US" sz="2800" b="1" i="0" u="sng" strike="noStrike" kern="0" cap="none" spc="0" normalizeH="0" baseline="0" noProof="0" dirty="0" smtClean="0">
              <a:ln>
                <a:noFill/>
              </a:ln>
              <a:solidFill>
                <a:schemeClr val="tx2"/>
              </a:solidFill>
              <a:effectLst>
                <a:outerShdw blurRad="38100" dist="38100" dir="2700000" algn="tl">
                  <a:srgbClr val="C0C0C0"/>
                </a:outerShdw>
              </a:effectLst>
              <a:uLnTx/>
              <a:uFillTx/>
              <a:latin typeface="楷体_GB2312" pitchFamily="49" charset="-122"/>
              <a:ea typeface="+mn-ea"/>
              <a:cs typeface="+mn-cs"/>
            </a:endParaRPr>
          </a:p>
          <a:p>
            <a:pPr marL="742950" marR="0" lvl="1" indent="-285750" algn="l" defTabSz="425450" rtl="0" eaLnBrk="0" fontAlgn="base" latinLnBrk="0" hangingPunct="0">
              <a:lnSpc>
                <a:spcPct val="100000"/>
              </a:lnSpc>
              <a:spcBef>
                <a:spcPct val="0"/>
              </a:spcBef>
              <a:spcAft>
                <a:spcPct val="0"/>
              </a:spcAft>
              <a:buClr>
                <a:schemeClr val="accent2"/>
              </a:buClr>
              <a:buSzTx/>
              <a:buFontTx/>
              <a:buNone/>
              <a:defRPr/>
            </a:pPr>
            <a:endParaRPr kumimoji="1" lang="zh-CN" altLang="en-US"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楷体_GB2312" pitchFamily="49" charset="-122"/>
              <a:ea typeface="+mn-ea"/>
              <a:cs typeface="+mn-ea"/>
            </a:endParaRPr>
          </a:p>
          <a:p>
            <a:pPr marL="742950" marR="0" lvl="1" indent="-285750" algn="l" defTabSz="425450" rtl="0" eaLnBrk="0" fontAlgn="base" latinLnBrk="0" hangingPunct="0">
              <a:lnSpc>
                <a:spcPct val="100000"/>
              </a:lnSpc>
              <a:spcBef>
                <a:spcPct val="0"/>
              </a:spcBef>
              <a:spcAft>
                <a:spcPct val="0"/>
              </a:spcAft>
              <a:buClr>
                <a:schemeClr val="accent2"/>
              </a:buClr>
              <a:buSzTx/>
              <a:buFontTx/>
              <a:buNone/>
              <a:defRPr/>
            </a:pPr>
            <a:endParaRPr kumimoji="1" lang="zh-CN" altLang="en-US"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楷体_GB2312" pitchFamily="49" charset="-122"/>
              <a:ea typeface="+mn-ea"/>
              <a:cs typeface="+mn-ea"/>
            </a:endParaRPr>
          </a:p>
          <a:p>
            <a:pPr marL="342900" marR="0" lvl="0" indent="-342900" algn="just" defTabSz="42545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zh-CN" sz="2800" b="1" i="0" u="none" strike="noStrike" kern="0" cap="none" spc="0" normalizeH="0" baseline="0" noProof="0" dirty="0" smtClean="0">
              <a:ln>
                <a:noFill/>
              </a:ln>
              <a:solidFill>
                <a:schemeClr val="tx1"/>
              </a:solidFill>
              <a:effectLst/>
              <a:uLnTx/>
              <a:uFillTx/>
              <a:latin typeface="宋体" pitchFamily="2" charset="-122"/>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14339">
                                            <p:txEl>
                                              <p:charRg st="9" end="65"/>
                                            </p:txEl>
                                          </p:spTgt>
                                        </p:tgtEl>
                                        <p:attrNameLst>
                                          <p:attrName>style.visibility</p:attrName>
                                        </p:attrNameLst>
                                      </p:cBhvr>
                                      <p:to>
                                        <p:strVal val="visible"/>
                                      </p:to>
                                    </p:set>
                                    <p:animEffect transition="in" filter="blinds(horizontal)">
                                      <p:cBhvr>
                                        <p:cTn id="7" dur="500"/>
                                        <p:tgtEl>
                                          <p:spTgt spid="14339">
                                            <p:txEl>
                                              <p:charRg st="9" end="65"/>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4339">
                                            <p:txEl>
                                              <p:charRg st="65" end="164"/>
                                            </p:txEl>
                                          </p:spTgt>
                                        </p:tgtEl>
                                        <p:attrNameLst>
                                          <p:attrName>style.visibility</p:attrName>
                                        </p:attrNameLst>
                                      </p:cBhvr>
                                      <p:to>
                                        <p:strVal val="visible"/>
                                      </p:to>
                                    </p:set>
                                    <p:animEffect transition="in" filter="blinds(horizontal)">
                                      <p:cBhvr>
                                        <p:cTn id="10" dur="500"/>
                                        <p:tgtEl>
                                          <p:spTgt spid="14339">
                                            <p:txEl>
                                              <p:charRg st="65" end="164"/>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4339">
                                            <p:txEl>
                                              <p:charRg st="164" end="166"/>
                                            </p:txEl>
                                          </p:spTgt>
                                        </p:tgtEl>
                                        <p:attrNameLst>
                                          <p:attrName>style.visibility</p:attrName>
                                        </p:attrNameLst>
                                      </p:cBhvr>
                                      <p:to>
                                        <p:strVal val="visible"/>
                                      </p:to>
                                    </p:set>
                                    <p:animEffect transition="in" filter="blinds(horizontal)">
                                      <p:cBhvr>
                                        <p:cTn id="13" dur="500"/>
                                        <p:tgtEl>
                                          <p:spTgt spid="14339">
                                            <p:txEl>
                                              <p:charRg st="164" end="166"/>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4339">
                                            <p:txEl>
                                              <p:charRg st="166" end="183"/>
                                            </p:txEl>
                                          </p:spTgt>
                                        </p:tgtEl>
                                        <p:attrNameLst>
                                          <p:attrName>style.visibility</p:attrName>
                                        </p:attrNameLst>
                                      </p:cBhvr>
                                      <p:to>
                                        <p:strVal val="visible"/>
                                      </p:to>
                                    </p:set>
                                    <p:animEffect transition="in" filter="blinds(horizontal)">
                                      <p:cBhvr>
                                        <p:cTn id="16" dur="500"/>
                                        <p:tgtEl>
                                          <p:spTgt spid="14339">
                                            <p:txEl>
                                              <p:charRg st="166" end="18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4339">
                                            <p:txEl>
                                              <p:charRg st="183" end="215"/>
                                            </p:txEl>
                                          </p:spTgt>
                                        </p:tgtEl>
                                        <p:attrNameLst>
                                          <p:attrName>style.visibility</p:attrName>
                                        </p:attrNameLst>
                                      </p:cBhvr>
                                      <p:to>
                                        <p:strVal val="visible"/>
                                      </p:to>
                                    </p:set>
                                    <p:animEffect transition="in" filter="blinds(horizontal)">
                                      <p:cBhvr>
                                        <p:cTn id="21" dur="500"/>
                                        <p:tgtEl>
                                          <p:spTgt spid="14339">
                                            <p:txEl>
                                              <p:charRg st="183" end="21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4339">
                                            <p:txEl>
                                              <p:charRg st="215" end="242"/>
                                            </p:txEl>
                                          </p:spTgt>
                                        </p:tgtEl>
                                        <p:attrNameLst>
                                          <p:attrName>style.visibility</p:attrName>
                                        </p:attrNameLst>
                                      </p:cBhvr>
                                      <p:to>
                                        <p:strVal val="visible"/>
                                      </p:to>
                                    </p:set>
                                    <p:animEffect transition="in" filter="blinds(horizontal)">
                                      <p:cBhvr>
                                        <p:cTn id="26" dur="500"/>
                                        <p:tgtEl>
                                          <p:spTgt spid="14339">
                                            <p:txEl>
                                              <p:charRg st="215" end="24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4339">
                                            <p:txEl>
                                              <p:charRg st="242" end="306"/>
                                            </p:txEl>
                                          </p:spTgt>
                                        </p:tgtEl>
                                        <p:attrNameLst>
                                          <p:attrName>style.visibility</p:attrName>
                                        </p:attrNameLst>
                                      </p:cBhvr>
                                      <p:to>
                                        <p:strVal val="visible"/>
                                      </p:to>
                                    </p:set>
                                    <p:animEffect transition="in" filter="blinds(horizontal)">
                                      <p:cBhvr>
                                        <p:cTn id="31" dur="500"/>
                                        <p:tgtEl>
                                          <p:spTgt spid="14339">
                                            <p:txEl>
                                              <p:charRg st="242" end="30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3" name="Rectangle 5"/>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8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4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 name="Rectangle 7"/>
          <p:cNvSpPr/>
          <p:nvPr/>
        </p:nvSpPr>
        <p:spPr>
          <a:xfrm>
            <a:off x="468313" y="5500688"/>
            <a:ext cx="8675687" cy="504825"/>
          </a:xfrm>
          <a:prstGeom prst="rect">
            <a:avLst/>
          </a:prstGeom>
          <a:noFill/>
          <a:ln w="9525">
            <a:noFill/>
          </a:ln>
        </p:spPr>
        <p:txBody>
          <a:bodyPr anchor="t" anchorCtr="0"/>
          <a:p>
            <a:pPr algn="just" eaLnBrk="0" hangingPunct="0"/>
            <a:r>
              <a:rPr lang="en-US" altLang="zh-CN" dirty="0">
                <a:solidFill>
                  <a:srgbClr val="CC0000"/>
                </a:solidFill>
                <a:latin typeface="Times New Roman" panose="02020503050405090304" pitchFamily="18" charset="0"/>
                <a:ea typeface="仿宋_GB2312" pitchFamily="49" charset="-122"/>
              </a:rPr>
              <a:t>Rel</a:t>
            </a:r>
            <a:r>
              <a:rPr lang="zh-CN" altLang="en-US" dirty="0">
                <a:solidFill>
                  <a:srgbClr val="0A10F8"/>
                </a:solidFill>
                <a:latin typeface="Times New Roman" panose="02020503050405090304" pitchFamily="18" charset="0"/>
                <a:ea typeface="仿宋_GB2312" pitchFamily="49" charset="-122"/>
              </a:rPr>
              <a:t>常用符号地址表示，离源地址不要超过（－</a:t>
            </a:r>
            <a:r>
              <a:rPr lang="en-US" altLang="zh-CN" dirty="0">
                <a:solidFill>
                  <a:srgbClr val="0A10F8"/>
                </a:solidFill>
                <a:latin typeface="Times New Roman" panose="02020503050405090304" pitchFamily="18" charset="0"/>
                <a:ea typeface="仿宋_GB2312" pitchFamily="49" charset="-122"/>
              </a:rPr>
              <a:t>128</a:t>
            </a:r>
            <a:r>
              <a:rPr lang="zh-CN" altLang="en-US" dirty="0">
                <a:solidFill>
                  <a:srgbClr val="0A10F8"/>
                </a:solidFill>
                <a:latin typeface="Times New Roman" panose="02020503050405090304" pitchFamily="18" charset="0"/>
                <a:ea typeface="仿宋_GB2312" pitchFamily="49" charset="-122"/>
              </a:rPr>
              <a:t>～＋</a:t>
            </a:r>
            <a:r>
              <a:rPr lang="en-US" altLang="zh-CN" dirty="0">
                <a:solidFill>
                  <a:srgbClr val="0A10F8"/>
                </a:solidFill>
                <a:latin typeface="Times New Roman" panose="02020503050405090304" pitchFamily="18" charset="0"/>
                <a:ea typeface="仿宋_GB2312" pitchFamily="49" charset="-122"/>
              </a:rPr>
              <a:t>127 </a:t>
            </a:r>
            <a:r>
              <a:rPr lang="zh-CN" altLang="en-US" dirty="0">
                <a:solidFill>
                  <a:srgbClr val="0A10F8"/>
                </a:solidFill>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  </a:t>
            </a:r>
            <a:r>
              <a:rPr lang="zh-CN" altLang="en-US" dirty="0">
                <a:latin typeface="Times New Roman" panose="02020503050405090304" pitchFamily="18" charset="0"/>
                <a:ea typeface="仿宋_GB2312" pitchFamily="49" charset="-122"/>
              </a:rPr>
              <a:t> </a:t>
            </a:r>
            <a:endParaRPr lang="en-US" altLang="zh-CN" dirty="0">
              <a:latin typeface="Times New Roman" panose="02020503050405090304" pitchFamily="18" charset="0"/>
              <a:ea typeface="仿宋_GB2312" pitchFamily="49" charset="-122"/>
            </a:endParaRPr>
          </a:p>
        </p:txBody>
      </p:sp>
      <p:graphicFrame>
        <p:nvGraphicFramePr>
          <p:cNvPr id="7" name="Object 8"/>
          <p:cNvGraphicFramePr/>
          <p:nvPr/>
        </p:nvGraphicFramePr>
        <p:xfrm>
          <a:off x="827088" y="2428875"/>
          <a:ext cx="7021512" cy="2862263"/>
        </p:xfrm>
        <a:graphic>
          <a:graphicData uri="http://schemas.openxmlformats.org/presentationml/2006/ole">
            <mc:AlternateContent xmlns:mc="http://schemas.openxmlformats.org/markup-compatibility/2006">
              <mc:Choice xmlns:v="urn:schemas-microsoft-com:vml" Requires="v">
                <p:oleObj spid="_x0000_s3085" name="" r:id="rId1" imgW="3709670" imgH="1496060" progId="Visio.Drawing.11">
                  <p:embed/>
                </p:oleObj>
              </mc:Choice>
              <mc:Fallback>
                <p:oleObj name="" r:id="rId1" imgW="3709670" imgH="1496060" progId="Visio.Drawing.11">
                  <p:embed/>
                  <p:pic>
                    <p:nvPicPr>
                      <p:cNvPr id="0" name="Picture 3084"/>
                      <p:cNvPicPr/>
                      <p:nvPr/>
                    </p:nvPicPr>
                    <p:blipFill>
                      <a:blip r:embed="rId2"/>
                      <a:stretch>
                        <a:fillRect/>
                      </a:stretch>
                    </p:blipFill>
                    <p:spPr>
                      <a:xfrm>
                        <a:off x="827088" y="2428875"/>
                        <a:ext cx="7021512" cy="2862263"/>
                      </a:xfrm>
                      <a:prstGeom prst="rect">
                        <a:avLst/>
                      </a:prstGeom>
                      <a:noFill/>
                      <a:ln w="38100">
                        <a:noFill/>
                        <a:miter/>
                      </a:ln>
                    </p:spPr>
                  </p:pic>
                </p:oleObj>
              </mc:Fallback>
            </mc:AlternateContent>
          </a:graphicData>
        </a:graphic>
      </p:graphicFrame>
      <p:sp>
        <p:nvSpPr>
          <p:cNvPr id="57348" name="Rectangle 10"/>
          <p:cNvSpPr/>
          <p:nvPr/>
        </p:nvSpPr>
        <p:spPr>
          <a:xfrm>
            <a:off x="323850" y="1257300"/>
            <a:ext cx="8877300" cy="457200"/>
          </a:xfrm>
          <a:prstGeom prst="rect">
            <a:avLst/>
          </a:prstGeom>
          <a:noFill/>
          <a:ln w="9525">
            <a:noFill/>
          </a:ln>
        </p:spPr>
        <p:txBody>
          <a:bodyPr wrap="none" anchor="ctr" anchorCtr="0">
            <a:spAutoFit/>
          </a:bodyPr>
          <a:p>
            <a:pPr eaLnBrk="0" hangingPunct="0">
              <a:buClrTx/>
              <a:buFontTx/>
            </a:pPr>
            <a:r>
              <a:rPr lang="en-US" altLang="zh-CN" b="0" dirty="0">
                <a:latin typeface="Times New Roman" panose="02020503050405090304" pitchFamily="18" charset="0"/>
                <a:ea typeface="仿宋_GB2312" pitchFamily="49" charset="-122"/>
              </a:rPr>
              <a:t>【</a:t>
            </a:r>
            <a:r>
              <a:rPr lang="zh-CN" altLang="en-US" dirty="0">
                <a:latin typeface="Times New Roman" panose="02020503050405090304" pitchFamily="18" charset="0"/>
                <a:ea typeface="仿宋_GB2312" pitchFamily="49" charset="-122"/>
              </a:rPr>
              <a:t>例</a:t>
            </a:r>
            <a:r>
              <a:rPr lang="en-US" altLang="zh-CN" dirty="0">
                <a:latin typeface="Times New Roman" panose="02020503050405090304" pitchFamily="18" charset="0"/>
                <a:ea typeface="仿宋_GB2312" pitchFamily="49" charset="-122"/>
              </a:rPr>
              <a:t>】</a:t>
            </a:r>
            <a:r>
              <a:rPr lang="zh-CN" altLang="en-US" dirty="0">
                <a:latin typeface="Times New Roman" panose="02020503050405090304" pitchFamily="18" charset="0"/>
                <a:ea typeface="仿宋_GB2312" pitchFamily="49" charset="-122"/>
              </a:rPr>
              <a:t>若</a:t>
            </a:r>
            <a:r>
              <a:rPr lang="en-US" altLang="zh-CN" b="0" dirty="0">
                <a:latin typeface="Times New Roman" panose="02020503050405090304" pitchFamily="18" charset="0"/>
                <a:ea typeface="仿宋_GB2312" pitchFamily="49" charset="-122"/>
              </a:rPr>
              <a:t>rel</a:t>
            </a:r>
            <a:r>
              <a:rPr lang="zh-CN" altLang="en-US" b="0" dirty="0">
                <a:latin typeface="Times New Roman" panose="02020503050405090304" pitchFamily="18" charset="0"/>
                <a:ea typeface="仿宋_GB2312" pitchFamily="49" charset="-122"/>
              </a:rPr>
              <a:t>为</a:t>
            </a:r>
            <a:r>
              <a:rPr lang="en-US" altLang="zh-CN" b="0" dirty="0">
                <a:latin typeface="Times New Roman" panose="02020503050405090304" pitchFamily="18" charset="0"/>
                <a:ea typeface="仿宋_GB2312" pitchFamily="49" charset="-122"/>
              </a:rPr>
              <a:t>75H</a:t>
            </a:r>
            <a:r>
              <a:rPr lang="zh-CN" altLang="en-US" b="0" dirty="0">
                <a:latin typeface="Times New Roman" panose="02020503050405090304" pitchFamily="18" charset="0"/>
                <a:ea typeface="仿宋_GB2312" pitchFamily="49" charset="-122"/>
              </a:rPr>
              <a:t>，</a:t>
            </a:r>
            <a:r>
              <a:rPr lang="en-US" altLang="zh-CN" b="0" dirty="0">
                <a:latin typeface="Times New Roman" panose="02020503050405090304" pitchFamily="18" charset="0"/>
                <a:ea typeface="仿宋_GB2312" pitchFamily="49" charset="-122"/>
              </a:rPr>
              <a:t>PSW.7</a:t>
            </a:r>
            <a:r>
              <a:rPr lang="zh-CN" altLang="en-US" b="0" dirty="0">
                <a:latin typeface="Times New Roman" panose="02020503050405090304" pitchFamily="18" charset="0"/>
                <a:ea typeface="仿宋_GB2312" pitchFamily="49" charset="-122"/>
              </a:rPr>
              <a:t>为</a:t>
            </a:r>
            <a:r>
              <a:rPr lang="en-US" altLang="zh-CN" b="0" dirty="0">
                <a:latin typeface="Times New Roman" panose="02020503050405090304" pitchFamily="18" charset="0"/>
                <a:ea typeface="仿宋_GB2312" pitchFamily="49" charset="-122"/>
              </a:rPr>
              <a:t>1</a:t>
            </a:r>
            <a:r>
              <a:rPr lang="zh-CN" altLang="en-US" b="0" dirty="0">
                <a:latin typeface="Times New Roman" panose="02020503050405090304" pitchFamily="18" charset="0"/>
                <a:ea typeface="仿宋_GB2312" pitchFamily="49" charset="-122"/>
              </a:rPr>
              <a:t>，</a:t>
            </a:r>
            <a:r>
              <a:rPr lang="en-US" altLang="zh-CN" b="0" dirty="0">
                <a:latin typeface="Times New Roman" panose="02020503050405090304" pitchFamily="18" charset="0"/>
                <a:ea typeface="仿宋_GB2312" pitchFamily="49" charset="-122"/>
              </a:rPr>
              <a:t>JC  rel</a:t>
            </a:r>
            <a:r>
              <a:rPr lang="zh-CN" altLang="en-US" b="0" dirty="0">
                <a:latin typeface="Times New Roman" panose="02020503050405090304" pitchFamily="18" charset="0"/>
                <a:ea typeface="仿宋_GB2312" pitchFamily="49" charset="-122"/>
              </a:rPr>
              <a:t>存于</a:t>
            </a:r>
            <a:r>
              <a:rPr lang="en-US" altLang="zh-CN" b="0" dirty="0">
                <a:latin typeface="Times New Roman" panose="02020503050405090304" pitchFamily="18" charset="0"/>
                <a:ea typeface="仿宋_GB2312" pitchFamily="49" charset="-122"/>
              </a:rPr>
              <a:t>1000H</a:t>
            </a:r>
            <a:r>
              <a:rPr lang="zh-CN" altLang="en-US" b="0" dirty="0">
                <a:latin typeface="Times New Roman" panose="02020503050405090304" pitchFamily="18" charset="0"/>
                <a:ea typeface="仿宋_GB2312" pitchFamily="49" charset="-122"/>
              </a:rPr>
              <a:t>开始的单元。</a:t>
            </a:r>
            <a:r>
              <a:rPr lang="zh-CN" altLang="en-US" dirty="0">
                <a:latin typeface="Times New Roman" panose="02020503050405090304" pitchFamily="18" charset="0"/>
                <a:ea typeface="仿宋_GB2312" pitchFamily="49" charset="-122"/>
              </a:rPr>
              <a:t> </a:t>
            </a:r>
            <a:endParaRPr lang="zh-CN" altLang="en-US" dirty="0">
              <a:latin typeface="Times New Roman" panose="02020503050405090304" pitchFamily="18" charset="0"/>
              <a:ea typeface="仿宋_GB2312" pitchFamily="49" charset="-122"/>
            </a:endParaRPr>
          </a:p>
        </p:txBody>
      </p:sp>
      <p:sp>
        <p:nvSpPr>
          <p:cNvPr id="57349" name="Rectangle 11"/>
          <p:cNvSpPr/>
          <p:nvPr/>
        </p:nvSpPr>
        <p:spPr>
          <a:xfrm>
            <a:off x="250825" y="1785938"/>
            <a:ext cx="8497888" cy="457200"/>
          </a:xfrm>
          <a:prstGeom prst="rect">
            <a:avLst/>
          </a:prstGeom>
          <a:noFill/>
          <a:ln w="9525">
            <a:noFill/>
          </a:ln>
        </p:spPr>
        <p:txBody>
          <a:bodyPr anchor="ctr" anchorCtr="0">
            <a:spAutoFit/>
          </a:bodyPr>
          <a:p>
            <a:pPr eaLnBrk="0" hangingPunct="0">
              <a:buClrTx/>
              <a:buFontTx/>
            </a:pPr>
            <a:r>
              <a:rPr lang="zh-CN" altLang="en-US" b="0" dirty="0">
                <a:latin typeface="Times New Roman" panose="02020503050405090304" pitchFamily="18" charset="0"/>
                <a:ea typeface="仿宋_GB2312" pitchFamily="49" charset="-122"/>
              </a:rPr>
              <a:t>执行</a:t>
            </a:r>
            <a:r>
              <a:rPr lang="en-US" altLang="zh-CN" b="0" dirty="0">
                <a:latin typeface="Times New Roman" panose="02020503050405090304" pitchFamily="18" charset="0"/>
                <a:ea typeface="仿宋_GB2312" pitchFamily="49" charset="-122"/>
              </a:rPr>
              <a:t>JC  rel</a:t>
            </a:r>
            <a:r>
              <a:rPr lang="zh-CN" altLang="en-US" b="0" dirty="0">
                <a:latin typeface="Times New Roman" panose="02020503050405090304" pitchFamily="18" charset="0"/>
                <a:ea typeface="仿宋_GB2312" pitchFamily="49" charset="-122"/>
              </a:rPr>
              <a:t>指令后，程序将跳转到</a:t>
            </a:r>
            <a:r>
              <a:rPr lang="en-US" altLang="zh-CN" b="0" dirty="0">
                <a:latin typeface="Times New Roman" panose="02020503050405090304" pitchFamily="18" charset="0"/>
                <a:ea typeface="仿宋_GB2312" pitchFamily="49" charset="-122"/>
              </a:rPr>
              <a:t>1077H</a:t>
            </a:r>
            <a:r>
              <a:rPr lang="zh-CN" altLang="en-US" b="0" dirty="0">
                <a:latin typeface="Times New Roman" panose="02020503050405090304" pitchFamily="18" charset="0"/>
                <a:ea typeface="仿宋_GB2312" pitchFamily="49" charset="-122"/>
              </a:rPr>
              <a:t>单元取指令并执行。 </a:t>
            </a:r>
            <a:endParaRPr lang="zh-CN" altLang="en-US" b="0" dirty="0">
              <a:latin typeface="Times New Roman" panose="02020503050405090304" pitchFamily="18" charset="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58370" name="Rectangle 16"/>
          <p:cNvSpPr/>
          <p:nvPr/>
        </p:nvSpPr>
        <p:spPr>
          <a:xfrm>
            <a:off x="323850" y="1268413"/>
            <a:ext cx="3529013" cy="519112"/>
          </a:xfrm>
          <a:prstGeom prst="rect">
            <a:avLst/>
          </a:prstGeom>
          <a:noFill/>
          <a:ln w="9525">
            <a:noFill/>
          </a:ln>
        </p:spPr>
        <p:txBody>
          <a:bodyPr anchor="t" anchorCtr="0">
            <a:spAutoFit/>
          </a:bodyPr>
          <a:p>
            <a:pPr eaLnBrk="0" hangingPunct="0"/>
            <a:r>
              <a:rPr lang="zh-CN" altLang="en-US" sz="2800" dirty="0">
                <a:latin typeface="楷体_GB2312" pitchFamily="49" charset="-122"/>
                <a:ea typeface="楷体_GB2312" pitchFamily="49" charset="-122"/>
              </a:rPr>
              <a:t>七.</a:t>
            </a:r>
            <a:r>
              <a:rPr lang="zh-CN" altLang="en-US" sz="2800" dirty="0">
                <a:solidFill>
                  <a:srgbClr val="FF0000"/>
                </a:solidFill>
                <a:latin typeface="楷体_GB2312" pitchFamily="49" charset="-122"/>
                <a:ea typeface="楷体_GB2312" pitchFamily="49" charset="-122"/>
              </a:rPr>
              <a:t>位寻址方式</a:t>
            </a:r>
            <a:endParaRPr lang="zh-CN" altLang="en-US" sz="2800" dirty="0">
              <a:solidFill>
                <a:srgbClr val="FF0000"/>
              </a:solidFill>
              <a:latin typeface="楷体_GB2312" pitchFamily="49" charset="-122"/>
              <a:ea typeface="楷体_GB2312" pitchFamily="49" charset="-122"/>
            </a:endParaRPr>
          </a:p>
        </p:txBody>
      </p:sp>
      <p:sp>
        <p:nvSpPr>
          <p:cNvPr id="16" name="Rectangle 3"/>
          <p:cNvSpPr/>
          <p:nvPr/>
        </p:nvSpPr>
        <p:spPr>
          <a:xfrm>
            <a:off x="468313" y="1946275"/>
            <a:ext cx="2735262" cy="1944688"/>
          </a:xfrm>
          <a:prstGeom prst="rect">
            <a:avLst/>
          </a:prstGeom>
          <a:noFill/>
          <a:ln w="9525">
            <a:noFill/>
          </a:ln>
        </p:spPr>
        <p:txBody>
          <a:bodyPr anchor="t" anchorCtr="0"/>
          <a:p>
            <a:pPr indent="485775" algn="just" eaLnBrk="0" hangingPunct="0">
              <a:buBlip>
                <a:blip r:embed="rId1"/>
              </a:buBlip>
            </a:pPr>
            <a:r>
              <a:rPr lang="zh-CN" altLang="en-US" dirty="0">
                <a:latin typeface="Times New Roman" panose="02020503050405090304" pitchFamily="18" charset="0"/>
                <a:ea typeface="仿宋_GB2312" pitchFamily="49" charset="-122"/>
              </a:rPr>
              <a:t>寻址位数据</a:t>
            </a:r>
            <a:endParaRPr lang="zh-CN" altLang="en-US" dirty="0">
              <a:latin typeface="Times New Roman" panose="02020503050405090304" pitchFamily="18" charset="0"/>
              <a:ea typeface="仿宋_GB2312" pitchFamily="49" charset="-122"/>
            </a:endParaRPr>
          </a:p>
          <a:p>
            <a:pPr indent="485775" algn="just" eaLnBrk="0" hangingPunct="0">
              <a:buBlip>
                <a:blip r:embed="rId1"/>
              </a:buBlip>
            </a:pPr>
            <a:r>
              <a:rPr lang="zh-CN" altLang="en-US" dirty="0">
                <a:latin typeface="Times New Roman" panose="02020503050405090304" pitchFamily="18" charset="0"/>
                <a:ea typeface="仿宋_GB2312" pitchFamily="49" charset="-122"/>
              </a:rPr>
              <a:t>寻址空间</a:t>
            </a:r>
            <a:endParaRPr lang="zh-CN" altLang="en-US" dirty="0">
              <a:latin typeface="Times New Roman" panose="02020503050405090304" pitchFamily="18" charset="0"/>
              <a:ea typeface="仿宋_GB2312" pitchFamily="49" charset="-122"/>
            </a:endParaRPr>
          </a:p>
          <a:p>
            <a:pPr indent="485775" algn="just" eaLnBrk="0" hangingPunct="0">
              <a:buNone/>
            </a:pPr>
            <a:r>
              <a:rPr lang="zh-CN" altLang="en-US" sz="2000" dirty="0">
                <a:solidFill>
                  <a:srgbClr val="666633"/>
                </a:solidFill>
                <a:latin typeface="Times New Roman" panose="02020503050405090304" pitchFamily="18" charset="0"/>
                <a:ea typeface="仿宋_GB2312" pitchFamily="49" charset="-122"/>
              </a:rPr>
              <a:t>片内</a:t>
            </a:r>
            <a:r>
              <a:rPr lang="en-US" altLang="zh-CN" sz="2000" dirty="0">
                <a:solidFill>
                  <a:srgbClr val="666633"/>
                </a:solidFill>
                <a:latin typeface="Times New Roman" panose="02020503050405090304" pitchFamily="18" charset="0"/>
                <a:ea typeface="仿宋_GB2312" pitchFamily="49" charset="-122"/>
              </a:rPr>
              <a:t>RAM</a:t>
            </a:r>
            <a:r>
              <a:rPr lang="zh-CN" altLang="en-US" sz="2000" dirty="0">
                <a:solidFill>
                  <a:srgbClr val="666633"/>
                </a:solidFill>
                <a:latin typeface="Times New Roman" panose="02020503050405090304" pitchFamily="18" charset="0"/>
                <a:ea typeface="仿宋_GB2312" pitchFamily="49" charset="-122"/>
              </a:rPr>
              <a:t>位空间</a:t>
            </a:r>
            <a:endParaRPr lang="zh-CN" altLang="en-US" sz="2000" dirty="0">
              <a:solidFill>
                <a:srgbClr val="666633"/>
              </a:solidFill>
              <a:latin typeface="Times New Roman" panose="02020503050405090304" pitchFamily="18" charset="0"/>
              <a:ea typeface="仿宋_GB2312" pitchFamily="49" charset="-122"/>
            </a:endParaRPr>
          </a:p>
          <a:p>
            <a:pPr indent="485775" algn="just" eaLnBrk="0" hangingPunct="0">
              <a:buNone/>
            </a:pPr>
            <a:r>
              <a:rPr lang="en-US" altLang="zh-CN" sz="2000" dirty="0">
                <a:solidFill>
                  <a:srgbClr val="666633"/>
                </a:solidFill>
                <a:latin typeface="Times New Roman" panose="02020503050405090304" pitchFamily="18" charset="0"/>
                <a:ea typeface="仿宋_GB2312" pitchFamily="49" charset="-122"/>
              </a:rPr>
              <a:t>SFR</a:t>
            </a:r>
            <a:r>
              <a:rPr lang="zh-CN" altLang="en-US" sz="2000" dirty="0">
                <a:solidFill>
                  <a:srgbClr val="666633"/>
                </a:solidFill>
                <a:latin typeface="Times New Roman" panose="02020503050405090304" pitchFamily="18" charset="0"/>
                <a:ea typeface="仿宋_GB2312" pitchFamily="49" charset="-122"/>
              </a:rPr>
              <a:t>位空间</a:t>
            </a:r>
            <a:endParaRPr lang="zh-CN" altLang="en-US" sz="2000" dirty="0">
              <a:solidFill>
                <a:srgbClr val="666633"/>
              </a:solidFill>
              <a:latin typeface="Times New Roman" panose="02020503050405090304" pitchFamily="18" charset="0"/>
              <a:ea typeface="仿宋_GB2312" pitchFamily="49" charset="-122"/>
            </a:endParaRPr>
          </a:p>
        </p:txBody>
      </p:sp>
      <p:graphicFrame>
        <p:nvGraphicFramePr>
          <p:cNvPr id="17" name="Object 9"/>
          <p:cNvGraphicFramePr/>
          <p:nvPr/>
        </p:nvGraphicFramePr>
        <p:xfrm>
          <a:off x="3203575" y="3028950"/>
          <a:ext cx="5688013" cy="2900363"/>
        </p:xfrm>
        <a:graphic>
          <a:graphicData uri="http://schemas.openxmlformats.org/presentationml/2006/ole">
            <mc:AlternateContent xmlns:mc="http://schemas.openxmlformats.org/markup-compatibility/2006">
              <mc:Choice xmlns:v="urn:schemas-microsoft-com:vml" Requires="v">
                <p:oleObj spid="_x0000_s3086" name="" r:id="rId2" imgW="3138170" imgH="1600200" progId="Visio.Drawing.11">
                  <p:embed/>
                </p:oleObj>
              </mc:Choice>
              <mc:Fallback>
                <p:oleObj name="" r:id="rId2" imgW="3138170" imgH="1600200" progId="Visio.Drawing.11">
                  <p:embed/>
                  <p:pic>
                    <p:nvPicPr>
                      <p:cNvPr id="0" name="Picture 3085"/>
                      <p:cNvPicPr/>
                      <p:nvPr/>
                    </p:nvPicPr>
                    <p:blipFill>
                      <a:blip r:embed="rId3"/>
                      <a:stretch>
                        <a:fillRect/>
                      </a:stretch>
                    </p:blipFill>
                    <p:spPr>
                      <a:xfrm>
                        <a:off x="3203575" y="3028950"/>
                        <a:ext cx="5688013" cy="2900363"/>
                      </a:xfrm>
                      <a:prstGeom prst="rect">
                        <a:avLst/>
                      </a:prstGeom>
                      <a:noFill/>
                      <a:ln w="38100">
                        <a:noFill/>
                        <a:miter/>
                      </a:ln>
                    </p:spPr>
                  </p:pic>
                </p:oleObj>
              </mc:Fallback>
            </mc:AlternateContent>
          </a:graphicData>
        </a:graphic>
      </p:graphicFrame>
      <p:sp>
        <p:nvSpPr>
          <p:cNvPr id="18" name="Rectangle 11"/>
          <p:cNvSpPr/>
          <p:nvPr/>
        </p:nvSpPr>
        <p:spPr>
          <a:xfrm>
            <a:off x="3203575" y="1606550"/>
            <a:ext cx="5724525" cy="822325"/>
          </a:xfrm>
          <a:prstGeom prst="rect">
            <a:avLst/>
          </a:prstGeom>
          <a:noFill/>
          <a:ln w="9525">
            <a:noFill/>
          </a:ln>
        </p:spPr>
        <p:txBody>
          <a:bodyPr anchor="ctr" anchorCtr="0">
            <a:spAutoFit/>
          </a:bodyPr>
          <a:p>
            <a:pPr eaLnBrk="0" hangingPunct="0">
              <a:buClrTx/>
              <a:buFontTx/>
            </a:pPr>
            <a:r>
              <a:rPr lang="en-US" altLang="zh-CN" dirty="0">
                <a:latin typeface="Times New Roman" panose="02020503050405090304" pitchFamily="18" charset="0"/>
                <a:ea typeface="仿宋_GB2312" pitchFamily="49" charset="-122"/>
              </a:rPr>
              <a:t>【</a:t>
            </a:r>
            <a:r>
              <a:rPr lang="zh-CN" altLang="en-US" dirty="0">
                <a:latin typeface="Times New Roman" panose="02020503050405090304" pitchFamily="18" charset="0"/>
                <a:ea typeface="仿宋_GB2312" pitchFamily="49" charset="-122"/>
              </a:rPr>
              <a:t>例</a:t>
            </a:r>
            <a:r>
              <a:rPr lang="en-US" altLang="zh-CN" dirty="0">
                <a:latin typeface="Times New Roman" panose="02020503050405090304" pitchFamily="18" charset="0"/>
                <a:ea typeface="仿宋_GB2312" pitchFamily="49" charset="-122"/>
              </a:rPr>
              <a:t>】</a:t>
            </a:r>
            <a:r>
              <a:rPr lang="zh-CN" altLang="en-US" dirty="0">
                <a:latin typeface="Times New Roman" panose="02020503050405090304" pitchFamily="18" charset="0"/>
                <a:ea typeface="仿宋_GB2312" pitchFamily="49" charset="-122"/>
              </a:rPr>
              <a:t>位地址</a:t>
            </a:r>
            <a:r>
              <a:rPr lang="en-US" altLang="zh-CN" dirty="0">
                <a:latin typeface="Times New Roman" panose="02020503050405090304" pitchFamily="18" charset="0"/>
                <a:ea typeface="仿宋_GB2312" pitchFamily="49" charset="-122"/>
              </a:rPr>
              <a:t>00H</a:t>
            </a:r>
            <a:r>
              <a:rPr lang="zh-CN" altLang="en-US" dirty="0">
                <a:latin typeface="Times New Roman" panose="02020503050405090304" pitchFamily="18" charset="0"/>
                <a:ea typeface="仿宋_GB2312" pitchFamily="49" charset="-122"/>
              </a:rPr>
              <a:t>内容为</a:t>
            </a:r>
            <a:r>
              <a:rPr lang="en-US" altLang="zh-CN" dirty="0">
                <a:latin typeface="Times New Roman" panose="02020503050405090304" pitchFamily="18" charset="0"/>
                <a:ea typeface="仿宋_GB2312" pitchFamily="49" charset="-122"/>
              </a:rPr>
              <a:t>1</a:t>
            </a:r>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MOV  C</a:t>
            </a:r>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00H</a:t>
            </a:r>
            <a:r>
              <a:rPr lang="zh-CN" altLang="en-US" dirty="0">
                <a:latin typeface="Times New Roman" panose="02020503050405090304" pitchFamily="18" charset="0"/>
                <a:ea typeface="仿宋_GB2312" pitchFamily="49" charset="-122"/>
              </a:rPr>
              <a:t>执行后，位地址</a:t>
            </a:r>
            <a:r>
              <a:rPr lang="en-US" altLang="zh-CN" dirty="0">
                <a:latin typeface="Times New Roman" panose="02020503050405090304" pitchFamily="18" charset="0"/>
                <a:ea typeface="仿宋_GB2312" pitchFamily="49" charset="-122"/>
              </a:rPr>
              <a:t>PSW.7</a:t>
            </a:r>
            <a:r>
              <a:rPr lang="zh-CN" altLang="en-US" dirty="0">
                <a:latin typeface="Times New Roman" panose="02020503050405090304" pitchFamily="18" charset="0"/>
                <a:ea typeface="仿宋_GB2312" pitchFamily="49" charset="-122"/>
              </a:rPr>
              <a:t>的内容为</a:t>
            </a:r>
            <a:r>
              <a:rPr lang="en-US" altLang="zh-CN" dirty="0">
                <a:latin typeface="Times New Roman" panose="02020503050405090304" pitchFamily="18" charset="0"/>
                <a:ea typeface="仿宋_GB2312" pitchFamily="49" charset="-122"/>
              </a:rPr>
              <a:t>1</a:t>
            </a:r>
            <a:r>
              <a:rPr lang="zh-CN" altLang="en-US" dirty="0">
                <a:latin typeface="Times New Roman" panose="02020503050405090304" pitchFamily="18" charset="0"/>
                <a:ea typeface="仿宋_GB2312" pitchFamily="49" charset="-122"/>
              </a:rPr>
              <a:t>。</a:t>
            </a:r>
            <a:endParaRPr lang="zh-CN" altLang="en-US" dirty="0">
              <a:latin typeface="Times New Roman" panose="02020503050405090304" pitchFamily="18" charset="0"/>
              <a:ea typeface="仿宋_GB2312" pitchFamily="49" charset="-122"/>
            </a:endParaRPr>
          </a:p>
        </p:txBody>
      </p:sp>
      <p:sp>
        <p:nvSpPr>
          <p:cNvPr id="19" name="Rectangle 12"/>
          <p:cNvSpPr/>
          <p:nvPr/>
        </p:nvSpPr>
        <p:spPr>
          <a:xfrm>
            <a:off x="539750" y="3643313"/>
            <a:ext cx="2160588" cy="1295400"/>
          </a:xfrm>
          <a:prstGeom prst="rect">
            <a:avLst/>
          </a:prstGeom>
          <a:noFill/>
          <a:ln w="9525">
            <a:noFill/>
          </a:ln>
        </p:spPr>
        <p:txBody>
          <a:bodyPr anchor="t" anchorCtr="0"/>
          <a:p>
            <a:pPr algn="just" eaLnBrk="0" hangingPunct="0"/>
            <a:r>
              <a:rPr lang="zh-CN" altLang="en-US" dirty="0">
                <a:solidFill>
                  <a:srgbClr val="0A10F8"/>
                </a:solidFill>
                <a:latin typeface="Times New Roman" panose="02020503050405090304" pitchFamily="18" charset="0"/>
                <a:ea typeface="仿宋_GB2312" pitchFamily="49" charset="-122"/>
              </a:rPr>
              <a:t>位寻址方式实质属于</a:t>
            </a:r>
            <a:r>
              <a:rPr lang="zh-CN" altLang="en-US" dirty="0">
                <a:latin typeface="Times New Roman" panose="02020503050405090304" pitchFamily="18" charset="0"/>
                <a:ea typeface="仿宋_GB2312" pitchFamily="49" charset="-122"/>
              </a:rPr>
              <a:t>位的直接寻址</a:t>
            </a:r>
            <a:r>
              <a:rPr lang="zh-CN" altLang="en-US" dirty="0">
                <a:solidFill>
                  <a:srgbClr val="0A10F8"/>
                </a:solidFill>
                <a:latin typeface="Times New Roman" panose="02020503050405090304" pitchFamily="18" charset="0"/>
                <a:ea typeface="仿宋_GB2312" pitchFamily="49" charset="-122"/>
              </a:rPr>
              <a:t>。</a:t>
            </a:r>
            <a:r>
              <a:rPr lang="en-US" altLang="zh-CN" dirty="0">
                <a:solidFill>
                  <a:srgbClr val="0A10F8"/>
                </a:solidFill>
                <a:latin typeface="Times New Roman" panose="02020503050405090304" pitchFamily="18" charset="0"/>
                <a:ea typeface="仿宋_GB2312" pitchFamily="49" charset="-122"/>
              </a:rPr>
              <a:t> </a:t>
            </a:r>
            <a:endParaRPr lang="en-US" altLang="zh-CN" dirty="0">
              <a:solidFill>
                <a:srgbClr val="0A10F8"/>
              </a:solidFill>
              <a:latin typeface="Times New Roman" panose="02020503050405090304" pitchFamily="18" charset="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fill="hold"/>
                                        <p:tgtEl>
                                          <p:spTgt spid="18"/>
                                        </p:tgtEl>
                                        <p:attrNameLst>
                                          <p:attrName>ppt_x</p:attrName>
                                        </p:attrNameLst>
                                      </p:cBhvr>
                                      <p:tavLst>
                                        <p:tav tm="0">
                                          <p:val>
                                            <p:strVal val="#ppt_x"/>
                                          </p:val>
                                        </p:tav>
                                        <p:tav tm="100000">
                                          <p:val>
                                            <p:strVal val="#ppt_x"/>
                                          </p:val>
                                        </p:tav>
                                      </p:tavLst>
                                    </p:anim>
                                    <p:anim calcmode="lin" valueType="num">
                                      <p:cBhvr additive="base">
                                        <p:cTn id="14" dur="500" fill="hold"/>
                                        <p:tgtEl>
                                          <p:spTgt spid="18"/>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fill="hold"/>
                                        <p:tgtEl>
                                          <p:spTgt spid="17"/>
                                        </p:tgtEl>
                                        <p:attrNameLst>
                                          <p:attrName>ppt_x</p:attrName>
                                        </p:attrNameLst>
                                      </p:cBhvr>
                                      <p:tavLst>
                                        <p:tav tm="0">
                                          <p:val>
                                            <p:strVal val="#ppt_x"/>
                                          </p:val>
                                        </p:tav>
                                        <p:tav tm="100000">
                                          <p:val>
                                            <p:strVal val="#ppt_x"/>
                                          </p:val>
                                        </p:tav>
                                      </p:tavLst>
                                    </p:anim>
                                    <p:anim calcmode="lin" valueType="num">
                                      <p:cBhvr additive="base">
                                        <p:cTn id="1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 calcmode="lin" valueType="num">
                                      <p:cBhvr additive="base">
                                        <p:cTn id="23" dur="500" fill="hold"/>
                                        <p:tgtEl>
                                          <p:spTgt spid="19"/>
                                        </p:tgtEl>
                                        <p:attrNameLst>
                                          <p:attrName>ppt_x</p:attrName>
                                        </p:attrNameLst>
                                      </p:cBhvr>
                                      <p:tavLst>
                                        <p:tav tm="0">
                                          <p:val>
                                            <p:strVal val="#ppt_x"/>
                                          </p:val>
                                        </p:tav>
                                        <p:tav tm="100000">
                                          <p:val>
                                            <p:strVal val="#ppt_x"/>
                                          </p:val>
                                        </p:tav>
                                      </p:tavLst>
                                    </p:anim>
                                    <p:anim calcmode="lin" valueType="num">
                                      <p:cBhvr additive="base">
                                        <p:cTn id="2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Rectangle 2"/>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8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4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7891" name="Rectangle 3"/>
          <p:cNvSpPr>
            <a:spLocks noGrp="1"/>
          </p:cNvSpPr>
          <p:nvPr>
            <p:ph type="body" idx="4294967295"/>
          </p:nvPr>
        </p:nvSpPr>
        <p:spPr>
          <a:xfrm>
            <a:off x="228600" y="1412875"/>
            <a:ext cx="8763000" cy="4987925"/>
          </a:xfrm>
        </p:spPr>
        <p:txBody>
          <a:bodyPr vert="horz" wrap="square" lIns="91440" tIns="45720" rIns="91440" bIns="45720" anchor="t" anchorCtr="0"/>
          <a:p>
            <a:pPr>
              <a:buNone/>
            </a:pPr>
            <a:r>
              <a:rPr lang="zh-CN" altLang="en-US" sz="2000" b="0" dirty="0">
                <a:solidFill>
                  <a:srgbClr val="0000FF"/>
                </a:solidFill>
                <a:latin typeface="黑体" panose="02010609060101010101" pitchFamily="49" charset="-122"/>
                <a:ea typeface="黑体" panose="02010609060101010101" pitchFamily="49" charset="-122"/>
              </a:rPr>
              <a:t>寻址范围包括：</a:t>
            </a:r>
            <a:endParaRPr lang="zh-CN" altLang="en-US" sz="2000" b="0" dirty="0">
              <a:solidFill>
                <a:srgbClr val="0000FF"/>
              </a:solidFill>
              <a:latin typeface="黑体" panose="02010609060101010101" pitchFamily="49" charset="-122"/>
              <a:ea typeface="黑体" panose="02010609060101010101" pitchFamily="49" charset="-122"/>
            </a:endParaRPr>
          </a:p>
          <a:p>
            <a:pPr>
              <a:buNone/>
            </a:pPr>
            <a:r>
              <a:rPr lang="zh-CN" altLang="en-US" sz="2000" b="0" dirty="0">
                <a:solidFill>
                  <a:srgbClr val="FF0000"/>
                </a:solidFill>
                <a:latin typeface="黑体" panose="02010609060101010101" pitchFamily="49" charset="-122"/>
                <a:ea typeface="黑体" panose="02010609060101010101" pitchFamily="49" charset="-122"/>
              </a:rPr>
              <a:t>（</a:t>
            </a:r>
            <a:r>
              <a:rPr lang="en-US" altLang="zh-CN" sz="2000" b="0" dirty="0">
                <a:solidFill>
                  <a:srgbClr val="FF0000"/>
                </a:solidFill>
                <a:latin typeface="黑体" panose="02010609060101010101" pitchFamily="49" charset="-122"/>
                <a:ea typeface="黑体" panose="02010609060101010101" pitchFamily="49" charset="-122"/>
              </a:rPr>
              <a:t>1</a:t>
            </a:r>
            <a:r>
              <a:rPr lang="zh-CN" altLang="en-US" sz="2000" b="0" dirty="0">
                <a:solidFill>
                  <a:srgbClr val="FF0000"/>
                </a:solidFill>
                <a:latin typeface="黑体" panose="02010609060101010101" pitchFamily="49" charset="-122"/>
                <a:ea typeface="黑体" panose="02010609060101010101" pitchFamily="49" charset="-122"/>
              </a:rPr>
              <a:t>）内部</a:t>
            </a:r>
            <a:r>
              <a:rPr lang="en-US" altLang="zh-CN" sz="2000" b="0" dirty="0">
                <a:solidFill>
                  <a:srgbClr val="FF0000"/>
                </a:solidFill>
                <a:latin typeface="黑体" panose="02010609060101010101" pitchFamily="49" charset="-122"/>
                <a:ea typeface="黑体" panose="02010609060101010101" pitchFamily="49" charset="-122"/>
              </a:rPr>
              <a:t>RAM</a:t>
            </a:r>
            <a:r>
              <a:rPr lang="zh-CN" altLang="en-US" sz="2000" b="0" dirty="0">
                <a:solidFill>
                  <a:srgbClr val="FF0000"/>
                </a:solidFill>
                <a:latin typeface="黑体" panose="02010609060101010101" pitchFamily="49" charset="-122"/>
                <a:ea typeface="黑体" panose="02010609060101010101" pitchFamily="49" charset="-122"/>
              </a:rPr>
              <a:t>中的位寻址区</a:t>
            </a:r>
            <a:r>
              <a:rPr lang="zh-CN" altLang="en-US" sz="2000" b="0" dirty="0">
                <a:solidFill>
                  <a:schemeClr val="tx2"/>
                </a:solidFill>
                <a:latin typeface="黑体" panose="02010609060101010101" pitchFamily="49" charset="-122"/>
                <a:ea typeface="黑体" panose="02010609060101010101" pitchFamily="49" charset="-122"/>
              </a:rPr>
              <a:t>。</a:t>
            </a:r>
            <a:endParaRPr lang="zh-CN" altLang="en-US" sz="2000" b="0" dirty="0">
              <a:solidFill>
                <a:schemeClr val="tx2"/>
              </a:solidFill>
              <a:latin typeface="黑体" panose="02010609060101010101" pitchFamily="49" charset="-122"/>
              <a:ea typeface="黑体" panose="02010609060101010101" pitchFamily="49" charset="-122"/>
            </a:endParaRPr>
          </a:p>
          <a:p>
            <a:pPr>
              <a:buNone/>
            </a:pPr>
            <a:r>
              <a:rPr lang="zh-CN" altLang="en-US" sz="2000" b="0" dirty="0">
                <a:solidFill>
                  <a:schemeClr val="hlink"/>
                </a:solidFill>
                <a:latin typeface="黑体" panose="02010609060101010101" pitchFamily="49" charset="-122"/>
                <a:ea typeface="黑体" panose="02010609060101010101" pitchFamily="49" charset="-122"/>
              </a:rPr>
              <a:t>     位有两种</a:t>
            </a:r>
            <a:r>
              <a:rPr lang="zh-CN" altLang="en-US" sz="2000" b="0" dirty="0">
                <a:solidFill>
                  <a:srgbClr val="FF0000"/>
                </a:solidFill>
                <a:latin typeface="黑体" panose="02010609060101010101" pitchFamily="49" charset="-122"/>
                <a:ea typeface="黑体" panose="02010609060101010101" pitchFamily="49" charset="-122"/>
              </a:rPr>
              <a:t>等价</a:t>
            </a:r>
            <a:r>
              <a:rPr lang="zh-CN" altLang="en-US" sz="2000" b="0" dirty="0">
                <a:solidFill>
                  <a:srgbClr val="0000FF"/>
                </a:solidFill>
                <a:latin typeface="黑体" panose="02010609060101010101" pitchFamily="49" charset="-122"/>
                <a:ea typeface="黑体" panose="02010609060101010101" pitchFamily="49" charset="-122"/>
              </a:rPr>
              <a:t>的</a:t>
            </a:r>
            <a:r>
              <a:rPr lang="zh-CN" altLang="en-US" sz="2000" b="0" dirty="0">
                <a:solidFill>
                  <a:schemeClr val="hlink"/>
                </a:solidFill>
                <a:latin typeface="黑体" panose="02010609060101010101" pitchFamily="49" charset="-122"/>
                <a:ea typeface="黑体" panose="02010609060101010101" pitchFamily="49" charset="-122"/>
              </a:rPr>
              <a:t>表示方法：</a:t>
            </a:r>
            <a:endParaRPr lang="zh-CN" altLang="en-US" sz="2000" b="0" dirty="0">
              <a:solidFill>
                <a:schemeClr val="hlink"/>
              </a:solidFill>
              <a:latin typeface="黑体" panose="02010609060101010101" pitchFamily="49" charset="-122"/>
              <a:ea typeface="黑体" panose="02010609060101010101" pitchFamily="49" charset="-122"/>
            </a:endParaRPr>
          </a:p>
          <a:p>
            <a:pPr>
              <a:buNone/>
            </a:pPr>
            <a:r>
              <a:rPr lang="en-US" altLang="zh-CN" sz="2000" b="0" dirty="0">
                <a:solidFill>
                  <a:schemeClr val="tx2"/>
                </a:solidFill>
                <a:latin typeface="黑体" panose="02010609060101010101" pitchFamily="49" charset="-122"/>
                <a:ea typeface="黑体" panose="02010609060101010101" pitchFamily="49" charset="-122"/>
              </a:rPr>
              <a:t>           (1)</a:t>
            </a:r>
            <a:r>
              <a:rPr lang="zh-CN" altLang="en-US" sz="2000" b="0" dirty="0">
                <a:solidFill>
                  <a:schemeClr val="tx2"/>
                </a:solidFill>
                <a:latin typeface="黑体" panose="02010609060101010101" pitchFamily="49" charset="-122"/>
                <a:ea typeface="黑体" panose="02010609060101010101" pitchFamily="49" charset="-122"/>
              </a:rPr>
              <a:t>直接就是位地址，如 </a:t>
            </a:r>
            <a:r>
              <a:rPr lang="en-US" altLang="zh-CN" sz="2000" b="0" dirty="0">
                <a:solidFill>
                  <a:srgbClr val="0000FF"/>
                </a:solidFill>
                <a:latin typeface="黑体" panose="02010609060101010101" pitchFamily="49" charset="-122"/>
                <a:ea typeface="黑体" panose="02010609060101010101" pitchFamily="49" charset="-122"/>
              </a:rPr>
              <a:t>40H</a:t>
            </a:r>
            <a:r>
              <a:rPr lang="zh-CN" altLang="en-US" sz="2000" b="0" dirty="0">
                <a:solidFill>
                  <a:schemeClr val="tx2"/>
                </a:solidFill>
                <a:latin typeface="黑体" panose="02010609060101010101" pitchFamily="49" charset="-122"/>
                <a:ea typeface="黑体" panose="02010609060101010101" pitchFamily="49" charset="-122"/>
              </a:rPr>
              <a:t>；</a:t>
            </a:r>
            <a:endParaRPr lang="zh-CN" altLang="en-US" sz="2000" b="0" dirty="0">
              <a:solidFill>
                <a:schemeClr val="tx2"/>
              </a:solidFill>
              <a:latin typeface="黑体" panose="02010609060101010101" pitchFamily="49" charset="-122"/>
              <a:ea typeface="黑体" panose="02010609060101010101" pitchFamily="49" charset="-122"/>
            </a:endParaRPr>
          </a:p>
          <a:p>
            <a:pPr>
              <a:buNone/>
            </a:pPr>
            <a:r>
              <a:rPr lang="en-US" altLang="zh-CN" sz="2000" b="0" dirty="0">
                <a:solidFill>
                  <a:schemeClr val="tx2"/>
                </a:solidFill>
                <a:latin typeface="黑体" panose="02010609060101010101" pitchFamily="49" charset="-122"/>
                <a:ea typeface="黑体" panose="02010609060101010101" pitchFamily="49" charset="-122"/>
              </a:rPr>
              <a:t>           (2)</a:t>
            </a:r>
            <a:r>
              <a:rPr lang="zh-CN" altLang="en-US" sz="2000" b="0" dirty="0">
                <a:solidFill>
                  <a:schemeClr val="tx2"/>
                </a:solidFill>
                <a:latin typeface="黑体" panose="02010609060101010101" pitchFamily="49" charset="-122"/>
                <a:ea typeface="黑体" panose="02010609060101010101" pitchFamily="49" charset="-122"/>
              </a:rPr>
              <a:t>另一种 </a:t>
            </a:r>
            <a:r>
              <a:rPr lang="en-US" altLang="zh-CN" sz="2000" b="0" dirty="0">
                <a:solidFill>
                  <a:srgbClr val="0000FF"/>
                </a:solidFill>
                <a:latin typeface="黑体" panose="02010609060101010101" pitchFamily="49" charset="-122"/>
                <a:ea typeface="黑体" panose="02010609060101010101" pitchFamily="49" charset="-122"/>
              </a:rPr>
              <a:t>(28H).0</a:t>
            </a:r>
            <a:r>
              <a:rPr lang="zh-CN" altLang="en-US" sz="2000" b="0" dirty="0">
                <a:solidFill>
                  <a:schemeClr val="tx2"/>
                </a:solidFill>
                <a:latin typeface="黑体" panose="02010609060101010101" pitchFamily="49" charset="-122"/>
                <a:ea typeface="黑体" panose="02010609060101010101" pitchFamily="49" charset="-122"/>
              </a:rPr>
              <a:t>，是</a:t>
            </a:r>
            <a:r>
              <a:rPr lang="en-US" altLang="zh-CN" sz="2000" b="0" dirty="0">
                <a:solidFill>
                  <a:schemeClr val="tx2"/>
                </a:solidFill>
                <a:latin typeface="黑体" panose="02010609060101010101" pitchFamily="49" charset="-122"/>
                <a:ea typeface="黑体" panose="02010609060101010101" pitchFamily="49" charset="-122"/>
              </a:rPr>
              <a:t>28H</a:t>
            </a:r>
            <a:r>
              <a:rPr lang="zh-CN" altLang="en-US" sz="2000" b="0" dirty="0">
                <a:solidFill>
                  <a:schemeClr val="tx2"/>
                </a:solidFill>
                <a:latin typeface="黑体" panose="02010609060101010101" pitchFamily="49" charset="-122"/>
                <a:ea typeface="黑体" panose="02010609060101010101" pitchFamily="49" charset="-122"/>
              </a:rPr>
              <a:t>单元中的最低位。</a:t>
            </a:r>
            <a:endParaRPr lang="zh-CN" altLang="en-US" sz="2000" b="0" dirty="0">
              <a:solidFill>
                <a:schemeClr val="tx2"/>
              </a:solidFill>
              <a:latin typeface="黑体" panose="02010609060101010101" pitchFamily="49" charset="-122"/>
              <a:ea typeface="黑体" panose="02010609060101010101" pitchFamily="49" charset="-122"/>
            </a:endParaRPr>
          </a:p>
          <a:p>
            <a:pPr>
              <a:buNone/>
            </a:pPr>
            <a:r>
              <a:rPr lang="zh-CN" altLang="en-US" sz="2000" b="0" dirty="0">
                <a:solidFill>
                  <a:srgbClr val="FF0000"/>
                </a:solidFill>
                <a:latin typeface="黑体" panose="02010609060101010101" pitchFamily="49" charset="-122"/>
                <a:ea typeface="黑体" panose="02010609060101010101" pitchFamily="49" charset="-122"/>
              </a:rPr>
              <a:t>（</a:t>
            </a:r>
            <a:r>
              <a:rPr lang="en-US" altLang="zh-CN" sz="2000" b="0" dirty="0">
                <a:solidFill>
                  <a:srgbClr val="FF0000"/>
                </a:solidFill>
                <a:latin typeface="黑体" panose="02010609060101010101" pitchFamily="49" charset="-122"/>
                <a:ea typeface="黑体" panose="02010609060101010101" pitchFamily="49" charset="-122"/>
              </a:rPr>
              <a:t>2</a:t>
            </a:r>
            <a:r>
              <a:rPr lang="zh-CN" altLang="en-US" sz="2000" b="0" dirty="0">
                <a:solidFill>
                  <a:srgbClr val="FF0000"/>
                </a:solidFill>
                <a:latin typeface="黑体" panose="02010609060101010101" pitchFamily="49" charset="-122"/>
                <a:ea typeface="黑体" panose="02010609060101010101" pitchFamily="49" charset="-122"/>
              </a:rPr>
              <a:t>）特殊功能寄存器中的可寻址位</a:t>
            </a:r>
            <a:r>
              <a:rPr lang="zh-CN" altLang="en-US" sz="2000" b="0" dirty="0">
                <a:solidFill>
                  <a:schemeClr val="tx2"/>
                </a:solidFill>
                <a:latin typeface="黑体" panose="02010609060101010101" pitchFamily="49" charset="-122"/>
                <a:ea typeface="黑体" panose="02010609060101010101" pitchFamily="49" charset="-122"/>
              </a:rPr>
              <a:t> </a:t>
            </a:r>
            <a:endParaRPr lang="zh-CN" altLang="en-US" sz="2000" b="0" dirty="0">
              <a:solidFill>
                <a:schemeClr val="tx2"/>
              </a:solidFill>
              <a:latin typeface="黑体" panose="02010609060101010101" pitchFamily="49" charset="-122"/>
              <a:ea typeface="黑体" panose="02010609060101010101" pitchFamily="49" charset="-122"/>
            </a:endParaRPr>
          </a:p>
          <a:p>
            <a:pPr lvl="2" indent="4445" algn="just" fontAlgn="b">
              <a:lnSpc>
                <a:spcPct val="130000"/>
              </a:lnSpc>
              <a:buNone/>
            </a:pPr>
            <a:r>
              <a:rPr lang="zh-CN" altLang="en-US" b="0" dirty="0">
                <a:solidFill>
                  <a:schemeClr val="hlink"/>
                </a:solidFill>
                <a:latin typeface="黑体" panose="02010609060101010101" pitchFamily="49" charset="-122"/>
                <a:ea typeface="黑体" panose="02010609060101010101" pitchFamily="49" charset="-122"/>
              </a:rPr>
              <a:t>在指令中有</a:t>
            </a:r>
            <a:r>
              <a:rPr lang="en-US" altLang="zh-CN" b="0" dirty="0">
                <a:solidFill>
                  <a:srgbClr val="FF0000"/>
                </a:solidFill>
                <a:latin typeface="黑体" panose="02010609060101010101" pitchFamily="49" charset="-122"/>
                <a:ea typeface="黑体" panose="02010609060101010101" pitchFamily="49" charset="-122"/>
              </a:rPr>
              <a:t>4</a:t>
            </a:r>
            <a:r>
              <a:rPr lang="zh-CN" altLang="en-US" b="0" dirty="0">
                <a:solidFill>
                  <a:srgbClr val="FF0000"/>
                </a:solidFill>
                <a:latin typeface="黑体" panose="02010609060101010101" pitchFamily="49" charset="-122"/>
                <a:ea typeface="黑体" panose="02010609060101010101" pitchFamily="49" charset="-122"/>
              </a:rPr>
              <a:t>种</a:t>
            </a:r>
            <a:r>
              <a:rPr lang="zh-CN" altLang="en-US" b="0" dirty="0">
                <a:solidFill>
                  <a:schemeClr val="hlink"/>
                </a:solidFill>
                <a:latin typeface="黑体" panose="02010609060101010101" pitchFamily="49" charset="-122"/>
                <a:ea typeface="黑体" panose="02010609060101010101" pitchFamily="49" charset="-122"/>
              </a:rPr>
              <a:t>表示方法：</a:t>
            </a:r>
            <a:endParaRPr lang="zh-CN" altLang="en-US" b="0" dirty="0">
              <a:solidFill>
                <a:schemeClr val="hlink"/>
              </a:solidFill>
              <a:latin typeface="黑体" panose="02010609060101010101" pitchFamily="49" charset="-122"/>
              <a:ea typeface="黑体" panose="02010609060101010101" pitchFamily="49" charset="-122"/>
            </a:endParaRPr>
          </a:p>
          <a:p>
            <a:pPr lvl="2" indent="4445">
              <a:lnSpc>
                <a:spcPct val="130000"/>
              </a:lnSpc>
              <a:buNone/>
            </a:pPr>
            <a:r>
              <a:rPr lang="en-US" altLang="zh-CN" b="0" dirty="0">
                <a:solidFill>
                  <a:schemeClr val="hlink"/>
                </a:solidFill>
                <a:latin typeface="黑体" panose="02010609060101010101" pitchFamily="49" charset="-122"/>
                <a:ea typeface="黑体" panose="02010609060101010101" pitchFamily="49" charset="-122"/>
              </a:rPr>
              <a:t>a. </a:t>
            </a:r>
            <a:r>
              <a:rPr lang="zh-CN" altLang="en-US" b="0" dirty="0">
                <a:solidFill>
                  <a:schemeClr val="hlink"/>
                </a:solidFill>
                <a:latin typeface="黑体" panose="02010609060101010101" pitchFamily="49" charset="-122"/>
                <a:ea typeface="黑体" panose="02010609060101010101" pitchFamily="49" charset="-122"/>
              </a:rPr>
              <a:t>直接使用位地址</a:t>
            </a:r>
            <a:r>
              <a:rPr lang="zh-CN" altLang="en-US" b="0" dirty="0">
                <a:solidFill>
                  <a:schemeClr val="tx2"/>
                </a:solidFill>
                <a:latin typeface="黑体" panose="02010609060101010101" pitchFamily="49" charset="-122"/>
                <a:ea typeface="黑体" panose="02010609060101010101" pitchFamily="49" charset="-122"/>
              </a:rPr>
              <a:t>。例如</a:t>
            </a:r>
            <a:r>
              <a:rPr lang="en-US" altLang="zh-CN" b="0" dirty="0">
                <a:solidFill>
                  <a:srgbClr val="FF3399"/>
                </a:solidFill>
                <a:latin typeface="黑体" panose="02010609060101010101" pitchFamily="49" charset="-122"/>
                <a:ea typeface="黑体" panose="02010609060101010101" pitchFamily="49" charset="-122"/>
              </a:rPr>
              <a:t>PSW.5</a:t>
            </a:r>
            <a:r>
              <a:rPr lang="zh-CN" altLang="en-US" b="0" dirty="0">
                <a:solidFill>
                  <a:srgbClr val="FF3399"/>
                </a:solidFill>
                <a:latin typeface="黑体" panose="02010609060101010101" pitchFamily="49" charset="-122"/>
                <a:ea typeface="黑体" panose="02010609060101010101" pitchFamily="49" charset="-122"/>
              </a:rPr>
              <a:t>的位地址为</a:t>
            </a:r>
            <a:r>
              <a:rPr lang="en-US" altLang="zh-CN" b="0" dirty="0">
                <a:solidFill>
                  <a:srgbClr val="0000FF"/>
                </a:solidFill>
                <a:latin typeface="黑体" panose="02010609060101010101" pitchFamily="49" charset="-122"/>
                <a:ea typeface="黑体" panose="02010609060101010101" pitchFamily="49" charset="-122"/>
              </a:rPr>
              <a:t>D5H</a:t>
            </a:r>
            <a:r>
              <a:rPr lang="zh-CN" altLang="en-US" b="0" dirty="0">
                <a:solidFill>
                  <a:srgbClr val="FF3399"/>
                </a:solidFill>
                <a:latin typeface="黑体" panose="02010609060101010101" pitchFamily="49" charset="-122"/>
                <a:ea typeface="黑体" panose="02010609060101010101" pitchFamily="49" charset="-122"/>
              </a:rPr>
              <a:t>。</a:t>
            </a:r>
            <a:endParaRPr lang="zh-CN" altLang="en-US" b="0" dirty="0">
              <a:solidFill>
                <a:srgbClr val="FF3399"/>
              </a:solidFill>
              <a:latin typeface="黑体" panose="02010609060101010101" pitchFamily="49" charset="-122"/>
              <a:ea typeface="黑体" panose="02010609060101010101" pitchFamily="49" charset="-122"/>
            </a:endParaRPr>
          </a:p>
          <a:p>
            <a:pPr lvl="2" indent="4445" algn="just" fontAlgn="b">
              <a:lnSpc>
                <a:spcPct val="130000"/>
              </a:lnSpc>
              <a:buNone/>
            </a:pPr>
            <a:r>
              <a:rPr lang="en-US" altLang="zh-CN" b="0" dirty="0">
                <a:solidFill>
                  <a:schemeClr val="hlink"/>
                </a:solidFill>
                <a:latin typeface="黑体" panose="02010609060101010101" pitchFamily="49" charset="-122"/>
                <a:ea typeface="黑体" panose="02010609060101010101" pitchFamily="49" charset="-122"/>
              </a:rPr>
              <a:t>b. </a:t>
            </a:r>
            <a:r>
              <a:rPr lang="zh-CN" altLang="en-US" b="0" dirty="0">
                <a:solidFill>
                  <a:schemeClr val="hlink"/>
                </a:solidFill>
                <a:latin typeface="黑体" panose="02010609060101010101" pitchFamily="49" charset="-122"/>
                <a:ea typeface="黑体" panose="02010609060101010101" pitchFamily="49" charset="-122"/>
              </a:rPr>
              <a:t>位名称的表示</a:t>
            </a:r>
            <a:r>
              <a:rPr lang="zh-CN" altLang="en-US" b="0" dirty="0">
                <a:solidFill>
                  <a:schemeClr val="tx2"/>
                </a:solidFill>
                <a:latin typeface="黑体" panose="02010609060101010101" pitchFamily="49" charset="-122"/>
                <a:ea typeface="黑体" panose="02010609060101010101" pitchFamily="49" charset="-122"/>
              </a:rPr>
              <a:t>方法。如：</a:t>
            </a:r>
            <a:r>
              <a:rPr lang="en-US" altLang="zh-CN" b="0" dirty="0">
                <a:solidFill>
                  <a:schemeClr val="tx2"/>
                </a:solidFill>
                <a:latin typeface="黑体" panose="02010609060101010101" pitchFamily="49" charset="-122"/>
                <a:ea typeface="黑体" panose="02010609060101010101" pitchFamily="49" charset="-122"/>
              </a:rPr>
              <a:t>PSW.5</a:t>
            </a:r>
            <a:r>
              <a:rPr lang="zh-CN" altLang="en-US" b="0" dirty="0">
                <a:solidFill>
                  <a:schemeClr val="tx2"/>
                </a:solidFill>
                <a:latin typeface="黑体" panose="02010609060101010101" pitchFamily="49" charset="-122"/>
                <a:ea typeface="黑体" panose="02010609060101010101" pitchFamily="49" charset="-122"/>
              </a:rPr>
              <a:t>是</a:t>
            </a:r>
            <a:r>
              <a:rPr lang="en-US" altLang="zh-CN" b="0" dirty="0">
                <a:solidFill>
                  <a:schemeClr val="tx2"/>
                </a:solidFill>
                <a:latin typeface="黑体" panose="02010609060101010101" pitchFamily="49" charset="-122"/>
                <a:ea typeface="黑体" panose="02010609060101010101" pitchFamily="49" charset="-122"/>
              </a:rPr>
              <a:t>F0</a:t>
            </a:r>
            <a:r>
              <a:rPr lang="zh-CN" altLang="en-US" b="0" dirty="0">
                <a:solidFill>
                  <a:schemeClr val="tx2"/>
                </a:solidFill>
                <a:latin typeface="黑体" panose="02010609060101010101" pitchFamily="49" charset="-122"/>
                <a:ea typeface="黑体" panose="02010609060101010101" pitchFamily="49" charset="-122"/>
              </a:rPr>
              <a:t>标志位，可使用</a:t>
            </a:r>
            <a:r>
              <a:rPr lang="en-US" altLang="zh-CN" b="0" dirty="0">
                <a:solidFill>
                  <a:srgbClr val="FF0000"/>
                </a:solidFill>
                <a:latin typeface="黑体" panose="02010609060101010101" pitchFamily="49" charset="-122"/>
                <a:ea typeface="黑体" panose="02010609060101010101" pitchFamily="49" charset="-122"/>
              </a:rPr>
              <a:t>F0</a:t>
            </a:r>
            <a:r>
              <a:rPr lang="zh-CN" altLang="en-US" b="0" dirty="0">
                <a:solidFill>
                  <a:schemeClr val="tx2"/>
                </a:solidFill>
                <a:latin typeface="黑体" panose="02010609060101010101" pitchFamily="49" charset="-122"/>
                <a:ea typeface="黑体" panose="02010609060101010101" pitchFamily="49" charset="-122"/>
              </a:rPr>
              <a:t>表示该位。</a:t>
            </a:r>
            <a:endParaRPr lang="zh-CN" altLang="en-US" b="0" dirty="0">
              <a:solidFill>
                <a:schemeClr val="tx2"/>
              </a:solidFill>
              <a:latin typeface="黑体" panose="02010609060101010101" pitchFamily="49" charset="-122"/>
              <a:ea typeface="黑体" panose="02010609060101010101" pitchFamily="49" charset="-122"/>
            </a:endParaRPr>
          </a:p>
          <a:p>
            <a:pPr lvl="2" indent="4445" algn="just" fontAlgn="b">
              <a:lnSpc>
                <a:spcPct val="130000"/>
              </a:lnSpc>
              <a:buNone/>
            </a:pPr>
            <a:r>
              <a:rPr lang="en-US" altLang="zh-CN" b="0" dirty="0">
                <a:solidFill>
                  <a:schemeClr val="hlink"/>
                </a:solidFill>
                <a:latin typeface="黑体" panose="02010609060101010101" pitchFamily="49" charset="-122"/>
                <a:ea typeface="黑体" panose="02010609060101010101" pitchFamily="49" charset="-122"/>
              </a:rPr>
              <a:t>c.</a:t>
            </a:r>
            <a:r>
              <a:rPr lang="zh-CN" altLang="en-US" b="0" dirty="0">
                <a:solidFill>
                  <a:schemeClr val="hlink"/>
                </a:solidFill>
                <a:latin typeface="黑体" panose="02010609060101010101" pitchFamily="49" charset="-122"/>
                <a:ea typeface="黑体" panose="02010609060101010101" pitchFamily="49" charset="-122"/>
              </a:rPr>
              <a:t>单元地址加位数</a:t>
            </a:r>
            <a:r>
              <a:rPr lang="zh-CN" altLang="en-US" b="0" dirty="0">
                <a:solidFill>
                  <a:schemeClr val="tx2"/>
                </a:solidFill>
                <a:latin typeface="黑体" panose="02010609060101010101" pitchFamily="49" charset="-122"/>
                <a:ea typeface="黑体" panose="02010609060101010101" pitchFamily="49" charset="-122"/>
              </a:rPr>
              <a:t>的表示方法。例如 </a:t>
            </a:r>
            <a:r>
              <a:rPr lang="en-US" altLang="zh-CN" b="0" dirty="0">
                <a:solidFill>
                  <a:srgbClr val="FF0000"/>
                </a:solidFill>
                <a:latin typeface="黑体" panose="02010609060101010101" pitchFamily="49" charset="-122"/>
                <a:ea typeface="黑体" panose="02010609060101010101" pitchFamily="49" charset="-122"/>
              </a:rPr>
              <a:t>:(D0H).5</a:t>
            </a:r>
            <a:r>
              <a:rPr lang="zh-CN" altLang="en-US" b="0" dirty="0">
                <a:solidFill>
                  <a:schemeClr val="tx2"/>
                </a:solidFill>
                <a:latin typeface="黑体" panose="02010609060101010101" pitchFamily="49" charset="-122"/>
                <a:ea typeface="黑体" panose="02010609060101010101" pitchFamily="49" charset="-122"/>
              </a:rPr>
              <a:t>。</a:t>
            </a:r>
            <a:endParaRPr lang="zh-CN" altLang="en-US" b="0" dirty="0">
              <a:solidFill>
                <a:schemeClr val="tx2"/>
              </a:solidFill>
              <a:latin typeface="黑体" panose="02010609060101010101" pitchFamily="49" charset="-122"/>
              <a:ea typeface="黑体" panose="02010609060101010101" pitchFamily="49" charset="-122"/>
            </a:endParaRPr>
          </a:p>
          <a:p>
            <a:pPr lvl="2" indent="4445" algn="just" fontAlgn="b">
              <a:lnSpc>
                <a:spcPct val="130000"/>
              </a:lnSpc>
              <a:buNone/>
            </a:pPr>
            <a:r>
              <a:rPr lang="en-US" altLang="zh-CN" b="0" dirty="0">
                <a:solidFill>
                  <a:schemeClr val="hlink"/>
                </a:solidFill>
                <a:latin typeface="黑体" panose="02010609060101010101" pitchFamily="49" charset="-122"/>
                <a:ea typeface="黑体" panose="02010609060101010101" pitchFamily="49" charset="-122"/>
              </a:rPr>
              <a:t>d.</a:t>
            </a:r>
            <a:r>
              <a:rPr lang="zh-CN" altLang="en-US" b="0" dirty="0">
                <a:solidFill>
                  <a:schemeClr val="hlink"/>
                </a:solidFill>
                <a:latin typeface="黑体" panose="02010609060101010101" pitchFamily="49" charset="-122"/>
                <a:ea typeface="黑体" panose="02010609060101010101" pitchFamily="49" charset="-122"/>
              </a:rPr>
              <a:t>特殊功能寄存器符号加位数</a:t>
            </a:r>
            <a:r>
              <a:rPr lang="zh-CN" altLang="en-US" b="0" dirty="0">
                <a:solidFill>
                  <a:schemeClr val="tx2"/>
                </a:solidFill>
                <a:latin typeface="黑体" panose="02010609060101010101" pitchFamily="49" charset="-122"/>
                <a:ea typeface="黑体" panose="02010609060101010101" pitchFamily="49" charset="-122"/>
              </a:rPr>
              <a:t>的表示方法。例如</a:t>
            </a:r>
            <a:r>
              <a:rPr lang="en-US" altLang="zh-CN" b="0" dirty="0">
                <a:solidFill>
                  <a:schemeClr val="tx2"/>
                </a:solidFill>
                <a:latin typeface="黑体" panose="02010609060101010101" pitchFamily="49" charset="-122"/>
                <a:ea typeface="黑体" panose="02010609060101010101" pitchFamily="49" charset="-122"/>
              </a:rPr>
              <a:t>:</a:t>
            </a:r>
            <a:r>
              <a:rPr lang="en-US" altLang="zh-CN" b="0" dirty="0">
                <a:solidFill>
                  <a:srgbClr val="FF0000"/>
                </a:solidFill>
                <a:latin typeface="黑体" panose="02010609060101010101" pitchFamily="49" charset="-122"/>
                <a:ea typeface="黑体" panose="02010609060101010101" pitchFamily="49" charset="-122"/>
              </a:rPr>
              <a:t>PSW.5</a:t>
            </a:r>
            <a:r>
              <a:rPr lang="zh-CN" altLang="en-US" b="0" dirty="0">
                <a:solidFill>
                  <a:schemeClr val="tx2"/>
                </a:solidFill>
                <a:latin typeface="黑体" panose="02010609060101010101" pitchFamily="49" charset="-122"/>
                <a:ea typeface="黑体" panose="02010609060101010101" pitchFamily="49" charset="-122"/>
              </a:rPr>
              <a:t>。</a:t>
            </a:r>
            <a:endParaRPr lang="zh-CN" altLang="en-US" b="0" dirty="0">
              <a:solidFill>
                <a:schemeClr val="tx2"/>
              </a:solidFill>
              <a:latin typeface="黑体" panose="02010609060101010101" pitchFamily="49" charset="-122"/>
              <a:ea typeface="黑体" panose="02010609060101010101" pitchFamily="49" charset="-122"/>
            </a:endParaRPr>
          </a:p>
          <a:p>
            <a:pPr>
              <a:lnSpc>
                <a:spcPct val="110000"/>
              </a:lnSpc>
            </a:pPr>
            <a:endParaRPr lang="zh-CN" altLang="en-US" sz="2000" dirty="0"/>
          </a:p>
        </p:txBody>
      </p:sp>
      <p:sp>
        <p:nvSpPr>
          <p:cNvPr id="59395" name="Rectangle 4"/>
          <p:cNvSpPr/>
          <p:nvPr/>
        </p:nvSpPr>
        <p:spPr>
          <a:xfrm>
            <a:off x="107950" y="893763"/>
            <a:ext cx="3529013" cy="519112"/>
          </a:xfrm>
          <a:prstGeom prst="rect">
            <a:avLst/>
          </a:prstGeom>
          <a:noFill/>
          <a:ln w="9525">
            <a:noFill/>
          </a:ln>
        </p:spPr>
        <p:txBody>
          <a:bodyPr anchor="t" anchorCtr="0">
            <a:spAutoFit/>
          </a:bodyPr>
          <a:p>
            <a:pPr eaLnBrk="0" hangingPunct="0"/>
            <a:r>
              <a:rPr lang="zh-CN" altLang="en-US" sz="2800" dirty="0">
                <a:latin typeface="楷体_GB2312" pitchFamily="49" charset="-122"/>
                <a:ea typeface="楷体_GB2312" pitchFamily="49" charset="-122"/>
              </a:rPr>
              <a:t>七.</a:t>
            </a:r>
            <a:r>
              <a:rPr lang="zh-CN" altLang="en-US" sz="2800" dirty="0">
                <a:solidFill>
                  <a:srgbClr val="FF0000"/>
                </a:solidFill>
                <a:latin typeface="楷体_GB2312" pitchFamily="49" charset="-122"/>
                <a:ea typeface="楷体_GB2312" pitchFamily="49" charset="-122"/>
              </a:rPr>
              <a:t>位寻址方式</a:t>
            </a:r>
            <a:endParaRPr lang="zh-CN" altLang="en-US" sz="2800" dirty="0">
              <a:solidFill>
                <a:srgbClr val="FF0000"/>
              </a:soli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891">
                                            <p:txEl>
                                              <p:charRg st="0" end="8"/>
                                            </p:txEl>
                                          </p:spTgt>
                                        </p:tgtEl>
                                        <p:attrNameLst>
                                          <p:attrName>style.visibility</p:attrName>
                                        </p:attrNameLst>
                                      </p:cBhvr>
                                      <p:to>
                                        <p:strVal val="visible"/>
                                      </p:to>
                                    </p:set>
                                    <p:animEffect transition="in" filter="blinds(horizontal)">
                                      <p:cBhvr>
                                        <p:cTn id="7" dur="500"/>
                                        <p:tgtEl>
                                          <p:spTgt spid="37891">
                                            <p:txEl>
                                              <p:charRg st="0"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7891">
                                            <p:txEl>
                                              <p:charRg st="8" end="24"/>
                                            </p:txEl>
                                          </p:spTgt>
                                        </p:tgtEl>
                                        <p:attrNameLst>
                                          <p:attrName>style.visibility</p:attrName>
                                        </p:attrNameLst>
                                      </p:cBhvr>
                                      <p:to>
                                        <p:strVal val="visible"/>
                                      </p:to>
                                    </p:set>
                                    <p:animEffect transition="in" filter="blinds(horizontal)">
                                      <p:cBhvr>
                                        <p:cTn id="12" dur="500"/>
                                        <p:tgtEl>
                                          <p:spTgt spid="37891">
                                            <p:txEl>
                                              <p:charRg st="8" end="2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7891">
                                            <p:txEl>
                                              <p:charRg st="24" end="42"/>
                                            </p:txEl>
                                          </p:spTgt>
                                        </p:tgtEl>
                                        <p:attrNameLst>
                                          <p:attrName>style.visibility</p:attrName>
                                        </p:attrNameLst>
                                      </p:cBhvr>
                                      <p:to>
                                        <p:strVal val="visible"/>
                                      </p:to>
                                    </p:set>
                                    <p:animEffect transition="in" filter="blinds(horizontal)">
                                      <p:cBhvr>
                                        <p:cTn id="17" dur="500"/>
                                        <p:tgtEl>
                                          <p:spTgt spid="37891">
                                            <p:txEl>
                                              <p:charRg st="24" end="4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7891">
                                            <p:txEl>
                                              <p:charRg st="42" end="71"/>
                                            </p:txEl>
                                          </p:spTgt>
                                        </p:tgtEl>
                                        <p:attrNameLst>
                                          <p:attrName>style.visibility</p:attrName>
                                        </p:attrNameLst>
                                      </p:cBhvr>
                                      <p:to>
                                        <p:strVal val="visible"/>
                                      </p:to>
                                    </p:set>
                                    <p:animEffect transition="in" filter="blinds(horizontal)">
                                      <p:cBhvr>
                                        <p:cTn id="22" dur="500"/>
                                        <p:tgtEl>
                                          <p:spTgt spid="37891">
                                            <p:txEl>
                                              <p:charRg st="42" end="7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7891">
                                            <p:txEl>
                                              <p:charRg st="71" end="110"/>
                                            </p:txEl>
                                          </p:spTgt>
                                        </p:tgtEl>
                                        <p:attrNameLst>
                                          <p:attrName>style.visibility</p:attrName>
                                        </p:attrNameLst>
                                      </p:cBhvr>
                                      <p:to>
                                        <p:strVal val="visible"/>
                                      </p:to>
                                    </p:set>
                                    <p:animEffect transition="in" filter="blinds(horizontal)">
                                      <p:cBhvr>
                                        <p:cTn id="27" dur="500"/>
                                        <p:tgtEl>
                                          <p:spTgt spid="37891">
                                            <p:txEl>
                                              <p:charRg st="71" end="11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7891">
                                            <p:txEl>
                                              <p:charRg st="110" end="128"/>
                                            </p:txEl>
                                          </p:spTgt>
                                        </p:tgtEl>
                                        <p:attrNameLst>
                                          <p:attrName>style.visibility</p:attrName>
                                        </p:attrNameLst>
                                      </p:cBhvr>
                                      <p:to>
                                        <p:strVal val="visible"/>
                                      </p:to>
                                    </p:set>
                                    <p:animEffect transition="in" filter="blinds(horizontal)">
                                      <p:cBhvr>
                                        <p:cTn id="32" dur="500"/>
                                        <p:tgtEl>
                                          <p:spTgt spid="37891">
                                            <p:txEl>
                                              <p:charRg st="110" end="128"/>
                                            </p:txEl>
                                          </p:spTgt>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37891">
                                            <p:txEl>
                                              <p:charRg st="128" end="141"/>
                                            </p:txEl>
                                          </p:spTgt>
                                        </p:tgtEl>
                                        <p:attrNameLst>
                                          <p:attrName>style.visibility</p:attrName>
                                        </p:attrNameLst>
                                      </p:cBhvr>
                                      <p:to>
                                        <p:strVal val="visible"/>
                                      </p:to>
                                    </p:set>
                                    <p:animEffect transition="in" filter="blinds(horizontal)">
                                      <p:cBhvr>
                                        <p:cTn id="35" dur="500"/>
                                        <p:tgtEl>
                                          <p:spTgt spid="37891">
                                            <p:txEl>
                                              <p:charRg st="128" end="141"/>
                                            </p:txEl>
                                          </p:spTgt>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37891">
                                            <p:txEl>
                                              <p:charRg st="141" end="169"/>
                                            </p:txEl>
                                          </p:spTgt>
                                        </p:tgtEl>
                                        <p:attrNameLst>
                                          <p:attrName>style.visibility</p:attrName>
                                        </p:attrNameLst>
                                      </p:cBhvr>
                                      <p:to>
                                        <p:strVal val="visible"/>
                                      </p:to>
                                    </p:set>
                                    <p:animEffect transition="in" filter="blinds(horizontal)">
                                      <p:cBhvr>
                                        <p:cTn id="38" dur="500"/>
                                        <p:tgtEl>
                                          <p:spTgt spid="37891">
                                            <p:txEl>
                                              <p:charRg st="141" end="169"/>
                                            </p:txEl>
                                          </p:spTgt>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37891">
                                            <p:txEl>
                                              <p:charRg st="169" end="206"/>
                                            </p:txEl>
                                          </p:spTgt>
                                        </p:tgtEl>
                                        <p:attrNameLst>
                                          <p:attrName>style.visibility</p:attrName>
                                        </p:attrNameLst>
                                      </p:cBhvr>
                                      <p:to>
                                        <p:strVal val="visible"/>
                                      </p:to>
                                    </p:set>
                                    <p:animEffect transition="in" filter="blinds(horizontal)">
                                      <p:cBhvr>
                                        <p:cTn id="41" dur="500"/>
                                        <p:tgtEl>
                                          <p:spTgt spid="37891">
                                            <p:txEl>
                                              <p:charRg st="169" end="206"/>
                                            </p:txEl>
                                          </p:spTgt>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37891">
                                            <p:txEl>
                                              <p:charRg st="206" end="234"/>
                                            </p:txEl>
                                          </p:spTgt>
                                        </p:tgtEl>
                                        <p:attrNameLst>
                                          <p:attrName>style.visibility</p:attrName>
                                        </p:attrNameLst>
                                      </p:cBhvr>
                                      <p:to>
                                        <p:strVal val="visible"/>
                                      </p:to>
                                    </p:set>
                                    <p:animEffect transition="in" filter="blinds(horizontal)">
                                      <p:cBhvr>
                                        <p:cTn id="44" dur="500"/>
                                        <p:tgtEl>
                                          <p:spTgt spid="37891">
                                            <p:txEl>
                                              <p:charRg st="206" end="234"/>
                                            </p:txEl>
                                          </p:spTgt>
                                        </p:tgtEl>
                                      </p:cBhvr>
                                    </p:animEffect>
                                  </p:childTnLst>
                                </p:cTn>
                              </p:par>
                              <p:par>
                                <p:cTn id="45" presetID="3" presetClass="entr" presetSubtype="10" fill="hold" grpId="0" nodeType="withEffect">
                                  <p:stCondLst>
                                    <p:cond delay="0"/>
                                  </p:stCondLst>
                                  <p:childTnLst>
                                    <p:set>
                                      <p:cBhvr>
                                        <p:cTn id="46" dur="1" fill="hold">
                                          <p:stCondLst>
                                            <p:cond delay="0"/>
                                          </p:stCondLst>
                                        </p:cTn>
                                        <p:tgtEl>
                                          <p:spTgt spid="37891">
                                            <p:txEl>
                                              <p:charRg st="234" end="264"/>
                                            </p:txEl>
                                          </p:spTgt>
                                        </p:tgtEl>
                                        <p:attrNameLst>
                                          <p:attrName>style.visibility</p:attrName>
                                        </p:attrNameLst>
                                      </p:cBhvr>
                                      <p:to>
                                        <p:strVal val="visible"/>
                                      </p:to>
                                    </p:set>
                                    <p:animEffect transition="in" filter="blinds(horizontal)">
                                      <p:cBhvr>
                                        <p:cTn id="47" dur="500"/>
                                        <p:tgtEl>
                                          <p:spTgt spid="37891">
                                            <p:txEl>
                                              <p:charRg st="234" end="26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9938" name="表格占位符 39937"/>
          <p:cNvGraphicFramePr/>
          <p:nvPr>
            <p:ph type="tbl" idx="1"/>
          </p:nvPr>
        </p:nvGraphicFramePr>
        <p:xfrm>
          <a:off x="228600" y="996950"/>
          <a:ext cx="8763000" cy="5311775"/>
        </p:xfrm>
        <a:graphic>
          <a:graphicData uri="http://schemas.openxmlformats.org/drawingml/2006/table">
            <a:tbl>
              <a:tblPr/>
              <a:tblGrid>
                <a:gridCol w="671513"/>
                <a:gridCol w="1800225"/>
                <a:gridCol w="2735262"/>
                <a:gridCol w="3556000"/>
              </a:tblGrid>
              <a:tr h="471488">
                <a:tc>
                  <a:txBody>
                    <a:bodyPr/>
                    <a:lstStyle>
                      <a:lvl1pPr marL="0" lvl="0"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defRPr>
                      </a:lvl1pPr>
                      <a:lvl2pPr marL="457200" lvl="1"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5pPr>
                    </a:lstStyle>
                    <a:p>
                      <a:pPr lvl="0" defTabSz="425450">
                        <a:lnSpc>
                          <a:spcPct val="130000"/>
                        </a:lnSpc>
                        <a:spcBef>
                          <a:spcPct val="20000"/>
                        </a:spcBef>
                        <a:buNone/>
                      </a:pPr>
                      <a:r>
                        <a:rPr lang="zh-CN" altLang="en-US" sz="1800" dirty="0">
                          <a:latin typeface="Arial" panose="020B0604020202090204" pitchFamily="34" charset="0"/>
                          <a:ea typeface="楷体_GB2312" pitchFamily="49" charset="-122"/>
                        </a:rPr>
                        <a:t>序号</a:t>
                      </a:r>
                      <a:endParaRPr lang="zh-CN" altLang="en-US" sz="1800" dirty="0">
                        <a:latin typeface="Arial" panose="020B0604020202090204" pitchFamily="34" charset="0"/>
                        <a:ea typeface="楷体_GB2312" pitchFamily="49"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defRPr>
                      </a:lvl1pPr>
                      <a:lvl2pPr marL="457200" lvl="1"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5pPr>
                    </a:lstStyle>
                    <a:p>
                      <a:pPr lvl="0" defTabSz="425450">
                        <a:lnSpc>
                          <a:spcPct val="130000"/>
                        </a:lnSpc>
                        <a:spcBef>
                          <a:spcPct val="20000"/>
                        </a:spcBef>
                        <a:buNone/>
                      </a:pPr>
                      <a:r>
                        <a:rPr lang="zh-CN" altLang="en-US" sz="1800" dirty="0">
                          <a:latin typeface="Arial" panose="020B0604020202090204" pitchFamily="34" charset="0"/>
                          <a:ea typeface="楷体_GB2312" pitchFamily="49" charset="-122"/>
                        </a:rPr>
                        <a:t>寻址方式</a:t>
                      </a:r>
                      <a:endParaRPr lang="zh-CN" altLang="en-US" sz="1800" dirty="0">
                        <a:latin typeface="Arial" panose="020B0604020202090204" pitchFamily="34" charset="0"/>
                        <a:ea typeface="楷体_GB2312" pitchFamily="49"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defRPr>
                      </a:lvl1pPr>
                      <a:lvl2pPr marL="457200" lvl="1"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5pPr>
                    </a:lstStyle>
                    <a:p>
                      <a:pPr lvl="0" defTabSz="425450">
                        <a:lnSpc>
                          <a:spcPct val="130000"/>
                        </a:lnSpc>
                        <a:spcBef>
                          <a:spcPct val="20000"/>
                        </a:spcBef>
                        <a:buNone/>
                      </a:pPr>
                      <a:r>
                        <a:rPr lang="zh-CN" altLang="en-US" sz="1800" dirty="0">
                          <a:latin typeface="Arial" panose="020B0604020202090204" pitchFamily="34" charset="0"/>
                          <a:ea typeface="楷体_GB2312" pitchFamily="49" charset="-122"/>
                        </a:rPr>
                        <a:t>使用的变量</a:t>
                      </a:r>
                      <a:endParaRPr lang="zh-CN" altLang="en-US" sz="1800" dirty="0">
                        <a:latin typeface="Arial" panose="020B0604020202090204" pitchFamily="34" charset="0"/>
                        <a:ea typeface="楷体_GB2312" pitchFamily="49"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defRPr>
                      </a:lvl1pPr>
                      <a:lvl2pPr marL="457200" lvl="1"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5pPr>
                    </a:lstStyle>
                    <a:p>
                      <a:pPr lvl="0" defTabSz="425450">
                        <a:lnSpc>
                          <a:spcPct val="130000"/>
                        </a:lnSpc>
                        <a:spcBef>
                          <a:spcPct val="20000"/>
                        </a:spcBef>
                        <a:buNone/>
                      </a:pPr>
                      <a:r>
                        <a:rPr lang="zh-CN" altLang="en-US" sz="1800" dirty="0">
                          <a:latin typeface="Arial" panose="020B0604020202090204" pitchFamily="34" charset="0"/>
                          <a:ea typeface="楷体_GB2312" pitchFamily="49" charset="-122"/>
                        </a:rPr>
                        <a:t>寻址空间</a:t>
                      </a:r>
                      <a:endParaRPr lang="zh-CN" altLang="en-US" sz="1800" dirty="0">
                        <a:latin typeface="Arial" panose="020B0604020202090204" pitchFamily="34" charset="0"/>
                        <a:ea typeface="楷体_GB2312" pitchFamily="49"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968375">
                <a:tc>
                  <a:txBody>
                    <a:bodyPr/>
                    <a:lstStyle>
                      <a:lvl1pPr marL="0" lvl="0"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defRPr>
                      </a:lvl1pPr>
                      <a:lvl2pPr marL="457200" lvl="1"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5pPr>
                    </a:lstStyle>
                    <a:p>
                      <a:pPr lvl="0" defTabSz="425450">
                        <a:lnSpc>
                          <a:spcPct val="130000"/>
                        </a:lnSpc>
                        <a:spcBef>
                          <a:spcPct val="20000"/>
                        </a:spcBef>
                        <a:buNone/>
                      </a:pPr>
                      <a:r>
                        <a:rPr lang="en-US" altLang="zh-CN" sz="1800" dirty="0">
                          <a:latin typeface="Arial" panose="020B0604020202090204" pitchFamily="34" charset="0"/>
                          <a:ea typeface="楷体_GB2312" pitchFamily="49" charset="-122"/>
                        </a:rPr>
                        <a:t>1</a:t>
                      </a:r>
                      <a:endParaRPr lang="en-US" altLang="zh-CN" sz="1800" dirty="0">
                        <a:latin typeface="Arial" panose="020B0604020202090204" pitchFamily="34" charset="0"/>
                        <a:ea typeface="楷体_GB2312" pitchFamily="49"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defRPr>
                      </a:lvl1pPr>
                      <a:lvl2pPr marL="457200" lvl="1"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5pPr>
                    </a:lstStyle>
                    <a:p>
                      <a:pPr lvl="0" defTabSz="425450">
                        <a:lnSpc>
                          <a:spcPct val="130000"/>
                        </a:lnSpc>
                        <a:spcBef>
                          <a:spcPct val="20000"/>
                        </a:spcBef>
                        <a:buNone/>
                      </a:pPr>
                      <a:r>
                        <a:rPr lang="zh-CN" altLang="en-US" sz="1600" dirty="0">
                          <a:latin typeface="Arial" panose="020B0604020202090204" pitchFamily="34" charset="0"/>
                          <a:ea typeface="楷体_GB2312" pitchFamily="49" charset="-122"/>
                        </a:rPr>
                        <a:t>寄存器寻址</a:t>
                      </a:r>
                      <a:endParaRPr lang="zh-CN" altLang="en-US" sz="1600" dirty="0">
                        <a:latin typeface="Arial" panose="020B0604020202090204" pitchFamily="34" charset="0"/>
                        <a:ea typeface="楷体_GB2312" pitchFamily="49"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defRPr>
                      </a:lvl1pPr>
                      <a:lvl2pPr marL="457200" lvl="1"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5pPr>
                    </a:lstStyle>
                    <a:p>
                      <a:pPr lvl="0" defTabSz="425450">
                        <a:lnSpc>
                          <a:spcPct val="130000"/>
                        </a:lnSpc>
                        <a:spcBef>
                          <a:spcPct val="20000"/>
                        </a:spcBef>
                        <a:buNone/>
                      </a:pPr>
                      <a:r>
                        <a:rPr lang="en-US" altLang="zh-CN" sz="1400" dirty="0">
                          <a:latin typeface="Arial" panose="020B0604020202090204" pitchFamily="34" charset="0"/>
                          <a:ea typeface="楷体_GB2312" pitchFamily="49" charset="-122"/>
                        </a:rPr>
                        <a:t>R0~R7</a:t>
                      </a:r>
                      <a:r>
                        <a:rPr lang="zh-CN" altLang="en-US" sz="1400" dirty="0">
                          <a:latin typeface="Arial" panose="020B0604020202090204" pitchFamily="34" charset="0"/>
                          <a:ea typeface="楷体_GB2312" pitchFamily="49" charset="-122"/>
                        </a:rPr>
                        <a:t>、</a:t>
                      </a:r>
                      <a:r>
                        <a:rPr lang="en-US" altLang="zh-CN" sz="1400" dirty="0">
                          <a:latin typeface="Arial" panose="020B0604020202090204" pitchFamily="34" charset="0"/>
                          <a:ea typeface="楷体_GB2312" pitchFamily="49" charset="-122"/>
                        </a:rPr>
                        <a:t>A</a:t>
                      </a:r>
                      <a:r>
                        <a:rPr lang="zh-CN" altLang="en-US" sz="1400" dirty="0">
                          <a:latin typeface="Arial" panose="020B0604020202090204" pitchFamily="34" charset="0"/>
                          <a:ea typeface="楷体_GB2312" pitchFamily="49" charset="-122"/>
                        </a:rPr>
                        <a:t>、</a:t>
                      </a:r>
                      <a:r>
                        <a:rPr lang="en-US" altLang="zh-CN" sz="1400" dirty="0">
                          <a:latin typeface="Arial" panose="020B0604020202090204" pitchFamily="34" charset="0"/>
                          <a:ea typeface="楷体_GB2312" pitchFamily="49" charset="-122"/>
                        </a:rPr>
                        <a:t>B</a:t>
                      </a:r>
                      <a:r>
                        <a:rPr lang="zh-CN" altLang="en-US" sz="1400" dirty="0">
                          <a:latin typeface="Arial" panose="020B0604020202090204" pitchFamily="34" charset="0"/>
                          <a:ea typeface="楷体_GB2312" pitchFamily="49" charset="-122"/>
                        </a:rPr>
                        <a:t>、</a:t>
                      </a:r>
                      <a:r>
                        <a:rPr lang="en-US" altLang="zh-CN" sz="1400" dirty="0">
                          <a:latin typeface="Arial" panose="020B0604020202090204" pitchFamily="34" charset="0"/>
                          <a:ea typeface="楷体_GB2312" pitchFamily="49" charset="-122"/>
                        </a:rPr>
                        <a:t>C</a:t>
                      </a:r>
                      <a:r>
                        <a:rPr lang="zh-CN" altLang="en-US" sz="1400" dirty="0">
                          <a:latin typeface="Arial" panose="020B0604020202090204" pitchFamily="34" charset="0"/>
                          <a:ea typeface="楷体_GB2312" pitchFamily="49" charset="-122"/>
                        </a:rPr>
                        <a:t>（</a:t>
                      </a:r>
                      <a:r>
                        <a:rPr lang="en-US" altLang="zh-CN" sz="1400" dirty="0">
                          <a:latin typeface="Arial" panose="020B0604020202090204" pitchFamily="34" charset="0"/>
                          <a:ea typeface="楷体_GB2312" pitchFamily="49" charset="-122"/>
                        </a:rPr>
                        <a:t>CY</a:t>
                      </a:r>
                      <a:r>
                        <a:rPr lang="zh-CN" altLang="en-US" sz="1400" dirty="0">
                          <a:latin typeface="Arial" panose="020B0604020202090204" pitchFamily="34" charset="0"/>
                          <a:ea typeface="楷体_GB2312" pitchFamily="49" charset="-122"/>
                        </a:rPr>
                        <a:t>）、</a:t>
                      </a:r>
                      <a:r>
                        <a:rPr lang="en-US" altLang="zh-CN" sz="1400" dirty="0">
                          <a:latin typeface="Arial" panose="020B0604020202090204" pitchFamily="34" charset="0"/>
                          <a:ea typeface="楷体_GB2312" pitchFamily="49" charset="-122"/>
                        </a:rPr>
                        <a:t>AB</a:t>
                      </a:r>
                      <a:r>
                        <a:rPr lang="zh-CN" altLang="en-US" sz="1400" dirty="0">
                          <a:latin typeface="Arial" panose="020B0604020202090204" pitchFamily="34" charset="0"/>
                          <a:ea typeface="楷体_GB2312" pitchFamily="49" charset="-122"/>
                        </a:rPr>
                        <a:t>（双字节）、</a:t>
                      </a:r>
                      <a:r>
                        <a:rPr lang="en-US" altLang="zh-CN" sz="1400" dirty="0">
                          <a:latin typeface="Arial" panose="020B0604020202090204" pitchFamily="34" charset="0"/>
                          <a:ea typeface="楷体_GB2312" pitchFamily="49" charset="-122"/>
                        </a:rPr>
                        <a:t>DPTR </a:t>
                      </a:r>
                      <a:r>
                        <a:rPr lang="zh-CN" altLang="en-US" sz="1400" dirty="0">
                          <a:latin typeface="Arial" panose="020B0604020202090204" pitchFamily="34" charset="0"/>
                          <a:ea typeface="楷体_GB2312" pitchFamily="49" charset="-122"/>
                        </a:rPr>
                        <a:t>（双字节）、</a:t>
                      </a:r>
                      <a:r>
                        <a:rPr lang="en-US" altLang="zh-CN" sz="1400" dirty="0">
                          <a:latin typeface="Arial" panose="020B0604020202090204" pitchFamily="34" charset="0"/>
                          <a:ea typeface="楷体_GB2312" pitchFamily="49" charset="-122"/>
                        </a:rPr>
                        <a:t>PC </a:t>
                      </a:r>
                      <a:r>
                        <a:rPr lang="zh-CN" altLang="en-US" sz="1400" dirty="0">
                          <a:latin typeface="Arial" panose="020B0604020202090204" pitchFamily="34" charset="0"/>
                          <a:ea typeface="楷体_GB2312" pitchFamily="49" charset="-122"/>
                        </a:rPr>
                        <a:t>（双字节）</a:t>
                      </a:r>
                      <a:endParaRPr lang="en-US" altLang="zh-CN" sz="1400" dirty="0">
                        <a:latin typeface="Arial" panose="020B0604020202090204" pitchFamily="34" charset="0"/>
                        <a:ea typeface="楷体_GB2312" pitchFamily="49"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defRPr>
                      </a:lvl1pPr>
                      <a:lvl2pPr marL="457200" lvl="1"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5pPr>
                    </a:lstStyle>
                    <a:p>
                      <a:pPr lvl="0" defTabSz="425450">
                        <a:lnSpc>
                          <a:spcPct val="130000"/>
                        </a:lnSpc>
                        <a:spcBef>
                          <a:spcPct val="20000"/>
                        </a:spcBef>
                        <a:buNone/>
                      </a:pPr>
                      <a:r>
                        <a:rPr lang="en-US" altLang="zh-CN" sz="1600" dirty="0">
                          <a:latin typeface="Arial" panose="020B0604020202090204" pitchFamily="34" charset="0"/>
                          <a:ea typeface="楷体_GB2312" pitchFamily="49" charset="-122"/>
                        </a:rPr>
                        <a:t>4</a:t>
                      </a:r>
                      <a:r>
                        <a:rPr lang="zh-CN" altLang="en-US" sz="1600" dirty="0">
                          <a:latin typeface="Arial" panose="020B0604020202090204" pitchFamily="34" charset="0"/>
                          <a:ea typeface="楷体_GB2312" pitchFamily="49" charset="-122"/>
                        </a:rPr>
                        <a:t>组通用工作寄存器区；</a:t>
                      </a:r>
                      <a:endParaRPr lang="zh-CN" altLang="en-US" sz="1600" dirty="0">
                        <a:latin typeface="Arial" panose="020B0604020202090204" pitchFamily="34" charset="0"/>
                        <a:ea typeface="楷体_GB2312" pitchFamily="49" charset="-122"/>
                      </a:endParaRPr>
                    </a:p>
                    <a:p>
                      <a:pPr lvl="0" defTabSz="425450">
                        <a:lnSpc>
                          <a:spcPct val="130000"/>
                        </a:lnSpc>
                        <a:spcBef>
                          <a:spcPct val="20000"/>
                        </a:spcBef>
                        <a:buNone/>
                      </a:pPr>
                      <a:r>
                        <a:rPr lang="zh-CN" altLang="en-US" sz="1600" dirty="0">
                          <a:latin typeface="Arial" panose="020B0604020202090204" pitchFamily="34" charset="0"/>
                          <a:ea typeface="楷体_GB2312" pitchFamily="49" charset="-122"/>
                        </a:rPr>
                        <a:t>部分特殊功能寄存器；</a:t>
                      </a:r>
                      <a:endParaRPr lang="zh-CN" altLang="en-US" sz="1600" dirty="0">
                        <a:latin typeface="Arial" panose="020B0604020202090204" pitchFamily="34" charset="0"/>
                        <a:ea typeface="楷体_GB2312" pitchFamily="49"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814387">
                <a:tc>
                  <a:txBody>
                    <a:bodyPr/>
                    <a:lstStyle>
                      <a:lvl1pPr marL="0" lvl="0"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defRPr>
                      </a:lvl1pPr>
                      <a:lvl2pPr marL="457200" lvl="1"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5pPr>
                    </a:lstStyle>
                    <a:p>
                      <a:pPr lvl="0" defTabSz="425450">
                        <a:lnSpc>
                          <a:spcPct val="130000"/>
                        </a:lnSpc>
                        <a:spcBef>
                          <a:spcPct val="20000"/>
                        </a:spcBef>
                        <a:buNone/>
                      </a:pPr>
                      <a:r>
                        <a:rPr lang="en-US" altLang="zh-CN" sz="1800" dirty="0">
                          <a:latin typeface="Arial" panose="020B0604020202090204" pitchFamily="34" charset="0"/>
                          <a:ea typeface="楷体_GB2312" pitchFamily="49" charset="-122"/>
                        </a:rPr>
                        <a:t>2</a:t>
                      </a:r>
                      <a:endParaRPr lang="en-US" altLang="zh-CN" sz="1800" dirty="0">
                        <a:latin typeface="Arial" panose="020B0604020202090204" pitchFamily="34" charset="0"/>
                        <a:ea typeface="楷体_GB2312" pitchFamily="49"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defRPr>
                      </a:lvl1pPr>
                      <a:lvl2pPr marL="457200" lvl="1"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5pPr>
                    </a:lstStyle>
                    <a:p>
                      <a:pPr lvl="0" defTabSz="425450">
                        <a:lnSpc>
                          <a:spcPct val="130000"/>
                        </a:lnSpc>
                        <a:spcBef>
                          <a:spcPct val="20000"/>
                        </a:spcBef>
                        <a:buNone/>
                      </a:pPr>
                      <a:r>
                        <a:rPr lang="zh-CN" altLang="en-US" sz="1600" dirty="0">
                          <a:latin typeface="Arial" panose="020B0604020202090204" pitchFamily="34" charset="0"/>
                          <a:ea typeface="楷体_GB2312" pitchFamily="49" charset="-122"/>
                        </a:rPr>
                        <a:t>直接寻址</a:t>
                      </a:r>
                      <a:endParaRPr lang="zh-CN" altLang="en-US" sz="1600" dirty="0">
                        <a:latin typeface="Arial" panose="020B0604020202090204" pitchFamily="34" charset="0"/>
                        <a:ea typeface="楷体_GB2312" pitchFamily="49"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defRPr>
                      </a:lvl1pPr>
                      <a:lvl2pPr marL="457200" lvl="1"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5pPr>
                    </a:lstStyle>
                    <a:p>
                      <a:pPr lvl="0" defTabSz="425450">
                        <a:lnSpc>
                          <a:spcPct val="130000"/>
                        </a:lnSpc>
                        <a:spcBef>
                          <a:spcPct val="20000"/>
                        </a:spcBef>
                        <a:buNone/>
                      </a:pPr>
                      <a:r>
                        <a:rPr lang="en-US" altLang="zh-CN" sz="1400" dirty="0">
                          <a:latin typeface="Arial" panose="020B0604020202090204" pitchFamily="34" charset="0"/>
                          <a:ea typeface="楷体_GB2312" pitchFamily="49" charset="-122"/>
                        </a:rPr>
                        <a:t>direct（8 位地址）/ SFR 名</a:t>
                      </a:r>
                      <a:endParaRPr lang="zh-CN" altLang="en-US" sz="1800" dirty="0">
                        <a:latin typeface="Arial" panose="020B0604020202090204" pitchFamily="34" charset="0"/>
                        <a:ea typeface="楷体_GB2312" pitchFamily="49"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defRPr>
                      </a:lvl1pPr>
                      <a:lvl2pPr marL="457200" lvl="1"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5pPr>
                    </a:lstStyle>
                    <a:p>
                      <a:pPr lvl="0" defTabSz="425450">
                        <a:lnSpc>
                          <a:spcPct val="130000"/>
                        </a:lnSpc>
                        <a:spcBef>
                          <a:spcPct val="20000"/>
                        </a:spcBef>
                        <a:buNone/>
                      </a:pPr>
                      <a:r>
                        <a:rPr lang="zh-CN" altLang="en-US" sz="1600" dirty="0">
                          <a:latin typeface="Arial" panose="020B0604020202090204" pitchFamily="34" charset="0"/>
                          <a:ea typeface="楷体_GB2312" pitchFamily="49" charset="-122"/>
                        </a:rPr>
                        <a:t>内部</a:t>
                      </a:r>
                      <a:r>
                        <a:rPr lang="en-US" altLang="zh-CN" sz="1600" dirty="0">
                          <a:latin typeface="Arial" panose="020B0604020202090204" pitchFamily="34" charset="0"/>
                          <a:ea typeface="楷体_GB2312" pitchFamily="49" charset="-122"/>
                        </a:rPr>
                        <a:t>RAM</a:t>
                      </a:r>
                      <a:r>
                        <a:rPr lang="zh-CN" altLang="en-US" sz="1600" dirty="0">
                          <a:latin typeface="Arial" panose="020B0604020202090204" pitchFamily="34" charset="0"/>
                          <a:ea typeface="楷体_GB2312" pitchFamily="49" charset="-122"/>
                        </a:rPr>
                        <a:t>低</a:t>
                      </a:r>
                      <a:r>
                        <a:rPr lang="en-US" altLang="zh-CN" sz="1600" dirty="0">
                          <a:latin typeface="Arial" panose="020B0604020202090204" pitchFamily="34" charset="0"/>
                          <a:ea typeface="楷体_GB2312" pitchFamily="49" charset="-122"/>
                        </a:rPr>
                        <a:t>128</a:t>
                      </a:r>
                      <a:r>
                        <a:rPr lang="zh-CN" altLang="en-US" sz="1600" dirty="0">
                          <a:latin typeface="Arial" panose="020B0604020202090204" pitchFamily="34" charset="0"/>
                          <a:ea typeface="楷体_GB2312" pitchFamily="49" charset="-122"/>
                        </a:rPr>
                        <a:t>字节；</a:t>
                      </a:r>
                      <a:endParaRPr lang="zh-CN" altLang="en-US" sz="1600" dirty="0">
                        <a:latin typeface="Arial" panose="020B0604020202090204" pitchFamily="34" charset="0"/>
                        <a:ea typeface="楷体_GB2312" pitchFamily="49" charset="-122"/>
                      </a:endParaRPr>
                    </a:p>
                    <a:p>
                      <a:pPr lvl="0" defTabSz="425450">
                        <a:lnSpc>
                          <a:spcPct val="130000"/>
                        </a:lnSpc>
                        <a:spcBef>
                          <a:spcPct val="20000"/>
                        </a:spcBef>
                        <a:buNone/>
                      </a:pPr>
                      <a:r>
                        <a:rPr lang="zh-CN" altLang="en-US" sz="1600" dirty="0">
                          <a:latin typeface="Arial" panose="020B0604020202090204" pitchFamily="34" charset="0"/>
                          <a:ea typeface="楷体_GB2312" pitchFamily="49" charset="-122"/>
                        </a:rPr>
                        <a:t>特殊功能寄存器；</a:t>
                      </a:r>
                      <a:endParaRPr lang="zh-CN" altLang="en-US" sz="1600" dirty="0">
                        <a:latin typeface="Arial" panose="020B0604020202090204" pitchFamily="34" charset="0"/>
                        <a:ea typeface="楷体_GB2312" pitchFamily="49"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0213">
                <a:tc rowSpan="2">
                  <a:txBody>
                    <a:bodyPr/>
                    <a:lstStyle>
                      <a:lvl1pPr marL="0" lvl="0"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defRPr>
                      </a:lvl1pPr>
                      <a:lvl2pPr marL="457200" lvl="1"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5pPr>
                    </a:lstStyle>
                    <a:p>
                      <a:pPr lvl="0" defTabSz="425450">
                        <a:lnSpc>
                          <a:spcPct val="130000"/>
                        </a:lnSpc>
                        <a:spcBef>
                          <a:spcPct val="20000"/>
                        </a:spcBef>
                        <a:buNone/>
                      </a:pPr>
                      <a:r>
                        <a:rPr lang="en-US" altLang="zh-CN" sz="1800" dirty="0">
                          <a:latin typeface="Arial" panose="020B0604020202090204" pitchFamily="34" charset="0"/>
                          <a:ea typeface="楷体_GB2312" pitchFamily="49" charset="-122"/>
                        </a:rPr>
                        <a:t>3</a:t>
                      </a:r>
                      <a:endParaRPr lang="en-US" altLang="zh-CN" sz="1800" dirty="0">
                        <a:latin typeface="Arial" panose="020B0604020202090204" pitchFamily="34" charset="0"/>
                        <a:ea typeface="楷体_GB2312" pitchFamily="49"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rowSpan="2">
                  <a:txBody>
                    <a:bodyPr/>
                    <a:lstStyle>
                      <a:lvl1pPr marL="0" lvl="0"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defRPr>
                      </a:lvl1pPr>
                      <a:lvl2pPr marL="457200" lvl="1"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5pPr>
                    </a:lstStyle>
                    <a:p>
                      <a:pPr lvl="0" defTabSz="425450">
                        <a:lnSpc>
                          <a:spcPct val="130000"/>
                        </a:lnSpc>
                        <a:spcBef>
                          <a:spcPct val="20000"/>
                        </a:spcBef>
                        <a:buNone/>
                      </a:pPr>
                      <a:r>
                        <a:rPr lang="zh-CN" altLang="en-US" sz="1600" dirty="0">
                          <a:latin typeface="Arial" panose="020B0604020202090204" pitchFamily="34" charset="0"/>
                          <a:ea typeface="楷体_GB2312" pitchFamily="49" charset="-122"/>
                        </a:rPr>
                        <a:t>寄存器间接寻址</a:t>
                      </a:r>
                      <a:endParaRPr lang="zh-CN" altLang="en-US" sz="1600" dirty="0">
                        <a:latin typeface="Arial" panose="020B0604020202090204" pitchFamily="34" charset="0"/>
                        <a:ea typeface="楷体_GB2312" pitchFamily="49"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defRPr>
                      </a:lvl1pPr>
                      <a:lvl2pPr marL="457200" lvl="1"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5pPr>
                    </a:lstStyle>
                    <a:p>
                      <a:pPr lvl="0" defTabSz="425450">
                        <a:lnSpc>
                          <a:spcPct val="130000"/>
                        </a:lnSpc>
                        <a:spcBef>
                          <a:spcPct val="20000"/>
                        </a:spcBef>
                        <a:buNone/>
                      </a:pPr>
                      <a:r>
                        <a:rPr lang="en-US" altLang="zh-CN" sz="1400" dirty="0">
                          <a:latin typeface="Arial" panose="020B0604020202090204" pitchFamily="34" charset="0"/>
                          <a:ea typeface="楷体_GB2312" pitchFamily="49" charset="-122"/>
                        </a:rPr>
                        <a:t>@R0</a:t>
                      </a:r>
                      <a:r>
                        <a:rPr lang="zh-CN" altLang="en-US" sz="1400" dirty="0">
                          <a:latin typeface="Arial" panose="020B0604020202090204" pitchFamily="34" charset="0"/>
                          <a:ea typeface="楷体_GB2312" pitchFamily="49" charset="-122"/>
                        </a:rPr>
                        <a:t>、</a:t>
                      </a:r>
                      <a:r>
                        <a:rPr lang="en-US" altLang="zh-CN" sz="1400" dirty="0">
                          <a:latin typeface="Arial" panose="020B0604020202090204" pitchFamily="34" charset="0"/>
                          <a:ea typeface="楷体_GB2312" pitchFamily="49" charset="-122"/>
                        </a:rPr>
                        <a:t>@R1</a:t>
                      </a:r>
                      <a:r>
                        <a:rPr lang="zh-CN" altLang="en-US" sz="1400" dirty="0">
                          <a:latin typeface="Arial" panose="020B0604020202090204" pitchFamily="34" charset="0"/>
                          <a:ea typeface="楷体_GB2312" pitchFamily="49" charset="-122"/>
                        </a:rPr>
                        <a:t>、</a:t>
                      </a:r>
                      <a:r>
                        <a:rPr lang="en-US" altLang="zh-CN" sz="1400" dirty="0">
                          <a:latin typeface="Arial" panose="020B0604020202090204" pitchFamily="34" charset="0"/>
                          <a:ea typeface="楷体_GB2312" pitchFamily="49" charset="-122"/>
                        </a:rPr>
                        <a:t>SP</a:t>
                      </a:r>
                      <a:endParaRPr lang="zh-CN" altLang="en-US" sz="1400" dirty="0">
                        <a:latin typeface="Arial" panose="020B0604020202090204" pitchFamily="34" charset="0"/>
                        <a:ea typeface="楷体_GB2312" pitchFamily="49"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defRPr>
                      </a:lvl1pPr>
                      <a:lvl2pPr marL="457200" lvl="1"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5pPr>
                    </a:lstStyle>
                    <a:p>
                      <a:pPr lvl="0" defTabSz="425450">
                        <a:lnSpc>
                          <a:spcPct val="130000"/>
                        </a:lnSpc>
                        <a:spcBef>
                          <a:spcPct val="20000"/>
                        </a:spcBef>
                        <a:buNone/>
                      </a:pPr>
                      <a:r>
                        <a:rPr lang="zh-CN" altLang="en-US" sz="1600" dirty="0">
                          <a:latin typeface="Arial" panose="020B0604020202090204" pitchFamily="34" charset="0"/>
                          <a:ea typeface="楷体_GB2312" pitchFamily="49" charset="-122"/>
                        </a:rPr>
                        <a:t>片内</a:t>
                      </a:r>
                      <a:r>
                        <a:rPr lang="en-US" altLang="zh-CN" sz="1600" dirty="0">
                          <a:latin typeface="Arial" panose="020B0604020202090204" pitchFamily="34" charset="0"/>
                          <a:ea typeface="楷体_GB2312" pitchFamily="49" charset="-122"/>
                        </a:rPr>
                        <a:t>RAM</a:t>
                      </a:r>
                      <a:endParaRPr lang="en-US" altLang="zh-CN" sz="1600" dirty="0">
                        <a:latin typeface="Arial" panose="020B0604020202090204" pitchFamily="34" charset="0"/>
                        <a:ea typeface="楷体_GB2312" pitchFamily="49"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28625">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defRPr>
                      </a:lvl1pPr>
                      <a:lvl2pPr marL="457200" lvl="1"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5pPr>
                    </a:lstStyle>
                    <a:p>
                      <a:pPr lvl="0" defTabSz="425450">
                        <a:lnSpc>
                          <a:spcPct val="130000"/>
                        </a:lnSpc>
                        <a:spcBef>
                          <a:spcPct val="20000"/>
                        </a:spcBef>
                        <a:buNone/>
                      </a:pPr>
                      <a:r>
                        <a:rPr lang="en-US" altLang="zh-CN" sz="1400" dirty="0">
                          <a:latin typeface="Arial" panose="020B0604020202090204" pitchFamily="34" charset="0"/>
                          <a:ea typeface="楷体_GB2312" pitchFamily="49" charset="-122"/>
                        </a:rPr>
                        <a:t>@R0</a:t>
                      </a:r>
                      <a:r>
                        <a:rPr lang="zh-CN" altLang="en-US" sz="1400" dirty="0">
                          <a:latin typeface="Arial" panose="020B0604020202090204" pitchFamily="34" charset="0"/>
                          <a:ea typeface="楷体_GB2312" pitchFamily="49" charset="-122"/>
                        </a:rPr>
                        <a:t>、</a:t>
                      </a:r>
                      <a:r>
                        <a:rPr lang="en-US" altLang="zh-CN" sz="1400" dirty="0">
                          <a:latin typeface="Arial" panose="020B0604020202090204" pitchFamily="34" charset="0"/>
                          <a:ea typeface="楷体_GB2312" pitchFamily="49" charset="-122"/>
                        </a:rPr>
                        <a:t>@R1</a:t>
                      </a:r>
                      <a:r>
                        <a:rPr lang="zh-CN" altLang="en-US" sz="1400" dirty="0">
                          <a:latin typeface="Arial" panose="020B0604020202090204" pitchFamily="34" charset="0"/>
                          <a:ea typeface="楷体_GB2312" pitchFamily="49" charset="-122"/>
                        </a:rPr>
                        <a:t>、</a:t>
                      </a:r>
                      <a:r>
                        <a:rPr lang="en-US" altLang="zh-CN" sz="1400" dirty="0">
                          <a:latin typeface="Arial" panose="020B0604020202090204" pitchFamily="34" charset="0"/>
                          <a:ea typeface="楷体_GB2312" pitchFamily="49" charset="-122"/>
                        </a:rPr>
                        <a:t>@DPTR</a:t>
                      </a:r>
                      <a:endParaRPr lang="en-US" altLang="zh-CN" sz="1400" dirty="0">
                        <a:latin typeface="Arial" panose="020B0604020202090204" pitchFamily="34" charset="0"/>
                        <a:ea typeface="楷体_GB2312" pitchFamily="49"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defRPr>
                      </a:lvl1pPr>
                      <a:lvl2pPr marL="457200" lvl="1"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5pPr>
                    </a:lstStyle>
                    <a:p>
                      <a:pPr lvl="0" defTabSz="425450">
                        <a:lnSpc>
                          <a:spcPct val="130000"/>
                        </a:lnSpc>
                        <a:spcBef>
                          <a:spcPct val="20000"/>
                        </a:spcBef>
                        <a:buNone/>
                      </a:pPr>
                      <a:r>
                        <a:rPr lang="zh-CN" altLang="en-US" sz="1600" dirty="0">
                          <a:latin typeface="Arial" panose="020B0604020202090204" pitchFamily="34" charset="0"/>
                          <a:ea typeface="楷体_GB2312" pitchFamily="49" charset="-122"/>
                        </a:rPr>
                        <a:t>片外</a:t>
                      </a:r>
                      <a:r>
                        <a:rPr lang="en-US" altLang="zh-CN" sz="1600" dirty="0">
                          <a:latin typeface="Arial" panose="020B0604020202090204" pitchFamily="34" charset="0"/>
                          <a:ea typeface="楷体_GB2312" pitchFamily="49" charset="-122"/>
                        </a:rPr>
                        <a:t>RAM</a:t>
                      </a:r>
                      <a:r>
                        <a:rPr lang="zh-CN" altLang="en-US" sz="1600" dirty="0">
                          <a:latin typeface="Arial" panose="020B0604020202090204" pitchFamily="34" charset="0"/>
                          <a:ea typeface="楷体_GB2312" pitchFamily="49" charset="-122"/>
                        </a:rPr>
                        <a:t>或</a:t>
                      </a:r>
                      <a:r>
                        <a:rPr lang="en-US" altLang="zh-CN" sz="1600" dirty="0">
                          <a:latin typeface="Arial" panose="020B0604020202090204" pitchFamily="34" charset="0"/>
                          <a:ea typeface="楷体_GB2312" pitchFamily="49" charset="-122"/>
                        </a:rPr>
                        <a:t>I/O</a:t>
                      </a:r>
                      <a:r>
                        <a:rPr lang="zh-CN" altLang="en-US" sz="1600" dirty="0">
                          <a:latin typeface="Arial" panose="020B0604020202090204" pitchFamily="34" charset="0"/>
                          <a:ea typeface="楷体_GB2312" pitchFamily="49" charset="-122"/>
                        </a:rPr>
                        <a:t>口</a:t>
                      </a:r>
                      <a:endParaRPr lang="zh-CN" altLang="en-US" sz="1600" dirty="0">
                        <a:latin typeface="Arial" panose="020B0604020202090204" pitchFamily="34" charset="0"/>
                        <a:ea typeface="楷体_GB2312" pitchFamily="49"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71487">
                <a:tc>
                  <a:txBody>
                    <a:bodyPr/>
                    <a:lstStyle>
                      <a:lvl1pPr marL="0" lvl="0"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defRPr>
                      </a:lvl1pPr>
                      <a:lvl2pPr marL="457200" lvl="1"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5pPr>
                    </a:lstStyle>
                    <a:p>
                      <a:pPr lvl="0" defTabSz="425450">
                        <a:lnSpc>
                          <a:spcPct val="130000"/>
                        </a:lnSpc>
                        <a:spcBef>
                          <a:spcPct val="20000"/>
                        </a:spcBef>
                        <a:buNone/>
                      </a:pPr>
                      <a:r>
                        <a:rPr lang="en-US" altLang="zh-CN" sz="1800" dirty="0">
                          <a:latin typeface="Arial" panose="020B0604020202090204" pitchFamily="34" charset="0"/>
                          <a:ea typeface="楷体_GB2312" pitchFamily="49" charset="-122"/>
                        </a:rPr>
                        <a:t>4</a:t>
                      </a:r>
                      <a:endParaRPr lang="en-US" altLang="zh-CN" sz="1800" dirty="0">
                        <a:latin typeface="Arial" panose="020B0604020202090204" pitchFamily="34" charset="0"/>
                        <a:ea typeface="楷体_GB2312" pitchFamily="49"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defRPr>
                      </a:lvl1pPr>
                      <a:lvl2pPr marL="457200" lvl="1"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5pPr>
                    </a:lstStyle>
                    <a:p>
                      <a:pPr lvl="0" defTabSz="425450">
                        <a:lnSpc>
                          <a:spcPct val="130000"/>
                        </a:lnSpc>
                        <a:spcBef>
                          <a:spcPct val="20000"/>
                        </a:spcBef>
                        <a:buNone/>
                      </a:pPr>
                      <a:r>
                        <a:rPr lang="zh-CN" altLang="en-US" sz="1600" dirty="0">
                          <a:latin typeface="Arial" panose="020B0604020202090204" pitchFamily="34" charset="0"/>
                          <a:ea typeface="楷体_GB2312" pitchFamily="49" charset="-122"/>
                        </a:rPr>
                        <a:t>立即寻址</a:t>
                      </a:r>
                      <a:endParaRPr lang="zh-CN" altLang="en-US" sz="1600" dirty="0">
                        <a:latin typeface="Arial" panose="020B0604020202090204" pitchFamily="34" charset="0"/>
                        <a:ea typeface="楷体_GB2312" pitchFamily="49"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defRPr>
                      </a:lvl1pPr>
                      <a:lvl2pPr marL="457200" lvl="1"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5pPr>
                    </a:lstStyle>
                    <a:p>
                      <a:pPr lvl="0" defTabSz="425450">
                        <a:lnSpc>
                          <a:spcPct val="130000"/>
                        </a:lnSpc>
                        <a:spcBef>
                          <a:spcPct val="20000"/>
                        </a:spcBef>
                        <a:buNone/>
                      </a:pPr>
                      <a:r>
                        <a:rPr lang="en-US" altLang="zh-CN" sz="1800" dirty="0">
                          <a:latin typeface="Arial" panose="020B0604020202090204" pitchFamily="34" charset="0"/>
                          <a:ea typeface="楷体_GB2312" pitchFamily="49" charset="-122"/>
                        </a:rPr>
                        <a:t>#data</a:t>
                      </a:r>
                      <a:endParaRPr lang="en-US" altLang="zh-CN" sz="1800" dirty="0">
                        <a:latin typeface="Arial" panose="020B0604020202090204" pitchFamily="34" charset="0"/>
                        <a:ea typeface="楷体_GB2312" pitchFamily="49"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defRPr>
                      </a:lvl1pPr>
                      <a:lvl2pPr marL="457200" lvl="1"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5pPr>
                    </a:lstStyle>
                    <a:p>
                      <a:pPr lvl="0" defTabSz="425450">
                        <a:lnSpc>
                          <a:spcPct val="130000"/>
                        </a:lnSpc>
                        <a:spcBef>
                          <a:spcPct val="20000"/>
                        </a:spcBef>
                        <a:buNone/>
                      </a:pPr>
                      <a:r>
                        <a:rPr lang="zh-CN" altLang="en-US" sz="1600" dirty="0">
                          <a:latin typeface="Arial" panose="020B0604020202090204" pitchFamily="34" charset="0"/>
                          <a:ea typeface="楷体_GB2312" pitchFamily="49" charset="-122"/>
                        </a:rPr>
                        <a:t>程序存储器（数在指令里）</a:t>
                      </a:r>
                      <a:endParaRPr lang="zh-CN" altLang="en-US" sz="1600" dirty="0">
                        <a:latin typeface="Arial" panose="020B0604020202090204" pitchFamily="34" charset="0"/>
                        <a:ea typeface="楷体_GB2312" pitchFamily="49"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92125">
                <a:tc>
                  <a:txBody>
                    <a:bodyPr/>
                    <a:lstStyle>
                      <a:lvl1pPr marL="0" lvl="0"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defRPr>
                      </a:lvl1pPr>
                      <a:lvl2pPr marL="457200" lvl="1"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5pPr>
                    </a:lstStyle>
                    <a:p>
                      <a:pPr lvl="0" defTabSz="425450">
                        <a:lnSpc>
                          <a:spcPct val="130000"/>
                        </a:lnSpc>
                        <a:spcBef>
                          <a:spcPct val="20000"/>
                        </a:spcBef>
                        <a:buNone/>
                      </a:pPr>
                      <a:r>
                        <a:rPr lang="en-US" altLang="zh-CN" sz="1800" dirty="0">
                          <a:latin typeface="Arial" panose="020B0604020202090204" pitchFamily="34" charset="0"/>
                          <a:ea typeface="楷体_GB2312" pitchFamily="49" charset="-122"/>
                        </a:rPr>
                        <a:t>5</a:t>
                      </a:r>
                      <a:endParaRPr lang="en-US" altLang="zh-CN" sz="1800" dirty="0">
                        <a:latin typeface="Arial" panose="020B0604020202090204" pitchFamily="34" charset="0"/>
                        <a:ea typeface="楷体_GB2312" pitchFamily="49"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defRPr>
                      </a:lvl1pPr>
                      <a:lvl2pPr marL="457200" lvl="1"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5pPr>
                    </a:lstStyle>
                    <a:p>
                      <a:pPr lvl="0" defTabSz="425450">
                        <a:lnSpc>
                          <a:spcPct val="130000"/>
                        </a:lnSpc>
                        <a:spcBef>
                          <a:spcPct val="20000"/>
                        </a:spcBef>
                        <a:buNone/>
                      </a:pPr>
                      <a:r>
                        <a:rPr lang="zh-CN" altLang="en-US" sz="1400" dirty="0">
                          <a:latin typeface="Arial" panose="020B0604020202090204" pitchFamily="34" charset="0"/>
                          <a:ea typeface="楷体_GB2312" pitchFamily="49" charset="-122"/>
                        </a:rPr>
                        <a:t>基址加变址寻址</a:t>
                      </a:r>
                      <a:endParaRPr lang="zh-CN" altLang="en-US" sz="1800" dirty="0">
                        <a:latin typeface="Arial" panose="020B0604020202090204" pitchFamily="34" charset="0"/>
                        <a:ea typeface="楷体_GB2312" pitchFamily="49"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defRPr>
                      </a:lvl1pPr>
                      <a:lvl2pPr marL="457200" lvl="1"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5pPr>
                    </a:lstStyle>
                    <a:p>
                      <a:pPr lvl="0" defTabSz="425450">
                        <a:lnSpc>
                          <a:spcPct val="130000"/>
                        </a:lnSpc>
                        <a:spcBef>
                          <a:spcPct val="20000"/>
                        </a:spcBef>
                        <a:buNone/>
                      </a:pPr>
                      <a:r>
                        <a:rPr lang="en-US" altLang="zh-CN" sz="1600" dirty="0">
                          <a:latin typeface="Arial" panose="020B0604020202090204" pitchFamily="34" charset="0"/>
                          <a:ea typeface="楷体_GB2312" pitchFamily="49" charset="-122"/>
                        </a:rPr>
                        <a:t>@A+DPTR</a:t>
                      </a:r>
                      <a:r>
                        <a:rPr lang="zh-CN" altLang="en-US" sz="1600" dirty="0">
                          <a:latin typeface="Arial" panose="020B0604020202090204" pitchFamily="34" charset="0"/>
                          <a:ea typeface="楷体_GB2312" pitchFamily="49" charset="-122"/>
                        </a:rPr>
                        <a:t>、</a:t>
                      </a:r>
                      <a:r>
                        <a:rPr lang="en-US" altLang="zh-CN" sz="1600" dirty="0">
                          <a:latin typeface="Arial" panose="020B0604020202090204" pitchFamily="34" charset="0"/>
                          <a:ea typeface="楷体_GB2312" pitchFamily="49" charset="-122"/>
                        </a:rPr>
                        <a:t>@A+PC</a:t>
                      </a:r>
                      <a:endParaRPr lang="en-US" altLang="zh-CN" sz="1600" dirty="0">
                        <a:latin typeface="Arial" panose="020B0604020202090204" pitchFamily="34" charset="0"/>
                        <a:ea typeface="楷体_GB2312" pitchFamily="49"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defRPr>
                      </a:lvl1pPr>
                      <a:lvl2pPr marL="457200" lvl="1"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5pPr>
                    </a:lstStyle>
                    <a:p>
                      <a:pPr lvl="0" defTabSz="425450">
                        <a:lnSpc>
                          <a:spcPct val="130000"/>
                        </a:lnSpc>
                        <a:spcBef>
                          <a:spcPct val="20000"/>
                        </a:spcBef>
                        <a:buNone/>
                      </a:pPr>
                      <a:r>
                        <a:rPr lang="zh-CN" altLang="en-US" sz="1600" dirty="0">
                          <a:latin typeface="Arial" panose="020B0604020202090204" pitchFamily="34" charset="0"/>
                          <a:ea typeface="楷体_GB2312" pitchFamily="49" charset="-122"/>
                        </a:rPr>
                        <a:t>程序存储器</a:t>
                      </a:r>
                      <a:endParaRPr lang="zh-CN" altLang="en-US" sz="1600" dirty="0">
                        <a:latin typeface="Arial" panose="020B0604020202090204" pitchFamily="34" charset="0"/>
                        <a:ea typeface="楷体_GB2312" pitchFamily="49"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71488">
                <a:tc>
                  <a:txBody>
                    <a:bodyPr/>
                    <a:lstStyle>
                      <a:lvl1pPr marL="0" lvl="0"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defRPr>
                      </a:lvl1pPr>
                      <a:lvl2pPr marL="457200" lvl="1"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5pPr>
                    </a:lstStyle>
                    <a:p>
                      <a:pPr lvl="0" defTabSz="425450">
                        <a:lnSpc>
                          <a:spcPct val="130000"/>
                        </a:lnSpc>
                        <a:spcBef>
                          <a:spcPct val="20000"/>
                        </a:spcBef>
                        <a:buNone/>
                      </a:pPr>
                      <a:r>
                        <a:rPr lang="en-US" altLang="zh-CN" sz="1800" dirty="0">
                          <a:latin typeface="Arial" panose="020B0604020202090204" pitchFamily="34" charset="0"/>
                          <a:ea typeface="楷体_GB2312" pitchFamily="49" charset="-122"/>
                        </a:rPr>
                        <a:t>6</a:t>
                      </a:r>
                      <a:endParaRPr lang="en-US" altLang="zh-CN" sz="1800" dirty="0">
                        <a:latin typeface="Arial" panose="020B0604020202090204" pitchFamily="34" charset="0"/>
                        <a:ea typeface="楷体_GB2312" pitchFamily="49"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defRPr>
                      </a:lvl1pPr>
                      <a:lvl2pPr marL="457200" lvl="1"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5pPr>
                    </a:lstStyle>
                    <a:p>
                      <a:pPr lvl="0" defTabSz="425450">
                        <a:lnSpc>
                          <a:spcPct val="130000"/>
                        </a:lnSpc>
                        <a:spcBef>
                          <a:spcPct val="20000"/>
                        </a:spcBef>
                        <a:buNone/>
                      </a:pPr>
                      <a:r>
                        <a:rPr lang="zh-CN" altLang="en-US" sz="1600" dirty="0">
                          <a:latin typeface="Arial" panose="020B0604020202090204" pitchFamily="34" charset="0"/>
                          <a:ea typeface="楷体_GB2312" pitchFamily="49" charset="-122"/>
                        </a:rPr>
                        <a:t>相对寻址</a:t>
                      </a:r>
                      <a:endParaRPr lang="zh-CN" altLang="en-US" sz="1600" dirty="0">
                        <a:latin typeface="Arial" panose="020B0604020202090204" pitchFamily="34" charset="0"/>
                        <a:ea typeface="楷体_GB2312" pitchFamily="49"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defRPr>
                      </a:lvl1pPr>
                      <a:lvl2pPr marL="457200" lvl="1"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5pPr>
                    </a:lstStyle>
                    <a:p>
                      <a:pPr lvl="0" defTabSz="425450">
                        <a:lnSpc>
                          <a:spcPct val="130000"/>
                        </a:lnSpc>
                        <a:spcBef>
                          <a:spcPct val="20000"/>
                        </a:spcBef>
                        <a:buNone/>
                      </a:pPr>
                      <a:r>
                        <a:rPr lang="en-US" altLang="zh-CN" sz="1600" dirty="0">
                          <a:latin typeface="Arial" panose="020B0604020202090204" pitchFamily="34" charset="0"/>
                          <a:ea typeface="楷体_GB2312" pitchFamily="49" charset="-122"/>
                        </a:rPr>
                        <a:t>PC+</a:t>
                      </a:r>
                      <a:r>
                        <a:rPr lang="zh-CN" altLang="en-US" sz="1600" dirty="0">
                          <a:latin typeface="Arial" panose="020B0604020202090204" pitchFamily="34" charset="0"/>
                          <a:ea typeface="楷体_GB2312" pitchFamily="49" charset="-122"/>
                        </a:rPr>
                        <a:t>偏移量</a:t>
                      </a:r>
                      <a:endParaRPr lang="zh-CN" altLang="en-US" sz="1600" dirty="0">
                        <a:latin typeface="Arial" panose="020B0604020202090204" pitchFamily="34" charset="0"/>
                        <a:ea typeface="楷体_GB2312" pitchFamily="49"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defRPr>
                      </a:lvl1pPr>
                      <a:lvl2pPr marL="457200" lvl="1"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5pPr>
                    </a:lstStyle>
                    <a:p>
                      <a:pPr lvl="0" defTabSz="425450">
                        <a:lnSpc>
                          <a:spcPct val="130000"/>
                        </a:lnSpc>
                        <a:spcBef>
                          <a:spcPct val="20000"/>
                        </a:spcBef>
                        <a:buNone/>
                      </a:pPr>
                      <a:r>
                        <a:rPr lang="zh-CN" altLang="en-US" sz="1600" dirty="0">
                          <a:latin typeface="Arial" panose="020B0604020202090204" pitchFamily="34" charset="0"/>
                          <a:ea typeface="楷体_GB2312" pitchFamily="49" charset="-122"/>
                        </a:rPr>
                        <a:t>程序存储器</a:t>
                      </a:r>
                      <a:endParaRPr lang="zh-CN" altLang="en-US" sz="1600" dirty="0">
                        <a:latin typeface="Arial" panose="020B0604020202090204" pitchFamily="34" charset="0"/>
                        <a:ea typeface="楷体_GB2312" pitchFamily="49"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763587">
                <a:tc>
                  <a:txBody>
                    <a:bodyPr/>
                    <a:lstStyle>
                      <a:lvl1pPr marL="0" lvl="0"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defRPr>
                      </a:lvl1pPr>
                      <a:lvl2pPr marL="457200" lvl="1"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5pPr>
                    </a:lstStyle>
                    <a:p>
                      <a:pPr lvl="0" defTabSz="425450">
                        <a:lnSpc>
                          <a:spcPct val="130000"/>
                        </a:lnSpc>
                        <a:spcBef>
                          <a:spcPct val="20000"/>
                        </a:spcBef>
                        <a:buNone/>
                      </a:pPr>
                      <a:r>
                        <a:rPr lang="en-US" altLang="zh-CN" sz="1800" dirty="0">
                          <a:latin typeface="Arial" panose="020B0604020202090204" pitchFamily="34" charset="0"/>
                          <a:ea typeface="楷体_GB2312" pitchFamily="49" charset="-122"/>
                        </a:rPr>
                        <a:t>7</a:t>
                      </a:r>
                      <a:endParaRPr lang="en-US" altLang="zh-CN" sz="1800" dirty="0">
                        <a:latin typeface="Arial" panose="020B0604020202090204" pitchFamily="34" charset="0"/>
                        <a:ea typeface="楷体_GB2312" pitchFamily="49"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defRPr>
                      </a:lvl1pPr>
                      <a:lvl2pPr marL="457200" lvl="1"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5pPr>
                    </a:lstStyle>
                    <a:p>
                      <a:pPr lvl="0" defTabSz="425450">
                        <a:lnSpc>
                          <a:spcPct val="130000"/>
                        </a:lnSpc>
                        <a:spcBef>
                          <a:spcPct val="20000"/>
                        </a:spcBef>
                        <a:buNone/>
                      </a:pPr>
                      <a:r>
                        <a:rPr lang="zh-CN" altLang="en-US" sz="1600" dirty="0">
                          <a:latin typeface="Arial" panose="020B0604020202090204" pitchFamily="34" charset="0"/>
                          <a:ea typeface="楷体_GB2312" pitchFamily="49" charset="-122"/>
                        </a:rPr>
                        <a:t>位寻址</a:t>
                      </a:r>
                      <a:endParaRPr lang="zh-CN" altLang="en-US" sz="1600" dirty="0">
                        <a:latin typeface="Arial" panose="020B0604020202090204" pitchFamily="34" charset="0"/>
                        <a:ea typeface="楷体_GB2312" pitchFamily="49"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defRPr>
                      </a:lvl1pPr>
                      <a:lvl2pPr marL="457200" lvl="1"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5pPr>
                    </a:lstStyle>
                    <a:p>
                      <a:pPr lvl="0" defTabSz="425450">
                        <a:lnSpc>
                          <a:spcPct val="130000"/>
                        </a:lnSpc>
                        <a:spcBef>
                          <a:spcPct val="20000"/>
                        </a:spcBef>
                        <a:buNone/>
                      </a:pPr>
                      <a:r>
                        <a:rPr lang="en-US" altLang="zh-CN" sz="1400" dirty="0">
                          <a:latin typeface="Arial" panose="020B0604020202090204" pitchFamily="34" charset="0"/>
                          <a:ea typeface="楷体_GB2312" pitchFamily="49" charset="-122"/>
                        </a:rPr>
                        <a:t>bit（位地址 / 寄存器名.位）</a:t>
                      </a:r>
                      <a:endParaRPr lang="zh-CN" altLang="en-US" sz="1600" dirty="0">
                        <a:latin typeface="Arial" panose="020B0604020202090204" pitchFamily="34" charset="0"/>
                        <a:ea typeface="楷体_GB2312" pitchFamily="49"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defRPr>
                      </a:lvl1pPr>
                      <a:lvl2pPr marL="457200" lvl="1"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Clr>
                          <a:schemeClr val="folHlink"/>
                        </a:buClr>
                        <a:buFont typeface="Wingdings" panose="05000000000000000000" pitchFamily="2" charset="2"/>
                        <a:buNone/>
                        <a:defRPr sz="2400" b="1" i="0" u="none" kern="1200" baseline="0">
                          <a:solidFill>
                            <a:schemeClr val="tx1"/>
                          </a:solidFill>
                          <a:latin typeface="Times New Roman" panose="02020503050405090304" pitchFamily="18" charset="0"/>
                          <a:ea typeface="仿宋_GB2312" pitchFamily="49" charset="-122"/>
                          <a:cs typeface="+mn-cs"/>
                        </a:defRPr>
                      </a:lvl5pPr>
                    </a:lstStyle>
                    <a:p>
                      <a:pPr lvl="0" defTabSz="425450">
                        <a:lnSpc>
                          <a:spcPct val="130000"/>
                        </a:lnSpc>
                        <a:spcBef>
                          <a:spcPct val="20000"/>
                        </a:spcBef>
                        <a:buNone/>
                      </a:pPr>
                      <a:r>
                        <a:rPr lang="zh-CN" altLang="en-US" sz="1600" dirty="0">
                          <a:latin typeface="Arial" panose="020B0604020202090204" pitchFamily="34" charset="0"/>
                          <a:ea typeface="楷体_GB2312" pitchFamily="49" charset="-122"/>
                        </a:rPr>
                        <a:t>内部</a:t>
                      </a:r>
                      <a:r>
                        <a:rPr lang="en-US" altLang="zh-CN" sz="1600" dirty="0">
                          <a:latin typeface="Arial" panose="020B0604020202090204" pitchFamily="34" charset="0"/>
                          <a:ea typeface="楷体_GB2312" pitchFamily="49" charset="-122"/>
                        </a:rPr>
                        <a:t>RAM 20H~2FH</a:t>
                      </a:r>
                      <a:r>
                        <a:rPr lang="zh-CN" altLang="en-US" sz="1600" dirty="0">
                          <a:latin typeface="Arial" panose="020B0604020202090204" pitchFamily="34" charset="0"/>
                          <a:ea typeface="楷体_GB2312" pitchFamily="49" charset="-122"/>
                        </a:rPr>
                        <a:t>单元的</a:t>
                      </a:r>
                      <a:r>
                        <a:rPr lang="en-US" altLang="zh-CN" sz="1600" dirty="0">
                          <a:latin typeface="Arial" panose="020B0604020202090204" pitchFamily="34" charset="0"/>
                          <a:ea typeface="楷体_GB2312" pitchFamily="49" charset="-122"/>
                        </a:rPr>
                        <a:t>128</a:t>
                      </a:r>
                      <a:r>
                        <a:rPr lang="zh-CN" altLang="en-US" sz="1600" dirty="0">
                          <a:latin typeface="Arial" panose="020B0604020202090204" pitchFamily="34" charset="0"/>
                          <a:ea typeface="楷体_GB2312" pitchFamily="49" charset="-122"/>
                        </a:rPr>
                        <a:t>个可寻址位、</a:t>
                      </a:r>
                      <a:r>
                        <a:rPr lang="en-US" altLang="zh-CN" sz="1600" dirty="0">
                          <a:latin typeface="Arial" panose="020B0604020202090204" pitchFamily="34" charset="0"/>
                          <a:ea typeface="楷体_GB2312" pitchFamily="49" charset="-122"/>
                        </a:rPr>
                        <a:t>SFR</a:t>
                      </a:r>
                      <a:r>
                        <a:rPr lang="zh-CN" altLang="en-US" sz="1600" dirty="0">
                          <a:latin typeface="Arial" panose="020B0604020202090204" pitchFamily="34" charset="0"/>
                          <a:ea typeface="楷体_GB2312" pitchFamily="49" charset="-122"/>
                        </a:rPr>
                        <a:t>中的</a:t>
                      </a:r>
                      <a:r>
                        <a:rPr lang="en-US" altLang="zh-CN" sz="1600" dirty="0">
                          <a:latin typeface="Arial" panose="020B0604020202090204" pitchFamily="34" charset="0"/>
                          <a:ea typeface="楷体_GB2312" pitchFamily="49" charset="-122"/>
                        </a:rPr>
                        <a:t>83</a:t>
                      </a:r>
                      <a:r>
                        <a:rPr lang="zh-CN" altLang="en-US" sz="1600" dirty="0">
                          <a:latin typeface="Arial" panose="020B0604020202090204" pitchFamily="34" charset="0"/>
                          <a:ea typeface="楷体_GB2312" pitchFamily="49" charset="-122"/>
                        </a:rPr>
                        <a:t>个可寻址位</a:t>
                      </a:r>
                      <a:endParaRPr lang="zh-CN" altLang="en-US" sz="1600" dirty="0">
                        <a:latin typeface="Arial" panose="020B0604020202090204" pitchFamily="34" charset="0"/>
                        <a:ea typeface="楷体_GB2312" pitchFamily="49"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60467" name="Text Box 179"/>
          <p:cNvSpPr txBox="1"/>
          <p:nvPr/>
        </p:nvSpPr>
        <p:spPr>
          <a:xfrm>
            <a:off x="2411413" y="6381750"/>
            <a:ext cx="3097212" cy="304800"/>
          </a:xfrm>
          <a:prstGeom prst="rect">
            <a:avLst/>
          </a:prstGeom>
          <a:noFill/>
          <a:ln w="9525">
            <a:noFill/>
          </a:ln>
        </p:spPr>
        <p:txBody>
          <a:bodyPr anchor="t" anchorCtr="0">
            <a:spAutoFit/>
          </a:bodyPr>
          <a:p>
            <a:pPr>
              <a:spcBef>
                <a:spcPct val="50000"/>
              </a:spcBef>
              <a:buClrTx/>
              <a:buFontTx/>
            </a:pPr>
            <a:r>
              <a:rPr lang="en-US" altLang="zh-CN" sz="1400" dirty="0">
                <a:solidFill>
                  <a:schemeClr val="accent2"/>
                </a:solidFill>
                <a:latin typeface="黑体" panose="02010609060101010101" pitchFamily="49" charset="-122"/>
                <a:ea typeface="黑体" panose="02010609060101010101" pitchFamily="49" charset="-122"/>
              </a:rPr>
              <a:t>7</a:t>
            </a:r>
            <a:r>
              <a:rPr lang="zh-CN" altLang="en-US" sz="1400" dirty="0">
                <a:solidFill>
                  <a:schemeClr val="accent2"/>
                </a:solidFill>
                <a:latin typeface="黑体" panose="02010609060101010101" pitchFamily="49" charset="-122"/>
                <a:ea typeface="黑体" panose="02010609060101010101" pitchFamily="49" charset="-122"/>
              </a:rPr>
              <a:t>种寻址方式及其寻址空间</a:t>
            </a:r>
            <a:endParaRPr lang="zh-CN" altLang="en-US" sz="1400" dirty="0">
              <a:solidFill>
                <a:schemeClr val="accent2"/>
              </a:solidFill>
              <a:latin typeface="黑体" panose="02010609060101010101" pitchFamily="49" charset="-122"/>
              <a:ea typeface="黑体" panose="02010609060101010101" pitchFamily="49" charset="-122"/>
            </a:endParaRPr>
          </a:p>
        </p:txBody>
      </p:sp>
      <p:sp>
        <p:nvSpPr>
          <p:cNvPr id="132276" name="Rectangle 180"/>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第三章     </a:t>
            </a:r>
            <a:r>
              <a:rPr kumimoji="1" lang="en-US" altLang="zh-CN"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指令系统</a:t>
            </a:r>
            <a:r>
              <a:rPr kumimoji="1" lang="en-US" altLang="zh-CN"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a:t>
            </a:r>
            <a:r>
              <a:rPr kumimoji="1" lang="en-US" altLang="zh-CN" sz="2400" b="1" i="0" u="none" strike="noStrike" kern="0" cap="none" spc="0" normalizeH="0" baseline="0" noProof="0" smtClean="0">
                <a:ln>
                  <a:noFill/>
                </a:ln>
                <a:solidFill>
                  <a:schemeClr val="accent2"/>
                </a:solidFill>
                <a:effectLst>
                  <a:outerShdw blurRad="38100" dist="38100" dir="2700000" algn="tl">
                    <a:srgbClr val="C0C0C0"/>
                  </a:outerShdw>
                </a:effectLst>
                <a:uLnTx/>
                <a:uFillTx/>
                <a:latin typeface="+mj-lt"/>
                <a:ea typeface="+mj-ea"/>
                <a:cs typeface="+mj-cs"/>
              </a:rPr>
              <a:t>7</a:t>
            </a:r>
            <a:r>
              <a:rPr kumimoji="1" lang="zh-CN" altLang="en-US" sz="2400" b="1" i="0" u="none" strike="noStrike" kern="0" cap="none" spc="0" normalizeH="0" baseline="0" noProof="0" smtClean="0">
                <a:ln>
                  <a:noFill/>
                </a:ln>
                <a:solidFill>
                  <a:schemeClr val="accent2"/>
                </a:solidFill>
                <a:effectLst>
                  <a:outerShdw blurRad="38100" dist="38100" dir="2700000" algn="tl">
                    <a:srgbClr val="C0C0C0"/>
                  </a:outerShdw>
                </a:effectLst>
                <a:uLnTx/>
                <a:uFillTx/>
                <a:latin typeface="+mj-lt"/>
                <a:ea typeface="+mj-ea"/>
                <a:cs typeface="+mj-cs"/>
              </a:rPr>
              <a:t>种寻址方式总结</a:t>
            </a:r>
            <a:endParaRPr kumimoji="1" lang="zh-CN" altLang="en-US" sz="2400" b="1" i="0" u="none" strike="noStrike" kern="0" cap="none" spc="0" normalizeH="0" baseline="0" noProof="0" smtClean="0">
              <a:ln>
                <a:noFill/>
              </a:ln>
              <a:solidFill>
                <a:schemeClr val="accent2"/>
              </a:solidFill>
              <a:effectLst>
                <a:outerShdw blurRad="38100" dist="38100" dir="2700000" algn="tl">
                  <a:srgbClr val="C0C0C0"/>
                </a:outerShdw>
              </a:effectLst>
              <a:uLnTx/>
              <a:uFillTx/>
              <a:latin typeface="+mj-lt"/>
              <a:ea typeface="+mj-ea"/>
              <a:cs typeface="+mj-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61442" name="矩形 1024006"/>
          <p:cNvSpPr/>
          <p:nvPr/>
        </p:nvSpPr>
        <p:spPr>
          <a:xfrm>
            <a:off x="971550" y="1412875"/>
            <a:ext cx="4838700" cy="4254500"/>
          </a:xfrm>
          <a:prstGeom prst="rect">
            <a:avLst/>
          </a:prstGeom>
          <a:noFill/>
          <a:ln w="9525">
            <a:noFill/>
          </a:ln>
        </p:spPr>
        <p:txBody>
          <a:bodyPr anchor="t" anchorCtr="0">
            <a:spAutoFit/>
          </a:bodyPr>
          <a:p>
            <a:pPr>
              <a:lnSpc>
                <a:spcPct val="120000"/>
              </a:lnSpc>
              <a:spcBef>
                <a:spcPct val="50000"/>
              </a:spcBef>
              <a:buSzPct val="90000"/>
            </a:pPr>
            <a:r>
              <a:rPr lang="zh-CN" altLang="en-US" dirty="0">
                <a:solidFill>
                  <a:srgbClr val="000000"/>
                </a:solidFill>
                <a:latin typeface="宋体" pitchFamily="2" charset="-122"/>
                <a:ea typeface="仿宋_GB2312" pitchFamily="49" charset="-122"/>
              </a:rPr>
              <a:t>1．</a:t>
            </a:r>
            <a:r>
              <a:rPr lang="en-US" altLang="zh-CN">
                <a:solidFill>
                  <a:srgbClr val="000000"/>
                </a:solidFill>
                <a:latin typeface="宋体" pitchFamily="2" charset="-122"/>
                <a:ea typeface="仿宋_GB2312" pitchFamily="49" charset="-122"/>
              </a:rPr>
              <a:t>MOV  A，#10H</a:t>
            </a:r>
            <a:endParaRPr lang="en-US" altLang="zh-CN">
              <a:solidFill>
                <a:srgbClr val="000000"/>
              </a:solidFill>
              <a:latin typeface="宋体" pitchFamily="2" charset="-122"/>
              <a:ea typeface="仿宋_GB2312" pitchFamily="49" charset="-122"/>
            </a:endParaRPr>
          </a:p>
          <a:p>
            <a:pPr>
              <a:lnSpc>
                <a:spcPct val="120000"/>
              </a:lnSpc>
              <a:spcBef>
                <a:spcPct val="50000"/>
              </a:spcBef>
              <a:buSzPct val="90000"/>
            </a:pPr>
            <a:r>
              <a:rPr lang="en-US" altLang="zh-CN">
                <a:solidFill>
                  <a:srgbClr val="000000"/>
                </a:solidFill>
                <a:latin typeface="宋体" pitchFamily="2" charset="-122"/>
                <a:ea typeface="仿宋_GB2312" pitchFamily="49" charset="-122"/>
              </a:rPr>
              <a:t>2. MOV  R0, A</a:t>
            </a:r>
            <a:endParaRPr lang="en-US" altLang="zh-CN">
              <a:solidFill>
                <a:srgbClr val="000000"/>
              </a:solidFill>
              <a:latin typeface="宋体" pitchFamily="2" charset="-122"/>
              <a:ea typeface="仿宋_GB2312" pitchFamily="49" charset="-122"/>
            </a:endParaRPr>
          </a:p>
          <a:p>
            <a:pPr>
              <a:lnSpc>
                <a:spcPct val="120000"/>
              </a:lnSpc>
              <a:spcBef>
                <a:spcPct val="50000"/>
              </a:spcBef>
              <a:buSzPct val="90000"/>
            </a:pPr>
            <a:r>
              <a:rPr lang="en-US" altLang="zh-CN">
                <a:solidFill>
                  <a:srgbClr val="000000"/>
                </a:solidFill>
                <a:latin typeface="宋体" pitchFamily="2" charset="-122"/>
                <a:ea typeface="仿宋_GB2312" pitchFamily="49" charset="-122"/>
              </a:rPr>
              <a:t>3</a:t>
            </a:r>
            <a:r>
              <a:rPr lang="zh-CN" altLang="en-US" dirty="0">
                <a:solidFill>
                  <a:srgbClr val="000000"/>
                </a:solidFill>
                <a:latin typeface="宋体" pitchFamily="2" charset="-122"/>
                <a:ea typeface="仿宋_GB2312" pitchFamily="49" charset="-122"/>
              </a:rPr>
              <a:t>．</a:t>
            </a:r>
            <a:r>
              <a:rPr lang="en-US" altLang="zh-CN">
                <a:solidFill>
                  <a:srgbClr val="000000"/>
                </a:solidFill>
                <a:latin typeface="宋体" pitchFamily="2" charset="-122"/>
                <a:ea typeface="仿宋_GB2312" pitchFamily="49" charset="-122"/>
              </a:rPr>
              <a:t>ANL  A</a:t>
            </a:r>
            <a:r>
              <a:rPr lang="zh-CN" altLang="en-US" dirty="0">
                <a:solidFill>
                  <a:srgbClr val="000000"/>
                </a:solidFill>
                <a:latin typeface="宋体" pitchFamily="2" charset="-122"/>
                <a:ea typeface="仿宋_GB2312" pitchFamily="49" charset="-122"/>
              </a:rPr>
              <a:t>，</a:t>
            </a:r>
            <a:r>
              <a:rPr lang="en-US" altLang="zh-CN">
                <a:solidFill>
                  <a:srgbClr val="000000"/>
                </a:solidFill>
                <a:latin typeface="宋体" pitchFamily="2" charset="-122"/>
                <a:ea typeface="仿宋_GB2312" pitchFamily="49" charset="-122"/>
              </a:rPr>
              <a:t>20H </a:t>
            </a:r>
            <a:endParaRPr lang="en-US" altLang="zh-CN">
              <a:solidFill>
                <a:srgbClr val="000000"/>
              </a:solidFill>
              <a:latin typeface="宋体" pitchFamily="2" charset="-122"/>
              <a:ea typeface="仿宋_GB2312" pitchFamily="49" charset="-122"/>
            </a:endParaRPr>
          </a:p>
          <a:p>
            <a:pPr>
              <a:lnSpc>
                <a:spcPct val="120000"/>
              </a:lnSpc>
              <a:spcBef>
                <a:spcPct val="50000"/>
              </a:spcBef>
              <a:buSzPct val="90000"/>
            </a:pPr>
            <a:r>
              <a:rPr lang="en-US" altLang="zh-CN">
                <a:solidFill>
                  <a:srgbClr val="000000"/>
                </a:solidFill>
                <a:latin typeface="宋体" pitchFamily="2" charset="-122"/>
                <a:ea typeface="仿宋_GB2312" pitchFamily="49" charset="-122"/>
              </a:rPr>
              <a:t>4</a:t>
            </a:r>
            <a:r>
              <a:rPr lang="zh-CN" altLang="en-US" dirty="0">
                <a:solidFill>
                  <a:srgbClr val="000000"/>
                </a:solidFill>
                <a:latin typeface="宋体" pitchFamily="2" charset="-122"/>
                <a:ea typeface="仿宋_GB2312" pitchFamily="49" charset="-122"/>
              </a:rPr>
              <a:t>．</a:t>
            </a:r>
            <a:r>
              <a:rPr lang="en-US" altLang="zh-CN">
                <a:solidFill>
                  <a:srgbClr val="000000"/>
                </a:solidFill>
                <a:latin typeface="宋体" pitchFamily="2" charset="-122"/>
                <a:ea typeface="仿宋_GB2312" pitchFamily="49" charset="-122"/>
              </a:rPr>
              <a:t>JZ  </a:t>
            </a:r>
            <a:r>
              <a:rPr lang="en-US" altLang="zh-CN" dirty="0" err="1">
                <a:solidFill>
                  <a:srgbClr val="000000"/>
                </a:solidFill>
                <a:latin typeface="宋体" pitchFamily="2" charset="-122"/>
                <a:ea typeface="仿宋_GB2312" pitchFamily="49" charset="-122"/>
              </a:rPr>
              <a:t>rel</a:t>
            </a:r>
            <a:endParaRPr lang="en-US" altLang="zh-CN">
              <a:solidFill>
                <a:srgbClr val="000000"/>
              </a:solidFill>
              <a:latin typeface="宋体" pitchFamily="2" charset="-122"/>
              <a:ea typeface="仿宋_GB2312" pitchFamily="49" charset="-122"/>
            </a:endParaRPr>
          </a:p>
          <a:p>
            <a:pPr>
              <a:lnSpc>
                <a:spcPct val="120000"/>
              </a:lnSpc>
              <a:spcBef>
                <a:spcPct val="50000"/>
              </a:spcBef>
              <a:buSzPct val="90000"/>
            </a:pPr>
            <a:r>
              <a:rPr lang="en-US" altLang="zh-CN">
                <a:solidFill>
                  <a:srgbClr val="000000"/>
                </a:solidFill>
                <a:latin typeface="宋体" pitchFamily="2" charset="-122"/>
                <a:ea typeface="仿宋_GB2312" pitchFamily="49" charset="-122"/>
              </a:rPr>
              <a:t>5</a:t>
            </a:r>
            <a:r>
              <a:rPr lang="zh-CN" altLang="en-US" dirty="0">
                <a:solidFill>
                  <a:srgbClr val="000000"/>
                </a:solidFill>
                <a:latin typeface="宋体" pitchFamily="2" charset="-122"/>
                <a:ea typeface="仿宋_GB2312" pitchFamily="49" charset="-122"/>
              </a:rPr>
              <a:t>．</a:t>
            </a:r>
            <a:r>
              <a:rPr lang="en-US" altLang="zh-CN">
                <a:solidFill>
                  <a:srgbClr val="000000"/>
                </a:solidFill>
                <a:latin typeface="宋体" pitchFamily="2" charset="-122"/>
                <a:ea typeface="仿宋_GB2312" pitchFamily="49" charset="-122"/>
              </a:rPr>
              <a:t>CLR  C </a:t>
            </a:r>
            <a:endParaRPr lang="en-US" altLang="zh-CN">
              <a:solidFill>
                <a:srgbClr val="000000"/>
              </a:solidFill>
              <a:latin typeface="宋体" pitchFamily="2" charset="-122"/>
              <a:ea typeface="仿宋_GB2312" pitchFamily="49" charset="-122"/>
            </a:endParaRPr>
          </a:p>
          <a:p>
            <a:pPr>
              <a:lnSpc>
                <a:spcPct val="120000"/>
              </a:lnSpc>
              <a:spcBef>
                <a:spcPct val="50000"/>
              </a:spcBef>
              <a:buSzPct val="90000"/>
            </a:pPr>
            <a:r>
              <a:rPr lang="en-US" altLang="zh-CN">
                <a:solidFill>
                  <a:srgbClr val="000000"/>
                </a:solidFill>
                <a:latin typeface="宋体" pitchFamily="2" charset="-122"/>
                <a:ea typeface="仿宋_GB2312" pitchFamily="49" charset="-122"/>
              </a:rPr>
              <a:t>6. MOV  A,@R0</a:t>
            </a:r>
            <a:endParaRPr lang="en-US" altLang="zh-CN">
              <a:solidFill>
                <a:srgbClr val="000000"/>
              </a:solidFill>
              <a:latin typeface="宋体" pitchFamily="2" charset="-122"/>
              <a:ea typeface="仿宋_GB2312" pitchFamily="49" charset="-122"/>
            </a:endParaRPr>
          </a:p>
          <a:p>
            <a:pPr>
              <a:lnSpc>
                <a:spcPct val="120000"/>
              </a:lnSpc>
              <a:spcBef>
                <a:spcPct val="50000"/>
              </a:spcBef>
              <a:buSzPct val="90000"/>
            </a:pPr>
            <a:r>
              <a:rPr lang="en-US" altLang="zh-CN">
                <a:solidFill>
                  <a:srgbClr val="000000"/>
                </a:solidFill>
                <a:latin typeface="宋体" pitchFamily="2" charset="-122"/>
                <a:ea typeface="仿宋_GB2312" pitchFamily="49" charset="-122"/>
              </a:rPr>
              <a:t>7. MOVC A</a:t>
            </a:r>
            <a:r>
              <a:rPr lang="zh-CN" altLang="en-US" dirty="0">
                <a:solidFill>
                  <a:srgbClr val="000000"/>
                </a:solidFill>
                <a:latin typeface="宋体" pitchFamily="2" charset="-122"/>
                <a:ea typeface="仿宋_GB2312" pitchFamily="49" charset="-122"/>
              </a:rPr>
              <a:t>，</a:t>
            </a:r>
            <a:r>
              <a:rPr lang="en-US" altLang="zh-CN">
                <a:solidFill>
                  <a:srgbClr val="000000"/>
                </a:solidFill>
                <a:latin typeface="宋体" pitchFamily="2" charset="-122"/>
                <a:ea typeface="仿宋_GB2312" pitchFamily="49" charset="-122"/>
              </a:rPr>
              <a:t>@A+DPTR</a:t>
            </a:r>
            <a:endParaRPr lang="en-US" altLang="zh-CN">
              <a:solidFill>
                <a:srgbClr val="000000"/>
              </a:solidFill>
              <a:latin typeface="宋体" pitchFamily="2" charset="-122"/>
              <a:ea typeface="仿宋_GB2312" pitchFamily="49" charset="-122"/>
            </a:endParaRPr>
          </a:p>
        </p:txBody>
      </p:sp>
      <p:sp>
        <p:nvSpPr>
          <p:cNvPr id="1024008" name="矩形 1024007"/>
          <p:cNvSpPr/>
          <p:nvPr/>
        </p:nvSpPr>
        <p:spPr>
          <a:xfrm>
            <a:off x="179388" y="908050"/>
            <a:ext cx="8305800" cy="457200"/>
          </a:xfrm>
          <a:prstGeom prst="rect">
            <a:avLst/>
          </a:prstGeom>
          <a:noFill/>
          <a:ln w="9525">
            <a:noFill/>
          </a:ln>
        </p:spPr>
        <p:txBody>
          <a:bodyPr wrap="none" anchor="t">
            <a:spAutoFit/>
          </a:bodyPr>
          <a:p>
            <a:pPr fontAlgn="base"/>
            <a:r>
              <a:rPr lang="zh-CN" altLang="en-US" b="1" strike="noStrike" noProof="1" dirty="0">
                <a:solidFill>
                  <a:srgbClr val="0025C0"/>
                </a:solidFill>
                <a:effectLst>
                  <a:outerShdw blurRad="38100" dist="38100" dir="2700000">
                    <a:srgbClr val="000000"/>
                  </a:outerShdw>
                </a:effectLst>
                <a:latin typeface="宋体" pitchFamily="2" charset="-122"/>
                <a:ea typeface="仿宋_GB2312" pitchFamily="49" charset="-122"/>
                <a:cs typeface="+mn-cs"/>
              </a:rPr>
              <a:t>练习</a:t>
            </a:r>
            <a:r>
              <a:rPr lang="en-US" altLang="zh-CN" b="1" strike="noStrike" noProof="1">
                <a:solidFill>
                  <a:srgbClr val="0025C0"/>
                </a:solidFill>
                <a:effectLst>
                  <a:outerShdw blurRad="38100" dist="38100" dir="2700000">
                    <a:srgbClr val="000000"/>
                  </a:outerShdw>
                </a:effectLst>
                <a:latin typeface="宋体" pitchFamily="2" charset="-122"/>
                <a:ea typeface="仿宋_GB2312" pitchFamily="49" charset="-122"/>
                <a:cs typeface="+mn-cs"/>
              </a:rPr>
              <a:t>3.1</a:t>
            </a:r>
            <a:r>
              <a:rPr lang="zh-CN" altLang="en-US" b="1" strike="noStrike" noProof="1" dirty="0">
                <a:solidFill>
                  <a:srgbClr val="0025C0"/>
                </a:solidFill>
                <a:effectLst>
                  <a:outerShdw blurRad="38100" dist="38100" dir="2700000">
                    <a:srgbClr val="000000"/>
                  </a:outerShdw>
                </a:effectLst>
                <a:latin typeface="宋体" pitchFamily="2" charset="-122"/>
                <a:ea typeface="仿宋_GB2312" pitchFamily="49" charset="-122"/>
                <a:cs typeface="+mn-cs"/>
              </a:rPr>
              <a:t>：判断下列指令的源操作数和目的操作数的寻址方式</a:t>
            </a:r>
            <a:endParaRPr lang="zh-CN" altLang="en-US" b="1" strike="noStrike" noProof="1" dirty="0">
              <a:solidFill>
                <a:srgbClr val="0025C0"/>
              </a:solidFill>
              <a:effectLst>
                <a:outerShdw blurRad="38100" dist="38100" dir="2700000">
                  <a:srgbClr val="000000"/>
                </a:outerShdw>
              </a:effectLst>
              <a:latin typeface="宋体" pitchFamily="2"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62466" name="矩形 1025030"/>
          <p:cNvSpPr/>
          <p:nvPr/>
        </p:nvSpPr>
        <p:spPr>
          <a:xfrm>
            <a:off x="971550" y="1412875"/>
            <a:ext cx="7777163" cy="4254500"/>
          </a:xfrm>
          <a:prstGeom prst="rect">
            <a:avLst/>
          </a:prstGeom>
          <a:noFill/>
          <a:ln w="9525">
            <a:noFill/>
          </a:ln>
        </p:spPr>
        <p:txBody>
          <a:bodyPr anchor="t" anchorCtr="0">
            <a:spAutoFit/>
          </a:bodyPr>
          <a:p>
            <a:pPr>
              <a:lnSpc>
                <a:spcPct val="120000"/>
              </a:lnSpc>
              <a:spcBef>
                <a:spcPct val="50000"/>
              </a:spcBef>
              <a:buSzPct val="90000"/>
            </a:pPr>
            <a:r>
              <a:rPr lang="zh-CN" altLang="en-US" dirty="0">
                <a:solidFill>
                  <a:srgbClr val="000000"/>
                </a:solidFill>
                <a:latin typeface="宋体" pitchFamily="2" charset="-122"/>
                <a:ea typeface="仿宋_GB2312" pitchFamily="49" charset="-122"/>
              </a:rPr>
              <a:t>1．</a:t>
            </a:r>
            <a:r>
              <a:rPr lang="en-US" altLang="zh-CN">
                <a:solidFill>
                  <a:srgbClr val="000000"/>
                </a:solidFill>
                <a:latin typeface="宋体" pitchFamily="2" charset="-122"/>
                <a:ea typeface="仿宋_GB2312" pitchFamily="49" charset="-122"/>
              </a:rPr>
              <a:t>MOV  A，#10H  </a:t>
            </a:r>
            <a:r>
              <a:rPr lang="zh-CN" altLang="en-US" dirty="0">
                <a:solidFill>
                  <a:srgbClr val="000000"/>
                </a:solidFill>
                <a:latin typeface="宋体" pitchFamily="2" charset="-122"/>
                <a:ea typeface="仿宋_GB2312" pitchFamily="49" charset="-122"/>
              </a:rPr>
              <a:t>；源立即寻址，目的寄存器寻址</a:t>
            </a:r>
            <a:endParaRPr lang="zh-CN" altLang="en-US" dirty="0">
              <a:solidFill>
                <a:srgbClr val="000000"/>
              </a:solidFill>
              <a:latin typeface="宋体" pitchFamily="2" charset="-122"/>
              <a:ea typeface="仿宋_GB2312" pitchFamily="49" charset="-122"/>
            </a:endParaRPr>
          </a:p>
          <a:p>
            <a:pPr>
              <a:lnSpc>
                <a:spcPct val="120000"/>
              </a:lnSpc>
              <a:spcBef>
                <a:spcPct val="50000"/>
              </a:spcBef>
              <a:buSzPct val="90000"/>
            </a:pPr>
            <a:r>
              <a:rPr lang="en-US" altLang="zh-CN">
                <a:solidFill>
                  <a:srgbClr val="000000"/>
                </a:solidFill>
                <a:latin typeface="宋体" pitchFamily="2" charset="-122"/>
                <a:ea typeface="仿宋_GB2312" pitchFamily="49" charset="-122"/>
              </a:rPr>
              <a:t>2. MOV  R0, A    </a:t>
            </a:r>
            <a:r>
              <a:rPr lang="zh-CN" altLang="en-US" dirty="0">
                <a:solidFill>
                  <a:srgbClr val="000000"/>
                </a:solidFill>
                <a:latin typeface="宋体" pitchFamily="2" charset="-122"/>
                <a:ea typeface="仿宋_GB2312" pitchFamily="49" charset="-122"/>
              </a:rPr>
              <a:t>；源和目的都是寄存器寻址</a:t>
            </a:r>
            <a:endParaRPr lang="zh-CN" altLang="en-US" dirty="0">
              <a:solidFill>
                <a:srgbClr val="000000"/>
              </a:solidFill>
              <a:latin typeface="宋体" pitchFamily="2" charset="-122"/>
              <a:ea typeface="仿宋_GB2312" pitchFamily="49" charset="-122"/>
            </a:endParaRPr>
          </a:p>
          <a:p>
            <a:pPr>
              <a:lnSpc>
                <a:spcPct val="120000"/>
              </a:lnSpc>
              <a:spcBef>
                <a:spcPct val="50000"/>
              </a:spcBef>
              <a:buSzPct val="90000"/>
            </a:pPr>
            <a:r>
              <a:rPr lang="en-US" altLang="zh-CN">
                <a:solidFill>
                  <a:srgbClr val="000000"/>
                </a:solidFill>
                <a:latin typeface="宋体" pitchFamily="2" charset="-122"/>
                <a:ea typeface="仿宋_GB2312" pitchFamily="49" charset="-122"/>
              </a:rPr>
              <a:t>3</a:t>
            </a:r>
            <a:r>
              <a:rPr lang="zh-CN" altLang="en-US" dirty="0">
                <a:solidFill>
                  <a:srgbClr val="000000"/>
                </a:solidFill>
                <a:latin typeface="宋体" pitchFamily="2" charset="-122"/>
                <a:ea typeface="仿宋_GB2312" pitchFamily="49" charset="-122"/>
              </a:rPr>
              <a:t>．</a:t>
            </a:r>
            <a:r>
              <a:rPr lang="en-US" altLang="zh-CN">
                <a:solidFill>
                  <a:srgbClr val="000000"/>
                </a:solidFill>
                <a:latin typeface="宋体" pitchFamily="2" charset="-122"/>
                <a:ea typeface="仿宋_GB2312" pitchFamily="49" charset="-122"/>
              </a:rPr>
              <a:t>ANL  A</a:t>
            </a:r>
            <a:r>
              <a:rPr lang="zh-CN" altLang="en-US" dirty="0">
                <a:solidFill>
                  <a:srgbClr val="000000"/>
                </a:solidFill>
                <a:latin typeface="宋体" pitchFamily="2" charset="-122"/>
                <a:ea typeface="仿宋_GB2312" pitchFamily="49" charset="-122"/>
              </a:rPr>
              <a:t>，</a:t>
            </a:r>
            <a:r>
              <a:rPr lang="en-US" altLang="zh-CN">
                <a:solidFill>
                  <a:srgbClr val="000000"/>
                </a:solidFill>
                <a:latin typeface="宋体" pitchFamily="2" charset="-122"/>
                <a:ea typeface="仿宋_GB2312" pitchFamily="49" charset="-122"/>
              </a:rPr>
              <a:t>20H  </a:t>
            </a:r>
            <a:r>
              <a:rPr lang="zh-CN" altLang="en-US" dirty="0">
                <a:solidFill>
                  <a:srgbClr val="000000"/>
                </a:solidFill>
                <a:latin typeface="宋体" pitchFamily="2" charset="-122"/>
                <a:ea typeface="仿宋_GB2312" pitchFamily="49" charset="-122"/>
              </a:rPr>
              <a:t>； 源直接寻址，目的寄存器寻址</a:t>
            </a:r>
            <a:endParaRPr lang="zh-CN" altLang="en-US" dirty="0">
              <a:solidFill>
                <a:srgbClr val="000000"/>
              </a:solidFill>
              <a:latin typeface="宋体" pitchFamily="2" charset="-122"/>
              <a:ea typeface="仿宋_GB2312" pitchFamily="49" charset="-122"/>
            </a:endParaRPr>
          </a:p>
          <a:p>
            <a:pPr>
              <a:lnSpc>
                <a:spcPct val="120000"/>
              </a:lnSpc>
              <a:spcBef>
                <a:spcPct val="50000"/>
              </a:spcBef>
              <a:buSzPct val="90000"/>
            </a:pPr>
            <a:r>
              <a:rPr lang="en-US" altLang="zh-CN">
                <a:solidFill>
                  <a:srgbClr val="000000"/>
                </a:solidFill>
                <a:latin typeface="宋体" pitchFamily="2" charset="-122"/>
                <a:ea typeface="仿宋_GB2312" pitchFamily="49" charset="-122"/>
              </a:rPr>
              <a:t>4</a:t>
            </a:r>
            <a:r>
              <a:rPr lang="zh-CN" altLang="en-US" dirty="0">
                <a:solidFill>
                  <a:srgbClr val="000000"/>
                </a:solidFill>
                <a:latin typeface="宋体" pitchFamily="2" charset="-122"/>
                <a:ea typeface="仿宋_GB2312" pitchFamily="49" charset="-122"/>
              </a:rPr>
              <a:t>．</a:t>
            </a:r>
            <a:r>
              <a:rPr lang="en-US" altLang="zh-CN">
                <a:solidFill>
                  <a:srgbClr val="000000"/>
                </a:solidFill>
                <a:latin typeface="宋体" pitchFamily="2" charset="-122"/>
                <a:ea typeface="仿宋_GB2312" pitchFamily="49" charset="-122"/>
              </a:rPr>
              <a:t>JZ  </a:t>
            </a:r>
            <a:r>
              <a:rPr lang="en-US" altLang="zh-CN" dirty="0" err="1">
                <a:solidFill>
                  <a:srgbClr val="000000"/>
                </a:solidFill>
                <a:latin typeface="宋体" pitchFamily="2" charset="-122"/>
                <a:ea typeface="仿宋_GB2312" pitchFamily="49" charset="-122"/>
              </a:rPr>
              <a:t>rel</a:t>
            </a:r>
            <a:r>
              <a:rPr lang="en-US" altLang="zh-CN">
                <a:solidFill>
                  <a:srgbClr val="000000"/>
                </a:solidFill>
                <a:latin typeface="宋体" pitchFamily="2" charset="-122"/>
                <a:ea typeface="仿宋_GB2312" pitchFamily="49" charset="-122"/>
              </a:rPr>
              <a:t>   </a:t>
            </a:r>
            <a:r>
              <a:rPr lang="zh-CN" altLang="en-US" dirty="0">
                <a:solidFill>
                  <a:srgbClr val="000000"/>
                </a:solidFill>
                <a:latin typeface="宋体" pitchFamily="2" charset="-122"/>
                <a:ea typeface="仿宋_GB2312" pitchFamily="49" charset="-122"/>
              </a:rPr>
              <a:t>；相对寻址</a:t>
            </a:r>
            <a:endParaRPr lang="zh-CN" altLang="en-US" dirty="0">
              <a:solidFill>
                <a:srgbClr val="000000"/>
              </a:solidFill>
              <a:latin typeface="宋体" pitchFamily="2" charset="-122"/>
              <a:ea typeface="仿宋_GB2312" pitchFamily="49" charset="-122"/>
            </a:endParaRPr>
          </a:p>
          <a:p>
            <a:pPr>
              <a:lnSpc>
                <a:spcPct val="120000"/>
              </a:lnSpc>
              <a:spcBef>
                <a:spcPct val="50000"/>
              </a:spcBef>
              <a:buSzPct val="90000"/>
            </a:pPr>
            <a:r>
              <a:rPr lang="en-US" altLang="zh-CN">
                <a:solidFill>
                  <a:srgbClr val="000000"/>
                </a:solidFill>
                <a:latin typeface="宋体" pitchFamily="2" charset="-122"/>
                <a:ea typeface="仿宋_GB2312" pitchFamily="49" charset="-122"/>
              </a:rPr>
              <a:t>5</a:t>
            </a:r>
            <a:r>
              <a:rPr lang="zh-CN" altLang="en-US" dirty="0">
                <a:solidFill>
                  <a:srgbClr val="000000"/>
                </a:solidFill>
                <a:latin typeface="宋体" pitchFamily="2" charset="-122"/>
                <a:ea typeface="仿宋_GB2312" pitchFamily="49" charset="-122"/>
              </a:rPr>
              <a:t>．</a:t>
            </a:r>
            <a:r>
              <a:rPr lang="en-US" altLang="zh-CN">
                <a:solidFill>
                  <a:srgbClr val="000000"/>
                </a:solidFill>
                <a:latin typeface="宋体" pitchFamily="2" charset="-122"/>
                <a:ea typeface="仿宋_GB2312" pitchFamily="49" charset="-122"/>
              </a:rPr>
              <a:t>CLR  C    </a:t>
            </a:r>
            <a:r>
              <a:rPr lang="zh-CN" altLang="en-US" dirty="0">
                <a:solidFill>
                  <a:srgbClr val="000000"/>
                </a:solidFill>
                <a:latin typeface="宋体" pitchFamily="2" charset="-122"/>
                <a:ea typeface="仿宋_GB2312" pitchFamily="49" charset="-122"/>
              </a:rPr>
              <a:t>；位寻址</a:t>
            </a:r>
            <a:endParaRPr lang="zh-CN" altLang="en-US" dirty="0">
              <a:solidFill>
                <a:srgbClr val="000000"/>
              </a:solidFill>
              <a:latin typeface="宋体" pitchFamily="2" charset="-122"/>
              <a:ea typeface="仿宋_GB2312" pitchFamily="49" charset="-122"/>
            </a:endParaRPr>
          </a:p>
          <a:p>
            <a:pPr>
              <a:lnSpc>
                <a:spcPct val="120000"/>
              </a:lnSpc>
              <a:spcBef>
                <a:spcPct val="50000"/>
              </a:spcBef>
              <a:buSzPct val="90000"/>
            </a:pPr>
            <a:r>
              <a:rPr lang="en-US" altLang="zh-CN">
                <a:solidFill>
                  <a:srgbClr val="000000"/>
                </a:solidFill>
                <a:latin typeface="宋体" pitchFamily="2" charset="-122"/>
                <a:ea typeface="仿宋_GB2312" pitchFamily="49" charset="-122"/>
              </a:rPr>
              <a:t>6. MOV  A,@R0 </a:t>
            </a:r>
            <a:r>
              <a:rPr lang="zh-CN" altLang="en-US" dirty="0">
                <a:solidFill>
                  <a:srgbClr val="000000"/>
                </a:solidFill>
                <a:latin typeface="宋体" pitchFamily="2" charset="-122"/>
                <a:ea typeface="仿宋_GB2312" pitchFamily="49" charset="-122"/>
              </a:rPr>
              <a:t>；源寄存器间接寻址，目的寄存器寻址</a:t>
            </a:r>
            <a:endParaRPr lang="zh-CN" altLang="en-US" dirty="0">
              <a:solidFill>
                <a:srgbClr val="000000"/>
              </a:solidFill>
              <a:latin typeface="宋体" pitchFamily="2" charset="-122"/>
              <a:ea typeface="仿宋_GB2312" pitchFamily="49" charset="-122"/>
            </a:endParaRPr>
          </a:p>
          <a:p>
            <a:pPr>
              <a:lnSpc>
                <a:spcPct val="120000"/>
              </a:lnSpc>
              <a:spcBef>
                <a:spcPct val="50000"/>
              </a:spcBef>
              <a:buSzPct val="90000"/>
            </a:pPr>
            <a:r>
              <a:rPr lang="en-US" altLang="zh-CN">
                <a:solidFill>
                  <a:srgbClr val="000000"/>
                </a:solidFill>
                <a:latin typeface="宋体" pitchFamily="2" charset="-122"/>
                <a:ea typeface="仿宋_GB2312" pitchFamily="49" charset="-122"/>
              </a:rPr>
              <a:t>7. MOVC A</a:t>
            </a:r>
            <a:r>
              <a:rPr lang="zh-CN" altLang="en-US" dirty="0">
                <a:solidFill>
                  <a:srgbClr val="000000"/>
                </a:solidFill>
                <a:latin typeface="宋体" pitchFamily="2" charset="-122"/>
                <a:ea typeface="仿宋_GB2312" pitchFamily="49" charset="-122"/>
              </a:rPr>
              <a:t>，</a:t>
            </a:r>
            <a:r>
              <a:rPr lang="en-US" altLang="zh-CN">
                <a:solidFill>
                  <a:srgbClr val="000000"/>
                </a:solidFill>
                <a:latin typeface="宋体" pitchFamily="2" charset="-122"/>
                <a:ea typeface="仿宋_GB2312" pitchFamily="49" charset="-122"/>
              </a:rPr>
              <a:t>@A+DPTR </a:t>
            </a:r>
            <a:r>
              <a:rPr lang="zh-CN" altLang="en-US" dirty="0">
                <a:solidFill>
                  <a:srgbClr val="000000"/>
                </a:solidFill>
                <a:latin typeface="宋体" pitchFamily="2" charset="-122"/>
                <a:ea typeface="仿宋_GB2312" pitchFamily="49" charset="-122"/>
              </a:rPr>
              <a:t>；源变址寻址，目的寄存器寻址</a:t>
            </a:r>
            <a:endParaRPr lang="zh-CN" altLang="en-US" dirty="0">
              <a:solidFill>
                <a:srgbClr val="000000"/>
              </a:solidFill>
              <a:latin typeface="宋体" pitchFamily="2" charset="-122"/>
              <a:ea typeface="仿宋_GB2312" pitchFamily="49" charset="-122"/>
            </a:endParaRPr>
          </a:p>
        </p:txBody>
      </p:sp>
      <p:sp>
        <p:nvSpPr>
          <p:cNvPr id="1025032" name="矩形 1025031"/>
          <p:cNvSpPr/>
          <p:nvPr/>
        </p:nvSpPr>
        <p:spPr>
          <a:xfrm>
            <a:off x="179388" y="908050"/>
            <a:ext cx="2486025" cy="457200"/>
          </a:xfrm>
          <a:prstGeom prst="rect">
            <a:avLst/>
          </a:prstGeom>
          <a:noFill/>
          <a:ln w="9525">
            <a:noFill/>
          </a:ln>
        </p:spPr>
        <p:txBody>
          <a:bodyPr wrap="none" anchor="t">
            <a:spAutoFit/>
          </a:bodyPr>
          <a:p>
            <a:pPr fontAlgn="base"/>
            <a:r>
              <a:rPr lang="zh-CN" altLang="en-US" b="1" strike="noStrike" noProof="1" dirty="0">
                <a:solidFill>
                  <a:srgbClr val="0025C0"/>
                </a:solidFill>
                <a:effectLst>
                  <a:outerShdw blurRad="38100" dist="38100" dir="2700000">
                    <a:srgbClr val="000000"/>
                  </a:outerShdw>
                </a:effectLst>
                <a:latin typeface="宋体" pitchFamily="2" charset="-122"/>
                <a:ea typeface="仿宋_GB2312" pitchFamily="49" charset="-122"/>
                <a:cs typeface="+mn-cs"/>
              </a:rPr>
              <a:t>练习</a:t>
            </a:r>
            <a:r>
              <a:rPr lang="en-US" altLang="zh-CN" b="1" strike="noStrike" noProof="1">
                <a:solidFill>
                  <a:srgbClr val="0025C0"/>
                </a:solidFill>
                <a:effectLst>
                  <a:outerShdw blurRad="38100" dist="38100" dir="2700000">
                    <a:srgbClr val="000000"/>
                  </a:outerShdw>
                </a:effectLst>
                <a:latin typeface="宋体" pitchFamily="2" charset="-122"/>
                <a:ea typeface="仿宋_GB2312" pitchFamily="49" charset="-122"/>
                <a:cs typeface="+mn-cs"/>
              </a:rPr>
              <a:t>3.1</a:t>
            </a:r>
            <a:r>
              <a:rPr lang="zh-CN" altLang="en-US" b="1" strike="noStrike" noProof="1" dirty="0">
                <a:solidFill>
                  <a:srgbClr val="0025C0"/>
                </a:solidFill>
                <a:effectLst>
                  <a:outerShdw blurRad="38100" dist="38100" dir="2700000">
                    <a:srgbClr val="000000"/>
                  </a:outerShdw>
                </a:effectLst>
                <a:latin typeface="宋体" pitchFamily="2" charset="-122"/>
                <a:ea typeface="仿宋_GB2312" pitchFamily="49" charset="-122"/>
                <a:cs typeface="+mn-cs"/>
                <a:sym typeface="Wingdings" panose="05000000000000000000" pitchFamily="2" charset="2"/>
              </a:rPr>
              <a:t>：</a:t>
            </a:r>
            <a:r>
              <a:rPr lang="en-US" altLang="zh-CN" b="1" strike="noStrike" noProof="1">
                <a:solidFill>
                  <a:srgbClr val="0025C0"/>
                </a:solidFill>
                <a:effectLst>
                  <a:outerShdw blurRad="38100" dist="38100" dir="2700000">
                    <a:srgbClr val="000000"/>
                  </a:outerShdw>
                </a:effectLst>
                <a:latin typeface="宋体" pitchFamily="2" charset="-122"/>
                <a:ea typeface="仿宋_GB2312" pitchFamily="49" charset="-122"/>
                <a:cs typeface="+mn-cs"/>
                <a:sym typeface="Wingdings" panose="05000000000000000000" pitchFamily="2" charset="2"/>
              </a:rPr>
              <a:t>(</a:t>
            </a:r>
            <a:r>
              <a:rPr lang="zh-CN" altLang="en-US" b="1" strike="noStrike" noProof="1" dirty="0">
                <a:solidFill>
                  <a:srgbClr val="0025C0"/>
                </a:solidFill>
                <a:effectLst>
                  <a:outerShdw blurRad="38100" dist="38100" dir="2700000">
                    <a:srgbClr val="000000"/>
                  </a:outerShdw>
                </a:effectLst>
                <a:latin typeface="宋体" pitchFamily="2" charset="-122"/>
                <a:ea typeface="仿宋_GB2312" pitchFamily="49" charset="-122"/>
                <a:cs typeface="+mn-cs"/>
                <a:sym typeface="Wingdings" panose="05000000000000000000" pitchFamily="2" charset="2"/>
              </a:rPr>
              <a:t>答案</a:t>
            </a:r>
            <a:r>
              <a:rPr lang="en-US" altLang="zh-CN" b="1" strike="noStrike" noProof="1">
                <a:solidFill>
                  <a:srgbClr val="0025C0"/>
                </a:solidFill>
                <a:effectLst>
                  <a:outerShdw blurRad="38100" dist="38100" dir="2700000">
                    <a:srgbClr val="000000"/>
                  </a:outerShdw>
                </a:effectLst>
                <a:latin typeface="宋体" pitchFamily="2" charset="-122"/>
                <a:ea typeface="仿宋_GB2312" pitchFamily="49" charset="-122"/>
                <a:cs typeface="+mn-cs"/>
                <a:sym typeface="Wingdings" panose="05000000000000000000" pitchFamily="2" charset="2"/>
              </a:rPr>
              <a:t>)</a:t>
            </a:r>
            <a:endParaRPr lang="en-US" altLang="zh-CN" b="1" strike="noStrike" noProof="1">
              <a:solidFill>
                <a:srgbClr val="0025C0"/>
              </a:solidFill>
              <a:effectLst>
                <a:outerShdw blurRad="38100" dist="38100" dir="2700000">
                  <a:srgbClr val="000000"/>
                </a:outerShdw>
              </a:effectLst>
              <a:latin typeface="宋体"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39939" name="Rectangle 3"/>
          <p:cNvSpPr>
            <a:spLocks noGrp="1"/>
          </p:cNvSpPr>
          <p:nvPr>
            <p:ph type="body" idx="4294967295"/>
          </p:nvPr>
        </p:nvSpPr>
        <p:spPr>
          <a:xfrm>
            <a:off x="250825" y="1773238"/>
            <a:ext cx="8607425" cy="4392612"/>
          </a:xfrm>
        </p:spPr>
        <p:txBody>
          <a:bodyPr vert="horz" wrap="square" lIns="91440" tIns="45720" rIns="91440" bIns="45720" anchor="t" anchorCtr="0"/>
          <a:p>
            <a:pPr marL="742950" lvl="1" indent="-285750" algn="just">
              <a:buNone/>
            </a:pPr>
            <a:r>
              <a:rPr lang="en-US" altLang="zh-CN" sz="3200" dirty="0"/>
              <a:t>MCS-51</a:t>
            </a:r>
            <a:r>
              <a:rPr lang="zh-CN" altLang="en-US" sz="3200" dirty="0">
                <a:latin typeface="宋体" pitchFamily="2" charset="-122"/>
              </a:rPr>
              <a:t>指令系统中共有</a:t>
            </a:r>
            <a:r>
              <a:rPr lang="zh-CN" altLang="en-US" sz="3200" dirty="0"/>
              <a:t>111</a:t>
            </a:r>
            <a:r>
              <a:rPr lang="zh-CN" altLang="en-US" sz="3200" dirty="0">
                <a:latin typeface="宋体" pitchFamily="2" charset="-122"/>
              </a:rPr>
              <a:t>条指令，按功能可分为以下</a:t>
            </a:r>
            <a:r>
              <a:rPr lang="zh-CN" altLang="en-US" sz="3200" dirty="0">
                <a:solidFill>
                  <a:schemeClr val="accent2"/>
                </a:solidFill>
                <a:latin typeface="宋体" pitchFamily="2" charset="-122"/>
              </a:rPr>
              <a:t>五大类</a:t>
            </a:r>
            <a:r>
              <a:rPr lang="zh-CN" altLang="en-US" sz="3200" dirty="0">
                <a:latin typeface="宋体" pitchFamily="2" charset="-122"/>
              </a:rPr>
              <a:t>：</a:t>
            </a:r>
            <a:endParaRPr lang="zh-CN" altLang="en-US" sz="3200" dirty="0"/>
          </a:p>
          <a:p>
            <a:pPr marL="742950" lvl="1" indent="-285750" algn="just">
              <a:buNone/>
            </a:pPr>
            <a:r>
              <a:rPr lang="zh-CN" altLang="en-US" sz="3200" dirty="0"/>
              <a:t>· </a:t>
            </a:r>
            <a:r>
              <a:rPr lang="zh-CN" altLang="en-US" sz="3200" dirty="0">
                <a:latin typeface="宋体" pitchFamily="2" charset="-122"/>
              </a:rPr>
              <a:t>数据传送类</a:t>
            </a:r>
            <a:r>
              <a:rPr lang="zh-CN" altLang="en-US" sz="3200" dirty="0"/>
              <a:t>	</a:t>
            </a:r>
            <a:endParaRPr lang="zh-CN" altLang="en-US" sz="3200" dirty="0"/>
          </a:p>
          <a:p>
            <a:pPr marL="742950" lvl="1" indent="-285750" algn="just">
              <a:buNone/>
            </a:pPr>
            <a:r>
              <a:rPr lang="zh-CN" altLang="en-US" sz="3200" dirty="0"/>
              <a:t>· </a:t>
            </a:r>
            <a:r>
              <a:rPr lang="zh-CN" altLang="en-US" sz="3200" dirty="0">
                <a:latin typeface="宋体" pitchFamily="2" charset="-122"/>
              </a:rPr>
              <a:t>算术运算类</a:t>
            </a:r>
            <a:endParaRPr lang="zh-CN" altLang="en-US" sz="3200" dirty="0"/>
          </a:p>
          <a:p>
            <a:pPr marL="742950" lvl="1" indent="-285750" algn="just">
              <a:buNone/>
            </a:pPr>
            <a:r>
              <a:rPr lang="zh-CN" altLang="en-US" sz="3200" dirty="0"/>
              <a:t>· </a:t>
            </a:r>
            <a:r>
              <a:rPr lang="zh-CN" altLang="en-US" sz="3200" dirty="0">
                <a:latin typeface="宋体" pitchFamily="2" charset="-122"/>
              </a:rPr>
              <a:t>逻辑运算类</a:t>
            </a:r>
            <a:endParaRPr lang="zh-CN" altLang="en-US" sz="3200" dirty="0"/>
          </a:p>
          <a:p>
            <a:pPr marL="742950" lvl="1" indent="-285750" algn="just">
              <a:buNone/>
            </a:pPr>
            <a:r>
              <a:rPr lang="zh-CN" altLang="en-US" sz="3200" dirty="0"/>
              <a:t>· </a:t>
            </a:r>
            <a:r>
              <a:rPr lang="zh-CN" altLang="en-US" sz="3200" dirty="0">
                <a:latin typeface="宋体" pitchFamily="2" charset="-122"/>
              </a:rPr>
              <a:t>控制转移类</a:t>
            </a:r>
            <a:endParaRPr lang="zh-CN" altLang="en-US" sz="3200" dirty="0">
              <a:latin typeface="宋体" pitchFamily="2" charset="-122"/>
            </a:endParaRPr>
          </a:p>
          <a:p>
            <a:pPr marL="742950" lvl="1" indent="-285750" algn="just">
              <a:buNone/>
            </a:pPr>
            <a:r>
              <a:rPr lang="zh-CN" altLang="en-US" sz="3200" dirty="0"/>
              <a:t>· </a:t>
            </a:r>
            <a:r>
              <a:rPr lang="zh-CN" altLang="en-US" sz="3200" dirty="0">
                <a:latin typeface="宋体" pitchFamily="2" charset="-122"/>
              </a:rPr>
              <a:t>位操作类</a:t>
            </a:r>
            <a:endParaRPr lang="zh-CN" altLang="en-US" sz="3200" dirty="0">
              <a:latin typeface="宋体" pitchFamily="2" charset="-122"/>
            </a:endParaRPr>
          </a:p>
          <a:p>
            <a:pPr marL="742950" lvl="1" indent="-285750" algn="just">
              <a:buNone/>
            </a:pPr>
            <a:endParaRPr lang="zh-CN" altLang="zh-CN" dirty="0">
              <a:latin typeface="宋体" pitchFamily="2" charset="-122"/>
            </a:endParaRPr>
          </a:p>
        </p:txBody>
      </p:sp>
      <p:sp>
        <p:nvSpPr>
          <p:cNvPr id="63491" name="Rectangle 5"/>
          <p:cNvSpPr/>
          <p:nvPr/>
        </p:nvSpPr>
        <p:spPr>
          <a:xfrm>
            <a:off x="323850" y="1125538"/>
            <a:ext cx="6624638" cy="519112"/>
          </a:xfrm>
          <a:prstGeom prst="rect">
            <a:avLst/>
          </a:prstGeom>
          <a:noFill/>
          <a:ln w="9525">
            <a:noFill/>
          </a:ln>
        </p:spPr>
        <p:txBody>
          <a:bodyPr anchor="t" anchorCtr="0">
            <a:spAutoFit/>
          </a:bodyPr>
          <a:p>
            <a:pPr>
              <a:spcBef>
                <a:spcPct val="50000"/>
              </a:spcBef>
              <a:buClrTx/>
              <a:buFontTx/>
            </a:pPr>
            <a:r>
              <a:rPr lang="zh-CN" altLang="en-US" sz="2800" dirty="0">
                <a:solidFill>
                  <a:srgbClr val="FF6600"/>
                </a:solidFill>
                <a:latin typeface="Times New Roman" panose="02020503050405090304" pitchFamily="18" charset="0"/>
                <a:ea typeface="楷体_GB2312" pitchFamily="49" charset="-122"/>
              </a:rPr>
              <a:t>指令按功能分五大类</a:t>
            </a:r>
            <a:endParaRPr lang="zh-CN" altLang="en-US" sz="2800" dirty="0">
              <a:solidFill>
                <a:srgbClr val="FF6600"/>
              </a:solidFill>
              <a:latin typeface="Times New Roman" panose="0202050305040509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939">
                                            <p:txEl>
                                              <p:charRg st="0" end="33"/>
                                            </p:txEl>
                                          </p:spTgt>
                                        </p:tgtEl>
                                        <p:attrNameLst>
                                          <p:attrName>style.visibility</p:attrName>
                                        </p:attrNameLst>
                                      </p:cBhvr>
                                      <p:to>
                                        <p:strVal val="visible"/>
                                      </p:to>
                                    </p:set>
                                    <p:animEffect transition="in" filter="blinds(horizontal)">
                                      <p:cBhvr>
                                        <p:cTn id="7" dur="500"/>
                                        <p:tgtEl>
                                          <p:spTgt spid="39939">
                                            <p:txEl>
                                              <p:charRg st="0" end="33"/>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9939">
                                            <p:txEl>
                                              <p:charRg st="33" end="42"/>
                                            </p:txEl>
                                          </p:spTgt>
                                        </p:tgtEl>
                                        <p:attrNameLst>
                                          <p:attrName>style.visibility</p:attrName>
                                        </p:attrNameLst>
                                      </p:cBhvr>
                                      <p:to>
                                        <p:strVal val="visible"/>
                                      </p:to>
                                    </p:set>
                                    <p:animEffect transition="in" filter="blinds(horizontal)">
                                      <p:cBhvr>
                                        <p:cTn id="10" dur="500"/>
                                        <p:tgtEl>
                                          <p:spTgt spid="39939">
                                            <p:txEl>
                                              <p:charRg st="33" end="42"/>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9939">
                                            <p:txEl>
                                              <p:charRg st="42" end="50"/>
                                            </p:txEl>
                                          </p:spTgt>
                                        </p:tgtEl>
                                        <p:attrNameLst>
                                          <p:attrName>style.visibility</p:attrName>
                                        </p:attrNameLst>
                                      </p:cBhvr>
                                      <p:to>
                                        <p:strVal val="visible"/>
                                      </p:to>
                                    </p:set>
                                    <p:animEffect transition="in" filter="blinds(horizontal)">
                                      <p:cBhvr>
                                        <p:cTn id="13" dur="500"/>
                                        <p:tgtEl>
                                          <p:spTgt spid="39939">
                                            <p:txEl>
                                              <p:charRg st="42" end="50"/>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39939">
                                            <p:txEl>
                                              <p:charRg st="50" end="58"/>
                                            </p:txEl>
                                          </p:spTgt>
                                        </p:tgtEl>
                                        <p:attrNameLst>
                                          <p:attrName>style.visibility</p:attrName>
                                        </p:attrNameLst>
                                      </p:cBhvr>
                                      <p:to>
                                        <p:strVal val="visible"/>
                                      </p:to>
                                    </p:set>
                                    <p:animEffect transition="in" filter="blinds(horizontal)">
                                      <p:cBhvr>
                                        <p:cTn id="16" dur="500"/>
                                        <p:tgtEl>
                                          <p:spTgt spid="39939">
                                            <p:txEl>
                                              <p:charRg st="50" end="58"/>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39939">
                                            <p:txEl>
                                              <p:charRg st="58" end="66"/>
                                            </p:txEl>
                                          </p:spTgt>
                                        </p:tgtEl>
                                        <p:attrNameLst>
                                          <p:attrName>style.visibility</p:attrName>
                                        </p:attrNameLst>
                                      </p:cBhvr>
                                      <p:to>
                                        <p:strVal val="visible"/>
                                      </p:to>
                                    </p:set>
                                    <p:animEffect transition="in" filter="blinds(horizontal)">
                                      <p:cBhvr>
                                        <p:cTn id="19" dur="500"/>
                                        <p:tgtEl>
                                          <p:spTgt spid="39939">
                                            <p:txEl>
                                              <p:charRg st="58" end="66"/>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39939">
                                            <p:txEl>
                                              <p:charRg st="66" end="73"/>
                                            </p:txEl>
                                          </p:spTgt>
                                        </p:tgtEl>
                                        <p:attrNameLst>
                                          <p:attrName>style.visibility</p:attrName>
                                        </p:attrNameLst>
                                      </p:cBhvr>
                                      <p:to>
                                        <p:strVal val="visible"/>
                                      </p:to>
                                    </p:set>
                                    <p:animEffect transition="in" filter="blinds(horizontal)">
                                      <p:cBhvr>
                                        <p:cTn id="22" dur="500"/>
                                        <p:tgtEl>
                                          <p:spTgt spid="39939">
                                            <p:txEl>
                                              <p:charRg st="66" end="7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64514" name="Rectangle 5"/>
          <p:cNvSpPr/>
          <p:nvPr/>
        </p:nvSpPr>
        <p:spPr>
          <a:xfrm>
            <a:off x="250825" y="981075"/>
            <a:ext cx="6624638" cy="519113"/>
          </a:xfrm>
          <a:prstGeom prst="rect">
            <a:avLst/>
          </a:prstGeom>
          <a:noFill/>
          <a:ln w="9525">
            <a:noFill/>
          </a:ln>
        </p:spPr>
        <p:txBody>
          <a:bodyPr anchor="t" anchorCtr="0">
            <a:spAutoFit/>
          </a:bodyPr>
          <a:p>
            <a:pPr>
              <a:spcBef>
                <a:spcPct val="50000"/>
              </a:spcBef>
              <a:buClrTx/>
              <a:buFontTx/>
            </a:pPr>
            <a:r>
              <a:rPr lang="zh-CN" altLang="en-US" sz="2800" dirty="0">
                <a:latin typeface="Times New Roman" panose="02020503050405090304" pitchFamily="18" charset="0"/>
                <a:ea typeface="楷体_GB2312" pitchFamily="49" charset="-122"/>
              </a:rPr>
              <a:t>3-</a:t>
            </a:r>
            <a:r>
              <a:rPr lang="en-US" altLang="zh-CN" sz="2800" dirty="0">
                <a:latin typeface="Times New Roman" panose="02020503050405090304" pitchFamily="18" charset="0"/>
                <a:ea typeface="楷体_GB2312" pitchFamily="49" charset="-122"/>
              </a:rPr>
              <a:t>3</a:t>
            </a:r>
            <a:r>
              <a:rPr lang="en-US" altLang="zh-CN" sz="2800" dirty="0">
                <a:solidFill>
                  <a:srgbClr val="FF6600"/>
                </a:solidFill>
                <a:latin typeface="Times New Roman" panose="02020503050405090304" pitchFamily="18" charset="0"/>
                <a:ea typeface="楷体_GB2312" pitchFamily="49" charset="-122"/>
              </a:rPr>
              <a:t>  </a:t>
            </a:r>
            <a:r>
              <a:rPr lang="zh-CN" altLang="en-US" sz="2800" dirty="0">
                <a:solidFill>
                  <a:srgbClr val="FF6600"/>
                </a:solidFill>
                <a:latin typeface="Times New Roman" panose="02020503050405090304" pitchFamily="18" charset="0"/>
                <a:ea typeface="楷体_GB2312" pitchFamily="49" charset="-122"/>
              </a:rPr>
              <a:t>数据传送指令</a:t>
            </a:r>
            <a:endParaRPr lang="zh-CN" altLang="en-US" sz="2800" dirty="0">
              <a:solidFill>
                <a:srgbClr val="FF6600"/>
              </a:solidFill>
              <a:latin typeface="Times New Roman" panose="02020503050405090304" pitchFamily="18" charset="0"/>
              <a:ea typeface="楷体_GB2312" pitchFamily="49" charset="-122"/>
            </a:endParaRPr>
          </a:p>
        </p:txBody>
      </p:sp>
      <p:sp>
        <p:nvSpPr>
          <p:cNvPr id="64515" name="Text Box 6"/>
          <p:cNvSpPr txBox="1"/>
          <p:nvPr/>
        </p:nvSpPr>
        <p:spPr>
          <a:xfrm>
            <a:off x="395288" y="3500438"/>
            <a:ext cx="8280400" cy="2943225"/>
          </a:xfrm>
          <a:prstGeom prst="rect">
            <a:avLst/>
          </a:prstGeom>
          <a:noFill/>
          <a:ln w="9525">
            <a:noFill/>
          </a:ln>
        </p:spPr>
        <p:txBody>
          <a:bodyPr anchor="t" anchorCtr="0">
            <a:spAutoFit/>
          </a:bodyPr>
          <a:p>
            <a:pPr>
              <a:spcBef>
                <a:spcPct val="50000"/>
              </a:spcBef>
              <a:buClrTx/>
              <a:buFontTx/>
            </a:pPr>
            <a:r>
              <a:rPr lang="zh-CN" altLang="en-US" sz="2200" dirty="0">
                <a:latin typeface="Times New Roman" panose="02020503050405090304" pitchFamily="18" charset="0"/>
                <a:ea typeface="仿宋_GB2312" pitchFamily="49" charset="-122"/>
              </a:rPr>
              <a:t>实现寄存器、存储器之间的数据传送。</a:t>
            </a:r>
            <a:endParaRPr lang="zh-CN" altLang="en-US" sz="2200" dirty="0">
              <a:latin typeface="Times New Roman" panose="02020503050405090304" pitchFamily="18" charset="0"/>
              <a:ea typeface="仿宋_GB2312" pitchFamily="49" charset="-122"/>
            </a:endParaRPr>
          </a:p>
          <a:p>
            <a:pPr>
              <a:spcBef>
                <a:spcPct val="50000"/>
              </a:spcBef>
              <a:buClrTx/>
              <a:buFontTx/>
            </a:pPr>
            <a:r>
              <a:rPr lang="en-US" altLang="zh-CN" sz="2200" dirty="0">
                <a:solidFill>
                  <a:schemeClr val="accent2"/>
                </a:solidFill>
                <a:latin typeface="Times New Roman" panose="02020503050405090304" pitchFamily="18" charset="0"/>
                <a:ea typeface="仿宋_GB2312" pitchFamily="49" charset="-122"/>
              </a:rPr>
              <a:t>1  </a:t>
            </a:r>
            <a:r>
              <a:rPr lang="zh-CN" altLang="en-US" sz="2200" dirty="0">
                <a:solidFill>
                  <a:schemeClr val="accent2"/>
                </a:solidFill>
                <a:latin typeface="Times New Roman" panose="02020503050405090304" pitchFamily="18" charset="0"/>
                <a:ea typeface="仿宋_GB2312" pitchFamily="49" charset="-122"/>
              </a:rPr>
              <a:t>内部传送指令</a:t>
            </a:r>
            <a:r>
              <a:rPr lang="zh-CN" altLang="en-US" sz="2200" dirty="0">
                <a:latin typeface="Times New Roman" panose="02020503050405090304" pitchFamily="18" charset="0"/>
                <a:ea typeface="仿宋_GB2312" pitchFamily="49" charset="-122"/>
              </a:rPr>
              <a:t>：片内数据存储器数据传送。</a:t>
            </a:r>
            <a:endParaRPr lang="zh-CN" altLang="en-US" sz="2200" dirty="0">
              <a:latin typeface="Times New Roman" panose="02020503050405090304" pitchFamily="18" charset="0"/>
              <a:ea typeface="仿宋_GB2312" pitchFamily="49" charset="-122"/>
            </a:endParaRPr>
          </a:p>
          <a:p>
            <a:pPr>
              <a:spcBef>
                <a:spcPct val="50000"/>
              </a:spcBef>
              <a:buClrTx/>
              <a:buFontTx/>
            </a:pPr>
            <a:r>
              <a:rPr lang="en-US" altLang="zh-CN" sz="2200" dirty="0">
                <a:solidFill>
                  <a:schemeClr val="accent2"/>
                </a:solidFill>
                <a:latin typeface="Times New Roman" panose="02020503050405090304" pitchFamily="18" charset="0"/>
                <a:ea typeface="仿宋_GB2312" pitchFamily="49" charset="-122"/>
              </a:rPr>
              <a:t>2</a:t>
            </a:r>
            <a:r>
              <a:rPr lang="zh-CN" altLang="en-US" sz="2200" dirty="0">
                <a:solidFill>
                  <a:schemeClr val="accent2"/>
                </a:solidFill>
                <a:latin typeface="Times New Roman" panose="02020503050405090304" pitchFamily="18" charset="0"/>
                <a:ea typeface="仿宋_GB2312" pitchFamily="49" charset="-122"/>
              </a:rPr>
              <a:t>、外部传送指令</a:t>
            </a:r>
            <a:r>
              <a:rPr lang="zh-CN" altLang="en-US" sz="2200" dirty="0">
                <a:latin typeface="Times New Roman" panose="02020503050405090304" pitchFamily="18" charset="0"/>
                <a:ea typeface="仿宋_GB2312" pitchFamily="49" charset="-122"/>
              </a:rPr>
              <a:t>：片外数据存储器数据传送。</a:t>
            </a:r>
            <a:endParaRPr lang="zh-CN" altLang="en-US" sz="2200" dirty="0">
              <a:latin typeface="Times New Roman" panose="02020503050405090304" pitchFamily="18" charset="0"/>
              <a:ea typeface="仿宋_GB2312" pitchFamily="49" charset="-122"/>
            </a:endParaRPr>
          </a:p>
          <a:p>
            <a:pPr>
              <a:spcBef>
                <a:spcPct val="50000"/>
              </a:spcBef>
              <a:buClrTx/>
              <a:buFontTx/>
            </a:pPr>
            <a:r>
              <a:rPr lang="en-US" altLang="zh-CN" sz="2200" dirty="0">
                <a:solidFill>
                  <a:schemeClr val="accent2"/>
                </a:solidFill>
                <a:latin typeface="Times New Roman" panose="02020503050405090304" pitchFamily="18" charset="0"/>
                <a:ea typeface="仿宋_GB2312" pitchFamily="49" charset="-122"/>
              </a:rPr>
              <a:t>3</a:t>
            </a:r>
            <a:r>
              <a:rPr lang="zh-CN" altLang="en-US" sz="2200" dirty="0">
                <a:solidFill>
                  <a:schemeClr val="accent2"/>
                </a:solidFill>
                <a:latin typeface="Times New Roman" panose="02020503050405090304" pitchFamily="18" charset="0"/>
                <a:ea typeface="仿宋_GB2312" pitchFamily="49" charset="-122"/>
              </a:rPr>
              <a:t>、交换指令</a:t>
            </a:r>
            <a:r>
              <a:rPr lang="zh-CN" altLang="en-US" sz="2200" dirty="0">
                <a:latin typeface="Times New Roman" panose="02020503050405090304" pitchFamily="18" charset="0"/>
                <a:ea typeface="仿宋_GB2312" pitchFamily="49" charset="-122"/>
              </a:rPr>
              <a:t>：	   片内数据存储器数据传送。</a:t>
            </a:r>
            <a:endParaRPr lang="zh-CN" altLang="en-US" sz="2200" dirty="0">
              <a:latin typeface="Times New Roman" panose="02020503050405090304" pitchFamily="18" charset="0"/>
              <a:ea typeface="仿宋_GB2312" pitchFamily="49" charset="-122"/>
            </a:endParaRPr>
          </a:p>
          <a:p>
            <a:pPr>
              <a:spcBef>
                <a:spcPct val="50000"/>
              </a:spcBef>
              <a:buClrTx/>
              <a:buFontTx/>
            </a:pPr>
            <a:r>
              <a:rPr lang="en-US" altLang="zh-CN" sz="2200" dirty="0">
                <a:solidFill>
                  <a:schemeClr val="accent2"/>
                </a:solidFill>
                <a:latin typeface="Times New Roman" panose="02020503050405090304" pitchFamily="18" charset="0"/>
                <a:ea typeface="仿宋_GB2312" pitchFamily="49" charset="-122"/>
              </a:rPr>
              <a:t>4</a:t>
            </a:r>
            <a:r>
              <a:rPr lang="zh-CN" altLang="en-US" sz="2200" dirty="0">
                <a:solidFill>
                  <a:schemeClr val="accent2"/>
                </a:solidFill>
                <a:latin typeface="Times New Roman" panose="02020503050405090304" pitchFamily="18" charset="0"/>
                <a:ea typeface="仿宋_GB2312" pitchFamily="49" charset="-122"/>
              </a:rPr>
              <a:t>、堆栈操作指令</a:t>
            </a:r>
            <a:r>
              <a:rPr lang="zh-CN" altLang="en-US" sz="2200" dirty="0">
                <a:latin typeface="Times New Roman" panose="02020503050405090304" pitchFamily="18" charset="0"/>
                <a:ea typeface="仿宋_GB2312" pitchFamily="49" charset="-122"/>
              </a:rPr>
              <a:t>：片内数据存储器数据传送。</a:t>
            </a:r>
            <a:endParaRPr lang="zh-CN" altLang="en-US" sz="2200" dirty="0">
              <a:latin typeface="Times New Roman" panose="02020503050405090304" pitchFamily="18" charset="0"/>
              <a:ea typeface="仿宋_GB2312" pitchFamily="49" charset="-122"/>
            </a:endParaRPr>
          </a:p>
          <a:p>
            <a:pPr>
              <a:spcBef>
                <a:spcPct val="50000"/>
              </a:spcBef>
              <a:buClrTx/>
              <a:buFontTx/>
            </a:pPr>
            <a:r>
              <a:rPr lang="en-US" altLang="zh-CN" sz="2200" dirty="0">
                <a:solidFill>
                  <a:schemeClr val="accent2"/>
                </a:solidFill>
                <a:latin typeface="Times New Roman" panose="02020503050405090304" pitchFamily="18" charset="0"/>
                <a:ea typeface="仿宋_GB2312" pitchFamily="49" charset="-122"/>
              </a:rPr>
              <a:t>5</a:t>
            </a:r>
            <a:r>
              <a:rPr lang="zh-CN" altLang="en-US" sz="2200" dirty="0">
                <a:solidFill>
                  <a:schemeClr val="accent2"/>
                </a:solidFill>
                <a:latin typeface="Times New Roman" panose="02020503050405090304" pitchFamily="18" charset="0"/>
                <a:ea typeface="仿宋_GB2312" pitchFamily="49" charset="-122"/>
              </a:rPr>
              <a:t>、查表指令：</a:t>
            </a:r>
            <a:r>
              <a:rPr lang="zh-CN" altLang="en-US" sz="2200" dirty="0">
                <a:latin typeface="Times New Roman" panose="02020503050405090304" pitchFamily="18" charset="0"/>
                <a:ea typeface="仿宋_GB2312" pitchFamily="49" charset="-122"/>
              </a:rPr>
              <a:t>	   程序存储器数据传送。</a:t>
            </a:r>
            <a:endParaRPr lang="zh-CN" altLang="en-US" sz="2200" dirty="0">
              <a:latin typeface="Times New Roman" panose="02020503050405090304" pitchFamily="18" charset="0"/>
              <a:ea typeface="仿宋_GB2312" pitchFamily="49" charset="-122"/>
            </a:endParaRPr>
          </a:p>
        </p:txBody>
      </p:sp>
      <p:sp>
        <p:nvSpPr>
          <p:cNvPr id="64516" name="Rectangle 7"/>
          <p:cNvSpPr/>
          <p:nvPr/>
        </p:nvSpPr>
        <p:spPr>
          <a:xfrm>
            <a:off x="250825" y="1484313"/>
            <a:ext cx="8642350" cy="1768475"/>
          </a:xfrm>
          <a:prstGeom prst="rect">
            <a:avLst/>
          </a:prstGeom>
          <a:noFill/>
          <a:ln w="9525">
            <a:noFill/>
          </a:ln>
        </p:spPr>
        <p:txBody>
          <a:bodyPr anchor="t" anchorCtr="0">
            <a:spAutoFit/>
          </a:bodyPr>
          <a:p>
            <a:pPr>
              <a:spcBef>
                <a:spcPct val="50000"/>
              </a:spcBef>
              <a:buClrTx/>
              <a:buFontTx/>
            </a:pPr>
            <a:r>
              <a:rPr lang="zh-CN" altLang="en-US" sz="2000" dirty="0">
                <a:solidFill>
                  <a:schemeClr val="tx2"/>
                </a:solidFill>
                <a:latin typeface="Times New Roman" panose="02020503050405090304" pitchFamily="18" charset="0"/>
                <a:ea typeface="仿宋_GB2312" pitchFamily="49" charset="-122"/>
              </a:rPr>
              <a:t>使用最频繁的一类指令</a:t>
            </a:r>
            <a:r>
              <a:rPr lang="en-US" altLang="zh-CN" sz="2000" dirty="0">
                <a:solidFill>
                  <a:schemeClr val="tx2"/>
                </a:solidFill>
                <a:latin typeface="Times New Roman" panose="02020503050405090304" pitchFamily="18" charset="0"/>
                <a:ea typeface="仿宋_GB2312" pitchFamily="49" charset="-122"/>
              </a:rPr>
              <a:t>,</a:t>
            </a:r>
            <a:r>
              <a:rPr lang="zh-CN" altLang="en-US" sz="2000" dirty="0">
                <a:solidFill>
                  <a:schemeClr val="tx2"/>
                </a:solidFill>
                <a:latin typeface="Times New Roman" panose="02020503050405090304" pitchFamily="18" charset="0"/>
                <a:ea typeface="仿宋_GB2312" pitchFamily="49" charset="-122"/>
              </a:rPr>
              <a:t>通用格式： </a:t>
            </a:r>
            <a:endParaRPr lang="zh-CN" altLang="en-US" sz="2000" dirty="0">
              <a:solidFill>
                <a:schemeClr val="tx2"/>
              </a:solidFill>
              <a:latin typeface="Times New Roman" panose="02020503050405090304" pitchFamily="18" charset="0"/>
              <a:ea typeface="仿宋_GB2312" pitchFamily="49" charset="-122"/>
            </a:endParaRPr>
          </a:p>
          <a:p>
            <a:pPr>
              <a:spcBef>
                <a:spcPct val="50000"/>
              </a:spcBef>
              <a:buClrTx/>
              <a:buFontTx/>
            </a:pPr>
            <a:r>
              <a:rPr lang="zh-CN" altLang="en-US" sz="2000" dirty="0">
                <a:solidFill>
                  <a:schemeClr val="tx2"/>
                </a:solidFill>
                <a:latin typeface="Times New Roman" panose="02020503050405090304" pitchFamily="18" charset="0"/>
                <a:ea typeface="仿宋_GB2312" pitchFamily="49" charset="-122"/>
              </a:rPr>
              <a:t>   	</a:t>
            </a:r>
            <a:r>
              <a:rPr lang="en-US" altLang="zh-CN" sz="2000" dirty="0">
                <a:solidFill>
                  <a:schemeClr val="hlink"/>
                </a:solidFill>
                <a:latin typeface="Times New Roman" panose="02020503050405090304" pitchFamily="18" charset="0"/>
                <a:ea typeface="仿宋_GB2312" pitchFamily="49" charset="-122"/>
              </a:rPr>
              <a:t>MOV    &lt;</a:t>
            </a:r>
            <a:r>
              <a:rPr lang="zh-CN" altLang="en-US" sz="2000" dirty="0">
                <a:solidFill>
                  <a:schemeClr val="hlink"/>
                </a:solidFill>
                <a:latin typeface="Times New Roman" panose="02020503050405090304" pitchFamily="18" charset="0"/>
                <a:ea typeface="仿宋_GB2312" pitchFamily="49" charset="-122"/>
              </a:rPr>
              <a:t>目的操作数</a:t>
            </a:r>
            <a:r>
              <a:rPr lang="en-US" altLang="zh-CN" sz="2000" dirty="0">
                <a:solidFill>
                  <a:schemeClr val="hlink"/>
                </a:solidFill>
                <a:latin typeface="Times New Roman" panose="02020503050405090304" pitchFamily="18" charset="0"/>
                <a:ea typeface="仿宋_GB2312" pitchFamily="49" charset="-122"/>
              </a:rPr>
              <a:t>&gt;</a:t>
            </a:r>
            <a:r>
              <a:rPr lang="zh-CN" altLang="en-US" sz="2000" dirty="0">
                <a:solidFill>
                  <a:schemeClr val="hlink"/>
                </a:solidFill>
                <a:latin typeface="Times New Roman" panose="02020503050405090304" pitchFamily="18" charset="0"/>
                <a:ea typeface="仿宋_GB2312" pitchFamily="49" charset="-122"/>
              </a:rPr>
              <a:t>，  </a:t>
            </a:r>
            <a:r>
              <a:rPr lang="en-US" altLang="zh-CN" sz="2000" dirty="0">
                <a:solidFill>
                  <a:schemeClr val="hlink"/>
                </a:solidFill>
                <a:latin typeface="Times New Roman" panose="02020503050405090304" pitchFamily="18" charset="0"/>
                <a:ea typeface="仿宋_GB2312" pitchFamily="49" charset="-122"/>
              </a:rPr>
              <a:t>&lt;</a:t>
            </a:r>
            <a:r>
              <a:rPr lang="zh-CN" altLang="en-US" sz="2000" dirty="0">
                <a:solidFill>
                  <a:schemeClr val="hlink"/>
                </a:solidFill>
                <a:latin typeface="Times New Roman" panose="02020503050405090304" pitchFamily="18" charset="0"/>
                <a:ea typeface="仿宋_GB2312" pitchFamily="49" charset="-122"/>
              </a:rPr>
              <a:t>源操作数</a:t>
            </a:r>
            <a:r>
              <a:rPr lang="en-US" altLang="zh-CN" sz="2000" dirty="0">
                <a:solidFill>
                  <a:schemeClr val="hlink"/>
                </a:solidFill>
                <a:latin typeface="Times New Roman" panose="02020503050405090304" pitchFamily="18" charset="0"/>
                <a:ea typeface="仿宋_GB2312" pitchFamily="49" charset="-122"/>
              </a:rPr>
              <a:t>&gt;</a:t>
            </a:r>
            <a:endParaRPr lang="en-US" altLang="zh-CN" sz="2000" dirty="0">
              <a:solidFill>
                <a:schemeClr val="hlink"/>
              </a:solidFill>
              <a:latin typeface="Times New Roman" panose="02020503050405090304" pitchFamily="18" charset="0"/>
              <a:ea typeface="仿宋_GB2312" pitchFamily="49" charset="-122"/>
            </a:endParaRPr>
          </a:p>
          <a:p>
            <a:pPr>
              <a:spcBef>
                <a:spcPct val="50000"/>
              </a:spcBef>
              <a:buClrTx/>
              <a:buFontTx/>
            </a:pPr>
            <a:r>
              <a:rPr lang="zh-CN" altLang="en-US" sz="2000" dirty="0">
                <a:solidFill>
                  <a:schemeClr val="tx2"/>
                </a:solidFill>
                <a:latin typeface="Times New Roman" panose="02020503050405090304" pitchFamily="18" charset="0"/>
                <a:ea typeface="仿宋_GB2312" pitchFamily="49" charset="-122"/>
              </a:rPr>
              <a:t>属“</a:t>
            </a:r>
            <a:r>
              <a:rPr lang="zh-CN" altLang="en-US" sz="2000" dirty="0">
                <a:solidFill>
                  <a:schemeClr val="accent2"/>
                </a:solidFill>
                <a:latin typeface="Times New Roman" panose="02020503050405090304" pitchFamily="18" charset="0"/>
                <a:ea typeface="仿宋_GB2312" pitchFamily="49" charset="-122"/>
              </a:rPr>
              <a:t>复制</a:t>
            </a:r>
            <a:r>
              <a:rPr lang="zh-CN" altLang="en-US" sz="2000" dirty="0">
                <a:solidFill>
                  <a:schemeClr val="tx2"/>
                </a:solidFill>
                <a:latin typeface="Times New Roman" panose="02020503050405090304" pitchFamily="18" charset="0"/>
                <a:ea typeface="仿宋_GB2312" pitchFamily="49" charset="-122"/>
              </a:rPr>
              <a:t>”性质，而</a:t>
            </a:r>
            <a:r>
              <a:rPr lang="zh-CN" altLang="en-US" sz="2000" dirty="0">
                <a:solidFill>
                  <a:schemeClr val="accent2"/>
                </a:solidFill>
                <a:latin typeface="Times New Roman" panose="02020503050405090304" pitchFamily="18" charset="0"/>
                <a:ea typeface="仿宋_GB2312" pitchFamily="49" charset="-122"/>
              </a:rPr>
              <a:t>不是“搬家</a:t>
            </a:r>
            <a:r>
              <a:rPr lang="zh-CN" altLang="en-US" sz="2000" dirty="0">
                <a:solidFill>
                  <a:schemeClr val="tx2"/>
                </a:solidFill>
                <a:latin typeface="Times New Roman" panose="02020503050405090304" pitchFamily="18" charset="0"/>
                <a:ea typeface="仿宋_GB2312" pitchFamily="49" charset="-122"/>
              </a:rPr>
              <a:t>”</a:t>
            </a:r>
            <a:endParaRPr lang="zh-CN" altLang="en-US" sz="2000" dirty="0">
              <a:solidFill>
                <a:schemeClr val="tx2"/>
              </a:solidFill>
              <a:latin typeface="Times New Roman" panose="02020503050405090304" pitchFamily="18" charset="0"/>
              <a:ea typeface="仿宋_GB2312" pitchFamily="49" charset="-122"/>
            </a:endParaRPr>
          </a:p>
          <a:p>
            <a:pPr>
              <a:spcBef>
                <a:spcPct val="50000"/>
              </a:spcBef>
              <a:buClrTx/>
              <a:buFontTx/>
            </a:pPr>
            <a:r>
              <a:rPr lang="zh-CN" altLang="en-US" sz="2000" dirty="0">
                <a:solidFill>
                  <a:schemeClr val="tx2"/>
                </a:solidFill>
                <a:latin typeface="Times New Roman" panose="02020503050405090304" pitchFamily="18" charset="0"/>
                <a:ea typeface="仿宋_GB2312" pitchFamily="49" charset="-122"/>
              </a:rPr>
              <a:t>数据传送类指令</a:t>
            </a:r>
            <a:r>
              <a:rPr lang="zh-CN" altLang="en-US" sz="2000" dirty="0">
                <a:solidFill>
                  <a:schemeClr val="hlink"/>
                </a:solidFill>
                <a:latin typeface="Times New Roman" panose="02020503050405090304" pitchFamily="18" charset="0"/>
                <a:ea typeface="仿宋_GB2312" pitchFamily="49" charset="-122"/>
              </a:rPr>
              <a:t>不影响标志位</a:t>
            </a:r>
            <a:r>
              <a:rPr lang="en-US" altLang="zh-CN" sz="2000" dirty="0">
                <a:solidFill>
                  <a:schemeClr val="tx2"/>
                </a:solidFill>
                <a:latin typeface="Times New Roman" panose="02020503050405090304" pitchFamily="18" charset="0"/>
                <a:ea typeface="仿宋_GB2312" pitchFamily="49" charset="-122"/>
              </a:rPr>
              <a:t>, Cy</a:t>
            </a:r>
            <a:r>
              <a:rPr lang="zh-CN" altLang="en-US" sz="2000" dirty="0">
                <a:solidFill>
                  <a:schemeClr val="tx2"/>
                </a:solidFill>
                <a:latin typeface="Times New Roman" panose="02020503050405090304" pitchFamily="18" charset="0"/>
                <a:ea typeface="仿宋_GB2312" pitchFamily="49" charset="-122"/>
              </a:rPr>
              <a:t>、</a:t>
            </a:r>
            <a:r>
              <a:rPr lang="en-US" altLang="zh-CN" sz="2000" dirty="0">
                <a:solidFill>
                  <a:schemeClr val="tx2"/>
                </a:solidFill>
                <a:latin typeface="Times New Roman" panose="02020503050405090304" pitchFamily="18" charset="0"/>
                <a:ea typeface="仿宋_GB2312" pitchFamily="49" charset="-122"/>
              </a:rPr>
              <a:t>Ac</a:t>
            </a:r>
            <a:r>
              <a:rPr lang="zh-CN" altLang="en-US" sz="2000" dirty="0">
                <a:solidFill>
                  <a:schemeClr val="tx2"/>
                </a:solidFill>
                <a:latin typeface="Times New Roman" panose="02020503050405090304" pitchFamily="18" charset="0"/>
                <a:ea typeface="仿宋_GB2312" pitchFamily="49" charset="-122"/>
              </a:rPr>
              <a:t>和</a:t>
            </a:r>
            <a:r>
              <a:rPr lang="en-US" altLang="zh-CN" sz="2000" dirty="0">
                <a:solidFill>
                  <a:schemeClr val="tx2"/>
                </a:solidFill>
                <a:latin typeface="Times New Roman" panose="02020503050405090304" pitchFamily="18" charset="0"/>
                <a:ea typeface="仿宋_GB2312" pitchFamily="49" charset="-122"/>
              </a:rPr>
              <a:t>OV</a:t>
            </a:r>
            <a:r>
              <a:rPr lang="zh-CN" altLang="en-US" sz="2000" dirty="0">
                <a:solidFill>
                  <a:schemeClr val="tx2"/>
                </a:solidFill>
                <a:latin typeface="Times New Roman" panose="02020503050405090304" pitchFamily="18" charset="0"/>
                <a:ea typeface="仿宋_GB2312" pitchFamily="49" charset="-122"/>
              </a:rPr>
              <a:t>，但不包括奇偶标志位</a:t>
            </a:r>
            <a:r>
              <a:rPr lang="en-US" altLang="zh-CN" sz="2000" dirty="0">
                <a:solidFill>
                  <a:schemeClr val="tx2"/>
                </a:solidFill>
                <a:latin typeface="Times New Roman" panose="02020503050405090304" pitchFamily="18" charset="0"/>
                <a:ea typeface="仿宋_GB2312" pitchFamily="49" charset="-122"/>
              </a:rPr>
              <a:t>P</a:t>
            </a:r>
            <a:r>
              <a:rPr lang="zh-CN" altLang="en-US" sz="2000" dirty="0">
                <a:solidFill>
                  <a:schemeClr val="tx2"/>
                </a:solidFill>
                <a:latin typeface="Times New Roman" panose="02020503050405090304" pitchFamily="18" charset="0"/>
                <a:ea typeface="仿宋_GB2312" pitchFamily="49" charset="-122"/>
              </a:rPr>
              <a:t>。</a:t>
            </a:r>
            <a:endParaRPr lang="zh-CN" altLang="en-US" sz="2000" dirty="0">
              <a:solidFill>
                <a:schemeClr val="tx2"/>
              </a:solidFill>
              <a:latin typeface="Times New Roman" panose="02020503050405090304" pitchFamily="18" charset="0"/>
              <a:ea typeface="仿宋_GB2312" pitchFamily="49"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41987" name="Rectangle 3"/>
          <p:cNvSpPr>
            <a:spLocks noGrp="1"/>
          </p:cNvSpPr>
          <p:nvPr>
            <p:ph type="body" idx="4294967295"/>
          </p:nvPr>
        </p:nvSpPr>
        <p:spPr>
          <a:xfrm>
            <a:off x="179388" y="981075"/>
            <a:ext cx="8964612" cy="1511300"/>
          </a:xfrm>
        </p:spPr>
        <p:txBody>
          <a:bodyPr vert="horz" wrap="square" lIns="91440" tIns="45720" rIns="91440" bIns="45720" anchor="t" anchorCtr="0"/>
          <a:p>
            <a:pPr marL="0" indent="0" algn="just">
              <a:lnSpc>
                <a:spcPct val="100000"/>
              </a:lnSpc>
              <a:spcBef>
                <a:spcPct val="0"/>
              </a:spcBef>
              <a:buNone/>
            </a:pPr>
            <a:r>
              <a:rPr lang="zh-CN" altLang="en-US" dirty="0">
                <a:latin typeface="宋体" pitchFamily="2" charset="-122"/>
              </a:rPr>
              <a:t>(一)内部传送指令：实现片内数据存储器中数据传送。</a:t>
            </a:r>
            <a:endParaRPr lang="zh-CN" altLang="en-US" dirty="0">
              <a:latin typeface="宋体" pitchFamily="2" charset="-122"/>
            </a:endParaRPr>
          </a:p>
          <a:p>
            <a:pPr marL="0" indent="0" algn="just">
              <a:lnSpc>
                <a:spcPct val="100000"/>
              </a:lnSpc>
              <a:spcBef>
                <a:spcPct val="0"/>
              </a:spcBef>
              <a:buNone/>
            </a:pPr>
            <a:r>
              <a:rPr lang="zh-CN" altLang="en-US" dirty="0">
                <a:solidFill>
                  <a:srgbClr val="FFC000"/>
                </a:solidFill>
                <a:latin typeface="宋体" pitchFamily="2" charset="-122"/>
              </a:rPr>
              <a:t>    指令格式</a:t>
            </a:r>
            <a:r>
              <a:rPr lang="zh-CN" altLang="en-US" dirty="0">
                <a:latin typeface="宋体" pitchFamily="2" charset="-122"/>
              </a:rPr>
              <a:t>： </a:t>
            </a:r>
            <a:r>
              <a:rPr lang="en-US" altLang="zh-CN" i="1" u="sng" dirty="0">
                <a:solidFill>
                  <a:srgbClr val="F5171C"/>
                </a:solidFill>
                <a:latin typeface="宋体" pitchFamily="2" charset="-122"/>
              </a:rPr>
              <a:t>MOV </a:t>
            </a:r>
            <a:r>
              <a:rPr lang="zh-CN" altLang="en-US" i="1" u="sng" dirty="0">
                <a:solidFill>
                  <a:srgbClr val="F5171C"/>
                </a:solidFill>
                <a:latin typeface="宋体" pitchFamily="2" charset="-122"/>
              </a:rPr>
              <a:t>目的</a:t>
            </a:r>
            <a:r>
              <a:rPr lang="zh-CN" altLang="en-US" i="1" u="sng" dirty="0">
                <a:latin typeface="宋体" pitchFamily="2" charset="-122"/>
              </a:rPr>
              <a:t>操作数，</a:t>
            </a:r>
            <a:r>
              <a:rPr lang="zh-CN" altLang="en-US" i="1" u="sng" dirty="0">
                <a:solidFill>
                  <a:srgbClr val="F5171C"/>
                </a:solidFill>
                <a:latin typeface="宋体" pitchFamily="2" charset="-122"/>
              </a:rPr>
              <a:t>源</a:t>
            </a:r>
            <a:r>
              <a:rPr lang="zh-CN" altLang="en-US" i="1" u="sng" dirty="0">
                <a:latin typeface="宋体" pitchFamily="2" charset="-122"/>
              </a:rPr>
              <a:t>操作数</a:t>
            </a:r>
            <a:endParaRPr lang="zh-CN" altLang="en-US" i="1" u="sng" dirty="0">
              <a:latin typeface="宋体" pitchFamily="2" charset="-122"/>
            </a:endParaRPr>
          </a:p>
          <a:p>
            <a:pPr marL="0" indent="0" algn="just">
              <a:lnSpc>
                <a:spcPct val="100000"/>
              </a:lnSpc>
              <a:spcBef>
                <a:spcPct val="0"/>
              </a:spcBef>
              <a:buNone/>
            </a:pPr>
            <a:r>
              <a:rPr lang="zh-CN" altLang="en-US" dirty="0">
                <a:solidFill>
                  <a:srgbClr val="FFC000"/>
                </a:solidFill>
                <a:latin typeface="宋体" pitchFamily="2" charset="-122"/>
              </a:rPr>
              <a:t>    寻址方式</a:t>
            </a:r>
            <a:r>
              <a:rPr lang="zh-CN" altLang="en-US" dirty="0">
                <a:latin typeface="宋体" pitchFamily="2" charset="-122"/>
              </a:rPr>
              <a:t>：立即寻址、直接寻址、</a:t>
            </a:r>
            <a:endParaRPr lang="zh-CN" altLang="en-US" dirty="0">
              <a:latin typeface="宋体" pitchFamily="2" charset="-122"/>
            </a:endParaRPr>
          </a:p>
          <a:p>
            <a:pPr marL="0" indent="0" algn="just">
              <a:lnSpc>
                <a:spcPct val="100000"/>
              </a:lnSpc>
              <a:spcBef>
                <a:spcPct val="0"/>
              </a:spcBef>
              <a:buNone/>
            </a:pPr>
            <a:r>
              <a:rPr lang="zh-CN" altLang="en-US" dirty="0">
                <a:latin typeface="宋体" pitchFamily="2" charset="-122"/>
              </a:rPr>
              <a:t>              寄存器寻址、寄存器间址。</a:t>
            </a:r>
            <a:endParaRPr lang="en-US" altLang="zh-CN" dirty="0">
              <a:latin typeface="宋体" pitchFamily="2" charset="-122"/>
            </a:endParaRPr>
          </a:p>
          <a:p>
            <a:pPr marL="0" indent="0" algn="just">
              <a:lnSpc>
                <a:spcPct val="100000"/>
              </a:lnSpc>
              <a:spcBef>
                <a:spcPct val="0"/>
              </a:spcBef>
              <a:buNone/>
            </a:pPr>
            <a:endParaRPr lang="zh-CN" altLang="zh-CN" dirty="0">
              <a:solidFill>
                <a:srgbClr val="FFC000"/>
              </a:solidFill>
              <a:latin typeface="宋体" pitchFamily="2" charset="-122"/>
            </a:endParaRPr>
          </a:p>
        </p:txBody>
      </p:sp>
      <p:sp>
        <p:nvSpPr>
          <p:cNvPr id="36868" name="Rectangle 5"/>
          <p:cNvSpPr/>
          <p:nvPr/>
        </p:nvSpPr>
        <p:spPr>
          <a:xfrm>
            <a:off x="973138" y="3008313"/>
            <a:ext cx="7920037" cy="3046412"/>
          </a:xfrm>
          <a:prstGeom prst="rect">
            <a:avLst/>
          </a:prstGeom>
          <a:noFill/>
          <a:ln w="9525">
            <a:noFill/>
          </a:ln>
        </p:spPr>
        <p:txBody>
          <a:bodyPr anchor="t" anchorCtr="0">
            <a:spAutoFit/>
          </a:bodyPr>
          <a:p>
            <a:pPr>
              <a:spcBef>
                <a:spcPct val="50000"/>
              </a:spcBef>
              <a:buClrTx/>
              <a:buFontTx/>
            </a:pPr>
            <a:r>
              <a:rPr lang="en-US" altLang="zh-CN" dirty="0">
                <a:latin typeface="Times New Roman" panose="02020503050405090304" pitchFamily="18" charset="0"/>
                <a:ea typeface="仿宋_GB2312" pitchFamily="49" charset="-122"/>
              </a:rPr>
              <a:t>MOV     A，Rn                 ；A←(Rn)，Rn=R0～R7  </a:t>
            </a:r>
            <a:br>
              <a:rPr lang="en-US" altLang="zh-CN" dirty="0">
                <a:latin typeface="Times New Roman" panose="02020503050405090304" pitchFamily="18" charset="0"/>
                <a:ea typeface="仿宋_GB2312" pitchFamily="49" charset="-122"/>
              </a:rPr>
            </a:br>
            <a:r>
              <a:rPr lang="en-US" altLang="zh-CN" dirty="0">
                <a:latin typeface="Times New Roman" panose="02020503050405090304" pitchFamily="18" charset="0"/>
                <a:ea typeface="仿宋_GB2312" pitchFamily="49" charset="-122"/>
              </a:rPr>
              <a:t>MOV     A，direct            ；A←(direct)，</a:t>
            </a:r>
            <a:br>
              <a:rPr lang="en-US" altLang="zh-CN" dirty="0">
                <a:latin typeface="Times New Roman" panose="02020503050405090304" pitchFamily="18" charset="0"/>
                <a:ea typeface="仿宋_GB2312" pitchFamily="49" charset="-122"/>
              </a:rPr>
            </a:br>
            <a:r>
              <a:rPr lang="en-US" altLang="zh-CN" dirty="0">
                <a:latin typeface="Times New Roman" panose="02020503050405090304" pitchFamily="18" charset="0"/>
                <a:ea typeface="仿宋_GB2312" pitchFamily="49" charset="-122"/>
              </a:rPr>
              <a:t>MOV     A，@Ri              ；A←((Ri))，Ri=R0、R1</a:t>
            </a:r>
            <a:br>
              <a:rPr lang="en-US" altLang="zh-CN" dirty="0">
                <a:latin typeface="Times New Roman" panose="02020503050405090304" pitchFamily="18" charset="0"/>
                <a:ea typeface="仿宋_GB2312" pitchFamily="49" charset="-122"/>
              </a:rPr>
            </a:br>
            <a:r>
              <a:rPr lang="en-US" altLang="zh-CN" dirty="0">
                <a:latin typeface="Times New Roman" panose="02020503050405090304" pitchFamily="18" charset="0"/>
                <a:ea typeface="仿宋_GB2312" pitchFamily="49" charset="-122"/>
              </a:rPr>
              <a:t>MOV     A，#data            ；A←data</a:t>
            </a:r>
            <a:br>
              <a:rPr lang="en-US" altLang="zh-CN" dirty="0">
                <a:latin typeface="Times New Roman" panose="02020503050405090304" pitchFamily="18" charset="0"/>
                <a:ea typeface="仿宋_GB2312" pitchFamily="49" charset="-122"/>
              </a:rPr>
            </a:br>
            <a:r>
              <a:rPr lang="en-US" altLang="zh-CN" dirty="0">
                <a:latin typeface="Times New Roman" panose="02020503050405090304" pitchFamily="18" charset="0"/>
                <a:ea typeface="仿宋_GB2312" pitchFamily="49" charset="-122"/>
              </a:rPr>
              <a:t>MOV    Rn</a:t>
            </a:r>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direct          ；Rn←(direct)</a:t>
            </a:r>
            <a:br>
              <a:rPr lang="en-US" altLang="zh-CN" dirty="0">
                <a:latin typeface="Times New Roman" panose="02020503050405090304" pitchFamily="18" charset="0"/>
                <a:ea typeface="仿宋_GB2312" pitchFamily="49" charset="-122"/>
              </a:rPr>
            </a:br>
            <a:r>
              <a:rPr lang="en-US" altLang="zh-CN" dirty="0">
                <a:latin typeface="Times New Roman" panose="02020503050405090304" pitchFamily="18" charset="0"/>
                <a:ea typeface="仿宋_GB2312" pitchFamily="49" charset="-122"/>
              </a:rPr>
              <a:t>MOV    @Ri</a:t>
            </a:r>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direct        ；(Ri)←(direct)</a:t>
            </a:r>
            <a:br>
              <a:rPr lang="en-US" altLang="zh-CN" dirty="0">
                <a:latin typeface="Times New Roman" panose="02020503050405090304" pitchFamily="18" charset="0"/>
                <a:ea typeface="仿宋_GB2312" pitchFamily="49" charset="-122"/>
              </a:rPr>
            </a:br>
            <a:r>
              <a:rPr lang="en-US" altLang="zh-CN" dirty="0">
                <a:latin typeface="Times New Roman" panose="02020503050405090304" pitchFamily="18" charset="0"/>
                <a:ea typeface="仿宋_GB2312" pitchFamily="49" charset="-122"/>
              </a:rPr>
              <a:t>MOV   direct1，direct2   ；direct1←(direct2)</a:t>
            </a:r>
            <a:br>
              <a:rPr lang="en-US" altLang="zh-CN" dirty="0">
                <a:latin typeface="Times New Roman" panose="02020503050405090304" pitchFamily="18" charset="0"/>
                <a:ea typeface="仿宋_GB2312" pitchFamily="49" charset="-122"/>
              </a:rPr>
            </a:br>
            <a:r>
              <a:rPr lang="en-US" altLang="zh-CN" dirty="0">
                <a:latin typeface="Times New Roman" panose="02020503050405090304" pitchFamily="18" charset="0"/>
                <a:ea typeface="仿宋_GB2312" pitchFamily="49" charset="-122"/>
              </a:rPr>
              <a:t>MOV   DPTR，#d1d2      ；DPTR←d1d2 	</a:t>
            </a:r>
            <a:endParaRPr lang="zh-CN" altLang="en-US" dirty="0">
              <a:latin typeface="Times New Roman" panose="02020503050405090304" pitchFamily="18" charset="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987">
                                            <p:txEl>
                                              <p:charRg st="0" end="26"/>
                                            </p:txEl>
                                          </p:spTgt>
                                        </p:tgtEl>
                                        <p:attrNameLst>
                                          <p:attrName>style.visibility</p:attrName>
                                        </p:attrNameLst>
                                      </p:cBhvr>
                                      <p:to>
                                        <p:strVal val="visible"/>
                                      </p:to>
                                    </p:set>
                                    <p:animEffect transition="in" filter="blinds(horizontal)">
                                      <p:cBhvr>
                                        <p:cTn id="7" dur="500"/>
                                        <p:tgtEl>
                                          <p:spTgt spid="41987">
                                            <p:txEl>
                                              <p:charRg st="0" end="26"/>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1987">
                                            <p:txEl>
                                              <p:charRg st="26" end="51"/>
                                            </p:txEl>
                                          </p:spTgt>
                                        </p:tgtEl>
                                        <p:attrNameLst>
                                          <p:attrName>style.visibility</p:attrName>
                                        </p:attrNameLst>
                                      </p:cBhvr>
                                      <p:to>
                                        <p:strVal val="visible"/>
                                      </p:to>
                                    </p:set>
                                    <p:animEffect transition="in" filter="blinds(horizontal)">
                                      <p:cBhvr>
                                        <p:cTn id="12" dur="500"/>
                                        <p:tgtEl>
                                          <p:spTgt spid="41987">
                                            <p:txEl>
                                              <p:charRg st="26" end="5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1987">
                                            <p:txEl>
                                              <p:charRg st="51" end="71"/>
                                            </p:txEl>
                                          </p:spTgt>
                                        </p:tgtEl>
                                        <p:attrNameLst>
                                          <p:attrName>style.visibility</p:attrName>
                                        </p:attrNameLst>
                                      </p:cBhvr>
                                      <p:to>
                                        <p:strVal val="visible"/>
                                      </p:to>
                                    </p:set>
                                    <p:animEffect transition="in" filter="blinds(horizontal)">
                                      <p:cBhvr>
                                        <p:cTn id="17" dur="500"/>
                                        <p:tgtEl>
                                          <p:spTgt spid="41987">
                                            <p:txEl>
                                              <p:charRg st="51" end="7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1987">
                                            <p:txEl>
                                              <p:charRg st="71" end="98"/>
                                            </p:txEl>
                                          </p:spTgt>
                                        </p:tgtEl>
                                        <p:attrNameLst>
                                          <p:attrName>style.visibility</p:attrName>
                                        </p:attrNameLst>
                                      </p:cBhvr>
                                      <p:to>
                                        <p:strVal val="visible"/>
                                      </p:to>
                                    </p:set>
                                    <p:animEffect transition="in" filter="blinds(horizontal)">
                                      <p:cBhvr>
                                        <p:cTn id="22" dur="500"/>
                                        <p:tgtEl>
                                          <p:spTgt spid="41987">
                                            <p:txEl>
                                              <p:charRg st="71" end="98"/>
                                            </p:txEl>
                                          </p:spTgt>
                                        </p:tgtEl>
                                      </p:cBhvr>
                                    </p:animEffect>
                                  </p:childTnLst>
                                </p:cTn>
                              </p:par>
                            </p:childTnLst>
                          </p:cTn>
                        </p:par>
                        <p:par>
                          <p:cTn id="23" fill="hold">
                            <p:stCondLst>
                              <p:cond delay="500"/>
                            </p:stCondLst>
                            <p:childTnLst>
                              <p:par>
                                <p:cTn id="24" presetID="1" presetClass="entr" presetSubtype="0" fill="hold" grpId="0" nodeType="afterEffect">
                                  <p:stCondLst>
                                    <p:cond delay="0"/>
                                  </p:stCondLst>
                                  <p:childTnLst>
                                    <p:set>
                                      <p:cBhvr>
                                        <p:cTn id="25" dur="1" fill="hold">
                                          <p:stCondLst>
                                            <p:cond delay="0"/>
                                          </p:stCondLst>
                                        </p:cTn>
                                        <p:tgtEl>
                                          <p:spTgt spid="368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P spid="3686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grpSp>
        <p:nvGrpSpPr>
          <p:cNvPr id="66562" name="Group 5"/>
          <p:cNvGrpSpPr/>
          <p:nvPr/>
        </p:nvGrpSpPr>
        <p:grpSpPr>
          <a:xfrm>
            <a:off x="684213" y="1052513"/>
            <a:ext cx="7766050" cy="5227637"/>
            <a:chOff x="0" y="374"/>
            <a:chExt cx="3223" cy="2902"/>
          </a:xfrm>
        </p:grpSpPr>
        <p:grpSp>
          <p:nvGrpSpPr>
            <p:cNvPr id="66563" name="Group 6"/>
            <p:cNvGrpSpPr/>
            <p:nvPr/>
          </p:nvGrpSpPr>
          <p:grpSpPr>
            <a:xfrm>
              <a:off x="0" y="374"/>
              <a:ext cx="426" cy="460"/>
              <a:chOff x="0" y="374"/>
              <a:chExt cx="426" cy="460"/>
            </a:xfrm>
          </p:grpSpPr>
          <p:sp>
            <p:nvSpPr>
              <p:cNvPr id="66564" name="Rectangle 7"/>
              <p:cNvSpPr/>
              <p:nvPr/>
            </p:nvSpPr>
            <p:spPr>
              <a:xfrm>
                <a:off x="43" y="374"/>
                <a:ext cx="340" cy="460"/>
              </a:xfrm>
              <a:prstGeom prst="rect">
                <a:avLst/>
              </a:prstGeom>
              <a:noFill/>
              <a:ln w="9525">
                <a:noFill/>
              </a:ln>
            </p:spPr>
            <p:txBody>
              <a:bodyPr anchor="ctr" anchorCtr="0"/>
              <a:p>
                <a:pPr algn="ctr" eaLnBrk="0" hangingPunct="0">
                  <a:buClrTx/>
                  <a:buFontTx/>
                </a:pPr>
                <a:endParaRPr lang="zh-CN" altLang="en-US" sz="1800" b="0" dirty="0">
                  <a:latin typeface="宋体" pitchFamily="2" charset="-122"/>
                  <a:ea typeface="宋体" pitchFamily="2" charset="-122"/>
                </a:endParaRPr>
              </a:p>
              <a:p>
                <a:pPr algn="ctr" eaLnBrk="0" hangingPunct="0">
                  <a:buClrTx/>
                  <a:buFontTx/>
                </a:pPr>
                <a:r>
                  <a:rPr lang="zh-CN" altLang="en-US" sz="1800" b="0" dirty="0">
                    <a:latin typeface="宋体" pitchFamily="2" charset="-122"/>
                    <a:ea typeface="宋体" pitchFamily="2" charset="-122"/>
                  </a:rPr>
                  <a:t>操作码</a:t>
                </a:r>
                <a:endParaRPr lang="zh-CN" altLang="en-US" sz="1800" b="0" dirty="0">
                  <a:latin typeface="Times New Roman" panose="02020503050405090304" pitchFamily="18" charset="0"/>
                  <a:ea typeface="宋体" pitchFamily="2" charset="-122"/>
                </a:endParaRPr>
              </a:p>
              <a:p>
                <a:pPr algn="ctr" eaLnBrk="0" hangingPunct="0">
                  <a:buClrTx/>
                  <a:buFontTx/>
                </a:pPr>
                <a:endParaRPr lang="zh-CN" altLang="en-US" sz="2000" b="0" dirty="0">
                  <a:latin typeface="Times New Roman" panose="02020503050405090304" pitchFamily="18" charset="0"/>
                  <a:ea typeface="宋体" pitchFamily="2" charset="-122"/>
                </a:endParaRPr>
              </a:p>
            </p:txBody>
          </p:sp>
          <p:sp>
            <p:nvSpPr>
              <p:cNvPr id="66565" name="Rectangle 8"/>
              <p:cNvSpPr/>
              <p:nvPr/>
            </p:nvSpPr>
            <p:spPr>
              <a:xfrm>
                <a:off x="0" y="374"/>
                <a:ext cx="426" cy="460"/>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66566" name="Group 9"/>
            <p:cNvGrpSpPr/>
            <p:nvPr/>
          </p:nvGrpSpPr>
          <p:grpSpPr>
            <a:xfrm>
              <a:off x="426" y="374"/>
              <a:ext cx="446" cy="460"/>
              <a:chOff x="426" y="374"/>
              <a:chExt cx="446" cy="460"/>
            </a:xfrm>
          </p:grpSpPr>
          <p:sp>
            <p:nvSpPr>
              <p:cNvPr id="66567" name="Rectangle 10"/>
              <p:cNvSpPr/>
              <p:nvPr/>
            </p:nvSpPr>
            <p:spPr>
              <a:xfrm>
                <a:off x="469" y="374"/>
                <a:ext cx="360" cy="460"/>
              </a:xfrm>
              <a:prstGeom prst="rect">
                <a:avLst/>
              </a:prstGeom>
              <a:noFill/>
              <a:ln w="9525">
                <a:noFill/>
              </a:ln>
            </p:spPr>
            <p:txBody>
              <a:bodyPr anchor="ctr" anchorCtr="0"/>
              <a:p>
                <a:pPr algn="ctr" eaLnBrk="0" hangingPunct="0">
                  <a:buClrTx/>
                  <a:buFontTx/>
                </a:pPr>
                <a:r>
                  <a:rPr lang="zh-CN" altLang="en-US" sz="1800" b="0" dirty="0">
                    <a:latin typeface="宋体" pitchFamily="2" charset="-122"/>
                    <a:ea typeface="宋体" pitchFamily="2" charset="-122"/>
                  </a:rPr>
                  <a:t>目的</a:t>
                </a:r>
                <a:endParaRPr lang="zh-CN" altLang="en-US" sz="1800" b="0" dirty="0">
                  <a:latin typeface="Times New Roman" panose="02020503050405090304" pitchFamily="18" charset="0"/>
                  <a:ea typeface="宋体" pitchFamily="2" charset="-122"/>
                </a:endParaRPr>
              </a:p>
              <a:p>
                <a:pPr algn="ctr" eaLnBrk="0" hangingPunct="0">
                  <a:buClrTx/>
                  <a:buFontTx/>
                </a:pPr>
                <a:endParaRPr lang="zh-CN" altLang="en-US" sz="2200" b="0" dirty="0">
                  <a:latin typeface="Times New Roman" panose="02020503050405090304" pitchFamily="18" charset="0"/>
                  <a:ea typeface="宋体" pitchFamily="2" charset="-122"/>
                </a:endParaRPr>
              </a:p>
            </p:txBody>
          </p:sp>
          <p:sp>
            <p:nvSpPr>
              <p:cNvPr id="66568" name="Rectangle 11"/>
              <p:cNvSpPr/>
              <p:nvPr/>
            </p:nvSpPr>
            <p:spPr>
              <a:xfrm>
                <a:off x="426" y="374"/>
                <a:ext cx="446" cy="460"/>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66569" name="Group 12"/>
            <p:cNvGrpSpPr/>
            <p:nvPr/>
          </p:nvGrpSpPr>
          <p:grpSpPr>
            <a:xfrm>
              <a:off x="872" y="374"/>
              <a:ext cx="518" cy="460"/>
              <a:chOff x="872" y="374"/>
              <a:chExt cx="518" cy="460"/>
            </a:xfrm>
          </p:grpSpPr>
          <p:sp>
            <p:nvSpPr>
              <p:cNvPr id="66570" name="Rectangle 13"/>
              <p:cNvSpPr/>
              <p:nvPr/>
            </p:nvSpPr>
            <p:spPr>
              <a:xfrm>
                <a:off x="915" y="374"/>
                <a:ext cx="432" cy="460"/>
              </a:xfrm>
              <a:prstGeom prst="rect">
                <a:avLst/>
              </a:prstGeom>
              <a:noFill/>
              <a:ln w="9525">
                <a:noFill/>
              </a:ln>
            </p:spPr>
            <p:txBody>
              <a:bodyPr anchor="ctr" anchorCtr="0"/>
              <a:p>
                <a:pPr algn="ctr" eaLnBrk="0" hangingPunct="0">
                  <a:buClrTx/>
                  <a:buFontTx/>
                </a:pPr>
                <a:r>
                  <a:rPr lang="zh-CN" altLang="en-US" sz="1800" b="0" dirty="0">
                    <a:latin typeface="宋体" pitchFamily="2" charset="-122"/>
                    <a:ea typeface="宋体" pitchFamily="2" charset="-122"/>
                  </a:rPr>
                  <a:t>源</a:t>
                </a:r>
                <a:endParaRPr lang="zh-CN" altLang="en-US" sz="1800" b="0" dirty="0">
                  <a:latin typeface="Times New Roman" panose="02020503050405090304" pitchFamily="18" charset="0"/>
                  <a:ea typeface="宋体" pitchFamily="2" charset="-122"/>
                </a:endParaRPr>
              </a:p>
              <a:p>
                <a:pPr algn="ctr" eaLnBrk="0" hangingPunct="0">
                  <a:buClrTx/>
                  <a:buFontTx/>
                </a:pPr>
                <a:endParaRPr lang="zh-CN" altLang="en-US" sz="1800" b="0" dirty="0">
                  <a:latin typeface="Times New Roman" panose="02020503050405090304" pitchFamily="18" charset="0"/>
                  <a:ea typeface="宋体" pitchFamily="2" charset="-122"/>
                </a:endParaRPr>
              </a:p>
            </p:txBody>
          </p:sp>
          <p:sp>
            <p:nvSpPr>
              <p:cNvPr id="66571" name="Rectangle 14"/>
              <p:cNvSpPr/>
              <p:nvPr/>
            </p:nvSpPr>
            <p:spPr>
              <a:xfrm>
                <a:off x="872" y="374"/>
                <a:ext cx="518" cy="460"/>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66572" name="Group 15"/>
            <p:cNvGrpSpPr/>
            <p:nvPr/>
          </p:nvGrpSpPr>
          <p:grpSpPr>
            <a:xfrm>
              <a:off x="1390" y="374"/>
              <a:ext cx="941" cy="460"/>
              <a:chOff x="1390" y="374"/>
              <a:chExt cx="941" cy="460"/>
            </a:xfrm>
          </p:grpSpPr>
          <p:sp>
            <p:nvSpPr>
              <p:cNvPr id="66573" name="Rectangle 16"/>
              <p:cNvSpPr/>
              <p:nvPr/>
            </p:nvSpPr>
            <p:spPr>
              <a:xfrm>
                <a:off x="1433" y="374"/>
                <a:ext cx="855" cy="460"/>
              </a:xfrm>
              <a:prstGeom prst="rect">
                <a:avLst/>
              </a:prstGeom>
              <a:noFill/>
              <a:ln w="9525">
                <a:noFill/>
              </a:ln>
            </p:spPr>
            <p:txBody>
              <a:bodyPr anchor="ctr" anchorCtr="0"/>
              <a:p>
                <a:pPr algn="ctr" eaLnBrk="0" hangingPunct="0">
                  <a:buClrTx/>
                  <a:buFontTx/>
                </a:pPr>
                <a:r>
                  <a:rPr lang="zh-CN" altLang="en-US" sz="1800" b="0" dirty="0">
                    <a:latin typeface="宋体" pitchFamily="2" charset="-122"/>
                    <a:ea typeface="宋体" pitchFamily="2" charset="-122"/>
                  </a:rPr>
                  <a:t>操作内容</a:t>
                </a:r>
                <a:endParaRPr lang="zh-CN" altLang="en-US" sz="1800" b="0" dirty="0">
                  <a:latin typeface="Times New Roman" panose="02020503050405090304" pitchFamily="18" charset="0"/>
                  <a:ea typeface="宋体" pitchFamily="2" charset="-122"/>
                </a:endParaRPr>
              </a:p>
              <a:p>
                <a:pPr algn="ctr" eaLnBrk="0" hangingPunct="0">
                  <a:buClrTx/>
                  <a:buFontTx/>
                </a:pPr>
                <a:endParaRPr lang="zh-CN" altLang="en-US" sz="1800" b="0" dirty="0">
                  <a:latin typeface="Times New Roman" panose="02020503050405090304" pitchFamily="18" charset="0"/>
                  <a:ea typeface="宋体" pitchFamily="2" charset="-122"/>
                </a:endParaRPr>
              </a:p>
            </p:txBody>
          </p:sp>
          <p:sp>
            <p:nvSpPr>
              <p:cNvPr id="66574" name="Rectangle 17"/>
              <p:cNvSpPr/>
              <p:nvPr/>
            </p:nvSpPr>
            <p:spPr>
              <a:xfrm>
                <a:off x="1390" y="374"/>
                <a:ext cx="941" cy="460"/>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66575" name="Group 18"/>
            <p:cNvGrpSpPr/>
            <p:nvPr/>
          </p:nvGrpSpPr>
          <p:grpSpPr>
            <a:xfrm>
              <a:off x="2331" y="374"/>
              <a:ext cx="446" cy="460"/>
              <a:chOff x="2331" y="374"/>
              <a:chExt cx="446" cy="460"/>
            </a:xfrm>
          </p:grpSpPr>
          <p:sp>
            <p:nvSpPr>
              <p:cNvPr id="66576" name="Rectangle 19"/>
              <p:cNvSpPr/>
              <p:nvPr/>
            </p:nvSpPr>
            <p:spPr>
              <a:xfrm>
                <a:off x="2374" y="374"/>
                <a:ext cx="360" cy="460"/>
              </a:xfrm>
              <a:prstGeom prst="rect">
                <a:avLst/>
              </a:prstGeom>
              <a:noFill/>
              <a:ln w="9525">
                <a:noFill/>
              </a:ln>
            </p:spPr>
            <p:txBody>
              <a:bodyPr anchor="ctr" anchorCtr="0"/>
              <a:p>
                <a:pPr algn="ctr" eaLnBrk="0" hangingPunct="0">
                  <a:buClrTx/>
                  <a:buFontTx/>
                </a:pPr>
                <a:endParaRPr lang="zh-CN" altLang="en-US" sz="1800" b="0" dirty="0">
                  <a:latin typeface="宋体" pitchFamily="2" charset="-122"/>
                  <a:ea typeface="宋体" pitchFamily="2" charset="-122"/>
                </a:endParaRPr>
              </a:p>
              <a:p>
                <a:pPr algn="ctr" eaLnBrk="0" hangingPunct="0">
                  <a:buClrTx/>
                  <a:buFontTx/>
                </a:pPr>
                <a:r>
                  <a:rPr lang="zh-CN" altLang="en-US" sz="1800" b="0" dirty="0">
                    <a:latin typeface="宋体" pitchFamily="2" charset="-122"/>
                    <a:ea typeface="宋体" pitchFamily="2" charset="-122"/>
                  </a:rPr>
                  <a:t>字节数</a:t>
                </a:r>
                <a:endParaRPr lang="zh-CN" altLang="en-US" sz="1800" b="0" dirty="0">
                  <a:latin typeface="Times New Roman" panose="02020503050405090304" pitchFamily="18" charset="0"/>
                  <a:ea typeface="宋体" pitchFamily="2" charset="-122"/>
                </a:endParaRPr>
              </a:p>
              <a:p>
                <a:pPr algn="ctr" eaLnBrk="0" hangingPunct="0">
                  <a:buClrTx/>
                  <a:buFontTx/>
                </a:pPr>
                <a:endParaRPr lang="zh-CN" altLang="en-US" sz="1800" b="0" dirty="0">
                  <a:latin typeface="Times New Roman" panose="02020503050405090304" pitchFamily="18" charset="0"/>
                  <a:ea typeface="宋体" pitchFamily="2" charset="-122"/>
                </a:endParaRPr>
              </a:p>
            </p:txBody>
          </p:sp>
          <p:sp>
            <p:nvSpPr>
              <p:cNvPr id="66577" name="Rectangle 20"/>
              <p:cNvSpPr/>
              <p:nvPr/>
            </p:nvSpPr>
            <p:spPr>
              <a:xfrm>
                <a:off x="2331" y="374"/>
                <a:ext cx="446" cy="460"/>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66578" name="Group 21"/>
            <p:cNvGrpSpPr/>
            <p:nvPr/>
          </p:nvGrpSpPr>
          <p:grpSpPr>
            <a:xfrm>
              <a:off x="2777" y="374"/>
              <a:ext cx="446" cy="460"/>
              <a:chOff x="2777" y="374"/>
              <a:chExt cx="446" cy="460"/>
            </a:xfrm>
          </p:grpSpPr>
          <p:sp>
            <p:nvSpPr>
              <p:cNvPr id="66579" name="Rectangle 22"/>
              <p:cNvSpPr/>
              <p:nvPr/>
            </p:nvSpPr>
            <p:spPr>
              <a:xfrm>
                <a:off x="2820" y="374"/>
                <a:ext cx="360" cy="460"/>
              </a:xfrm>
              <a:prstGeom prst="rect">
                <a:avLst/>
              </a:prstGeom>
              <a:noFill/>
              <a:ln w="9525">
                <a:noFill/>
              </a:ln>
            </p:spPr>
            <p:txBody>
              <a:bodyPr anchor="ctr" anchorCtr="0"/>
              <a:p>
                <a:pPr algn="ctr" eaLnBrk="0" hangingPunct="0">
                  <a:buClrTx/>
                  <a:buFontTx/>
                </a:pPr>
                <a:endParaRPr lang="zh-CN" altLang="en-US" sz="1800" b="0" dirty="0">
                  <a:latin typeface="宋体" pitchFamily="2" charset="-122"/>
                  <a:ea typeface="宋体" pitchFamily="2" charset="-122"/>
                </a:endParaRPr>
              </a:p>
              <a:p>
                <a:pPr algn="ctr" eaLnBrk="0" hangingPunct="0">
                  <a:buClrTx/>
                  <a:buFontTx/>
                </a:pPr>
                <a:r>
                  <a:rPr lang="zh-CN" altLang="en-US" sz="1800" b="0" dirty="0">
                    <a:latin typeface="宋体" pitchFamily="2" charset="-122"/>
                    <a:ea typeface="宋体" pitchFamily="2" charset="-122"/>
                  </a:rPr>
                  <a:t>执行时间</a:t>
                </a:r>
                <a:endParaRPr lang="zh-CN" altLang="en-US" sz="1800" b="0" dirty="0">
                  <a:latin typeface="Times New Roman" panose="02020503050405090304" pitchFamily="18" charset="0"/>
                  <a:ea typeface="宋体" pitchFamily="2" charset="-122"/>
                </a:endParaRPr>
              </a:p>
              <a:p>
                <a:pPr algn="ctr" eaLnBrk="0" hangingPunct="0">
                  <a:buClrTx/>
                  <a:buFontTx/>
                </a:pPr>
                <a:endParaRPr lang="zh-CN" altLang="en-US" sz="2200" b="0" dirty="0">
                  <a:latin typeface="Times New Roman" panose="02020503050405090304" pitchFamily="18" charset="0"/>
                  <a:ea typeface="宋体" pitchFamily="2" charset="-122"/>
                </a:endParaRPr>
              </a:p>
            </p:txBody>
          </p:sp>
          <p:sp>
            <p:nvSpPr>
              <p:cNvPr id="66580" name="Rectangle 23"/>
              <p:cNvSpPr/>
              <p:nvPr/>
            </p:nvSpPr>
            <p:spPr>
              <a:xfrm>
                <a:off x="2777" y="374"/>
                <a:ext cx="446" cy="460"/>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66581" name="Group 24"/>
            <p:cNvGrpSpPr/>
            <p:nvPr/>
          </p:nvGrpSpPr>
          <p:grpSpPr>
            <a:xfrm>
              <a:off x="0" y="834"/>
              <a:ext cx="426" cy="2442"/>
              <a:chOff x="0" y="834"/>
              <a:chExt cx="426" cy="2442"/>
            </a:xfrm>
          </p:grpSpPr>
          <p:sp>
            <p:nvSpPr>
              <p:cNvPr id="66582" name="Rectangle 25"/>
              <p:cNvSpPr/>
              <p:nvPr/>
            </p:nvSpPr>
            <p:spPr>
              <a:xfrm>
                <a:off x="43" y="834"/>
                <a:ext cx="340" cy="2442"/>
              </a:xfrm>
              <a:prstGeom prst="rect">
                <a:avLst/>
              </a:prstGeom>
              <a:noFill/>
              <a:ln w="9525">
                <a:noFill/>
              </a:ln>
            </p:spPr>
            <p:txBody>
              <a:bodyPr anchor="ctr" anchorCtr="0"/>
              <a:p>
                <a:pPr algn="just" eaLnBrk="0" hangingPunct="0">
                  <a:buClrTx/>
                  <a:buFontTx/>
                </a:pPr>
                <a:r>
                  <a:rPr lang="en-US" altLang="zh-CN" sz="1600" b="0" dirty="0">
                    <a:latin typeface="Times New Roman" panose="02020503050405090304" pitchFamily="18" charset="0"/>
                    <a:ea typeface="宋体" pitchFamily="2" charset="-122"/>
                  </a:rPr>
                  <a:t>MOV</a:t>
                </a:r>
                <a:endParaRPr lang="en-US" altLang="zh-CN" sz="1600" b="0" dirty="0">
                  <a:latin typeface="Times New Roman" panose="02020503050405090304" pitchFamily="18" charset="0"/>
                  <a:ea typeface="宋体" pitchFamily="2" charset="-122"/>
                </a:endParaRPr>
              </a:p>
              <a:p>
                <a:pPr algn="just" eaLnBrk="0" hangingPunct="0">
                  <a:buClrTx/>
                  <a:buFontTx/>
                </a:pPr>
                <a:endParaRPr lang="en-US" altLang="zh-CN" sz="1600" b="0" dirty="0">
                  <a:latin typeface="Times New Roman" panose="02020503050405090304" pitchFamily="18" charset="0"/>
                  <a:ea typeface="宋体" pitchFamily="2" charset="-122"/>
                </a:endParaRPr>
              </a:p>
            </p:txBody>
          </p:sp>
          <p:sp>
            <p:nvSpPr>
              <p:cNvPr id="66583" name="Rectangle 26"/>
              <p:cNvSpPr/>
              <p:nvPr/>
            </p:nvSpPr>
            <p:spPr>
              <a:xfrm>
                <a:off x="0" y="834"/>
                <a:ext cx="426" cy="2442"/>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66584" name="Group 27"/>
            <p:cNvGrpSpPr/>
            <p:nvPr/>
          </p:nvGrpSpPr>
          <p:grpSpPr>
            <a:xfrm>
              <a:off x="426" y="834"/>
              <a:ext cx="446" cy="632"/>
              <a:chOff x="426" y="834"/>
              <a:chExt cx="446" cy="632"/>
            </a:xfrm>
          </p:grpSpPr>
          <p:sp>
            <p:nvSpPr>
              <p:cNvPr id="66585" name="Rectangle 28"/>
              <p:cNvSpPr/>
              <p:nvPr/>
            </p:nvSpPr>
            <p:spPr>
              <a:xfrm>
                <a:off x="469" y="834"/>
                <a:ext cx="360" cy="632"/>
              </a:xfrm>
              <a:prstGeom prst="rect">
                <a:avLst/>
              </a:prstGeom>
              <a:noFill/>
              <a:ln w="9525">
                <a:noFill/>
              </a:ln>
            </p:spPr>
            <p:txBody>
              <a:bodyPr anchor="ctr" anchorCtr="0"/>
              <a:p>
                <a:pPr algn="just" eaLnBrk="0" hangingPunct="0">
                  <a:buClrTx/>
                  <a:buFontTx/>
                </a:pPr>
                <a:r>
                  <a:rPr lang="en-US" altLang="zh-CN" sz="1600" b="0" dirty="0">
                    <a:latin typeface="Times New Roman" panose="02020503050405090304" pitchFamily="18" charset="0"/>
                    <a:ea typeface="宋体" pitchFamily="2" charset="-122"/>
                  </a:rPr>
                  <a:t>A</a:t>
                </a:r>
                <a:r>
                  <a:rPr lang="en-US" altLang="zh-CN" sz="1600" b="0" dirty="0">
                    <a:latin typeface="宋体" pitchFamily="2" charset="-122"/>
                    <a:ea typeface="宋体" pitchFamily="2" charset="-122"/>
                  </a:rPr>
                  <a:t>，</a:t>
                </a:r>
                <a:endParaRPr lang="en-US" altLang="zh-CN" sz="1600" b="0" dirty="0">
                  <a:latin typeface="Times New Roman" panose="02020503050405090304" pitchFamily="18" charset="0"/>
                  <a:ea typeface="宋体" pitchFamily="2" charset="-122"/>
                </a:endParaRPr>
              </a:p>
              <a:p>
                <a:pPr algn="just" eaLnBrk="0" hangingPunct="0">
                  <a:buClrTx/>
                  <a:buFontTx/>
                </a:pPr>
                <a:endParaRPr lang="en-US" altLang="zh-CN" sz="2200" b="0" dirty="0">
                  <a:latin typeface="Times New Roman" panose="02020503050405090304" pitchFamily="18" charset="0"/>
                  <a:ea typeface="宋体" pitchFamily="2" charset="-122"/>
                </a:endParaRPr>
              </a:p>
            </p:txBody>
          </p:sp>
          <p:sp>
            <p:nvSpPr>
              <p:cNvPr id="66586" name="Rectangle 29"/>
              <p:cNvSpPr/>
              <p:nvPr/>
            </p:nvSpPr>
            <p:spPr>
              <a:xfrm>
                <a:off x="426" y="834"/>
                <a:ext cx="446" cy="632"/>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66587" name="Group 30"/>
            <p:cNvGrpSpPr/>
            <p:nvPr/>
          </p:nvGrpSpPr>
          <p:grpSpPr>
            <a:xfrm>
              <a:off x="872" y="834"/>
              <a:ext cx="518" cy="632"/>
              <a:chOff x="872" y="834"/>
              <a:chExt cx="518" cy="632"/>
            </a:xfrm>
          </p:grpSpPr>
          <p:sp>
            <p:nvSpPr>
              <p:cNvPr id="66588" name="Rectangle 31"/>
              <p:cNvSpPr/>
              <p:nvPr/>
            </p:nvSpPr>
            <p:spPr>
              <a:xfrm>
                <a:off x="915" y="834"/>
                <a:ext cx="432" cy="632"/>
              </a:xfrm>
              <a:prstGeom prst="rect">
                <a:avLst/>
              </a:prstGeom>
              <a:noFill/>
              <a:ln w="9525">
                <a:noFill/>
              </a:ln>
            </p:spPr>
            <p:txBody>
              <a:bodyPr anchor="ctr" anchorCtr="0"/>
              <a:p>
                <a:pPr algn="just" eaLnBrk="0" hangingPunct="0">
                  <a:buClrTx/>
                  <a:buFontTx/>
                </a:pPr>
                <a:endParaRPr lang="zh-CN" altLang="en-US" sz="2200" b="0" dirty="0">
                  <a:latin typeface="Times New Roman" panose="02020503050405090304" pitchFamily="18" charset="0"/>
                  <a:ea typeface="宋体" pitchFamily="2" charset="-122"/>
                </a:endParaRPr>
              </a:p>
              <a:p>
                <a:pPr algn="just" eaLnBrk="0" hangingPunct="0">
                  <a:buClrTx/>
                  <a:buFontTx/>
                </a:pPr>
                <a:r>
                  <a:rPr lang="zh-CN" altLang="en-US" sz="1800" b="0" dirty="0">
                    <a:latin typeface="Times New Roman" panose="02020503050405090304" pitchFamily="18" charset="0"/>
                    <a:ea typeface="宋体" pitchFamily="2" charset="-122"/>
                  </a:rPr>
                  <a:t>#</a:t>
                </a:r>
                <a:r>
                  <a:rPr lang="en-US" altLang="zh-CN" sz="1800" b="0" dirty="0">
                    <a:latin typeface="Times New Roman" panose="02020503050405090304" pitchFamily="18" charset="0"/>
                    <a:ea typeface="宋体" pitchFamily="2" charset="-122"/>
                  </a:rPr>
                  <a:t>data</a:t>
                </a:r>
                <a:endParaRPr lang="en-US" altLang="zh-CN" sz="1800" b="0" dirty="0">
                  <a:latin typeface="Times New Roman" panose="02020503050405090304" pitchFamily="18" charset="0"/>
                  <a:ea typeface="宋体" pitchFamily="2" charset="-122"/>
                </a:endParaRPr>
              </a:p>
              <a:p>
                <a:pPr algn="just" eaLnBrk="0" hangingPunct="0">
                  <a:buClrTx/>
                  <a:buFontTx/>
                </a:pPr>
                <a:r>
                  <a:rPr lang="en-US" altLang="zh-CN" sz="1800" b="0" dirty="0">
                    <a:solidFill>
                      <a:schemeClr val="tx2"/>
                    </a:solidFill>
                    <a:latin typeface="Times New Roman" panose="02020503050405090304" pitchFamily="18" charset="0"/>
                    <a:ea typeface="宋体" pitchFamily="2" charset="-122"/>
                  </a:rPr>
                  <a:t>direct</a:t>
                </a:r>
                <a:endParaRPr lang="en-US" altLang="zh-CN" sz="1800" b="0" dirty="0">
                  <a:solidFill>
                    <a:schemeClr val="tx2"/>
                  </a:solidFill>
                  <a:latin typeface="Times New Roman" panose="02020503050405090304" pitchFamily="18" charset="0"/>
                  <a:ea typeface="宋体" pitchFamily="2" charset="-122"/>
                </a:endParaRPr>
              </a:p>
              <a:p>
                <a:pPr algn="just" eaLnBrk="0" hangingPunct="0">
                  <a:buClrTx/>
                  <a:buFontTx/>
                </a:pPr>
                <a:r>
                  <a:rPr lang="en-US" altLang="zh-CN" sz="1800" b="0" dirty="0">
                    <a:latin typeface="Times New Roman" panose="02020503050405090304" pitchFamily="18" charset="0"/>
                    <a:ea typeface="宋体" pitchFamily="2" charset="-122"/>
                  </a:rPr>
                  <a:t>@Ri</a:t>
                </a:r>
                <a:endParaRPr lang="en-US" altLang="zh-CN" sz="1800" b="0" dirty="0">
                  <a:latin typeface="Times New Roman" panose="02020503050405090304" pitchFamily="18" charset="0"/>
                  <a:ea typeface="宋体" pitchFamily="2" charset="-122"/>
                </a:endParaRPr>
              </a:p>
              <a:p>
                <a:pPr algn="just" eaLnBrk="0" hangingPunct="0">
                  <a:buClrTx/>
                  <a:buFontTx/>
                </a:pPr>
                <a:r>
                  <a:rPr lang="en-US" altLang="zh-CN" sz="1800" b="0" dirty="0">
                    <a:latin typeface="Times New Roman" panose="02020503050405090304" pitchFamily="18" charset="0"/>
                    <a:ea typeface="宋体" pitchFamily="2" charset="-122"/>
                  </a:rPr>
                  <a:t>Rn</a:t>
                </a:r>
                <a:endParaRPr lang="en-US" altLang="zh-CN" sz="1800" b="0" dirty="0">
                  <a:latin typeface="Times New Roman" panose="02020503050405090304" pitchFamily="18" charset="0"/>
                  <a:ea typeface="宋体" pitchFamily="2" charset="-122"/>
                </a:endParaRPr>
              </a:p>
              <a:p>
                <a:pPr algn="just" eaLnBrk="0" hangingPunct="0">
                  <a:buClrTx/>
                  <a:buFontTx/>
                </a:pPr>
                <a:endParaRPr lang="en-US" altLang="zh-CN" sz="1800" b="0" dirty="0">
                  <a:latin typeface="Times New Roman" panose="02020503050405090304" pitchFamily="18" charset="0"/>
                  <a:ea typeface="宋体" pitchFamily="2" charset="-122"/>
                </a:endParaRPr>
              </a:p>
            </p:txBody>
          </p:sp>
          <p:sp>
            <p:nvSpPr>
              <p:cNvPr id="66589" name="Rectangle 32"/>
              <p:cNvSpPr/>
              <p:nvPr/>
            </p:nvSpPr>
            <p:spPr>
              <a:xfrm>
                <a:off x="872" y="834"/>
                <a:ext cx="518" cy="632"/>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66590" name="Group 33"/>
            <p:cNvGrpSpPr/>
            <p:nvPr/>
          </p:nvGrpSpPr>
          <p:grpSpPr>
            <a:xfrm>
              <a:off x="1390" y="834"/>
              <a:ext cx="941" cy="632"/>
              <a:chOff x="1390" y="834"/>
              <a:chExt cx="941" cy="632"/>
            </a:xfrm>
          </p:grpSpPr>
          <p:sp>
            <p:nvSpPr>
              <p:cNvPr id="66591" name="Rectangle 34"/>
              <p:cNvSpPr/>
              <p:nvPr/>
            </p:nvSpPr>
            <p:spPr>
              <a:xfrm>
                <a:off x="1433" y="834"/>
                <a:ext cx="855" cy="632"/>
              </a:xfrm>
              <a:prstGeom prst="rect">
                <a:avLst/>
              </a:prstGeom>
              <a:noFill/>
              <a:ln w="9525">
                <a:noFill/>
              </a:ln>
            </p:spPr>
            <p:txBody>
              <a:bodyPr anchor="ctr" anchorCtr="0"/>
              <a:p>
                <a:pPr algn="just" eaLnBrk="0" hangingPunct="0">
                  <a:buClrTx/>
                  <a:buFontTx/>
                </a:pPr>
                <a:endParaRPr lang="zh-CN" altLang="en-US" sz="2200" b="0" dirty="0">
                  <a:latin typeface="Times New Roman" panose="02020503050405090304" pitchFamily="18" charset="0"/>
                  <a:ea typeface="宋体" pitchFamily="2" charset="-122"/>
                </a:endParaRPr>
              </a:p>
              <a:p>
                <a:pPr algn="just" eaLnBrk="0" hangingPunct="0">
                  <a:buClrTx/>
                  <a:buFontTx/>
                </a:pPr>
                <a:r>
                  <a:rPr lang="en-US" altLang="zh-CN" sz="1800" b="0" dirty="0">
                    <a:latin typeface="Times New Roman" panose="02020503050405090304" pitchFamily="18" charset="0"/>
                    <a:ea typeface="宋体" pitchFamily="2" charset="-122"/>
                  </a:rPr>
                  <a:t>A←#data</a:t>
                </a:r>
                <a:endParaRPr lang="en-US" altLang="zh-CN" sz="1800" b="0" dirty="0">
                  <a:latin typeface="Times New Roman" panose="02020503050405090304" pitchFamily="18" charset="0"/>
                  <a:ea typeface="宋体" pitchFamily="2" charset="-122"/>
                </a:endParaRPr>
              </a:p>
              <a:p>
                <a:pPr algn="just" eaLnBrk="0" hangingPunct="0">
                  <a:buClrTx/>
                  <a:buFontTx/>
                </a:pPr>
                <a:r>
                  <a:rPr lang="en-US" altLang="zh-CN" sz="1800" b="0" dirty="0">
                    <a:latin typeface="Times New Roman" panose="02020503050405090304" pitchFamily="18" charset="0"/>
                    <a:ea typeface="宋体" pitchFamily="2" charset="-122"/>
                  </a:rPr>
                  <a:t>A←(</a:t>
                </a:r>
                <a:r>
                  <a:rPr lang="en-US" altLang="zh-CN" sz="1800" b="0" dirty="0">
                    <a:solidFill>
                      <a:schemeClr val="tx2"/>
                    </a:solidFill>
                    <a:latin typeface="Times New Roman" panose="02020503050405090304" pitchFamily="18" charset="0"/>
                    <a:ea typeface="宋体" pitchFamily="2" charset="-122"/>
                  </a:rPr>
                  <a:t>direct</a:t>
                </a:r>
                <a:r>
                  <a:rPr lang="en-US" altLang="zh-CN" sz="1800" b="0" dirty="0">
                    <a:latin typeface="Times New Roman" panose="02020503050405090304" pitchFamily="18" charset="0"/>
                    <a:ea typeface="宋体" pitchFamily="2" charset="-122"/>
                  </a:rPr>
                  <a:t>)</a:t>
                </a:r>
                <a:endParaRPr lang="en-US" altLang="zh-CN" sz="1800" b="0" dirty="0">
                  <a:latin typeface="Times New Roman" panose="02020503050405090304" pitchFamily="18" charset="0"/>
                  <a:ea typeface="宋体" pitchFamily="2" charset="-122"/>
                </a:endParaRPr>
              </a:p>
              <a:p>
                <a:pPr algn="just" eaLnBrk="0" hangingPunct="0">
                  <a:buClrTx/>
                  <a:buFontTx/>
                </a:pPr>
                <a:r>
                  <a:rPr lang="en-US" altLang="zh-CN" sz="1800" b="0" dirty="0">
                    <a:latin typeface="Times New Roman" panose="02020503050405090304" pitchFamily="18" charset="0"/>
                    <a:ea typeface="宋体" pitchFamily="2" charset="-122"/>
                  </a:rPr>
                  <a:t>A←((Ri))</a:t>
                </a:r>
                <a:endParaRPr lang="en-US" altLang="zh-CN" sz="1800" b="0" dirty="0">
                  <a:latin typeface="Times New Roman" panose="02020503050405090304" pitchFamily="18" charset="0"/>
                  <a:ea typeface="宋体" pitchFamily="2" charset="-122"/>
                </a:endParaRPr>
              </a:p>
              <a:p>
                <a:pPr algn="just" eaLnBrk="0" hangingPunct="0">
                  <a:buClrTx/>
                  <a:buFontTx/>
                </a:pPr>
                <a:r>
                  <a:rPr lang="en-US" altLang="zh-CN" sz="1800" b="0" dirty="0">
                    <a:latin typeface="Times New Roman" panose="02020503050405090304" pitchFamily="18" charset="0"/>
                    <a:ea typeface="宋体" pitchFamily="2" charset="-122"/>
                  </a:rPr>
                  <a:t>A←(Rn)</a:t>
                </a:r>
                <a:endParaRPr lang="en-US" altLang="zh-CN" sz="1800" b="0" dirty="0">
                  <a:latin typeface="Times New Roman" panose="02020503050405090304" pitchFamily="18" charset="0"/>
                  <a:ea typeface="宋体" pitchFamily="2" charset="-122"/>
                </a:endParaRPr>
              </a:p>
              <a:p>
                <a:pPr algn="just" eaLnBrk="0" hangingPunct="0">
                  <a:buClrTx/>
                  <a:buFontTx/>
                </a:pPr>
                <a:endParaRPr lang="en-US" altLang="zh-CN" sz="1800" b="0" dirty="0">
                  <a:latin typeface="Times New Roman" panose="02020503050405090304" pitchFamily="18" charset="0"/>
                  <a:ea typeface="宋体" pitchFamily="2" charset="-122"/>
                </a:endParaRPr>
              </a:p>
            </p:txBody>
          </p:sp>
          <p:sp>
            <p:nvSpPr>
              <p:cNvPr id="66592" name="Rectangle 35"/>
              <p:cNvSpPr/>
              <p:nvPr/>
            </p:nvSpPr>
            <p:spPr>
              <a:xfrm>
                <a:off x="1390" y="834"/>
                <a:ext cx="941" cy="632"/>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66593" name="Group 36"/>
            <p:cNvGrpSpPr/>
            <p:nvPr/>
          </p:nvGrpSpPr>
          <p:grpSpPr>
            <a:xfrm>
              <a:off x="2331" y="834"/>
              <a:ext cx="446" cy="632"/>
              <a:chOff x="2331" y="834"/>
              <a:chExt cx="446" cy="632"/>
            </a:xfrm>
          </p:grpSpPr>
          <p:sp>
            <p:nvSpPr>
              <p:cNvPr id="66594" name="Rectangle 37"/>
              <p:cNvSpPr/>
              <p:nvPr/>
            </p:nvSpPr>
            <p:spPr>
              <a:xfrm>
                <a:off x="2374" y="834"/>
                <a:ext cx="360" cy="632"/>
              </a:xfrm>
              <a:prstGeom prst="rect">
                <a:avLst/>
              </a:prstGeom>
              <a:noFill/>
              <a:ln w="9525">
                <a:noFill/>
              </a:ln>
            </p:spPr>
            <p:txBody>
              <a:bodyPr anchor="ctr" anchorCtr="0"/>
              <a:p>
                <a:pPr algn="ctr" eaLnBrk="0" hangingPunct="0">
                  <a:buClrTx/>
                  <a:buFontTx/>
                </a:pPr>
                <a:endParaRPr lang="zh-CN" altLang="en-US" sz="2200" b="0" dirty="0">
                  <a:latin typeface="Times New Roman" panose="02020503050405090304" pitchFamily="18" charset="0"/>
                  <a:ea typeface="宋体" pitchFamily="2" charset="-122"/>
                </a:endParaRPr>
              </a:p>
              <a:p>
                <a:pPr algn="ctr" eaLnBrk="0" hangingPunct="0">
                  <a:buClrTx/>
                  <a:buFontTx/>
                </a:pPr>
                <a:r>
                  <a:rPr lang="zh-CN" altLang="en-US" sz="1800" b="0" dirty="0">
                    <a:latin typeface="Times New Roman" panose="02020503050405090304" pitchFamily="18" charset="0"/>
                    <a:ea typeface="宋体" pitchFamily="2" charset="-122"/>
                  </a:rPr>
                  <a:t>2</a:t>
                </a:r>
                <a:endParaRPr lang="zh-CN" altLang="en-US" sz="1800" b="0" dirty="0">
                  <a:latin typeface="Times New Roman" panose="02020503050405090304" pitchFamily="18" charset="0"/>
                  <a:ea typeface="宋体" pitchFamily="2" charset="-122"/>
                </a:endParaRPr>
              </a:p>
              <a:p>
                <a:pPr algn="ctr" eaLnBrk="0" hangingPunct="0">
                  <a:buClrTx/>
                  <a:buFontTx/>
                </a:pPr>
                <a:r>
                  <a:rPr lang="zh-CN" altLang="en-US" sz="1800" b="0" dirty="0">
                    <a:latin typeface="Times New Roman" panose="02020503050405090304" pitchFamily="18" charset="0"/>
                    <a:ea typeface="宋体" pitchFamily="2" charset="-122"/>
                  </a:rPr>
                  <a:t>2</a:t>
                </a:r>
                <a:endParaRPr lang="zh-CN" altLang="en-US" sz="1800" b="0" dirty="0">
                  <a:latin typeface="Times New Roman" panose="02020503050405090304" pitchFamily="18" charset="0"/>
                  <a:ea typeface="宋体" pitchFamily="2" charset="-122"/>
                </a:endParaRPr>
              </a:p>
              <a:p>
                <a:pPr algn="ctr" eaLnBrk="0" hangingPunct="0">
                  <a:buClrTx/>
                  <a:buFontTx/>
                </a:pPr>
                <a:r>
                  <a:rPr lang="zh-CN" altLang="en-US" sz="1800" b="0" dirty="0">
                    <a:latin typeface="Times New Roman" panose="02020503050405090304" pitchFamily="18" charset="0"/>
                    <a:ea typeface="宋体" pitchFamily="2" charset="-122"/>
                  </a:rPr>
                  <a:t>1</a:t>
                </a:r>
                <a:endParaRPr lang="zh-CN" altLang="en-US" sz="1800" b="0" dirty="0">
                  <a:latin typeface="Times New Roman" panose="02020503050405090304" pitchFamily="18" charset="0"/>
                  <a:ea typeface="宋体" pitchFamily="2" charset="-122"/>
                </a:endParaRPr>
              </a:p>
              <a:p>
                <a:pPr algn="ctr" eaLnBrk="0" hangingPunct="0">
                  <a:buClrTx/>
                  <a:buFontTx/>
                </a:pPr>
                <a:r>
                  <a:rPr lang="zh-CN" altLang="en-US" sz="1800" b="0" dirty="0">
                    <a:latin typeface="Times New Roman" panose="02020503050405090304" pitchFamily="18" charset="0"/>
                    <a:ea typeface="宋体" pitchFamily="2" charset="-122"/>
                  </a:rPr>
                  <a:t>1</a:t>
                </a:r>
                <a:endParaRPr lang="zh-CN" altLang="en-US" sz="1800" b="0" dirty="0">
                  <a:latin typeface="Times New Roman" panose="02020503050405090304" pitchFamily="18" charset="0"/>
                  <a:ea typeface="宋体" pitchFamily="2" charset="-122"/>
                </a:endParaRPr>
              </a:p>
              <a:p>
                <a:pPr algn="ctr" eaLnBrk="0" hangingPunct="0">
                  <a:buClrTx/>
                  <a:buFontTx/>
                </a:pPr>
                <a:endParaRPr lang="zh-CN" altLang="en-US" sz="2200" b="0" dirty="0">
                  <a:latin typeface="Times New Roman" panose="02020503050405090304" pitchFamily="18" charset="0"/>
                  <a:ea typeface="宋体" pitchFamily="2" charset="-122"/>
                </a:endParaRPr>
              </a:p>
            </p:txBody>
          </p:sp>
          <p:sp>
            <p:nvSpPr>
              <p:cNvPr id="66595" name="Rectangle 38"/>
              <p:cNvSpPr/>
              <p:nvPr/>
            </p:nvSpPr>
            <p:spPr>
              <a:xfrm>
                <a:off x="2331" y="834"/>
                <a:ext cx="446" cy="632"/>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66596" name="Group 39"/>
            <p:cNvGrpSpPr/>
            <p:nvPr/>
          </p:nvGrpSpPr>
          <p:grpSpPr>
            <a:xfrm>
              <a:off x="2777" y="834"/>
              <a:ext cx="446" cy="632"/>
              <a:chOff x="2777" y="834"/>
              <a:chExt cx="446" cy="632"/>
            </a:xfrm>
          </p:grpSpPr>
          <p:sp>
            <p:nvSpPr>
              <p:cNvPr id="66597" name="Rectangle 40"/>
              <p:cNvSpPr/>
              <p:nvPr/>
            </p:nvSpPr>
            <p:spPr>
              <a:xfrm>
                <a:off x="2820" y="834"/>
                <a:ext cx="360" cy="632"/>
              </a:xfrm>
              <a:prstGeom prst="rect">
                <a:avLst/>
              </a:prstGeom>
              <a:noFill/>
              <a:ln w="9525">
                <a:noFill/>
              </a:ln>
            </p:spPr>
            <p:txBody>
              <a:bodyPr anchor="ctr" anchorCtr="0"/>
              <a:p>
                <a:pPr algn="ctr" eaLnBrk="0" hangingPunct="0">
                  <a:buClrTx/>
                  <a:buFontTx/>
                </a:pPr>
                <a:endParaRPr lang="zh-CN" altLang="en-US" sz="2200" b="0" dirty="0">
                  <a:latin typeface="Times New Roman" panose="02020503050405090304" pitchFamily="18" charset="0"/>
                  <a:ea typeface="宋体" pitchFamily="2" charset="-122"/>
                </a:endParaRPr>
              </a:p>
              <a:p>
                <a:pPr algn="ctr" eaLnBrk="0" hangingPunct="0">
                  <a:buClrTx/>
                  <a:buFontTx/>
                </a:pPr>
                <a:r>
                  <a:rPr lang="zh-CN" altLang="en-US" sz="1800" b="0" dirty="0">
                    <a:latin typeface="Times New Roman" panose="02020503050405090304" pitchFamily="18" charset="0"/>
                    <a:ea typeface="宋体" pitchFamily="2" charset="-122"/>
                  </a:rPr>
                  <a:t>1</a:t>
                </a:r>
                <a:endParaRPr lang="zh-CN" altLang="en-US" sz="1800" b="0" dirty="0">
                  <a:latin typeface="Times New Roman" panose="02020503050405090304" pitchFamily="18" charset="0"/>
                  <a:ea typeface="宋体" pitchFamily="2" charset="-122"/>
                </a:endParaRPr>
              </a:p>
              <a:p>
                <a:pPr algn="ctr" eaLnBrk="0" hangingPunct="0">
                  <a:buClrTx/>
                  <a:buFontTx/>
                </a:pPr>
                <a:r>
                  <a:rPr lang="zh-CN" altLang="en-US" sz="1800" b="0" dirty="0">
                    <a:latin typeface="Times New Roman" panose="02020503050405090304" pitchFamily="18" charset="0"/>
                    <a:ea typeface="宋体" pitchFamily="2" charset="-122"/>
                  </a:rPr>
                  <a:t>1</a:t>
                </a:r>
                <a:endParaRPr lang="zh-CN" altLang="en-US" sz="1800" b="0" dirty="0">
                  <a:latin typeface="Times New Roman" panose="02020503050405090304" pitchFamily="18" charset="0"/>
                  <a:ea typeface="宋体" pitchFamily="2" charset="-122"/>
                </a:endParaRPr>
              </a:p>
              <a:p>
                <a:pPr algn="ctr" eaLnBrk="0" hangingPunct="0">
                  <a:buClrTx/>
                  <a:buFontTx/>
                </a:pPr>
                <a:r>
                  <a:rPr lang="zh-CN" altLang="en-US" sz="1800" b="0" dirty="0">
                    <a:latin typeface="Times New Roman" panose="02020503050405090304" pitchFamily="18" charset="0"/>
                    <a:ea typeface="宋体" pitchFamily="2" charset="-122"/>
                  </a:rPr>
                  <a:t>1</a:t>
                </a:r>
                <a:endParaRPr lang="zh-CN" altLang="en-US" sz="1800" b="0" dirty="0">
                  <a:latin typeface="Times New Roman" panose="02020503050405090304" pitchFamily="18" charset="0"/>
                  <a:ea typeface="宋体" pitchFamily="2" charset="-122"/>
                </a:endParaRPr>
              </a:p>
              <a:p>
                <a:pPr algn="ctr" eaLnBrk="0" hangingPunct="0">
                  <a:buClrTx/>
                  <a:buFontTx/>
                </a:pPr>
                <a:r>
                  <a:rPr lang="zh-CN" altLang="en-US" sz="1800" b="0" dirty="0">
                    <a:latin typeface="Times New Roman" panose="02020503050405090304" pitchFamily="18" charset="0"/>
                    <a:ea typeface="宋体" pitchFamily="2" charset="-122"/>
                  </a:rPr>
                  <a:t>1</a:t>
                </a:r>
                <a:endParaRPr lang="zh-CN" altLang="en-US" sz="1800" b="0" dirty="0">
                  <a:latin typeface="Times New Roman" panose="02020503050405090304" pitchFamily="18" charset="0"/>
                  <a:ea typeface="宋体" pitchFamily="2" charset="-122"/>
                </a:endParaRPr>
              </a:p>
              <a:p>
                <a:pPr algn="ctr" eaLnBrk="0" hangingPunct="0">
                  <a:buClrTx/>
                  <a:buFontTx/>
                </a:pPr>
                <a:endParaRPr lang="zh-CN" altLang="en-US" sz="2200" b="0" dirty="0">
                  <a:latin typeface="Times New Roman" panose="02020503050405090304" pitchFamily="18" charset="0"/>
                  <a:ea typeface="宋体" pitchFamily="2" charset="-122"/>
                </a:endParaRPr>
              </a:p>
            </p:txBody>
          </p:sp>
          <p:sp>
            <p:nvSpPr>
              <p:cNvPr id="66598" name="Rectangle 41"/>
              <p:cNvSpPr/>
              <p:nvPr/>
            </p:nvSpPr>
            <p:spPr>
              <a:xfrm>
                <a:off x="2777" y="834"/>
                <a:ext cx="446" cy="632"/>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66599" name="Group 42"/>
            <p:cNvGrpSpPr/>
            <p:nvPr/>
          </p:nvGrpSpPr>
          <p:grpSpPr>
            <a:xfrm>
              <a:off x="426" y="1466"/>
              <a:ext cx="446" cy="546"/>
              <a:chOff x="426" y="1466"/>
              <a:chExt cx="446" cy="546"/>
            </a:xfrm>
          </p:grpSpPr>
          <p:sp>
            <p:nvSpPr>
              <p:cNvPr id="66600" name="Rectangle 43"/>
              <p:cNvSpPr/>
              <p:nvPr/>
            </p:nvSpPr>
            <p:spPr>
              <a:xfrm>
                <a:off x="469" y="1466"/>
                <a:ext cx="360" cy="546"/>
              </a:xfrm>
              <a:prstGeom prst="rect">
                <a:avLst/>
              </a:prstGeom>
              <a:noFill/>
              <a:ln w="9525">
                <a:noFill/>
              </a:ln>
            </p:spPr>
            <p:txBody>
              <a:bodyPr anchor="ctr" anchorCtr="0"/>
              <a:p>
                <a:pPr algn="just" eaLnBrk="0" hangingPunct="0">
                  <a:buClrTx/>
                  <a:buFontTx/>
                </a:pPr>
                <a:r>
                  <a:rPr lang="en-US" altLang="zh-CN" sz="1600" b="0" dirty="0">
                    <a:latin typeface="Times New Roman" panose="02020503050405090304" pitchFamily="18" charset="0"/>
                    <a:ea typeface="宋体" pitchFamily="2" charset="-122"/>
                  </a:rPr>
                  <a:t>Rn</a:t>
                </a:r>
                <a:r>
                  <a:rPr lang="en-US" altLang="zh-CN" sz="1600" b="0" dirty="0">
                    <a:latin typeface="宋体" pitchFamily="2" charset="-122"/>
                    <a:ea typeface="宋体" pitchFamily="2" charset="-122"/>
                  </a:rPr>
                  <a:t>，</a:t>
                </a:r>
                <a:endParaRPr lang="en-US" altLang="zh-CN" sz="1600" b="0" dirty="0">
                  <a:latin typeface="Times New Roman" panose="02020503050405090304" pitchFamily="18" charset="0"/>
                  <a:ea typeface="宋体" pitchFamily="2" charset="-122"/>
                </a:endParaRPr>
              </a:p>
              <a:p>
                <a:pPr algn="just" eaLnBrk="0" hangingPunct="0">
                  <a:buClrTx/>
                  <a:buFontTx/>
                </a:pPr>
                <a:endParaRPr lang="en-US" altLang="zh-CN" sz="2200" b="0" dirty="0">
                  <a:latin typeface="Times New Roman" panose="02020503050405090304" pitchFamily="18" charset="0"/>
                  <a:ea typeface="宋体" pitchFamily="2" charset="-122"/>
                </a:endParaRPr>
              </a:p>
            </p:txBody>
          </p:sp>
          <p:sp>
            <p:nvSpPr>
              <p:cNvPr id="66601" name="Rectangle 44"/>
              <p:cNvSpPr/>
              <p:nvPr/>
            </p:nvSpPr>
            <p:spPr>
              <a:xfrm>
                <a:off x="426" y="1466"/>
                <a:ext cx="446" cy="546"/>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66602" name="Group 45"/>
            <p:cNvGrpSpPr/>
            <p:nvPr/>
          </p:nvGrpSpPr>
          <p:grpSpPr>
            <a:xfrm>
              <a:off x="872" y="1466"/>
              <a:ext cx="518" cy="546"/>
              <a:chOff x="872" y="1466"/>
              <a:chExt cx="518" cy="546"/>
            </a:xfrm>
          </p:grpSpPr>
          <p:sp>
            <p:nvSpPr>
              <p:cNvPr id="66603" name="Rectangle 46"/>
              <p:cNvSpPr/>
              <p:nvPr/>
            </p:nvSpPr>
            <p:spPr>
              <a:xfrm>
                <a:off x="915" y="1466"/>
                <a:ext cx="432" cy="546"/>
              </a:xfrm>
              <a:prstGeom prst="rect">
                <a:avLst/>
              </a:prstGeom>
              <a:noFill/>
              <a:ln w="9525">
                <a:noFill/>
              </a:ln>
            </p:spPr>
            <p:txBody>
              <a:bodyPr anchor="ctr" anchorCtr="0"/>
              <a:p>
                <a:pPr algn="just" eaLnBrk="0" hangingPunct="0">
                  <a:buClrTx/>
                  <a:buFontTx/>
                </a:pPr>
                <a:endParaRPr lang="zh-CN" altLang="en-US" sz="2200" b="0" dirty="0">
                  <a:latin typeface="Times New Roman" panose="02020503050405090304" pitchFamily="18" charset="0"/>
                  <a:ea typeface="宋体" pitchFamily="2" charset="-122"/>
                </a:endParaRPr>
              </a:p>
              <a:p>
                <a:pPr algn="just" eaLnBrk="0" hangingPunct="0">
                  <a:buClrTx/>
                  <a:buFontTx/>
                </a:pPr>
                <a:r>
                  <a:rPr lang="zh-CN" altLang="en-US" sz="1800" b="0" dirty="0">
                    <a:latin typeface="Times New Roman" panose="02020503050405090304" pitchFamily="18" charset="0"/>
                    <a:ea typeface="宋体" pitchFamily="2" charset="-122"/>
                  </a:rPr>
                  <a:t>#</a:t>
                </a:r>
                <a:r>
                  <a:rPr lang="en-US" altLang="zh-CN" sz="1800" b="0" dirty="0">
                    <a:latin typeface="Times New Roman" panose="02020503050405090304" pitchFamily="18" charset="0"/>
                    <a:ea typeface="宋体" pitchFamily="2" charset="-122"/>
                  </a:rPr>
                  <a:t>data</a:t>
                </a:r>
                <a:endParaRPr lang="en-US" altLang="zh-CN" sz="1800" b="0" dirty="0">
                  <a:latin typeface="Times New Roman" panose="02020503050405090304" pitchFamily="18" charset="0"/>
                  <a:ea typeface="宋体" pitchFamily="2" charset="-122"/>
                </a:endParaRPr>
              </a:p>
              <a:p>
                <a:pPr algn="just" eaLnBrk="0" hangingPunct="0">
                  <a:buClrTx/>
                  <a:buFontTx/>
                </a:pPr>
                <a:r>
                  <a:rPr lang="en-US" altLang="zh-CN" sz="1800" b="0" dirty="0">
                    <a:solidFill>
                      <a:schemeClr val="tx2"/>
                    </a:solidFill>
                    <a:latin typeface="Times New Roman" panose="02020503050405090304" pitchFamily="18" charset="0"/>
                    <a:ea typeface="宋体" pitchFamily="2" charset="-122"/>
                  </a:rPr>
                  <a:t>direct</a:t>
                </a:r>
                <a:endParaRPr lang="en-US" altLang="zh-CN" sz="1800" b="0" dirty="0">
                  <a:latin typeface="Times New Roman" panose="02020503050405090304" pitchFamily="18" charset="0"/>
                  <a:ea typeface="宋体" pitchFamily="2" charset="-122"/>
                </a:endParaRPr>
              </a:p>
              <a:p>
                <a:pPr algn="just" eaLnBrk="0" hangingPunct="0">
                  <a:buClrTx/>
                  <a:buFontTx/>
                </a:pPr>
                <a:r>
                  <a:rPr lang="en-US" altLang="zh-CN" sz="1800" b="0" dirty="0">
                    <a:latin typeface="Times New Roman" panose="02020503050405090304" pitchFamily="18" charset="0"/>
                    <a:ea typeface="宋体" pitchFamily="2" charset="-122"/>
                  </a:rPr>
                  <a:t>A</a:t>
                </a:r>
                <a:endParaRPr lang="en-US" altLang="zh-CN" sz="1800" b="0" dirty="0">
                  <a:latin typeface="Times New Roman" panose="02020503050405090304" pitchFamily="18" charset="0"/>
                  <a:ea typeface="宋体" pitchFamily="2" charset="-122"/>
                </a:endParaRPr>
              </a:p>
              <a:p>
                <a:pPr algn="just" eaLnBrk="0" hangingPunct="0">
                  <a:buClrTx/>
                  <a:buFontTx/>
                </a:pPr>
                <a:endParaRPr lang="en-US" altLang="zh-CN" sz="1800" b="0" dirty="0">
                  <a:latin typeface="Times New Roman" panose="02020503050405090304" pitchFamily="18" charset="0"/>
                  <a:ea typeface="宋体" pitchFamily="2" charset="-122"/>
                </a:endParaRPr>
              </a:p>
            </p:txBody>
          </p:sp>
          <p:sp>
            <p:nvSpPr>
              <p:cNvPr id="66604" name="Rectangle 47"/>
              <p:cNvSpPr/>
              <p:nvPr/>
            </p:nvSpPr>
            <p:spPr>
              <a:xfrm>
                <a:off x="872" y="1466"/>
                <a:ext cx="518" cy="546"/>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66605" name="Group 48"/>
            <p:cNvGrpSpPr/>
            <p:nvPr/>
          </p:nvGrpSpPr>
          <p:grpSpPr>
            <a:xfrm>
              <a:off x="1390" y="1466"/>
              <a:ext cx="941" cy="546"/>
              <a:chOff x="1390" y="1466"/>
              <a:chExt cx="941" cy="546"/>
            </a:xfrm>
          </p:grpSpPr>
          <p:sp>
            <p:nvSpPr>
              <p:cNvPr id="66606" name="Rectangle 49"/>
              <p:cNvSpPr/>
              <p:nvPr/>
            </p:nvSpPr>
            <p:spPr>
              <a:xfrm>
                <a:off x="1433" y="1466"/>
                <a:ext cx="855" cy="546"/>
              </a:xfrm>
              <a:prstGeom prst="rect">
                <a:avLst/>
              </a:prstGeom>
              <a:noFill/>
              <a:ln w="9525">
                <a:noFill/>
              </a:ln>
            </p:spPr>
            <p:txBody>
              <a:bodyPr anchor="ctr" anchorCtr="0"/>
              <a:p>
                <a:pPr algn="just" eaLnBrk="0" hangingPunct="0">
                  <a:buClrTx/>
                  <a:buFontTx/>
                </a:pPr>
                <a:r>
                  <a:rPr lang="en-US" altLang="zh-CN" sz="1800" b="0" dirty="0">
                    <a:latin typeface="Times New Roman" panose="02020503050405090304" pitchFamily="18" charset="0"/>
                    <a:ea typeface="宋体" pitchFamily="2" charset="-122"/>
                  </a:rPr>
                  <a:t>Rn←#data</a:t>
                </a:r>
                <a:endParaRPr lang="en-US" altLang="zh-CN" sz="1800" b="0" dirty="0">
                  <a:latin typeface="Times New Roman" panose="02020503050405090304" pitchFamily="18" charset="0"/>
                  <a:ea typeface="宋体" pitchFamily="2" charset="-122"/>
                </a:endParaRPr>
              </a:p>
              <a:p>
                <a:pPr algn="just" eaLnBrk="0" hangingPunct="0">
                  <a:buClrTx/>
                  <a:buFontTx/>
                </a:pPr>
                <a:r>
                  <a:rPr lang="en-US" altLang="zh-CN" sz="1800" b="0" dirty="0">
                    <a:latin typeface="Times New Roman" panose="02020503050405090304" pitchFamily="18" charset="0"/>
                    <a:ea typeface="宋体" pitchFamily="2" charset="-122"/>
                  </a:rPr>
                  <a:t>Rn←(</a:t>
                </a:r>
                <a:r>
                  <a:rPr lang="en-US" altLang="zh-CN" sz="1800" b="0" dirty="0">
                    <a:solidFill>
                      <a:schemeClr val="tx2"/>
                    </a:solidFill>
                    <a:latin typeface="Times New Roman" panose="02020503050405090304" pitchFamily="18" charset="0"/>
                    <a:ea typeface="宋体" pitchFamily="2" charset="-122"/>
                  </a:rPr>
                  <a:t>direct</a:t>
                </a:r>
                <a:r>
                  <a:rPr lang="en-US" altLang="zh-CN" sz="1800" b="0" dirty="0">
                    <a:latin typeface="Times New Roman" panose="02020503050405090304" pitchFamily="18" charset="0"/>
                    <a:ea typeface="宋体" pitchFamily="2" charset="-122"/>
                  </a:rPr>
                  <a:t>)</a:t>
                </a:r>
                <a:endParaRPr lang="en-US" altLang="zh-CN" sz="1800" b="0" dirty="0">
                  <a:latin typeface="Times New Roman" panose="02020503050405090304" pitchFamily="18" charset="0"/>
                  <a:ea typeface="宋体" pitchFamily="2" charset="-122"/>
                </a:endParaRPr>
              </a:p>
              <a:p>
                <a:pPr algn="just" eaLnBrk="0" hangingPunct="0">
                  <a:buClrTx/>
                  <a:buFontTx/>
                </a:pPr>
                <a:r>
                  <a:rPr lang="en-US" altLang="zh-CN" sz="1800" b="0" dirty="0">
                    <a:latin typeface="Times New Roman" panose="02020503050405090304" pitchFamily="18" charset="0"/>
                    <a:ea typeface="宋体" pitchFamily="2" charset="-122"/>
                  </a:rPr>
                  <a:t>Rn←(A)</a:t>
                </a:r>
                <a:endParaRPr lang="en-US" altLang="zh-CN" sz="1800" b="0" dirty="0">
                  <a:latin typeface="Times New Roman" panose="02020503050405090304" pitchFamily="18" charset="0"/>
                  <a:ea typeface="宋体" pitchFamily="2" charset="-122"/>
                </a:endParaRPr>
              </a:p>
            </p:txBody>
          </p:sp>
          <p:sp>
            <p:nvSpPr>
              <p:cNvPr id="66607" name="Rectangle 50"/>
              <p:cNvSpPr/>
              <p:nvPr/>
            </p:nvSpPr>
            <p:spPr>
              <a:xfrm>
                <a:off x="1390" y="1466"/>
                <a:ext cx="941" cy="546"/>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66608" name="Group 51"/>
            <p:cNvGrpSpPr/>
            <p:nvPr/>
          </p:nvGrpSpPr>
          <p:grpSpPr>
            <a:xfrm>
              <a:off x="2331" y="1466"/>
              <a:ext cx="446" cy="546"/>
              <a:chOff x="2331" y="1466"/>
              <a:chExt cx="446" cy="546"/>
            </a:xfrm>
          </p:grpSpPr>
          <p:sp>
            <p:nvSpPr>
              <p:cNvPr id="66609" name="Rectangle 52"/>
              <p:cNvSpPr/>
              <p:nvPr/>
            </p:nvSpPr>
            <p:spPr>
              <a:xfrm>
                <a:off x="2374" y="1466"/>
                <a:ext cx="360" cy="546"/>
              </a:xfrm>
              <a:prstGeom prst="rect">
                <a:avLst/>
              </a:prstGeom>
              <a:noFill/>
              <a:ln w="9525">
                <a:noFill/>
              </a:ln>
            </p:spPr>
            <p:txBody>
              <a:bodyPr anchor="ctr" anchorCtr="0"/>
              <a:p>
                <a:pPr algn="ctr" eaLnBrk="0" hangingPunct="0">
                  <a:buClrTx/>
                  <a:buFontTx/>
                </a:pPr>
                <a:r>
                  <a:rPr lang="zh-CN" altLang="en-US" sz="1800" b="0" dirty="0">
                    <a:latin typeface="Times New Roman" panose="02020503050405090304" pitchFamily="18" charset="0"/>
                    <a:ea typeface="宋体" pitchFamily="2" charset="-122"/>
                  </a:rPr>
                  <a:t>2</a:t>
                </a:r>
                <a:endParaRPr lang="zh-CN" altLang="en-US" sz="1800" b="0" dirty="0">
                  <a:latin typeface="Times New Roman" panose="02020503050405090304" pitchFamily="18" charset="0"/>
                  <a:ea typeface="宋体" pitchFamily="2" charset="-122"/>
                </a:endParaRPr>
              </a:p>
              <a:p>
                <a:pPr algn="ctr" eaLnBrk="0" hangingPunct="0">
                  <a:buClrTx/>
                  <a:buFontTx/>
                </a:pPr>
                <a:r>
                  <a:rPr lang="zh-CN" altLang="en-US" sz="1800" b="0" dirty="0">
                    <a:latin typeface="Times New Roman" panose="02020503050405090304" pitchFamily="18" charset="0"/>
                    <a:ea typeface="宋体" pitchFamily="2" charset="-122"/>
                  </a:rPr>
                  <a:t>2</a:t>
                </a:r>
                <a:endParaRPr lang="zh-CN" altLang="en-US" sz="1800" b="0" dirty="0">
                  <a:latin typeface="Times New Roman" panose="02020503050405090304" pitchFamily="18" charset="0"/>
                  <a:ea typeface="宋体" pitchFamily="2" charset="-122"/>
                </a:endParaRPr>
              </a:p>
              <a:p>
                <a:pPr algn="ctr" eaLnBrk="0" hangingPunct="0">
                  <a:buClrTx/>
                  <a:buFontTx/>
                </a:pPr>
                <a:r>
                  <a:rPr lang="zh-CN" altLang="en-US" sz="1800" b="0" dirty="0">
                    <a:latin typeface="Times New Roman" panose="02020503050405090304" pitchFamily="18" charset="0"/>
                    <a:ea typeface="宋体" pitchFamily="2" charset="-122"/>
                  </a:rPr>
                  <a:t>1</a:t>
                </a:r>
                <a:endParaRPr lang="zh-CN" altLang="en-US" sz="1800" b="0" dirty="0">
                  <a:latin typeface="Times New Roman" panose="02020503050405090304" pitchFamily="18" charset="0"/>
                  <a:ea typeface="宋体" pitchFamily="2" charset="-122"/>
                </a:endParaRPr>
              </a:p>
              <a:p>
                <a:pPr algn="ctr" eaLnBrk="0" hangingPunct="0">
                  <a:buClrTx/>
                  <a:buFontTx/>
                </a:pPr>
                <a:endParaRPr lang="zh-CN" altLang="en-US" sz="1800" b="0" dirty="0">
                  <a:latin typeface="Times New Roman" panose="02020503050405090304" pitchFamily="18" charset="0"/>
                  <a:ea typeface="宋体" pitchFamily="2" charset="-122"/>
                </a:endParaRPr>
              </a:p>
            </p:txBody>
          </p:sp>
          <p:sp>
            <p:nvSpPr>
              <p:cNvPr id="66610" name="Rectangle 53"/>
              <p:cNvSpPr/>
              <p:nvPr/>
            </p:nvSpPr>
            <p:spPr>
              <a:xfrm>
                <a:off x="2331" y="1466"/>
                <a:ext cx="446" cy="546"/>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66611" name="Group 54"/>
            <p:cNvGrpSpPr/>
            <p:nvPr/>
          </p:nvGrpSpPr>
          <p:grpSpPr>
            <a:xfrm>
              <a:off x="2777" y="1466"/>
              <a:ext cx="446" cy="546"/>
              <a:chOff x="2777" y="1466"/>
              <a:chExt cx="446" cy="546"/>
            </a:xfrm>
          </p:grpSpPr>
          <p:sp>
            <p:nvSpPr>
              <p:cNvPr id="66612" name="Rectangle 55"/>
              <p:cNvSpPr/>
              <p:nvPr/>
            </p:nvSpPr>
            <p:spPr>
              <a:xfrm>
                <a:off x="2820" y="1466"/>
                <a:ext cx="360" cy="546"/>
              </a:xfrm>
              <a:prstGeom prst="rect">
                <a:avLst/>
              </a:prstGeom>
              <a:noFill/>
              <a:ln w="9525">
                <a:noFill/>
              </a:ln>
            </p:spPr>
            <p:txBody>
              <a:bodyPr anchor="ctr" anchorCtr="0"/>
              <a:p>
                <a:pPr algn="ctr" eaLnBrk="0" hangingPunct="0">
                  <a:buClrTx/>
                  <a:buFontTx/>
                </a:pPr>
                <a:r>
                  <a:rPr lang="zh-CN" altLang="en-US" sz="1800" b="0" dirty="0">
                    <a:latin typeface="Times New Roman" panose="02020503050405090304" pitchFamily="18" charset="0"/>
                    <a:ea typeface="宋体" pitchFamily="2" charset="-122"/>
                  </a:rPr>
                  <a:t>1</a:t>
                </a:r>
                <a:endParaRPr lang="zh-CN" altLang="en-US" sz="1800" b="0" dirty="0">
                  <a:latin typeface="Times New Roman" panose="02020503050405090304" pitchFamily="18" charset="0"/>
                  <a:ea typeface="宋体" pitchFamily="2" charset="-122"/>
                </a:endParaRPr>
              </a:p>
              <a:p>
                <a:pPr algn="ctr" eaLnBrk="0" hangingPunct="0">
                  <a:buClrTx/>
                  <a:buFontTx/>
                </a:pPr>
                <a:r>
                  <a:rPr lang="zh-CN" altLang="en-US" sz="1800" b="0" dirty="0">
                    <a:latin typeface="Times New Roman" panose="02020503050405090304" pitchFamily="18" charset="0"/>
                    <a:ea typeface="宋体" pitchFamily="2" charset="-122"/>
                  </a:rPr>
                  <a:t>2</a:t>
                </a:r>
                <a:endParaRPr lang="zh-CN" altLang="en-US" sz="1800" b="0" dirty="0">
                  <a:latin typeface="Times New Roman" panose="02020503050405090304" pitchFamily="18" charset="0"/>
                  <a:ea typeface="宋体" pitchFamily="2" charset="-122"/>
                </a:endParaRPr>
              </a:p>
              <a:p>
                <a:pPr algn="ctr" eaLnBrk="0" hangingPunct="0">
                  <a:buClrTx/>
                  <a:buFontTx/>
                </a:pPr>
                <a:r>
                  <a:rPr lang="zh-CN" altLang="en-US" sz="1800" b="0" dirty="0">
                    <a:latin typeface="Times New Roman" panose="02020503050405090304" pitchFamily="18" charset="0"/>
                    <a:ea typeface="宋体" pitchFamily="2" charset="-122"/>
                  </a:rPr>
                  <a:t>1</a:t>
                </a:r>
                <a:endParaRPr lang="zh-CN" altLang="en-US" sz="1800" b="0" dirty="0">
                  <a:latin typeface="Times New Roman" panose="02020503050405090304" pitchFamily="18" charset="0"/>
                  <a:ea typeface="宋体" pitchFamily="2" charset="-122"/>
                </a:endParaRPr>
              </a:p>
              <a:p>
                <a:pPr algn="ctr" eaLnBrk="0" hangingPunct="0">
                  <a:buClrTx/>
                  <a:buFontTx/>
                </a:pPr>
                <a:endParaRPr lang="zh-CN" altLang="en-US" sz="2200" b="0" dirty="0">
                  <a:latin typeface="Times New Roman" panose="02020503050405090304" pitchFamily="18" charset="0"/>
                  <a:ea typeface="宋体" pitchFamily="2" charset="-122"/>
                </a:endParaRPr>
              </a:p>
            </p:txBody>
          </p:sp>
          <p:sp>
            <p:nvSpPr>
              <p:cNvPr id="66613" name="Rectangle 56"/>
              <p:cNvSpPr/>
              <p:nvPr/>
            </p:nvSpPr>
            <p:spPr>
              <a:xfrm>
                <a:off x="2777" y="1466"/>
                <a:ext cx="446" cy="546"/>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66614" name="Group 57"/>
            <p:cNvGrpSpPr/>
            <p:nvPr/>
          </p:nvGrpSpPr>
          <p:grpSpPr>
            <a:xfrm>
              <a:off x="426" y="2012"/>
              <a:ext cx="446" cy="718"/>
              <a:chOff x="426" y="2012"/>
              <a:chExt cx="446" cy="718"/>
            </a:xfrm>
          </p:grpSpPr>
          <p:sp>
            <p:nvSpPr>
              <p:cNvPr id="66615" name="Rectangle 58"/>
              <p:cNvSpPr/>
              <p:nvPr/>
            </p:nvSpPr>
            <p:spPr>
              <a:xfrm>
                <a:off x="469" y="2012"/>
                <a:ext cx="360" cy="718"/>
              </a:xfrm>
              <a:prstGeom prst="rect">
                <a:avLst/>
              </a:prstGeom>
              <a:noFill/>
              <a:ln w="9525">
                <a:noFill/>
              </a:ln>
            </p:spPr>
            <p:txBody>
              <a:bodyPr anchor="ctr" anchorCtr="0"/>
              <a:p>
                <a:pPr algn="just" eaLnBrk="0" hangingPunct="0">
                  <a:buClrTx/>
                  <a:buFontTx/>
                </a:pPr>
                <a:r>
                  <a:rPr lang="en-US" altLang="zh-CN" sz="1600" b="0" dirty="0">
                    <a:solidFill>
                      <a:schemeClr val="tx2"/>
                    </a:solidFill>
                    <a:latin typeface="Times New Roman" panose="02020503050405090304" pitchFamily="18" charset="0"/>
                    <a:ea typeface="宋体" pitchFamily="2" charset="-122"/>
                    <a:sym typeface="楷体_GB2312" pitchFamily="49" charset="-122"/>
                  </a:rPr>
                  <a:t>direct</a:t>
                </a:r>
                <a:r>
                  <a:rPr lang="zh-CN" altLang="en-US" sz="1600" b="0" dirty="0">
                    <a:latin typeface="Times New Roman" panose="02020503050405090304" pitchFamily="18" charset="0"/>
                    <a:ea typeface="宋体" pitchFamily="2" charset="-122"/>
                  </a:rPr>
                  <a:t>，</a:t>
                </a:r>
                <a:endParaRPr lang="zh-CN" altLang="en-US" sz="1600" b="0" dirty="0">
                  <a:latin typeface="Times New Roman" panose="02020503050405090304" pitchFamily="18" charset="0"/>
                  <a:ea typeface="宋体" pitchFamily="2" charset="-122"/>
                </a:endParaRPr>
              </a:p>
              <a:p>
                <a:pPr algn="just" eaLnBrk="0" hangingPunct="0">
                  <a:buClrTx/>
                  <a:buFontTx/>
                </a:pPr>
                <a:endParaRPr lang="en-US" altLang="zh-CN" sz="2200" b="0" dirty="0">
                  <a:latin typeface="Times New Roman" panose="02020503050405090304" pitchFamily="18" charset="0"/>
                  <a:ea typeface="宋体" pitchFamily="2" charset="-122"/>
                </a:endParaRPr>
              </a:p>
            </p:txBody>
          </p:sp>
          <p:sp>
            <p:nvSpPr>
              <p:cNvPr id="66616" name="Rectangle 59"/>
              <p:cNvSpPr/>
              <p:nvPr/>
            </p:nvSpPr>
            <p:spPr>
              <a:xfrm>
                <a:off x="426" y="2012"/>
                <a:ext cx="446" cy="718"/>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66617" name="Group 60"/>
            <p:cNvGrpSpPr/>
            <p:nvPr/>
          </p:nvGrpSpPr>
          <p:grpSpPr>
            <a:xfrm>
              <a:off x="872" y="2012"/>
              <a:ext cx="518" cy="718"/>
              <a:chOff x="872" y="2012"/>
              <a:chExt cx="518" cy="718"/>
            </a:xfrm>
          </p:grpSpPr>
          <p:sp>
            <p:nvSpPr>
              <p:cNvPr id="66618" name="Rectangle 61"/>
              <p:cNvSpPr/>
              <p:nvPr/>
            </p:nvSpPr>
            <p:spPr>
              <a:xfrm>
                <a:off x="915" y="2012"/>
                <a:ext cx="432" cy="718"/>
              </a:xfrm>
              <a:prstGeom prst="rect">
                <a:avLst/>
              </a:prstGeom>
              <a:noFill/>
              <a:ln w="9525">
                <a:noFill/>
              </a:ln>
            </p:spPr>
            <p:txBody>
              <a:bodyPr anchor="ctr" anchorCtr="0"/>
              <a:p>
                <a:pPr algn="just" eaLnBrk="0" hangingPunct="0">
                  <a:buClrTx/>
                  <a:buFontTx/>
                </a:pPr>
                <a:endParaRPr lang="zh-CN" altLang="en-US" sz="2200" b="0" dirty="0">
                  <a:latin typeface="Times New Roman" panose="02020503050405090304" pitchFamily="18" charset="0"/>
                  <a:ea typeface="宋体" pitchFamily="2" charset="-122"/>
                </a:endParaRPr>
              </a:p>
              <a:p>
                <a:pPr algn="just" eaLnBrk="0" hangingPunct="0">
                  <a:buClrTx/>
                  <a:buFontTx/>
                </a:pPr>
                <a:r>
                  <a:rPr lang="zh-CN" altLang="en-US" sz="1800" b="0" dirty="0">
                    <a:latin typeface="Times New Roman" panose="02020503050405090304" pitchFamily="18" charset="0"/>
                    <a:ea typeface="宋体" pitchFamily="2" charset="-122"/>
                  </a:rPr>
                  <a:t>#</a:t>
                </a:r>
                <a:r>
                  <a:rPr lang="en-US" altLang="zh-CN" sz="1800" b="0" dirty="0">
                    <a:latin typeface="Times New Roman" panose="02020503050405090304" pitchFamily="18" charset="0"/>
                    <a:ea typeface="宋体" pitchFamily="2" charset="-122"/>
                  </a:rPr>
                  <a:t>data</a:t>
                </a:r>
                <a:endParaRPr lang="en-US" altLang="zh-CN" sz="1800" b="0" dirty="0">
                  <a:latin typeface="Times New Roman" panose="02020503050405090304" pitchFamily="18" charset="0"/>
                  <a:ea typeface="宋体" pitchFamily="2" charset="-122"/>
                </a:endParaRPr>
              </a:p>
              <a:p>
                <a:pPr algn="just" eaLnBrk="0" hangingPunct="0">
                  <a:buClrTx/>
                  <a:buFontTx/>
                </a:pPr>
                <a:r>
                  <a:rPr lang="en-US" altLang="zh-CN" sz="1800" b="0" dirty="0">
                    <a:latin typeface="Times New Roman" panose="02020503050405090304" pitchFamily="18" charset="0"/>
                    <a:ea typeface="宋体" pitchFamily="2" charset="-122"/>
                  </a:rPr>
                  <a:t>A</a:t>
                </a:r>
                <a:endParaRPr lang="en-US" altLang="zh-CN" sz="1800" b="0" dirty="0">
                  <a:latin typeface="Times New Roman" panose="02020503050405090304" pitchFamily="18" charset="0"/>
                  <a:ea typeface="宋体" pitchFamily="2" charset="-122"/>
                </a:endParaRPr>
              </a:p>
              <a:p>
                <a:pPr algn="just" eaLnBrk="0" hangingPunct="0">
                  <a:buClrTx/>
                  <a:buFontTx/>
                </a:pPr>
                <a:r>
                  <a:rPr lang="en-US" altLang="zh-CN" sz="1800" b="0" dirty="0">
                    <a:solidFill>
                      <a:schemeClr val="tx2"/>
                    </a:solidFill>
                    <a:latin typeface="Times New Roman" panose="02020503050405090304" pitchFamily="18" charset="0"/>
                    <a:ea typeface="宋体" pitchFamily="2" charset="-122"/>
                  </a:rPr>
                  <a:t>direct</a:t>
                </a:r>
                <a:endParaRPr lang="en-US" altLang="zh-CN" sz="1800" b="0" dirty="0">
                  <a:latin typeface="Times New Roman" panose="02020503050405090304" pitchFamily="18" charset="0"/>
                  <a:ea typeface="宋体" pitchFamily="2" charset="-122"/>
                </a:endParaRPr>
              </a:p>
              <a:p>
                <a:pPr algn="just" eaLnBrk="0" hangingPunct="0">
                  <a:buClrTx/>
                  <a:buFontTx/>
                </a:pPr>
                <a:r>
                  <a:rPr lang="en-US" altLang="zh-CN" sz="1800" b="0" dirty="0">
                    <a:latin typeface="Times New Roman" panose="02020503050405090304" pitchFamily="18" charset="0"/>
                    <a:ea typeface="宋体" pitchFamily="2" charset="-122"/>
                  </a:rPr>
                  <a:t>@Ri</a:t>
                </a:r>
                <a:endParaRPr lang="en-US" altLang="zh-CN" sz="1800" b="0" dirty="0">
                  <a:latin typeface="Times New Roman" panose="02020503050405090304" pitchFamily="18" charset="0"/>
                  <a:ea typeface="宋体" pitchFamily="2" charset="-122"/>
                </a:endParaRPr>
              </a:p>
              <a:p>
                <a:pPr algn="just" eaLnBrk="0" hangingPunct="0">
                  <a:buClrTx/>
                  <a:buFontTx/>
                </a:pPr>
                <a:r>
                  <a:rPr lang="en-US" altLang="zh-CN" sz="1800" b="0" dirty="0">
                    <a:latin typeface="Times New Roman" panose="02020503050405090304" pitchFamily="18" charset="0"/>
                    <a:ea typeface="宋体" pitchFamily="2" charset="-122"/>
                  </a:rPr>
                  <a:t>Rn</a:t>
                </a:r>
                <a:endParaRPr lang="en-US" altLang="zh-CN" sz="1800" b="0" dirty="0">
                  <a:latin typeface="Times New Roman" panose="02020503050405090304" pitchFamily="18" charset="0"/>
                  <a:ea typeface="宋体" pitchFamily="2" charset="-122"/>
                </a:endParaRPr>
              </a:p>
              <a:p>
                <a:pPr algn="just" eaLnBrk="0" hangingPunct="0">
                  <a:buClrTx/>
                  <a:buFontTx/>
                </a:pPr>
                <a:endParaRPr lang="en-US" altLang="zh-CN" sz="2200" b="0" dirty="0">
                  <a:latin typeface="Times New Roman" panose="02020503050405090304" pitchFamily="18" charset="0"/>
                  <a:ea typeface="宋体" pitchFamily="2" charset="-122"/>
                </a:endParaRPr>
              </a:p>
            </p:txBody>
          </p:sp>
          <p:sp>
            <p:nvSpPr>
              <p:cNvPr id="66619" name="Rectangle 62"/>
              <p:cNvSpPr/>
              <p:nvPr/>
            </p:nvSpPr>
            <p:spPr>
              <a:xfrm>
                <a:off x="872" y="2012"/>
                <a:ext cx="518" cy="718"/>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66620" name="Group 63"/>
            <p:cNvGrpSpPr/>
            <p:nvPr/>
          </p:nvGrpSpPr>
          <p:grpSpPr>
            <a:xfrm>
              <a:off x="1390" y="2012"/>
              <a:ext cx="941" cy="718"/>
              <a:chOff x="1390" y="2012"/>
              <a:chExt cx="941" cy="718"/>
            </a:xfrm>
          </p:grpSpPr>
          <p:sp>
            <p:nvSpPr>
              <p:cNvPr id="66621" name="Rectangle 64"/>
              <p:cNvSpPr/>
              <p:nvPr/>
            </p:nvSpPr>
            <p:spPr>
              <a:xfrm>
                <a:off x="1433" y="2012"/>
                <a:ext cx="855" cy="718"/>
              </a:xfrm>
              <a:prstGeom prst="rect">
                <a:avLst/>
              </a:prstGeom>
              <a:noFill/>
              <a:ln w="9525">
                <a:noFill/>
              </a:ln>
            </p:spPr>
            <p:txBody>
              <a:bodyPr anchor="ctr" anchorCtr="0"/>
              <a:p>
                <a:pPr algn="just" eaLnBrk="0" hangingPunct="0">
                  <a:buClrTx/>
                  <a:buFontTx/>
                </a:pPr>
                <a:endParaRPr lang="zh-CN" altLang="en-US" sz="2200" b="0" dirty="0">
                  <a:latin typeface="Times New Roman" panose="02020503050405090304" pitchFamily="18" charset="0"/>
                  <a:ea typeface="宋体" pitchFamily="2" charset="-122"/>
                </a:endParaRPr>
              </a:p>
              <a:p>
                <a:pPr algn="just" eaLnBrk="0" hangingPunct="0">
                  <a:buClrTx/>
                  <a:buFontTx/>
                </a:pPr>
                <a:r>
                  <a:rPr lang="en-US" altLang="zh-CN" sz="1800" b="0" dirty="0">
                    <a:solidFill>
                      <a:schemeClr val="tx2"/>
                    </a:solidFill>
                    <a:latin typeface="Times New Roman" panose="02020503050405090304" pitchFamily="18" charset="0"/>
                    <a:ea typeface="宋体" pitchFamily="2" charset="-122"/>
                    <a:sym typeface="楷体_GB2312" pitchFamily="49" charset="-122"/>
                  </a:rPr>
                  <a:t>direct</a:t>
                </a:r>
                <a:r>
                  <a:rPr lang="en-US" altLang="zh-CN" sz="1800" b="0" dirty="0">
                    <a:latin typeface="Times New Roman" panose="02020503050405090304" pitchFamily="18" charset="0"/>
                    <a:ea typeface="宋体" pitchFamily="2" charset="-122"/>
                  </a:rPr>
                  <a:t>←#data</a:t>
                </a:r>
                <a:endParaRPr lang="en-US" altLang="zh-CN" sz="1800" b="0" dirty="0">
                  <a:latin typeface="Times New Roman" panose="02020503050405090304" pitchFamily="18" charset="0"/>
                  <a:ea typeface="宋体" pitchFamily="2" charset="-122"/>
                </a:endParaRPr>
              </a:p>
              <a:p>
                <a:pPr algn="just" eaLnBrk="0" hangingPunct="0">
                  <a:buClrTx/>
                  <a:buFontTx/>
                </a:pPr>
                <a:r>
                  <a:rPr lang="en-US" altLang="zh-CN" sz="1800" b="0" dirty="0">
                    <a:solidFill>
                      <a:schemeClr val="tx2"/>
                    </a:solidFill>
                    <a:latin typeface="Times New Roman" panose="02020503050405090304" pitchFamily="18" charset="0"/>
                    <a:ea typeface="宋体" pitchFamily="2" charset="-122"/>
                    <a:sym typeface="楷体_GB2312" pitchFamily="49" charset="-122"/>
                  </a:rPr>
                  <a:t>direct</a:t>
                </a:r>
                <a:r>
                  <a:rPr lang="en-US" altLang="zh-CN" sz="1800" b="0" dirty="0">
                    <a:latin typeface="Times New Roman" panose="02020503050405090304" pitchFamily="18" charset="0"/>
                    <a:ea typeface="宋体" pitchFamily="2" charset="-122"/>
                  </a:rPr>
                  <a:t>←(A)</a:t>
                </a:r>
                <a:endParaRPr lang="en-US" altLang="zh-CN" sz="1800" b="0" dirty="0">
                  <a:latin typeface="Times New Roman" panose="02020503050405090304" pitchFamily="18" charset="0"/>
                  <a:ea typeface="宋体" pitchFamily="2" charset="-122"/>
                </a:endParaRPr>
              </a:p>
              <a:p>
                <a:pPr algn="just" eaLnBrk="0" hangingPunct="0">
                  <a:buClrTx/>
                  <a:buFontTx/>
                </a:pPr>
                <a:r>
                  <a:rPr lang="en-US" altLang="zh-CN" sz="1800" b="0" dirty="0">
                    <a:solidFill>
                      <a:schemeClr val="tx2"/>
                    </a:solidFill>
                    <a:latin typeface="Times New Roman" panose="02020503050405090304" pitchFamily="18" charset="0"/>
                    <a:ea typeface="宋体" pitchFamily="2" charset="-122"/>
                    <a:sym typeface="楷体_GB2312" pitchFamily="49" charset="-122"/>
                  </a:rPr>
                  <a:t>direct</a:t>
                </a:r>
                <a:r>
                  <a:rPr lang="en-US" altLang="zh-CN" sz="1800" b="0" dirty="0">
                    <a:latin typeface="Times New Roman" panose="02020503050405090304" pitchFamily="18" charset="0"/>
                    <a:ea typeface="宋体" pitchFamily="2" charset="-122"/>
                  </a:rPr>
                  <a:t>←(</a:t>
                </a:r>
                <a:r>
                  <a:rPr lang="en-US" altLang="zh-CN" sz="1800" b="0" dirty="0">
                    <a:solidFill>
                      <a:schemeClr val="tx2"/>
                    </a:solidFill>
                    <a:latin typeface="Times New Roman" panose="02020503050405090304" pitchFamily="18" charset="0"/>
                    <a:ea typeface="宋体" pitchFamily="2" charset="-122"/>
                    <a:sym typeface="楷体_GB2312" pitchFamily="49" charset="-122"/>
                  </a:rPr>
                  <a:t>direct</a:t>
                </a:r>
                <a:r>
                  <a:rPr lang="en-US" altLang="zh-CN" sz="1800" b="0" dirty="0">
                    <a:latin typeface="Times New Roman" panose="02020503050405090304" pitchFamily="18" charset="0"/>
                    <a:ea typeface="宋体" pitchFamily="2" charset="-122"/>
                  </a:rPr>
                  <a:t>)</a:t>
                </a:r>
                <a:endParaRPr lang="en-US" altLang="zh-CN" sz="1800" b="0" dirty="0">
                  <a:latin typeface="Times New Roman" panose="02020503050405090304" pitchFamily="18" charset="0"/>
                  <a:ea typeface="宋体" pitchFamily="2" charset="-122"/>
                </a:endParaRPr>
              </a:p>
              <a:p>
                <a:pPr algn="just" eaLnBrk="0" hangingPunct="0">
                  <a:buClrTx/>
                  <a:buFontTx/>
                </a:pPr>
                <a:r>
                  <a:rPr lang="en-US" altLang="zh-CN" sz="1800" b="0" dirty="0">
                    <a:solidFill>
                      <a:schemeClr val="tx2"/>
                    </a:solidFill>
                    <a:latin typeface="Times New Roman" panose="02020503050405090304" pitchFamily="18" charset="0"/>
                    <a:ea typeface="宋体" pitchFamily="2" charset="-122"/>
                    <a:sym typeface="楷体_GB2312" pitchFamily="49" charset="-122"/>
                  </a:rPr>
                  <a:t>direct</a:t>
                </a:r>
                <a:r>
                  <a:rPr lang="en-US" altLang="zh-CN" sz="1800" b="0" dirty="0">
                    <a:latin typeface="Times New Roman" panose="02020503050405090304" pitchFamily="18" charset="0"/>
                    <a:ea typeface="宋体" pitchFamily="2" charset="-122"/>
                  </a:rPr>
                  <a:t>←((Ri))</a:t>
                </a:r>
                <a:endParaRPr lang="en-US" altLang="zh-CN" sz="1800" b="0" dirty="0">
                  <a:latin typeface="Times New Roman" panose="02020503050405090304" pitchFamily="18" charset="0"/>
                  <a:ea typeface="宋体" pitchFamily="2" charset="-122"/>
                </a:endParaRPr>
              </a:p>
              <a:p>
                <a:pPr algn="just" eaLnBrk="0" hangingPunct="0">
                  <a:buClrTx/>
                  <a:buFontTx/>
                </a:pPr>
                <a:r>
                  <a:rPr lang="en-US" altLang="zh-CN" sz="1800" b="0" dirty="0">
                    <a:solidFill>
                      <a:schemeClr val="tx2"/>
                    </a:solidFill>
                    <a:latin typeface="Times New Roman" panose="02020503050405090304" pitchFamily="18" charset="0"/>
                    <a:ea typeface="宋体" pitchFamily="2" charset="-122"/>
                    <a:sym typeface="楷体_GB2312" pitchFamily="49" charset="-122"/>
                  </a:rPr>
                  <a:t>direct</a:t>
                </a:r>
                <a:r>
                  <a:rPr lang="en-US" altLang="zh-CN" sz="1800" b="0" dirty="0">
                    <a:latin typeface="Times New Roman" panose="02020503050405090304" pitchFamily="18" charset="0"/>
                    <a:ea typeface="宋体" pitchFamily="2" charset="-122"/>
                  </a:rPr>
                  <a:t>←(Rn)</a:t>
                </a:r>
                <a:endParaRPr lang="en-US" altLang="zh-CN" sz="1800" b="0" dirty="0">
                  <a:latin typeface="Times New Roman" panose="02020503050405090304" pitchFamily="18" charset="0"/>
                  <a:ea typeface="宋体" pitchFamily="2" charset="-122"/>
                </a:endParaRPr>
              </a:p>
              <a:p>
                <a:pPr algn="just" eaLnBrk="0" hangingPunct="0">
                  <a:buClrTx/>
                  <a:buFontTx/>
                </a:pPr>
                <a:endParaRPr lang="en-US" altLang="zh-CN" sz="2200" b="0" dirty="0">
                  <a:latin typeface="Times New Roman" panose="02020503050405090304" pitchFamily="18" charset="0"/>
                  <a:ea typeface="宋体" pitchFamily="2" charset="-122"/>
                </a:endParaRPr>
              </a:p>
            </p:txBody>
          </p:sp>
          <p:sp>
            <p:nvSpPr>
              <p:cNvPr id="66622" name="Rectangle 65"/>
              <p:cNvSpPr/>
              <p:nvPr/>
            </p:nvSpPr>
            <p:spPr>
              <a:xfrm>
                <a:off x="1390" y="2012"/>
                <a:ext cx="941" cy="718"/>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66623" name="Group 66"/>
            <p:cNvGrpSpPr/>
            <p:nvPr/>
          </p:nvGrpSpPr>
          <p:grpSpPr>
            <a:xfrm>
              <a:off x="2331" y="2012"/>
              <a:ext cx="446" cy="718"/>
              <a:chOff x="2331" y="2012"/>
              <a:chExt cx="446" cy="718"/>
            </a:xfrm>
          </p:grpSpPr>
          <p:sp>
            <p:nvSpPr>
              <p:cNvPr id="66624" name="Rectangle 67"/>
              <p:cNvSpPr/>
              <p:nvPr/>
            </p:nvSpPr>
            <p:spPr>
              <a:xfrm>
                <a:off x="2374" y="2012"/>
                <a:ext cx="360" cy="718"/>
              </a:xfrm>
              <a:prstGeom prst="rect">
                <a:avLst/>
              </a:prstGeom>
              <a:noFill/>
              <a:ln w="9525">
                <a:noFill/>
              </a:ln>
            </p:spPr>
            <p:txBody>
              <a:bodyPr anchor="ctr" anchorCtr="0"/>
              <a:p>
                <a:pPr algn="ctr" eaLnBrk="0" hangingPunct="0">
                  <a:buClrTx/>
                  <a:buFontTx/>
                </a:pPr>
                <a:endParaRPr lang="zh-CN" altLang="en-US" sz="2200" b="0" dirty="0">
                  <a:latin typeface="Times New Roman" panose="02020503050405090304" pitchFamily="18" charset="0"/>
                  <a:ea typeface="宋体" pitchFamily="2" charset="-122"/>
                </a:endParaRPr>
              </a:p>
              <a:p>
                <a:pPr algn="ctr" eaLnBrk="0" hangingPunct="0">
                  <a:buClrTx/>
                  <a:buFontTx/>
                </a:pPr>
                <a:r>
                  <a:rPr lang="zh-CN" altLang="en-US" sz="1800" b="0" dirty="0">
                    <a:latin typeface="Times New Roman" panose="02020503050405090304" pitchFamily="18" charset="0"/>
                    <a:ea typeface="宋体" pitchFamily="2" charset="-122"/>
                  </a:rPr>
                  <a:t>3</a:t>
                </a:r>
                <a:endParaRPr lang="zh-CN" altLang="en-US" sz="1800" b="0" dirty="0">
                  <a:latin typeface="Times New Roman" panose="02020503050405090304" pitchFamily="18" charset="0"/>
                  <a:ea typeface="宋体" pitchFamily="2" charset="-122"/>
                </a:endParaRPr>
              </a:p>
              <a:p>
                <a:pPr algn="ctr" eaLnBrk="0" hangingPunct="0">
                  <a:buClrTx/>
                  <a:buFontTx/>
                </a:pPr>
                <a:r>
                  <a:rPr lang="zh-CN" altLang="en-US" sz="1800" b="0" dirty="0">
                    <a:latin typeface="Times New Roman" panose="02020503050405090304" pitchFamily="18" charset="0"/>
                    <a:ea typeface="宋体" pitchFamily="2" charset="-122"/>
                  </a:rPr>
                  <a:t>2</a:t>
                </a:r>
                <a:endParaRPr lang="zh-CN" altLang="en-US" sz="1800" b="0" dirty="0">
                  <a:latin typeface="Times New Roman" panose="02020503050405090304" pitchFamily="18" charset="0"/>
                  <a:ea typeface="宋体" pitchFamily="2" charset="-122"/>
                </a:endParaRPr>
              </a:p>
              <a:p>
                <a:pPr algn="ctr" eaLnBrk="0" hangingPunct="0">
                  <a:buClrTx/>
                  <a:buFontTx/>
                </a:pPr>
                <a:r>
                  <a:rPr lang="zh-CN" altLang="en-US" sz="1800" b="0" dirty="0">
                    <a:latin typeface="Times New Roman" panose="02020503050405090304" pitchFamily="18" charset="0"/>
                    <a:ea typeface="宋体" pitchFamily="2" charset="-122"/>
                  </a:rPr>
                  <a:t>3</a:t>
                </a:r>
                <a:endParaRPr lang="zh-CN" altLang="en-US" sz="1800" b="0" dirty="0">
                  <a:latin typeface="Times New Roman" panose="02020503050405090304" pitchFamily="18" charset="0"/>
                  <a:ea typeface="宋体" pitchFamily="2" charset="-122"/>
                </a:endParaRPr>
              </a:p>
              <a:p>
                <a:pPr algn="ctr" eaLnBrk="0" hangingPunct="0">
                  <a:buClrTx/>
                  <a:buFontTx/>
                </a:pPr>
                <a:r>
                  <a:rPr lang="zh-CN" altLang="en-US" sz="1800" b="0" dirty="0">
                    <a:latin typeface="Times New Roman" panose="02020503050405090304" pitchFamily="18" charset="0"/>
                    <a:ea typeface="宋体" pitchFamily="2" charset="-122"/>
                  </a:rPr>
                  <a:t>2</a:t>
                </a:r>
                <a:endParaRPr lang="zh-CN" altLang="en-US" sz="1800" b="0" dirty="0">
                  <a:latin typeface="Times New Roman" panose="02020503050405090304" pitchFamily="18" charset="0"/>
                  <a:ea typeface="宋体" pitchFamily="2" charset="-122"/>
                </a:endParaRPr>
              </a:p>
              <a:p>
                <a:pPr algn="ctr" eaLnBrk="0" hangingPunct="0">
                  <a:buClrTx/>
                  <a:buFontTx/>
                </a:pPr>
                <a:r>
                  <a:rPr lang="zh-CN" altLang="en-US" sz="1800" b="0" dirty="0">
                    <a:latin typeface="Times New Roman" panose="02020503050405090304" pitchFamily="18" charset="0"/>
                    <a:ea typeface="宋体" pitchFamily="2" charset="-122"/>
                  </a:rPr>
                  <a:t>2</a:t>
                </a:r>
                <a:endParaRPr lang="zh-CN" altLang="en-US" sz="1800" b="0" dirty="0">
                  <a:latin typeface="Times New Roman" panose="02020503050405090304" pitchFamily="18" charset="0"/>
                  <a:ea typeface="宋体" pitchFamily="2" charset="-122"/>
                </a:endParaRPr>
              </a:p>
              <a:p>
                <a:pPr algn="ctr" eaLnBrk="0" hangingPunct="0">
                  <a:buClrTx/>
                  <a:buFontTx/>
                </a:pPr>
                <a:endParaRPr lang="zh-CN" altLang="en-US" sz="1800" b="0" dirty="0">
                  <a:latin typeface="Times New Roman" panose="02020503050405090304" pitchFamily="18" charset="0"/>
                  <a:ea typeface="宋体" pitchFamily="2" charset="-122"/>
                </a:endParaRPr>
              </a:p>
            </p:txBody>
          </p:sp>
          <p:sp>
            <p:nvSpPr>
              <p:cNvPr id="66625" name="Rectangle 68"/>
              <p:cNvSpPr/>
              <p:nvPr/>
            </p:nvSpPr>
            <p:spPr>
              <a:xfrm>
                <a:off x="2331" y="2012"/>
                <a:ext cx="446" cy="718"/>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66626" name="Group 69"/>
            <p:cNvGrpSpPr/>
            <p:nvPr/>
          </p:nvGrpSpPr>
          <p:grpSpPr>
            <a:xfrm>
              <a:off x="2777" y="2012"/>
              <a:ext cx="446" cy="718"/>
              <a:chOff x="2777" y="2012"/>
              <a:chExt cx="446" cy="718"/>
            </a:xfrm>
          </p:grpSpPr>
          <p:sp>
            <p:nvSpPr>
              <p:cNvPr id="66627" name="Rectangle 70"/>
              <p:cNvSpPr/>
              <p:nvPr/>
            </p:nvSpPr>
            <p:spPr>
              <a:xfrm>
                <a:off x="2820" y="2012"/>
                <a:ext cx="360" cy="718"/>
              </a:xfrm>
              <a:prstGeom prst="rect">
                <a:avLst/>
              </a:prstGeom>
              <a:noFill/>
              <a:ln w="9525">
                <a:noFill/>
              </a:ln>
            </p:spPr>
            <p:txBody>
              <a:bodyPr anchor="ctr" anchorCtr="0"/>
              <a:p>
                <a:pPr algn="ctr" eaLnBrk="0" hangingPunct="0">
                  <a:buClrTx/>
                  <a:buFontTx/>
                </a:pPr>
                <a:endParaRPr lang="zh-CN" altLang="en-US" sz="2200" b="0" dirty="0">
                  <a:latin typeface="Times New Roman" panose="02020503050405090304" pitchFamily="18" charset="0"/>
                  <a:ea typeface="宋体" pitchFamily="2" charset="-122"/>
                </a:endParaRPr>
              </a:p>
              <a:p>
                <a:pPr algn="ctr" eaLnBrk="0" hangingPunct="0">
                  <a:buClrTx/>
                  <a:buFontTx/>
                </a:pPr>
                <a:r>
                  <a:rPr lang="zh-CN" altLang="en-US" sz="1800" b="0" dirty="0">
                    <a:latin typeface="Times New Roman" panose="02020503050405090304" pitchFamily="18" charset="0"/>
                    <a:ea typeface="宋体" pitchFamily="2" charset="-122"/>
                  </a:rPr>
                  <a:t>2</a:t>
                </a:r>
                <a:endParaRPr lang="zh-CN" altLang="en-US" sz="1800" b="0" dirty="0">
                  <a:latin typeface="Times New Roman" panose="02020503050405090304" pitchFamily="18" charset="0"/>
                  <a:ea typeface="宋体" pitchFamily="2" charset="-122"/>
                </a:endParaRPr>
              </a:p>
              <a:p>
                <a:pPr algn="ctr" eaLnBrk="0" hangingPunct="0">
                  <a:buClrTx/>
                  <a:buFontTx/>
                </a:pPr>
                <a:r>
                  <a:rPr lang="zh-CN" altLang="en-US" sz="1800" b="0" dirty="0">
                    <a:latin typeface="Times New Roman" panose="02020503050405090304" pitchFamily="18" charset="0"/>
                    <a:ea typeface="宋体" pitchFamily="2" charset="-122"/>
                  </a:rPr>
                  <a:t>1</a:t>
                </a:r>
                <a:endParaRPr lang="zh-CN" altLang="en-US" sz="1800" b="0" dirty="0">
                  <a:latin typeface="Times New Roman" panose="02020503050405090304" pitchFamily="18" charset="0"/>
                  <a:ea typeface="宋体" pitchFamily="2" charset="-122"/>
                </a:endParaRPr>
              </a:p>
              <a:p>
                <a:pPr algn="ctr" eaLnBrk="0" hangingPunct="0">
                  <a:buClrTx/>
                  <a:buFontTx/>
                </a:pPr>
                <a:r>
                  <a:rPr lang="zh-CN" altLang="en-US" sz="1800" b="0" dirty="0">
                    <a:latin typeface="Times New Roman" panose="02020503050405090304" pitchFamily="18" charset="0"/>
                    <a:ea typeface="宋体" pitchFamily="2" charset="-122"/>
                  </a:rPr>
                  <a:t>2</a:t>
                </a:r>
                <a:endParaRPr lang="zh-CN" altLang="en-US" sz="1800" b="0" dirty="0">
                  <a:latin typeface="Times New Roman" panose="02020503050405090304" pitchFamily="18" charset="0"/>
                  <a:ea typeface="宋体" pitchFamily="2" charset="-122"/>
                </a:endParaRPr>
              </a:p>
              <a:p>
                <a:pPr algn="ctr" eaLnBrk="0" hangingPunct="0">
                  <a:buClrTx/>
                  <a:buFontTx/>
                </a:pPr>
                <a:r>
                  <a:rPr lang="zh-CN" altLang="en-US" sz="1800" b="0" dirty="0">
                    <a:latin typeface="Times New Roman" panose="02020503050405090304" pitchFamily="18" charset="0"/>
                    <a:ea typeface="宋体" pitchFamily="2" charset="-122"/>
                  </a:rPr>
                  <a:t>2</a:t>
                </a:r>
                <a:endParaRPr lang="zh-CN" altLang="en-US" sz="1800" b="0" dirty="0">
                  <a:latin typeface="Times New Roman" panose="02020503050405090304" pitchFamily="18" charset="0"/>
                  <a:ea typeface="宋体" pitchFamily="2" charset="-122"/>
                </a:endParaRPr>
              </a:p>
              <a:p>
                <a:pPr algn="ctr" eaLnBrk="0" hangingPunct="0">
                  <a:buClrTx/>
                  <a:buFontTx/>
                </a:pPr>
                <a:r>
                  <a:rPr lang="zh-CN" altLang="en-US" sz="1800" b="0" dirty="0">
                    <a:latin typeface="Times New Roman" panose="02020503050405090304" pitchFamily="18" charset="0"/>
                    <a:ea typeface="宋体" pitchFamily="2" charset="-122"/>
                  </a:rPr>
                  <a:t>1</a:t>
                </a:r>
                <a:endParaRPr lang="zh-CN" altLang="en-US" sz="1800" b="0" dirty="0">
                  <a:latin typeface="Times New Roman" panose="02020503050405090304" pitchFamily="18" charset="0"/>
                  <a:ea typeface="宋体" pitchFamily="2" charset="-122"/>
                </a:endParaRPr>
              </a:p>
              <a:p>
                <a:pPr algn="ctr" eaLnBrk="0" hangingPunct="0">
                  <a:buClrTx/>
                  <a:buFontTx/>
                </a:pPr>
                <a:endParaRPr lang="zh-CN" altLang="en-US" sz="2200" b="0" dirty="0">
                  <a:latin typeface="Times New Roman" panose="02020503050405090304" pitchFamily="18" charset="0"/>
                  <a:ea typeface="宋体" pitchFamily="2" charset="-122"/>
                </a:endParaRPr>
              </a:p>
            </p:txBody>
          </p:sp>
          <p:sp>
            <p:nvSpPr>
              <p:cNvPr id="66628" name="Rectangle 71"/>
              <p:cNvSpPr/>
              <p:nvPr/>
            </p:nvSpPr>
            <p:spPr>
              <a:xfrm>
                <a:off x="2777" y="2012"/>
                <a:ext cx="446" cy="718"/>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66629" name="Group 72"/>
            <p:cNvGrpSpPr/>
            <p:nvPr/>
          </p:nvGrpSpPr>
          <p:grpSpPr>
            <a:xfrm>
              <a:off x="426" y="2730"/>
              <a:ext cx="446" cy="546"/>
              <a:chOff x="426" y="2730"/>
              <a:chExt cx="446" cy="546"/>
            </a:xfrm>
          </p:grpSpPr>
          <p:sp>
            <p:nvSpPr>
              <p:cNvPr id="66630" name="Rectangle 73"/>
              <p:cNvSpPr/>
              <p:nvPr/>
            </p:nvSpPr>
            <p:spPr>
              <a:xfrm>
                <a:off x="469" y="2730"/>
                <a:ext cx="360" cy="546"/>
              </a:xfrm>
              <a:prstGeom prst="rect">
                <a:avLst/>
              </a:prstGeom>
              <a:noFill/>
              <a:ln w="9525">
                <a:noFill/>
              </a:ln>
            </p:spPr>
            <p:txBody>
              <a:bodyPr anchor="ctr" anchorCtr="0"/>
              <a:p>
                <a:pPr algn="just" eaLnBrk="0" hangingPunct="0">
                  <a:buClrTx/>
                  <a:buFontTx/>
                </a:pPr>
                <a:r>
                  <a:rPr lang="zh-CN" altLang="en-US" sz="1600" b="0" dirty="0">
                    <a:latin typeface="Times New Roman" panose="02020503050405090304" pitchFamily="18" charset="0"/>
                    <a:ea typeface="宋体" pitchFamily="2" charset="-122"/>
                  </a:rPr>
                  <a:t>@</a:t>
                </a:r>
                <a:r>
                  <a:rPr lang="en-US" altLang="zh-CN" sz="1600" b="0" dirty="0">
                    <a:latin typeface="Times New Roman" panose="02020503050405090304" pitchFamily="18" charset="0"/>
                    <a:ea typeface="宋体" pitchFamily="2" charset="-122"/>
                  </a:rPr>
                  <a:t>Ri</a:t>
                </a:r>
                <a:r>
                  <a:rPr lang="en-US" altLang="zh-CN" sz="1600" b="0" dirty="0">
                    <a:latin typeface="宋体" pitchFamily="2" charset="-122"/>
                    <a:ea typeface="宋体" pitchFamily="2" charset="-122"/>
                  </a:rPr>
                  <a:t>，</a:t>
                </a:r>
                <a:endParaRPr lang="en-US" altLang="zh-CN" sz="1600" b="0" dirty="0">
                  <a:latin typeface="Times New Roman" panose="02020503050405090304" pitchFamily="18" charset="0"/>
                  <a:ea typeface="宋体" pitchFamily="2" charset="-122"/>
                </a:endParaRPr>
              </a:p>
              <a:p>
                <a:pPr algn="just" eaLnBrk="0" hangingPunct="0">
                  <a:buClrTx/>
                  <a:buFontTx/>
                </a:pPr>
                <a:endParaRPr lang="en-US" altLang="zh-CN" sz="1600" b="0" dirty="0">
                  <a:latin typeface="Times New Roman" panose="02020503050405090304" pitchFamily="18" charset="0"/>
                  <a:ea typeface="宋体" pitchFamily="2" charset="-122"/>
                </a:endParaRPr>
              </a:p>
            </p:txBody>
          </p:sp>
          <p:sp>
            <p:nvSpPr>
              <p:cNvPr id="66631" name="Rectangle 74"/>
              <p:cNvSpPr/>
              <p:nvPr/>
            </p:nvSpPr>
            <p:spPr>
              <a:xfrm>
                <a:off x="426" y="2730"/>
                <a:ext cx="446" cy="546"/>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66632" name="Group 75"/>
            <p:cNvGrpSpPr/>
            <p:nvPr/>
          </p:nvGrpSpPr>
          <p:grpSpPr>
            <a:xfrm>
              <a:off x="872" y="2730"/>
              <a:ext cx="518" cy="546"/>
              <a:chOff x="872" y="2730"/>
              <a:chExt cx="518" cy="546"/>
            </a:xfrm>
          </p:grpSpPr>
          <p:sp>
            <p:nvSpPr>
              <p:cNvPr id="66633" name="Rectangle 76"/>
              <p:cNvSpPr/>
              <p:nvPr/>
            </p:nvSpPr>
            <p:spPr>
              <a:xfrm>
                <a:off x="915" y="2730"/>
                <a:ext cx="432" cy="546"/>
              </a:xfrm>
              <a:prstGeom prst="rect">
                <a:avLst/>
              </a:prstGeom>
              <a:noFill/>
              <a:ln w="9525">
                <a:noFill/>
              </a:ln>
            </p:spPr>
            <p:txBody>
              <a:bodyPr anchor="ctr" anchorCtr="0"/>
              <a:p>
                <a:pPr algn="just" eaLnBrk="0" hangingPunct="0">
                  <a:buClrTx/>
                  <a:buFontTx/>
                </a:pPr>
                <a:endParaRPr lang="zh-CN" altLang="en-US" sz="2200" b="0" dirty="0">
                  <a:latin typeface="Times New Roman" panose="02020503050405090304" pitchFamily="18" charset="0"/>
                  <a:ea typeface="宋体" pitchFamily="2" charset="-122"/>
                </a:endParaRPr>
              </a:p>
              <a:p>
                <a:pPr algn="just" eaLnBrk="0" hangingPunct="0">
                  <a:buClrTx/>
                  <a:buFontTx/>
                </a:pPr>
                <a:r>
                  <a:rPr lang="zh-CN" altLang="en-US" sz="1800" b="0" dirty="0">
                    <a:latin typeface="Times New Roman" panose="02020503050405090304" pitchFamily="18" charset="0"/>
                    <a:ea typeface="宋体" pitchFamily="2" charset="-122"/>
                  </a:rPr>
                  <a:t>#</a:t>
                </a:r>
                <a:r>
                  <a:rPr lang="en-US" altLang="zh-CN" sz="1800" b="0" dirty="0">
                    <a:latin typeface="Times New Roman" panose="02020503050405090304" pitchFamily="18" charset="0"/>
                    <a:ea typeface="宋体" pitchFamily="2" charset="-122"/>
                  </a:rPr>
                  <a:t>data</a:t>
                </a:r>
                <a:endParaRPr lang="en-US" altLang="zh-CN" sz="1800" b="0" dirty="0">
                  <a:latin typeface="Times New Roman" panose="02020503050405090304" pitchFamily="18" charset="0"/>
                  <a:ea typeface="宋体" pitchFamily="2" charset="-122"/>
                </a:endParaRPr>
              </a:p>
              <a:p>
                <a:pPr algn="just" eaLnBrk="0" hangingPunct="0">
                  <a:buClrTx/>
                  <a:buFontTx/>
                </a:pPr>
                <a:r>
                  <a:rPr lang="en-US" altLang="zh-CN" sz="1800" b="0" dirty="0">
                    <a:solidFill>
                      <a:schemeClr val="tx2"/>
                    </a:solidFill>
                    <a:latin typeface="Times New Roman" panose="02020503050405090304" pitchFamily="18" charset="0"/>
                    <a:ea typeface="宋体" pitchFamily="2" charset="-122"/>
                  </a:rPr>
                  <a:t>direct</a:t>
                </a:r>
                <a:endParaRPr lang="en-US" altLang="zh-CN" sz="1800" b="0" dirty="0">
                  <a:latin typeface="Times New Roman" panose="02020503050405090304" pitchFamily="18" charset="0"/>
                  <a:ea typeface="宋体" pitchFamily="2" charset="-122"/>
                </a:endParaRPr>
              </a:p>
              <a:p>
                <a:pPr algn="just" eaLnBrk="0" hangingPunct="0">
                  <a:buClrTx/>
                  <a:buFontTx/>
                </a:pPr>
                <a:r>
                  <a:rPr lang="en-US" altLang="zh-CN" sz="1800" b="0" dirty="0">
                    <a:latin typeface="Times New Roman" panose="02020503050405090304" pitchFamily="18" charset="0"/>
                    <a:ea typeface="宋体" pitchFamily="2" charset="-122"/>
                  </a:rPr>
                  <a:t>A</a:t>
                </a:r>
                <a:endParaRPr lang="en-US" altLang="zh-CN" sz="1800" b="0" dirty="0">
                  <a:latin typeface="Times New Roman" panose="02020503050405090304" pitchFamily="18" charset="0"/>
                  <a:ea typeface="宋体" pitchFamily="2" charset="-122"/>
                </a:endParaRPr>
              </a:p>
              <a:p>
                <a:pPr algn="just" eaLnBrk="0" hangingPunct="0">
                  <a:buClrTx/>
                  <a:buFontTx/>
                </a:pPr>
                <a:endParaRPr lang="en-US" altLang="zh-CN" sz="1800" b="0" dirty="0">
                  <a:latin typeface="Times New Roman" panose="02020503050405090304" pitchFamily="18" charset="0"/>
                  <a:ea typeface="宋体" pitchFamily="2" charset="-122"/>
                </a:endParaRPr>
              </a:p>
            </p:txBody>
          </p:sp>
          <p:sp>
            <p:nvSpPr>
              <p:cNvPr id="66634" name="Rectangle 77"/>
              <p:cNvSpPr/>
              <p:nvPr/>
            </p:nvSpPr>
            <p:spPr>
              <a:xfrm>
                <a:off x="872" y="2730"/>
                <a:ext cx="518" cy="546"/>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66635" name="Group 78"/>
            <p:cNvGrpSpPr/>
            <p:nvPr/>
          </p:nvGrpSpPr>
          <p:grpSpPr>
            <a:xfrm>
              <a:off x="1390" y="2730"/>
              <a:ext cx="941" cy="546"/>
              <a:chOff x="1390" y="2730"/>
              <a:chExt cx="941" cy="546"/>
            </a:xfrm>
          </p:grpSpPr>
          <p:sp>
            <p:nvSpPr>
              <p:cNvPr id="66636" name="Rectangle 79"/>
              <p:cNvSpPr/>
              <p:nvPr/>
            </p:nvSpPr>
            <p:spPr>
              <a:xfrm>
                <a:off x="1433" y="2730"/>
                <a:ext cx="855" cy="546"/>
              </a:xfrm>
              <a:prstGeom prst="rect">
                <a:avLst/>
              </a:prstGeom>
              <a:noFill/>
              <a:ln w="9525">
                <a:noFill/>
              </a:ln>
            </p:spPr>
            <p:txBody>
              <a:bodyPr anchor="ctr" anchorCtr="0"/>
              <a:p>
                <a:pPr algn="just" eaLnBrk="0" hangingPunct="0">
                  <a:buClrTx/>
                  <a:buFontTx/>
                </a:pPr>
                <a:endParaRPr lang="zh-CN" altLang="en-US" sz="2200" b="0" dirty="0">
                  <a:latin typeface="Times New Roman" panose="02020503050405090304" pitchFamily="18" charset="0"/>
                  <a:ea typeface="宋体" pitchFamily="2" charset="-122"/>
                </a:endParaRPr>
              </a:p>
              <a:p>
                <a:pPr algn="just" eaLnBrk="0" hangingPunct="0">
                  <a:buClrTx/>
                  <a:buFontTx/>
                </a:pPr>
                <a:r>
                  <a:rPr lang="zh-CN" altLang="en-US" sz="1800" b="0" dirty="0">
                    <a:latin typeface="Times New Roman" panose="02020503050405090304" pitchFamily="18" charset="0"/>
                    <a:ea typeface="宋体" pitchFamily="2" charset="-122"/>
                  </a:rPr>
                  <a:t>(</a:t>
                </a:r>
                <a:r>
                  <a:rPr lang="en-US" altLang="zh-CN" sz="1800" b="0" dirty="0">
                    <a:latin typeface="Times New Roman" panose="02020503050405090304" pitchFamily="18" charset="0"/>
                    <a:ea typeface="宋体" pitchFamily="2" charset="-122"/>
                  </a:rPr>
                  <a:t>Ri)←#data</a:t>
                </a:r>
                <a:endParaRPr lang="en-US" altLang="zh-CN" sz="1800" b="0" dirty="0">
                  <a:latin typeface="Times New Roman" panose="02020503050405090304" pitchFamily="18" charset="0"/>
                  <a:ea typeface="宋体" pitchFamily="2" charset="-122"/>
                </a:endParaRPr>
              </a:p>
              <a:p>
                <a:pPr algn="just" eaLnBrk="0" hangingPunct="0">
                  <a:buClrTx/>
                  <a:buFontTx/>
                </a:pPr>
                <a:r>
                  <a:rPr lang="en-US" altLang="zh-CN" sz="1800" b="0" dirty="0">
                    <a:latin typeface="Times New Roman" panose="02020503050405090304" pitchFamily="18" charset="0"/>
                    <a:ea typeface="宋体" pitchFamily="2" charset="-122"/>
                  </a:rPr>
                  <a:t>(Ri)←(</a:t>
                </a:r>
                <a:r>
                  <a:rPr lang="en-US" altLang="zh-CN" sz="1800" b="0" dirty="0">
                    <a:solidFill>
                      <a:schemeClr val="tx2"/>
                    </a:solidFill>
                    <a:latin typeface="Times New Roman" panose="02020503050405090304" pitchFamily="18" charset="0"/>
                    <a:ea typeface="宋体" pitchFamily="2" charset="-122"/>
                    <a:sym typeface="楷体_GB2312" pitchFamily="49" charset="-122"/>
                  </a:rPr>
                  <a:t>direct</a:t>
                </a:r>
                <a:r>
                  <a:rPr lang="en-US" altLang="zh-CN" sz="1800" b="0" dirty="0">
                    <a:latin typeface="Times New Roman" panose="02020503050405090304" pitchFamily="18" charset="0"/>
                    <a:ea typeface="宋体" pitchFamily="2" charset="-122"/>
                  </a:rPr>
                  <a:t>)</a:t>
                </a:r>
                <a:endParaRPr lang="en-US" altLang="zh-CN" sz="1800" b="0" dirty="0">
                  <a:latin typeface="Times New Roman" panose="02020503050405090304" pitchFamily="18" charset="0"/>
                  <a:ea typeface="宋体" pitchFamily="2" charset="-122"/>
                </a:endParaRPr>
              </a:p>
              <a:p>
                <a:pPr algn="just" eaLnBrk="0" hangingPunct="0">
                  <a:buClrTx/>
                  <a:buFontTx/>
                </a:pPr>
                <a:r>
                  <a:rPr lang="en-US" altLang="zh-CN" sz="1800" b="0" dirty="0">
                    <a:latin typeface="Times New Roman" panose="02020503050405090304" pitchFamily="18" charset="0"/>
                    <a:ea typeface="宋体" pitchFamily="2" charset="-122"/>
                  </a:rPr>
                  <a:t>(Ri)←(A)</a:t>
                </a:r>
                <a:endParaRPr lang="en-US" altLang="zh-CN" sz="1800" b="0" dirty="0">
                  <a:latin typeface="Times New Roman" panose="02020503050405090304" pitchFamily="18" charset="0"/>
                  <a:ea typeface="宋体" pitchFamily="2" charset="-122"/>
                </a:endParaRPr>
              </a:p>
              <a:p>
                <a:pPr algn="just" eaLnBrk="0" hangingPunct="0">
                  <a:buClrTx/>
                  <a:buFontTx/>
                </a:pPr>
                <a:endParaRPr lang="en-US" altLang="zh-CN" sz="1800" b="0" dirty="0">
                  <a:latin typeface="Times New Roman" panose="02020503050405090304" pitchFamily="18" charset="0"/>
                  <a:ea typeface="宋体" pitchFamily="2" charset="-122"/>
                </a:endParaRPr>
              </a:p>
            </p:txBody>
          </p:sp>
          <p:sp>
            <p:nvSpPr>
              <p:cNvPr id="66637" name="Rectangle 80"/>
              <p:cNvSpPr/>
              <p:nvPr/>
            </p:nvSpPr>
            <p:spPr>
              <a:xfrm>
                <a:off x="1390" y="2730"/>
                <a:ext cx="941" cy="546"/>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66638" name="Group 81"/>
            <p:cNvGrpSpPr/>
            <p:nvPr/>
          </p:nvGrpSpPr>
          <p:grpSpPr>
            <a:xfrm>
              <a:off x="2331" y="2730"/>
              <a:ext cx="446" cy="546"/>
              <a:chOff x="2331" y="2730"/>
              <a:chExt cx="446" cy="546"/>
            </a:xfrm>
          </p:grpSpPr>
          <p:sp>
            <p:nvSpPr>
              <p:cNvPr id="66639" name="Rectangle 82"/>
              <p:cNvSpPr/>
              <p:nvPr/>
            </p:nvSpPr>
            <p:spPr>
              <a:xfrm>
                <a:off x="2374" y="2730"/>
                <a:ext cx="360" cy="546"/>
              </a:xfrm>
              <a:prstGeom prst="rect">
                <a:avLst/>
              </a:prstGeom>
              <a:noFill/>
              <a:ln w="9525">
                <a:noFill/>
              </a:ln>
            </p:spPr>
            <p:txBody>
              <a:bodyPr anchor="ctr" anchorCtr="0"/>
              <a:p>
                <a:pPr algn="ctr" eaLnBrk="0" hangingPunct="0">
                  <a:buClrTx/>
                  <a:buFontTx/>
                </a:pPr>
                <a:endParaRPr lang="zh-CN" altLang="en-US" sz="2200" b="0" dirty="0">
                  <a:latin typeface="Times New Roman" panose="02020503050405090304" pitchFamily="18" charset="0"/>
                  <a:ea typeface="宋体" pitchFamily="2" charset="-122"/>
                </a:endParaRPr>
              </a:p>
              <a:p>
                <a:pPr algn="ctr" eaLnBrk="0" hangingPunct="0">
                  <a:buClrTx/>
                  <a:buFontTx/>
                </a:pPr>
                <a:r>
                  <a:rPr lang="zh-CN" altLang="en-US" sz="1800" b="0" dirty="0">
                    <a:latin typeface="Times New Roman" panose="02020503050405090304" pitchFamily="18" charset="0"/>
                    <a:ea typeface="宋体" pitchFamily="2" charset="-122"/>
                  </a:rPr>
                  <a:t>2</a:t>
                </a:r>
                <a:endParaRPr lang="zh-CN" altLang="en-US" sz="1800" b="0" dirty="0">
                  <a:latin typeface="Times New Roman" panose="02020503050405090304" pitchFamily="18" charset="0"/>
                  <a:ea typeface="宋体" pitchFamily="2" charset="-122"/>
                </a:endParaRPr>
              </a:p>
              <a:p>
                <a:pPr algn="ctr" eaLnBrk="0" hangingPunct="0">
                  <a:buClrTx/>
                  <a:buFontTx/>
                </a:pPr>
                <a:r>
                  <a:rPr lang="zh-CN" altLang="en-US" sz="1800" b="0" dirty="0">
                    <a:latin typeface="Times New Roman" panose="02020503050405090304" pitchFamily="18" charset="0"/>
                    <a:ea typeface="宋体" pitchFamily="2" charset="-122"/>
                  </a:rPr>
                  <a:t>2</a:t>
                </a:r>
                <a:endParaRPr lang="zh-CN" altLang="en-US" sz="1800" b="0" dirty="0">
                  <a:latin typeface="Times New Roman" panose="02020503050405090304" pitchFamily="18" charset="0"/>
                  <a:ea typeface="宋体" pitchFamily="2" charset="-122"/>
                </a:endParaRPr>
              </a:p>
              <a:p>
                <a:pPr algn="ctr" eaLnBrk="0" hangingPunct="0">
                  <a:buClrTx/>
                  <a:buFontTx/>
                </a:pPr>
                <a:r>
                  <a:rPr lang="zh-CN" altLang="en-US" sz="1800" b="0" dirty="0">
                    <a:latin typeface="Times New Roman" panose="02020503050405090304" pitchFamily="18" charset="0"/>
                    <a:ea typeface="宋体" pitchFamily="2" charset="-122"/>
                  </a:rPr>
                  <a:t>1</a:t>
                </a:r>
                <a:endParaRPr lang="zh-CN" altLang="en-US" sz="1800" b="0" dirty="0">
                  <a:latin typeface="Times New Roman" panose="02020503050405090304" pitchFamily="18" charset="0"/>
                  <a:ea typeface="宋体" pitchFamily="2" charset="-122"/>
                </a:endParaRPr>
              </a:p>
              <a:p>
                <a:pPr algn="ctr" eaLnBrk="0" hangingPunct="0">
                  <a:buClrTx/>
                  <a:buFontTx/>
                </a:pPr>
                <a:endParaRPr lang="zh-CN" altLang="en-US" sz="1800" b="0" dirty="0">
                  <a:latin typeface="Times New Roman" panose="02020503050405090304" pitchFamily="18" charset="0"/>
                  <a:ea typeface="宋体" pitchFamily="2" charset="-122"/>
                </a:endParaRPr>
              </a:p>
            </p:txBody>
          </p:sp>
          <p:sp>
            <p:nvSpPr>
              <p:cNvPr id="66640" name="Rectangle 83"/>
              <p:cNvSpPr/>
              <p:nvPr/>
            </p:nvSpPr>
            <p:spPr>
              <a:xfrm>
                <a:off x="2331" y="2730"/>
                <a:ext cx="446" cy="546"/>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66641" name="Group 84"/>
            <p:cNvGrpSpPr/>
            <p:nvPr/>
          </p:nvGrpSpPr>
          <p:grpSpPr>
            <a:xfrm>
              <a:off x="2777" y="2730"/>
              <a:ext cx="446" cy="546"/>
              <a:chOff x="2777" y="2730"/>
              <a:chExt cx="446" cy="546"/>
            </a:xfrm>
          </p:grpSpPr>
          <p:sp>
            <p:nvSpPr>
              <p:cNvPr id="66642" name="Rectangle 85"/>
              <p:cNvSpPr/>
              <p:nvPr/>
            </p:nvSpPr>
            <p:spPr>
              <a:xfrm>
                <a:off x="2820" y="2730"/>
                <a:ext cx="360" cy="546"/>
              </a:xfrm>
              <a:prstGeom prst="rect">
                <a:avLst/>
              </a:prstGeom>
              <a:noFill/>
              <a:ln w="9525">
                <a:noFill/>
              </a:ln>
            </p:spPr>
            <p:txBody>
              <a:bodyPr anchor="ctr" anchorCtr="0"/>
              <a:p>
                <a:pPr algn="ctr" eaLnBrk="0" hangingPunct="0">
                  <a:buClrTx/>
                  <a:buFontTx/>
                </a:pPr>
                <a:endParaRPr lang="zh-CN" altLang="en-US" sz="2200" b="0" dirty="0">
                  <a:latin typeface="Times New Roman" panose="02020503050405090304" pitchFamily="18" charset="0"/>
                  <a:ea typeface="宋体" pitchFamily="2" charset="-122"/>
                </a:endParaRPr>
              </a:p>
              <a:p>
                <a:pPr algn="ctr" eaLnBrk="0" hangingPunct="0">
                  <a:buClrTx/>
                  <a:buFontTx/>
                </a:pPr>
                <a:r>
                  <a:rPr lang="zh-CN" altLang="en-US" sz="1800" b="0" dirty="0">
                    <a:latin typeface="Times New Roman" panose="02020503050405090304" pitchFamily="18" charset="0"/>
                    <a:ea typeface="宋体" pitchFamily="2" charset="-122"/>
                  </a:rPr>
                  <a:t>1</a:t>
                </a:r>
                <a:endParaRPr lang="zh-CN" altLang="en-US" sz="1800" b="0" dirty="0">
                  <a:latin typeface="Times New Roman" panose="02020503050405090304" pitchFamily="18" charset="0"/>
                  <a:ea typeface="宋体" pitchFamily="2" charset="-122"/>
                </a:endParaRPr>
              </a:p>
              <a:p>
                <a:pPr algn="ctr" eaLnBrk="0" hangingPunct="0">
                  <a:buClrTx/>
                  <a:buFontTx/>
                </a:pPr>
                <a:r>
                  <a:rPr lang="zh-CN" altLang="en-US" sz="1800" b="0" dirty="0">
                    <a:latin typeface="Times New Roman" panose="02020503050405090304" pitchFamily="18" charset="0"/>
                    <a:ea typeface="宋体" pitchFamily="2" charset="-122"/>
                  </a:rPr>
                  <a:t>2</a:t>
                </a:r>
                <a:endParaRPr lang="zh-CN" altLang="en-US" sz="1800" b="0" dirty="0">
                  <a:latin typeface="Times New Roman" panose="02020503050405090304" pitchFamily="18" charset="0"/>
                  <a:ea typeface="宋体" pitchFamily="2" charset="-122"/>
                </a:endParaRPr>
              </a:p>
              <a:p>
                <a:pPr algn="ctr" eaLnBrk="0" hangingPunct="0">
                  <a:buClrTx/>
                  <a:buFontTx/>
                </a:pPr>
                <a:r>
                  <a:rPr lang="zh-CN" altLang="en-US" sz="1800" b="0" dirty="0">
                    <a:latin typeface="Times New Roman" panose="02020503050405090304" pitchFamily="18" charset="0"/>
                    <a:ea typeface="宋体" pitchFamily="2" charset="-122"/>
                  </a:rPr>
                  <a:t>1</a:t>
                </a:r>
                <a:endParaRPr lang="zh-CN" altLang="en-US" sz="1800" b="0" dirty="0">
                  <a:latin typeface="Times New Roman" panose="02020503050405090304" pitchFamily="18" charset="0"/>
                  <a:ea typeface="宋体" pitchFamily="2" charset="-122"/>
                </a:endParaRPr>
              </a:p>
              <a:p>
                <a:pPr algn="ctr" eaLnBrk="0" hangingPunct="0">
                  <a:buClrTx/>
                  <a:buFontTx/>
                </a:pPr>
                <a:endParaRPr lang="zh-CN" altLang="en-US" sz="2200" b="0" dirty="0">
                  <a:latin typeface="Times New Roman" panose="02020503050405090304" pitchFamily="18" charset="0"/>
                  <a:ea typeface="宋体" pitchFamily="2" charset="-122"/>
                </a:endParaRPr>
              </a:p>
            </p:txBody>
          </p:sp>
          <p:sp>
            <p:nvSpPr>
              <p:cNvPr id="66643" name="Rectangle 86"/>
              <p:cNvSpPr/>
              <p:nvPr/>
            </p:nvSpPr>
            <p:spPr>
              <a:xfrm>
                <a:off x="2777" y="2730"/>
                <a:ext cx="446" cy="546"/>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Rectangle 3"/>
          <p:cNvSpPr>
            <a:spLocks noGrp="1"/>
          </p:cNvSpPr>
          <p:nvPr>
            <p:ph idx="1"/>
          </p:nvPr>
        </p:nvSpPr>
        <p:spPr>
          <a:xfrm>
            <a:off x="836613" y="1042988"/>
            <a:ext cx="7696200" cy="5815012"/>
          </a:xfrm>
        </p:spPr>
        <p:txBody>
          <a:bodyPr vert="horz" wrap="square" lIns="91440" tIns="45720" rIns="91440" bIns="45720" anchor="t" anchorCtr="0"/>
          <a:p>
            <a:pPr eaLnBrk="1" hangingPunct="1">
              <a:buNone/>
            </a:pPr>
            <a:r>
              <a:rPr lang="zh-CN" altLang="en-US" sz="2400" dirty="0"/>
              <a:t>（</a:t>
            </a:r>
            <a:r>
              <a:rPr lang="en-US" altLang="zh-CN" sz="2400" dirty="0"/>
              <a:t>1</a:t>
            </a:r>
            <a:r>
              <a:rPr lang="zh-CN" altLang="en-US" sz="2400" dirty="0"/>
              <a:t>）</a:t>
            </a:r>
            <a:r>
              <a:rPr lang="zh-CN" altLang="en-US" sz="2400" b="1" u="sng" dirty="0"/>
              <a:t>以</a:t>
            </a:r>
            <a:r>
              <a:rPr lang="en-US" altLang="zh-CN" sz="2400" b="1" u="sng" dirty="0"/>
              <a:t>A</a:t>
            </a:r>
            <a:r>
              <a:rPr lang="zh-CN" altLang="en-US" sz="2400" b="1" u="sng" dirty="0"/>
              <a:t>为目的操作数的传送指令 （</a:t>
            </a:r>
            <a:r>
              <a:rPr lang="en-US" altLang="zh-CN" sz="2400" b="1" u="sng" dirty="0"/>
              <a:t>4</a:t>
            </a:r>
            <a:r>
              <a:rPr lang="zh-CN" altLang="en-US" sz="2400" b="1" u="sng" dirty="0"/>
              <a:t>条）</a:t>
            </a:r>
            <a:endParaRPr lang="zh-CN" altLang="en-US" sz="2400" b="1" u="sng" dirty="0"/>
          </a:p>
          <a:p>
            <a:pPr eaLnBrk="1" hangingPunct="1">
              <a:buNone/>
            </a:pPr>
            <a:r>
              <a:rPr lang="zh-CN" altLang="en-US" sz="2400" dirty="0">
                <a:solidFill>
                  <a:schemeClr val="hlink"/>
                </a:solidFill>
                <a:latin typeface="Arial Black" panose="020B0A04020102020204" pitchFamily="34" charset="0"/>
              </a:rPr>
              <a:t>			</a:t>
            </a:r>
            <a:r>
              <a:rPr lang="en-US" altLang="zh-CN" sz="2400" dirty="0">
                <a:solidFill>
                  <a:schemeClr val="hlink"/>
                </a:solidFill>
                <a:latin typeface="Arial Black" panose="020B0A04020102020204" pitchFamily="34" charset="0"/>
              </a:rPr>
              <a:t>MOV  A</a:t>
            </a:r>
            <a:r>
              <a:rPr lang="zh-CN" altLang="en-US" sz="2400" dirty="0">
                <a:solidFill>
                  <a:schemeClr val="hlink"/>
                </a:solidFill>
                <a:latin typeface="Arial Black" panose="020B0A04020102020204" pitchFamily="34" charset="0"/>
              </a:rPr>
              <a:t>，源操作数</a:t>
            </a:r>
            <a:endParaRPr lang="zh-CN" altLang="en-US" sz="2400" dirty="0">
              <a:solidFill>
                <a:schemeClr val="hlink"/>
              </a:solidFill>
              <a:latin typeface="Arial Black" panose="020B0A04020102020204" pitchFamily="34" charset="0"/>
            </a:endParaRPr>
          </a:p>
          <a:p>
            <a:pPr eaLnBrk="1" hangingPunct="1">
              <a:buNone/>
            </a:pPr>
            <a:endParaRPr lang="zh-CN" altLang="en-US" sz="2400" dirty="0"/>
          </a:p>
          <a:p>
            <a:pPr eaLnBrk="1" hangingPunct="1">
              <a:buNone/>
            </a:pPr>
            <a:r>
              <a:rPr lang="zh-CN" altLang="en-US" sz="2400" dirty="0"/>
              <a:t>		</a:t>
            </a:r>
            <a:r>
              <a:rPr lang="en-US" altLang="zh-CN" sz="2400" dirty="0"/>
              <a:t>MOV    A</a:t>
            </a:r>
            <a:r>
              <a:rPr lang="zh-CN" altLang="en-US" sz="2400" dirty="0"/>
              <a:t>，</a:t>
            </a:r>
            <a:r>
              <a:rPr lang="en-US" altLang="zh-CN" sz="2400" dirty="0"/>
              <a:t>Rn    </a:t>
            </a:r>
            <a:r>
              <a:rPr lang="zh-CN" altLang="en-US" sz="2400" dirty="0"/>
              <a:t>；</a:t>
            </a:r>
            <a:r>
              <a:rPr lang="en-US" altLang="zh-CN" sz="2400" dirty="0"/>
              <a:t>A ←(Rn)</a:t>
            </a:r>
            <a:r>
              <a:rPr lang="zh-CN" altLang="en-US" sz="2400" dirty="0"/>
              <a:t>，</a:t>
            </a:r>
            <a:r>
              <a:rPr lang="en-US" altLang="zh-CN" sz="2400" dirty="0"/>
              <a:t>n</a:t>
            </a:r>
            <a:r>
              <a:rPr lang="zh-CN" altLang="en-US" sz="2400" dirty="0"/>
              <a:t>＝</a:t>
            </a:r>
            <a:r>
              <a:rPr lang="en-US" altLang="zh-CN" sz="2400" dirty="0"/>
              <a:t>0~7 </a:t>
            </a:r>
            <a:endParaRPr lang="en-US" altLang="zh-CN" sz="2400" dirty="0"/>
          </a:p>
          <a:p>
            <a:pPr eaLnBrk="1" hangingPunct="1">
              <a:buNone/>
            </a:pPr>
            <a:r>
              <a:rPr lang="en-US" altLang="zh-CN" sz="2400" dirty="0"/>
              <a:t>		MOV    A</a:t>
            </a:r>
            <a:r>
              <a:rPr lang="zh-CN" altLang="en-US" sz="2400" dirty="0"/>
              <a:t>，</a:t>
            </a:r>
            <a:r>
              <a:rPr lang="en-US" altLang="zh-CN" sz="2400" dirty="0"/>
              <a:t>direct  </a:t>
            </a:r>
            <a:r>
              <a:rPr lang="zh-CN" altLang="en-US" sz="2400" dirty="0"/>
              <a:t>；</a:t>
            </a:r>
            <a:r>
              <a:rPr lang="en-US" altLang="zh-CN" sz="2400" dirty="0"/>
              <a:t> A←(direct)  </a:t>
            </a:r>
            <a:endParaRPr lang="en-US" altLang="zh-CN" sz="2400" dirty="0"/>
          </a:p>
          <a:p>
            <a:pPr eaLnBrk="1" hangingPunct="1">
              <a:buNone/>
            </a:pPr>
            <a:r>
              <a:rPr lang="en-US" altLang="zh-CN" sz="2400" dirty="0"/>
              <a:t>		MOV    A</a:t>
            </a:r>
            <a:r>
              <a:rPr lang="zh-CN" altLang="en-US" sz="2400" dirty="0"/>
              <a:t>，</a:t>
            </a:r>
            <a:r>
              <a:rPr lang="en-US" altLang="zh-CN" sz="2400" dirty="0"/>
              <a:t>@Ri   </a:t>
            </a:r>
            <a:r>
              <a:rPr lang="zh-CN" altLang="en-US" sz="2400" dirty="0"/>
              <a:t>；</a:t>
            </a:r>
            <a:r>
              <a:rPr lang="en-US" altLang="zh-CN" sz="2400" dirty="0"/>
              <a:t> A←((Ri))</a:t>
            </a:r>
            <a:r>
              <a:rPr lang="zh-CN" altLang="en-US" sz="2400" dirty="0"/>
              <a:t>，</a:t>
            </a:r>
            <a:r>
              <a:rPr lang="en-US" altLang="zh-CN" sz="2400" dirty="0"/>
              <a:t>i</a:t>
            </a:r>
            <a:r>
              <a:rPr lang="zh-CN" altLang="en-US" sz="2400" dirty="0"/>
              <a:t>＝</a:t>
            </a:r>
            <a:r>
              <a:rPr lang="en-US" altLang="zh-CN" sz="2400" dirty="0"/>
              <a:t>0, 1 </a:t>
            </a:r>
            <a:endParaRPr lang="en-US" altLang="zh-CN" sz="2400" dirty="0"/>
          </a:p>
          <a:p>
            <a:pPr eaLnBrk="1" hangingPunct="1">
              <a:buNone/>
            </a:pPr>
            <a:r>
              <a:rPr lang="en-US" altLang="zh-CN" sz="2400" dirty="0"/>
              <a:t>		MOV    A</a:t>
            </a:r>
            <a:r>
              <a:rPr lang="zh-CN" altLang="en-US" sz="2400" dirty="0"/>
              <a:t>，</a:t>
            </a:r>
            <a:r>
              <a:rPr lang="en-US" altLang="zh-CN" sz="2400" dirty="0"/>
              <a:t>#data  </a:t>
            </a:r>
            <a:r>
              <a:rPr lang="zh-CN" altLang="en-US" sz="2400" dirty="0"/>
              <a:t>； </a:t>
            </a:r>
            <a:r>
              <a:rPr lang="en-US" altLang="zh-CN" sz="2400" dirty="0"/>
              <a:t>A← data  </a:t>
            </a:r>
            <a:endParaRPr lang="en-US" altLang="zh-CN" sz="2400" dirty="0"/>
          </a:p>
          <a:p>
            <a:pPr eaLnBrk="1" hangingPunct="1">
              <a:buNone/>
            </a:pPr>
            <a:r>
              <a:rPr lang="en-US" altLang="zh-CN" sz="2400" dirty="0"/>
              <a:t>		</a:t>
            </a:r>
            <a:endParaRPr lang="en-US" altLang="zh-CN" sz="2400" dirty="0"/>
          </a:p>
          <a:p>
            <a:pPr eaLnBrk="1" hangingPunct="1">
              <a:buNone/>
            </a:pPr>
            <a:r>
              <a:rPr lang="en-US" altLang="zh-CN" sz="2400" dirty="0"/>
              <a:t>		MOV A,R6 ;A ←(R6)，寄存器寻址</a:t>
            </a:r>
            <a:endParaRPr lang="en-US" altLang="zh-CN" sz="2400" dirty="0"/>
          </a:p>
          <a:p>
            <a:pPr eaLnBrk="1" hangingPunct="1">
              <a:buNone/>
            </a:pPr>
            <a:r>
              <a:rPr lang="en-US" altLang="zh-CN" sz="2400" dirty="0"/>
              <a:t>		MOV A,70H ;</a:t>
            </a:r>
            <a:r>
              <a:rPr lang="en-US" altLang="zh-CN" sz="2400" dirty="0">
                <a:sym typeface="宋体" pitchFamily="2" charset="-122"/>
              </a:rPr>
              <a:t>A ←</a:t>
            </a:r>
            <a:r>
              <a:rPr lang="en-US" altLang="zh-CN" sz="2400" dirty="0"/>
              <a:t>(70H)，直接寻址</a:t>
            </a:r>
            <a:endParaRPr lang="en-US" altLang="zh-CN" sz="2400" dirty="0"/>
          </a:p>
          <a:p>
            <a:pPr eaLnBrk="1" hangingPunct="1">
              <a:buNone/>
            </a:pPr>
            <a:r>
              <a:rPr lang="en-US" altLang="zh-CN" sz="2400" dirty="0"/>
              <a:t>		MOV A,@R0 ;</a:t>
            </a:r>
            <a:r>
              <a:rPr lang="en-US" altLang="zh-CN" sz="2400" dirty="0">
                <a:sym typeface="宋体" pitchFamily="2" charset="-122"/>
              </a:rPr>
              <a:t>A ←</a:t>
            </a:r>
            <a:r>
              <a:rPr lang="en-US" altLang="zh-CN" sz="2400" dirty="0"/>
              <a:t>((R0))，间接寻址</a:t>
            </a:r>
            <a:endParaRPr lang="en-US" altLang="zh-CN" sz="2400" dirty="0"/>
          </a:p>
          <a:p>
            <a:pPr eaLnBrk="1" hangingPunct="1">
              <a:buNone/>
            </a:pPr>
            <a:r>
              <a:rPr lang="en-US" altLang="zh-CN" sz="2400" dirty="0"/>
              <a:t>		MOV A,#78H ;</a:t>
            </a:r>
            <a:r>
              <a:rPr lang="en-US" altLang="zh-CN" sz="2400" dirty="0">
                <a:sym typeface="宋体" pitchFamily="2" charset="-122"/>
              </a:rPr>
              <a:t>A ←</a:t>
            </a:r>
            <a:r>
              <a:rPr lang="en-US" altLang="zh-CN" sz="2400" dirty="0"/>
              <a:t>78H，立即寻址        </a:t>
            </a:r>
            <a:endParaRPr lang="en-US" altLang="zh-CN" sz="2400" dirty="0"/>
          </a:p>
        </p:txBody>
      </p:sp>
      <p:sp>
        <p:nvSpPr>
          <p:cNvPr id="87042" name="Rectangle 2"/>
          <p:cNvSpPr>
            <a:spLocks noChangeArrowheads="1"/>
          </p:cNvSpPr>
          <p:nvPr/>
        </p:nvSpPr>
        <p:spPr bwMode="auto">
          <a:xfrm>
            <a:off x="1104900" y="214313"/>
            <a:ext cx="7872413" cy="609600"/>
          </a:xfrm>
          <a:prstGeom prst="rect">
            <a:avLst/>
          </a:prstGeom>
          <a:noFill/>
          <a:ln>
            <a:noFill/>
          </a:ln>
        </p:spPr>
        <p:txBody>
          <a:bodyPr anchor="ctr"/>
          <a:lstStyle>
            <a:lvl1pPr>
              <a:defRPr sz="3600">
                <a:solidFill>
                  <a:schemeClr val="tx2"/>
                </a:solidFill>
                <a:latin typeface="Times New Roman" panose="02020503050405090304" pitchFamily="18" charset="0"/>
                <a:ea typeface="宋体" pitchFamily="2" charset="-122"/>
              </a:defRPr>
            </a:lvl1pPr>
            <a:lvl2pPr>
              <a:defRPr sz="3600">
                <a:solidFill>
                  <a:schemeClr val="tx2"/>
                </a:solidFill>
                <a:latin typeface="Times New Roman" panose="02020503050405090304" pitchFamily="18" charset="0"/>
                <a:ea typeface="宋体" pitchFamily="2" charset="-122"/>
              </a:defRPr>
            </a:lvl2pPr>
            <a:lvl3pPr>
              <a:defRPr sz="3600">
                <a:solidFill>
                  <a:schemeClr val="tx2"/>
                </a:solidFill>
                <a:latin typeface="Times New Roman" panose="02020503050405090304" pitchFamily="18" charset="0"/>
                <a:ea typeface="宋体" pitchFamily="2" charset="-122"/>
              </a:defRPr>
            </a:lvl3pPr>
            <a:lvl4pPr>
              <a:defRPr sz="3600">
                <a:solidFill>
                  <a:schemeClr val="tx2"/>
                </a:solidFill>
                <a:latin typeface="Times New Roman" panose="02020503050405090304" pitchFamily="18" charset="0"/>
                <a:ea typeface="宋体" pitchFamily="2" charset="-122"/>
              </a:defRPr>
            </a:lvl4pPr>
            <a:lvl5pPr>
              <a:defRPr sz="3600">
                <a:solidFill>
                  <a:schemeClr val="tx2"/>
                </a:solidFill>
                <a:latin typeface="Times New Roman" panose="02020503050405090304" pitchFamily="18" charset="0"/>
                <a:ea typeface="宋体" pitchFamily="2" charset="-122"/>
              </a:defRPr>
            </a:lvl5pPr>
            <a:lvl6pPr marL="45720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fontAlgn="base">
              <a:spcBef>
                <a:spcPct val="0"/>
              </a:spcBef>
              <a:spcAft>
                <a:spcPct val="0"/>
              </a:spcAft>
              <a:defRPr sz="3600">
                <a:solidFill>
                  <a:schemeClr val="tx2"/>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第三章</a:t>
            </a:r>
            <a:r>
              <a:rPr kumimoji="0" lang="zh-CN" altLang="en-US" sz="28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zh-CN" altLang="en-US" sz="24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en-US" altLang="zh-CN"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MCS-51</a:t>
            </a: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指令系统</a:t>
            </a:r>
            <a:endParaRPr kumimoji="0" lang="zh-CN" altLang="en-US" sz="3600" b="0"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Times New Roman" panose="02020503050405090304" pitchFamily="18" charset="0"/>
              <a:ea typeface="宋体" pitchFamily="2" charset="-122"/>
              <a:cs typeface="+mn-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Rectangle 3"/>
          <p:cNvSpPr>
            <a:spLocks noGrp="1"/>
          </p:cNvSpPr>
          <p:nvPr>
            <p:ph idx="1"/>
          </p:nvPr>
        </p:nvSpPr>
        <p:spPr/>
        <p:txBody>
          <a:bodyPr vert="horz" wrap="square" lIns="91440" tIns="45720" rIns="91440" bIns="45720" anchor="t" anchorCtr="0"/>
          <a:p>
            <a:pPr eaLnBrk="1" hangingPunct="1">
              <a:lnSpc>
                <a:spcPct val="90000"/>
              </a:lnSpc>
              <a:buNone/>
            </a:pPr>
            <a:r>
              <a:rPr lang="zh-CN" altLang="en-US" sz="2400" b="1" dirty="0">
                <a:latin typeface="黑体" panose="02010609060101010101" pitchFamily="49" charset="-122"/>
              </a:rPr>
              <a:t>	</a:t>
            </a:r>
            <a:r>
              <a:rPr lang="en-US" altLang="zh-CN" sz="2400" u="sng" dirty="0">
                <a:latin typeface="黑体" panose="02010609060101010101" pitchFamily="49" charset="-122"/>
              </a:rPr>
              <a:t>(</a:t>
            </a:r>
            <a:r>
              <a:rPr lang="en-US" altLang="zh-CN" sz="2400" u="sng" dirty="0">
                <a:solidFill>
                  <a:schemeClr val="tx2"/>
                </a:solidFill>
              </a:rPr>
              <a:t>2) </a:t>
            </a:r>
            <a:r>
              <a:rPr lang="zh-CN" altLang="en-US" sz="2400" u="sng" dirty="0">
                <a:solidFill>
                  <a:schemeClr val="tx2"/>
                </a:solidFill>
              </a:rPr>
              <a:t>以</a:t>
            </a:r>
            <a:r>
              <a:rPr lang="en-US" altLang="zh-CN" sz="2400" u="sng" dirty="0">
                <a:solidFill>
                  <a:schemeClr val="tx2"/>
                </a:solidFill>
              </a:rPr>
              <a:t>Rn</a:t>
            </a:r>
            <a:r>
              <a:rPr lang="zh-CN" altLang="en-US" sz="2400" u="sng" dirty="0">
                <a:solidFill>
                  <a:schemeClr val="tx2"/>
                </a:solidFill>
              </a:rPr>
              <a:t>为目的操作数的传送指令</a:t>
            </a:r>
            <a:r>
              <a:rPr lang="zh-CN" altLang="en-US" sz="2400" u="sng" dirty="0"/>
              <a:t>（</a:t>
            </a:r>
            <a:r>
              <a:rPr lang="en-US" altLang="zh-CN" sz="2400" u="sng" dirty="0"/>
              <a:t>3</a:t>
            </a:r>
            <a:r>
              <a:rPr lang="zh-CN" altLang="en-US" sz="2400" u="sng" dirty="0"/>
              <a:t>条）</a:t>
            </a:r>
            <a:endParaRPr lang="zh-CN" altLang="en-US" sz="2400" u="sng" dirty="0"/>
          </a:p>
          <a:p>
            <a:pPr eaLnBrk="1" hangingPunct="1">
              <a:lnSpc>
                <a:spcPct val="90000"/>
              </a:lnSpc>
              <a:buNone/>
            </a:pPr>
            <a:r>
              <a:rPr lang="zh-CN" altLang="en-US" sz="2400" dirty="0"/>
              <a:t>	     一般 形式：</a:t>
            </a:r>
            <a:endParaRPr lang="zh-CN" altLang="en-US" sz="2400" dirty="0"/>
          </a:p>
          <a:p>
            <a:pPr eaLnBrk="1" hangingPunct="1">
              <a:lnSpc>
                <a:spcPct val="90000"/>
              </a:lnSpc>
              <a:buNone/>
            </a:pPr>
            <a:r>
              <a:rPr lang="zh-CN" altLang="en-US" sz="2400" dirty="0"/>
              <a:t>              </a:t>
            </a:r>
            <a:r>
              <a:rPr lang="en-US" altLang="zh-CN" sz="2400" dirty="0">
                <a:solidFill>
                  <a:schemeClr val="hlink"/>
                </a:solidFill>
                <a:latin typeface="Arial Black" panose="020B0A04020102020204" pitchFamily="34" charset="0"/>
              </a:rPr>
              <a:t>MOV    Rn</a:t>
            </a:r>
            <a:r>
              <a:rPr lang="zh-CN" altLang="en-US" sz="2400" dirty="0">
                <a:solidFill>
                  <a:schemeClr val="hlink"/>
                </a:solidFill>
                <a:latin typeface="Arial Black" panose="020B0A04020102020204" pitchFamily="34" charset="0"/>
              </a:rPr>
              <a:t>，源操作数</a:t>
            </a:r>
            <a:r>
              <a:rPr lang="zh-CN" altLang="en-US" sz="2400" dirty="0"/>
              <a:t> </a:t>
            </a:r>
            <a:endParaRPr lang="zh-CN" altLang="en-US" sz="2400" dirty="0"/>
          </a:p>
          <a:p>
            <a:pPr eaLnBrk="1" hangingPunct="1">
              <a:lnSpc>
                <a:spcPct val="90000"/>
              </a:lnSpc>
              <a:buNone/>
            </a:pPr>
            <a:r>
              <a:rPr lang="zh-CN" altLang="en-US" sz="2400" dirty="0"/>
              <a:t>          </a:t>
            </a:r>
            <a:r>
              <a:rPr lang="en-US" altLang="zh-CN" sz="2400" dirty="0"/>
              <a:t>MOV    Rn </a:t>
            </a:r>
            <a:r>
              <a:rPr lang="zh-CN" altLang="en-US" sz="2400" dirty="0"/>
              <a:t>，</a:t>
            </a:r>
            <a:r>
              <a:rPr lang="en-US" altLang="zh-CN" sz="2400" dirty="0"/>
              <a:t>A      </a:t>
            </a:r>
            <a:r>
              <a:rPr lang="zh-CN" altLang="en-US" sz="2400" dirty="0"/>
              <a:t>；</a:t>
            </a:r>
            <a:r>
              <a:rPr lang="en-US" altLang="zh-CN" sz="2400" dirty="0"/>
              <a:t> Rn←</a:t>
            </a:r>
            <a:r>
              <a:rPr lang="en-US" altLang="zh-CN" sz="2400" dirty="0">
                <a:sym typeface="Wingdings" panose="05000000000000000000" pitchFamily="2" charset="2"/>
              </a:rPr>
              <a:t>(A)</a:t>
            </a:r>
            <a:endParaRPr lang="en-US" altLang="zh-CN" sz="2400" dirty="0"/>
          </a:p>
          <a:p>
            <a:pPr eaLnBrk="1" hangingPunct="1">
              <a:lnSpc>
                <a:spcPct val="90000"/>
              </a:lnSpc>
              <a:buNone/>
            </a:pPr>
            <a:r>
              <a:rPr lang="en-US" altLang="zh-CN" sz="2400" dirty="0"/>
              <a:t>	      MOV    Rn </a:t>
            </a:r>
            <a:r>
              <a:rPr lang="zh-CN" altLang="en-US" sz="2400" dirty="0"/>
              <a:t>，</a:t>
            </a:r>
            <a:r>
              <a:rPr lang="en-US" altLang="zh-CN" sz="2400" dirty="0"/>
              <a:t>(direct) </a:t>
            </a:r>
            <a:r>
              <a:rPr lang="zh-CN" altLang="en-US" sz="2400" dirty="0"/>
              <a:t>；</a:t>
            </a:r>
            <a:r>
              <a:rPr lang="en-US" altLang="zh-CN" sz="2400" dirty="0"/>
              <a:t> Rn ← (direct)</a:t>
            </a:r>
            <a:r>
              <a:rPr lang="en-US" altLang="zh-CN" sz="2400" dirty="0">
                <a:sym typeface="Symbol" pitchFamily="18" charset="2"/>
              </a:rPr>
              <a:t> </a:t>
            </a:r>
            <a:endParaRPr lang="en-US" altLang="zh-CN" sz="2400" dirty="0"/>
          </a:p>
          <a:p>
            <a:pPr eaLnBrk="1" hangingPunct="1">
              <a:lnSpc>
                <a:spcPct val="90000"/>
              </a:lnSpc>
              <a:buNone/>
            </a:pPr>
            <a:r>
              <a:rPr lang="en-US" altLang="zh-CN" sz="2400" dirty="0"/>
              <a:t>	      MOV    Rn </a:t>
            </a:r>
            <a:r>
              <a:rPr lang="zh-CN" altLang="en-US" sz="2400" dirty="0"/>
              <a:t>，</a:t>
            </a:r>
            <a:r>
              <a:rPr lang="en-US" altLang="zh-CN" sz="2400" dirty="0"/>
              <a:t>#data       </a:t>
            </a:r>
            <a:r>
              <a:rPr lang="zh-CN" altLang="en-US" sz="2400" dirty="0"/>
              <a:t>； </a:t>
            </a:r>
            <a:r>
              <a:rPr lang="en-US" altLang="zh-CN" sz="2400" dirty="0"/>
              <a:t>Rn← data</a:t>
            </a:r>
            <a:endParaRPr lang="en-US" altLang="zh-CN" sz="2400" dirty="0"/>
          </a:p>
          <a:p>
            <a:pPr eaLnBrk="1" hangingPunct="1">
              <a:lnSpc>
                <a:spcPct val="90000"/>
              </a:lnSpc>
              <a:buNone/>
            </a:pPr>
            <a:r>
              <a:rPr lang="en-US" altLang="zh-CN" sz="2400" dirty="0"/>
              <a:t>	</a:t>
            </a:r>
            <a:endParaRPr lang="en-US" altLang="zh-CN" sz="2400" dirty="0"/>
          </a:p>
          <a:p>
            <a:pPr eaLnBrk="1" hangingPunct="1">
              <a:lnSpc>
                <a:spcPct val="90000"/>
              </a:lnSpc>
              <a:buNone/>
            </a:pPr>
            <a:r>
              <a:rPr lang="en-US" altLang="zh-CN" sz="2400" dirty="0"/>
              <a:t>    </a:t>
            </a:r>
            <a:r>
              <a:rPr lang="zh-CN" altLang="en-US" sz="2400" dirty="0"/>
              <a:t>如：</a:t>
            </a:r>
            <a:r>
              <a:rPr lang="en-US" altLang="zh-CN" sz="2400" dirty="0"/>
              <a:t>MOV    R0</a:t>
            </a:r>
            <a:r>
              <a:rPr lang="zh-CN" altLang="en-US" sz="2400" dirty="0"/>
              <a:t>，</a:t>
            </a:r>
            <a:r>
              <a:rPr lang="en-US" altLang="zh-CN" sz="2400" dirty="0"/>
              <a:t>A</a:t>
            </a:r>
            <a:endParaRPr lang="en-US" altLang="zh-CN" sz="2400" dirty="0"/>
          </a:p>
          <a:p>
            <a:pPr eaLnBrk="1" hangingPunct="1">
              <a:lnSpc>
                <a:spcPct val="90000"/>
              </a:lnSpc>
              <a:buNone/>
            </a:pPr>
            <a:r>
              <a:rPr lang="en-US" altLang="zh-CN" sz="2400" dirty="0"/>
              <a:t>            MOV    R3</a:t>
            </a:r>
            <a:r>
              <a:rPr lang="zh-CN" altLang="en-US" sz="2400" dirty="0"/>
              <a:t>，</a:t>
            </a:r>
            <a:r>
              <a:rPr lang="en-US" altLang="zh-CN" sz="2400" dirty="0"/>
              <a:t>30H</a:t>
            </a:r>
            <a:endParaRPr lang="en-US" altLang="zh-CN" sz="2400" dirty="0"/>
          </a:p>
          <a:p>
            <a:pPr eaLnBrk="1" hangingPunct="1">
              <a:lnSpc>
                <a:spcPct val="90000"/>
              </a:lnSpc>
              <a:buNone/>
            </a:pPr>
            <a:r>
              <a:rPr lang="en-US" altLang="zh-CN" sz="2400" dirty="0"/>
              <a:t>            MOV    R7</a:t>
            </a:r>
            <a:r>
              <a:rPr lang="zh-CN" altLang="en-US" sz="2400" dirty="0"/>
              <a:t>，</a:t>
            </a:r>
            <a:r>
              <a:rPr lang="en-US" altLang="zh-CN" sz="2400" dirty="0"/>
              <a:t>#36H</a:t>
            </a:r>
            <a:endParaRPr lang="en-US" altLang="zh-CN" sz="2400" dirty="0"/>
          </a:p>
          <a:p>
            <a:pPr eaLnBrk="1" hangingPunct="1">
              <a:lnSpc>
                <a:spcPct val="90000"/>
              </a:lnSpc>
              <a:buNone/>
            </a:pPr>
            <a:r>
              <a:rPr lang="en-US" altLang="zh-CN" sz="2400" dirty="0"/>
              <a:t>            MOV    R1</a:t>
            </a:r>
            <a:r>
              <a:rPr lang="zh-CN" altLang="en-US" sz="2400" dirty="0"/>
              <a:t>，</a:t>
            </a:r>
            <a:r>
              <a:rPr lang="en-US" altLang="zh-CN" sz="2400" dirty="0"/>
              <a:t>#30</a:t>
            </a:r>
            <a:endParaRPr lang="en-US" altLang="zh-CN" sz="2400" dirty="0"/>
          </a:p>
          <a:p>
            <a:pPr eaLnBrk="1" hangingPunct="1">
              <a:lnSpc>
                <a:spcPct val="90000"/>
              </a:lnSpc>
              <a:buNone/>
            </a:pPr>
            <a:r>
              <a:rPr lang="en-US" altLang="zh-CN" sz="2400" dirty="0"/>
              <a:t>            MOV    R6</a:t>
            </a:r>
            <a:r>
              <a:rPr lang="zh-CN" altLang="en-US" sz="2400" dirty="0"/>
              <a:t>，</a:t>
            </a:r>
            <a:r>
              <a:rPr lang="en-US" altLang="zh-CN" sz="2400" dirty="0"/>
              <a:t>#01101100B</a:t>
            </a:r>
            <a:endParaRPr lang="en-US" altLang="zh-CN" sz="2400" dirty="0"/>
          </a:p>
        </p:txBody>
      </p:sp>
      <p:sp>
        <p:nvSpPr>
          <p:cNvPr id="87042" name="Rectangle 2"/>
          <p:cNvSpPr>
            <a:spLocks noChangeArrowheads="1"/>
          </p:cNvSpPr>
          <p:nvPr/>
        </p:nvSpPr>
        <p:spPr bwMode="auto">
          <a:xfrm>
            <a:off x="1104900" y="214313"/>
            <a:ext cx="7872413" cy="609600"/>
          </a:xfrm>
          <a:prstGeom prst="rect">
            <a:avLst/>
          </a:prstGeom>
          <a:noFill/>
          <a:ln>
            <a:noFill/>
          </a:ln>
        </p:spPr>
        <p:txBody>
          <a:bodyPr anchor="ctr"/>
          <a:lstStyle>
            <a:lvl1pPr>
              <a:defRPr sz="3600">
                <a:solidFill>
                  <a:schemeClr val="tx2"/>
                </a:solidFill>
                <a:latin typeface="Times New Roman" panose="02020503050405090304" pitchFamily="18" charset="0"/>
                <a:ea typeface="宋体" pitchFamily="2" charset="-122"/>
              </a:defRPr>
            </a:lvl1pPr>
            <a:lvl2pPr>
              <a:defRPr sz="3600">
                <a:solidFill>
                  <a:schemeClr val="tx2"/>
                </a:solidFill>
                <a:latin typeface="Times New Roman" panose="02020503050405090304" pitchFamily="18" charset="0"/>
                <a:ea typeface="宋体" pitchFamily="2" charset="-122"/>
              </a:defRPr>
            </a:lvl2pPr>
            <a:lvl3pPr>
              <a:defRPr sz="3600">
                <a:solidFill>
                  <a:schemeClr val="tx2"/>
                </a:solidFill>
                <a:latin typeface="Times New Roman" panose="02020503050405090304" pitchFamily="18" charset="0"/>
                <a:ea typeface="宋体" pitchFamily="2" charset="-122"/>
              </a:defRPr>
            </a:lvl3pPr>
            <a:lvl4pPr>
              <a:defRPr sz="3600">
                <a:solidFill>
                  <a:schemeClr val="tx2"/>
                </a:solidFill>
                <a:latin typeface="Times New Roman" panose="02020503050405090304" pitchFamily="18" charset="0"/>
                <a:ea typeface="宋体" pitchFamily="2" charset="-122"/>
              </a:defRPr>
            </a:lvl4pPr>
            <a:lvl5pPr>
              <a:defRPr sz="3600">
                <a:solidFill>
                  <a:schemeClr val="tx2"/>
                </a:solidFill>
                <a:latin typeface="Times New Roman" panose="02020503050405090304" pitchFamily="18" charset="0"/>
                <a:ea typeface="宋体" pitchFamily="2" charset="-122"/>
              </a:defRPr>
            </a:lvl5pPr>
            <a:lvl6pPr marL="45720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fontAlgn="base">
              <a:spcBef>
                <a:spcPct val="0"/>
              </a:spcBef>
              <a:spcAft>
                <a:spcPct val="0"/>
              </a:spcAft>
              <a:defRPr sz="3600">
                <a:solidFill>
                  <a:schemeClr val="tx2"/>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第三章</a:t>
            </a:r>
            <a:r>
              <a:rPr kumimoji="0" lang="zh-CN" altLang="en-US" sz="28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zh-CN" altLang="en-US" sz="24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en-US" altLang="zh-CN"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MCS-51</a:t>
            </a: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指令系统</a:t>
            </a:r>
            <a:endParaRPr kumimoji="0" lang="zh-CN" altLang="en-US" sz="3600" b="0"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Times New Roman" panose="02020503050405090304" pitchFamily="18" charset="0"/>
              <a:ea typeface="宋体" pitchFamily="2" charset="-122"/>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Rectangle 2"/>
          <p:cNvSpPr>
            <a:spLocks noGrp="1"/>
          </p:cNvSpPr>
          <p:nvPr>
            <p:ph idx="1"/>
          </p:nvPr>
        </p:nvSpPr>
        <p:spPr/>
        <p:txBody>
          <a:bodyPr vert="horz" wrap="square" lIns="91440" tIns="45720" rIns="91440" bIns="45720" anchor="t" anchorCtr="0"/>
          <a:p>
            <a:pPr eaLnBrk="1" hangingPunct="1">
              <a:lnSpc>
                <a:spcPct val="90000"/>
              </a:lnSpc>
              <a:buNone/>
            </a:pPr>
            <a:r>
              <a:rPr lang="zh-CN" altLang="en-US" sz="2400" b="1" dirty="0"/>
              <a:t> </a:t>
            </a:r>
            <a:r>
              <a:rPr lang="zh-CN" altLang="en-US" sz="2400" u="sng" dirty="0"/>
              <a:t>（</a:t>
            </a:r>
            <a:r>
              <a:rPr lang="en-US" altLang="zh-CN" sz="2400" u="sng" dirty="0">
                <a:solidFill>
                  <a:schemeClr val="tx2"/>
                </a:solidFill>
              </a:rPr>
              <a:t>3</a:t>
            </a:r>
            <a:r>
              <a:rPr lang="zh-CN" altLang="en-US" sz="2400" u="sng" dirty="0">
                <a:solidFill>
                  <a:schemeClr val="tx2"/>
                </a:solidFill>
              </a:rPr>
              <a:t>） 以直接地址为目的操作数的指令</a:t>
            </a:r>
            <a:r>
              <a:rPr lang="zh-CN" altLang="en-US" sz="2400" u="sng" dirty="0"/>
              <a:t>（</a:t>
            </a:r>
            <a:r>
              <a:rPr lang="en-US" altLang="zh-CN" sz="2400" u="sng" dirty="0"/>
              <a:t>5</a:t>
            </a:r>
            <a:r>
              <a:rPr lang="zh-CN" altLang="en-US" sz="2400" u="sng" dirty="0"/>
              <a:t>条）</a:t>
            </a:r>
            <a:endParaRPr lang="zh-CN" altLang="en-US" sz="2400" u="sng" dirty="0"/>
          </a:p>
          <a:p>
            <a:pPr eaLnBrk="1" hangingPunct="1">
              <a:lnSpc>
                <a:spcPct val="90000"/>
              </a:lnSpc>
              <a:buNone/>
            </a:pPr>
            <a:r>
              <a:rPr lang="zh-CN" altLang="en-US" sz="2400" dirty="0"/>
              <a:t>	一般形式：</a:t>
            </a:r>
            <a:endParaRPr lang="zh-CN" altLang="en-US" sz="2400" dirty="0"/>
          </a:p>
          <a:p>
            <a:pPr eaLnBrk="1" hangingPunct="1">
              <a:lnSpc>
                <a:spcPct val="90000"/>
              </a:lnSpc>
              <a:buNone/>
            </a:pPr>
            <a:r>
              <a:rPr lang="zh-CN" altLang="en-US" sz="2400" dirty="0"/>
              <a:t>			</a:t>
            </a:r>
            <a:r>
              <a:rPr lang="en-US" altLang="zh-CN" sz="2400" dirty="0">
                <a:solidFill>
                  <a:schemeClr val="hlink"/>
                </a:solidFill>
                <a:latin typeface="Arial Black" panose="020B0A04020102020204" pitchFamily="34" charset="0"/>
              </a:rPr>
              <a:t>MOV  direct</a:t>
            </a:r>
            <a:r>
              <a:rPr lang="zh-CN" altLang="en-US" sz="2400" dirty="0">
                <a:solidFill>
                  <a:schemeClr val="hlink"/>
                </a:solidFill>
                <a:latin typeface="Arial Black" panose="020B0A04020102020204" pitchFamily="34" charset="0"/>
              </a:rPr>
              <a:t>，源操作数</a:t>
            </a:r>
            <a:r>
              <a:rPr lang="zh-CN" altLang="en-US" sz="2400" dirty="0"/>
              <a:t> </a:t>
            </a:r>
            <a:endParaRPr lang="zh-CN" altLang="en-US" sz="2400" dirty="0"/>
          </a:p>
          <a:p>
            <a:pPr eaLnBrk="1" hangingPunct="1">
              <a:lnSpc>
                <a:spcPct val="90000"/>
              </a:lnSpc>
              <a:buNone/>
            </a:pPr>
            <a:r>
              <a:rPr lang="zh-CN" altLang="en-US" sz="2400" dirty="0"/>
              <a:t>    </a:t>
            </a:r>
            <a:r>
              <a:rPr lang="en-US" altLang="zh-CN" sz="2400" dirty="0"/>
              <a:t>MOV    direct</a:t>
            </a:r>
            <a:r>
              <a:rPr lang="zh-CN" altLang="en-US" sz="2400" dirty="0"/>
              <a:t>，</a:t>
            </a:r>
            <a:r>
              <a:rPr lang="en-US" altLang="zh-CN" sz="2400" dirty="0"/>
              <a:t>A           </a:t>
            </a:r>
            <a:r>
              <a:rPr lang="zh-CN" altLang="en-US" sz="2400" dirty="0"/>
              <a:t>；</a:t>
            </a:r>
            <a:r>
              <a:rPr lang="en-US" altLang="zh-CN" sz="2400" dirty="0"/>
              <a:t>  direct ← (A)</a:t>
            </a:r>
            <a:endParaRPr lang="en-US" altLang="zh-CN" sz="2400" dirty="0"/>
          </a:p>
          <a:p>
            <a:pPr eaLnBrk="1" hangingPunct="1">
              <a:lnSpc>
                <a:spcPct val="90000"/>
              </a:lnSpc>
              <a:buNone/>
            </a:pPr>
            <a:r>
              <a:rPr lang="en-US" altLang="zh-CN" sz="2400" dirty="0"/>
              <a:t>	MOV    direct</a:t>
            </a:r>
            <a:r>
              <a:rPr lang="zh-CN" altLang="en-US" sz="2400" dirty="0"/>
              <a:t>，</a:t>
            </a:r>
            <a:r>
              <a:rPr lang="en-US" altLang="zh-CN" sz="2400" dirty="0"/>
              <a:t>Rn          </a:t>
            </a:r>
            <a:r>
              <a:rPr lang="zh-CN" altLang="en-US" sz="2400" dirty="0"/>
              <a:t>；</a:t>
            </a:r>
            <a:r>
              <a:rPr lang="en-US" altLang="zh-CN" sz="2400" dirty="0"/>
              <a:t> direct ← (Rn)</a:t>
            </a:r>
            <a:endParaRPr lang="en-US" altLang="zh-CN" sz="2400" dirty="0"/>
          </a:p>
          <a:p>
            <a:pPr eaLnBrk="1" hangingPunct="1">
              <a:lnSpc>
                <a:spcPct val="90000"/>
              </a:lnSpc>
              <a:buNone/>
            </a:pPr>
            <a:r>
              <a:rPr lang="en-US" altLang="zh-CN" sz="2400" dirty="0"/>
              <a:t>	MOV    direct1</a:t>
            </a:r>
            <a:r>
              <a:rPr lang="zh-CN" altLang="en-US" sz="2400" dirty="0"/>
              <a:t>，</a:t>
            </a:r>
            <a:r>
              <a:rPr lang="en-US" altLang="zh-CN" sz="2400" dirty="0"/>
              <a:t>direct2</a:t>
            </a:r>
            <a:r>
              <a:rPr lang="zh-CN" altLang="en-US" sz="2400" dirty="0"/>
              <a:t>；</a:t>
            </a:r>
            <a:r>
              <a:rPr lang="en-US" altLang="zh-CN" sz="2400" dirty="0"/>
              <a:t>  direct1 ← (direct2)</a:t>
            </a:r>
            <a:endParaRPr lang="en-US" altLang="zh-CN" sz="2400" dirty="0"/>
          </a:p>
          <a:p>
            <a:pPr eaLnBrk="1" hangingPunct="1">
              <a:lnSpc>
                <a:spcPct val="90000"/>
              </a:lnSpc>
              <a:buNone/>
            </a:pPr>
            <a:r>
              <a:rPr lang="en-US" altLang="zh-CN" sz="2400" dirty="0"/>
              <a:t>	MOV    direct</a:t>
            </a:r>
            <a:r>
              <a:rPr lang="zh-CN" altLang="en-US" sz="2400" dirty="0"/>
              <a:t>，</a:t>
            </a:r>
            <a:r>
              <a:rPr lang="en-US" altLang="zh-CN" sz="2400" dirty="0"/>
              <a:t>@Ri     </a:t>
            </a:r>
            <a:r>
              <a:rPr lang="zh-CN" altLang="en-US" sz="2400" dirty="0"/>
              <a:t>；  </a:t>
            </a:r>
            <a:r>
              <a:rPr lang="en-US" altLang="zh-CN" sz="2400" dirty="0"/>
              <a:t> direct ← ((Ri))</a:t>
            </a:r>
            <a:endParaRPr lang="en-US" altLang="zh-CN" sz="2400" dirty="0"/>
          </a:p>
          <a:p>
            <a:pPr eaLnBrk="1" hangingPunct="1">
              <a:lnSpc>
                <a:spcPct val="90000"/>
              </a:lnSpc>
              <a:buNone/>
            </a:pPr>
            <a:r>
              <a:rPr lang="en-US" altLang="zh-CN" sz="2400" dirty="0"/>
              <a:t>	MOV    direct</a:t>
            </a:r>
            <a:r>
              <a:rPr lang="zh-CN" altLang="en-US" sz="2400" dirty="0"/>
              <a:t>，</a:t>
            </a:r>
            <a:r>
              <a:rPr lang="en-US" altLang="zh-CN" sz="2400" dirty="0"/>
              <a:t>#data      </a:t>
            </a:r>
            <a:r>
              <a:rPr lang="zh-CN" altLang="en-US" sz="2400" dirty="0"/>
              <a:t>；</a:t>
            </a:r>
            <a:r>
              <a:rPr lang="en-US" altLang="zh-CN" sz="2400" dirty="0"/>
              <a:t> direct ← data</a:t>
            </a:r>
            <a:endParaRPr lang="en-US" altLang="zh-CN" sz="2400" dirty="0"/>
          </a:p>
          <a:p>
            <a:pPr eaLnBrk="1" hangingPunct="1">
              <a:lnSpc>
                <a:spcPct val="90000"/>
              </a:lnSpc>
              <a:buNone/>
            </a:pPr>
            <a:r>
              <a:rPr lang="en-US" altLang="zh-CN" sz="2400" dirty="0"/>
              <a:t>	  </a:t>
            </a:r>
            <a:endParaRPr lang="en-US" altLang="zh-CN" sz="2400" dirty="0"/>
          </a:p>
          <a:p>
            <a:pPr eaLnBrk="1" hangingPunct="1">
              <a:lnSpc>
                <a:spcPct val="90000"/>
              </a:lnSpc>
              <a:buNone/>
            </a:pPr>
            <a:r>
              <a:rPr lang="en-US" altLang="zh-CN" sz="2400" dirty="0"/>
              <a:t>    </a:t>
            </a:r>
            <a:r>
              <a:rPr lang="zh-CN" altLang="en-US" sz="2400" dirty="0"/>
              <a:t>如：</a:t>
            </a:r>
            <a:r>
              <a:rPr lang="en-US" altLang="zh-CN" sz="2400" dirty="0"/>
              <a:t>MOV    30H</a:t>
            </a:r>
            <a:r>
              <a:rPr lang="zh-CN" altLang="en-US" sz="2400" dirty="0"/>
              <a:t>，</a:t>
            </a:r>
            <a:r>
              <a:rPr lang="en-US" altLang="zh-CN" sz="2400" dirty="0"/>
              <a:t>A</a:t>
            </a:r>
            <a:endParaRPr lang="en-US" altLang="zh-CN" sz="2400" dirty="0"/>
          </a:p>
          <a:p>
            <a:pPr eaLnBrk="1" hangingPunct="1">
              <a:lnSpc>
                <a:spcPct val="90000"/>
              </a:lnSpc>
              <a:buNone/>
            </a:pPr>
            <a:r>
              <a:rPr lang="en-US" altLang="zh-CN" sz="2400" dirty="0"/>
              <a:t>            MOV    P1</a:t>
            </a:r>
            <a:r>
              <a:rPr lang="zh-CN" altLang="en-US" sz="2400" dirty="0"/>
              <a:t>，</a:t>
            </a:r>
            <a:r>
              <a:rPr lang="en-US" altLang="zh-CN" sz="2400" dirty="0"/>
              <a:t>R2</a:t>
            </a:r>
            <a:endParaRPr lang="en-US" altLang="zh-CN" sz="2400" dirty="0"/>
          </a:p>
          <a:p>
            <a:pPr eaLnBrk="1" hangingPunct="1">
              <a:lnSpc>
                <a:spcPct val="90000"/>
              </a:lnSpc>
              <a:buNone/>
            </a:pPr>
            <a:r>
              <a:rPr lang="en-US" altLang="zh-CN" sz="2400" dirty="0"/>
              <a:t>            MOV    38H</a:t>
            </a:r>
            <a:r>
              <a:rPr lang="zh-CN" altLang="en-US" sz="2400" dirty="0"/>
              <a:t>，</a:t>
            </a:r>
            <a:r>
              <a:rPr lang="en-US" altLang="zh-CN" sz="2400" dirty="0"/>
              <a:t>60H</a:t>
            </a:r>
            <a:endParaRPr lang="en-US" altLang="zh-CN" sz="2400" dirty="0"/>
          </a:p>
          <a:p>
            <a:pPr eaLnBrk="1" hangingPunct="1">
              <a:lnSpc>
                <a:spcPct val="90000"/>
              </a:lnSpc>
              <a:buNone/>
            </a:pPr>
            <a:r>
              <a:rPr lang="en-US" altLang="zh-CN" sz="2400" dirty="0"/>
              <a:t>            MOV    TL0</a:t>
            </a:r>
            <a:r>
              <a:rPr lang="zh-CN" altLang="en-US" sz="2400" dirty="0"/>
              <a:t>，</a:t>
            </a:r>
            <a:r>
              <a:rPr lang="en-US" altLang="zh-CN" sz="2400" dirty="0"/>
              <a:t>@R1</a:t>
            </a:r>
            <a:endParaRPr lang="en-US" altLang="zh-CN" sz="2400" dirty="0"/>
          </a:p>
          <a:p>
            <a:pPr eaLnBrk="1" hangingPunct="1">
              <a:lnSpc>
                <a:spcPct val="90000"/>
              </a:lnSpc>
              <a:buNone/>
            </a:pPr>
            <a:r>
              <a:rPr lang="en-US" altLang="zh-CN" sz="2400" dirty="0"/>
              <a:t>            MOV    58H</a:t>
            </a:r>
            <a:r>
              <a:rPr lang="zh-CN" altLang="en-US" sz="2400" dirty="0"/>
              <a:t>，</a:t>
            </a:r>
            <a:r>
              <a:rPr lang="en-US" altLang="zh-CN" sz="2400" dirty="0"/>
              <a:t>#36H</a:t>
            </a:r>
            <a:endParaRPr lang="en-US" altLang="zh-CN" sz="2400" dirty="0"/>
          </a:p>
        </p:txBody>
      </p:sp>
      <p:sp>
        <p:nvSpPr>
          <p:cNvPr id="87042" name="Rectangle 2"/>
          <p:cNvSpPr>
            <a:spLocks noChangeArrowheads="1"/>
          </p:cNvSpPr>
          <p:nvPr/>
        </p:nvSpPr>
        <p:spPr bwMode="auto">
          <a:xfrm>
            <a:off x="1104900" y="214313"/>
            <a:ext cx="7872413" cy="609600"/>
          </a:xfrm>
          <a:prstGeom prst="rect">
            <a:avLst/>
          </a:prstGeom>
          <a:noFill/>
          <a:ln>
            <a:noFill/>
          </a:ln>
        </p:spPr>
        <p:txBody>
          <a:bodyPr anchor="ctr"/>
          <a:lstStyle>
            <a:lvl1pPr>
              <a:defRPr sz="3600">
                <a:solidFill>
                  <a:schemeClr val="tx2"/>
                </a:solidFill>
                <a:latin typeface="Times New Roman" panose="02020503050405090304" pitchFamily="18" charset="0"/>
                <a:ea typeface="宋体" pitchFamily="2" charset="-122"/>
              </a:defRPr>
            </a:lvl1pPr>
            <a:lvl2pPr>
              <a:defRPr sz="3600">
                <a:solidFill>
                  <a:schemeClr val="tx2"/>
                </a:solidFill>
                <a:latin typeface="Times New Roman" panose="02020503050405090304" pitchFamily="18" charset="0"/>
                <a:ea typeface="宋体" pitchFamily="2" charset="-122"/>
              </a:defRPr>
            </a:lvl2pPr>
            <a:lvl3pPr>
              <a:defRPr sz="3600">
                <a:solidFill>
                  <a:schemeClr val="tx2"/>
                </a:solidFill>
                <a:latin typeface="Times New Roman" panose="02020503050405090304" pitchFamily="18" charset="0"/>
                <a:ea typeface="宋体" pitchFamily="2" charset="-122"/>
              </a:defRPr>
            </a:lvl3pPr>
            <a:lvl4pPr>
              <a:defRPr sz="3600">
                <a:solidFill>
                  <a:schemeClr val="tx2"/>
                </a:solidFill>
                <a:latin typeface="Times New Roman" panose="02020503050405090304" pitchFamily="18" charset="0"/>
                <a:ea typeface="宋体" pitchFamily="2" charset="-122"/>
              </a:defRPr>
            </a:lvl4pPr>
            <a:lvl5pPr>
              <a:defRPr sz="3600">
                <a:solidFill>
                  <a:schemeClr val="tx2"/>
                </a:solidFill>
                <a:latin typeface="Times New Roman" panose="02020503050405090304" pitchFamily="18" charset="0"/>
                <a:ea typeface="宋体" pitchFamily="2" charset="-122"/>
              </a:defRPr>
            </a:lvl5pPr>
            <a:lvl6pPr marL="45720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fontAlgn="base">
              <a:spcBef>
                <a:spcPct val="0"/>
              </a:spcBef>
              <a:spcAft>
                <a:spcPct val="0"/>
              </a:spcAft>
              <a:defRPr sz="3600">
                <a:solidFill>
                  <a:schemeClr val="tx2"/>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第三章</a:t>
            </a:r>
            <a:r>
              <a:rPr kumimoji="0" lang="zh-CN" altLang="en-US" sz="28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zh-CN" altLang="en-US" sz="24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en-US" altLang="zh-CN"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MCS-51</a:t>
            </a: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指令系统</a:t>
            </a:r>
            <a:endParaRPr kumimoji="0" lang="zh-CN" altLang="en-US" sz="3600" b="0"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Times New Roman" panose="02020503050405090304" pitchFamily="18" charset="0"/>
              <a:ea typeface="宋体" pitchFamily="2" charset="-122"/>
              <a:cs typeface="+mn-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Rectangle 3"/>
          <p:cNvSpPr>
            <a:spLocks noGrp="1"/>
          </p:cNvSpPr>
          <p:nvPr>
            <p:ph idx="1"/>
          </p:nvPr>
        </p:nvSpPr>
        <p:spPr/>
        <p:txBody>
          <a:bodyPr vert="horz" wrap="square" lIns="91440" tIns="45720" rIns="91440" bIns="45720" anchor="t" anchorCtr="0"/>
          <a:p>
            <a:pPr eaLnBrk="1" hangingPunct="1">
              <a:buNone/>
            </a:pPr>
            <a:r>
              <a:rPr lang="zh-CN" altLang="en-US" sz="2400" b="1" u="sng" dirty="0">
                <a:solidFill>
                  <a:schemeClr val="tx2"/>
                </a:solidFill>
              </a:rPr>
              <a:t>（</a:t>
            </a:r>
            <a:r>
              <a:rPr lang="en-US" altLang="zh-CN" sz="2400" b="1" u="sng" dirty="0">
                <a:solidFill>
                  <a:schemeClr val="tx2"/>
                </a:solidFill>
              </a:rPr>
              <a:t>4</a:t>
            </a:r>
            <a:r>
              <a:rPr lang="zh-CN" altLang="en-US" sz="2400" b="1" u="sng" dirty="0">
                <a:solidFill>
                  <a:schemeClr val="tx2"/>
                </a:solidFill>
              </a:rPr>
              <a:t>）以间接地址为目的操作数的指令</a:t>
            </a:r>
            <a:r>
              <a:rPr lang="zh-CN" altLang="en-US" sz="2400" b="1" u="sng" dirty="0"/>
              <a:t>（</a:t>
            </a:r>
            <a:r>
              <a:rPr lang="en-US" altLang="zh-CN" sz="2400" b="1" u="sng" dirty="0"/>
              <a:t>3</a:t>
            </a:r>
            <a:r>
              <a:rPr lang="zh-CN" altLang="en-US" sz="2400" b="1" u="sng" dirty="0"/>
              <a:t>条）</a:t>
            </a:r>
            <a:endParaRPr lang="zh-CN" altLang="en-US" sz="2400" b="1" u="sng" dirty="0"/>
          </a:p>
          <a:p>
            <a:pPr eaLnBrk="1" hangingPunct="1">
              <a:buNone/>
            </a:pPr>
            <a:r>
              <a:rPr lang="zh-CN" altLang="en-US" sz="2400" dirty="0"/>
              <a:t>    一般形式：</a:t>
            </a:r>
            <a:endParaRPr lang="zh-CN" altLang="en-US" sz="2400" dirty="0"/>
          </a:p>
          <a:p>
            <a:pPr eaLnBrk="1" hangingPunct="1">
              <a:buNone/>
            </a:pPr>
            <a:r>
              <a:rPr lang="zh-CN" altLang="en-US" sz="2400" dirty="0">
                <a:solidFill>
                  <a:schemeClr val="hlink"/>
                </a:solidFill>
                <a:latin typeface="Arial Black" panose="020B0A04020102020204" pitchFamily="34" charset="0"/>
              </a:rPr>
              <a:t>		</a:t>
            </a:r>
            <a:r>
              <a:rPr lang="en-US" altLang="zh-CN" sz="2400" dirty="0">
                <a:solidFill>
                  <a:schemeClr val="hlink"/>
                </a:solidFill>
                <a:latin typeface="Arial Black" panose="020B0A04020102020204" pitchFamily="34" charset="0"/>
              </a:rPr>
              <a:t>MOV  @Ri</a:t>
            </a:r>
            <a:r>
              <a:rPr lang="zh-CN" altLang="en-US" sz="2400" dirty="0">
                <a:solidFill>
                  <a:schemeClr val="hlink"/>
                </a:solidFill>
                <a:latin typeface="Arial Black" panose="020B0A04020102020204" pitchFamily="34" charset="0"/>
              </a:rPr>
              <a:t>，源操作数</a:t>
            </a:r>
            <a:r>
              <a:rPr lang="zh-CN" altLang="en-US" sz="2400" dirty="0"/>
              <a:t> </a:t>
            </a:r>
            <a:endParaRPr lang="zh-CN" altLang="en-US" sz="2400" dirty="0"/>
          </a:p>
          <a:p>
            <a:pPr eaLnBrk="1" hangingPunct="1">
              <a:buNone/>
            </a:pPr>
            <a:r>
              <a:rPr lang="zh-CN" altLang="en-US" sz="2400" dirty="0"/>
              <a:t>        </a:t>
            </a:r>
            <a:r>
              <a:rPr lang="en-US" altLang="zh-CN" sz="2400" dirty="0"/>
              <a:t>MOV    @Ri</a:t>
            </a:r>
            <a:r>
              <a:rPr lang="zh-CN" altLang="en-US" sz="2400" dirty="0"/>
              <a:t>，</a:t>
            </a:r>
            <a:r>
              <a:rPr lang="en-US" altLang="zh-CN" sz="2400" dirty="0"/>
              <a:t>A           </a:t>
            </a:r>
            <a:r>
              <a:rPr lang="zh-CN" altLang="en-US" sz="2400" dirty="0"/>
              <a:t>；</a:t>
            </a:r>
            <a:r>
              <a:rPr lang="en-US" altLang="zh-CN" sz="2400" dirty="0"/>
              <a:t> (Ri) ← (A)</a:t>
            </a:r>
            <a:endParaRPr lang="en-US" altLang="zh-CN" sz="2400" dirty="0"/>
          </a:p>
          <a:p>
            <a:pPr eaLnBrk="1" hangingPunct="1">
              <a:buNone/>
            </a:pPr>
            <a:r>
              <a:rPr lang="en-US" altLang="zh-CN" sz="2400" dirty="0"/>
              <a:t>	    MOV    @Ri</a:t>
            </a:r>
            <a:r>
              <a:rPr lang="zh-CN" altLang="en-US" sz="2400" dirty="0"/>
              <a:t>，</a:t>
            </a:r>
            <a:r>
              <a:rPr lang="en-US" altLang="zh-CN" sz="2400" dirty="0"/>
              <a:t>direct     </a:t>
            </a:r>
            <a:r>
              <a:rPr lang="zh-CN" altLang="en-US" sz="2400" dirty="0"/>
              <a:t>；</a:t>
            </a:r>
            <a:r>
              <a:rPr lang="en-US" altLang="zh-CN" sz="2400" dirty="0"/>
              <a:t> (Ri) ←(direct)</a:t>
            </a:r>
            <a:endParaRPr lang="en-US" altLang="zh-CN" sz="2400" dirty="0"/>
          </a:p>
          <a:p>
            <a:pPr eaLnBrk="1" hangingPunct="1">
              <a:buNone/>
            </a:pPr>
            <a:r>
              <a:rPr lang="en-US" altLang="zh-CN" sz="2400" dirty="0"/>
              <a:t>	    MOV    @Ri</a:t>
            </a:r>
            <a:r>
              <a:rPr lang="zh-CN" altLang="en-US" sz="2400" dirty="0"/>
              <a:t>，</a:t>
            </a:r>
            <a:r>
              <a:rPr lang="en-US" altLang="zh-CN" sz="2400" dirty="0"/>
              <a:t>#data      </a:t>
            </a:r>
            <a:r>
              <a:rPr lang="zh-CN" altLang="en-US" sz="2400" dirty="0"/>
              <a:t>；</a:t>
            </a:r>
            <a:r>
              <a:rPr lang="en-US" altLang="zh-CN" sz="2400" dirty="0"/>
              <a:t> (Ri) ← data </a:t>
            </a:r>
            <a:endParaRPr lang="en-US" altLang="zh-CN" sz="2400" dirty="0"/>
          </a:p>
          <a:p>
            <a:pPr eaLnBrk="1" hangingPunct="1">
              <a:buNone/>
            </a:pPr>
            <a:endParaRPr lang="en-US" altLang="zh-CN" sz="2400" dirty="0"/>
          </a:p>
          <a:p>
            <a:pPr eaLnBrk="1" hangingPunct="1">
              <a:buNone/>
            </a:pPr>
            <a:r>
              <a:rPr lang="en-US" altLang="zh-CN" sz="2400" dirty="0"/>
              <a:t>	  </a:t>
            </a:r>
            <a:r>
              <a:rPr lang="zh-CN" altLang="en-US" sz="2400" dirty="0"/>
              <a:t>如：</a:t>
            </a:r>
            <a:r>
              <a:rPr lang="en-US" altLang="zh-CN" sz="2400" dirty="0"/>
              <a:t>MOV    @R0</a:t>
            </a:r>
            <a:r>
              <a:rPr lang="zh-CN" altLang="en-US" sz="2400" dirty="0"/>
              <a:t>，</a:t>
            </a:r>
            <a:r>
              <a:rPr lang="en-US" altLang="zh-CN" sz="2400" dirty="0"/>
              <a:t>A</a:t>
            </a:r>
            <a:endParaRPr lang="en-US" altLang="zh-CN" sz="2400" dirty="0"/>
          </a:p>
          <a:p>
            <a:pPr eaLnBrk="1" hangingPunct="1">
              <a:buNone/>
            </a:pPr>
            <a:r>
              <a:rPr lang="en-US" altLang="zh-CN" sz="2400" dirty="0"/>
              <a:t>              MOV    @R1</a:t>
            </a:r>
            <a:r>
              <a:rPr lang="zh-CN" altLang="en-US" sz="2400" dirty="0"/>
              <a:t>，</a:t>
            </a:r>
            <a:r>
              <a:rPr lang="en-US" altLang="zh-CN" sz="2400" dirty="0"/>
              <a:t>36H</a:t>
            </a:r>
            <a:endParaRPr lang="en-US" altLang="zh-CN" sz="2400" dirty="0"/>
          </a:p>
          <a:p>
            <a:pPr eaLnBrk="1" hangingPunct="1">
              <a:buNone/>
            </a:pPr>
            <a:r>
              <a:rPr lang="en-US" altLang="zh-CN" sz="2400" dirty="0"/>
              <a:t>              MOV    @R0</a:t>
            </a:r>
            <a:r>
              <a:rPr lang="zh-CN" altLang="en-US" sz="2400" dirty="0"/>
              <a:t>，</a:t>
            </a:r>
            <a:r>
              <a:rPr lang="en-US" altLang="zh-CN" sz="2400" dirty="0"/>
              <a:t>SBUF</a:t>
            </a:r>
            <a:endParaRPr lang="en-US" altLang="zh-CN" sz="2400" dirty="0"/>
          </a:p>
          <a:p>
            <a:pPr eaLnBrk="1" hangingPunct="1">
              <a:buNone/>
            </a:pPr>
            <a:r>
              <a:rPr lang="en-US" altLang="zh-CN" sz="2400" dirty="0"/>
              <a:t>              MOV    @R1</a:t>
            </a:r>
            <a:r>
              <a:rPr lang="zh-CN" altLang="en-US" sz="2400" dirty="0"/>
              <a:t>，</a:t>
            </a:r>
            <a:r>
              <a:rPr lang="en-US" altLang="zh-CN" sz="2400" dirty="0"/>
              <a:t>#48</a:t>
            </a:r>
            <a:endParaRPr lang="en-US" altLang="zh-CN" sz="2400" dirty="0"/>
          </a:p>
          <a:p>
            <a:pPr eaLnBrk="1" hangingPunct="1">
              <a:buNone/>
            </a:pPr>
            <a:r>
              <a:rPr lang="en-US" altLang="zh-CN" sz="2400" dirty="0"/>
              <a:t>              MOV    @R0</a:t>
            </a:r>
            <a:r>
              <a:rPr lang="zh-CN" altLang="en-US" sz="2400" dirty="0"/>
              <a:t>，</a:t>
            </a:r>
            <a:r>
              <a:rPr lang="en-US" altLang="zh-CN" sz="2400" dirty="0"/>
              <a:t>#0D6H</a:t>
            </a:r>
            <a:endParaRPr lang="en-US" altLang="zh-CN" sz="2400" dirty="0"/>
          </a:p>
        </p:txBody>
      </p:sp>
      <p:sp>
        <p:nvSpPr>
          <p:cNvPr id="87042" name="Rectangle 2"/>
          <p:cNvSpPr>
            <a:spLocks noChangeArrowheads="1"/>
          </p:cNvSpPr>
          <p:nvPr/>
        </p:nvSpPr>
        <p:spPr bwMode="auto">
          <a:xfrm>
            <a:off x="1104900" y="214313"/>
            <a:ext cx="7872413" cy="609600"/>
          </a:xfrm>
          <a:prstGeom prst="rect">
            <a:avLst/>
          </a:prstGeom>
          <a:noFill/>
          <a:ln>
            <a:noFill/>
          </a:ln>
        </p:spPr>
        <p:txBody>
          <a:bodyPr anchor="ctr"/>
          <a:lstStyle>
            <a:lvl1pPr>
              <a:defRPr sz="3600">
                <a:solidFill>
                  <a:schemeClr val="tx2"/>
                </a:solidFill>
                <a:latin typeface="Times New Roman" panose="02020503050405090304" pitchFamily="18" charset="0"/>
                <a:ea typeface="宋体" pitchFamily="2" charset="-122"/>
              </a:defRPr>
            </a:lvl1pPr>
            <a:lvl2pPr>
              <a:defRPr sz="3600">
                <a:solidFill>
                  <a:schemeClr val="tx2"/>
                </a:solidFill>
                <a:latin typeface="Times New Roman" panose="02020503050405090304" pitchFamily="18" charset="0"/>
                <a:ea typeface="宋体" pitchFamily="2" charset="-122"/>
              </a:defRPr>
            </a:lvl2pPr>
            <a:lvl3pPr>
              <a:defRPr sz="3600">
                <a:solidFill>
                  <a:schemeClr val="tx2"/>
                </a:solidFill>
                <a:latin typeface="Times New Roman" panose="02020503050405090304" pitchFamily="18" charset="0"/>
                <a:ea typeface="宋体" pitchFamily="2" charset="-122"/>
              </a:defRPr>
            </a:lvl3pPr>
            <a:lvl4pPr>
              <a:defRPr sz="3600">
                <a:solidFill>
                  <a:schemeClr val="tx2"/>
                </a:solidFill>
                <a:latin typeface="Times New Roman" panose="02020503050405090304" pitchFamily="18" charset="0"/>
                <a:ea typeface="宋体" pitchFamily="2" charset="-122"/>
              </a:defRPr>
            </a:lvl4pPr>
            <a:lvl5pPr>
              <a:defRPr sz="3600">
                <a:solidFill>
                  <a:schemeClr val="tx2"/>
                </a:solidFill>
                <a:latin typeface="Times New Roman" panose="02020503050405090304" pitchFamily="18" charset="0"/>
                <a:ea typeface="宋体" pitchFamily="2" charset="-122"/>
              </a:defRPr>
            </a:lvl5pPr>
            <a:lvl6pPr marL="45720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fontAlgn="base">
              <a:spcBef>
                <a:spcPct val="0"/>
              </a:spcBef>
              <a:spcAft>
                <a:spcPct val="0"/>
              </a:spcAft>
              <a:defRPr sz="3600">
                <a:solidFill>
                  <a:schemeClr val="tx2"/>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第三章</a:t>
            </a:r>
            <a:r>
              <a:rPr kumimoji="0" lang="zh-CN" altLang="en-US" sz="28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zh-CN" altLang="en-US" sz="24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en-US" altLang="zh-CN"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MCS-51</a:t>
            </a: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指令系统</a:t>
            </a:r>
            <a:endParaRPr kumimoji="0" lang="zh-CN" altLang="en-US" sz="3600" b="0"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Times New Roman" panose="02020503050405090304" pitchFamily="18" charset="0"/>
              <a:ea typeface="宋体" pitchFamily="2" charset="-122"/>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3" name="Rectangle 3"/>
          <p:cNvSpPr>
            <a:spLocks noGrp="1"/>
          </p:cNvSpPr>
          <p:nvPr>
            <p:ph idx="1"/>
          </p:nvPr>
        </p:nvSpPr>
        <p:spPr>
          <a:xfrm>
            <a:off x="836613" y="1042988"/>
            <a:ext cx="7807325" cy="2314575"/>
          </a:xfrm>
        </p:spPr>
        <p:txBody>
          <a:bodyPr vert="horz" wrap="square" lIns="91440" tIns="45720" rIns="91440" bIns="45720" anchor="t" anchorCtr="0"/>
          <a:p>
            <a:pPr eaLnBrk="1" hangingPunct="1">
              <a:buNone/>
            </a:pPr>
            <a:r>
              <a:rPr lang="zh-CN" altLang="en-US" sz="2400" dirty="0"/>
              <a:t>例</a:t>
            </a:r>
            <a:r>
              <a:rPr lang="en-US" altLang="zh-CN" sz="2400" dirty="0"/>
              <a:t>1</a:t>
            </a:r>
            <a:r>
              <a:rPr lang="zh-CN" altLang="en-US" sz="2400" dirty="0"/>
              <a:t>：已知</a:t>
            </a:r>
            <a:r>
              <a:rPr lang="en-US" altLang="zh-CN" sz="2400" dirty="0"/>
              <a:t> (A)</a:t>
            </a:r>
            <a:r>
              <a:rPr lang="zh-CN" altLang="en-US" sz="2400" dirty="0"/>
              <a:t>＝</a:t>
            </a:r>
            <a:r>
              <a:rPr lang="en-US" altLang="zh-CN" sz="2400" dirty="0"/>
              <a:t>11H</a:t>
            </a:r>
            <a:r>
              <a:rPr lang="zh-CN" altLang="en-US" sz="2400" dirty="0"/>
              <a:t>，</a:t>
            </a:r>
            <a:r>
              <a:rPr lang="en-US" altLang="zh-CN" sz="2400" dirty="0"/>
              <a:t>(20H) </a:t>
            </a:r>
            <a:r>
              <a:rPr lang="zh-CN" altLang="en-US" sz="2400" dirty="0"/>
              <a:t>＝</a:t>
            </a:r>
            <a:r>
              <a:rPr lang="en-US" altLang="zh-CN" sz="2400" dirty="0"/>
              <a:t>22H</a:t>
            </a:r>
            <a:r>
              <a:rPr lang="zh-CN" altLang="en-US" sz="2400" dirty="0"/>
              <a:t>，分析下列程序的执行结果 </a:t>
            </a:r>
            <a:endParaRPr lang="zh-CN" altLang="en-US" sz="2400" dirty="0"/>
          </a:p>
          <a:p>
            <a:pPr eaLnBrk="1" hangingPunct="1">
              <a:buNone/>
            </a:pPr>
            <a:r>
              <a:rPr lang="zh-CN" altLang="en-US" sz="2400" dirty="0"/>
              <a:t>    </a:t>
            </a:r>
            <a:r>
              <a:rPr lang="en-US" altLang="zh-CN" sz="2400" dirty="0"/>
              <a:t>MOV  R0</a:t>
            </a:r>
            <a:r>
              <a:rPr lang="zh-CN" altLang="en-US" sz="2400" dirty="0"/>
              <a:t>，</a:t>
            </a:r>
            <a:r>
              <a:rPr lang="en-US" altLang="zh-CN" sz="2400" dirty="0"/>
              <a:t>A</a:t>
            </a:r>
            <a:endParaRPr lang="zh-CN" altLang="en-US" sz="2400" dirty="0"/>
          </a:p>
          <a:p>
            <a:pPr eaLnBrk="1" hangingPunct="1">
              <a:buNone/>
            </a:pPr>
            <a:r>
              <a:rPr lang="zh-CN" altLang="en-US" sz="2400" dirty="0"/>
              <a:t>    </a:t>
            </a:r>
            <a:r>
              <a:rPr lang="en-US" altLang="zh-CN" sz="2400" dirty="0"/>
              <a:t>MOV  R1</a:t>
            </a:r>
            <a:r>
              <a:rPr lang="zh-CN" altLang="en-US" sz="2400" dirty="0"/>
              <a:t>，</a:t>
            </a:r>
            <a:r>
              <a:rPr lang="en-US" altLang="zh-CN" sz="2400" dirty="0"/>
              <a:t>20H</a:t>
            </a:r>
            <a:endParaRPr lang="zh-CN" altLang="en-US" sz="2400" dirty="0"/>
          </a:p>
          <a:p>
            <a:pPr eaLnBrk="1" hangingPunct="1">
              <a:buNone/>
            </a:pPr>
            <a:r>
              <a:rPr lang="zh-CN" altLang="en-US" sz="2400" dirty="0"/>
              <a:t>    </a:t>
            </a:r>
            <a:r>
              <a:rPr lang="en-US" altLang="zh-CN" sz="2400" dirty="0"/>
              <a:t>MOV  R2</a:t>
            </a:r>
            <a:r>
              <a:rPr lang="zh-CN" altLang="en-US" sz="2400" dirty="0"/>
              <a:t>，</a:t>
            </a:r>
            <a:r>
              <a:rPr lang="en-US" altLang="zh-CN" sz="2400" dirty="0"/>
              <a:t>#33H</a:t>
            </a:r>
            <a:endParaRPr lang="zh-CN" altLang="en-US" sz="2400" dirty="0"/>
          </a:p>
        </p:txBody>
      </p:sp>
      <p:sp>
        <p:nvSpPr>
          <p:cNvPr id="87042" name="Rectangle 2"/>
          <p:cNvSpPr>
            <a:spLocks noChangeArrowheads="1"/>
          </p:cNvSpPr>
          <p:nvPr/>
        </p:nvSpPr>
        <p:spPr bwMode="auto">
          <a:xfrm>
            <a:off x="1104900" y="214313"/>
            <a:ext cx="7872413" cy="609600"/>
          </a:xfrm>
          <a:prstGeom prst="rect">
            <a:avLst/>
          </a:prstGeom>
          <a:noFill/>
          <a:ln>
            <a:noFill/>
          </a:ln>
        </p:spPr>
        <p:txBody>
          <a:bodyPr anchor="ctr"/>
          <a:lstStyle>
            <a:lvl1pPr>
              <a:defRPr sz="3600">
                <a:solidFill>
                  <a:schemeClr val="tx2"/>
                </a:solidFill>
                <a:latin typeface="Times New Roman" panose="02020503050405090304" pitchFamily="18" charset="0"/>
                <a:ea typeface="宋体" pitchFamily="2" charset="-122"/>
              </a:defRPr>
            </a:lvl1pPr>
            <a:lvl2pPr>
              <a:defRPr sz="3600">
                <a:solidFill>
                  <a:schemeClr val="tx2"/>
                </a:solidFill>
                <a:latin typeface="Times New Roman" panose="02020503050405090304" pitchFamily="18" charset="0"/>
                <a:ea typeface="宋体" pitchFamily="2" charset="-122"/>
              </a:defRPr>
            </a:lvl2pPr>
            <a:lvl3pPr>
              <a:defRPr sz="3600">
                <a:solidFill>
                  <a:schemeClr val="tx2"/>
                </a:solidFill>
                <a:latin typeface="Times New Roman" panose="02020503050405090304" pitchFamily="18" charset="0"/>
                <a:ea typeface="宋体" pitchFamily="2" charset="-122"/>
              </a:defRPr>
            </a:lvl3pPr>
            <a:lvl4pPr>
              <a:defRPr sz="3600">
                <a:solidFill>
                  <a:schemeClr val="tx2"/>
                </a:solidFill>
                <a:latin typeface="Times New Roman" panose="02020503050405090304" pitchFamily="18" charset="0"/>
                <a:ea typeface="宋体" pitchFamily="2" charset="-122"/>
              </a:defRPr>
            </a:lvl4pPr>
            <a:lvl5pPr>
              <a:defRPr sz="3600">
                <a:solidFill>
                  <a:schemeClr val="tx2"/>
                </a:solidFill>
                <a:latin typeface="Times New Roman" panose="02020503050405090304" pitchFamily="18" charset="0"/>
                <a:ea typeface="宋体" pitchFamily="2" charset="-122"/>
              </a:defRPr>
            </a:lvl5pPr>
            <a:lvl6pPr marL="45720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fontAlgn="base">
              <a:spcBef>
                <a:spcPct val="0"/>
              </a:spcBef>
              <a:spcAft>
                <a:spcPct val="0"/>
              </a:spcAft>
              <a:defRPr sz="3600">
                <a:solidFill>
                  <a:schemeClr val="tx2"/>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第三章</a:t>
            </a:r>
            <a:r>
              <a:rPr kumimoji="0" lang="zh-CN" altLang="en-US" sz="28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zh-CN" altLang="en-US" sz="24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en-US" altLang="zh-CN"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MCS-51</a:t>
            </a: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指令系统</a:t>
            </a:r>
            <a:endParaRPr kumimoji="0" lang="zh-CN" altLang="en-US" sz="3600" b="0"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Times New Roman" panose="02020503050405090304" pitchFamily="18" charset="0"/>
              <a:ea typeface="宋体" pitchFamily="2" charset="-122"/>
              <a:cs typeface="+mn-cs"/>
            </a:endParaRPr>
          </a:p>
        </p:txBody>
      </p:sp>
      <p:sp>
        <p:nvSpPr>
          <p:cNvPr id="4" name="TextBox 3"/>
          <p:cNvSpPr txBox="1"/>
          <p:nvPr/>
        </p:nvSpPr>
        <p:spPr>
          <a:xfrm>
            <a:off x="571500" y="3643313"/>
            <a:ext cx="8072438" cy="2308225"/>
          </a:xfrm>
          <a:prstGeom prst="rect">
            <a:avLst/>
          </a:prstGeom>
          <a:noFill/>
          <a:ln w="9525">
            <a:noFill/>
          </a:ln>
        </p:spPr>
        <p:txBody>
          <a:bodyPr anchor="t" anchorCtr="0">
            <a:spAutoFit/>
          </a:bodyPr>
          <a:p>
            <a:pPr>
              <a:lnSpc>
                <a:spcPct val="150000"/>
              </a:lnSpc>
            </a:pPr>
            <a:r>
              <a:rPr lang="zh-CN" altLang="en-US" dirty="0">
                <a:latin typeface="Times New Roman" panose="02020503050405090304" pitchFamily="18" charset="0"/>
                <a:ea typeface="仿宋_GB2312" pitchFamily="49" charset="-122"/>
              </a:rPr>
              <a:t> 分析结果如下：</a:t>
            </a:r>
            <a:endParaRPr lang="zh-CN" altLang="en-US" dirty="0">
              <a:latin typeface="Times New Roman" panose="02020503050405090304" pitchFamily="18" charset="0"/>
              <a:ea typeface="仿宋_GB2312" pitchFamily="49" charset="-122"/>
            </a:endParaRPr>
          </a:p>
          <a:p>
            <a:pPr>
              <a:lnSpc>
                <a:spcPct val="150000"/>
              </a:lnSpc>
            </a:pPr>
            <a:r>
              <a:rPr lang="zh-CN" altLang="en-US" dirty="0">
                <a:latin typeface="Times New Roman" panose="02020503050405090304" pitchFamily="18" charset="0"/>
                <a:ea typeface="仿宋_GB2312" pitchFamily="49" charset="-122"/>
              </a:rPr>
              <a:t> </a:t>
            </a:r>
            <a:r>
              <a:rPr lang="en-US" altLang="zh-CN" dirty="0">
                <a:solidFill>
                  <a:srgbClr val="FF0000"/>
                </a:solidFill>
                <a:latin typeface="Times New Roman" panose="02020503050405090304" pitchFamily="18" charset="0"/>
                <a:ea typeface="仿宋_GB2312" pitchFamily="49" charset="-122"/>
              </a:rPr>
              <a:t>R0← (A) </a:t>
            </a:r>
            <a:r>
              <a:rPr lang="zh-CN" altLang="en-US" dirty="0">
                <a:solidFill>
                  <a:srgbClr val="FF0000"/>
                </a:solidFill>
                <a:latin typeface="Times New Roman" panose="02020503050405090304" pitchFamily="18" charset="0"/>
                <a:ea typeface="仿宋_GB2312" pitchFamily="49" charset="-122"/>
              </a:rPr>
              <a:t>    </a:t>
            </a:r>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R0</a:t>
            </a:r>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A</a:t>
            </a:r>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11H </a:t>
            </a:r>
            <a:endParaRPr lang="en-US" altLang="zh-CN" dirty="0">
              <a:latin typeface="Times New Roman" panose="02020503050405090304" pitchFamily="18" charset="0"/>
              <a:ea typeface="仿宋_GB2312" pitchFamily="49" charset="-122"/>
            </a:endParaRPr>
          </a:p>
          <a:p>
            <a:pPr>
              <a:lnSpc>
                <a:spcPct val="150000"/>
              </a:lnSpc>
            </a:pPr>
            <a:r>
              <a:rPr lang="en-US" altLang="zh-CN" dirty="0">
                <a:latin typeface="Times New Roman" panose="02020503050405090304" pitchFamily="18" charset="0"/>
                <a:ea typeface="仿宋_GB2312" pitchFamily="49" charset="-122"/>
              </a:rPr>
              <a:t> </a:t>
            </a:r>
            <a:r>
              <a:rPr lang="en-US" altLang="zh-CN" dirty="0">
                <a:solidFill>
                  <a:srgbClr val="FF0000"/>
                </a:solidFill>
                <a:latin typeface="Times New Roman" panose="02020503050405090304" pitchFamily="18" charset="0"/>
                <a:ea typeface="仿宋_GB2312" pitchFamily="49" charset="-122"/>
              </a:rPr>
              <a:t>R1← (20H) </a:t>
            </a:r>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R1</a:t>
            </a:r>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20H</a:t>
            </a:r>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22H </a:t>
            </a:r>
            <a:endParaRPr lang="en-US" altLang="zh-CN" dirty="0">
              <a:latin typeface="Times New Roman" panose="02020503050405090304" pitchFamily="18" charset="0"/>
              <a:ea typeface="仿宋_GB2312" pitchFamily="49" charset="-122"/>
            </a:endParaRPr>
          </a:p>
          <a:p>
            <a:pPr>
              <a:lnSpc>
                <a:spcPct val="150000"/>
              </a:lnSpc>
            </a:pPr>
            <a:r>
              <a:rPr lang="en-US" altLang="zh-CN" dirty="0">
                <a:latin typeface="Times New Roman" panose="02020503050405090304" pitchFamily="18" charset="0"/>
                <a:ea typeface="仿宋_GB2312" pitchFamily="49" charset="-122"/>
              </a:rPr>
              <a:t> </a:t>
            </a:r>
            <a:r>
              <a:rPr lang="en-US" altLang="zh-CN" dirty="0">
                <a:solidFill>
                  <a:srgbClr val="FF0000"/>
                </a:solidFill>
                <a:latin typeface="Times New Roman" panose="02020503050405090304" pitchFamily="18" charset="0"/>
                <a:ea typeface="仿宋_GB2312" pitchFamily="49" charset="-122"/>
              </a:rPr>
              <a:t>R2← 33H    </a:t>
            </a:r>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R2</a:t>
            </a:r>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33H </a:t>
            </a:r>
            <a:endParaRPr lang="zh-CN" altLang="en-US" dirty="0">
              <a:latin typeface="Times New Roman" panose="02020503050405090304" pitchFamily="18" charset="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53603">
                                            <p:txEl>
                                              <p:charRg st="0" end="38"/>
                                            </p:txEl>
                                          </p:spTgt>
                                        </p:tgtEl>
                                        <p:attrNameLst>
                                          <p:attrName>style.visibility</p:attrName>
                                        </p:attrNameLst>
                                      </p:cBhvr>
                                      <p:to>
                                        <p:strVal val="visible"/>
                                      </p:to>
                                    </p:set>
                                    <p:animEffect transition="in" filter="wipe(down)">
                                      <p:cBhvr>
                                        <p:cTn id="7" dur="500"/>
                                        <p:tgtEl>
                                          <p:spTgt spid="153603">
                                            <p:txEl>
                                              <p:charRg st="0" end="38"/>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53603">
                                            <p:txEl>
                                              <p:charRg st="38" end="52"/>
                                            </p:txEl>
                                          </p:spTgt>
                                        </p:tgtEl>
                                        <p:attrNameLst>
                                          <p:attrName>style.visibility</p:attrName>
                                        </p:attrNameLst>
                                      </p:cBhvr>
                                      <p:to>
                                        <p:strVal val="visible"/>
                                      </p:to>
                                    </p:set>
                                    <p:animEffect transition="in" filter="wipe(down)">
                                      <p:cBhvr>
                                        <p:cTn id="12" dur="500"/>
                                        <p:tgtEl>
                                          <p:spTgt spid="153603">
                                            <p:txEl>
                                              <p:charRg st="38" end="5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53603">
                                            <p:txEl>
                                              <p:charRg st="52" end="68"/>
                                            </p:txEl>
                                          </p:spTgt>
                                        </p:tgtEl>
                                        <p:attrNameLst>
                                          <p:attrName>style.visibility</p:attrName>
                                        </p:attrNameLst>
                                      </p:cBhvr>
                                      <p:to>
                                        <p:strVal val="visible"/>
                                      </p:to>
                                    </p:set>
                                    <p:animEffect transition="in" filter="wipe(down)">
                                      <p:cBhvr>
                                        <p:cTn id="17" dur="500"/>
                                        <p:tgtEl>
                                          <p:spTgt spid="153603">
                                            <p:txEl>
                                              <p:charRg st="52" end="6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53603">
                                            <p:txEl>
                                              <p:charRg st="68" end="85"/>
                                            </p:txEl>
                                          </p:spTgt>
                                        </p:tgtEl>
                                        <p:attrNameLst>
                                          <p:attrName>style.visibility</p:attrName>
                                        </p:attrNameLst>
                                      </p:cBhvr>
                                      <p:to>
                                        <p:strVal val="visible"/>
                                      </p:to>
                                    </p:set>
                                    <p:animEffect transition="in" filter="wipe(down)">
                                      <p:cBhvr>
                                        <p:cTn id="22" dur="500"/>
                                        <p:tgtEl>
                                          <p:spTgt spid="153603">
                                            <p:txEl>
                                              <p:charRg st="68" end="8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500" fill="hold"/>
                                        <p:tgtEl>
                                          <p:spTgt spid="4"/>
                                        </p:tgtEl>
                                        <p:attrNameLst>
                                          <p:attrName>ppt_x</p:attrName>
                                        </p:attrNameLst>
                                      </p:cBhvr>
                                      <p:tavLst>
                                        <p:tav tm="0">
                                          <p:val>
                                            <p:strVal val="#ppt_x"/>
                                          </p:val>
                                        </p:tav>
                                        <p:tav tm="100000">
                                          <p:val>
                                            <p:strVal val="#ppt_x"/>
                                          </p:val>
                                        </p:tav>
                                      </p:tavLst>
                                    </p:anim>
                                    <p:anim calcmode="lin" valueType="num">
                                      <p:cBhvr additive="base">
                                        <p:cTn id="2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3" grpId="0" build="p"/>
      <p:bldP spid="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7" name="Rectangle 3"/>
          <p:cNvSpPr>
            <a:spLocks noGrp="1"/>
          </p:cNvSpPr>
          <p:nvPr>
            <p:ph idx="1"/>
          </p:nvPr>
        </p:nvSpPr>
        <p:spPr>
          <a:xfrm>
            <a:off x="836613" y="1042988"/>
            <a:ext cx="7696200" cy="3457575"/>
          </a:xfrm>
        </p:spPr>
        <p:txBody>
          <a:bodyPr vert="horz" wrap="square" lIns="91440" tIns="45720" rIns="91440" bIns="45720" anchor="t" anchorCtr="0"/>
          <a:p>
            <a:pPr eaLnBrk="1" hangingPunct="1">
              <a:buNone/>
            </a:pPr>
            <a:r>
              <a:rPr lang="zh-CN" altLang="en-US" sz="2400" dirty="0"/>
              <a:t>例</a:t>
            </a:r>
            <a:r>
              <a:rPr lang="en-US" altLang="zh-CN" sz="2400" dirty="0"/>
              <a:t>2</a:t>
            </a:r>
            <a:r>
              <a:rPr lang="zh-CN" altLang="en-US" sz="2400" dirty="0"/>
              <a:t>：已知</a:t>
            </a:r>
            <a:r>
              <a:rPr lang="en-US" altLang="zh-CN" sz="2400" dirty="0"/>
              <a:t>(A)</a:t>
            </a:r>
            <a:r>
              <a:rPr lang="zh-CN" altLang="en-US" sz="2400" dirty="0"/>
              <a:t>＝</a:t>
            </a:r>
            <a:r>
              <a:rPr lang="en-US" altLang="zh-CN" sz="2400" dirty="0"/>
              <a:t>11H</a:t>
            </a:r>
            <a:r>
              <a:rPr lang="zh-CN" altLang="en-US" sz="2400" dirty="0"/>
              <a:t>，（</a:t>
            </a:r>
            <a:r>
              <a:rPr lang="en-US" altLang="zh-CN" sz="2400" dirty="0"/>
              <a:t>R0</a:t>
            </a:r>
            <a:r>
              <a:rPr lang="zh-CN" altLang="en-US" sz="2400" dirty="0"/>
              <a:t>）＝</a:t>
            </a:r>
            <a:r>
              <a:rPr lang="en-US" altLang="zh-CN" sz="2400" dirty="0"/>
              <a:t>22H</a:t>
            </a:r>
            <a:r>
              <a:rPr lang="zh-CN" altLang="en-US" sz="2400" dirty="0"/>
              <a:t>，（</a:t>
            </a:r>
            <a:r>
              <a:rPr lang="en-US" altLang="zh-CN" sz="2400" dirty="0"/>
              <a:t>R1</a:t>
            </a:r>
            <a:r>
              <a:rPr lang="zh-CN" altLang="en-US" sz="2400" dirty="0"/>
              <a:t>）＝</a:t>
            </a:r>
            <a:r>
              <a:rPr lang="en-US" altLang="zh-CN" sz="2400" dirty="0"/>
              <a:t>36H</a:t>
            </a:r>
            <a:r>
              <a:rPr lang="zh-CN" altLang="en-US" sz="2400" dirty="0"/>
              <a:t>，（</a:t>
            </a:r>
            <a:r>
              <a:rPr lang="en-US" altLang="zh-CN" sz="2400" dirty="0"/>
              <a:t>36H</a:t>
            </a:r>
            <a:r>
              <a:rPr lang="zh-CN" altLang="en-US" sz="2400" dirty="0"/>
              <a:t>）＝</a:t>
            </a:r>
            <a:r>
              <a:rPr lang="en-US" altLang="zh-CN" sz="2400" dirty="0"/>
              <a:t>33H</a:t>
            </a:r>
            <a:r>
              <a:rPr lang="zh-CN" altLang="en-US" sz="2400" dirty="0"/>
              <a:t>，（</a:t>
            </a:r>
            <a:r>
              <a:rPr lang="en-US" altLang="zh-CN" sz="2400" dirty="0"/>
              <a:t>33H</a:t>
            </a:r>
            <a:r>
              <a:rPr lang="zh-CN" altLang="en-US" sz="2400" dirty="0"/>
              <a:t>）＝</a:t>
            </a:r>
            <a:r>
              <a:rPr lang="en-US" altLang="zh-CN" sz="2400" dirty="0"/>
              <a:t>44H,</a:t>
            </a:r>
            <a:r>
              <a:rPr lang="zh-CN" altLang="en-US" sz="2400" dirty="0"/>
              <a:t>分析下列程序的执行结果。</a:t>
            </a:r>
            <a:endParaRPr lang="zh-CN" altLang="en-US" sz="2400" dirty="0"/>
          </a:p>
          <a:p>
            <a:pPr eaLnBrk="1" hangingPunct="1">
              <a:buNone/>
            </a:pPr>
            <a:r>
              <a:rPr lang="zh-CN" altLang="en-US" sz="2400" dirty="0"/>
              <a:t>     </a:t>
            </a:r>
            <a:r>
              <a:rPr lang="en-US" altLang="zh-CN" sz="2400" dirty="0"/>
              <a:t>MOV  30H</a:t>
            </a:r>
            <a:r>
              <a:rPr lang="zh-CN" altLang="en-US" sz="2400" dirty="0"/>
              <a:t>，</a:t>
            </a:r>
            <a:r>
              <a:rPr lang="en-US" altLang="zh-CN" sz="2400" dirty="0"/>
              <a:t>A</a:t>
            </a:r>
            <a:r>
              <a:rPr lang="zh-CN" altLang="en-US" sz="2400" dirty="0"/>
              <a:t>；</a:t>
            </a:r>
            <a:endParaRPr lang="zh-CN" altLang="en-US" sz="2400" dirty="0"/>
          </a:p>
          <a:p>
            <a:pPr eaLnBrk="1" hangingPunct="1">
              <a:buNone/>
            </a:pPr>
            <a:r>
              <a:rPr lang="zh-CN" altLang="en-US" sz="2400" dirty="0"/>
              <a:t>     </a:t>
            </a:r>
            <a:r>
              <a:rPr lang="en-US" altLang="zh-CN" sz="2400" dirty="0"/>
              <a:t>MOV  31H</a:t>
            </a:r>
            <a:r>
              <a:rPr lang="zh-CN" altLang="en-US" sz="2400" dirty="0"/>
              <a:t>，</a:t>
            </a:r>
            <a:r>
              <a:rPr lang="en-US" altLang="zh-CN" sz="2400" dirty="0"/>
              <a:t>R0</a:t>
            </a:r>
            <a:r>
              <a:rPr lang="zh-CN" altLang="en-US" sz="2400" dirty="0"/>
              <a:t>；</a:t>
            </a:r>
            <a:endParaRPr lang="zh-CN" altLang="en-US" sz="2400" dirty="0"/>
          </a:p>
          <a:p>
            <a:pPr eaLnBrk="1" hangingPunct="1">
              <a:buNone/>
            </a:pPr>
            <a:r>
              <a:rPr lang="zh-CN" altLang="en-US" sz="2400" dirty="0"/>
              <a:t>     </a:t>
            </a:r>
            <a:r>
              <a:rPr lang="en-US" altLang="zh-CN" sz="2400" dirty="0"/>
              <a:t>MOV  32H</a:t>
            </a:r>
            <a:r>
              <a:rPr lang="zh-CN" altLang="en-US" sz="2400" dirty="0"/>
              <a:t>，</a:t>
            </a:r>
            <a:r>
              <a:rPr lang="en-US" altLang="zh-CN" sz="2400" dirty="0"/>
              <a:t>33H</a:t>
            </a:r>
            <a:r>
              <a:rPr lang="zh-CN" altLang="en-US" sz="2400" dirty="0"/>
              <a:t>；</a:t>
            </a:r>
            <a:endParaRPr lang="zh-CN" altLang="en-US" sz="2400" dirty="0"/>
          </a:p>
          <a:p>
            <a:pPr eaLnBrk="1" hangingPunct="1">
              <a:buNone/>
            </a:pPr>
            <a:r>
              <a:rPr lang="zh-CN" altLang="en-US" sz="2400" dirty="0"/>
              <a:t>     </a:t>
            </a:r>
            <a:r>
              <a:rPr lang="en-US" altLang="zh-CN" sz="2400" dirty="0"/>
              <a:t>MOV  34H</a:t>
            </a:r>
            <a:r>
              <a:rPr lang="zh-CN" altLang="en-US" sz="2400" dirty="0"/>
              <a:t>，</a:t>
            </a:r>
            <a:r>
              <a:rPr lang="en-US" altLang="zh-CN" sz="2400" dirty="0"/>
              <a:t>@R1</a:t>
            </a:r>
            <a:r>
              <a:rPr lang="zh-CN" altLang="en-US" sz="2400" dirty="0"/>
              <a:t>；</a:t>
            </a:r>
            <a:endParaRPr lang="zh-CN" altLang="en-US" sz="2400" dirty="0"/>
          </a:p>
          <a:p>
            <a:pPr eaLnBrk="1" hangingPunct="1">
              <a:buNone/>
            </a:pPr>
            <a:r>
              <a:rPr lang="zh-CN" altLang="en-US" sz="2400" dirty="0"/>
              <a:t>     </a:t>
            </a:r>
            <a:r>
              <a:rPr lang="en-US" altLang="zh-CN" sz="2400" dirty="0"/>
              <a:t>MOV  35H</a:t>
            </a:r>
            <a:r>
              <a:rPr lang="zh-CN" altLang="en-US" sz="2400" dirty="0"/>
              <a:t>，</a:t>
            </a:r>
            <a:r>
              <a:rPr lang="en-US" altLang="zh-CN" sz="2400" dirty="0"/>
              <a:t>#55H</a:t>
            </a:r>
            <a:endParaRPr lang="en-US" altLang="zh-CN" sz="2400" dirty="0">
              <a:solidFill>
                <a:schemeClr val="hlink"/>
              </a:solidFill>
            </a:endParaRPr>
          </a:p>
        </p:txBody>
      </p:sp>
      <p:sp>
        <p:nvSpPr>
          <p:cNvPr id="87042" name="Rectangle 2"/>
          <p:cNvSpPr>
            <a:spLocks noChangeArrowheads="1"/>
          </p:cNvSpPr>
          <p:nvPr/>
        </p:nvSpPr>
        <p:spPr bwMode="auto">
          <a:xfrm>
            <a:off x="1104900" y="214313"/>
            <a:ext cx="7872413" cy="609600"/>
          </a:xfrm>
          <a:prstGeom prst="rect">
            <a:avLst/>
          </a:prstGeom>
          <a:noFill/>
          <a:ln>
            <a:noFill/>
          </a:ln>
        </p:spPr>
        <p:txBody>
          <a:bodyPr anchor="ctr"/>
          <a:lstStyle>
            <a:lvl1pPr>
              <a:defRPr sz="3600">
                <a:solidFill>
                  <a:schemeClr val="tx2"/>
                </a:solidFill>
                <a:latin typeface="Times New Roman" panose="02020503050405090304" pitchFamily="18" charset="0"/>
                <a:ea typeface="宋体" pitchFamily="2" charset="-122"/>
              </a:defRPr>
            </a:lvl1pPr>
            <a:lvl2pPr>
              <a:defRPr sz="3600">
                <a:solidFill>
                  <a:schemeClr val="tx2"/>
                </a:solidFill>
                <a:latin typeface="Times New Roman" panose="02020503050405090304" pitchFamily="18" charset="0"/>
                <a:ea typeface="宋体" pitchFamily="2" charset="-122"/>
              </a:defRPr>
            </a:lvl2pPr>
            <a:lvl3pPr>
              <a:defRPr sz="3600">
                <a:solidFill>
                  <a:schemeClr val="tx2"/>
                </a:solidFill>
                <a:latin typeface="Times New Roman" panose="02020503050405090304" pitchFamily="18" charset="0"/>
                <a:ea typeface="宋体" pitchFamily="2" charset="-122"/>
              </a:defRPr>
            </a:lvl3pPr>
            <a:lvl4pPr>
              <a:defRPr sz="3600">
                <a:solidFill>
                  <a:schemeClr val="tx2"/>
                </a:solidFill>
                <a:latin typeface="Times New Roman" panose="02020503050405090304" pitchFamily="18" charset="0"/>
                <a:ea typeface="宋体" pitchFamily="2" charset="-122"/>
              </a:defRPr>
            </a:lvl4pPr>
            <a:lvl5pPr>
              <a:defRPr sz="3600">
                <a:solidFill>
                  <a:schemeClr val="tx2"/>
                </a:solidFill>
                <a:latin typeface="Times New Roman" panose="02020503050405090304" pitchFamily="18" charset="0"/>
                <a:ea typeface="宋体" pitchFamily="2" charset="-122"/>
              </a:defRPr>
            </a:lvl5pPr>
            <a:lvl6pPr marL="45720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fontAlgn="base">
              <a:spcBef>
                <a:spcPct val="0"/>
              </a:spcBef>
              <a:spcAft>
                <a:spcPct val="0"/>
              </a:spcAft>
              <a:defRPr sz="3600">
                <a:solidFill>
                  <a:schemeClr val="tx2"/>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第三章</a:t>
            </a:r>
            <a:r>
              <a:rPr kumimoji="0" lang="zh-CN" altLang="en-US" sz="28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zh-CN" altLang="en-US" sz="24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en-US" altLang="zh-CN"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MCS-51</a:t>
            </a: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指令系统</a:t>
            </a:r>
            <a:endParaRPr kumimoji="0" lang="zh-CN" altLang="en-US" sz="3600" b="0"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Times New Roman" panose="02020503050405090304" pitchFamily="18" charset="0"/>
              <a:ea typeface="宋体" pitchFamily="2" charset="-122"/>
              <a:cs typeface="+mn-cs"/>
            </a:endParaRPr>
          </a:p>
        </p:txBody>
      </p:sp>
      <p:sp>
        <p:nvSpPr>
          <p:cNvPr id="4" name="TextBox 3"/>
          <p:cNvSpPr txBox="1"/>
          <p:nvPr/>
        </p:nvSpPr>
        <p:spPr>
          <a:xfrm>
            <a:off x="1000125" y="4549775"/>
            <a:ext cx="6000750" cy="1938338"/>
          </a:xfrm>
          <a:prstGeom prst="rect">
            <a:avLst/>
          </a:prstGeom>
          <a:noFill/>
          <a:ln w="9525">
            <a:noFill/>
          </a:ln>
        </p:spPr>
        <p:txBody>
          <a:bodyPr anchor="t" anchorCtr="0">
            <a:spAutoFit/>
          </a:bodyPr>
          <a:p>
            <a:pPr eaLnBrk="0" hangingPunct="0"/>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30H</a:t>
            </a:r>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11H</a:t>
            </a:r>
            <a:endParaRPr lang="en-US" altLang="zh-CN" dirty="0">
              <a:latin typeface="Times New Roman" panose="02020503050405090304" pitchFamily="18" charset="0"/>
              <a:ea typeface="仿宋_GB2312" pitchFamily="49" charset="-122"/>
            </a:endParaRPr>
          </a:p>
          <a:p>
            <a:pPr eaLnBrk="0" hangingPunct="0"/>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31H</a:t>
            </a:r>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22H</a:t>
            </a:r>
            <a:endParaRPr lang="en-US" altLang="zh-CN" dirty="0">
              <a:latin typeface="Times New Roman" panose="02020503050405090304" pitchFamily="18" charset="0"/>
              <a:ea typeface="仿宋_GB2312" pitchFamily="49" charset="-122"/>
            </a:endParaRPr>
          </a:p>
          <a:p>
            <a:pPr eaLnBrk="0" hangingPunct="0"/>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32H</a:t>
            </a:r>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44H</a:t>
            </a:r>
            <a:endParaRPr lang="en-US" altLang="zh-CN" dirty="0">
              <a:latin typeface="Times New Roman" panose="02020503050405090304" pitchFamily="18" charset="0"/>
              <a:ea typeface="仿宋_GB2312" pitchFamily="49" charset="-122"/>
            </a:endParaRPr>
          </a:p>
          <a:p>
            <a:pPr eaLnBrk="0" hangingPunct="0"/>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34H</a:t>
            </a:r>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33H</a:t>
            </a:r>
            <a:endParaRPr lang="en-US" altLang="zh-CN" dirty="0">
              <a:latin typeface="Times New Roman" panose="02020503050405090304" pitchFamily="18" charset="0"/>
              <a:ea typeface="仿宋_GB2312" pitchFamily="49" charset="-122"/>
            </a:endParaRPr>
          </a:p>
          <a:p>
            <a:pPr eaLnBrk="0" hangingPunct="0"/>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35H</a:t>
            </a:r>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55H</a:t>
            </a:r>
            <a:endParaRPr lang="zh-CN" altLang="en-US" dirty="0">
              <a:latin typeface="Times New Roman" panose="02020503050405090304" pitchFamily="18" charset="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154627">
                                            <p:txEl>
                                              <p:charRg st="0" end="64"/>
                                            </p:txEl>
                                          </p:spTgt>
                                        </p:tgtEl>
                                        <p:attrNameLst>
                                          <p:attrName>style.visibility</p:attrName>
                                        </p:attrNameLst>
                                      </p:cBhvr>
                                      <p:to>
                                        <p:strVal val="visible"/>
                                      </p:to>
                                    </p:set>
                                    <p:animEffect transition="in" filter="strips(downLeft)">
                                      <p:cBhvr>
                                        <p:cTn id="7" dur="500"/>
                                        <p:tgtEl>
                                          <p:spTgt spid="154627">
                                            <p:txEl>
                                              <p:charRg st="0" end="6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154627">
                                            <p:txEl>
                                              <p:charRg st="64" end="81"/>
                                            </p:txEl>
                                          </p:spTgt>
                                        </p:tgtEl>
                                        <p:attrNameLst>
                                          <p:attrName>style.visibility</p:attrName>
                                        </p:attrNameLst>
                                      </p:cBhvr>
                                      <p:to>
                                        <p:strVal val="visible"/>
                                      </p:to>
                                    </p:set>
                                    <p:animEffect transition="in" filter="strips(downLeft)">
                                      <p:cBhvr>
                                        <p:cTn id="12" dur="500"/>
                                        <p:tgtEl>
                                          <p:spTgt spid="154627">
                                            <p:txEl>
                                              <p:charRg st="64" end="8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154627">
                                            <p:txEl>
                                              <p:charRg st="81" end="99"/>
                                            </p:txEl>
                                          </p:spTgt>
                                        </p:tgtEl>
                                        <p:attrNameLst>
                                          <p:attrName>style.visibility</p:attrName>
                                        </p:attrNameLst>
                                      </p:cBhvr>
                                      <p:to>
                                        <p:strVal val="visible"/>
                                      </p:to>
                                    </p:set>
                                    <p:animEffect transition="in" filter="strips(downLeft)">
                                      <p:cBhvr>
                                        <p:cTn id="17" dur="500"/>
                                        <p:tgtEl>
                                          <p:spTgt spid="154627">
                                            <p:txEl>
                                              <p:charRg st="81" end="9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154627">
                                            <p:txEl>
                                              <p:charRg st="99" end="118"/>
                                            </p:txEl>
                                          </p:spTgt>
                                        </p:tgtEl>
                                        <p:attrNameLst>
                                          <p:attrName>style.visibility</p:attrName>
                                        </p:attrNameLst>
                                      </p:cBhvr>
                                      <p:to>
                                        <p:strVal val="visible"/>
                                      </p:to>
                                    </p:set>
                                    <p:animEffect transition="in" filter="strips(downLeft)">
                                      <p:cBhvr>
                                        <p:cTn id="22" dur="500"/>
                                        <p:tgtEl>
                                          <p:spTgt spid="154627">
                                            <p:txEl>
                                              <p:charRg st="99" end="11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grpId="0" nodeType="clickEffect">
                                  <p:stCondLst>
                                    <p:cond delay="0"/>
                                  </p:stCondLst>
                                  <p:childTnLst>
                                    <p:set>
                                      <p:cBhvr>
                                        <p:cTn id="26" dur="1" fill="hold">
                                          <p:stCondLst>
                                            <p:cond delay="0"/>
                                          </p:stCondLst>
                                        </p:cTn>
                                        <p:tgtEl>
                                          <p:spTgt spid="154627">
                                            <p:txEl>
                                              <p:charRg st="118" end="137"/>
                                            </p:txEl>
                                          </p:spTgt>
                                        </p:tgtEl>
                                        <p:attrNameLst>
                                          <p:attrName>style.visibility</p:attrName>
                                        </p:attrNameLst>
                                      </p:cBhvr>
                                      <p:to>
                                        <p:strVal val="visible"/>
                                      </p:to>
                                    </p:set>
                                    <p:animEffect transition="in" filter="strips(downLeft)">
                                      <p:cBhvr>
                                        <p:cTn id="27" dur="500"/>
                                        <p:tgtEl>
                                          <p:spTgt spid="154627">
                                            <p:txEl>
                                              <p:charRg st="118" end="13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12" fill="hold" grpId="0" nodeType="clickEffect">
                                  <p:stCondLst>
                                    <p:cond delay="0"/>
                                  </p:stCondLst>
                                  <p:childTnLst>
                                    <p:set>
                                      <p:cBhvr>
                                        <p:cTn id="31" dur="1" fill="hold">
                                          <p:stCondLst>
                                            <p:cond delay="0"/>
                                          </p:stCondLst>
                                        </p:cTn>
                                        <p:tgtEl>
                                          <p:spTgt spid="154627">
                                            <p:txEl>
                                              <p:charRg st="137" end="156"/>
                                            </p:txEl>
                                          </p:spTgt>
                                        </p:tgtEl>
                                        <p:attrNameLst>
                                          <p:attrName>style.visibility</p:attrName>
                                        </p:attrNameLst>
                                      </p:cBhvr>
                                      <p:to>
                                        <p:strVal val="visible"/>
                                      </p:to>
                                    </p:set>
                                    <p:animEffect transition="in" filter="strips(downLeft)">
                                      <p:cBhvr>
                                        <p:cTn id="32" dur="500"/>
                                        <p:tgtEl>
                                          <p:spTgt spid="154627">
                                            <p:txEl>
                                              <p:charRg st="137" end="15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7" grpId="0" build="p"/>
      <p:bldP spid="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74754" name="文本占位符 907265"/>
          <p:cNvSpPr>
            <a:spLocks noGrp="1"/>
          </p:cNvSpPr>
          <p:nvPr>
            <p:ph type="body" idx="4294967295"/>
          </p:nvPr>
        </p:nvSpPr>
        <p:spPr>
          <a:xfrm>
            <a:off x="377825" y="914400"/>
            <a:ext cx="9012238" cy="5181600"/>
          </a:xfrm>
        </p:spPr>
        <p:txBody>
          <a:bodyPr anchor="t" anchorCtr="0"/>
          <a:p>
            <a:pPr marL="609600" indent="-609600">
              <a:buNone/>
            </a:pPr>
            <a:r>
              <a:rPr lang="en-US" altLang="zh-CN"/>
              <a:t>【</a:t>
            </a:r>
            <a:r>
              <a:rPr lang="zh-CN" altLang="en-US" dirty="0"/>
              <a:t>例</a:t>
            </a:r>
            <a:r>
              <a:rPr lang="en-US" altLang="zh-CN"/>
              <a:t>3.3】 </a:t>
            </a:r>
            <a:r>
              <a:rPr lang="zh-CN" altLang="en-US" dirty="0"/>
              <a:t>设内部</a:t>
            </a:r>
            <a:r>
              <a:rPr lang="en-US" altLang="zh-CN"/>
              <a:t>RAM 50H</a:t>
            </a:r>
            <a:r>
              <a:rPr lang="zh-CN" altLang="en-US" dirty="0"/>
              <a:t>单元的内容为</a:t>
            </a:r>
            <a:r>
              <a:rPr lang="en-US" altLang="zh-CN"/>
              <a:t>44H</a:t>
            </a:r>
            <a:r>
              <a:rPr lang="zh-CN" altLang="en-US" dirty="0"/>
              <a:t>，分析下面指令执行完毕后各单元的内容。</a:t>
            </a:r>
            <a:endParaRPr lang="zh-CN" altLang="en-US" dirty="0"/>
          </a:p>
          <a:p>
            <a:pPr marL="609600" indent="-609600"/>
            <a:r>
              <a:rPr lang="en-US" altLang="zh-CN"/>
              <a:t>MOV R1 </a:t>
            </a:r>
            <a:r>
              <a:rPr lang="zh-CN" altLang="en-US" dirty="0"/>
              <a:t>，</a:t>
            </a:r>
            <a:r>
              <a:rPr lang="en-US" altLang="zh-CN"/>
              <a:t>#50H   </a:t>
            </a:r>
            <a:r>
              <a:rPr lang="zh-CN" altLang="en-US" dirty="0"/>
              <a:t>；</a:t>
            </a:r>
            <a:r>
              <a:rPr lang="en-US" altLang="zh-CN"/>
              <a:t>R1</a:t>
            </a:r>
            <a:r>
              <a:rPr lang="zh-CN" altLang="en-US" dirty="0"/>
              <a:t>内容为</a:t>
            </a:r>
            <a:r>
              <a:rPr lang="en-US" altLang="zh-CN"/>
              <a:t>50H </a:t>
            </a:r>
            <a:endParaRPr lang="en-US" altLang="zh-CN"/>
          </a:p>
          <a:p>
            <a:pPr marL="609600" indent="-609600"/>
            <a:r>
              <a:rPr lang="en-US" altLang="zh-CN"/>
              <a:t>MOV A </a:t>
            </a:r>
            <a:r>
              <a:rPr lang="zh-CN" altLang="en-US" dirty="0"/>
              <a:t>，</a:t>
            </a:r>
            <a:r>
              <a:rPr lang="en-US" altLang="zh-CN"/>
              <a:t>@R1      </a:t>
            </a:r>
            <a:r>
              <a:rPr lang="zh-CN" altLang="en-US" dirty="0"/>
              <a:t>；</a:t>
            </a:r>
            <a:r>
              <a:rPr lang="en-US" altLang="zh-CN"/>
              <a:t>A</a:t>
            </a:r>
            <a:r>
              <a:rPr lang="zh-CN" altLang="en-US" dirty="0"/>
              <a:t>的内容为</a:t>
            </a:r>
            <a:r>
              <a:rPr lang="en-US" altLang="zh-CN"/>
              <a:t>50H</a:t>
            </a:r>
            <a:r>
              <a:rPr lang="zh-CN" altLang="en-US" dirty="0"/>
              <a:t>单元的内</a:t>
            </a:r>
            <a:endParaRPr lang="zh-CN" altLang="en-US" dirty="0"/>
          </a:p>
          <a:p>
            <a:pPr marL="609600" indent="-609600">
              <a:buNone/>
            </a:pPr>
            <a:r>
              <a:rPr lang="zh-CN" altLang="en-US" dirty="0"/>
              <a:t>                                  容即</a:t>
            </a:r>
            <a:r>
              <a:rPr lang="en-US" altLang="zh-CN"/>
              <a:t>A</a:t>
            </a:r>
            <a:r>
              <a:rPr lang="zh-CN" altLang="en-US" dirty="0"/>
              <a:t>的内容为</a:t>
            </a:r>
            <a:r>
              <a:rPr lang="en-US" altLang="zh-CN"/>
              <a:t>44H</a:t>
            </a:r>
            <a:endParaRPr lang="en-US" altLang="zh-CN"/>
          </a:p>
          <a:p>
            <a:pPr marL="609600" indent="-609600"/>
            <a:r>
              <a:rPr lang="en-US" altLang="zh-CN"/>
              <a:t>MOV 30H</a:t>
            </a:r>
            <a:r>
              <a:rPr lang="zh-CN" altLang="en-US" dirty="0"/>
              <a:t>，</a:t>
            </a:r>
            <a:r>
              <a:rPr lang="en-US" altLang="zh-CN"/>
              <a:t>A       </a:t>
            </a:r>
            <a:r>
              <a:rPr lang="zh-CN" altLang="en-US" dirty="0"/>
              <a:t>；</a:t>
            </a:r>
            <a:r>
              <a:rPr lang="en-US" altLang="zh-CN"/>
              <a:t>30H</a:t>
            </a:r>
            <a:r>
              <a:rPr lang="zh-CN" altLang="en-US" dirty="0"/>
              <a:t>单元的内容为</a:t>
            </a:r>
            <a:r>
              <a:rPr lang="en-US" altLang="zh-CN"/>
              <a:t>44H</a:t>
            </a:r>
            <a:endParaRPr lang="en-US" altLang="zh-CN"/>
          </a:p>
          <a:p>
            <a:pPr marL="609600" indent="-609600"/>
            <a:r>
              <a:rPr lang="en-US" altLang="zh-CN"/>
              <a:t>MOV 20H</a:t>
            </a:r>
            <a:r>
              <a:rPr lang="zh-CN" altLang="en-US" dirty="0"/>
              <a:t>，</a:t>
            </a:r>
            <a:r>
              <a:rPr lang="en-US" altLang="zh-CN"/>
              <a:t>#20H </a:t>
            </a:r>
            <a:r>
              <a:rPr lang="zh-CN" altLang="en-US" dirty="0"/>
              <a:t>；</a:t>
            </a:r>
            <a:r>
              <a:rPr lang="en-US" altLang="zh-CN"/>
              <a:t>20H</a:t>
            </a:r>
            <a:r>
              <a:rPr lang="zh-CN" altLang="en-US" dirty="0"/>
              <a:t>单元的内容为</a:t>
            </a:r>
            <a:r>
              <a:rPr lang="en-US" altLang="zh-CN"/>
              <a:t>20H</a:t>
            </a:r>
            <a:endParaRPr lang="en-US" altLang="zh-CN"/>
          </a:p>
          <a:p>
            <a:pPr marL="609600" indent="-609600"/>
            <a:r>
              <a:rPr lang="en-US" altLang="zh-CN"/>
              <a:t>MOV 44H</a:t>
            </a:r>
            <a:r>
              <a:rPr lang="zh-CN" altLang="en-US" dirty="0"/>
              <a:t>，</a:t>
            </a:r>
            <a:r>
              <a:rPr lang="en-US" altLang="zh-CN"/>
              <a:t>30H   </a:t>
            </a:r>
            <a:r>
              <a:rPr lang="zh-CN" altLang="en-US" dirty="0"/>
              <a:t>；</a:t>
            </a:r>
            <a:r>
              <a:rPr lang="en-US" altLang="zh-CN"/>
              <a:t>44H</a:t>
            </a:r>
            <a:r>
              <a:rPr lang="zh-CN" altLang="en-US" dirty="0"/>
              <a:t>单元的内容为</a:t>
            </a:r>
            <a:r>
              <a:rPr lang="en-US" altLang="zh-CN"/>
              <a:t>44H</a:t>
            </a:r>
            <a:endParaRPr lang="en-US" altLang="zh-CN"/>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1" name="Rectangle 3"/>
          <p:cNvSpPr>
            <a:spLocks noGrp="1" noChangeArrowheads="1"/>
          </p:cNvSpPr>
          <p:nvPr>
            <p:ph idx="1"/>
          </p:nvPr>
        </p:nvSpPr>
        <p:spPr>
          <a:xfrm>
            <a:off x="836613" y="1042988"/>
            <a:ext cx="8093075" cy="508635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zh-CN" altLang="en-US" sz="2400" b="1" i="0" u="sng" strike="noStrike" kern="0" cap="none" spc="0" normalizeH="0" baseline="0" noProof="0" dirty="0" smtClean="0">
                <a:ln>
                  <a:noFill/>
                </a:ln>
                <a:solidFill>
                  <a:schemeClr val="tx2"/>
                </a:solidFill>
                <a:effectLst/>
                <a:uLnTx/>
                <a:uFillTx/>
                <a:latin typeface="+mn-lt"/>
                <a:ea typeface="+mn-ea"/>
                <a:cs typeface="+mn-cs"/>
              </a:rPr>
              <a:t>（</a:t>
            </a:r>
            <a:r>
              <a:rPr kumimoji="0" lang="en-US" altLang="zh-CN" sz="2400" b="1" i="0" u="sng" strike="noStrike" kern="0" cap="none" spc="0" normalizeH="0" baseline="0" noProof="0" dirty="0" smtClean="0">
                <a:ln>
                  <a:noFill/>
                </a:ln>
                <a:solidFill>
                  <a:schemeClr val="tx2"/>
                </a:solidFill>
                <a:effectLst/>
                <a:uLnTx/>
                <a:uFillTx/>
                <a:latin typeface="+mn-lt"/>
                <a:ea typeface="+mn-ea"/>
                <a:cs typeface="+mn-cs"/>
              </a:rPr>
              <a:t>5</a:t>
            </a:r>
            <a:r>
              <a:rPr kumimoji="0" lang="zh-CN" altLang="en-US" sz="2400" b="1" i="0" u="sng" strike="noStrike" kern="0" cap="none" spc="0" normalizeH="0" baseline="0" noProof="0" dirty="0" smtClean="0">
                <a:ln>
                  <a:noFill/>
                </a:ln>
                <a:solidFill>
                  <a:schemeClr val="tx2"/>
                </a:solidFill>
                <a:effectLst/>
                <a:uLnTx/>
                <a:uFillTx/>
                <a:latin typeface="+mn-lt"/>
                <a:ea typeface="+mn-ea"/>
                <a:cs typeface="+mn-cs"/>
              </a:rPr>
              <a:t>）  十六位数据传送指令</a:t>
            </a:r>
            <a:r>
              <a:rPr kumimoji="0" lang="zh-CN" altLang="en-US" sz="2400" b="1" i="0" u="sng" strike="noStrike" kern="0" cap="none" spc="0" normalizeH="0" baseline="0" noProof="0" dirty="0" smtClean="0">
                <a:ln>
                  <a:noFill/>
                </a:ln>
                <a:solidFill>
                  <a:schemeClr val="folHlink"/>
                </a:solidFill>
                <a:effectLst/>
                <a:uLnTx/>
                <a:uFillTx/>
                <a:latin typeface="+mn-lt"/>
                <a:ea typeface="+mn-ea"/>
                <a:cs typeface="+mn-cs"/>
              </a:rPr>
              <a:t>（</a:t>
            </a:r>
            <a:r>
              <a:rPr kumimoji="0" lang="en-US" altLang="zh-CN" sz="2400" b="1" i="0" u="sng" strike="noStrike" kern="0" cap="none" spc="0" normalizeH="0" baseline="0" noProof="0" dirty="0" smtClean="0">
                <a:ln>
                  <a:noFill/>
                </a:ln>
                <a:solidFill>
                  <a:schemeClr val="folHlink"/>
                </a:solidFill>
                <a:effectLst/>
                <a:uLnTx/>
                <a:uFillTx/>
                <a:latin typeface="+mn-lt"/>
                <a:ea typeface="+mn-ea"/>
                <a:cs typeface="+mn-cs"/>
              </a:rPr>
              <a:t>1</a:t>
            </a:r>
            <a:r>
              <a:rPr kumimoji="0" lang="zh-CN" altLang="en-US" sz="2400" b="1" i="0" u="sng" strike="noStrike" kern="0" cap="none" spc="0" normalizeH="0" baseline="0" noProof="0" dirty="0" smtClean="0">
                <a:ln>
                  <a:noFill/>
                </a:ln>
                <a:solidFill>
                  <a:schemeClr val="folHlink"/>
                </a:solidFill>
                <a:effectLst/>
                <a:uLnTx/>
                <a:uFillTx/>
                <a:latin typeface="+mn-lt"/>
                <a:ea typeface="+mn-ea"/>
                <a:cs typeface="+mn-cs"/>
              </a:rPr>
              <a:t>条）</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 </a:t>
            </a:r>
            <a:endPar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endPar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endParaRPr>
          </a:p>
          <a:p>
            <a:pPr marL="812800" marR="0" lvl="0" indent="12700" algn="l" defTabSz="914400" rtl="0" eaLnBrk="1" fontAlgn="base" latinLnBrk="0" hangingPunct="1">
              <a:lnSpc>
                <a:spcPct val="150000"/>
              </a:lnSpc>
              <a:spcBef>
                <a:spcPct val="20000"/>
              </a:spcBef>
              <a:spcAft>
                <a:spcPct val="0"/>
              </a:spcAft>
              <a:buClr>
                <a:schemeClr val="folHlink"/>
              </a:buClr>
              <a:buSzPct val="60000"/>
              <a:buFont typeface="Wingdings" panose="05000000000000000000" pitchFamily="2" charset="2"/>
              <a:buNone/>
              <a:tabLst>
                <a:tab pos="0" algn="l"/>
              </a:tabLst>
              <a:defRPr/>
            </a:pP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MOV    DPTR</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#data16 ; </a:t>
            </a:r>
            <a:r>
              <a:rPr kumimoji="0" lang="en-US" altLang="zh-CN" sz="2400" b="0" i="0" u="none" strike="noStrike" kern="0" cap="none" spc="0" normalizeH="0" baseline="0" noProof="0" dirty="0" err="1" smtClean="0">
                <a:ln>
                  <a:noFill/>
                </a:ln>
                <a:solidFill>
                  <a:schemeClr val="folHlink"/>
                </a:solidFill>
                <a:effectLst/>
                <a:uLnTx/>
                <a:uFillTx/>
                <a:latin typeface="+mn-lt"/>
                <a:ea typeface="+mn-ea"/>
                <a:cs typeface="+mn-cs"/>
              </a:rPr>
              <a:t>data</a:t>
            </a:r>
            <a:r>
              <a:rPr kumimoji="0" lang="en-US" altLang="zh-CN" sz="2400" b="0" i="0" u="none" strike="noStrike" kern="0" cap="none" spc="0" normalizeH="0" baseline="0" noProof="0" dirty="0" err="1" smtClean="0">
                <a:ln>
                  <a:noFill/>
                </a:ln>
                <a:solidFill>
                  <a:schemeClr val="folHlink"/>
                </a:solidFill>
                <a:effectLst/>
                <a:uLnTx/>
                <a:uFillTx/>
                <a:latin typeface="+mn-lt"/>
                <a:ea typeface="+mn-ea"/>
                <a:cs typeface="+mn-cs"/>
                <a:sym typeface="Symbol" pitchFamily="18" charset="2"/>
              </a:rPr>
              <a:t></a:t>
            </a:r>
            <a:r>
              <a:rPr kumimoji="0" lang="en-US" altLang="zh-CN" sz="2400" b="0" i="0" u="none" strike="noStrike" kern="0" cap="none" spc="0" normalizeH="0" baseline="0" noProof="0" dirty="0" err="1" smtClean="0">
                <a:ln>
                  <a:noFill/>
                </a:ln>
                <a:solidFill>
                  <a:schemeClr val="folHlink"/>
                </a:solidFill>
                <a:effectLst/>
                <a:uLnTx/>
                <a:uFillTx/>
                <a:latin typeface="+mn-lt"/>
                <a:ea typeface="+mn-ea"/>
                <a:cs typeface="+mn-cs"/>
                <a:sym typeface="Wingdings" panose="05000000000000000000" pitchFamily="2" charset="2"/>
              </a:rPr>
              <a:t>DPTR</a:t>
            </a:r>
            <a:endPar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endParaRPr>
          </a:p>
          <a:p>
            <a:pPr marL="812800" marR="0" lvl="0" indent="12700" algn="l" defTabSz="914400" rtl="0" eaLnBrk="1" fontAlgn="base" latinLnBrk="0" hangingPunct="1">
              <a:lnSpc>
                <a:spcPct val="150000"/>
              </a:lnSpc>
              <a:spcBef>
                <a:spcPct val="20000"/>
              </a:spcBef>
              <a:spcAft>
                <a:spcPct val="0"/>
              </a:spcAft>
              <a:buClr>
                <a:schemeClr val="fo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data</a:t>
            </a:r>
            <a:r>
              <a:rPr kumimoji="0" lang="en-US" altLang="zh-CN" sz="2400" b="0" i="0" u="none" strike="noStrike" kern="0" cap="none" spc="0" normalizeH="0" baseline="-25000" noProof="0" dirty="0" smtClean="0">
                <a:ln>
                  <a:noFill/>
                </a:ln>
                <a:solidFill>
                  <a:schemeClr val="folHlink"/>
                </a:solidFill>
                <a:effectLst/>
                <a:uLnTx/>
                <a:uFillTx/>
                <a:latin typeface="+mn-lt"/>
                <a:ea typeface="+mn-ea"/>
                <a:cs typeface="+mn-cs"/>
              </a:rPr>
              <a:t>8~15</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sym typeface="Symbol" pitchFamily="18" charset="2"/>
              </a:rPr>
              <a:t>(</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sym typeface="Wingdings" panose="05000000000000000000" pitchFamily="2" charset="2"/>
              </a:rPr>
              <a:t>DPH)</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sym typeface="Wingdings" panose="05000000000000000000" pitchFamily="2" charset="2"/>
              </a:rPr>
              <a:t>，</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sym typeface="Wingdings" panose="05000000000000000000" pitchFamily="2" charset="2"/>
              </a:rPr>
              <a:t>data</a:t>
            </a:r>
            <a:r>
              <a:rPr kumimoji="0" lang="en-US" altLang="zh-CN" sz="2400" b="0" i="0" u="none" strike="noStrike" kern="0" cap="none" spc="0" normalizeH="0" baseline="-25000" noProof="0" dirty="0" smtClean="0">
                <a:ln>
                  <a:noFill/>
                </a:ln>
                <a:solidFill>
                  <a:schemeClr val="folHlink"/>
                </a:solidFill>
                <a:effectLst/>
                <a:uLnTx/>
                <a:uFillTx/>
                <a:latin typeface="+mn-lt"/>
                <a:ea typeface="+mn-ea"/>
                <a:cs typeface="+mn-cs"/>
                <a:sym typeface="Wingdings" panose="05000000000000000000" pitchFamily="2" charset="2"/>
              </a:rPr>
              <a:t>0</a:t>
            </a:r>
            <a:r>
              <a:rPr kumimoji="0" lang="en-US" altLang="zh-CN" sz="2400" b="0" i="0" u="none" strike="noStrike" kern="0" cap="none" spc="0" normalizeH="0" baseline="-25000" noProof="0" dirty="0" smtClean="0">
                <a:ln>
                  <a:noFill/>
                </a:ln>
                <a:solidFill>
                  <a:schemeClr val="folHlink"/>
                </a:solidFill>
                <a:effectLst/>
                <a:uLnTx/>
                <a:uFillTx/>
                <a:latin typeface="+mn-lt"/>
                <a:ea typeface="+mn-ea"/>
                <a:cs typeface="+mn-cs"/>
              </a:rPr>
              <a:t>~7</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sym typeface="Wingdings" panose="05000000000000000000" pitchFamily="2" charset="2"/>
              </a:rPr>
              <a:t> </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sym typeface="Symbol" pitchFamily="18" charset="2"/>
              </a:rPr>
              <a:t>(</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sym typeface="Wingdings" panose="05000000000000000000" pitchFamily="2" charset="2"/>
              </a:rPr>
              <a:t>DPL)</a:t>
            </a:r>
            <a:endPar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endParaRPr>
          </a:p>
          <a:p>
            <a:pPr marL="342900" marR="0" lvl="0" indent="-342900" algn="l" defTabSz="914400" rtl="0" eaLnBrk="1" fontAlgn="base" latinLnBrk="0" hangingPunct="1">
              <a:lnSpc>
                <a:spcPct val="150000"/>
              </a:lnSpc>
              <a:spcBef>
                <a:spcPct val="20000"/>
              </a:spcBef>
              <a:spcAft>
                <a:spcPct val="0"/>
              </a:spcAft>
              <a:buClr>
                <a:schemeClr val="folHlink"/>
              </a:buClr>
              <a:buSzPct val="60000"/>
              <a:buFont typeface="Wingdings" panose="05000000000000000000" pitchFamily="2" charset="2"/>
              <a:buNone/>
              <a:defRPr/>
            </a:pPr>
            <a:endPar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endParaRPr>
          </a:p>
          <a:p>
            <a:pPr marL="342900" marR="0" lvl="0" indent="-342900" algn="l" defTabSz="914400" rtl="0" eaLnBrk="1" fontAlgn="base" latinLnBrk="0" hangingPunct="1">
              <a:lnSpc>
                <a:spcPct val="150000"/>
              </a:lnSpc>
              <a:spcBef>
                <a:spcPct val="20000"/>
              </a:spcBef>
              <a:spcAft>
                <a:spcPct val="0"/>
              </a:spcAft>
              <a:buClr>
                <a:schemeClr val="fo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		    </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如：</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MOV    DPTR</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#2368H</a:t>
            </a:r>
            <a:endPar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endParaRPr>
          </a:p>
          <a:p>
            <a:pPr marL="342900" marR="0" lvl="0" indent="-342900" algn="l" defTabSz="914400" rtl="0" eaLnBrk="1" fontAlgn="base" latinLnBrk="0" hangingPunct="1">
              <a:lnSpc>
                <a:spcPct val="150000"/>
              </a:lnSpc>
              <a:spcBef>
                <a:spcPct val="20000"/>
              </a:spcBef>
              <a:spcAft>
                <a:spcPct val="0"/>
              </a:spcAft>
              <a:buClr>
                <a:schemeClr val="folHlink"/>
              </a:buClr>
              <a:buSzPct val="60000"/>
              <a:buFont typeface="Wingdings" panose="05000000000000000000" pitchFamily="2" charset="2"/>
              <a:buNone/>
              <a:defRPr/>
            </a:pPr>
            <a:r>
              <a:rPr kumimoji="0" lang="en-US" altLang="zh-CN" sz="2400" b="1" i="0" u="none" strike="noStrike" kern="0" cap="none" spc="0" normalizeH="0" baseline="0" noProof="0" dirty="0" smtClean="0">
                <a:ln>
                  <a:noFill/>
                </a:ln>
                <a:solidFill>
                  <a:schemeClr val="folHlink"/>
                </a:solidFill>
                <a:effectLst/>
                <a:uLnTx/>
                <a:uFillTx/>
                <a:latin typeface="+mn-lt"/>
                <a:ea typeface="+mn-ea"/>
                <a:cs typeface="+mn-cs"/>
              </a:rPr>
              <a:t>                </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上述操作同：</a:t>
            </a:r>
            <a:endPar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endParaRPr>
          </a:p>
          <a:p>
            <a:pPr marL="342900" marR="0" lvl="0" indent="-342900" algn="l" defTabSz="914400" rtl="0" eaLnBrk="1" fontAlgn="base" latinLnBrk="0" hangingPunct="1">
              <a:lnSpc>
                <a:spcPct val="150000"/>
              </a:lnSpc>
              <a:spcBef>
                <a:spcPct val="20000"/>
              </a:spcBef>
              <a:spcAft>
                <a:spcPct val="0"/>
              </a:spcAft>
              <a:buClr>
                <a:schemeClr val="folHlink"/>
              </a:buClr>
              <a:buSzPct val="60000"/>
              <a:buFont typeface="Wingdings" panose="05000000000000000000" pitchFamily="2" charset="2"/>
              <a:buNone/>
              <a:defRPr/>
            </a:pP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			 </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MOV    DPH</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#23H </a:t>
            </a:r>
            <a:endPar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endParaRPr>
          </a:p>
          <a:p>
            <a:pPr marL="342900" marR="0" lvl="0" indent="-342900" algn="l" defTabSz="914400" rtl="0" eaLnBrk="1" fontAlgn="base" latinLnBrk="0" hangingPunct="1">
              <a:lnSpc>
                <a:spcPct val="150000"/>
              </a:lnSpc>
              <a:spcBef>
                <a:spcPct val="20000"/>
              </a:spcBef>
              <a:spcAft>
                <a:spcPct val="0"/>
              </a:spcAft>
              <a:buClr>
                <a:schemeClr val="fo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			 MOV    DPL</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#68H</a:t>
            </a:r>
            <a:endPar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2400" b="0" i="0" u="none" strike="noStrike" kern="0" cap="none" spc="0" normalizeH="0" baseline="0" noProof="0" dirty="0" smtClean="0">
              <a:ln>
                <a:noFill/>
              </a:ln>
              <a:solidFill>
                <a:srgbClr val="00FF00"/>
              </a:solidFill>
              <a:effectLst/>
              <a:uLnTx/>
              <a:uFillTx/>
              <a:latin typeface="+mn-lt"/>
              <a:ea typeface="+mn-ea"/>
              <a:cs typeface="+mn-cs"/>
            </a:endParaRPr>
          </a:p>
        </p:txBody>
      </p:sp>
      <p:sp>
        <p:nvSpPr>
          <p:cNvPr id="87042" name="Rectangle 2"/>
          <p:cNvSpPr>
            <a:spLocks noChangeArrowheads="1"/>
          </p:cNvSpPr>
          <p:nvPr/>
        </p:nvSpPr>
        <p:spPr bwMode="auto">
          <a:xfrm>
            <a:off x="1104900" y="214313"/>
            <a:ext cx="7872413" cy="609600"/>
          </a:xfrm>
          <a:prstGeom prst="rect">
            <a:avLst/>
          </a:prstGeom>
          <a:noFill/>
          <a:ln>
            <a:noFill/>
          </a:ln>
        </p:spPr>
        <p:txBody>
          <a:bodyPr anchor="ctr"/>
          <a:lstStyle>
            <a:lvl1pPr>
              <a:defRPr sz="3600">
                <a:solidFill>
                  <a:schemeClr val="tx2"/>
                </a:solidFill>
                <a:latin typeface="Times New Roman" panose="02020503050405090304" pitchFamily="18" charset="0"/>
                <a:ea typeface="宋体" pitchFamily="2" charset="-122"/>
              </a:defRPr>
            </a:lvl1pPr>
            <a:lvl2pPr>
              <a:defRPr sz="3600">
                <a:solidFill>
                  <a:schemeClr val="tx2"/>
                </a:solidFill>
                <a:latin typeface="Times New Roman" panose="02020503050405090304" pitchFamily="18" charset="0"/>
                <a:ea typeface="宋体" pitchFamily="2" charset="-122"/>
              </a:defRPr>
            </a:lvl2pPr>
            <a:lvl3pPr>
              <a:defRPr sz="3600">
                <a:solidFill>
                  <a:schemeClr val="tx2"/>
                </a:solidFill>
                <a:latin typeface="Times New Roman" panose="02020503050405090304" pitchFamily="18" charset="0"/>
                <a:ea typeface="宋体" pitchFamily="2" charset="-122"/>
              </a:defRPr>
            </a:lvl3pPr>
            <a:lvl4pPr>
              <a:defRPr sz="3600">
                <a:solidFill>
                  <a:schemeClr val="tx2"/>
                </a:solidFill>
                <a:latin typeface="Times New Roman" panose="02020503050405090304" pitchFamily="18" charset="0"/>
                <a:ea typeface="宋体" pitchFamily="2" charset="-122"/>
              </a:defRPr>
            </a:lvl4pPr>
            <a:lvl5pPr>
              <a:defRPr sz="3600">
                <a:solidFill>
                  <a:schemeClr val="tx2"/>
                </a:solidFill>
                <a:latin typeface="Times New Roman" panose="02020503050405090304" pitchFamily="18" charset="0"/>
                <a:ea typeface="宋体" pitchFamily="2" charset="-122"/>
              </a:defRPr>
            </a:lvl5pPr>
            <a:lvl6pPr marL="45720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fontAlgn="base">
              <a:spcBef>
                <a:spcPct val="0"/>
              </a:spcBef>
              <a:spcAft>
                <a:spcPct val="0"/>
              </a:spcAft>
              <a:defRPr sz="3600">
                <a:solidFill>
                  <a:schemeClr val="tx2"/>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第三章</a:t>
            </a:r>
            <a:r>
              <a:rPr kumimoji="0" lang="zh-CN" altLang="en-US" sz="28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zh-CN" altLang="en-US" sz="24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en-US" altLang="zh-CN"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MCS-51</a:t>
            </a: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指令系统</a:t>
            </a:r>
            <a:endParaRPr kumimoji="0" lang="zh-CN" altLang="en-US" sz="3600" b="0"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Times New Roman" panose="02020503050405090304" pitchFamily="18" charset="0"/>
              <a:ea typeface="宋体"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55651">
                                            <p:txEl>
                                              <p:charRg st="0" end="20"/>
                                            </p:txEl>
                                          </p:spTgt>
                                        </p:tgtEl>
                                        <p:attrNameLst>
                                          <p:attrName>style.visibility</p:attrName>
                                        </p:attrNameLst>
                                      </p:cBhvr>
                                      <p:to>
                                        <p:strVal val="visible"/>
                                      </p:to>
                                    </p:set>
                                    <p:animEffect transition="in" filter="box(in)">
                                      <p:cBhvr>
                                        <p:cTn id="7" dur="500"/>
                                        <p:tgtEl>
                                          <p:spTgt spid="155651">
                                            <p:txEl>
                                              <p:charRg st="0" end="2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55651">
                                            <p:txEl>
                                              <p:charRg st="21" end="53"/>
                                            </p:txEl>
                                          </p:spTgt>
                                        </p:tgtEl>
                                        <p:attrNameLst>
                                          <p:attrName>style.visibility</p:attrName>
                                        </p:attrNameLst>
                                      </p:cBhvr>
                                      <p:to>
                                        <p:strVal val="visible"/>
                                      </p:to>
                                    </p:set>
                                    <p:animEffect transition="in" filter="box(in)">
                                      <p:cBhvr>
                                        <p:cTn id="12" dur="500"/>
                                        <p:tgtEl>
                                          <p:spTgt spid="155651">
                                            <p:txEl>
                                              <p:charRg st="21" end="5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55651">
                                            <p:txEl>
                                              <p:charRg st="53" end="83"/>
                                            </p:txEl>
                                          </p:spTgt>
                                        </p:tgtEl>
                                        <p:attrNameLst>
                                          <p:attrName>style.visibility</p:attrName>
                                        </p:attrNameLst>
                                      </p:cBhvr>
                                      <p:to>
                                        <p:strVal val="visible"/>
                                      </p:to>
                                    </p:set>
                                    <p:animEffect transition="in" filter="box(in)">
                                      <p:cBhvr>
                                        <p:cTn id="17" dur="500"/>
                                        <p:tgtEl>
                                          <p:spTgt spid="155651">
                                            <p:txEl>
                                              <p:charRg st="53" end="8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55651">
                                            <p:txEl>
                                              <p:charRg st="84" end="111"/>
                                            </p:txEl>
                                          </p:spTgt>
                                        </p:tgtEl>
                                        <p:attrNameLst>
                                          <p:attrName>style.visibility</p:attrName>
                                        </p:attrNameLst>
                                      </p:cBhvr>
                                      <p:to>
                                        <p:strVal val="visible"/>
                                      </p:to>
                                    </p:set>
                                    <p:animEffect transition="in" filter="box(in)">
                                      <p:cBhvr>
                                        <p:cTn id="22" dur="500"/>
                                        <p:tgtEl>
                                          <p:spTgt spid="155651">
                                            <p:txEl>
                                              <p:charRg st="84" end="11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55651">
                                            <p:txEl>
                                              <p:charRg st="111" end="134"/>
                                            </p:txEl>
                                          </p:spTgt>
                                        </p:tgtEl>
                                        <p:attrNameLst>
                                          <p:attrName>style.visibility</p:attrName>
                                        </p:attrNameLst>
                                      </p:cBhvr>
                                      <p:to>
                                        <p:strVal val="visible"/>
                                      </p:to>
                                    </p:set>
                                    <p:animEffect transition="in" filter="box(in)">
                                      <p:cBhvr>
                                        <p:cTn id="27" dur="500"/>
                                        <p:tgtEl>
                                          <p:spTgt spid="155651">
                                            <p:txEl>
                                              <p:charRg st="111" end="13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55651">
                                            <p:txEl>
                                              <p:charRg st="134" end="155"/>
                                            </p:txEl>
                                          </p:spTgt>
                                        </p:tgtEl>
                                        <p:attrNameLst>
                                          <p:attrName>style.visibility</p:attrName>
                                        </p:attrNameLst>
                                      </p:cBhvr>
                                      <p:to>
                                        <p:strVal val="visible"/>
                                      </p:to>
                                    </p:set>
                                    <p:animEffect transition="in" filter="box(in)">
                                      <p:cBhvr>
                                        <p:cTn id="32" dur="500"/>
                                        <p:tgtEl>
                                          <p:spTgt spid="155651">
                                            <p:txEl>
                                              <p:charRg st="134" end="15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155651">
                                            <p:txEl>
                                              <p:charRg st="155" end="175"/>
                                            </p:txEl>
                                          </p:spTgt>
                                        </p:tgtEl>
                                        <p:attrNameLst>
                                          <p:attrName>style.visibility</p:attrName>
                                        </p:attrNameLst>
                                      </p:cBhvr>
                                      <p:to>
                                        <p:strVal val="visible"/>
                                      </p:to>
                                    </p:set>
                                    <p:animEffect transition="in" filter="box(in)">
                                      <p:cBhvr>
                                        <p:cTn id="37" dur="500"/>
                                        <p:tgtEl>
                                          <p:spTgt spid="155651">
                                            <p:txEl>
                                              <p:charRg st="155" end="17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1"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5" name="Rectangle 3"/>
          <p:cNvSpPr>
            <a:spLocks noGrp="1" noChangeArrowheads="1"/>
          </p:cNvSpPr>
          <p:nvPr>
            <p:ph idx="1"/>
          </p:nvPr>
        </p:nvSpPr>
        <p:spPr>
          <a:xfrm>
            <a:off x="611505" y="1043305"/>
            <a:ext cx="7696200" cy="5384165"/>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mn-lt"/>
                <a:ea typeface="+mn-ea"/>
                <a:cs typeface="+mn-cs"/>
              </a:rPr>
              <a:t>在使用通用数据传送指令时，应</a:t>
            </a:r>
            <a:r>
              <a:rPr kumimoji="0" lang="zh-CN" altLang="en-US" sz="2600" b="1" i="0" u="none" strike="noStrike" kern="0" cap="none" spc="0" normalizeH="0" baseline="0" noProof="0" dirty="0" smtClean="0">
                <a:ln>
                  <a:noFill/>
                </a:ln>
                <a:solidFill>
                  <a:schemeClr val="tx1"/>
                </a:solidFill>
                <a:effectLst/>
                <a:uLnTx/>
                <a:uFillTx/>
                <a:latin typeface="+mn-lt"/>
                <a:ea typeface="黑体" panose="02010609060101010101" pitchFamily="49" charset="-122"/>
                <a:cs typeface="+mn-cs"/>
              </a:rPr>
              <a:t>注意</a:t>
            </a:r>
            <a:r>
              <a:rPr kumimoji="0" lang="zh-CN" altLang="en-US" sz="2400" b="1" i="0" u="none" strike="noStrike" kern="0" cap="none" spc="0" normalizeH="0" baseline="0" noProof="0" dirty="0" smtClean="0">
                <a:ln>
                  <a:noFill/>
                </a:ln>
                <a:solidFill>
                  <a:schemeClr val="tx1"/>
                </a:solidFill>
                <a:effectLst/>
                <a:uLnTx/>
                <a:uFillTx/>
                <a:latin typeface="+mn-lt"/>
                <a:ea typeface="+mn-ea"/>
                <a:cs typeface="+mn-cs"/>
              </a:rPr>
              <a:t>以下几点 </a:t>
            </a:r>
            <a:r>
              <a:rPr kumimoji="0" lang="zh-CN" altLang="en-US" sz="2000" b="1" i="0" u="none" strike="noStrike" kern="0" cap="none" spc="0" normalizeH="0" baseline="0" noProof="0" dirty="0" smtClean="0">
                <a:ln>
                  <a:noFill/>
                </a:ln>
                <a:solidFill>
                  <a:schemeClr val="folHlink"/>
                </a:solidFill>
                <a:effectLst/>
                <a:uLnTx/>
                <a:uFillTx/>
                <a:latin typeface="+mn-lt"/>
                <a:ea typeface="+mn-ea"/>
                <a:cs typeface="+mn-cs"/>
              </a:rPr>
              <a:t>：</a:t>
            </a:r>
            <a:endParaRPr kumimoji="0" lang="zh-CN" altLang="en-US" sz="2000" b="1" i="0" u="none" strike="noStrike" kern="0" cap="none" spc="0" normalizeH="0" baseline="0" noProof="0" dirty="0" smtClean="0">
              <a:ln>
                <a:noFill/>
              </a:ln>
              <a:solidFill>
                <a:schemeClr val="folHlink"/>
              </a:solidFill>
              <a:effectLst/>
              <a:uLnTx/>
              <a:uFillTx/>
              <a:latin typeface="+mn-lt"/>
              <a:ea typeface="+mn-ea"/>
              <a:cs typeface="+mn-cs"/>
            </a:endParaRPr>
          </a:p>
          <a:p>
            <a:pPr marL="622300" marR="0" lvl="0" indent="-622300" algn="l" defTabSz="914400" rtl="0" eaLnBrk="1" fontAlgn="base" latinLnBrk="0" hangingPunct="1">
              <a:lnSpc>
                <a:spcPct val="130000"/>
              </a:lnSpc>
              <a:spcBef>
                <a:spcPct val="20000"/>
              </a:spcBef>
              <a:spcAft>
                <a:spcPct val="0"/>
              </a:spcAft>
              <a:buClr>
                <a:schemeClr val="folHlink"/>
              </a:buClr>
              <a:buSzPct val="60000"/>
              <a:buFont typeface="Wingdings" panose="05000000000000000000" pitchFamily="2" charset="2"/>
              <a:buNone/>
              <a:defRPr/>
            </a:pPr>
            <a:r>
              <a:rPr kumimoji="0" lang="zh-CN" altLang="en-US" sz="2000" b="0" i="0" u="none" strike="noStrike" kern="0" cap="none" spc="0" normalizeH="0" baseline="0" noProof="0" dirty="0" smtClean="0">
                <a:ln>
                  <a:noFill/>
                </a:ln>
                <a:solidFill>
                  <a:schemeClr val="folHlink"/>
                </a:solidFill>
                <a:effectLst/>
                <a:uLnTx/>
                <a:uFillTx/>
                <a:latin typeface="+mn-lt"/>
                <a:ea typeface="+mn-ea"/>
                <a:cs typeface="+mn-cs"/>
              </a:rPr>
              <a:t>（</a:t>
            </a:r>
            <a:r>
              <a:rPr kumimoji="0" lang="en-US" altLang="zh-CN" sz="2000" b="0" i="0" u="none" strike="noStrike" kern="0" cap="none" spc="0" normalizeH="0" baseline="0" noProof="0" dirty="0" smtClean="0">
                <a:ln>
                  <a:noFill/>
                </a:ln>
                <a:solidFill>
                  <a:schemeClr val="folHlink"/>
                </a:solidFill>
                <a:effectLst/>
                <a:uLnTx/>
                <a:uFillTx/>
                <a:latin typeface="+mn-lt"/>
                <a:ea typeface="+mn-ea"/>
                <a:cs typeface="+mn-cs"/>
              </a:rPr>
              <a:t>1</a:t>
            </a:r>
            <a:r>
              <a:rPr kumimoji="0" lang="zh-CN" altLang="en-US" sz="2000" b="0" i="0" u="none" strike="noStrike" kern="0" cap="none" spc="0" normalizeH="0" baseline="0" noProof="0" dirty="0" smtClean="0">
                <a:ln>
                  <a:noFill/>
                </a:ln>
                <a:solidFill>
                  <a:schemeClr val="folHlink"/>
                </a:solidFill>
                <a:effectLst/>
                <a:uLnTx/>
                <a:uFillTx/>
                <a:latin typeface="+mn-lt"/>
                <a:ea typeface="+mn-ea"/>
                <a:cs typeface="+mn-cs"/>
              </a:rPr>
              <a:t>）</a:t>
            </a:r>
            <a:r>
              <a:rPr kumimoji="0" lang="en-US" altLang="zh-CN" sz="2000" b="0" i="0" u="none" strike="noStrike" kern="0" cap="none" spc="0" normalizeH="0" baseline="0" noProof="0" dirty="0" smtClean="0">
                <a:ln>
                  <a:noFill/>
                </a:ln>
                <a:solidFill>
                  <a:schemeClr val="folHlink"/>
                </a:solidFill>
                <a:effectLst/>
                <a:uLnTx/>
                <a:uFillTx/>
                <a:latin typeface="+mn-lt"/>
                <a:ea typeface="+mn-ea"/>
                <a:cs typeface="+mn-cs"/>
              </a:rPr>
              <a:t>MCS-51</a:t>
            </a:r>
            <a:r>
              <a:rPr kumimoji="0" lang="zh-CN" altLang="en-US" sz="2000" b="0" i="0" u="none" strike="noStrike" kern="0" cap="none" spc="0" normalizeH="0" baseline="0" noProof="0" dirty="0" smtClean="0">
                <a:ln>
                  <a:noFill/>
                </a:ln>
                <a:solidFill>
                  <a:schemeClr val="folHlink"/>
                </a:solidFill>
                <a:effectLst/>
                <a:uLnTx/>
                <a:uFillTx/>
                <a:latin typeface="+mn-lt"/>
                <a:ea typeface="+mn-ea"/>
                <a:cs typeface="+mn-cs"/>
              </a:rPr>
              <a:t>单片机不支持工作寄存器</a:t>
            </a:r>
            <a:r>
              <a:rPr kumimoji="0" lang="en-US" altLang="zh-CN" sz="2000" b="0" i="0" u="none" strike="noStrike" kern="0" cap="none" spc="0" normalizeH="0" baseline="0" noProof="0" dirty="0" smtClean="0">
                <a:ln>
                  <a:noFill/>
                </a:ln>
                <a:solidFill>
                  <a:schemeClr val="folHlink"/>
                </a:solidFill>
                <a:effectLst/>
                <a:uLnTx/>
                <a:uFillTx/>
                <a:latin typeface="+mn-lt"/>
                <a:ea typeface="+mn-ea"/>
                <a:cs typeface="+mn-cs"/>
              </a:rPr>
              <a:t>R0~R7</a:t>
            </a:r>
            <a:r>
              <a:rPr kumimoji="0" lang="zh-CN" altLang="en-US" sz="2000" b="0" i="0" u="none" strike="noStrike" kern="0" cap="none" spc="0" normalizeH="0" baseline="0" noProof="0" dirty="0" smtClean="0">
                <a:ln>
                  <a:noFill/>
                </a:ln>
                <a:solidFill>
                  <a:schemeClr val="folHlink"/>
                </a:solidFill>
                <a:effectLst/>
                <a:uLnTx/>
                <a:uFillTx/>
                <a:latin typeface="+mn-lt"/>
                <a:ea typeface="+mn-ea"/>
                <a:cs typeface="+mn-cs"/>
              </a:rPr>
              <a:t>内容直接传送给由地址寄存器内容指定的单元，或由地址寄存器内容指定单元的内容送给工作寄存器</a:t>
            </a:r>
            <a:r>
              <a:rPr kumimoji="0" lang="en-US" altLang="zh-CN" sz="2000" b="0" i="0" u="none" strike="noStrike" kern="0" cap="none" spc="0" normalizeH="0" baseline="0" noProof="0" dirty="0" smtClean="0">
                <a:ln>
                  <a:noFill/>
                </a:ln>
                <a:solidFill>
                  <a:schemeClr val="folHlink"/>
                </a:solidFill>
                <a:effectLst/>
                <a:uLnTx/>
                <a:uFillTx/>
                <a:latin typeface="+mn-lt"/>
                <a:ea typeface="+mn-ea"/>
                <a:cs typeface="+mn-cs"/>
              </a:rPr>
              <a:t>R0~R7</a:t>
            </a:r>
            <a:r>
              <a:rPr kumimoji="0" lang="zh-CN" altLang="en-US" sz="2000" b="0" i="0" u="none" strike="noStrike" kern="0" cap="none" spc="0" normalizeH="0" baseline="0" noProof="0" dirty="0" smtClean="0">
                <a:ln>
                  <a:noFill/>
                </a:ln>
                <a:solidFill>
                  <a:schemeClr val="folHlink"/>
                </a:solidFill>
                <a:effectLst/>
                <a:uLnTx/>
                <a:uFillTx/>
                <a:latin typeface="+mn-lt"/>
                <a:ea typeface="+mn-ea"/>
                <a:cs typeface="+mn-cs"/>
              </a:rPr>
              <a:t>，如果需要传送，如果在程序中需要这样的数据传送，可以采用其他方式间接实现。</a:t>
            </a:r>
            <a:endParaRPr kumimoji="0" lang="zh-CN" altLang="en-US" sz="2000" b="0" i="0" u="none" strike="noStrike" kern="0" cap="none" spc="0" normalizeH="0" baseline="0" noProof="0" dirty="0" smtClean="0">
              <a:ln>
                <a:noFill/>
              </a:ln>
              <a:solidFill>
                <a:schemeClr val="folHlink"/>
              </a:solidFill>
              <a:effectLst/>
              <a:uLnTx/>
              <a:uFillTx/>
              <a:latin typeface="+mn-lt"/>
              <a:ea typeface="+mn-ea"/>
              <a:cs typeface="+mn-cs"/>
            </a:endParaRPr>
          </a:p>
          <a:p>
            <a:pPr marL="342900" marR="0" lvl="0" indent="-342900" algn="l" defTabSz="914400" rtl="0" eaLnBrk="1" fontAlgn="base" latinLnBrk="0" hangingPunct="1">
              <a:lnSpc>
                <a:spcPct val="130000"/>
              </a:lnSpc>
              <a:spcBef>
                <a:spcPct val="0"/>
              </a:spcBef>
              <a:spcAft>
                <a:spcPct val="0"/>
              </a:spcAft>
              <a:buClr>
                <a:schemeClr val="folHlink"/>
              </a:buClr>
              <a:buSzPct val="60000"/>
              <a:buFont typeface="Wingdings" panose="05000000000000000000" pitchFamily="2" charset="2"/>
              <a:buNone/>
              <a:defRPr/>
            </a:pPr>
            <a:r>
              <a:rPr kumimoji="0" lang="zh-CN" altLang="en-US" sz="2400" b="1" i="0" u="none" strike="noStrike" kern="0" cap="none" spc="0" normalizeH="0" baseline="0" noProof="0" dirty="0" smtClean="0">
                <a:ln>
                  <a:noFill/>
                </a:ln>
                <a:solidFill>
                  <a:srgbClr val="000000"/>
                </a:solidFill>
                <a:effectLst/>
                <a:uLnTx/>
                <a:uFillTx/>
                <a:latin typeface="宋体" pitchFamily="2" charset="-122"/>
                <a:ea typeface="+mn-ea"/>
                <a:cs typeface="+mn-cs"/>
              </a:rPr>
              <a:t>   即：一条指令中不能同时出现两个工作寄存器：</a:t>
            </a:r>
            <a:br>
              <a:rPr kumimoji="0" lang="zh-CN" altLang="en-US" sz="2400" b="1" i="0" u="none" strike="noStrike" kern="0" cap="none" spc="0" normalizeH="0" baseline="0" noProof="0" dirty="0" smtClean="0">
                <a:ln>
                  <a:noFill/>
                </a:ln>
                <a:solidFill>
                  <a:srgbClr val="000000"/>
                </a:solidFill>
                <a:effectLst/>
                <a:uLnTx/>
                <a:uFillTx/>
                <a:latin typeface="宋体" pitchFamily="2" charset="-122"/>
                <a:ea typeface="+mn-ea"/>
                <a:cs typeface="+mn-cs"/>
              </a:rPr>
            </a:br>
            <a:r>
              <a:rPr kumimoji="0" lang="zh-CN" altLang="en-US" sz="2400" b="1" i="0" u="none" strike="noStrike" kern="0" cap="none" spc="0" normalizeH="0" baseline="0" noProof="0" dirty="0" smtClean="0">
                <a:ln>
                  <a:noFill/>
                </a:ln>
                <a:solidFill>
                  <a:srgbClr val="000000"/>
                </a:solidFill>
                <a:effectLst/>
                <a:uLnTx/>
                <a:uFillTx/>
                <a:latin typeface="宋体" pitchFamily="2" charset="-122"/>
                <a:ea typeface="+mn-ea"/>
                <a:cs typeface="+mn-cs"/>
              </a:rPr>
              <a:t>	</a:t>
            </a:r>
            <a:r>
              <a:rPr kumimoji="0" lang="zh-CN" altLang="en-US" sz="2400" b="1" i="0" u="none" strike="noStrike" kern="0" cap="none" spc="0" normalizeH="0" baseline="0" noProof="0" dirty="0" smtClean="0">
                <a:ln>
                  <a:noFill/>
                </a:ln>
                <a:solidFill>
                  <a:srgbClr val="FFC000"/>
                </a:solidFill>
                <a:effectLst/>
                <a:uLnTx/>
                <a:uFillTx/>
                <a:latin typeface="宋体" pitchFamily="2" charset="-122"/>
                <a:ea typeface="+mn-ea"/>
                <a:cs typeface="+mn-cs"/>
              </a:rPr>
              <a:t>非法</a:t>
            </a:r>
            <a:r>
              <a:rPr kumimoji="0" lang="zh-CN" altLang="en-US" sz="2400" b="1" i="0" u="none" strike="noStrike" kern="0" cap="none" spc="0" normalizeH="0" baseline="0" noProof="0" dirty="0" smtClean="0">
                <a:ln>
                  <a:noFill/>
                </a:ln>
                <a:solidFill>
                  <a:srgbClr val="000000"/>
                </a:solidFill>
                <a:effectLst/>
                <a:uLnTx/>
                <a:uFillTx/>
                <a:latin typeface="宋体" pitchFamily="2" charset="-122"/>
                <a:ea typeface="+mn-ea"/>
                <a:cs typeface="+mn-cs"/>
              </a:rPr>
              <a:t>指令：	</a:t>
            </a:r>
            <a:r>
              <a:rPr kumimoji="0" lang="en-US" altLang="zh-CN" sz="2400" b="1" i="0" u="none" strike="noStrike" kern="0" cap="none" spc="0" normalizeH="0" baseline="0" noProof="0" dirty="0" smtClean="0">
                <a:ln>
                  <a:noFill/>
                </a:ln>
                <a:solidFill>
                  <a:srgbClr val="000000"/>
                </a:solidFill>
                <a:effectLst/>
                <a:uLnTx/>
                <a:uFillTx/>
                <a:latin typeface="宋体" pitchFamily="2" charset="-122"/>
                <a:ea typeface="+mn-ea"/>
                <a:cs typeface="+mn-cs"/>
              </a:rPr>
              <a:t>MOV  R1，R2 </a:t>
            </a:r>
            <a:br>
              <a:rPr kumimoji="0" lang="en-US" altLang="zh-CN" sz="2400" b="1" i="0" u="none" strike="noStrike" kern="0" cap="none" spc="0" normalizeH="0" baseline="0" noProof="0" dirty="0" smtClean="0">
                <a:ln>
                  <a:noFill/>
                </a:ln>
                <a:solidFill>
                  <a:srgbClr val="000000"/>
                </a:solidFill>
                <a:effectLst/>
                <a:uLnTx/>
                <a:uFillTx/>
                <a:latin typeface="宋体" pitchFamily="2" charset="-122"/>
                <a:ea typeface="+mn-ea"/>
                <a:cs typeface="+mn-cs"/>
              </a:rPr>
            </a:br>
            <a:r>
              <a:rPr kumimoji="0" lang="en-US" altLang="zh-CN" sz="2400" b="1" i="0" u="none" strike="noStrike" kern="0" cap="none" spc="0" normalizeH="0" baseline="0" noProof="0" dirty="0" smtClean="0">
                <a:ln>
                  <a:noFill/>
                </a:ln>
                <a:solidFill>
                  <a:srgbClr val="000000"/>
                </a:solidFill>
                <a:effectLst/>
                <a:uLnTx/>
                <a:uFillTx/>
                <a:latin typeface="宋体" pitchFamily="2" charset="-122"/>
                <a:ea typeface="+mn-ea"/>
                <a:cs typeface="+mn-cs"/>
              </a:rPr>
              <a:t>		      MOV  R2，@R0</a:t>
            </a:r>
            <a:endParaRPr kumimoji="0" lang="zh-CN" altLang="en-US" sz="2000" b="0" i="0" u="none" strike="noStrike" kern="0" cap="none" spc="0" normalizeH="0" baseline="0" noProof="0" dirty="0" smtClean="0">
              <a:ln>
                <a:noFill/>
              </a:ln>
              <a:solidFill>
                <a:schemeClr val="folHlink"/>
              </a:solidFill>
              <a:effectLst/>
              <a:uLnTx/>
              <a:uFillTx/>
              <a:latin typeface="+mn-lt"/>
              <a:ea typeface="+mn-ea"/>
              <a:cs typeface="+mn-cs"/>
            </a:endParaRPr>
          </a:p>
          <a:p>
            <a:pPr marL="990600" marR="0" lvl="0" indent="-990600" algn="l" defTabSz="914400" rtl="0" eaLnBrk="1" fontAlgn="base" latinLnBrk="0" hangingPunct="1">
              <a:lnSpc>
                <a:spcPct val="130000"/>
              </a:lnSpc>
              <a:spcBef>
                <a:spcPct val="20000"/>
              </a:spcBef>
              <a:spcAft>
                <a:spcPct val="0"/>
              </a:spcAft>
              <a:buClr>
                <a:schemeClr val="folHlink"/>
              </a:buClr>
              <a:buSzPct val="60000"/>
              <a:buFont typeface="Wingdings" panose="05000000000000000000" pitchFamily="2" charset="2"/>
              <a:buNone/>
              <a:defRPr/>
            </a:pPr>
            <a:r>
              <a:rPr kumimoji="0" lang="zh-CN" altLang="en-US" sz="2000" b="0" i="0" u="none" strike="noStrike" kern="0" cap="none" spc="0" normalizeH="0" baseline="0" noProof="0" dirty="0" smtClean="0">
                <a:ln>
                  <a:noFill/>
                </a:ln>
                <a:solidFill>
                  <a:schemeClr val="folHlink"/>
                </a:solidFill>
                <a:effectLst/>
                <a:uLnTx/>
                <a:uFillTx/>
                <a:latin typeface="+mn-lt"/>
                <a:ea typeface="+mn-ea"/>
                <a:cs typeface="+mn-cs"/>
              </a:rPr>
              <a:t>   例如：希望把地址寄存器</a:t>
            </a:r>
            <a:r>
              <a:rPr kumimoji="0" lang="en-US" altLang="zh-CN" sz="2000" b="0" i="0" u="none" strike="noStrike" kern="0" cap="none" spc="0" normalizeH="0" baseline="0" noProof="0" dirty="0" smtClean="0">
                <a:ln>
                  <a:noFill/>
                </a:ln>
                <a:solidFill>
                  <a:schemeClr val="folHlink"/>
                </a:solidFill>
                <a:effectLst/>
                <a:uLnTx/>
                <a:uFillTx/>
                <a:latin typeface="+mn-lt"/>
                <a:ea typeface="+mn-ea"/>
                <a:cs typeface="+mn-cs"/>
              </a:rPr>
              <a:t>R1</a:t>
            </a:r>
            <a:r>
              <a:rPr kumimoji="0" lang="zh-CN" altLang="en-US" sz="2000" b="0" i="0" u="none" strike="noStrike" kern="0" cap="none" spc="0" normalizeH="0" baseline="0" noProof="0" dirty="0" smtClean="0">
                <a:ln>
                  <a:noFill/>
                </a:ln>
                <a:solidFill>
                  <a:schemeClr val="folHlink"/>
                </a:solidFill>
                <a:effectLst/>
                <a:uLnTx/>
                <a:uFillTx/>
                <a:latin typeface="+mn-lt"/>
                <a:ea typeface="+mn-ea"/>
                <a:cs typeface="+mn-cs"/>
              </a:rPr>
              <a:t>内容指定的单元内容传送给工作寄存器</a:t>
            </a:r>
            <a:r>
              <a:rPr kumimoji="0" lang="en-US" altLang="zh-CN" sz="2000" b="0" i="0" u="none" strike="noStrike" kern="0" cap="none" spc="0" normalizeH="0" baseline="0" noProof="0" dirty="0" smtClean="0">
                <a:ln>
                  <a:noFill/>
                </a:ln>
                <a:solidFill>
                  <a:schemeClr val="folHlink"/>
                </a:solidFill>
                <a:effectLst/>
                <a:uLnTx/>
                <a:uFillTx/>
                <a:latin typeface="+mn-lt"/>
                <a:ea typeface="+mn-ea"/>
                <a:cs typeface="+mn-cs"/>
              </a:rPr>
              <a:t>R5</a:t>
            </a:r>
            <a:r>
              <a:rPr kumimoji="0" lang="zh-CN" altLang="en-US" sz="2000" b="0" i="0" u="none" strike="noStrike" kern="0" cap="none" spc="0" normalizeH="0" baseline="0" noProof="0" dirty="0" smtClean="0">
                <a:ln>
                  <a:noFill/>
                </a:ln>
                <a:solidFill>
                  <a:schemeClr val="folHlink"/>
                </a:solidFill>
                <a:effectLst/>
                <a:uLnTx/>
                <a:uFillTx/>
                <a:latin typeface="+mn-lt"/>
                <a:ea typeface="+mn-ea"/>
                <a:cs typeface="+mn-cs"/>
              </a:rPr>
              <a:t>，可以采用：</a:t>
            </a:r>
            <a:endParaRPr kumimoji="0" lang="zh-CN" altLang="en-US" sz="2000" b="0" i="0" u="none" strike="noStrike" kern="0" cap="none" spc="0" normalizeH="0" baseline="0" noProof="0" dirty="0" smtClean="0">
              <a:ln>
                <a:noFill/>
              </a:ln>
              <a:solidFill>
                <a:schemeClr val="folHlink"/>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zh-CN" altLang="en-US" sz="2000" b="0" i="0" u="none" strike="noStrike" kern="0" cap="none" spc="0" normalizeH="0" baseline="0" noProof="0" dirty="0" smtClean="0">
                <a:ln>
                  <a:noFill/>
                </a:ln>
                <a:solidFill>
                  <a:schemeClr val="folHlink"/>
                </a:solidFill>
                <a:effectLst/>
                <a:uLnTx/>
                <a:uFillTx/>
                <a:latin typeface="+mn-lt"/>
                <a:ea typeface="+mn-ea"/>
                <a:cs typeface="+mn-cs"/>
              </a:rPr>
              <a:t>		</a:t>
            </a:r>
            <a:r>
              <a:rPr kumimoji="0" lang="zh-CN" altLang="en-US" sz="2400" b="1" i="0" u="none" strike="noStrike" kern="0" cap="none" spc="0" normalizeH="0" baseline="0" noProof="0" dirty="0" smtClean="0">
                <a:ln>
                  <a:noFill/>
                </a:ln>
                <a:solidFill>
                  <a:srgbClr val="000000"/>
                </a:solidFill>
                <a:effectLst/>
                <a:uLnTx/>
                <a:uFillTx/>
                <a:latin typeface="宋体" pitchFamily="2" charset="-122"/>
                <a:ea typeface="+mn-ea"/>
                <a:cs typeface="+mn-cs"/>
              </a:rPr>
              <a:t>            </a:t>
            </a:r>
            <a:r>
              <a:rPr kumimoji="0" lang="en-US" altLang="zh-CN" sz="2400" b="1" i="0" u="none" strike="noStrike" kern="0" cap="none" spc="0" normalizeH="0" baseline="0" noProof="0" dirty="0" smtClean="0">
                <a:ln>
                  <a:noFill/>
                </a:ln>
                <a:solidFill>
                  <a:srgbClr val="000000"/>
                </a:solidFill>
                <a:effectLst/>
                <a:uLnTx/>
                <a:uFillTx/>
                <a:latin typeface="宋体" pitchFamily="2" charset="-122"/>
                <a:ea typeface="+mn-ea"/>
                <a:cs typeface="+mn-cs"/>
              </a:rPr>
              <a:t>MOV A, @R1</a:t>
            </a:r>
            <a:endParaRPr kumimoji="0" lang="en-US" altLang="zh-CN" sz="2400" b="1" i="0" u="none" strike="noStrike" kern="0" cap="none" spc="0" normalizeH="0" baseline="0" noProof="0" dirty="0" smtClean="0">
              <a:ln>
                <a:noFill/>
              </a:ln>
              <a:solidFill>
                <a:srgbClr val="000000"/>
              </a:solidFill>
              <a:effectLst/>
              <a:uLnTx/>
              <a:uFillTx/>
              <a:latin typeface="宋体" pitchFamily="2" charset="-122"/>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2400" b="1" i="0" u="none" strike="noStrike" kern="0" cap="none" spc="0" normalizeH="0" baseline="0" noProof="0" dirty="0" smtClean="0">
                <a:ln>
                  <a:noFill/>
                </a:ln>
                <a:solidFill>
                  <a:srgbClr val="000000"/>
                </a:solidFill>
                <a:effectLst/>
                <a:uLnTx/>
                <a:uFillTx/>
                <a:latin typeface="宋体" pitchFamily="2" charset="-122"/>
                <a:ea typeface="+mn-ea"/>
                <a:cs typeface="+mn-cs"/>
              </a:rPr>
              <a:t>                  MOV R5, A</a:t>
            </a:r>
            <a:endParaRPr kumimoji="0" lang="en-US" altLang="zh-CN" sz="2400" b="1" i="0" u="none" strike="noStrike" kern="0" cap="none" spc="0" normalizeH="0" baseline="0" noProof="0" dirty="0" smtClean="0">
              <a:ln>
                <a:noFill/>
              </a:ln>
              <a:solidFill>
                <a:srgbClr val="000000"/>
              </a:solidFill>
              <a:effectLst/>
              <a:uLnTx/>
              <a:uFillTx/>
              <a:latin typeface="宋体" pitchFamily="2" charset="-122"/>
              <a:ea typeface="+mn-ea"/>
              <a:cs typeface="+mn-cs"/>
            </a:endParaRPr>
          </a:p>
        </p:txBody>
      </p:sp>
      <p:sp>
        <p:nvSpPr>
          <p:cNvPr id="87042" name="Rectangle 2"/>
          <p:cNvSpPr>
            <a:spLocks noChangeArrowheads="1"/>
          </p:cNvSpPr>
          <p:nvPr/>
        </p:nvSpPr>
        <p:spPr bwMode="auto">
          <a:xfrm>
            <a:off x="1104900" y="214313"/>
            <a:ext cx="7872413" cy="609600"/>
          </a:xfrm>
          <a:prstGeom prst="rect">
            <a:avLst/>
          </a:prstGeom>
          <a:noFill/>
          <a:ln>
            <a:noFill/>
          </a:ln>
        </p:spPr>
        <p:txBody>
          <a:bodyPr anchor="ctr"/>
          <a:lstStyle>
            <a:lvl1pPr>
              <a:defRPr sz="3600">
                <a:solidFill>
                  <a:schemeClr val="tx2"/>
                </a:solidFill>
                <a:latin typeface="Times New Roman" panose="02020503050405090304" pitchFamily="18" charset="0"/>
                <a:ea typeface="宋体" pitchFamily="2" charset="-122"/>
              </a:defRPr>
            </a:lvl1pPr>
            <a:lvl2pPr>
              <a:defRPr sz="3600">
                <a:solidFill>
                  <a:schemeClr val="tx2"/>
                </a:solidFill>
                <a:latin typeface="Times New Roman" panose="02020503050405090304" pitchFamily="18" charset="0"/>
                <a:ea typeface="宋体" pitchFamily="2" charset="-122"/>
              </a:defRPr>
            </a:lvl2pPr>
            <a:lvl3pPr>
              <a:defRPr sz="3600">
                <a:solidFill>
                  <a:schemeClr val="tx2"/>
                </a:solidFill>
                <a:latin typeface="Times New Roman" panose="02020503050405090304" pitchFamily="18" charset="0"/>
                <a:ea typeface="宋体" pitchFamily="2" charset="-122"/>
              </a:defRPr>
            </a:lvl3pPr>
            <a:lvl4pPr>
              <a:defRPr sz="3600">
                <a:solidFill>
                  <a:schemeClr val="tx2"/>
                </a:solidFill>
                <a:latin typeface="Times New Roman" panose="02020503050405090304" pitchFamily="18" charset="0"/>
                <a:ea typeface="宋体" pitchFamily="2" charset="-122"/>
              </a:defRPr>
            </a:lvl4pPr>
            <a:lvl5pPr>
              <a:defRPr sz="3600">
                <a:solidFill>
                  <a:schemeClr val="tx2"/>
                </a:solidFill>
                <a:latin typeface="Times New Roman" panose="02020503050405090304" pitchFamily="18" charset="0"/>
                <a:ea typeface="宋体" pitchFamily="2" charset="-122"/>
              </a:defRPr>
            </a:lvl5pPr>
            <a:lvl6pPr marL="45720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fontAlgn="base">
              <a:spcBef>
                <a:spcPct val="0"/>
              </a:spcBef>
              <a:spcAft>
                <a:spcPct val="0"/>
              </a:spcAft>
              <a:defRPr sz="3600">
                <a:solidFill>
                  <a:schemeClr val="tx2"/>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第三章</a:t>
            </a:r>
            <a:r>
              <a:rPr kumimoji="0" lang="zh-CN" altLang="en-US" sz="28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zh-CN" altLang="en-US" sz="24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en-US" altLang="zh-CN"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MCS-51</a:t>
            </a: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指令系统</a:t>
            </a:r>
            <a:endParaRPr kumimoji="0" lang="zh-CN" altLang="en-US" sz="3600" b="0"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Times New Roman" panose="02020503050405090304" pitchFamily="18" charset="0"/>
              <a:ea typeface="宋体" pitchFamily="2" charset="-122"/>
              <a:cs typeface="+mn-c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9" name="Rectangle 3"/>
          <p:cNvSpPr>
            <a:spLocks noGrp="1" noChangeArrowheads="1"/>
          </p:cNvSpPr>
          <p:nvPr>
            <p:ph idx="1"/>
          </p:nvPr>
        </p:nvSpPr>
        <p:spPr>
          <a:xfrm>
            <a:off x="468313" y="1042988"/>
            <a:ext cx="8064500" cy="5481638"/>
          </a:xfrm>
        </p:spPr>
        <p:txBody>
          <a:bodyPr vert="horz" wrap="square" lIns="91440" tIns="45720" rIns="91440" bIns="45720" numCol="1" anchor="t" anchorCtr="0" compatLnSpc="1"/>
          <a:lstStyle/>
          <a:p>
            <a:pPr marL="622300" marR="0" lvl="0" indent="-622300" algn="l" defTabSz="914400" rtl="0" eaLnBrk="1" fontAlgn="base" latinLnBrk="0" hangingPunct="1">
              <a:lnSpc>
                <a:spcPct val="130000"/>
              </a:lnSpc>
              <a:spcBef>
                <a:spcPct val="20000"/>
              </a:spcBef>
              <a:spcAft>
                <a:spcPct val="0"/>
              </a:spcAft>
              <a:buClr>
                <a:schemeClr val="folHlink"/>
              </a:buClr>
              <a:buSzPct val="60000"/>
              <a:buFont typeface="Wingdings" panose="05000000000000000000" pitchFamily="2" charset="2"/>
              <a:buNone/>
              <a:defRPr/>
            </a:pPr>
            <a:r>
              <a:rPr kumimoji="0" lang="zh-CN" altLang="en-US" sz="1800" b="0" i="0" u="none" strike="noStrike" kern="0" cap="none" spc="0" normalizeH="0" baseline="0" noProof="0" dirty="0" smtClean="0">
                <a:ln>
                  <a:noFill/>
                </a:ln>
                <a:solidFill>
                  <a:schemeClr val="folHlink"/>
                </a:solidFill>
                <a:effectLst/>
                <a:uLnTx/>
                <a:uFillTx/>
                <a:latin typeface="+mn-lt"/>
                <a:ea typeface="+mn-ea"/>
                <a:cs typeface="+mn-cs"/>
              </a:rPr>
              <a:t>（2）MOV A,ACC 是合法指令：ACC 是累加器的直接地址名（E0H）。</a:t>
            </a:r>
            <a:r>
              <a:rPr kumimoji="0" lang="en-US" altLang="zh-CN" sz="1800" b="0" i="0" u="none" strike="noStrike" kern="0" cap="none" spc="0" normalizeH="0" baseline="0" noProof="0" dirty="0" smtClean="0">
                <a:ln>
                  <a:noFill/>
                </a:ln>
                <a:solidFill>
                  <a:schemeClr val="folHlink"/>
                </a:solidFill>
                <a:effectLst/>
                <a:uLnTx/>
                <a:uFillTx/>
                <a:latin typeface="+mn-lt"/>
                <a:ea typeface="+mn-ea"/>
                <a:cs typeface="+mn-cs"/>
              </a:rPr>
              <a:t/>
            </a:r>
            <a:r>
              <a:rPr kumimoji="0" lang="zh-CN" altLang="en-US" sz="1800" b="0" i="0" u="none" strike="noStrike" kern="0" cap="none" spc="0" normalizeH="0" baseline="0" noProof="0" dirty="0" smtClean="0">
                <a:ln>
                  <a:noFill/>
                </a:ln>
                <a:solidFill>
                  <a:schemeClr val="folHlink"/>
                </a:solidFill>
                <a:effectLst/>
                <a:uLnTx/>
                <a:uFillTx/>
                <a:latin typeface="+mn-lt"/>
                <a:ea typeface="+mn-ea"/>
                <a:cs typeface="+mn-cs"/>
              </a:rPr>
              <a:t/>
            </a:r>
            <a:r>
              <a:rPr kumimoji="0" lang="en-US" altLang="zh-CN" sz="1800" b="0" i="0" u="none" strike="noStrike" kern="0" cap="none" spc="0" normalizeH="0" baseline="0" noProof="0" dirty="0" smtClean="0">
                <a:ln>
                  <a:noFill/>
                </a:ln>
                <a:solidFill>
                  <a:schemeClr val="folHlink"/>
                </a:solidFill>
                <a:effectLst/>
                <a:uLnTx/>
                <a:uFillTx/>
                <a:latin typeface="+mn-lt"/>
                <a:ea typeface="+mn-ea"/>
                <a:cs typeface="+mn-cs"/>
              </a:rPr>
              <a:t/>
            </a:r>
            <a:r>
              <a:rPr kumimoji="0" lang="zh-CN" altLang="en-US" sz="1800" b="0" i="0" u="none" strike="noStrike" kern="0" cap="none" spc="0" normalizeH="0" baseline="0" noProof="0" dirty="0" smtClean="0">
                <a:ln>
                  <a:noFill/>
                </a:ln>
                <a:solidFill>
                  <a:schemeClr val="folHlink"/>
                </a:solidFill>
                <a:effectLst/>
                <a:uLnTx/>
                <a:uFillTx/>
                <a:latin typeface="+mn-lt"/>
                <a:ea typeface="+mn-ea"/>
                <a:cs typeface="+mn-cs"/>
              </a:rPr>
              <a:t/>
            </a:r>
            <a:r>
              <a:rPr kumimoji="0" lang="en-US" altLang="zh-CN" sz="1800" b="0" i="0" u="none" strike="noStrike" kern="0" cap="none" spc="0" normalizeH="0" baseline="0" noProof="0" dirty="0" smtClean="0">
                <a:ln>
                  <a:noFill/>
                </a:ln>
                <a:solidFill>
                  <a:schemeClr val="folHlink"/>
                </a:solidFill>
                <a:effectLst/>
                <a:uLnTx/>
                <a:uFillTx/>
                <a:latin typeface="+mn-lt"/>
                <a:ea typeface="+mn-ea"/>
                <a:cs typeface="+mn-cs"/>
              </a:rPr>
              <a:t/>
            </a:r>
            <a:endParaRPr kumimoji="0" lang="en-US" altLang="zh-CN" sz="2000" b="0" i="0" u="none" strike="noStrike" kern="0" cap="none" spc="0" normalizeH="0" baseline="0" noProof="0" dirty="0" smtClean="0">
              <a:ln>
                <a:noFill/>
              </a:ln>
              <a:solidFill>
                <a:schemeClr val="folHlink"/>
              </a:solidFill>
              <a:effectLst/>
              <a:uLnTx/>
              <a:uFillTx/>
              <a:latin typeface="+mn-lt"/>
              <a:ea typeface="+mn-ea"/>
              <a:cs typeface="+mn-cs"/>
            </a:endParaRPr>
          </a:p>
          <a:p>
            <a:pPr marL="622300" marR="0" lvl="0" indent="-622300" algn="l" defTabSz="914400" rtl="0" eaLnBrk="1" fontAlgn="base" latinLnBrk="0" hangingPunct="1">
              <a:lnSpc>
                <a:spcPct val="130000"/>
              </a:lnSpc>
              <a:spcBef>
                <a:spcPct val="20000"/>
              </a:spcBef>
              <a:spcAft>
                <a:spcPct val="0"/>
              </a:spcAft>
              <a:buClr>
                <a:schemeClr val="folHlink"/>
              </a:buClr>
              <a:buSzPct val="60000"/>
              <a:buFont typeface="Wingdings" panose="05000000000000000000" pitchFamily="2" charset="2"/>
              <a:buNone/>
              <a:defRPr/>
            </a:pPr>
            <a:r>
              <a:rPr kumimoji="0" lang="zh-CN" altLang="en-US" sz="1800" b="0" i="0" u="none" strike="noStrike" kern="0" cap="none" spc="0" normalizeH="0" baseline="0" noProof="0" dirty="0" smtClean="0">
                <a:ln>
                  <a:noFill/>
                </a:ln>
                <a:solidFill>
                  <a:schemeClr val="folHlink"/>
                </a:solidFill>
                <a:effectLst/>
                <a:uLnTx/>
                <a:uFillTx/>
                <a:latin typeface="+mn-lt"/>
                <a:ea typeface="+mn-ea"/>
                <a:cs typeface="+mn-cs"/>
              </a:rPr>
              <a:t>        编码为 E5H E0H；A 的数值保持不变，并非非法指令。</a:t>
            </a:r>
            <a:r>
              <a:rPr kumimoji="0" lang="en-US" altLang="zh-CN" sz="1800" b="0" i="0" u="none" strike="noStrike" kern="0" cap="none" spc="0" normalizeH="0" baseline="0" noProof="0" dirty="0" smtClean="0">
                <a:ln>
                  <a:noFill/>
                </a:ln>
                <a:solidFill>
                  <a:schemeClr val="folHlink"/>
                </a:solidFill>
                <a:effectLst/>
                <a:uLnTx/>
                <a:uFillTx/>
                <a:latin typeface="+mn-lt"/>
                <a:ea typeface="+mn-ea"/>
                <a:cs typeface="+mn-cs"/>
              </a:rPr>
              <a:t/>
            </a:r>
            <a:r>
              <a:rPr kumimoji="0" lang="zh-CN" altLang="en-US" sz="1800" b="0" i="0" u="none" strike="noStrike" kern="0" cap="none" spc="0" normalizeH="0" baseline="0" noProof="0" dirty="0" smtClean="0">
                <a:ln>
                  <a:noFill/>
                </a:ln>
                <a:solidFill>
                  <a:schemeClr val="folHlink"/>
                </a:solidFill>
                <a:effectLst/>
                <a:uLnTx/>
                <a:uFillTx/>
                <a:latin typeface="+mn-lt"/>
                <a:ea typeface="+mn-ea"/>
                <a:cs typeface="+mn-cs"/>
              </a:rPr>
              <a:t/>
            </a:r>
            <a:r>
              <a:rPr kumimoji="0" lang="en-US" altLang="zh-CN" sz="1800" b="0" i="0" u="none" strike="noStrike" kern="0" cap="none" spc="0" normalizeH="0" baseline="0" noProof="0" dirty="0" smtClean="0">
                <a:ln>
                  <a:noFill/>
                </a:ln>
                <a:solidFill>
                  <a:schemeClr val="folHlink"/>
                </a:solidFill>
                <a:effectLst/>
                <a:uLnTx/>
                <a:uFillTx/>
                <a:latin typeface="+mn-lt"/>
                <a:ea typeface="+mn-ea"/>
                <a:cs typeface="+mn-cs"/>
              </a:rPr>
              <a:t/>
            </a:r>
            <a:r>
              <a:rPr kumimoji="0" lang="zh-CN" altLang="en-US" sz="1800" b="0" i="0" u="none" strike="noStrike" kern="0" cap="none" spc="0" normalizeH="0" baseline="0" noProof="0" dirty="0" smtClean="0">
                <a:ln>
                  <a:noFill/>
                </a:ln>
                <a:solidFill>
                  <a:schemeClr val="folHlink"/>
                </a:solidFill>
                <a:effectLst/>
                <a:uLnTx/>
                <a:uFillTx/>
                <a:latin typeface="+mn-lt"/>
                <a:ea typeface="+mn-ea"/>
                <a:cs typeface="+mn-cs"/>
              </a:rPr>
              <a:t/>
            </a:r>
            <a:r>
              <a:rPr kumimoji="0" lang="en-US" altLang="zh-CN" sz="1800" b="0" i="0" u="none" strike="noStrike" kern="0" cap="none" spc="0" normalizeH="0" baseline="0" noProof="0" dirty="0" smtClean="0">
                <a:ln>
                  <a:noFill/>
                </a:ln>
                <a:solidFill>
                  <a:schemeClr val="folHlink"/>
                </a:solidFill>
                <a:effectLst/>
                <a:uLnTx/>
                <a:uFillTx/>
                <a:latin typeface="+mn-lt"/>
                <a:ea typeface="+mn-ea"/>
                <a:cs typeface="+mn-cs"/>
              </a:rPr>
              <a:t/>
            </a:r>
            <a:r>
              <a:rPr kumimoji="0" lang="zh-CN" altLang="en-US" sz="1800" b="0" i="0" u="none" strike="noStrike" kern="0" cap="none" spc="0" normalizeH="0" baseline="0" noProof="0" dirty="0" smtClean="0">
                <a:ln>
                  <a:noFill/>
                </a:ln>
                <a:solidFill>
                  <a:schemeClr val="folHlink"/>
                </a:solidFill>
                <a:effectLst/>
                <a:uLnTx/>
                <a:uFillTx/>
                <a:latin typeface="+mn-lt"/>
                <a:ea typeface="+mn-ea"/>
                <a:cs typeface="+mn-cs"/>
              </a:rPr>
              <a:t/>
            </a:r>
            <a:endParaRPr kumimoji="0" lang="zh-CN" altLang="en-US" sz="2000" b="0" i="0" u="none" strike="noStrike" kern="0" cap="none" spc="0" normalizeH="0" baseline="0" noProof="0" dirty="0" smtClean="0">
              <a:ln>
                <a:noFill/>
              </a:ln>
              <a:solidFill>
                <a:schemeClr val="folHlink"/>
              </a:solidFill>
              <a:effectLst/>
              <a:uLnTx/>
              <a:uFillTx/>
              <a:latin typeface="+mn-lt"/>
              <a:ea typeface="+mn-ea"/>
              <a:cs typeface="+mn-cs"/>
            </a:endParaRPr>
          </a:p>
          <a:p>
            <a:pPr marL="342900" marR="0" lvl="0" indent="-342900" algn="just"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defRPr/>
            </a:pPr>
            <a:r>
              <a:rPr kumimoji="0" lang="zh-CN" altLang="en-US" sz="1800" b="0" i="0" u="none" strike="noStrike" kern="0" cap="none" spc="0" normalizeH="0" baseline="0" noProof="0" dirty="0" smtClean="0">
                <a:ln>
                  <a:noFill/>
                </a:ln>
                <a:solidFill>
                  <a:schemeClr val="folHlink"/>
                </a:solidFill>
                <a:effectLst/>
                <a:uLnTx/>
                <a:uFillTx/>
                <a:latin typeface="+mn-lt"/>
                <a:ea typeface="+mn-ea"/>
                <a:cs typeface="+mn-cs"/>
              </a:rPr>
              <a:t>（3）片内寄存器间接寻址只允许 R0、R1。</a:t>
            </a:r>
            <a:r>
              <a:rPr kumimoji="0" lang="zh-CN" altLang="en-US" sz="1800" b="1" i="0" u="none" strike="noStrike" kern="0" cap="none" spc="0" normalizeH="0" baseline="0" noProof="0" dirty="0" smtClean="0">
                <a:ln>
                  <a:noFill/>
                </a:ln>
                <a:solidFill>
                  <a:srgbClr val="FF3300"/>
                </a:solidFill>
                <a:effectLst/>
                <a:uLnTx/>
                <a:uFillTx/>
                <a:latin typeface="+mn-lt"/>
                <a:ea typeface="黑体" panose="02010609060101010101" pitchFamily="49" charset="-122"/>
                <a:cs typeface="+mn-cs"/>
              </a:rPr>
              <a:t/>
            </a:r>
            <a:r>
              <a:rPr kumimoji="0" lang="zh-CN" altLang="en-US" sz="1800" b="1" i="0" u="none" strike="noStrike" kern="0" cap="none" spc="0" normalizeH="0" baseline="0" noProof="0" dirty="0" smtClean="0">
                <a:ln>
                  <a:noFill/>
                </a:ln>
                <a:solidFill>
                  <a:srgbClr val="000000"/>
                </a:solidFill>
                <a:effectLst/>
                <a:uLnTx/>
                <a:uFillTx/>
                <a:latin typeface="宋体" pitchFamily="2" charset="-122"/>
                <a:ea typeface="+mn-ea"/>
                <a:cs typeface="+mn-cs"/>
              </a:rPr>
              <a:t/>
            </a:r>
            <a:r>
              <a:rPr kumimoji="0" lang="en-US" altLang="zh-CN" sz="1800" b="1" i="0" u="none" strike="noStrike" kern="0" cap="none" spc="0" normalizeH="0" baseline="0" noProof="0" dirty="0" smtClean="0">
                <a:ln>
                  <a:noFill/>
                </a:ln>
                <a:solidFill>
                  <a:srgbClr val="000000"/>
                </a:solidFill>
                <a:effectLst/>
                <a:uLnTx/>
                <a:uFillTx/>
                <a:latin typeface="宋体" pitchFamily="2" charset="-122"/>
                <a:ea typeface="+mn-ea"/>
                <a:cs typeface="+mn-cs"/>
              </a:rPr>
              <a:t/>
            </a:r>
            <a:endParaRPr kumimoji="0" lang="en-US" altLang="zh-CN" sz="2400" b="1" i="0" u="none" strike="noStrike" kern="0" cap="none" spc="0" normalizeH="0" baseline="0" noProof="0" dirty="0" smtClean="0">
              <a:ln>
                <a:noFill/>
              </a:ln>
              <a:solidFill>
                <a:srgbClr val="000000"/>
              </a:solidFill>
              <a:effectLst/>
              <a:uLnTx/>
              <a:uFillTx/>
              <a:latin typeface="宋体" pitchFamily="2" charset="-122"/>
              <a:ea typeface="+mn-ea"/>
              <a:cs typeface="+mn-cs"/>
            </a:endParaRPr>
          </a:p>
          <a:p>
            <a:pPr marL="342900" marR="0" lvl="0" indent="-342900" algn="just"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defRPr/>
            </a:pPr>
            <a:r>
              <a:rPr kumimoji="0" lang="zh-CN" altLang="en-US" sz="1800" b="1" i="0" u="none" strike="noStrike" kern="0" cap="none" spc="0" normalizeH="0" baseline="0" noProof="0" dirty="0" smtClean="0">
                <a:ln>
                  <a:noFill/>
                </a:ln>
                <a:solidFill>
                  <a:srgbClr val="000000"/>
                </a:solidFill>
                <a:effectLst/>
                <a:uLnTx/>
                <a:uFillTx/>
                <a:latin typeface="宋体" pitchFamily="2" charset="-122"/>
                <a:ea typeface="+mn-ea"/>
                <a:cs typeface="+mn-cs"/>
              </a:rPr>
              <a:t>        MOV A,@R2 没有对应指令编码。</a:t>
            </a:r>
            <a:r>
              <a:rPr kumimoji="0" lang="zh-CN" altLang="en-US" sz="1800" b="1" i="0" u="none" strike="noStrike" kern="0" cap="none" spc="0" normalizeH="0" baseline="0" noProof="0" dirty="0" smtClean="0">
                <a:ln>
                  <a:noFill/>
                </a:ln>
                <a:solidFill>
                  <a:srgbClr val="FF3300"/>
                </a:solidFill>
                <a:effectLst/>
                <a:uLnTx/>
                <a:uFillTx/>
                <a:latin typeface="宋体" pitchFamily="2" charset="-122"/>
                <a:ea typeface="黑体" panose="02010609060101010101" pitchFamily="49" charset="-122"/>
                <a:cs typeface="+mn-cs"/>
              </a:rPr>
              <a:t/>
            </a:r>
            <a:r>
              <a:rPr kumimoji="0" lang="zh-CN" altLang="en-US" sz="1800" b="1" i="0" u="none" strike="noStrike" kern="0" cap="none" spc="0" normalizeH="0" baseline="0" noProof="0" dirty="0" smtClean="0">
                <a:ln>
                  <a:noFill/>
                </a:ln>
                <a:solidFill>
                  <a:srgbClr val="000000"/>
                </a:solidFill>
                <a:effectLst/>
                <a:uLnTx/>
                <a:uFillTx/>
                <a:latin typeface="宋体" pitchFamily="2" charset="-122"/>
                <a:ea typeface="+mn-ea"/>
                <a:cs typeface="+mn-cs"/>
              </a:rPr>
              <a:t/>
            </a:r>
            <a:r>
              <a:rPr kumimoji="0" lang="en-US" altLang="zh-CN" sz="1800" b="1" i="0" u="none" strike="noStrike" kern="0" cap="none" spc="0" normalizeH="0" baseline="0" noProof="0" dirty="0" smtClean="0">
                <a:ln>
                  <a:noFill/>
                </a:ln>
                <a:solidFill>
                  <a:srgbClr val="000000"/>
                </a:solidFill>
                <a:effectLst/>
                <a:uLnTx/>
                <a:uFillTx/>
                <a:latin typeface="宋体" pitchFamily="2" charset="-122"/>
                <a:ea typeface="+mn-ea"/>
                <a:cs typeface="+mn-cs"/>
              </a:rPr>
              <a:t/>
            </a:r>
            <a:endParaRPr kumimoji="0" lang="zh-CN" altLang="en-US" sz="2000" b="0" i="0" u="none" strike="noStrike" kern="0" cap="none" spc="0" normalizeH="0" baseline="0" noProof="0" dirty="0" smtClean="0">
              <a:ln>
                <a:noFill/>
              </a:ln>
              <a:solidFill>
                <a:schemeClr val="folHlink"/>
              </a:solidFill>
              <a:effectLst/>
              <a:uLnTx/>
              <a:uFillTx/>
              <a:latin typeface="+mn-lt"/>
              <a:ea typeface="+mn-ea"/>
              <a:cs typeface="+mn-cs"/>
            </a:endParaRPr>
          </a:p>
          <a:p>
            <a:pPr marL="622300" marR="0" lvl="0" indent="-622300" algn="l" defTabSz="914400" rtl="0" eaLnBrk="1" fontAlgn="base" latinLnBrk="0" hangingPunct="1">
              <a:lnSpc>
                <a:spcPct val="130000"/>
              </a:lnSpc>
              <a:spcBef>
                <a:spcPct val="20000"/>
              </a:spcBef>
              <a:spcAft>
                <a:spcPct val="0"/>
              </a:spcAft>
              <a:buClr>
                <a:schemeClr val="folHlink"/>
              </a:buClr>
              <a:buSzPct val="60000"/>
              <a:buFont typeface="Wingdings" panose="05000000000000000000" pitchFamily="2" charset="2"/>
              <a:buNone/>
              <a:defRPr/>
            </a:pPr>
            <a:r>
              <a:rPr kumimoji="0" lang="zh-CN" altLang="en-US" sz="1800" b="0" i="0" u="none" strike="noStrike" kern="0" cap="none" spc="0" normalizeH="0" baseline="0" noProof="0" dirty="0" smtClean="0">
                <a:ln>
                  <a:noFill/>
                </a:ln>
                <a:solidFill>
                  <a:schemeClr val="folHlink"/>
                </a:solidFill>
                <a:effectLst/>
                <a:uLnTx/>
                <a:uFillTx/>
                <a:latin typeface="+mn-lt"/>
                <a:ea typeface="+mn-ea"/>
                <a:cs typeface="+mn-cs"/>
              </a:rPr>
              <a:t>（4）DPTR 可用 MOV DPTR,#data16 直接置数；PC 不用此方式置数。</a:t>
            </a:r>
            <a:r>
              <a:rPr kumimoji="0" lang="en-US" altLang="zh-CN" sz="1800" b="0" i="0" u="none" strike="noStrike" kern="0" cap="none" spc="0" normalizeH="0" baseline="0" noProof="0" dirty="0" smtClean="0">
                <a:ln>
                  <a:noFill/>
                </a:ln>
                <a:solidFill>
                  <a:schemeClr val="folHlink"/>
                </a:solidFill>
                <a:effectLst/>
                <a:uLnTx/>
                <a:uFillTx/>
                <a:latin typeface="+mn-lt"/>
                <a:ea typeface="+mn-ea"/>
                <a:cs typeface="+mn-cs"/>
              </a:rPr>
              <a:t/>
            </a:r>
            <a:r>
              <a:rPr kumimoji="0" lang="zh-CN" altLang="en-US" sz="1800" b="0" i="0" u="none" strike="noStrike" kern="0" cap="none" spc="0" normalizeH="0" baseline="0" noProof="0" dirty="0" smtClean="0">
                <a:ln>
                  <a:noFill/>
                </a:ln>
                <a:solidFill>
                  <a:schemeClr val="folHlink"/>
                </a:solidFill>
                <a:effectLst/>
                <a:uLnTx/>
                <a:uFillTx/>
                <a:latin typeface="+mn-lt"/>
                <a:ea typeface="+mn-ea"/>
                <a:cs typeface="+mn-cs"/>
              </a:rPr>
              <a:t/>
            </a:r>
            <a:r>
              <a:rPr kumimoji="0" lang="en-US" altLang="zh-CN" sz="1800" b="0" i="0" u="none" strike="noStrike" kern="0" cap="none" spc="0" normalizeH="0" baseline="0" noProof="0" dirty="0" smtClean="0">
                <a:ln>
                  <a:noFill/>
                </a:ln>
                <a:solidFill>
                  <a:schemeClr val="folHlink"/>
                </a:solidFill>
                <a:effectLst/>
                <a:uLnTx/>
                <a:uFillTx/>
                <a:latin typeface="+mn-lt"/>
                <a:ea typeface="+mn-ea"/>
                <a:cs typeface="+mn-cs"/>
              </a:rPr>
              <a:t/>
            </a:r>
            <a:r>
              <a:rPr kumimoji="0" lang="zh-CN" altLang="en-US" sz="1800" b="0" i="0" u="none" strike="noStrike" kern="0" cap="none" spc="0" normalizeH="0" baseline="0" noProof="0" dirty="0" smtClean="0">
                <a:ln>
                  <a:noFill/>
                </a:ln>
                <a:solidFill>
                  <a:schemeClr val="folHlink"/>
                </a:solidFill>
                <a:effectLst/>
                <a:uLnTx/>
                <a:uFillTx/>
                <a:latin typeface="+mn-lt"/>
                <a:ea typeface="+mn-ea"/>
                <a:cs typeface="+mn-cs"/>
              </a:rPr>
              <a:t/>
            </a:r>
            <a:r>
              <a:rPr kumimoji="0" lang="en-US" altLang="zh-CN" sz="1800" b="0" i="0" u="none" strike="noStrike" kern="0" cap="none" spc="0" normalizeH="0" baseline="0" noProof="0" dirty="0" smtClean="0">
                <a:ln>
                  <a:noFill/>
                </a:ln>
                <a:solidFill>
                  <a:schemeClr val="folHlink"/>
                </a:solidFill>
                <a:effectLst/>
                <a:uLnTx/>
                <a:uFillTx/>
                <a:latin typeface="+mn-lt"/>
                <a:ea typeface="+mn-ea"/>
                <a:cs typeface="+mn-cs"/>
              </a:rPr>
              <a:t/>
            </a:r>
            <a:r>
              <a:rPr kumimoji="0" lang="zh-CN" altLang="en-US" sz="1800" b="0" i="0" u="none" strike="noStrike" kern="0" cap="none" spc="0" normalizeH="0" baseline="0" noProof="0" dirty="0" smtClean="0">
                <a:ln>
                  <a:noFill/>
                </a:ln>
                <a:solidFill>
                  <a:schemeClr val="folHlink"/>
                </a:solidFill>
                <a:effectLst/>
                <a:uLnTx/>
                <a:uFillTx/>
                <a:latin typeface="+mn-lt"/>
                <a:ea typeface="+mn-ea"/>
                <a:cs typeface="+mn-cs"/>
              </a:rPr>
              <a:t/>
            </a:r>
            <a:r>
              <a:rPr kumimoji="0" lang="en-US" altLang="zh-CN" sz="1800" b="0" i="0" u="none" strike="noStrike" kern="0" cap="none" spc="0" normalizeH="0" baseline="0" noProof="0" dirty="0" smtClean="0">
                <a:ln>
                  <a:noFill/>
                </a:ln>
                <a:solidFill>
                  <a:schemeClr val="folHlink"/>
                </a:solidFill>
                <a:effectLst/>
                <a:uLnTx/>
                <a:uFillTx/>
                <a:latin typeface="+mn-lt"/>
                <a:ea typeface="+mn-ea"/>
                <a:cs typeface="+mn-cs"/>
              </a:rPr>
              <a:t/>
            </a:r>
            <a:r>
              <a:rPr kumimoji="0" lang="zh-CN" altLang="en-US" sz="1800" b="0" i="0" u="none" strike="noStrike" kern="0" cap="none" spc="0" normalizeH="0" baseline="0" noProof="0" dirty="0" smtClean="0">
                <a:ln>
                  <a:noFill/>
                </a:ln>
                <a:solidFill>
                  <a:schemeClr val="folHlink"/>
                </a:solidFill>
                <a:effectLst/>
                <a:uLnTx/>
                <a:uFillTx/>
                <a:latin typeface="+mn-lt"/>
                <a:ea typeface="+mn-ea"/>
                <a:cs typeface="+mn-cs"/>
              </a:rPr>
              <a:t/>
            </a:r>
            <a:r>
              <a:rPr kumimoji="0" lang="en-US" altLang="zh-CN" sz="1800" b="0" i="0" u="none" strike="noStrike" kern="0" cap="none" spc="0" normalizeH="0" baseline="0" noProof="0" dirty="0" smtClean="0">
                <a:ln>
                  <a:noFill/>
                </a:ln>
                <a:solidFill>
                  <a:schemeClr val="folHlink"/>
                </a:solidFill>
                <a:effectLst/>
                <a:uLnTx/>
                <a:uFillTx/>
                <a:latin typeface="+mn-lt"/>
                <a:ea typeface="+mn-ea"/>
                <a:cs typeface="+mn-cs"/>
              </a:rPr>
              <a:t/>
            </a:r>
            <a:r>
              <a:rPr kumimoji="0" lang="zh-CN" altLang="en-US" sz="1800" b="0" i="0" u="none" strike="noStrike" kern="0" cap="none" spc="0" normalizeH="0" baseline="0" noProof="0" dirty="0" smtClean="0">
                <a:ln>
                  <a:noFill/>
                </a:ln>
                <a:solidFill>
                  <a:schemeClr val="folHlink"/>
                </a:solidFill>
                <a:effectLst/>
                <a:uLnTx/>
                <a:uFillTx/>
                <a:latin typeface="+mn-lt"/>
                <a:ea typeface="+mn-ea"/>
                <a:cs typeface="+mn-cs"/>
              </a:rPr>
              <a:t/>
            </a:r>
            <a:r>
              <a:rPr kumimoji="0" lang="en-US" altLang="zh-CN" sz="1800" b="0" i="0" u="none" strike="noStrike" kern="0" cap="none" spc="0" normalizeH="0" baseline="0" noProof="0" dirty="0" smtClean="0">
                <a:ln>
                  <a:noFill/>
                </a:ln>
                <a:solidFill>
                  <a:schemeClr val="folHlink"/>
                </a:solidFill>
                <a:effectLst/>
                <a:uLnTx/>
                <a:uFillTx/>
                <a:latin typeface="+mn-lt"/>
                <a:ea typeface="+mn-ea"/>
                <a:cs typeface="+mn-cs"/>
              </a:rPr>
              <a:t/>
            </a:r>
            <a:r>
              <a:rPr kumimoji="0" lang="zh-CN" altLang="en-US" sz="1800" b="0" i="0" u="none" strike="noStrike" kern="0" cap="none" spc="0" normalizeH="0" baseline="0" noProof="0" dirty="0" smtClean="0">
                <a:ln>
                  <a:noFill/>
                </a:ln>
                <a:solidFill>
                  <a:schemeClr val="folHlink"/>
                </a:solidFill>
                <a:effectLst/>
                <a:uLnTx/>
                <a:uFillTx/>
                <a:latin typeface="+mn-lt"/>
                <a:ea typeface="+mn-ea"/>
                <a:cs typeface="+mn-cs"/>
              </a:rPr>
              <a:t/>
            </a:r>
            <a:r>
              <a:rPr kumimoji="0" lang="en-US" altLang="zh-CN" sz="1800" b="0" i="0" u="none" strike="noStrike" kern="0" cap="none" spc="0" normalizeH="0" baseline="0" noProof="0" dirty="0" smtClean="0">
                <a:ln>
                  <a:noFill/>
                </a:ln>
                <a:solidFill>
                  <a:schemeClr val="folHlink"/>
                </a:solidFill>
                <a:effectLst/>
                <a:uLnTx/>
                <a:uFillTx/>
                <a:latin typeface="+mn-lt"/>
                <a:ea typeface="+mn-ea"/>
                <a:cs typeface="+mn-cs"/>
              </a:rPr>
              <a:t/>
            </a:r>
            <a:r>
              <a:rPr kumimoji="0" lang="zh-CN" altLang="en-US" sz="1800" b="0" i="0" u="none" strike="noStrike" kern="0" cap="none" spc="0" normalizeH="0" baseline="0" noProof="0" dirty="0" smtClean="0">
                <a:ln>
                  <a:noFill/>
                </a:ln>
                <a:solidFill>
                  <a:schemeClr val="folHlink"/>
                </a:solidFill>
                <a:effectLst/>
                <a:uLnTx/>
                <a:uFillTx/>
                <a:latin typeface="+mn-lt"/>
                <a:ea typeface="+mn-ea"/>
                <a:cs typeface="+mn-cs"/>
              </a:rPr>
              <a:t/>
            </a:r>
            <a:endParaRPr kumimoji="0" lang="zh-CN" altLang="en-US" sz="2000" b="0" i="0" u="none" strike="noStrike" kern="0" cap="none" spc="0" normalizeH="0" baseline="0" noProof="0" dirty="0" smtClean="0">
              <a:ln>
                <a:noFill/>
              </a:ln>
              <a:solidFill>
                <a:schemeClr val="folHlink"/>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zh-CN" altLang="en-US" sz="1800" b="0" i="0" u="none" strike="noStrike" kern="0" cap="none" spc="0" normalizeH="0" baseline="0" noProof="0" dirty="0" smtClean="0">
                <a:ln>
                  <a:noFill/>
                </a:ln>
                <a:solidFill>
                  <a:schemeClr val="folHlink"/>
                </a:solidFill>
                <a:effectLst/>
                <a:uLnTx/>
                <a:uFillTx/>
                <a:latin typeface="+mn-lt"/>
                <a:ea typeface="+mn-ea"/>
                <a:cs typeface="+mn-cs"/>
              </a:rPr>
              <a:t>（5）寄存器间接寻址不能访问特殊功能寄存器（SFR）。</a:t>
            </a:r>
            <a:r>
              <a:rPr kumimoji="0" lang="en-US" altLang="zh-CN" sz="1800" b="0" i="0" u="none" strike="noStrike" kern="0" cap="none" spc="0" normalizeH="0" baseline="0" noProof="0" dirty="0" smtClean="0">
                <a:ln>
                  <a:noFill/>
                </a:ln>
                <a:solidFill>
                  <a:schemeClr val="folHlink"/>
                </a:solidFill>
                <a:effectLst/>
                <a:uLnTx/>
                <a:uFillTx/>
                <a:latin typeface="+mn-lt"/>
                <a:ea typeface="+mn-ea"/>
                <a:cs typeface="+mn-cs"/>
              </a:rPr>
              <a:t/>
            </a:r>
            <a:r>
              <a:rPr kumimoji="0" lang="zh-CN" altLang="en-US" sz="1800" b="0" i="0" u="none" strike="noStrike" kern="0" cap="none" spc="0" normalizeH="0" baseline="0" noProof="0" dirty="0" smtClean="0">
                <a:ln>
                  <a:noFill/>
                </a:ln>
                <a:solidFill>
                  <a:schemeClr val="folHlink"/>
                </a:solidFill>
                <a:effectLst/>
                <a:uLnTx/>
                <a:uFillTx/>
                <a:latin typeface="+mn-lt"/>
                <a:ea typeface="+mn-ea"/>
                <a:cs typeface="+mn-cs"/>
              </a:rPr>
              <a:t/>
            </a:r>
            <a:r>
              <a:rPr kumimoji="0" lang="en-US" altLang="zh-CN" sz="1800" b="0" i="0" u="none" strike="noStrike" kern="0" cap="none" spc="0" normalizeH="0" baseline="0" noProof="0" dirty="0" smtClean="0">
                <a:ln>
                  <a:noFill/>
                </a:ln>
                <a:solidFill>
                  <a:schemeClr val="folHlink"/>
                </a:solidFill>
                <a:effectLst/>
                <a:uLnTx/>
                <a:uFillTx/>
                <a:latin typeface="+mn-lt"/>
                <a:ea typeface="+mn-ea"/>
                <a:cs typeface="+mn-cs"/>
              </a:rPr>
              <a:t/>
            </a:r>
            <a:r>
              <a:rPr kumimoji="0" lang="zh-CN" altLang="en-US" sz="1800" b="0" i="0" u="none" strike="noStrike" kern="0" cap="none" spc="0" normalizeH="0" baseline="0" noProof="0" dirty="0" smtClean="0">
                <a:ln>
                  <a:noFill/>
                </a:ln>
                <a:solidFill>
                  <a:schemeClr val="folHlink"/>
                </a:solidFill>
                <a:effectLst/>
                <a:uLnTx/>
                <a:uFillTx/>
                <a:latin typeface="+mn-lt"/>
                <a:ea typeface="+mn-ea"/>
                <a:cs typeface="+mn-cs"/>
              </a:rPr>
              <a:t/>
            </a:r>
            <a:br>
              <a:rPr kumimoji="0" lang="zh-CN" altLang="en-US" sz="1800" b="0" i="0" u="none" strike="noStrike" kern="0" cap="none" spc="0" normalizeH="0" baseline="0" noProof="0" dirty="0" smtClean="0">
                <a:ln>
                  <a:noFill/>
                </a:ln>
                <a:solidFill>
                  <a:schemeClr val="folHlink"/>
                </a:solidFill>
                <a:effectLst/>
                <a:uLnTx/>
                <a:uFillTx/>
                <a:latin typeface="宋体" pitchFamily="2" charset="-122"/>
                <a:ea typeface="+mn-ea"/>
                <a:cs typeface="+mn-cs"/>
              </a:rPr>
            </a:br>
            <a:r>
              <a:rPr kumimoji="0" lang="zh-CN" altLang="en-US" sz="1800" b="0" i="0" u="none" strike="noStrike" kern="0" cap="none" spc="0" normalizeH="0" baseline="0" noProof="0" dirty="0" smtClean="0">
                <a:ln>
                  <a:noFill/>
                </a:ln>
                <a:solidFill>
                  <a:schemeClr val="folHlink"/>
                </a:solidFill>
                <a:effectLst/>
                <a:uLnTx/>
                <a:uFillTx/>
                <a:latin typeface="宋体" pitchFamily="2" charset="-122"/>
                <a:ea typeface="+mn-ea"/>
                <a:cs typeface="+mn-cs"/>
              </a:rPr>
              <a:t/>
            </a:r>
            <a:r>
              <a:rPr kumimoji="0" lang="zh-CN" altLang="en-US" sz="1800" b="1" i="0" u="none" strike="noStrike" kern="0" cap="none" spc="0" normalizeH="0" baseline="0" noProof="0" dirty="0" smtClean="0">
                <a:ln>
                  <a:noFill/>
                </a:ln>
                <a:solidFill>
                  <a:srgbClr val="FF3300"/>
                </a:solidFill>
                <a:effectLst/>
                <a:uLnTx/>
                <a:uFillTx/>
                <a:latin typeface="黑体" panose="02010609060101010101" pitchFamily="49" charset="-122"/>
                <a:ea typeface="黑体" panose="02010609060101010101" pitchFamily="49" charset="-122"/>
                <a:cs typeface="+mn-cs"/>
              </a:rPr>
              <a:t/>
            </a:r>
            <a:r>
              <a:rPr kumimoji="0" lang="zh-CN" altLang="en-US" sz="1800" b="0" i="0" u="none" strike="noStrike" kern="0" cap="none" spc="0" normalizeH="0" baseline="0" noProof="0" dirty="0" smtClean="0">
                <a:ln>
                  <a:noFill/>
                </a:ln>
                <a:solidFill>
                  <a:schemeClr val="folHlink"/>
                </a:solidFill>
                <a:effectLst/>
                <a:uLnTx/>
                <a:uFillTx/>
                <a:latin typeface="宋体" pitchFamily="2" charset="-122"/>
                <a:ea typeface="+mn-ea"/>
                <a:cs typeface="+mn-cs"/>
              </a:rPr>
              <a:t/>
            </a:r>
            <a:r>
              <a:rPr kumimoji="0" lang="en-US" altLang="zh-CN" sz="1800" b="0" i="0" u="none" strike="noStrike" kern="0" cap="none" spc="0" normalizeH="0" baseline="0" noProof="0" dirty="0" smtClean="0">
                <a:ln>
                  <a:noFill/>
                </a:ln>
                <a:solidFill>
                  <a:schemeClr val="folHlink"/>
                </a:solidFill>
                <a:effectLst/>
                <a:uLnTx/>
                <a:uFillTx/>
                <a:latin typeface="宋体" pitchFamily="2" charset="-122"/>
                <a:ea typeface="+mn-ea"/>
                <a:cs typeface="+mn-cs"/>
              </a:rPr>
              <a:t/>
            </a:r>
            <a:br>
              <a:rPr kumimoji="0" lang="en-US" altLang="zh-CN" sz="1800" b="0" i="0" u="none" strike="noStrike" kern="0" cap="none" spc="0" normalizeH="0" baseline="0" noProof="0" dirty="0" smtClean="0">
                <a:ln>
                  <a:noFill/>
                </a:ln>
                <a:solidFill>
                  <a:schemeClr val="folHlink"/>
                </a:solidFill>
                <a:effectLst/>
                <a:uLnTx/>
                <a:uFillTx/>
                <a:latin typeface="宋体" pitchFamily="2" charset="-122"/>
                <a:ea typeface="+mn-ea"/>
                <a:cs typeface="+mn-cs"/>
              </a:rPr>
            </a:br>
            <a:r>
              <a:rPr kumimoji="0" lang="en-US" altLang="zh-CN" sz="1800" b="0" i="0" u="none" strike="noStrike" kern="0" cap="none" spc="0" normalizeH="0" baseline="0" noProof="0" dirty="0" smtClean="0">
                <a:ln>
                  <a:noFill/>
                </a:ln>
                <a:solidFill>
                  <a:schemeClr val="folHlink"/>
                </a:solidFill>
                <a:effectLst/>
                <a:uLnTx/>
                <a:uFillTx/>
                <a:latin typeface="宋体" pitchFamily="2" charset="-122"/>
                <a:ea typeface="+mn-ea"/>
                <a:cs typeface="+mn-cs"/>
              </a:rPr>
              <a:t/>
            </a:r>
            <a:r>
              <a:rPr kumimoji="0" lang="zh-CN" altLang="en-US" sz="1800" b="0" i="0" u="none" strike="noStrike" kern="0" cap="none" spc="0" normalizeH="0" baseline="0" noProof="0" dirty="0" smtClean="0">
                <a:ln>
                  <a:noFill/>
                </a:ln>
                <a:solidFill>
                  <a:schemeClr val="folHlink"/>
                </a:solidFill>
                <a:effectLst/>
                <a:uLnTx/>
                <a:uFillTx/>
                <a:latin typeface="宋体" pitchFamily="2" charset="-122"/>
                <a:ea typeface="+mn-ea"/>
                <a:cs typeface="+mn-cs"/>
              </a:rPr>
              <a:t/>
            </a:r>
            <a:r>
              <a:rPr kumimoji="0" lang="en-US" altLang="zh-CN" sz="1800" b="0" i="0" u="none" strike="noStrike" kern="0" cap="none" spc="0" normalizeH="0" baseline="0" noProof="0" dirty="0" smtClean="0">
                <a:ln>
                  <a:noFill/>
                </a:ln>
                <a:solidFill>
                  <a:schemeClr val="folHlink"/>
                </a:solidFill>
                <a:effectLst/>
                <a:uLnTx/>
                <a:uFillTx/>
                <a:latin typeface="宋体" pitchFamily="2" charset="-122"/>
                <a:ea typeface="+mn-ea"/>
                <a:cs typeface="+mn-cs"/>
              </a:rPr>
              <a:t/>
            </a:r>
            <a:r>
              <a:rPr kumimoji="0" lang="zh-CN" altLang="en-US" sz="1800" b="0" i="0" u="none" strike="noStrike" kern="0" cap="none" spc="0" normalizeH="0" baseline="0" noProof="0" dirty="0" smtClean="0">
                <a:ln>
                  <a:noFill/>
                </a:ln>
                <a:solidFill>
                  <a:schemeClr val="folHlink"/>
                </a:solidFill>
                <a:effectLst/>
                <a:uLnTx/>
                <a:uFillTx/>
                <a:latin typeface="宋体" pitchFamily="2" charset="-122"/>
                <a:ea typeface="+mn-ea"/>
                <a:cs typeface="+mn-cs"/>
              </a:rPr>
              <a:t/>
            </a:r>
            <a:r>
              <a:rPr kumimoji="0" lang="en-US" altLang="zh-CN" sz="1800" b="0" i="0" u="none" strike="noStrike" kern="0" cap="none" spc="0" normalizeH="0" baseline="0" noProof="0" dirty="0" smtClean="0">
                <a:ln>
                  <a:noFill/>
                </a:ln>
                <a:solidFill>
                  <a:schemeClr val="folHlink"/>
                </a:solidFill>
                <a:effectLst/>
                <a:uLnTx/>
                <a:uFillTx/>
                <a:latin typeface="宋体" pitchFamily="2" charset="-122"/>
                <a:ea typeface="+mn-ea"/>
                <a:cs typeface="+mn-cs"/>
              </a:rPr>
              <a:t/>
            </a:r>
            <a:r>
              <a:rPr kumimoji="0" lang="zh-CN" altLang="en-US" sz="1800" b="0" i="0" u="none" strike="noStrike" kern="0" cap="none" spc="0" normalizeH="0" baseline="0" noProof="0" dirty="0" smtClean="0">
                <a:ln>
                  <a:noFill/>
                </a:ln>
                <a:solidFill>
                  <a:schemeClr val="folHlink"/>
                </a:solidFill>
                <a:effectLst/>
                <a:uLnTx/>
                <a:uFillTx/>
                <a:latin typeface="宋体" pitchFamily="2" charset="-122"/>
                <a:ea typeface="+mn-ea"/>
                <a:cs typeface="+mn-cs"/>
              </a:rPr>
              <a:t/>
            </a:r>
            <a:r>
              <a:rPr kumimoji="0" lang="en-US" altLang="zh-CN" sz="1800" b="0" i="0" u="none" strike="noStrike" kern="0" cap="none" spc="0" normalizeH="0" baseline="0" noProof="0" dirty="0" smtClean="0">
                <a:ln>
                  <a:noFill/>
                </a:ln>
                <a:solidFill>
                  <a:schemeClr val="folHlink"/>
                </a:solidFill>
                <a:effectLst/>
                <a:uLnTx/>
                <a:uFillTx/>
                <a:latin typeface="宋体" pitchFamily="2" charset="-122"/>
                <a:ea typeface="+mn-ea"/>
                <a:cs typeface="+mn-cs"/>
              </a:rPr>
              <a:t/>
            </a:r>
            <a:endParaRPr kumimoji="0" lang="en-US" altLang="zh-CN" sz="2200" b="0" i="0" u="none" strike="noStrike" kern="0" cap="none" spc="0" normalizeH="0" baseline="0" noProof="0" dirty="0" smtClean="0">
              <a:ln>
                <a:noFill/>
              </a:ln>
              <a:solidFill>
                <a:schemeClr val="folHlink"/>
              </a:solidFill>
              <a:effectLst/>
              <a:uLnTx/>
              <a:uFillTx/>
              <a:latin typeface="宋体" pitchFamily="2" charset="-122"/>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1800" b="0" i="0" u="none" strike="noStrike" kern="0" cap="none" spc="0" normalizeH="0" baseline="0" noProof="0" dirty="0" smtClean="0">
                <a:ln>
                  <a:noFill/>
                </a:ln>
                <a:solidFill>
                  <a:schemeClr val="folHlink"/>
                </a:solidFill>
                <a:effectLst/>
                <a:uLnTx/>
                <a:uFillTx/>
                <a:latin typeface="宋体" pitchFamily="2" charset="-122"/>
                <a:ea typeface="+mn-ea"/>
                <a:cs typeface="+mn-cs"/>
              </a:rPr>
              <a:t>        MOV R0,#80H / MOV A,@R0：形式可编码，但不能读取 P0。</a:t>
            </a:r>
            <a:r>
              <a:rPr kumimoji="0" lang="en-US" altLang="zh-CN" sz="1800" b="1" i="0" u="none" strike="noStrike" kern="0" cap="none" spc="0" normalizeH="0" baseline="0" noProof="0" dirty="0" smtClean="0">
                <a:ln>
                  <a:noFill/>
                </a:ln>
                <a:solidFill>
                  <a:schemeClr val="folHlink"/>
                </a:solidFill>
                <a:effectLst/>
                <a:uLnTx/>
                <a:uFillTx/>
                <a:latin typeface="黑体" panose="02010609060101010101" pitchFamily="49" charset="-122"/>
                <a:ea typeface="黑体" panose="02010609060101010101" pitchFamily="49" charset="-122"/>
                <a:cs typeface="+mn-cs"/>
              </a:rPr>
              <a:t/>
            </a:r>
            <a:r>
              <a:rPr kumimoji="0" lang="zh-CN" altLang="en-US" sz="1800" b="1" i="0" u="none" strike="noStrike" kern="0" cap="none" spc="0" normalizeH="0" baseline="0" noProof="0" dirty="0" smtClean="0">
                <a:ln>
                  <a:noFill/>
                </a:ln>
                <a:solidFill>
                  <a:schemeClr val="folHlink"/>
                </a:solidFill>
                <a:effectLst/>
                <a:uLnTx/>
                <a:uFillTx/>
                <a:latin typeface="黑体" panose="02010609060101010101" pitchFamily="49" charset="-122"/>
                <a:ea typeface="黑体" panose="02010609060101010101" pitchFamily="49" charset="-122"/>
                <a:cs typeface="+mn-cs"/>
              </a:rPr>
              <a:t/>
            </a:r>
            <a:r>
              <a:rPr kumimoji="0" lang="en-US" altLang="zh-CN" sz="1800" b="1" i="0" u="none" strike="noStrike" kern="0" cap="none" spc="0" normalizeH="0" baseline="0" noProof="0" dirty="0" smtClean="0">
                <a:ln>
                  <a:noFill/>
                </a:ln>
                <a:solidFill>
                  <a:schemeClr val="folHlink"/>
                </a:solidFill>
                <a:effectLst/>
                <a:uLnTx/>
                <a:uFillTx/>
                <a:latin typeface="黑体" panose="02010609060101010101" pitchFamily="49" charset="-122"/>
                <a:ea typeface="黑体" panose="02010609060101010101" pitchFamily="49" charset="-122"/>
                <a:cs typeface="+mn-cs"/>
              </a:rPr>
              <a:t/>
            </a:r>
            <a:endParaRPr kumimoji="0" lang="en-US" altLang="zh-CN" sz="2200" b="0" i="0" u="none" strike="noStrike" kern="0" cap="none" spc="0" normalizeH="0" baseline="0" noProof="0" dirty="0" smtClean="0">
              <a:ln>
                <a:noFill/>
              </a:ln>
              <a:solidFill>
                <a:schemeClr val="folHlink"/>
              </a:solidFill>
              <a:effectLst/>
              <a:uLnTx/>
              <a:uFillTx/>
              <a:latin typeface="宋体" pitchFamily="2" charset="-122"/>
              <a:ea typeface="+mn-ea"/>
              <a:cs typeface="+mn-cs"/>
            </a:endParaRPr>
          </a:p>
          <a:p>
            <a:pPr marL="0" marR="0" lvl="0" indent="127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a:pPr>
            <a:r>
              <a:rPr kumimoji="0" lang="zh-CN" altLang="en-US" sz="1800" b="0" i="0" u="none" strike="noStrike" kern="0" cap="none" spc="0" normalizeH="0" baseline="0" noProof="0" dirty="0" smtClean="0">
                <a:ln>
                  <a:noFill/>
                </a:ln>
                <a:solidFill>
                  <a:schemeClr val="folHlink"/>
                </a:solidFill>
                <a:effectLst/>
                <a:uLnTx/>
                <a:uFillTx/>
                <a:latin typeface="宋体" pitchFamily="2" charset="-122"/>
                <a:ea typeface="+mn-ea"/>
                <a:cs typeface="+mn-cs"/>
              </a:rPr>
              <a:t>        80C51 仅实现 00H–7FH 的片内 RAM，不据此访问推定数值。</a:t>
            </a:r>
            <a:r>
              <a:rPr kumimoji="0" lang="zh-CN" altLang="en-US" sz="1800" b="1" i="0" u="none" strike="noStrike" kern="0" cap="none" spc="0" normalizeH="0" baseline="0" noProof="0" dirty="0" smtClean="0">
                <a:ln>
                  <a:noFill/>
                </a:ln>
                <a:solidFill>
                  <a:srgbClr val="FF3300"/>
                </a:solidFill>
                <a:effectLst/>
                <a:uLnTx/>
                <a:uFillTx/>
                <a:latin typeface="宋体" pitchFamily="2" charset="-122"/>
                <a:ea typeface="+mn-ea"/>
                <a:cs typeface="+mn-cs"/>
              </a:rPr>
              <a:t/>
            </a:r>
            <a:r>
              <a:rPr kumimoji="0" lang="en-US" altLang="zh-CN" sz="1800" b="1" i="0" u="none" strike="noStrike" kern="0" cap="none" spc="0" normalizeH="0" baseline="0" noProof="0" dirty="0" smtClean="0">
                <a:ln>
                  <a:noFill/>
                </a:ln>
                <a:solidFill>
                  <a:srgbClr val="FF3300"/>
                </a:solidFill>
                <a:effectLst/>
                <a:uLnTx/>
                <a:uFillTx/>
                <a:latin typeface="宋体" pitchFamily="2" charset="-122"/>
                <a:ea typeface="+mn-ea"/>
                <a:cs typeface="+mn-cs"/>
              </a:rPr>
              <a:t/>
            </a:r>
            <a:r>
              <a:rPr kumimoji="0" lang="zh-CN" altLang="en-US" sz="1800" b="1" i="0" u="none" strike="noStrike" kern="0" cap="none" spc="0" normalizeH="0" baseline="0" noProof="0" dirty="0" smtClean="0">
                <a:ln>
                  <a:noFill/>
                </a:ln>
                <a:solidFill>
                  <a:srgbClr val="FF3300"/>
                </a:solidFill>
                <a:effectLst/>
                <a:uLnTx/>
                <a:uFillTx/>
                <a:latin typeface="宋体" pitchFamily="2" charset="-122"/>
                <a:ea typeface="+mn-ea"/>
                <a:cs typeface="+mn-cs"/>
              </a:rPr>
              <a:t/>
            </a:r>
            <a:r>
              <a:rPr kumimoji="0" lang="zh-CN" altLang="en-US" sz="1800" b="1" i="0" u="none" strike="noStrike" kern="0" cap="none" spc="0" normalizeH="0" baseline="0" noProof="0" dirty="0" smtClean="0">
                <a:ln>
                  <a:noFill/>
                </a:ln>
                <a:solidFill>
                  <a:schemeClr val="folHlink"/>
                </a:solidFill>
                <a:effectLst/>
                <a:uLnTx/>
                <a:uFillTx/>
                <a:latin typeface="宋体" pitchFamily="2" charset="-122"/>
                <a:ea typeface="+mn-ea"/>
                <a:cs typeface="+mn-cs"/>
              </a:rPr>
              <a:t/>
            </a:r>
            <a:r>
              <a:rPr kumimoji="0" lang="zh-CN" altLang="en-US" sz="1800" b="1" i="0" u="none" strike="noStrike" kern="0" cap="none" spc="0" normalizeH="0" baseline="0" noProof="0" dirty="0" smtClean="0">
                <a:ln>
                  <a:noFill/>
                </a:ln>
                <a:solidFill>
                  <a:srgbClr val="FF3300"/>
                </a:solidFill>
                <a:effectLst/>
                <a:uLnTx/>
                <a:uFillTx/>
                <a:latin typeface="宋体" pitchFamily="2" charset="-122"/>
                <a:ea typeface="+mn-ea"/>
                <a:cs typeface="+mn-cs"/>
              </a:rPr>
              <a:t/>
            </a:r>
            <a:r>
              <a:rPr kumimoji="0" lang="zh-CN" altLang="en-US" sz="1800" b="1" i="0" u="none" strike="noStrike" kern="0" cap="none" spc="0" normalizeH="0" baseline="0" noProof="0" dirty="0" smtClean="0">
                <a:ln>
                  <a:noFill/>
                </a:ln>
                <a:solidFill>
                  <a:schemeClr val="folHlink"/>
                </a:solidFill>
                <a:effectLst/>
                <a:uLnTx/>
                <a:uFillTx/>
                <a:latin typeface="宋体" pitchFamily="2" charset="-122"/>
                <a:ea typeface="+mn-ea"/>
                <a:cs typeface="+mn-cs"/>
              </a:rPr>
              <a:t/>
            </a:r>
            <a:r>
              <a:rPr kumimoji="0" lang="en-US" altLang="zh-CN" sz="1800" b="1" i="0" u="none" strike="noStrike" kern="0" cap="none" spc="0" normalizeH="0" baseline="0" noProof="0" dirty="0" smtClean="0">
                <a:ln>
                  <a:noFill/>
                </a:ln>
                <a:solidFill>
                  <a:srgbClr val="FF3300"/>
                </a:solidFill>
                <a:effectLst/>
                <a:uLnTx/>
                <a:uFillTx/>
                <a:latin typeface="宋体" pitchFamily="2" charset="-122"/>
                <a:ea typeface="+mn-ea"/>
                <a:cs typeface="+mn-cs"/>
              </a:rPr>
              <a:t/>
            </a:r>
            <a:r>
              <a:rPr kumimoji="0" lang="zh-CN" altLang="en-US" sz="1800" b="1" i="0" u="none" strike="noStrike" kern="0" cap="none" spc="0" normalizeH="0" baseline="0" noProof="0" dirty="0" smtClean="0">
                <a:ln>
                  <a:noFill/>
                </a:ln>
                <a:solidFill>
                  <a:srgbClr val="FF3300"/>
                </a:solidFill>
                <a:effectLst/>
                <a:uLnTx/>
                <a:uFillTx/>
                <a:latin typeface="宋体" pitchFamily="2" charset="-122"/>
                <a:ea typeface="+mn-ea"/>
                <a:cs typeface="+mn-cs"/>
              </a:rPr>
              <a:t/>
            </a:r>
            <a:r>
              <a:rPr kumimoji="0" lang="zh-CN" altLang="en-US" sz="1800" b="1" i="0" u="none" strike="noStrike" kern="0" cap="none" spc="0" normalizeH="0" baseline="0" noProof="0" dirty="0" smtClean="0">
                <a:ln>
                  <a:noFill/>
                </a:ln>
                <a:solidFill>
                  <a:schemeClr val="folHlink"/>
                </a:solidFill>
                <a:effectLst/>
                <a:uLnTx/>
                <a:uFillTx/>
                <a:latin typeface="宋体" pitchFamily="2" charset="-122"/>
                <a:ea typeface="+mn-ea"/>
                <a:cs typeface="+mn-cs"/>
              </a:rPr>
              <a:t/>
            </a:r>
            <a:r>
              <a:rPr kumimoji="0" lang="zh-CN" altLang="en-US" sz="1800" b="1" i="0" u="none" strike="noStrike" kern="0" cap="none" spc="0" normalizeH="0" baseline="0" noProof="0" dirty="0" smtClean="0">
                <a:ln>
                  <a:noFill/>
                </a:ln>
                <a:solidFill>
                  <a:srgbClr val="FF3300"/>
                </a:solidFill>
                <a:effectLst/>
                <a:uLnTx/>
                <a:uFillTx/>
                <a:latin typeface="宋体" pitchFamily="2" charset="-122"/>
                <a:ea typeface="+mn-ea"/>
                <a:cs typeface="+mn-cs"/>
              </a:rPr>
              <a:t/>
            </a:r>
            <a:endParaRPr kumimoji="0" lang="zh-CN" altLang="en-US" sz="1800" b="1" i="0" u="none" strike="noStrike" kern="0" cap="none" spc="0" normalizeH="0" baseline="0" noProof="0" dirty="0" smtClean="0">
              <a:ln>
                <a:noFill/>
              </a:ln>
              <a:solidFill>
                <a:srgbClr val="FF3300"/>
              </a:solidFill>
              <a:effectLst/>
              <a:uLnTx/>
              <a:uFillTx/>
              <a:latin typeface="宋体" pitchFamily="2" charset="-122"/>
              <a:ea typeface="+mn-ea"/>
              <a:cs typeface="+mn-cs"/>
            </a:endParaRPr>
          </a:p>
          <a:p>
            <a:pPr marL="0" marR="0" lvl="0" indent="127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a:pPr>
            <a:r>
              <a:rPr kumimoji="0" lang="zh-CN" altLang="en-US" sz="1800" b="0" i="0" u="none" strike="noStrike" kern="0" cap="none" spc="0" normalizeH="0" baseline="0" noProof="0" dirty="0" smtClean="0">
                <a:ln>
                  <a:noFill/>
                </a:ln>
                <a:solidFill>
                  <a:schemeClr val="folHlink"/>
                </a:solidFill>
                <a:effectLst/>
                <a:uLnTx/>
                <a:uFillTx/>
                <a:latin typeface="宋体" pitchFamily="2" charset="-122"/>
                <a:ea typeface="+mn-ea"/>
                <a:cs typeface="+mn-cs"/>
              </a:rPr>
              <a:t>        读取 P0 应用 MOV A,P0 或 MOV A,80H。</a:t>
            </a:r>
            <a:r>
              <a:rPr kumimoji="0" lang="zh-CN" altLang="en-US" sz="1800" b="1" i="0" u="none" strike="noStrike" kern="0" cap="none" spc="0" normalizeH="0" baseline="0" noProof="0" dirty="0" smtClean="0">
                <a:ln>
                  <a:noFill/>
                </a:ln>
                <a:solidFill>
                  <a:srgbClr val="FF3300"/>
                </a:solidFill>
                <a:effectLst/>
                <a:uLnTx/>
                <a:uFillTx/>
                <a:latin typeface="宋体" pitchFamily="2" charset="-122"/>
                <a:ea typeface="+mn-ea"/>
                <a:cs typeface="+mn-cs"/>
              </a:rPr>
              <a:t/>
            </a:r>
            <a:r>
              <a:rPr kumimoji="0" lang="en-US" altLang="zh-CN" sz="1800" b="1" i="0" u="none" strike="noStrike" kern="0" cap="none" spc="0" normalizeH="0" baseline="0" noProof="0" dirty="0" smtClean="0">
                <a:ln>
                  <a:noFill/>
                </a:ln>
                <a:solidFill>
                  <a:srgbClr val="FF3300"/>
                </a:solidFill>
                <a:effectLst/>
                <a:uLnTx/>
                <a:uFillTx/>
                <a:latin typeface="宋体" pitchFamily="2" charset="-122"/>
                <a:ea typeface="+mn-ea"/>
                <a:cs typeface="+mn-cs"/>
              </a:rPr>
              <a:t/>
            </a:r>
            <a:r>
              <a:rPr kumimoji="0" lang="zh-CN" altLang="en-US" sz="1800" b="1" i="0" u="none" strike="noStrike" kern="0" cap="none" spc="0" normalizeH="0" baseline="0" noProof="0" dirty="0" smtClean="0">
                <a:ln>
                  <a:noFill/>
                </a:ln>
                <a:solidFill>
                  <a:srgbClr val="FF3300"/>
                </a:solidFill>
                <a:effectLst/>
                <a:uLnTx/>
                <a:uFillTx/>
                <a:latin typeface="宋体" pitchFamily="2" charset="-122"/>
                <a:ea typeface="+mn-ea"/>
                <a:cs typeface="+mn-cs"/>
              </a:rPr>
              <a:t/>
            </a:r>
            <a:r>
              <a:rPr kumimoji="0" lang="zh-CN" altLang="en-US" sz="1800" b="1" i="0" u="none" strike="noStrike" kern="0" cap="none" spc="0" normalizeH="0" baseline="0" noProof="0" dirty="0" smtClean="0">
                <a:ln>
                  <a:noFill/>
                </a:ln>
                <a:solidFill>
                  <a:schemeClr val="folHlink"/>
                </a:solidFill>
                <a:effectLst/>
                <a:uLnTx/>
                <a:uFillTx/>
                <a:latin typeface="宋体" pitchFamily="2" charset="-122"/>
                <a:ea typeface="+mn-ea"/>
                <a:cs typeface="+mn-cs"/>
              </a:rPr>
              <a:t/>
            </a:r>
            <a:r>
              <a:rPr kumimoji="0" lang="zh-CN" altLang="en-US" sz="1800" b="1" i="0" u="none" strike="noStrike" kern="0" cap="none" spc="0" normalizeH="0" baseline="0" noProof="0" dirty="0" smtClean="0">
                <a:ln>
                  <a:noFill/>
                </a:ln>
                <a:solidFill>
                  <a:srgbClr val="FF3300"/>
                </a:solidFill>
                <a:effectLst/>
                <a:uLnTx/>
                <a:uFillTx/>
                <a:latin typeface="宋体" pitchFamily="2" charset="-122"/>
                <a:ea typeface="+mn-ea"/>
                <a:cs typeface="+mn-cs"/>
              </a:rPr>
              <a:t/>
            </a:r>
            <a:r>
              <a:rPr kumimoji="0" lang="zh-CN" altLang="en-US" sz="1800" b="1" i="0" u="none" strike="noStrike" kern="0" cap="none" spc="0" normalizeH="0" baseline="0" noProof="0" dirty="0" smtClean="0">
                <a:ln>
                  <a:noFill/>
                </a:ln>
                <a:solidFill>
                  <a:schemeClr val="folHlink"/>
                </a:solidFill>
                <a:effectLst/>
                <a:uLnTx/>
                <a:uFillTx/>
                <a:latin typeface="宋体" pitchFamily="2" charset="-122"/>
                <a:ea typeface="+mn-ea"/>
                <a:cs typeface="+mn-cs"/>
              </a:rPr>
              <a:t/>
            </a:r>
            <a:r>
              <a:rPr kumimoji="0" lang="en-US" altLang="zh-CN" sz="1800" b="1" i="0" u="none" strike="noStrike" kern="0" cap="none" spc="0" normalizeH="0" baseline="0" noProof="0" dirty="0" smtClean="0">
                <a:ln>
                  <a:noFill/>
                </a:ln>
                <a:solidFill>
                  <a:srgbClr val="FF3300"/>
                </a:solidFill>
                <a:effectLst/>
                <a:uLnTx/>
                <a:uFillTx/>
                <a:latin typeface="宋体" pitchFamily="2" charset="-122"/>
                <a:ea typeface="+mn-ea"/>
                <a:cs typeface="+mn-cs"/>
              </a:rPr>
              <a:t/>
            </a:r>
            <a:r>
              <a:rPr kumimoji="0" lang="zh-CN" altLang="en-US" sz="1800" b="1" i="0" u="none" strike="noStrike" kern="0" cap="none" spc="0" normalizeH="0" baseline="0" noProof="0" dirty="0" smtClean="0">
                <a:ln>
                  <a:noFill/>
                </a:ln>
                <a:solidFill>
                  <a:srgbClr val="FF3300"/>
                </a:solidFill>
                <a:effectLst/>
                <a:uLnTx/>
                <a:uFillTx/>
                <a:latin typeface="宋体" pitchFamily="2" charset="-122"/>
                <a:ea typeface="+mn-ea"/>
                <a:cs typeface="+mn-cs"/>
              </a:rPr>
              <a:t/>
            </a:r>
            <a:r>
              <a:rPr kumimoji="0" lang="zh-CN" altLang="en-US" sz="1800" b="1" i="0" u="none" strike="noStrike" kern="0" cap="none" spc="0" normalizeH="0" baseline="0" noProof="0" dirty="0" smtClean="0">
                <a:ln>
                  <a:noFill/>
                </a:ln>
                <a:solidFill>
                  <a:schemeClr val="folHlink"/>
                </a:solidFill>
                <a:effectLst/>
                <a:uLnTx/>
                <a:uFillTx/>
                <a:latin typeface="宋体" pitchFamily="2" charset="-122"/>
                <a:ea typeface="+mn-ea"/>
                <a:cs typeface="+mn-cs"/>
              </a:rPr>
              <a:t/>
            </a:r>
            <a:r>
              <a:rPr kumimoji="0" lang="zh-CN" altLang="en-US" sz="1800" b="1" i="0" u="none" strike="noStrike" kern="0" cap="none" spc="0" normalizeH="0" baseline="0" noProof="0" dirty="0" smtClean="0">
                <a:ln>
                  <a:noFill/>
                </a:ln>
                <a:solidFill>
                  <a:srgbClr val="FF3300"/>
                </a:solidFill>
                <a:effectLst/>
                <a:uLnTx/>
                <a:uFillTx/>
                <a:latin typeface="宋体" pitchFamily="2" charset="-122"/>
                <a:ea typeface="+mn-ea"/>
                <a:cs typeface="+mn-cs"/>
              </a:rPr>
              <a:t/>
            </a:r>
            <a:endParaRPr kumimoji="0" lang="zh-CN" altLang="en-US" sz="1800" b="1" i="0" u="none" strike="noStrike" kern="0" cap="none" spc="0" normalizeH="0" baseline="0" noProof="0" dirty="0" smtClean="0">
              <a:ln>
                <a:noFill/>
              </a:ln>
              <a:solidFill>
                <a:srgbClr val="FF3300"/>
              </a:solidFill>
              <a:effectLst/>
              <a:uLnTx/>
              <a:uFillTx/>
              <a:latin typeface="宋体" pitchFamily="2" charset="-122"/>
              <a:ea typeface="+mn-ea"/>
              <a:cs typeface="+mn-cs"/>
            </a:endParaRPr>
          </a:p>
          <a:p>
            <a:pPr marL="0" marR="0" lvl="0" indent="127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a:pPr>
            <a:r>
              <a:rPr kumimoji="0" lang="zh-CN" altLang="en-US" sz="1800" b="0" i="0" u="none" strike="noStrike" kern="0" cap="none" spc="0" normalizeH="0" baseline="0" noProof="0" dirty="0" smtClean="0">
                <a:ln>
                  <a:noFill/>
                </a:ln>
                <a:solidFill>
                  <a:schemeClr val="folHlink"/>
                </a:solidFill>
                <a:effectLst/>
                <a:uLnTx/>
                <a:uFillTx/>
                <a:latin typeface="宋体" pitchFamily="2" charset="-122"/>
                <a:ea typeface="+mn-ea"/>
                <a:cs typeface="+mn-cs"/>
              </a:rPr>
              <a:t>        低128B RAM可直接或间接访问；SFR用直接寻址。</a:t>
            </a:r>
            <a:r>
              <a:rPr kumimoji="0" lang="zh-CN" altLang="en-US" sz="1800" b="1" i="0" u="none" strike="noStrike" kern="0" cap="none" spc="0" normalizeH="0" baseline="0" noProof="0" dirty="0" smtClean="0">
                <a:ln>
                  <a:noFill/>
                </a:ln>
                <a:solidFill>
                  <a:srgbClr val="FF3300"/>
                </a:solidFill>
                <a:effectLst/>
                <a:uLnTx/>
                <a:uFillTx/>
                <a:latin typeface="宋体" pitchFamily="2" charset="-122"/>
                <a:ea typeface="+mn-ea"/>
                <a:cs typeface="+mn-cs"/>
              </a:rPr>
              <a:t/>
            </a:r>
            <a:r>
              <a:rPr kumimoji="0" lang="en-US" altLang="zh-CN" sz="1800" b="1" i="0" u="none" strike="noStrike" kern="0" cap="none" spc="0" normalizeH="0" baseline="0" noProof="0" dirty="0" smtClean="0">
                <a:ln>
                  <a:noFill/>
                </a:ln>
                <a:solidFill>
                  <a:srgbClr val="FF3300"/>
                </a:solidFill>
                <a:effectLst/>
                <a:uLnTx/>
                <a:uFillTx/>
                <a:latin typeface="宋体" pitchFamily="2" charset="-122"/>
                <a:ea typeface="+mn-ea"/>
                <a:cs typeface="+mn-cs"/>
              </a:rPr>
              <a:t/>
            </a:r>
            <a:r>
              <a:rPr kumimoji="0" lang="zh-CN" altLang="en-US" sz="1800" b="1" i="0" u="none" strike="noStrike" kern="0" cap="none" spc="0" normalizeH="0" baseline="0" noProof="0" dirty="0" smtClean="0">
                <a:ln>
                  <a:noFill/>
                </a:ln>
                <a:solidFill>
                  <a:srgbClr val="FF3300"/>
                </a:solidFill>
                <a:effectLst/>
                <a:uLnTx/>
                <a:uFillTx/>
                <a:latin typeface="宋体" pitchFamily="2" charset="-122"/>
                <a:ea typeface="+mn-ea"/>
                <a:cs typeface="+mn-cs"/>
              </a:rPr>
              <a:t/>
            </a:r>
            <a:r>
              <a:rPr kumimoji="0" lang="zh-CN" altLang="en-US" sz="1800" b="1" i="0" u="none" strike="noStrike" kern="0" cap="none" spc="0" normalizeH="0" baseline="0" noProof="0" dirty="0" smtClean="0">
                <a:ln>
                  <a:noFill/>
                </a:ln>
                <a:solidFill>
                  <a:schemeClr val="folHlink"/>
                </a:solidFill>
                <a:effectLst/>
                <a:uLnTx/>
                <a:uFillTx/>
                <a:latin typeface="宋体" pitchFamily="2" charset="-122"/>
                <a:ea typeface="+mn-ea"/>
                <a:cs typeface="+mn-cs"/>
              </a:rPr>
              <a:t/>
            </a:r>
            <a:r>
              <a:rPr kumimoji="0" lang="zh-CN" altLang="en-US" sz="1800" b="1" i="0" u="none" strike="noStrike" kern="0" cap="none" spc="0" normalizeH="0" baseline="0" noProof="0" dirty="0" smtClean="0">
                <a:ln>
                  <a:noFill/>
                </a:ln>
                <a:solidFill>
                  <a:srgbClr val="FF3300"/>
                </a:solidFill>
                <a:effectLst/>
                <a:uLnTx/>
                <a:uFillTx/>
                <a:latin typeface="宋体" pitchFamily="2" charset="-122"/>
                <a:ea typeface="+mn-ea"/>
                <a:cs typeface="+mn-cs"/>
              </a:rPr>
              <a:t/>
            </a:r>
            <a:r>
              <a:rPr kumimoji="0" lang="zh-CN" altLang="en-US" sz="1800" b="1" i="0" u="none" strike="noStrike" kern="0" cap="none" spc="0" normalizeH="0" baseline="0" noProof="0" dirty="0" smtClean="0">
                <a:ln>
                  <a:noFill/>
                </a:ln>
                <a:solidFill>
                  <a:schemeClr val="folHlink"/>
                </a:solidFill>
                <a:effectLst/>
                <a:uLnTx/>
                <a:uFillTx/>
                <a:latin typeface="宋体" pitchFamily="2" charset="-122"/>
                <a:ea typeface="+mn-ea"/>
                <a:cs typeface="+mn-cs"/>
              </a:rPr>
              <a:t/>
            </a:r>
            <a:r>
              <a:rPr kumimoji="0" lang="en-US" altLang="zh-CN" sz="1800" b="1" i="0" u="none" strike="noStrike" kern="0" cap="none" spc="0" normalizeH="0" baseline="0" noProof="0" dirty="0" smtClean="0">
                <a:ln>
                  <a:noFill/>
                </a:ln>
                <a:solidFill>
                  <a:srgbClr val="FF3300"/>
                </a:solidFill>
                <a:effectLst/>
                <a:uLnTx/>
                <a:uFillTx/>
                <a:latin typeface="宋体" pitchFamily="2" charset="-122"/>
                <a:ea typeface="+mn-ea"/>
                <a:cs typeface="+mn-cs"/>
              </a:rPr>
              <a:t/>
            </a:r>
            <a:r>
              <a:rPr kumimoji="0" lang="zh-CN" altLang="en-US" sz="1800" b="1" i="0" u="none" strike="noStrike" kern="0" cap="none" spc="0" normalizeH="0" baseline="0" noProof="0" dirty="0" smtClean="0">
                <a:ln>
                  <a:noFill/>
                </a:ln>
                <a:solidFill>
                  <a:srgbClr val="FF3300"/>
                </a:solidFill>
                <a:effectLst/>
                <a:uLnTx/>
                <a:uFillTx/>
                <a:latin typeface="宋体" pitchFamily="2" charset="-122"/>
                <a:ea typeface="+mn-ea"/>
                <a:cs typeface="+mn-cs"/>
              </a:rPr>
              <a:t/>
            </a:r>
            <a:r>
              <a:rPr kumimoji="0" lang="zh-CN" altLang="en-US" sz="1800" b="1" i="0" u="none" strike="noStrike" kern="0" cap="none" spc="0" normalizeH="0" baseline="0" noProof="0" dirty="0" smtClean="0">
                <a:ln>
                  <a:noFill/>
                </a:ln>
                <a:solidFill>
                  <a:schemeClr val="folHlink"/>
                </a:solidFill>
                <a:effectLst/>
                <a:uLnTx/>
                <a:uFillTx/>
                <a:latin typeface="宋体" pitchFamily="2" charset="-122"/>
                <a:ea typeface="+mn-ea"/>
                <a:cs typeface="+mn-cs"/>
              </a:rPr>
              <a:t/>
            </a:r>
            <a:r>
              <a:rPr kumimoji="0" lang="zh-CN" altLang="en-US" sz="1800" b="1" i="0" u="none" strike="noStrike" kern="0" cap="none" spc="0" normalizeH="0" baseline="0" noProof="0" dirty="0" smtClean="0">
                <a:ln>
                  <a:noFill/>
                </a:ln>
                <a:solidFill>
                  <a:srgbClr val="FF3300"/>
                </a:solidFill>
                <a:effectLst/>
                <a:uLnTx/>
                <a:uFillTx/>
                <a:latin typeface="宋体" pitchFamily="2" charset="-122"/>
                <a:ea typeface="+mn-ea"/>
                <a:cs typeface="+mn-cs"/>
              </a:rPr>
              <a:t/>
            </a:r>
            <a:endParaRPr kumimoji="0" lang="zh-CN" altLang="en-US" sz="1800" b="1" i="0" u="none" strike="noStrike" kern="0" cap="none" spc="0" normalizeH="0" baseline="0" noProof="0" dirty="0" smtClean="0">
              <a:ln>
                <a:noFill/>
              </a:ln>
              <a:solidFill>
                <a:srgbClr val="FF3300"/>
              </a:solidFill>
              <a:effectLst/>
              <a:uLnTx/>
              <a:uFillTx/>
              <a:latin typeface="宋体" pitchFamily="2" charset="-122"/>
              <a:ea typeface="+mn-ea"/>
              <a:cs typeface="+mn-cs"/>
            </a:endParaRPr>
          </a:p>
        </p:txBody>
      </p:sp>
      <p:sp>
        <p:nvSpPr>
          <p:cNvPr id="87042" name="Rectangle 2"/>
          <p:cNvSpPr>
            <a:spLocks noChangeArrowheads="1"/>
          </p:cNvSpPr>
          <p:nvPr/>
        </p:nvSpPr>
        <p:spPr bwMode="auto">
          <a:xfrm>
            <a:off x="1104900" y="214313"/>
            <a:ext cx="7872413" cy="609600"/>
          </a:xfrm>
          <a:prstGeom prst="rect">
            <a:avLst/>
          </a:prstGeom>
          <a:noFill/>
          <a:ln>
            <a:noFill/>
          </a:ln>
        </p:spPr>
        <p:txBody>
          <a:bodyPr anchor="ctr"/>
          <a:lstStyle>
            <a:lvl1pPr>
              <a:defRPr sz="3600">
                <a:solidFill>
                  <a:schemeClr val="tx2"/>
                </a:solidFill>
                <a:latin typeface="Times New Roman" panose="02020503050405090304" pitchFamily="18" charset="0"/>
                <a:ea typeface="宋体" pitchFamily="2" charset="-122"/>
              </a:defRPr>
            </a:lvl1pPr>
            <a:lvl2pPr>
              <a:defRPr sz="3600">
                <a:solidFill>
                  <a:schemeClr val="tx2"/>
                </a:solidFill>
                <a:latin typeface="Times New Roman" panose="02020503050405090304" pitchFamily="18" charset="0"/>
                <a:ea typeface="宋体" pitchFamily="2" charset="-122"/>
              </a:defRPr>
            </a:lvl2pPr>
            <a:lvl3pPr>
              <a:defRPr sz="3600">
                <a:solidFill>
                  <a:schemeClr val="tx2"/>
                </a:solidFill>
                <a:latin typeface="Times New Roman" panose="02020503050405090304" pitchFamily="18" charset="0"/>
                <a:ea typeface="宋体" pitchFamily="2" charset="-122"/>
              </a:defRPr>
            </a:lvl3pPr>
            <a:lvl4pPr>
              <a:defRPr sz="3600">
                <a:solidFill>
                  <a:schemeClr val="tx2"/>
                </a:solidFill>
                <a:latin typeface="Times New Roman" panose="02020503050405090304" pitchFamily="18" charset="0"/>
                <a:ea typeface="宋体" pitchFamily="2" charset="-122"/>
              </a:defRPr>
            </a:lvl4pPr>
            <a:lvl5pPr>
              <a:defRPr sz="3600">
                <a:solidFill>
                  <a:schemeClr val="tx2"/>
                </a:solidFill>
                <a:latin typeface="Times New Roman" panose="02020503050405090304" pitchFamily="18" charset="0"/>
                <a:ea typeface="宋体" pitchFamily="2" charset="-122"/>
              </a:defRPr>
            </a:lvl5pPr>
            <a:lvl6pPr marL="45720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fontAlgn="base">
              <a:spcBef>
                <a:spcPct val="0"/>
              </a:spcBef>
              <a:spcAft>
                <a:spcPct val="0"/>
              </a:spcAft>
              <a:defRPr sz="3600">
                <a:solidFill>
                  <a:schemeClr val="tx2"/>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第三章</a:t>
            </a:r>
            <a:r>
              <a:rPr kumimoji="0" lang="zh-CN" altLang="en-US" sz="28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zh-CN" altLang="en-US" sz="24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en-US" altLang="zh-CN"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MCS-51</a:t>
            </a: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指令系统</a:t>
            </a:r>
            <a:endParaRPr kumimoji="0" lang="zh-CN" altLang="en-US" sz="3600" b="0"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Times New Roman" panose="02020503050405090304" pitchFamily="18" charset="0"/>
              <a:ea typeface="宋体" pitchFamily="2" charset="-122"/>
              <a:cs typeface="+mn-c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idx="4294967295"/>
          </p:nvPr>
        </p:nvSpPr>
        <p:spPr>
          <a:xfrm>
            <a:off x="1104900" y="214313"/>
            <a:ext cx="7872413" cy="6096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0" lang="zh-CN" altLang="en-US" sz="2800" b="0"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  </a:t>
            </a:r>
            <a:r>
              <a:rPr kumimoji="0" lang="zh-CN" altLang="en-US" sz="2400" b="0"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   </a:t>
            </a:r>
            <a:r>
              <a:rPr kumimoji="0" lang="en-US" altLang="zh-CN" sz="3200" b="0"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MCS-51</a:t>
            </a:r>
            <a:r>
              <a:rPr kumimoji="0" lang="zh-CN" altLang="en-US" sz="3200" b="0"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0" lang="zh-CN" altLang="en-US" sz="3600" b="0" i="0" u="none" strike="noStrike" kern="0" cap="none" spc="0" normalizeH="0" baseline="0" noProof="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78850" name="Rectangle 3"/>
          <p:cNvSpPr>
            <a:spLocks noGrp="1"/>
          </p:cNvSpPr>
          <p:nvPr>
            <p:ph type="body" idx="4294967295"/>
          </p:nvPr>
        </p:nvSpPr>
        <p:spPr>
          <a:xfrm>
            <a:off x="214313" y="1125538"/>
            <a:ext cx="8929687" cy="571500"/>
          </a:xfrm>
        </p:spPr>
        <p:txBody>
          <a:bodyPr vert="horz" wrap="square" lIns="91440" tIns="45720" rIns="91440" bIns="45720" anchor="t" anchorCtr="0"/>
          <a:p>
            <a:pPr marL="0" algn="just" defTabSz="425450" eaLnBrk="1" hangingPunct="1">
              <a:spcBef>
                <a:spcPct val="0"/>
              </a:spcBef>
              <a:buNone/>
            </a:pPr>
            <a:r>
              <a:rPr lang="zh-CN" altLang="en-US" dirty="0">
                <a:latin typeface="宋体" pitchFamily="2" charset="-122"/>
              </a:rPr>
              <a:t>   例：顺序执行下列指令序列，求每一步执行结果。</a:t>
            </a:r>
            <a:endParaRPr lang="en-US" altLang="zh-CN" dirty="0">
              <a:latin typeface="宋体" pitchFamily="2" charset="-122"/>
            </a:endParaRPr>
          </a:p>
          <a:p>
            <a:pPr marL="0" algn="just" defTabSz="425450" eaLnBrk="1" hangingPunct="1">
              <a:spcBef>
                <a:spcPct val="0"/>
              </a:spcBef>
              <a:buNone/>
            </a:pPr>
            <a:r>
              <a:rPr lang="zh-CN" altLang="en-US" dirty="0">
                <a:latin typeface="宋体" pitchFamily="2" charset="-122"/>
              </a:rPr>
              <a:t>	</a:t>
            </a:r>
            <a:endParaRPr lang="zh-CN" altLang="en-US" dirty="0">
              <a:latin typeface="宋体" pitchFamily="2" charset="-122"/>
            </a:endParaRPr>
          </a:p>
          <a:p>
            <a:pPr marL="0" algn="just" defTabSz="425450" eaLnBrk="1" hangingPunct="1">
              <a:spcBef>
                <a:spcPct val="0"/>
              </a:spcBef>
              <a:buNone/>
            </a:pPr>
            <a:endParaRPr lang="zh-CN" altLang="zh-CN" dirty="0">
              <a:solidFill>
                <a:srgbClr val="FFC000"/>
              </a:solidFill>
              <a:latin typeface="宋体" pitchFamily="2" charset="-122"/>
            </a:endParaRPr>
          </a:p>
        </p:txBody>
      </p:sp>
      <p:sp>
        <p:nvSpPr>
          <p:cNvPr id="78851" name="TextBox 3"/>
          <p:cNvSpPr txBox="1"/>
          <p:nvPr/>
        </p:nvSpPr>
        <p:spPr>
          <a:xfrm>
            <a:off x="1187450" y="1773238"/>
            <a:ext cx="3071813" cy="3195637"/>
          </a:xfrm>
          <a:prstGeom prst="rect">
            <a:avLst/>
          </a:prstGeom>
          <a:noFill/>
          <a:ln w="9525">
            <a:noFill/>
          </a:ln>
        </p:spPr>
        <p:txBody>
          <a:bodyPr anchor="t" anchorCtr="0">
            <a:spAutoFit/>
          </a:bodyPr>
          <a:p>
            <a:pPr>
              <a:spcBef>
                <a:spcPct val="50000"/>
              </a:spcBef>
              <a:buClrTx/>
            </a:pPr>
            <a:r>
              <a:rPr lang="en-US" altLang="zh-CN" dirty="0">
                <a:latin typeface="宋体" pitchFamily="2" charset="-122"/>
                <a:ea typeface="仿宋_GB2312" pitchFamily="49" charset="-122"/>
              </a:rPr>
              <a:t>MOV A，#30H	</a:t>
            </a:r>
            <a:endParaRPr lang="en-US" altLang="zh-CN" dirty="0">
              <a:latin typeface="宋体" pitchFamily="2" charset="-122"/>
              <a:ea typeface="仿宋_GB2312" pitchFamily="49" charset="-122"/>
            </a:endParaRPr>
          </a:p>
          <a:p>
            <a:pPr>
              <a:spcBef>
                <a:spcPct val="50000"/>
              </a:spcBef>
              <a:buClrTx/>
            </a:pPr>
            <a:r>
              <a:rPr lang="en-US" altLang="zh-CN" dirty="0">
                <a:latin typeface="宋体" pitchFamily="2" charset="-122"/>
                <a:ea typeface="仿宋_GB2312" pitchFamily="49" charset="-122"/>
              </a:rPr>
              <a:t>MOV 4FH，A	</a:t>
            </a:r>
            <a:endParaRPr lang="en-US" altLang="zh-CN" dirty="0">
              <a:latin typeface="宋体" pitchFamily="2" charset="-122"/>
              <a:ea typeface="仿宋_GB2312" pitchFamily="49" charset="-122"/>
            </a:endParaRPr>
          </a:p>
          <a:p>
            <a:pPr>
              <a:spcBef>
                <a:spcPct val="50000"/>
              </a:spcBef>
              <a:buClrTx/>
            </a:pPr>
            <a:r>
              <a:rPr lang="en-US" altLang="zh-CN" dirty="0">
                <a:latin typeface="宋体" pitchFamily="2" charset="-122"/>
                <a:ea typeface="仿宋_GB2312" pitchFamily="49" charset="-122"/>
              </a:rPr>
              <a:t>MOV R0，#20H	</a:t>
            </a:r>
            <a:endParaRPr lang="en-US" altLang="zh-CN" dirty="0">
              <a:latin typeface="宋体" pitchFamily="2" charset="-122"/>
              <a:ea typeface="仿宋_GB2312" pitchFamily="49" charset="-122"/>
            </a:endParaRPr>
          </a:p>
          <a:p>
            <a:pPr>
              <a:spcBef>
                <a:spcPct val="50000"/>
              </a:spcBef>
              <a:buClrTx/>
            </a:pPr>
            <a:r>
              <a:rPr lang="en-US" altLang="zh-CN" dirty="0">
                <a:latin typeface="宋体" pitchFamily="2" charset="-122"/>
                <a:ea typeface="仿宋_GB2312" pitchFamily="49" charset="-122"/>
              </a:rPr>
              <a:t>MOV @R0，4FH	</a:t>
            </a:r>
            <a:endParaRPr lang="en-US" altLang="zh-CN" dirty="0">
              <a:latin typeface="宋体" pitchFamily="2" charset="-122"/>
              <a:ea typeface="仿宋_GB2312" pitchFamily="49" charset="-122"/>
            </a:endParaRPr>
          </a:p>
          <a:p>
            <a:pPr>
              <a:spcBef>
                <a:spcPct val="50000"/>
              </a:spcBef>
              <a:buClrTx/>
            </a:pPr>
            <a:r>
              <a:rPr lang="en-US" altLang="zh-CN" dirty="0">
                <a:latin typeface="宋体" pitchFamily="2" charset="-122"/>
                <a:ea typeface="仿宋_GB2312" pitchFamily="49" charset="-122"/>
              </a:rPr>
              <a:t>MOV 21H，20H</a:t>
            </a:r>
            <a:endParaRPr lang="en-US" altLang="zh-CN" dirty="0">
              <a:latin typeface="宋体" pitchFamily="2" charset="-122"/>
              <a:ea typeface="仿宋_GB2312" pitchFamily="49" charset="-122"/>
            </a:endParaRPr>
          </a:p>
          <a:p>
            <a:pPr>
              <a:spcBef>
                <a:spcPct val="50000"/>
              </a:spcBef>
              <a:buClrTx/>
              <a:buFontTx/>
            </a:pPr>
            <a:endParaRPr lang="zh-CN" altLang="en-US" dirty="0">
              <a:latin typeface="Times New Roman" panose="02020503050405090304" pitchFamily="18" charset="0"/>
              <a:ea typeface="仿宋_GB2312" pitchFamily="49" charset="-122"/>
            </a:endParaRPr>
          </a:p>
        </p:txBody>
      </p:sp>
      <p:sp>
        <p:nvSpPr>
          <p:cNvPr id="51202" name="TextBox 4"/>
          <p:cNvSpPr txBox="1"/>
          <p:nvPr/>
        </p:nvSpPr>
        <p:spPr>
          <a:xfrm>
            <a:off x="4356100" y="2492375"/>
            <a:ext cx="3286125" cy="1311275"/>
          </a:xfrm>
          <a:prstGeom prst="rect">
            <a:avLst/>
          </a:prstGeom>
          <a:solidFill>
            <a:schemeClr val="accent1"/>
          </a:solidFill>
          <a:ln w="9525">
            <a:noFill/>
          </a:ln>
        </p:spPr>
        <p:txBody>
          <a:bodyPr anchor="t" anchorCtr="0">
            <a:spAutoFit/>
          </a:bodyPr>
          <a:p>
            <a:pPr eaLnBrk="0" hangingPunct="0">
              <a:spcBef>
                <a:spcPct val="50000"/>
              </a:spcBef>
              <a:buClrTx/>
            </a:pPr>
            <a:r>
              <a:rPr lang="zh-CN" altLang="en-US" sz="3200" dirty="0">
                <a:solidFill>
                  <a:srgbClr val="FF3300"/>
                </a:solidFill>
                <a:latin typeface="黑体" panose="02010609060101010101" pitchFamily="49" charset="-122"/>
                <a:ea typeface="黑体" panose="02010609060101010101" pitchFamily="49" charset="-122"/>
              </a:rPr>
              <a:t>课堂作业</a:t>
            </a:r>
            <a:endParaRPr lang="zh-CN" altLang="en-US" sz="3200" dirty="0">
              <a:solidFill>
                <a:srgbClr val="FF3300"/>
              </a:solidFill>
              <a:latin typeface="黑体" panose="02010609060101010101" pitchFamily="49" charset="-122"/>
              <a:ea typeface="黑体" panose="02010609060101010101" pitchFamily="49" charset="-122"/>
            </a:endParaRPr>
          </a:p>
          <a:p>
            <a:pPr eaLnBrk="0" hangingPunct="0">
              <a:spcBef>
                <a:spcPct val="50000"/>
              </a:spcBef>
              <a:buClrTx/>
            </a:pPr>
            <a:r>
              <a:rPr lang="zh-CN" altLang="en-US" sz="3200" dirty="0">
                <a:solidFill>
                  <a:srgbClr val="FF3300"/>
                </a:solidFill>
                <a:latin typeface="黑体" panose="02010609060101010101" pitchFamily="49" charset="-122"/>
                <a:ea typeface="黑体" panose="02010609060101010101" pitchFamily="49" charset="-122"/>
              </a:rPr>
              <a:t>最后（</a:t>
            </a:r>
            <a:r>
              <a:rPr lang="en-US" altLang="zh-CN" sz="3200" dirty="0">
                <a:solidFill>
                  <a:srgbClr val="FF3300"/>
                </a:solidFill>
                <a:latin typeface="黑体" panose="02010609060101010101" pitchFamily="49" charset="-122"/>
                <a:ea typeface="黑体" panose="02010609060101010101" pitchFamily="49" charset="-122"/>
              </a:rPr>
              <a:t>21H</a:t>
            </a:r>
            <a:r>
              <a:rPr lang="zh-CN" altLang="en-US" sz="3200" dirty="0">
                <a:solidFill>
                  <a:srgbClr val="FF3300"/>
                </a:solidFill>
                <a:latin typeface="黑体" panose="02010609060101010101" pitchFamily="49" charset="-122"/>
                <a:ea typeface="黑体" panose="02010609060101010101" pitchFamily="49" charset="-122"/>
              </a:rPr>
              <a:t>）</a:t>
            </a:r>
            <a:r>
              <a:rPr lang="en-US" altLang="zh-CN" sz="3200" dirty="0">
                <a:solidFill>
                  <a:srgbClr val="FF3300"/>
                </a:solidFill>
                <a:latin typeface="黑体" panose="02010609060101010101" pitchFamily="49" charset="-122"/>
                <a:ea typeface="黑体" panose="02010609060101010101" pitchFamily="49" charset="-122"/>
              </a:rPr>
              <a:t>=</a:t>
            </a:r>
            <a:r>
              <a:rPr lang="zh-CN" altLang="en-US" sz="3200" dirty="0">
                <a:solidFill>
                  <a:srgbClr val="FF3300"/>
                </a:solidFill>
                <a:latin typeface="黑体" panose="02010609060101010101" pitchFamily="49" charset="-122"/>
                <a:ea typeface="黑体" panose="02010609060101010101" pitchFamily="49" charset="-122"/>
              </a:rPr>
              <a:t>？</a:t>
            </a:r>
            <a:endParaRPr lang="zh-CN" altLang="en-US" sz="3200" dirty="0">
              <a:solidFill>
                <a:srgbClr val="FF33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202"/>
                                        </p:tgtEl>
                                        <p:attrNameLst>
                                          <p:attrName>style.visibility</p:attrName>
                                        </p:attrNameLst>
                                      </p:cBhvr>
                                      <p:to>
                                        <p:strVal val="visible"/>
                                      </p:to>
                                    </p:set>
                                    <p:anim calcmode="lin" valueType="num">
                                      <p:cBhvr additive="base">
                                        <p:cTn id="7" dur="500" fill="hold"/>
                                        <p:tgtEl>
                                          <p:spTgt spid="51202"/>
                                        </p:tgtEl>
                                        <p:attrNameLst>
                                          <p:attrName>ppt_x</p:attrName>
                                        </p:attrNameLst>
                                      </p:cBhvr>
                                      <p:tavLst>
                                        <p:tav tm="0">
                                          <p:val>
                                            <p:strVal val="#ppt_x"/>
                                          </p:val>
                                        </p:tav>
                                        <p:tav tm="100000">
                                          <p:val>
                                            <p:strVal val="#ppt_x"/>
                                          </p:val>
                                        </p:tav>
                                      </p:tavLst>
                                    </p:anim>
                                    <p:anim calcmode="lin" valueType="num">
                                      <p:cBhvr additive="base">
                                        <p:cTn id="8" dur="500" fill="hold"/>
                                        <p:tgtEl>
                                          <p:spTgt spid="5120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TextBox 4"/>
          <p:cNvSpPr txBox="1"/>
          <p:nvPr/>
        </p:nvSpPr>
        <p:spPr>
          <a:xfrm>
            <a:off x="4284663" y="1773238"/>
            <a:ext cx="3286125" cy="3195637"/>
          </a:xfrm>
          <a:prstGeom prst="rect">
            <a:avLst/>
          </a:prstGeom>
          <a:noFill/>
          <a:ln w="9525">
            <a:noFill/>
          </a:ln>
        </p:spPr>
        <p:txBody>
          <a:bodyPr anchor="t" anchorCtr="0">
            <a:spAutoFit/>
          </a:bodyPr>
          <a:p>
            <a:pPr eaLnBrk="0" hangingPunct="0">
              <a:spcBef>
                <a:spcPct val="50000"/>
              </a:spcBef>
              <a:buClrTx/>
              <a:buFontTx/>
            </a:pPr>
            <a:r>
              <a:rPr lang="zh-CN" altLang="zh-CN" dirty="0">
                <a:latin typeface="宋体" pitchFamily="2" charset="-122"/>
                <a:ea typeface="仿宋_GB2312" pitchFamily="49" charset="-122"/>
              </a:rPr>
              <a:t>；</a:t>
            </a:r>
            <a:r>
              <a:rPr lang="en-US" altLang="zh-CN" dirty="0">
                <a:latin typeface="宋体" pitchFamily="2" charset="-122"/>
                <a:ea typeface="仿宋_GB2312" pitchFamily="49" charset="-122"/>
              </a:rPr>
              <a:t>A= 30H</a:t>
            </a:r>
            <a:endParaRPr lang="en-US" altLang="zh-CN" dirty="0">
              <a:latin typeface="宋体" pitchFamily="2" charset="-122"/>
              <a:ea typeface="仿宋_GB2312" pitchFamily="49" charset="-122"/>
            </a:endParaRPr>
          </a:p>
          <a:p>
            <a:pPr eaLnBrk="0" hangingPunct="0">
              <a:spcBef>
                <a:spcPct val="50000"/>
              </a:spcBef>
              <a:buClrTx/>
              <a:buFontTx/>
            </a:pPr>
            <a:r>
              <a:rPr lang="en-US" altLang="zh-CN" dirty="0">
                <a:latin typeface="宋体" pitchFamily="2" charset="-122"/>
                <a:ea typeface="仿宋_GB2312" pitchFamily="49" charset="-122"/>
              </a:rPr>
              <a:t>；(4FH)= 30H</a:t>
            </a:r>
            <a:endParaRPr lang="en-US" altLang="zh-CN" dirty="0">
              <a:latin typeface="宋体" pitchFamily="2" charset="-122"/>
              <a:ea typeface="仿宋_GB2312" pitchFamily="49" charset="-122"/>
            </a:endParaRPr>
          </a:p>
          <a:p>
            <a:pPr eaLnBrk="0" hangingPunct="0">
              <a:spcBef>
                <a:spcPct val="50000"/>
              </a:spcBef>
              <a:buClrTx/>
              <a:buFontTx/>
            </a:pPr>
            <a:r>
              <a:rPr lang="en-US" altLang="zh-CN" dirty="0">
                <a:latin typeface="宋体" pitchFamily="2" charset="-122"/>
                <a:ea typeface="仿宋_GB2312" pitchFamily="49" charset="-122"/>
              </a:rPr>
              <a:t>；R0= 20H</a:t>
            </a:r>
            <a:endParaRPr lang="en-US" altLang="zh-CN" dirty="0">
              <a:latin typeface="宋体" pitchFamily="2" charset="-122"/>
              <a:ea typeface="仿宋_GB2312" pitchFamily="49" charset="-122"/>
            </a:endParaRPr>
          </a:p>
          <a:p>
            <a:pPr eaLnBrk="0" hangingPunct="0">
              <a:spcBef>
                <a:spcPct val="50000"/>
              </a:spcBef>
              <a:buClrTx/>
              <a:buFontTx/>
            </a:pPr>
            <a:r>
              <a:rPr lang="en-US" altLang="zh-CN" dirty="0">
                <a:latin typeface="宋体" pitchFamily="2" charset="-122"/>
                <a:ea typeface="仿宋_GB2312" pitchFamily="49" charset="-122"/>
              </a:rPr>
              <a:t>；(20H)= 30H</a:t>
            </a:r>
            <a:endParaRPr lang="en-US" altLang="zh-CN" dirty="0">
              <a:latin typeface="宋体" pitchFamily="2" charset="-122"/>
              <a:ea typeface="仿宋_GB2312" pitchFamily="49" charset="-122"/>
            </a:endParaRPr>
          </a:p>
          <a:p>
            <a:pPr eaLnBrk="0" hangingPunct="0">
              <a:spcBef>
                <a:spcPct val="50000"/>
              </a:spcBef>
              <a:buClrTx/>
              <a:buFontTx/>
            </a:pPr>
            <a:r>
              <a:rPr lang="en-US" altLang="zh-CN" dirty="0">
                <a:latin typeface="宋体" pitchFamily="2" charset="-122"/>
                <a:ea typeface="仿宋_GB2312" pitchFamily="49" charset="-122"/>
              </a:rPr>
              <a:t>；(21H)= 30H</a:t>
            </a:r>
            <a:endParaRPr lang="en-US" altLang="zh-CN" dirty="0">
              <a:latin typeface="宋体" pitchFamily="2" charset="-122"/>
              <a:ea typeface="仿宋_GB2312" pitchFamily="49" charset="-122"/>
            </a:endParaRPr>
          </a:p>
          <a:p>
            <a:pPr>
              <a:spcBef>
                <a:spcPct val="50000"/>
              </a:spcBef>
              <a:buClrTx/>
              <a:buFontTx/>
            </a:pPr>
            <a:endParaRPr lang="zh-CN" altLang="en-US" dirty="0">
              <a:latin typeface="Times New Roman" panose="02020503050405090304" pitchFamily="18" charset="0"/>
              <a:ea typeface="仿宋_GB2312" pitchFamily="49" charset="-122"/>
            </a:endParaRPr>
          </a:p>
        </p:txBody>
      </p:sp>
      <p:sp>
        <p:nvSpPr>
          <p:cNvPr id="87042" name="Rectangle 2"/>
          <p:cNvSpPr>
            <a:spLocks noGrp="1" noChangeArrowheads="1"/>
          </p:cNvSpPr>
          <p:nvPr>
            <p:ph type="title" idx="4294967295"/>
          </p:nvPr>
        </p:nvSpPr>
        <p:spPr>
          <a:xfrm>
            <a:off x="1104900" y="214313"/>
            <a:ext cx="7872413" cy="6096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0" lang="zh-CN" altLang="en-US" sz="2800" b="0"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  </a:t>
            </a:r>
            <a:r>
              <a:rPr kumimoji="0" lang="zh-CN" altLang="en-US" sz="2400" b="0"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   </a:t>
            </a:r>
            <a:r>
              <a:rPr kumimoji="0" lang="en-US" altLang="zh-CN" sz="3200" b="0"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MCS-51</a:t>
            </a:r>
            <a:r>
              <a:rPr kumimoji="0" lang="zh-CN" altLang="en-US" sz="3200" b="0"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0" lang="zh-CN" altLang="en-US" sz="3600" b="0" i="0" u="none" strike="noStrike" kern="0" cap="none" spc="0" normalizeH="0" baseline="0" noProof="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79875" name="Rectangle 3"/>
          <p:cNvSpPr>
            <a:spLocks noGrp="1"/>
          </p:cNvSpPr>
          <p:nvPr>
            <p:ph type="body" idx="4294967295"/>
          </p:nvPr>
        </p:nvSpPr>
        <p:spPr>
          <a:xfrm>
            <a:off x="214313" y="1125538"/>
            <a:ext cx="8929687" cy="571500"/>
          </a:xfrm>
        </p:spPr>
        <p:txBody>
          <a:bodyPr vert="horz" wrap="square" lIns="91440" tIns="45720" rIns="91440" bIns="45720" anchor="t" anchorCtr="0"/>
          <a:p>
            <a:pPr marL="0" algn="just" defTabSz="425450" eaLnBrk="1" hangingPunct="1">
              <a:spcBef>
                <a:spcPct val="0"/>
              </a:spcBef>
              <a:buNone/>
            </a:pPr>
            <a:r>
              <a:rPr lang="zh-CN" altLang="en-US" dirty="0">
                <a:latin typeface="宋体" pitchFamily="2" charset="-122"/>
              </a:rPr>
              <a:t>   例：顺序执行下列指令序列，求每一步执行结果。</a:t>
            </a:r>
            <a:endParaRPr lang="en-US" altLang="zh-CN" dirty="0">
              <a:latin typeface="宋体" pitchFamily="2" charset="-122"/>
            </a:endParaRPr>
          </a:p>
          <a:p>
            <a:pPr marL="0" algn="just" defTabSz="425450" eaLnBrk="1" hangingPunct="1">
              <a:spcBef>
                <a:spcPct val="0"/>
              </a:spcBef>
              <a:buNone/>
            </a:pPr>
            <a:r>
              <a:rPr lang="zh-CN" altLang="en-US" dirty="0">
                <a:latin typeface="宋体" pitchFamily="2" charset="-122"/>
              </a:rPr>
              <a:t>	</a:t>
            </a:r>
            <a:endParaRPr lang="zh-CN" altLang="en-US" dirty="0">
              <a:latin typeface="宋体" pitchFamily="2" charset="-122"/>
            </a:endParaRPr>
          </a:p>
          <a:p>
            <a:pPr marL="0" algn="just" defTabSz="425450" eaLnBrk="1" hangingPunct="1">
              <a:spcBef>
                <a:spcPct val="0"/>
              </a:spcBef>
              <a:buNone/>
            </a:pPr>
            <a:endParaRPr lang="zh-CN" altLang="zh-CN" dirty="0">
              <a:solidFill>
                <a:srgbClr val="FFC000"/>
              </a:solidFill>
              <a:latin typeface="宋体" pitchFamily="2" charset="-122"/>
            </a:endParaRPr>
          </a:p>
        </p:txBody>
      </p:sp>
      <p:sp>
        <p:nvSpPr>
          <p:cNvPr id="79876" name="TextBox 3"/>
          <p:cNvSpPr txBox="1"/>
          <p:nvPr/>
        </p:nvSpPr>
        <p:spPr>
          <a:xfrm>
            <a:off x="1187450" y="1773238"/>
            <a:ext cx="3071813" cy="3195637"/>
          </a:xfrm>
          <a:prstGeom prst="rect">
            <a:avLst/>
          </a:prstGeom>
          <a:noFill/>
          <a:ln w="9525">
            <a:noFill/>
          </a:ln>
        </p:spPr>
        <p:txBody>
          <a:bodyPr anchor="t" anchorCtr="0">
            <a:spAutoFit/>
          </a:bodyPr>
          <a:p>
            <a:pPr>
              <a:spcBef>
                <a:spcPct val="50000"/>
              </a:spcBef>
              <a:buClrTx/>
            </a:pPr>
            <a:r>
              <a:rPr lang="en-US" altLang="zh-CN" dirty="0">
                <a:latin typeface="宋体" pitchFamily="2" charset="-122"/>
                <a:ea typeface="仿宋_GB2312" pitchFamily="49" charset="-122"/>
              </a:rPr>
              <a:t>MOV A，#30H	</a:t>
            </a:r>
            <a:endParaRPr lang="en-US" altLang="zh-CN" dirty="0">
              <a:latin typeface="宋体" pitchFamily="2" charset="-122"/>
              <a:ea typeface="仿宋_GB2312" pitchFamily="49" charset="-122"/>
            </a:endParaRPr>
          </a:p>
          <a:p>
            <a:pPr>
              <a:spcBef>
                <a:spcPct val="50000"/>
              </a:spcBef>
              <a:buClrTx/>
            </a:pPr>
            <a:r>
              <a:rPr lang="en-US" altLang="zh-CN" dirty="0">
                <a:latin typeface="宋体" pitchFamily="2" charset="-122"/>
                <a:ea typeface="仿宋_GB2312" pitchFamily="49" charset="-122"/>
              </a:rPr>
              <a:t>MOV 4FH，A	</a:t>
            </a:r>
            <a:endParaRPr lang="en-US" altLang="zh-CN" dirty="0">
              <a:latin typeface="宋体" pitchFamily="2" charset="-122"/>
              <a:ea typeface="仿宋_GB2312" pitchFamily="49" charset="-122"/>
            </a:endParaRPr>
          </a:p>
          <a:p>
            <a:pPr>
              <a:spcBef>
                <a:spcPct val="50000"/>
              </a:spcBef>
              <a:buClrTx/>
            </a:pPr>
            <a:r>
              <a:rPr lang="en-US" altLang="zh-CN" dirty="0">
                <a:latin typeface="宋体" pitchFamily="2" charset="-122"/>
                <a:ea typeface="仿宋_GB2312" pitchFamily="49" charset="-122"/>
              </a:rPr>
              <a:t>MOV R0，#20H	</a:t>
            </a:r>
            <a:endParaRPr lang="en-US" altLang="zh-CN" dirty="0">
              <a:latin typeface="宋体" pitchFamily="2" charset="-122"/>
              <a:ea typeface="仿宋_GB2312" pitchFamily="49" charset="-122"/>
            </a:endParaRPr>
          </a:p>
          <a:p>
            <a:pPr>
              <a:spcBef>
                <a:spcPct val="50000"/>
              </a:spcBef>
              <a:buClrTx/>
            </a:pPr>
            <a:r>
              <a:rPr lang="en-US" altLang="zh-CN" dirty="0">
                <a:latin typeface="宋体" pitchFamily="2" charset="-122"/>
                <a:ea typeface="仿宋_GB2312" pitchFamily="49" charset="-122"/>
              </a:rPr>
              <a:t>MOV @R0，4FH	</a:t>
            </a:r>
            <a:endParaRPr lang="en-US" altLang="zh-CN" dirty="0">
              <a:latin typeface="宋体" pitchFamily="2" charset="-122"/>
              <a:ea typeface="仿宋_GB2312" pitchFamily="49" charset="-122"/>
            </a:endParaRPr>
          </a:p>
          <a:p>
            <a:pPr>
              <a:spcBef>
                <a:spcPct val="50000"/>
              </a:spcBef>
              <a:buClrTx/>
            </a:pPr>
            <a:r>
              <a:rPr lang="en-US" altLang="zh-CN" dirty="0">
                <a:latin typeface="宋体" pitchFamily="2" charset="-122"/>
                <a:ea typeface="仿宋_GB2312" pitchFamily="49" charset="-122"/>
              </a:rPr>
              <a:t>MOV 21H，20H</a:t>
            </a:r>
            <a:endParaRPr lang="en-US" altLang="zh-CN" dirty="0">
              <a:latin typeface="宋体" pitchFamily="2" charset="-122"/>
              <a:ea typeface="仿宋_GB2312" pitchFamily="49" charset="-122"/>
            </a:endParaRPr>
          </a:p>
          <a:p>
            <a:pPr>
              <a:spcBef>
                <a:spcPct val="50000"/>
              </a:spcBef>
              <a:buClrTx/>
              <a:buFontTx/>
            </a:pPr>
            <a:endParaRPr lang="zh-CN" altLang="en-US" dirty="0">
              <a:latin typeface="Times New Roman" panose="02020503050405090304" pitchFamily="18" charset="0"/>
              <a:ea typeface="仿宋_GB2312" pitchFamily="49" charset="-122"/>
            </a:endParaRPr>
          </a:p>
        </p:txBody>
      </p:sp>
      <p:sp>
        <p:nvSpPr>
          <p:cNvPr id="79877" name="TextBox 4"/>
          <p:cNvSpPr txBox="1"/>
          <p:nvPr/>
        </p:nvSpPr>
        <p:spPr>
          <a:xfrm>
            <a:off x="1476375" y="5084763"/>
            <a:ext cx="3286125" cy="641350"/>
          </a:xfrm>
          <a:prstGeom prst="rect">
            <a:avLst/>
          </a:prstGeom>
          <a:solidFill>
            <a:srgbClr val="3366FF"/>
          </a:solidFill>
          <a:ln w="9525">
            <a:noFill/>
          </a:ln>
        </p:spPr>
        <p:txBody>
          <a:bodyPr anchor="t" anchorCtr="0">
            <a:spAutoFit/>
          </a:bodyPr>
          <a:p>
            <a:pPr eaLnBrk="0" hangingPunct="0">
              <a:spcBef>
                <a:spcPct val="50000"/>
              </a:spcBef>
              <a:buClrTx/>
              <a:buFontTx/>
            </a:pPr>
            <a:r>
              <a:rPr lang="zh-CN" altLang="en-US" sz="3600" dirty="0">
                <a:solidFill>
                  <a:srgbClr val="FF3300"/>
                </a:solidFill>
                <a:latin typeface="黑体" panose="02010609060101010101" pitchFamily="49" charset="-122"/>
                <a:ea typeface="黑体" panose="02010609060101010101" pitchFamily="49" charset="-122"/>
              </a:rPr>
              <a:t>程序执行结果</a:t>
            </a:r>
            <a:endParaRPr lang="zh-CN" altLang="en-US" sz="3600" dirty="0">
              <a:solidFill>
                <a:srgbClr val="FF3300"/>
              </a:solidFill>
              <a:latin typeface="黑体" panose="02010609060101010101" pitchFamily="49" charset="-122"/>
              <a:ea typeface="黑体" panose="02010609060101010101" pitchFamily="49"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idx="4294967295"/>
          </p:nvPr>
        </p:nvSpPr>
        <p:spPr>
          <a:xfrm>
            <a:off x="1104900" y="214313"/>
            <a:ext cx="7872413" cy="6096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0" lang="zh-CN" altLang="en-US" sz="2800" b="0"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  </a:t>
            </a:r>
            <a:r>
              <a:rPr kumimoji="0" lang="zh-CN" altLang="en-US" sz="2400" b="0"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   </a:t>
            </a:r>
            <a:r>
              <a:rPr kumimoji="0" lang="en-US" altLang="zh-CN" sz="3200" b="0"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MCS-51</a:t>
            </a:r>
            <a:r>
              <a:rPr kumimoji="0" lang="zh-CN" altLang="en-US" sz="3200" b="0"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0" lang="zh-CN" altLang="en-US" sz="3600" b="0" i="0" u="none" strike="noStrike" kern="0" cap="none" spc="0" normalizeH="0" baseline="0" noProof="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63490" name="Rectangle 3"/>
          <p:cNvSpPr>
            <a:spLocks noGrp="1"/>
          </p:cNvSpPr>
          <p:nvPr>
            <p:ph type="body" idx="4294967295"/>
          </p:nvPr>
        </p:nvSpPr>
        <p:spPr>
          <a:xfrm>
            <a:off x="214313" y="1125538"/>
            <a:ext cx="8929688" cy="571500"/>
          </a:xfrm>
        </p:spPr>
        <p:txBody>
          <a:bodyPr vert="horz" wrap="square" lIns="91440" tIns="45720" rIns="91440" bIns="45720" anchor="t"/>
          <a:p>
            <a:pPr marL="0" marR="0" indent="-342900" algn="just" defTabSz="42545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2600" b="1" i="0" u="none" strike="noStrike" kern="0" cap="none" spc="0" normalizeH="0" baseline="0" noProof="1" dirty="0">
                <a:solidFill>
                  <a:srgbClr val="0025C0"/>
                </a:solidFill>
                <a:effectLst>
                  <a:outerShdw blurRad="38100" dist="38100" dir="2700000">
                    <a:srgbClr val="000000"/>
                  </a:outerShdw>
                </a:effectLst>
                <a:latin typeface="宋体" pitchFamily="2" charset="-122"/>
                <a:ea typeface="+mn-ea"/>
                <a:cs typeface="+mn-cs"/>
                <a:sym typeface="+mn-ea"/>
              </a:rPr>
              <a:t> </a:t>
            </a:r>
            <a:r>
              <a:rPr kumimoji="0" lang="zh-CN" altLang="en-US" sz="2600" b="1" i="0" u="none" strike="noStrike" kern="0" cap="none" spc="0" normalizeH="0" baseline="0" noProof="1" dirty="0">
                <a:solidFill>
                  <a:srgbClr val="0025C0"/>
                </a:solidFill>
                <a:effectLst>
                  <a:outerShdw blurRad="38100" dist="38100" dir="2700000">
                    <a:srgbClr val="000000"/>
                  </a:outerShdw>
                </a:effectLst>
                <a:latin typeface="宋体" pitchFamily="2" charset="-122"/>
                <a:ea typeface="+mn-ea"/>
                <a:cs typeface="+mn-cs"/>
                <a:sym typeface="+mn-ea"/>
              </a:rPr>
              <a:t>练习</a:t>
            </a:r>
            <a:r>
              <a:rPr kumimoji="0" lang="en-US" altLang="zh-CN" sz="2600" b="1" i="0" u="none" strike="noStrike" kern="0" cap="none" spc="0" normalizeH="0" baseline="0" noProof="1">
                <a:solidFill>
                  <a:srgbClr val="0025C0"/>
                </a:solidFill>
                <a:effectLst>
                  <a:outerShdw blurRad="38100" dist="38100" dir="2700000">
                    <a:srgbClr val="000000"/>
                  </a:outerShdw>
                </a:effectLst>
                <a:latin typeface="宋体" pitchFamily="2" charset="-122"/>
                <a:ea typeface="+mn-ea"/>
                <a:cs typeface="+mn-cs"/>
                <a:sym typeface="+mn-ea"/>
              </a:rPr>
              <a:t>3.2</a:t>
            </a:r>
            <a:r>
              <a:rPr kumimoji="0" lang="zh-CN" altLang="en-US" sz="2600" b="1" i="0" u="none" strike="noStrike" kern="0" cap="none" spc="0" normalizeH="0" baseline="0" noProof="1" dirty="0">
                <a:solidFill>
                  <a:srgbClr val="0025C0"/>
                </a:solidFill>
                <a:effectLst>
                  <a:outerShdw blurRad="38100" dist="38100" dir="2700000">
                    <a:srgbClr val="000000"/>
                  </a:outerShdw>
                </a:effectLst>
                <a:latin typeface="宋体" pitchFamily="2" charset="-122"/>
                <a:ea typeface="+mn-ea"/>
                <a:cs typeface="+mn-cs"/>
                <a:sym typeface="+mn-ea"/>
              </a:rPr>
              <a:t>：判断下列指令是否正确，错误的请指出错误原因</a:t>
            </a:r>
            <a:endParaRPr kumimoji="0" lang="zh-CN" altLang="en-US" sz="2600" b="1" i="0" u="none" strike="noStrike" kern="0" cap="none" spc="0" normalizeH="0" baseline="0" noProof="1" dirty="0">
              <a:solidFill>
                <a:srgbClr val="0025C0"/>
              </a:solidFill>
              <a:effectLst>
                <a:outerShdw blurRad="38100" dist="38100" dir="2700000">
                  <a:srgbClr val="000000"/>
                </a:outerShdw>
              </a:effectLst>
              <a:latin typeface="宋体" pitchFamily="2" charset="-122"/>
              <a:ea typeface="+mn-ea"/>
              <a:cs typeface="+mn-cs"/>
            </a:endParaRPr>
          </a:p>
          <a:p>
            <a:pPr marL="0" marR="0" indent="-342900" algn="just" defTabSz="42545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endParaRPr kumimoji="0" lang="zh-CN" altLang="zh-CN" sz="2600" b="0" i="0" u="none" strike="noStrike" kern="0" cap="none" spc="0" normalizeH="0" baseline="0" noProof="1" dirty="0">
              <a:solidFill>
                <a:srgbClr val="FFC000"/>
              </a:solidFill>
              <a:latin typeface="宋体" pitchFamily="2" charset="-122"/>
              <a:ea typeface="+mn-ea"/>
              <a:cs typeface="+mn-cs"/>
            </a:endParaRPr>
          </a:p>
        </p:txBody>
      </p:sp>
      <p:sp>
        <p:nvSpPr>
          <p:cNvPr id="80899" name="矩形 1017862"/>
          <p:cNvSpPr/>
          <p:nvPr/>
        </p:nvSpPr>
        <p:spPr>
          <a:xfrm>
            <a:off x="958850" y="1625600"/>
            <a:ext cx="3149600" cy="4522788"/>
          </a:xfrm>
          <a:prstGeom prst="rect">
            <a:avLst/>
          </a:prstGeom>
          <a:noFill/>
          <a:ln w="9525">
            <a:noFill/>
          </a:ln>
        </p:spPr>
        <p:txBody>
          <a:bodyPr wrap="square" anchor="t" anchorCtr="0">
            <a:spAutoFit/>
          </a:bodyPr>
          <a:p>
            <a:pPr>
              <a:lnSpc>
                <a:spcPct val="150000"/>
              </a:lnSpc>
              <a:buSzPct val="90000"/>
            </a:pPr>
            <a:r>
              <a:rPr lang="zh-CN" altLang="en-US" dirty="0">
                <a:solidFill>
                  <a:srgbClr val="000000"/>
                </a:solidFill>
                <a:latin typeface="宋体" pitchFamily="2" charset="-122"/>
                <a:ea typeface="仿宋_GB2312" pitchFamily="49" charset="-122"/>
              </a:rPr>
              <a:t>1．</a:t>
            </a:r>
            <a:r>
              <a:rPr lang="en-US" altLang="zh-CN">
                <a:solidFill>
                  <a:srgbClr val="000000"/>
                </a:solidFill>
                <a:latin typeface="宋体" pitchFamily="2" charset="-122"/>
                <a:ea typeface="仿宋_GB2312" pitchFamily="49" charset="-122"/>
              </a:rPr>
              <a:t>MOV  A，#1000H</a:t>
            </a:r>
            <a:endParaRPr lang="en-US" altLang="zh-CN">
              <a:solidFill>
                <a:srgbClr val="000000"/>
              </a:solidFill>
              <a:latin typeface="宋体" pitchFamily="2" charset="-122"/>
              <a:ea typeface="仿宋_GB2312" pitchFamily="49" charset="-122"/>
            </a:endParaRPr>
          </a:p>
          <a:p>
            <a:pPr>
              <a:lnSpc>
                <a:spcPct val="150000"/>
              </a:lnSpc>
              <a:buSzPct val="90000"/>
            </a:pPr>
            <a:r>
              <a:rPr lang="en-US" altLang="zh-CN">
                <a:solidFill>
                  <a:srgbClr val="000000"/>
                </a:solidFill>
                <a:latin typeface="宋体" pitchFamily="2" charset="-122"/>
                <a:ea typeface="仿宋_GB2312" pitchFamily="49" charset="-122"/>
              </a:rPr>
              <a:t>2. MOV  R0, R2</a:t>
            </a:r>
            <a:endParaRPr lang="en-US" altLang="zh-CN">
              <a:solidFill>
                <a:srgbClr val="000000"/>
              </a:solidFill>
              <a:latin typeface="宋体" pitchFamily="2" charset="-122"/>
              <a:ea typeface="仿宋_GB2312" pitchFamily="49" charset="-122"/>
            </a:endParaRPr>
          </a:p>
          <a:p>
            <a:pPr>
              <a:lnSpc>
                <a:spcPct val="150000"/>
              </a:lnSpc>
              <a:buSzPct val="90000"/>
            </a:pPr>
            <a:r>
              <a:rPr lang="en-US" altLang="zh-CN">
                <a:solidFill>
                  <a:srgbClr val="000000"/>
                </a:solidFill>
                <a:latin typeface="宋体" pitchFamily="2" charset="-122"/>
                <a:ea typeface="仿宋_GB2312" pitchFamily="49" charset="-122"/>
              </a:rPr>
              <a:t>3. MOV  R1,@R0</a:t>
            </a:r>
            <a:endParaRPr lang="en-US" altLang="zh-CN">
              <a:solidFill>
                <a:srgbClr val="000000"/>
              </a:solidFill>
              <a:latin typeface="宋体" pitchFamily="2" charset="-122"/>
              <a:ea typeface="仿宋_GB2312" pitchFamily="49" charset="-122"/>
            </a:endParaRPr>
          </a:p>
          <a:p>
            <a:pPr>
              <a:lnSpc>
                <a:spcPct val="150000"/>
              </a:lnSpc>
              <a:buSzPct val="90000"/>
            </a:pPr>
            <a:r>
              <a:rPr lang="en-US" altLang="zh-CN">
                <a:solidFill>
                  <a:srgbClr val="000000"/>
                </a:solidFill>
                <a:latin typeface="宋体" pitchFamily="2" charset="-122"/>
                <a:ea typeface="仿宋_GB2312" pitchFamily="49" charset="-122"/>
              </a:rPr>
              <a:t>4. MOV  A, @R2	</a:t>
            </a:r>
            <a:endParaRPr lang="en-US" altLang="zh-CN">
              <a:solidFill>
                <a:srgbClr val="000000"/>
              </a:solidFill>
              <a:latin typeface="宋体" pitchFamily="2" charset="-122"/>
              <a:ea typeface="仿宋_GB2312" pitchFamily="49" charset="-122"/>
            </a:endParaRPr>
          </a:p>
          <a:p>
            <a:pPr>
              <a:lnSpc>
                <a:spcPct val="150000"/>
              </a:lnSpc>
              <a:buSzPct val="90000"/>
            </a:pPr>
            <a:r>
              <a:rPr lang="en-US" altLang="zh-CN">
                <a:solidFill>
                  <a:srgbClr val="000000"/>
                </a:solidFill>
                <a:latin typeface="宋体" pitchFamily="2" charset="-122"/>
                <a:ea typeface="仿宋_GB2312" pitchFamily="49" charset="-122"/>
              </a:rPr>
              <a:t>5．MOV  R0，60H	 </a:t>
            </a:r>
            <a:endParaRPr lang="en-US" altLang="zh-CN">
              <a:solidFill>
                <a:srgbClr val="000000"/>
              </a:solidFill>
              <a:latin typeface="宋体" pitchFamily="2" charset="-122"/>
              <a:ea typeface="仿宋_GB2312" pitchFamily="49" charset="-122"/>
            </a:endParaRPr>
          </a:p>
          <a:p>
            <a:pPr>
              <a:lnSpc>
                <a:spcPct val="150000"/>
              </a:lnSpc>
              <a:buSzPct val="90000"/>
            </a:pPr>
            <a:r>
              <a:rPr lang="en-US" altLang="zh-CN">
                <a:solidFill>
                  <a:srgbClr val="000000"/>
                </a:solidFill>
                <a:latin typeface="宋体" pitchFamily="2" charset="-122"/>
                <a:ea typeface="仿宋_GB2312" pitchFamily="49" charset="-122"/>
              </a:rPr>
              <a:t>6. MOV  61H，@R0</a:t>
            </a:r>
            <a:endParaRPr lang="en-US" altLang="zh-CN">
              <a:solidFill>
                <a:srgbClr val="000000"/>
              </a:solidFill>
              <a:latin typeface="宋体" pitchFamily="2" charset="-122"/>
              <a:ea typeface="仿宋_GB2312" pitchFamily="49" charset="-122"/>
            </a:endParaRPr>
          </a:p>
          <a:p>
            <a:pPr>
              <a:lnSpc>
                <a:spcPct val="150000"/>
              </a:lnSpc>
              <a:buSzPct val="90000"/>
            </a:pPr>
            <a:r>
              <a:rPr lang="en-US" altLang="zh-CN">
                <a:solidFill>
                  <a:srgbClr val="000000"/>
                </a:solidFill>
                <a:latin typeface="宋体" pitchFamily="2" charset="-122"/>
                <a:ea typeface="仿宋_GB2312" pitchFamily="49" charset="-122"/>
              </a:rPr>
              <a:t>7. MOV  30H, #10</a:t>
            </a:r>
            <a:r>
              <a:rPr lang="en-US" altLang="zh-CN">
                <a:solidFill>
                  <a:srgbClr val="000000"/>
                </a:solidFill>
                <a:latin typeface="宋体" pitchFamily="2" charset="-122"/>
                <a:ea typeface="仿宋_GB2312" pitchFamily="49" charset="-122"/>
                <a:sym typeface="宋体" pitchFamily="2" charset="-122"/>
              </a:rPr>
              <a:t>H</a:t>
            </a:r>
            <a:endParaRPr lang="en-US" altLang="zh-CN">
              <a:solidFill>
                <a:srgbClr val="000000"/>
              </a:solidFill>
              <a:latin typeface="宋体" pitchFamily="2" charset="-122"/>
              <a:ea typeface="仿宋_GB2312" pitchFamily="49" charset="-122"/>
            </a:endParaRPr>
          </a:p>
          <a:p>
            <a:pPr>
              <a:lnSpc>
                <a:spcPct val="150000"/>
              </a:lnSpc>
              <a:buSzPct val="90000"/>
            </a:pPr>
            <a:r>
              <a:rPr lang="en-US" altLang="zh-CN">
                <a:solidFill>
                  <a:srgbClr val="000000"/>
                </a:solidFill>
                <a:latin typeface="宋体" pitchFamily="2" charset="-122"/>
                <a:ea typeface="仿宋_GB2312" pitchFamily="49" charset="-122"/>
              </a:rPr>
              <a:t>8. MOV  2000H, A</a:t>
            </a:r>
            <a:endParaRPr lang="en-US" altLang="zh-CN">
              <a:solidFill>
                <a:srgbClr val="000000"/>
              </a:solidFill>
              <a:latin typeface="宋体" pitchFamily="2" charset="-122"/>
              <a:ea typeface="仿宋_GB2312" pitchFamily="49" charset="-122"/>
            </a:endParaRPr>
          </a:p>
        </p:txBody>
      </p:sp>
      <p:sp>
        <p:nvSpPr>
          <p:cNvPr id="1017864" name="矩形 1017863"/>
          <p:cNvSpPr/>
          <p:nvPr/>
        </p:nvSpPr>
        <p:spPr>
          <a:xfrm>
            <a:off x="3925888" y="1801813"/>
            <a:ext cx="3089275" cy="460375"/>
          </a:xfrm>
          <a:prstGeom prst="rect">
            <a:avLst/>
          </a:prstGeom>
          <a:noFill/>
          <a:ln w="9525">
            <a:noFill/>
          </a:ln>
        </p:spPr>
        <p:txBody>
          <a:bodyPr wrap="none" anchor="t">
            <a:spAutoFit/>
          </a:bodyPr>
          <a:p>
            <a:pPr algn="l" fontAlgn="base"/>
            <a:r>
              <a:rPr lang="zh-CN" altLang="en-US" strike="noStrike" noProof="1" dirty="0">
                <a:solidFill>
                  <a:srgbClr val="FF0000"/>
                </a:solidFill>
                <a:latin typeface="宋体" pitchFamily="2" charset="-122"/>
                <a:ea typeface="仿宋_GB2312" pitchFamily="49" charset="-122"/>
                <a:cs typeface="+mn-cs"/>
                <a:sym typeface="+mn-ea"/>
              </a:rPr>
              <a:t>；</a:t>
            </a:r>
            <a:r>
              <a:rPr lang="en-US" altLang="zh-CN" strike="noStrike" noProof="1">
                <a:solidFill>
                  <a:srgbClr val="FF0000"/>
                </a:solidFill>
                <a:latin typeface="Times New Roman" panose="02020503050405090304" pitchFamily="18" charset="0"/>
                <a:ea typeface="仿宋_GB2312" pitchFamily="49" charset="-122"/>
                <a:cs typeface="+mn-cs"/>
                <a:sym typeface="+mn-ea"/>
              </a:rPr>
              <a:t>×</a:t>
            </a:r>
            <a:r>
              <a:rPr lang="zh-CN" altLang="en-US" strike="noStrike" noProof="1" dirty="0">
                <a:solidFill>
                  <a:srgbClr val="FF0000"/>
                </a:solidFill>
                <a:latin typeface="Times New Roman" panose="02020503050405090304" pitchFamily="18" charset="0"/>
                <a:ea typeface="仿宋_GB2312" pitchFamily="49" charset="-122"/>
                <a:cs typeface="+mn-cs"/>
                <a:sym typeface="+mn-ea"/>
              </a:rPr>
              <a:t>，立即数大于</a:t>
            </a:r>
            <a:r>
              <a:rPr lang="en-US" altLang="zh-CN" strike="noStrike" noProof="1">
                <a:solidFill>
                  <a:srgbClr val="FF0000"/>
                </a:solidFill>
                <a:latin typeface="Times New Roman" panose="02020503050405090304" pitchFamily="18" charset="0"/>
                <a:ea typeface="仿宋_GB2312" pitchFamily="49" charset="-122"/>
                <a:cs typeface="+mn-cs"/>
                <a:sym typeface="+mn-ea"/>
              </a:rPr>
              <a:t>255</a:t>
            </a:r>
            <a:endParaRPr lang="en-US" altLang="zh-CN" b="1" strike="noStrike" noProof="1" dirty="0">
              <a:solidFill>
                <a:srgbClr val="FF0000"/>
              </a:solidFill>
              <a:effectLst>
                <a:outerShdw blurRad="38100" dist="38100" dir="2700000">
                  <a:srgbClr val="000000"/>
                </a:outerShdw>
              </a:effectLst>
              <a:latin typeface="宋体" pitchFamily="2" charset="-122"/>
              <a:sym typeface="+mn-ea"/>
            </a:endParaRPr>
          </a:p>
        </p:txBody>
      </p:sp>
      <p:sp>
        <p:nvSpPr>
          <p:cNvPr id="2" name="矩形 1"/>
          <p:cNvSpPr/>
          <p:nvPr/>
        </p:nvSpPr>
        <p:spPr>
          <a:xfrm>
            <a:off x="3198813" y="2366963"/>
            <a:ext cx="5997575" cy="460375"/>
          </a:xfrm>
          <a:prstGeom prst="rect">
            <a:avLst/>
          </a:prstGeom>
          <a:noFill/>
          <a:ln w="9525">
            <a:noFill/>
          </a:ln>
        </p:spPr>
        <p:txBody>
          <a:bodyPr wrap="none" anchor="t">
            <a:spAutoFit/>
          </a:bodyPr>
          <a:p>
            <a:pPr algn="l" fontAlgn="base"/>
            <a:r>
              <a:rPr lang="zh-CN" altLang="en-US" strike="noStrike" noProof="1" dirty="0">
                <a:solidFill>
                  <a:srgbClr val="FF0000"/>
                </a:solidFill>
                <a:latin typeface="宋体" pitchFamily="2" charset="-122"/>
                <a:ea typeface="仿宋_GB2312" pitchFamily="49" charset="-122"/>
                <a:cs typeface="+mn-cs"/>
                <a:sym typeface="+mn-ea"/>
              </a:rPr>
              <a:t>；</a:t>
            </a:r>
            <a:r>
              <a:rPr lang="en-US" altLang="zh-CN" strike="noStrike" noProof="1">
                <a:solidFill>
                  <a:srgbClr val="FF0000"/>
                </a:solidFill>
                <a:latin typeface="Times New Roman" panose="02020503050405090304" pitchFamily="18" charset="0"/>
                <a:ea typeface="仿宋_GB2312" pitchFamily="49" charset="-122"/>
                <a:cs typeface="+mn-cs"/>
                <a:sym typeface="+mn-ea"/>
              </a:rPr>
              <a:t>×</a:t>
            </a:r>
            <a:r>
              <a:rPr lang="zh-CN" altLang="en-US" strike="noStrike" noProof="1" dirty="0">
                <a:solidFill>
                  <a:srgbClr val="FF0000"/>
                </a:solidFill>
                <a:latin typeface="Times New Roman" panose="02020503050405090304" pitchFamily="18" charset="0"/>
                <a:ea typeface="仿宋_GB2312" pitchFamily="49" charset="-122"/>
                <a:cs typeface="+mn-cs"/>
                <a:sym typeface="+mn-ea"/>
              </a:rPr>
              <a:t>，</a:t>
            </a:r>
            <a:r>
              <a:rPr lang="zh-CN" altLang="en-US" strike="noStrike" noProof="1" dirty="0">
                <a:solidFill>
                  <a:srgbClr val="FF0000"/>
                </a:solidFill>
                <a:latin typeface="宋体" pitchFamily="2" charset="-122"/>
                <a:ea typeface="仿宋_GB2312" pitchFamily="49" charset="-122"/>
                <a:cs typeface="+mn-cs"/>
                <a:sym typeface="+mn-ea"/>
              </a:rPr>
              <a:t>一指令中不能同时有两个工作寄存器</a:t>
            </a:r>
            <a:endParaRPr lang="zh-CN" altLang="en-US" b="1" strike="noStrike" noProof="1" dirty="0">
              <a:solidFill>
                <a:srgbClr val="FF0000"/>
              </a:solidFill>
              <a:effectLst>
                <a:outerShdw blurRad="38100" dist="38100" dir="2700000">
                  <a:srgbClr val="000000"/>
                </a:outerShdw>
              </a:effectLst>
              <a:latin typeface="宋体" pitchFamily="2" charset="-122"/>
              <a:sym typeface="+mn-ea"/>
            </a:endParaRPr>
          </a:p>
        </p:txBody>
      </p:sp>
      <p:sp>
        <p:nvSpPr>
          <p:cNvPr id="3" name="矩形 2"/>
          <p:cNvSpPr/>
          <p:nvPr/>
        </p:nvSpPr>
        <p:spPr>
          <a:xfrm>
            <a:off x="3125788" y="2898775"/>
            <a:ext cx="5999163" cy="460375"/>
          </a:xfrm>
          <a:prstGeom prst="rect">
            <a:avLst/>
          </a:prstGeom>
          <a:noFill/>
          <a:ln w="9525">
            <a:noFill/>
          </a:ln>
        </p:spPr>
        <p:txBody>
          <a:bodyPr wrap="none" anchor="t">
            <a:spAutoFit/>
          </a:bodyPr>
          <a:p>
            <a:pPr algn="l" fontAlgn="base"/>
            <a:r>
              <a:rPr lang="zh-CN" altLang="en-US" strike="noStrike" noProof="1" dirty="0">
                <a:solidFill>
                  <a:srgbClr val="FF0000"/>
                </a:solidFill>
                <a:latin typeface="宋体" pitchFamily="2" charset="-122"/>
                <a:ea typeface="仿宋_GB2312" pitchFamily="49" charset="-122"/>
                <a:cs typeface="+mn-cs"/>
                <a:sym typeface="+mn-ea"/>
              </a:rPr>
              <a:t>；</a:t>
            </a:r>
            <a:r>
              <a:rPr lang="en-US" altLang="zh-CN" strike="noStrike" noProof="1">
                <a:solidFill>
                  <a:srgbClr val="FF0000"/>
                </a:solidFill>
                <a:latin typeface="Times New Roman" panose="02020503050405090304" pitchFamily="18" charset="0"/>
                <a:ea typeface="仿宋_GB2312" pitchFamily="49" charset="-122"/>
                <a:cs typeface="+mn-cs"/>
                <a:sym typeface="+mn-ea"/>
              </a:rPr>
              <a:t>×</a:t>
            </a:r>
            <a:r>
              <a:rPr lang="zh-CN" altLang="en-US" strike="noStrike" noProof="1" dirty="0">
                <a:solidFill>
                  <a:srgbClr val="FF0000"/>
                </a:solidFill>
                <a:latin typeface="Times New Roman" panose="02020503050405090304" pitchFamily="18" charset="0"/>
                <a:ea typeface="仿宋_GB2312" pitchFamily="49" charset="-122"/>
                <a:cs typeface="+mn-cs"/>
                <a:sym typeface="+mn-ea"/>
              </a:rPr>
              <a:t>，</a:t>
            </a:r>
            <a:r>
              <a:rPr lang="zh-CN" altLang="en-US" strike="noStrike" noProof="1" dirty="0">
                <a:solidFill>
                  <a:srgbClr val="FF0000"/>
                </a:solidFill>
                <a:latin typeface="宋体" pitchFamily="2" charset="-122"/>
                <a:ea typeface="仿宋_GB2312" pitchFamily="49" charset="-122"/>
                <a:cs typeface="+mn-cs"/>
                <a:sym typeface="+mn-ea"/>
              </a:rPr>
              <a:t>一指令中不能同时有两个工作寄存器</a:t>
            </a:r>
            <a:endParaRPr lang="zh-CN" altLang="en-US" b="1" strike="noStrike" noProof="1" dirty="0">
              <a:solidFill>
                <a:srgbClr val="FF0000"/>
              </a:solidFill>
              <a:effectLst>
                <a:outerShdw blurRad="38100" dist="38100" dir="2700000">
                  <a:srgbClr val="000000"/>
                </a:outerShdw>
              </a:effectLst>
              <a:latin typeface="宋体" pitchFamily="2" charset="-122"/>
              <a:sym typeface="+mn-ea"/>
            </a:endParaRPr>
          </a:p>
        </p:txBody>
      </p:sp>
      <p:sp>
        <p:nvSpPr>
          <p:cNvPr id="4" name="矩形 3"/>
          <p:cNvSpPr/>
          <p:nvPr/>
        </p:nvSpPr>
        <p:spPr>
          <a:xfrm>
            <a:off x="3125788" y="3406775"/>
            <a:ext cx="5707063" cy="460375"/>
          </a:xfrm>
          <a:prstGeom prst="rect">
            <a:avLst/>
          </a:prstGeom>
          <a:noFill/>
          <a:ln w="9525">
            <a:noFill/>
          </a:ln>
        </p:spPr>
        <p:txBody>
          <a:bodyPr wrap="none" anchor="t">
            <a:spAutoFit/>
          </a:bodyPr>
          <a:p>
            <a:pPr algn="l" fontAlgn="base"/>
            <a:r>
              <a:rPr lang="zh-CN" altLang="en-US" strike="noStrike" noProof="1" dirty="0">
                <a:solidFill>
                  <a:srgbClr val="FF0000"/>
                </a:solidFill>
                <a:latin typeface="宋体" pitchFamily="2" charset="-122"/>
                <a:ea typeface="仿宋_GB2312" pitchFamily="49" charset="-122"/>
                <a:cs typeface="+mn-cs"/>
                <a:sym typeface="+mn-ea"/>
              </a:rPr>
              <a:t>；</a:t>
            </a:r>
            <a:r>
              <a:rPr lang="en-US" altLang="zh-CN" strike="noStrike" noProof="1">
                <a:solidFill>
                  <a:srgbClr val="FF0000"/>
                </a:solidFill>
                <a:latin typeface="Times New Roman" panose="02020503050405090304" pitchFamily="18" charset="0"/>
                <a:ea typeface="仿宋_GB2312" pitchFamily="49" charset="-122"/>
                <a:cs typeface="+mn-cs"/>
                <a:sym typeface="+mn-ea"/>
              </a:rPr>
              <a:t>×</a:t>
            </a:r>
            <a:r>
              <a:rPr lang="zh-CN" altLang="en-US" strike="noStrike" noProof="1" dirty="0">
                <a:solidFill>
                  <a:srgbClr val="FF0000"/>
                </a:solidFill>
                <a:latin typeface="Times New Roman" panose="02020503050405090304" pitchFamily="18" charset="0"/>
                <a:ea typeface="仿宋_GB2312" pitchFamily="49" charset="-122"/>
                <a:cs typeface="+mn-cs"/>
                <a:sym typeface="+mn-ea"/>
              </a:rPr>
              <a:t>，</a:t>
            </a:r>
            <a:r>
              <a:rPr lang="zh-CN" altLang="en-US" strike="noStrike" noProof="1" dirty="0">
                <a:solidFill>
                  <a:srgbClr val="FF0000"/>
                </a:solidFill>
                <a:latin typeface="Times New Roman" panose="02020503050405090304" pitchFamily="18" charset="0"/>
                <a:ea typeface="仿宋_GB2312" pitchFamily="49" charset="-122"/>
                <a:cs typeface="+mn-cs"/>
                <a:sym typeface="+mn-ea"/>
              </a:rPr>
              <a:t>片内访问间接寻址寄存器只有</a:t>
            </a:r>
            <a:r>
              <a:rPr lang="en-US" altLang="zh-CN" strike="noStrike" noProof="1">
                <a:solidFill>
                  <a:srgbClr val="FF0000"/>
                </a:solidFill>
                <a:latin typeface="Times New Roman" panose="02020503050405090304" pitchFamily="18" charset="0"/>
                <a:ea typeface="仿宋_GB2312" pitchFamily="49" charset="-122"/>
                <a:cs typeface="+mn-cs"/>
                <a:sym typeface="+mn-ea"/>
              </a:rPr>
              <a:t>R0-1</a:t>
            </a:r>
            <a:endParaRPr lang="en-US" altLang="zh-CN" b="1" strike="noStrike" noProof="1" dirty="0">
              <a:solidFill>
                <a:srgbClr val="FF0000"/>
              </a:solidFill>
              <a:effectLst>
                <a:outerShdw blurRad="38100" dist="38100" dir="2700000">
                  <a:srgbClr val="000000"/>
                </a:outerShdw>
              </a:effectLst>
              <a:latin typeface="宋体" pitchFamily="2" charset="-122"/>
              <a:sym typeface="+mn-ea"/>
            </a:endParaRPr>
          </a:p>
        </p:txBody>
      </p:sp>
      <p:sp>
        <p:nvSpPr>
          <p:cNvPr id="5" name="矩形 4"/>
          <p:cNvSpPr/>
          <p:nvPr/>
        </p:nvSpPr>
        <p:spPr>
          <a:xfrm>
            <a:off x="3270250" y="4011613"/>
            <a:ext cx="655638" cy="460375"/>
          </a:xfrm>
          <a:prstGeom prst="rect">
            <a:avLst/>
          </a:prstGeom>
          <a:noFill/>
          <a:ln w="9525">
            <a:noFill/>
          </a:ln>
        </p:spPr>
        <p:txBody>
          <a:bodyPr wrap="none" anchor="t">
            <a:spAutoFit/>
          </a:bodyPr>
          <a:p>
            <a:pPr algn="l" fontAlgn="base"/>
            <a:r>
              <a:rPr lang="zh-CN" altLang="en-US" strike="noStrike" noProof="1" dirty="0">
                <a:solidFill>
                  <a:srgbClr val="FF0000"/>
                </a:solidFill>
                <a:latin typeface="宋体" pitchFamily="2" charset="-122"/>
                <a:ea typeface="仿宋_GB2312" pitchFamily="49" charset="-122"/>
                <a:cs typeface="+mn-cs"/>
                <a:sym typeface="+mn-ea"/>
              </a:rPr>
              <a:t>；</a:t>
            </a:r>
            <a:r>
              <a:rPr lang="zh-CN" altLang="en-US" strike="noStrike" noProof="1" dirty="0">
                <a:solidFill>
                  <a:srgbClr val="FF0000"/>
                </a:solidFill>
                <a:latin typeface="Times New Roman" panose="02020503050405090304" pitchFamily="18" charset="0"/>
                <a:ea typeface="仿宋_GB2312" pitchFamily="49" charset="-122"/>
                <a:cs typeface="+mn-cs"/>
                <a:sym typeface="+mn-ea"/>
              </a:rPr>
              <a:t>√</a:t>
            </a:r>
            <a:endParaRPr lang="zh-CN" altLang="en-US" b="1" strike="noStrike" noProof="1" dirty="0">
              <a:solidFill>
                <a:srgbClr val="FF0000"/>
              </a:solidFill>
              <a:effectLst>
                <a:outerShdw blurRad="38100" dist="38100" dir="2700000">
                  <a:srgbClr val="000000"/>
                </a:outerShdw>
              </a:effectLst>
              <a:latin typeface="宋体" pitchFamily="2" charset="-122"/>
              <a:sym typeface="+mn-ea"/>
            </a:endParaRPr>
          </a:p>
        </p:txBody>
      </p:sp>
      <p:sp>
        <p:nvSpPr>
          <p:cNvPr id="6" name="矩形 5"/>
          <p:cNvSpPr/>
          <p:nvPr/>
        </p:nvSpPr>
        <p:spPr>
          <a:xfrm>
            <a:off x="3506788" y="4533900"/>
            <a:ext cx="657225" cy="460375"/>
          </a:xfrm>
          <a:prstGeom prst="rect">
            <a:avLst/>
          </a:prstGeom>
          <a:noFill/>
          <a:ln w="9525">
            <a:noFill/>
          </a:ln>
        </p:spPr>
        <p:txBody>
          <a:bodyPr wrap="none" anchor="t">
            <a:spAutoFit/>
          </a:bodyPr>
          <a:p>
            <a:pPr algn="l" fontAlgn="base"/>
            <a:r>
              <a:rPr lang="zh-CN" altLang="en-US" strike="noStrike" noProof="1" dirty="0">
                <a:solidFill>
                  <a:srgbClr val="FF0000"/>
                </a:solidFill>
                <a:latin typeface="宋体" pitchFamily="2" charset="-122"/>
                <a:ea typeface="仿宋_GB2312" pitchFamily="49" charset="-122"/>
                <a:cs typeface="+mn-cs"/>
                <a:sym typeface="+mn-ea"/>
              </a:rPr>
              <a:t>；</a:t>
            </a:r>
            <a:r>
              <a:rPr lang="zh-CN" altLang="en-US" strike="noStrike" noProof="1" dirty="0">
                <a:solidFill>
                  <a:srgbClr val="FF0000"/>
                </a:solidFill>
                <a:latin typeface="Times New Roman" panose="02020503050405090304" pitchFamily="18" charset="0"/>
                <a:ea typeface="仿宋_GB2312" pitchFamily="49" charset="-122"/>
                <a:cs typeface="+mn-cs"/>
                <a:sym typeface="+mn-ea"/>
              </a:rPr>
              <a:t>√</a:t>
            </a:r>
            <a:endParaRPr lang="zh-CN" altLang="en-US" b="1" strike="noStrike" noProof="1" dirty="0">
              <a:solidFill>
                <a:srgbClr val="FF0000"/>
              </a:solidFill>
              <a:effectLst>
                <a:outerShdw blurRad="38100" dist="38100" dir="2700000">
                  <a:srgbClr val="000000"/>
                </a:outerShdw>
              </a:effectLst>
              <a:latin typeface="宋体" pitchFamily="2" charset="-122"/>
              <a:sym typeface="+mn-ea"/>
            </a:endParaRPr>
          </a:p>
        </p:txBody>
      </p:sp>
      <p:sp>
        <p:nvSpPr>
          <p:cNvPr id="7" name="矩形 6"/>
          <p:cNvSpPr/>
          <p:nvPr/>
        </p:nvSpPr>
        <p:spPr>
          <a:xfrm>
            <a:off x="3678238" y="5057775"/>
            <a:ext cx="657225" cy="460375"/>
          </a:xfrm>
          <a:prstGeom prst="rect">
            <a:avLst/>
          </a:prstGeom>
          <a:noFill/>
          <a:ln w="9525">
            <a:noFill/>
          </a:ln>
        </p:spPr>
        <p:txBody>
          <a:bodyPr wrap="none" anchor="t">
            <a:spAutoFit/>
          </a:bodyPr>
          <a:p>
            <a:pPr algn="l" fontAlgn="base"/>
            <a:r>
              <a:rPr lang="zh-CN" altLang="en-US" strike="noStrike" noProof="1" dirty="0">
                <a:solidFill>
                  <a:srgbClr val="FF0000"/>
                </a:solidFill>
                <a:latin typeface="宋体" pitchFamily="2" charset="-122"/>
                <a:ea typeface="仿宋_GB2312" pitchFamily="49" charset="-122"/>
                <a:cs typeface="+mn-cs"/>
                <a:sym typeface="+mn-ea"/>
              </a:rPr>
              <a:t>；</a:t>
            </a:r>
            <a:r>
              <a:rPr lang="zh-CN" altLang="en-US" strike="noStrike" noProof="1" dirty="0">
                <a:solidFill>
                  <a:srgbClr val="FF0000"/>
                </a:solidFill>
                <a:latin typeface="Times New Roman" panose="02020503050405090304" pitchFamily="18" charset="0"/>
                <a:ea typeface="仿宋_GB2312" pitchFamily="49" charset="-122"/>
                <a:cs typeface="+mn-cs"/>
                <a:sym typeface="+mn-ea"/>
              </a:rPr>
              <a:t>√</a:t>
            </a:r>
            <a:endParaRPr lang="zh-CN" altLang="en-US" b="1" strike="noStrike" noProof="1" dirty="0">
              <a:solidFill>
                <a:srgbClr val="FF0000"/>
              </a:solidFill>
              <a:effectLst>
                <a:outerShdw blurRad="38100" dist="38100" dir="2700000">
                  <a:srgbClr val="000000"/>
                </a:outerShdw>
              </a:effectLst>
              <a:latin typeface="宋体" pitchFamily="2" charset="-122"/>
              <a:sym typeface="+mn-ea"/>
            </a:endParaRPr>
          </a:p>
        </p:txBody>
      </p:sp>
      <p:sp>
        <p:nvSpPr>
          <p:cNvPr id="8" name="矩形 7"/>
          <p:cNvSpPr/>
          <p:nvPr/>
        </p:nvSpPr>
        <p:spPr>
          <a:xfrm>
            <a:off x="3416300" y="5662613"/>
            <a:ext cx="5735638" cy="460375"/>
          </a:xfrm>
          <a:prstGeom prst="rect">
            <a:avLst/>
          </a:prstGeom>
          <a:noFill/>
          <a:ln w="9525">
            <a:noFill/>
          </a:ln>
        </p:spPr>
        <p:txBody>
          <a:bodyPr wrap="square" anchor="t">
            <a:spAutoFit/>
          </a:bodyPr>
          <a:p>
            <a:pPr algn="l" fontAlgn="base"/>
            <a:r>
              <a:rPr lang="zh-CN" altLang="en-US" strike="noStrike" noProof="1" dirty="0">
                <a:solidFill>
                  <a:srgbClr val="FF0000"/>
                </a:solidFill>
                <a:latin typeface="宋体" pitchFamily="2" charset="-122"/>
                <a:ea typeface="仿宋_GB2312" pitchFamily="49" charset="-122"/>
                <a:cs typeface="+mn-cs"/>
                <a:sym typeface="+mn-ea"/>
              </a:rPr>
              <a:t>；</a:t>
            </a:r>
            <a:r>
              <a:rPr lang="en-US" altLang="zh-CN" strike="noStrike" noProof="1">
                <a:solidFill>
                  <a:srgbClr val="FF0000"/>
                </a:solidFill>
                <a:latin typeface="Times New Roman" panose="02020503050405090304" pitchFamily="18" charset="0"/>
                <a:ea typeface="仿宋_GB2312" pitchFamily="49" charset="-122"/>
                <a:cs typeface="+mn-cs"/>
                <a:sym typeface="+mn-ea"/>
              </a:rPr>
              <a:t>×</a:t>
            </a:r>
            <a:r>
              <a:rPr lang="zh-CN" altLang="en-US" strike="noStrike" noProof="1" dirty="0">
                <a:solidFill>
                  <a:srgbClr val="FF0000"/>
                </a:solidFill>
                <a:latin typeface="Times New Roman" panose="02020503050405090304" pitchFamily="18" charset="0"/>
                <a:ea typeface="仿宋_GB2312" pitchFamily="49" charset="-122"/>
                <a:cs typeface="+mn-cs"/>
                <a:sym typeface="+mn-ea"/>
              </a:rPr>
              <a:t>，片内访问直接寻址地址应小于</a:t>
            </a:r>
            <a:r>
              <a:rPr lang="en-US" altLang="zh-CN" strike="noStrike" noProof="1">
                <a:solidFill>
                  <a:srgbClr val="FF0000"/>
                </a:solidFill>
                <a:latin typeface="Times New Roman" panose="02020503050405090304" pitchFamily="18" charset="0"/>
                <a:ea typeface="仿宋_GB2312" pitchFamily="49" charset="-122"/>
                <a:cs typeface="+mn-cs"/>
                <a:sym typeface="+mn-ea"/>
              </a:rPr>
              <a:t>FFH</a:t>
            </a:r>
            <a:endParaRPr lang="en-US" altLang="zh-CN" b="1" strike="noStrike" noProof="1" dirty="0">
              <a:solidFill>
                <a:srgbClr val="FF0000"/>
              </a:solidFill>
              <a:effectLst>
                <a:outerShdw blurRad="38100" dist="38100" dir="2700000">
                  <a:srgbClr val="000000"/>
                </a:outerShdw>
              </a:effectLst>
              <a:latin typeface="宋体" pitchFamily="2"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17864"/>
                                        </p:tgtEl>
                                        <p:attrNameLst>
                                          <p:attrName>style.visibility</p:attrName>
                                        </p:attrNameLst>
                                      </p:cBhvr>
                                      <p:to>
                                        <p:strVal val="visible"/>
                                      </p:to>
                                    </p:set>
                                    <p:anim calcmode="lin" valueType="num">
                                      <p:cBhvr additive="base">
                                        <p:cTn id="7" dur="500" fill="hold"/>
                                        <p:tgtEl>
                                          <p:spTgt spid="1017864"/>
                                        </p:tgtEl>
                                        <p:attrNameLst>
                                          <p:attrName>ppt_x</p:attrName>
                                        </p:attrNameLst>
                                      </p:cBhvr>
                                      <p:tavLst>
                                        <p:tav tm="0">
                                          <p:val>
                                            <p:strVal val="#ppt_x"/>
                                          </p:val>
                                        </p:tav>
                                        <p:tav tm="100000">
                                          <p:val>
                                            <p:strVal val="#ppt_x"/>
                                          </p:val>
                                        </p:tav>
                                      </p:tavLst>
                                    </p:anim>
                                    <p:anim calcmode="lin" valueType="num">
                                      <p:cBhvr additive="base">
                                        <p:cTn id="8" dur="500" fill="hold"/>
                                        <p:tgtEl>
                                          <p:spTgt spid="101786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ppt_x</p:attrName>
                                        </p:attrNameLst>
                                      </p:cBhvr>
                                      <p:tavLst>
                                        <p:tav tm="0">
                                          <p:val>
                                            <p:strVal val="#ppt_x"/>
                                          </p:val>
                                        </p:tav>
                                        <p:tav tm="100000">
                                          <p:val>
                                            <p:strVal val="#ppt_x"/>
                                          </p:val>
                                        </p:tav>
                                      </p:tavLst>
                                    </p:anim>
                                    <p:anim calcmode="lin" valueType="num">
                                      <p:cBhvr>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ppt_x</p:attrName>
                                        </p:attrNameLst>
                                      </p:cBhvr>
                                      <p:tavLst>
                                        <p:tav tm="0">
                                          <p:val>
                                            <p:strVal val="#ppt_x"/>
                                          </p:val>
                                        </p:tav>
                                        <p:tav tm="100000">
                                          <p:val>
                                            <p:strVal val="#ppt_x"/>
                                          </p:val>
                                        </p:tav>
                                      </p:tavLst>
                                    </p:anim>
                                    <p:anim calcmode="lin" valueType="num">
                                      <p:cBhvr>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p:cTn id="25" dur="500" fill="hold"/>
                                        <p:tgtEl>
                                          <p:spTgt spid="4"/>
                                        </p:tgtEl>
                                        <p:attrNameLst>
                                          <p:attrName>ppt_x</p:attrName>
                                        </p:attrNameLst>
                                      </p:cBhvr>
                                      <p:tavLst>
                                        <p:tav tm="0">
                                          <p:val>
                                            <p:strVal val="#ppt_x"/>
                                          </p:val>
                                        </p:tav>
                                        <p:tav tm="100000">
                                          <p:val>
                                            <p:strVal val="#ppt_x"/>
                                          </p:val>
                                        </p:tav>
                                      </p:tavLst>
                                    </p:anim>
                                    <p:anim calcmode="lin" valueType="num">
                                      <p:cBhvr>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p:cTn id="31" dur="500" fill="hold"/>
                                        <p:tgtEl>
                                          <p:spTgt spid="5"/>
                                        </p:tgtEl>
                                        <p:attrNameLst>
                                          <p:attrName>ppt_x</p:attrName>
                                        </p:attrNameLst>
                                      </p:cBhvr>
                                      <p:tavLst>
                                        <p:tav tm="0">
                                          <p:val>
                                            <p:strVal val="#ppt_x"/>
                                          </p:val>
                                        </p:tav>
                                        <p:tav tm="100000">
                                          <p:val>
                                            <p:strVal val="#ppt_x"/>
                                          </p:val>
                                        </p:tav>
                                      </p:tavLst>
                                    </p:anim>
                                    <p:anim calcmode="lin" valueType="num">
                                      <p:cBhvr>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p:cTn id="37" dur="500" fill="hold"/>
                                        <p:tgtEl>
                                          <p:spTgt spid="6"/>
                                        </p:tgtEl>
                                        <p:attrNameLst>
                                          <p:attrName>ppt_x</p:attrName>
                                        </p:attrNameLst>
                                      </p:cBhvr>
                                      <p:tavLst>
                                        <p:tav tm="0">
                                          <p:val>
                                            <p:strVal val="#ppt_x"/>
                                          </p:val>
                                        </p:tav>
                                        <p:tav tm="100000">
                                          <p:val>
                                            <p:strVal val="#ppt_x"/>
                                          </p:val>
                                        </p:tav>
                                      </p:tavLst>
                                    </p:anim>
                                    <p:anim calcmode="lin" valueType="num">
                                      <p:cBhvr>
                                        <p:cTn id="3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500" fill="hold"/>
                                        <p:tgtEl>
                                          <p:spTgt spid="7"/>
                                        </p:tgtEl>
                                        <p:attrNameLst>
                                          <p:attrName>ppt_x</p:attrName>
                                        </p:attrNameLst>
                                      </p:cBhvr>
                                      <p:tavLst>
                                        <p:tav tm="0">
                                          <p:val>
                                            <p:strVal val="#ppt_x"/>
                                          </p:val>
                                        </p:tav>
                                        <p:tav tm="100000">
                                          <p:val>
                                            <p:strVal val="#ppt_x"/>
                                          </p:val>
                                        </p:tav>
                                      </p:tavLst>
                                    </p:anim>
                                    <p:anim calcmode="lin" valueType="num">
                                      <p:cBhvr>
                                        <p:cTn id="4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p:cTn id="49" dur="500" fill="hold"/>
                                        <p:tgtEl>
                                          <p:spTgt spid="8"/>
                                        </p:tgtEl>
                                        <p:attrNameLst>
                                          <p:attrName>ppt_x</p:attrName>
                                        </p:attrNameLst>
                                      </p:cBhvr>
                                      <p:tavLst>
                                        <p:tav tm="0">
                                          <p:val>
                                            <p:strVal val="#ppt_x"/>
                                          </p:val>
                                        </p:tav>
                                        <p:tav tm="100000">
                                          <p:val>
                                            <p:strVal val="#ppt_x"/>
                                          </p:val>
                                        </p:tav>
                                      </p:tavLst>
                                    </p:anim>
                                    <p:anim calcmode="lin" valueType="num">
                                      <p:cBhvr>
                                        <p:cTn id="5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7864" grpId="0"/>
      <p:bldP spid="1017864" grpId="1"/>
      <p:bldP spid="2" grpId="0"/>
      <p:bldP spid="2" grpId="1"/>
      <p:bldP spid="3" grpId="0"/>
      <p:bldP spid="3" grpId="1"/>
      <p:bldP spid="4" grpId="0"/>
      <p:bldP spid="4" grpId="1"/>
      <p:bldP spid="5" grpId="0"/>
      <p:bldP spid="5" grpId="1"/>
      <p:bldP spid="6" grpId="0"/>
      <p:bldP spid="6" grpId="1"/>
      <p:bldP spid="7" grpId="0"/>
      <p:bldP spid="7" grpId="1"/>
      <p:bldP spid="8" grpId="0"/>
      <p:bldP spid="8" grpId="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82946" name="Rectangle 3"/>
          <p:cNvSpPr>
            <a:spLocks noGrp="1"/>
          </p:cNvSpPr>
          <p:nvPr>
            <p:ph type="body" idx="4294967295"/>
          </p:nvPr>
        </p:nvSpPr>
        <p:spPr>
          <a:xfrm>
            <a:off x="250825" y="981075"/>
            <a:ext cx="8893175" cy="5572125"/>
          </a:xfrm>
        </p:spPr>
        <p:txBody>
          <a:bodyPr vert="horz" wrap="square" lIns="91440" tIns="45720" rIns="91440" bIns="45720" anchor="t" anchorCtr="0"/>
          <a:p>
            <a:pPr marL="533400" indent="-533400">
              <a:lnSpc>
                <a:spcPct val="100000"/>
              </a:lnSpc>
              <a:spcBef>
                <a:spcPct val="0"/>
              </a:spcBef>
              <a:buNone/>
            </a:pPr>
            <a:r>
              <a:rPr lang="zh-CN" altLang="en-US" dirty="0">
                <a:latin typeface="宋体" pitchFamily="2" charset="-122"/>
              </a:rPr>
              <a:t>（二）外部传送指令</a:t>
            </a:r>
            <a:endParaRPr lang="zh-CN" altLang="en-US" dirty="0">
              <a:latin typeface="宋体" pitchFamily="2" charset="-122"/>
            </a:endParaRPr>
          </a:p>
          <a:p>
            <a:pPr marL="533400" indent="-533400">
              <a:lnSpc>
                <a:spcPct val="100000"/>
              </a:lnSpc>
              <a:spcBef>
                <a:spcPct val="0"/>
              </a:spcBef>
              <a:buNone/>
            </a:pPr>
            <a:r>
              <a:rPr lang="zh-CN" altLang="en-US" dirty="0">
                <a:latin typeface="宋体" pitchFamily="2" charset="-122"/>
              </a:rPr>
              <a:t>     实现片外数据存储器和累加器</a:t>
            </a:r>
            <a:r>
              <a:rPr lang="en-US" altLang="zh-CN" dirty="0">
                <a:latin typeface="宋体" pitchFamily="2" charset="-122"/>
              </a:rPr>
              <a:t>A</a:t>
            </a:r>
            <a:r>
              <a:rPr lang="zh-CN" altLang="en-US" dirty="0">
                <a:latin typeface="宋体" pitchFamily="2" charset="-122"/>
              </a:rPr>
              <a:t>之间的数据传送。</a:t>
            </a:r>
            <a:endParaRPr lang="en-US" altLang="zh-CN" dirty="0">
              <a:latin typeface="宋体" pitchFamily="2" charset="-122"/>
            </a:endParaRPr>
          </a:p>
          <a:p>
            <a:pPr marL="533400" indent="-533400">
              <a:lnSpc>
                <a:spcPct val="110000"/>
              </a:lnSpc>
              <a:buNone/>
            </a:pPr>
            <a:r>
              <a:rPr lang="zh-CN" altLang="en-US" dirty="0">
                <a:latin typeface="宋体" pitchFamily="2" charset="-122"/>
              </a:rPr>
              <a:t>     指令格式：</a:t>
            </a:r>
            <a:r>
              <a:rPr lang="en-US" altLang="zh-CN" u="sng" dirty="0">
                <a:solidFill>
                  <a:schemeClr val="tx2"/>
                </a:solidFill>
                <a:latin typeface="宋体" pitchFamily="2" charset="-122"/>
              </a:rPr>
              <a:t>MOVX  </a:t>
            </a:r>
            <a:r>
              <a:rPr lang="zh-CN" altLang="en-US" u="sng" dirty="0">
                <a:solidFill>
                  <a:schemeClr val="tx2"/>
                </a:solidFill>
                <a:latin typeface="宋体" pitchFamily="2" charset="-122"/>
              </a:rPr>
              <a:t>目的操作数，源操作数</a:t>
            </a:r>
            <a:endParaRPr lang="zh-CN" altLang="en-US" u="sng" dirty="0">
              <a:solidFill>
                <a:schemeClr val="tx2"/>
              </a:solidFill>
              <a:latin typeface="宋体" pitchFamily="2" charset="-122"/>
            </a:endParaRPr>
          </a:p>
          <a:p>
            <a:pPr marL="533400" indent="-533400">
              <a:lnSpc>
                <a:spcPct val="110000"/>
              </a:lnSpc>
              <a:buNone/>
            </a:pPr>
            <a:r>
              <a:rPr lang="zh-CN" altLang="en-US" dirty="0">
                <a:solidFill>
                  <a:srgbClr val="FFC000"/>
                </a:solidFill>
                <a:latin typeface="宋体" pitchFamily="2" charset="-122"/>
              </a:rPr>
              <a:t>     寻址方式：片外数据存储器用寄存器间址方式。</a:t>
            </a:r>
            <a:endParaRPr lang="zh-CN" altLang="en-US" dirty="0">
              <a:solidFill>
                <a:srgbClr val="FFC000"/>
              </a:solidFill>
              <a:latin typeface="宋体" pitchFamily="2" charset="-122"/>
            </a:endParaRPr>
          </a:p>
          <a:p>
            <a:pPr marL="533400" indent="-533400">
              <a:lnSpc>
                <a:spcPct val="110000"/>
              </a:lnSpc>
              <a:buNone/>
            </a:pPr>
            <a:r>
              <a:rPr lang="en-US" altLang="zh-CN" dirty="0">
                <a:latin typeface="宋体" pitchFamily="2" charset="-122"/>
              </a:rPr>
              <a:t>   1. DPTR</a:t>
            </a:r>
            <a:r>
              <a:rPr lang="zh-CN" altLang="en-US" dirty="0">
                <a:latin typeface="宋体" pitchFamily="2" charset="-122"/>
              </a:rPr>
              <a:t>作16位数据指针，寻址64</a:t>
            </a:r>
            <a:r>
              <a:rPr lang="en-US" altLang="zh-CN" dirty="0">
                <a:latin typeface="宋体" pitchFamily="2" charset="-122"/>
              </a:rPr>
              <a:t>KB</a:t>
            </a:r>
            <a:r>
              <a:rPr lang="zh-CN" altLang="en-US" dirty="0">
                <a:latin typeface="宋体" pitchFamily="2" charset="-122"/>
              </a:rPr>
              <a:t>片外</a:t>
            </a:r>
            <a:r>
              <a:rPr lang="en-US" altLang="zh-CN" dirty="0">
                <a:latin typeface="宋体" pitchFamily="2" charset="-122"/>
              </a:rPr>
              <a:t>RAM</a:t>
            </a:r>
            <a:r>
              <a:rPr lang="zh-CN" altLang="en-US" dirty="0">
                <a:latin typeface="宋体" pitchFamily="2" charset="-122"/>
              </a:rPr>
              <a:t>空间	</a:t>
            </a:r>
            <a:endParaRPr lang="zh-CN" altLang="en-US" dirty="0">
              <a:latin typeface="宋体" pitchFamily="2" charset="-122"/>
            </a:endParaRPr>
          </a:p>
          <a:p>
            <a:pPr marL="533400" indent="-533400">
              <a:lnSpc>
                <a:spcPct val="110000"/>
              </a:lnSpc>
              <a:buNone/>
            </a:pPr>
            <a:r>
              <a:rPr lang="en-US" altLang="zh-CN" dirty="0">
                <a:solidFill>
                  <a:schemeClr val="tx2"/>
                </a:solidFill>
                <a:latin typeface="宋体" pitchFamily="2" charset="-122"/>
              </a:rPr>
              <a:t>          MOVX  A，@DPTR</a:t>
            </a:r>
            <a:r>
              <a:rPr lang="en-US" altLang="zh-CN" dirty="0">
                <a:latin typeface="宋体" pitchFamily="2" charset="-122"/>
              </a:rPr>
              <a:t>	；A←((DPTR))</a:t>
            </a:r>
            <a:r>
              <a:rPr lang="en-US" altLang="zh-CN" dirty="0">
                <a:solidFill>
                  <a:srgbClr val="A40079"/>
                </a:solidFill>
                <a:latin typeface="宋体" pitchFamily="2" charset="-122"/>
              </a:rPr>
              <a:t>	</a:t>
            </a:r>
            <a:endParaRPr lang="en-US" altLang="zh-CN" dirty="0">
              <a:solidFill>
                <a:srgbClr val="A40079"/>
              </a:solidFill>
              <a:latin typeface="宋体" pitchFamily="2" charset="-122"/>
            </a:endParaRPr>
          </a:p>
          <a:p>
            <a:pPr marL="533400" indent="-533400">
              <a:lnSpc>
                <a:spcPct val="110000"/>
              </a:lnSpc>
              <a:buNone/>
            </a:pPr>
            <a:r>
              <a:rPr lang="en-US" altLang="zh-CN" dirty="0">
                <a:solidFill>
                  <a:srgbClr val="A40079"/>
                </a:solidFill>
                <a:latin typeface="宋体" pitchFamily="2" charset="-122"/>
              </a:rPr>
              <a:t>		     </a:t>
            </a:r>
            <a:r>
              <a:rPr lang="en-US" altLang="zh-CN" dirty="0">
                <a:solidFill>
                  <a:schemeClr val="tx2"/>
                </a:solidFill>
                <a:latin typeface="宋体" pitchFamily="2" charset="-122"/>
              </a:rPr>
              <a:t>MOVX  @DPTR，A</a:t>
            </a:r>
            <a:r>
              <a:rPr lang="en-US" altLang="zh-CN" dirty="0">
                <a:latin typeface="宋体" pitchFamily="2" charset="-122"/>
              </a:rPr>
              <a:t>	；(DPTR)←(A)	</a:t>
            </a:r>
            <a:endParaRPr lang="en-US" altLang="zh-CN" dirty="0">
              <a:latin typeface="宋体" pitchFamily="2" charset="-122"/>
            </a:endParaRPr>
          </a:p>
          <a:p>
            <a:pPr marL="533400" indent="-533400">
              <a:lnSpc>
                <a:spcPct val="110000"/>
              </a:lnSpc>
              <a:buNone/>
            </a:pPr>
            <a:r>
              <a:rPr lang="zh-CN" altLang="en-US" dirty="0">
                <a:latin typeface="宋体" pitchFamily="2" charset="-122"/>
              </a:rPr>
              <a:t>   2. </a:t>
            </a:r>
            <a:r>
              <a:rPr lang="en-US" altLang="zh-CN" dirty="0">
                <a:latin typeface="宋体" pitchFamily="2" charset="-122"/>
              </a:rPr>
              <a:t>Ri</a:t>
            </a:r>
            <a:r>
              <a:rPr lang="zh-CN" altLang="en-US" dirty="0">
                <a:latin typeface="宋体" pitchFamily="2" charset="-122"/>
              </a:rPr>
              <a:t>作8位数据指针，寻址256</a:t>
            </a:r>
            <a:r>
              <a:rPr lang="en-US" altLang="zh-CN" dirty="0">
                <a:latin typeface="宋体" pitchFamily="2" charset="-122"/>
              </a:rPr>
              <a:t>B</a:t>
            </a:r>
            <a:r>
              <a:rPr lang="zh-CN" altLang="en-US" dirty="0">
                <a:latin typeface="宋体" pitchFamily="2" charset="-122"/>
              </a:rPr>
              <a:t>片外</a:t>
            </a:r>
            <a:r>
              <a:rPr lang="en-US" altLang="zh-CN" dirty="0">
                <a:latin typeface="宋体" pitchFamily="2" charset="-122"/>
              </a:rPr>
              <a:t>RAM</a:t>
            </a:r>
            <a:r>
              <a:rPr lang="zh-CN" altLang="en-US" dirty="0">
                <a:latin typeface="宋体" pitchFamily="2" charset="-122"/>
              </a:rPr>
              <a:t>空间	</a:t>
            </a:r>
            <a:endParaRPr lang="zh-CN" altLang="en-US" dirty="0">
              <a:latin typeface="宋体" pitchFamily="2" charset="-122"/>
            </a:endParaRPr>
          </a:p>
          <a:p>
            <a:pPr marL="533400" indent="-533400">
              <a:lnSpc>
                <a:spcPct val="110000"/>
              </a:lnSpc>
              <a:buNone/>
            </a:pPr>
            <a:r>
              <a:rPr lang="zh-CN" altLang="en-US" dirty="0">
                <a:latin typeface="宋体" pitchFamily="2" charset="-122"/>
              </a:rPr>
              <a:t>		     </a:t>
            </a:r>
            <a:r>
              <a:rPr lang="en-US" altLang="zh-CN" dirty="0">
                <a:solidFill>
                  <a:schemeClr val="tx2"/>
                </a:solidFill>
                <a:latin typeface="宋体" pitchFamily="2" charset="-122"/>
              </a:rPr>
              <a:t>MOVX	  A，@Ri</a:t>
            </a:r>
            <a:r>
              <a:rPr lang="en-US" altLang="zh-CN" dirty="0">
                <a:solidFill>
                  <a:srgbClr val="A40079"/>
                </a:solidFill>
                <a:latin typeface="宋体" pitchFamily="2" charset="-122"/>
              </a:rPr>
              <a:t>	</a:t>
            </a:r>
            <a:r>
              <a:rPr lang="en-US" altLang="zh-CN" dirty="0">
                <a:latin typeface="宋体" pitchFamily="2" charset="-122"/>
              </a:rPr>
              <a:t>；A←((Ri))</a:t>
            </a:r>
            <a:r>
              <a:rPr lang="en-US" altLang="zh-CN" dirty="0">
                <a:solidFill>
                  <a:srgbClr val="A40079"/>
                </a:solidFill>
                <a:latin typeface="宋体" pitchFamily="2" charset="-122"/>
              </a:rPr>
              <a:t> 			</a:t>
            </a:r>
            <a:endParaRPr lang="en-US" altLang="zh-CN" dirty="0">
              <a:solidFill>
                <a:srgbClr val="A40079"/>
              </a:solidFill>
              <a:latin typeface="宋体" pitchFamily="2" charset="-122"/>
            </a:endParaRPr>
          </a:p>
          <a:p>
            <a:pPr marL="533400" indent="-533400">
              <a:lnSpc>
                <a:spcPct val="110000"/>
              </a:lnSpc>
              <a:buNone/>
            </a:pPr>
            <a:r>
              <a:rPr lang="en-US" altLang="zh-CN" dirty="0">
                <a:solidFill>
                  <a:srgbClr val="A40079"/>
                </a:solidFill>
                <a:latin typeface="宋体" pitchFamily="2" charset="-122"/>
              </a:rPr>
              <a:t>		     </a:t>
            </a:r>
            <a:r>
              <a:rPr lang="en-US" altLang="zh-CN" dirty="0">
                <a:solidFill>
                  <a:schemeClr val="tx2"/>
                </a:solidFill>
                <a:latin typeface="宋体" pitchFamily="2" charset="-122"/>
              </a:rPr>
              <a:t>MOVX	  @Ri，A</a:t>
            </a:r>
            <a:r>
              <a:rPr lang="en-US" altLang="zh-CN" dirty="0">
                <a:solidFill>
                  <a:srgbClr val="A40079"/>
                </a:solidFill>
                <a:latin typeface="宋体" pitchFamily="2" charset="-122"/>
              </a:rPr>
              <a:t> 	</a:t>
            </a:r>
            <a:r>
              <a:rPr lang="en-US" altLang="zh-CN" dirty="0">
                <a:latin typeface="宋体" pitchFamily="2" charset="-122"/>
              </a:rPr>
              <a:t>；(Ri)←(A)</a:t>
            </a:r>
            <a:endParaRPr lang="zh-CN" altLang="en-US" dirty="0">
              <a:latin typeface="宋体" pitchFamily="2" charset="-122"/>
            </a:endParaRPr>
          </a:p>
          <a:p>
            <a:pPr marL="533400" indent="-533400">
              <a:lnSpc>
                <a:spcPct val="100000"/>
              </a:lnSpc>
              <a:spcBef>
                <a:spcPct val="0"/>
              </a:spcBef>
              <a:buNone/>
            </a:pPr>
            <a:r>
              <a:rPr lang="zh-CN" altLang="en-US" dirty="0">
                <a:solidFill>
                  <a:schemeClr val="accent1"/>
                </a:solidFill>
                <a:latin typeface="宋体" pitchFamily="2" charset="-122"/>
              </a:rPr>
              <a:t> </a:t>
            </a:r>
            <a:endParaRPr lang="zh-CN" altLang="zh-CN" dirty="0">
              <a:latin typeface="宋体"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83970" name="Rectangle 3"/>
          <p:cNvSpPr>
            <a:spLocks noGrp="1"/>
          </p:cNvSpPr>
          <p:nvPr>
            <p:ph type="body" idx="4294967295"/>
          </p:nvPr>
        </p:nvSpPr>
        <p:spPr>
          <a:xfrm>
            <a:off x="250825" y="1052513"/>
            <a:ext cx="8893175" cy="500062"/>
          </a:xfrm>
        </p:spPr>
        <p:txBody>
          <a:bodyPr vert="horz" wrap="square" lIns="91440" tIns="45720" rIns="91440" bIns="45720" anchor="t" anchorCtr="0"/>
          <a:p>
            <a:pPr marL="0" algn="just">
              <a:lnSpc>
                <a:spcPct val="100000"/>
              </a:lnSpc>
              <a:spcBef>
                <a:spcPct val="0"/>
              </a:spcBef>
              <a:buNone/>
            </a:pPr>
            <a:r>
              <a:rPr lang="zh-CN" altLang="en-US" dirty="0">
                <a:solidFill>
                  <a:schemeClr val="folHlink"/>
                </a:solidFill>
                <a:latin typeface="宋体" pitchFamily="2" charset="-122"/>
              </a:rPr>
              <a:t> 例：</a:t>
            </a:r>
            <a:r>
              <a:rPr lang="zh-CN" altLang="en-US" dirty="0">
                <a:latin typeface="宋体" pitchFamily="2" charset="-122"/>
              </a:rPr>
              <a:t>实现片外数据存储器数据传送 </a:t>
            </a:r>
            <a:r>
              <a:rPr lang="zh-CN" altLang="en-US" dirty="0">
                <a:latin typeface="Times New Roman" panose="02020503050405090304" pitchFamily="18" charset="0"/>
              </a:rPr>
              <a:t>(2000</a:t>
            </a:r>
            <a:r>
              <a:rPr lang="en-US" altLang="zh-CN" dirty="0">
                <a:latin typeface="Times New Roman" panose="02020503050405090304" pitchFamily="18" charset="0"/>
              </a:rPr>
              <a:t>H)</a:t>
            </a:r>
            <a:r>
              <a:rPr lang="en-US" altLang="zh-CN">
                <a:solidFill>
                  <a:srgbClr val="1209BD"/>
                </a:solidFill>
              </a:rPr>
              <a:t>→</a:t>
            </a:r>
            <a:r>
              <a:rPr lang="en-US" altLang="zh-CN" dirty="0">
                <a:latin typeface="Times New Roman" panose="02020503050405090304" pitchFamily="18" charset="0"/>
              </a:rPr>
              <a:t> (2100H)</a:t>
            </a:r>
            <a:endParaRPr lang="en-US" altLang="zh-CN" dirty="0">
              <a:latin typeface="Times New Roman" panose="02020503050405090304" pitchFamily="18" charset="0"/>
            </a:endParaRPr>
          </a:p>
          <a:p>
            <a:pPr marL="0" algn="just">
              <a:lnSpc>
                <a:spcPct val="100000"/>
              </a:lnSpc>
              <a:spcBef>
                <a:spcPct val="0"/>
              </a:spcBef>
              <a:buNone/>
            </a:pPr>
            <a:endParaRPr lang="zh-CN" altLang="zh-CN" dirty="0">
              <a:latin typeface="宋体" pitchFamily="2" charset="-122"/>
            </a:endParaRPr>
          </a:p>
        </p:txBody>
      </p:sp>
      <p:sp>
        <p:nvSpPr>
          <p:cNvPr id="8197" name="TextBox 3"/>
          <p:cNvSpPr txBox="1"/>
          <p:nvPr/>
        </p:nvSpPr>
        <p:spPr>
          <a:xfrm>
            <a:off x="-122237" y="2024063"/>
            <a:ext cx="4649787" cy="2501900"/>
          </a:xfrm>
          <a:prstGeom prst="rect">
            <a:avLst/>
          </a:prstGeom>
          <a:noFill/>
          <a:ln w="9525">
            <a:noFill/>
          </a:ln>
        </p:spPr>
        <p:txBody>
          <a:bodyPr anchor="t" anchorCtr="0">
            <a:spAutoFit/>
          </a:bodyPr>
          <a:p>
            <a:pPr>
              <a:lnSpc>
                <a:spcPct val="90000"/>
              </a:lnSpc>
              <a:spcBef>
                <a:spcPct val="50000"/>
              </a:spcBef>
              <a:buClrTx/>
              <a:buFontTx/>
            </a:pPr>
            <a:r>
              <a:rPr lang="en-US" altLang="zh-CN" dirty="0">
                <a:latin typeface="宋体" pitchFamily="2" charset="-122"/>
                <a:ea typeface="仿宋_GB2312" pitchFamily="49" charset="-122"/>
              </a:rPr>
              <a:t>      MOV    DPTR，#2000H</a:t>
            </a:r>
            <a:endParaRPr lang="en-US" altLang="zh-CN" dirty="0">
              <a:latin typeface="宋体" pitchFamily="2" charset="-122"/>
              <a:ea typeface="仿宋_GB2312" pitchFamily="49" charset="-122"/>
            </a:endParaRPr>
          </a:p>
          <a:p>
            <a:pPr>
              <a:lnSpc>
                <a:spcPct val="90000"/>
              </a:lnSpc>
              <a:spcBef>
                <a:spcPct val="50000"/>
              </a:spcBef>
              <a:buClrTx/>
              <a:buFontTx/>
            </a:pPr>
            <a:r>
              <a:rPr lang="en-US" altLang="zh-CN" dirty="0">
                <a:latin typeface="宋体" pitchFamily="2" charset="-122"/>
                <a:ea typeface="仿宋_GB2312" pitchFamily="49" charset="-122"/>
              </a:rPr>
              <a:t>	MOVX   A，@DPTR	</a:t>
            </a:r>
            <a:endParaRPr lang="en-US" altLang="zh-CN" dirty="0">
              <a:latin typeface="宋体" pitchFamily="2" charset="-122"/>
              <a:ea typeface="仿宋_GB2312" pitchFamily="49" charset="-122"/>
            </a:endParaRPr>
          </a:p>
          <a:p>
            <a:pPr>
              <a:lnSpc>
                <a:spcPct val="90000"/>
              </a:lnSpc>
              <a:spcBef>
                <a:spcPct val="50000"/>
              </a:spcBef>
              <a:buClrTx/>
              <a:buFontTx/>
            </a:pPr>
            <a:r>
              <a:rPr lang="en-US" altLang="zh-CN" dirty="0">
                <a:latin typeface="宋体" pitchFamily="2" charset="-122"/>
                <a:ea typeface="仿宋_GB2312" pitchFamily="49" charset="-122"/>
              </a:rPr>
              <a:t>	MOV    DPTR，#2100H</a:t>
            </a:r>
            <a:endParaRPr lang="en-US" altLang="zh-CN" dirty="0">
              <a:latin typeface="宋体" pitchFamily="2" charset="-122"/>
              <a:ea typeface="仿宋_GB2312" pitchFamily="49" charset="-122"/>
            </a:endParaRPr>
          </a:p>
          <a:p>
            <a:pPr>
              <a:lnSpc>
                <a:spcPct val="90000"/>
              </a:lnSpc>
              <a:spcBef>
                <a:spcPct val="50000"/>
              </a:spcBef>
              <a:buClrTx/>
              <a:buFontTx/>
            </a:pPr>
            <a:r>
              <a:rPr lang="en-US" altLang="zh-CN" dirty="0">
                <a:latin typeface="宋体" pitchFamily="2" charset="-122"/>
                <a:ea typeface="仿宋_GB2312" pitchFamily="49" charset="-122"/>
              </a:rPr>
              <a:t>	MOVX   @DPTR，A</a:t>
            </a:r>
            <a:endParaRPr lang="zh-CN" altLang="en-US" dirty="0">
              <a:latin typeface="宋体" pitchFamily="2" charset="-122"/>
              <a:ea typeface="仿宋_GB2312" pitchFamily="49" charset="-122"/>
            </a:endParaRPr>
          </a:p>
          <a:p>
            <a:pPr>
              <a:spcBef>
                <a:spcPct val="50000"/>
              </a:spcBef>
              <a:buClrTx/>
              <a:buFontTx/>
            </a:pPr>
            <a:endParaRPr lang="zh-CN" altLang="en-US" dirty="0">
              <a:latin typeface="Times New Roman" panose="02020503050405090304" pitchFamily="18" charset="0"/>
              <a:ea typeface="仿宋_GB2312" pitchFamily="49" charset="-122"/>
            </a:endParaRPr>
          </a:p>
        </p:txBody>
      </p:sp>
      <p:sp>
        <p:nvSpPr>
          <p:cNvPr id="8198" name="TextBox 4"/>
          <p:cNvSpPr txBox="1"/>
          <p:nvPr/>
        </p:nvSpPr>
        <p:spPr>
          <a:xfrm>
            <a:off x="3846513" y="2024063"/>
            <a:ext cx="5189537" cy="1973262"/>
          </a:xfrm>
          <a:prstGeom prst="rect">
            <a:avLst/>
          </a:prstGeom>
          <a:noFill/>
          <a:ln w="9525">
            <a:noFill/>
          </a:ln>
        </p:spPr>
        <p:txBody>
          <a:bodyPr wrap="square" anchor="t" anchorCtr="0">
            <a:spAutoFit/>
          </a:bodyPr>
          <a:p>
            <a:pPr eaLnBrk="0" hangingPunct="0">
              <a:lnSpc>
                <a:spcPct val="90000"/>
              </a:lnSpc>
              <a:spcBef>
                <a:spcPct val="50000"/>
              </a:spcBef>
              <a:buClrTx/>
              <a:buFontTx/>
            </a:pPr>
            <a:r>
              <a:rPr lang="zh-CN" altLang="zh-CN" dirty="0">
                <a:solidFill>
                  <a:srgbClr val="FF0000"/>
                </a:solidFill>
                <a:latin typeface="宋体" pitchFamily="2" charset="-122"/>
                <a:ea typeface="仿宋_GB2312" pitchFamily="49" charset="-122"/>
              </a:rPr>
              <a:t>；</a:t>
            </a:r>
            <a:r>
              <a:rPr lang="en-US" altLang="zh-CN" dirty="0">
                <a:solidFill>
                  <a:srgbClr val="FF0000"/>
                </a:solidFill>
                <a:latin typeface="宋体" pitchFamily="2" charset="-122"/>
                <a:ea typeface="仿宋_GB2312" pitchFamily="49" charset="-122"/>
              </a:rPr>
              <a:t>给DPTR赋起始地址2000H</a:t>
            </a:r>
            <a:endParaRPr lang="en-US" altLang="zh-CN" dirty="0">
              <a:solidFill>
                <a:srgbClr val="FF0000"/>
              </a:solidFill>
              <a:latin typeface="宋体" pitchFamily="2" charset="-122"/>
              <a:ea typeface="仿宋_GB2312" pitchFamily="49" charset="-122"/>
            </a:endParaRPr>
          </a:p>
          <a:p>
            <a:pPr eaLnBrk="0" hangingPunct="0">
              <a:lnSpc>
                <a:spcPct val="90000"/>
              </a:lnSpc>
              <a:spcBef>
                <a:spcPct val="50000"/>
              </a:spcBef>
              <a:buClrTx/>
              <a:buFontTx/>
            </a:pPr>
            <a:r>
              <a:rPr lang="en-US" altLang="zh-CN" dirty="0">
                <a:solidFill>
                  <a:srgbClr val="FF0000"/>
                </a:solidFill>
                <a:latin typeface="宋体" pitchFamily="2" charset="-122"/>
                <a:ea typeface="仿宋_GB2312" pitchFamily="49" charset="-122"/>
              </a:rPr>
              <a:t>；读2000H中数据</a:t>
            </a:r>
            <a:r>
              <a:rPr lang="zh-CN" altLang="en-US" dirty="0">
                <a:solidFill>
                  <a:srgbClr val="FF0000"/>
                </a:solidFill>
                <a:latin typeface="宋体" pitchFamily="2" charset="-122"/>
                <a:ea typeface="仿宋_GB2312" pitchFamily="49" charset="-122"/>
              </a:rPr>
              <a:t>，</a:t>
            </a:r>
            <a:r>
              <a:rPr lang="en-US" altLang="zh-CN" dirty="0">
                <a:solidFill>
                  <a:srgbClr val="FF0000"/>
                </a:solidFill>
                <a:latin typeface="宋体" pitchFamily="2" charset="-122"/>
                <a:ea typeface="仿宋_GB2312" pitchFamily="49" charset="-122"/>
              </a:rPr>
              <a:t>(A)= X	</a:t>
            </a:r>
            <a:endParaRPr lang="en-US" altLang="zh-CN" dirty="0">
              <a:solidFill>
                <a:srgbClr val="FF0000"/>
              </a:solidFill>
              <a:latin typeface="宋体" pitchFamily="2" charset="-122"/>
              <a:ea typeface="仿宋_GB2312" pitchFamily="49" charset="-122"/>
            </a:endParaRPr>
          </a:p>
          <a:p>
            <a:pPr eaLnBrk="0" hangingPunct="0">
              <a:lnSpc>
                <a:spcPct val="90000"/>
              </a:lnSpc>
              <a:spcBef>
                <a:spcPct val="50000"/>
              </a:spcBef>
              <a:buClrTx/>
              <a:buFontTx/>
            </a:pPr>
            <a:r>
              <a:rPr lang="en-US" altLang="zh-CN" dirty="0">
                <a:solidFill>
                  <a:srgbClr val="FF0000"/>
                </a:solidFill>
                <a:latin typeface="宋体" pitchFamily="2" charset="-122"/>
                <a:ea typeface="仿宋_GB2312" pitchFamily="49" charset="-122"/>
              </a:rPr>
              <a:t>；给DPTR赋目的地址</a:t>
            </a:r>
            <a:r>
              <a:rPr lang="zh-CN" altLang="en-US" dirty="0">
                <a:solidFill>
                  <a:srgbClr val="FF0000"/>
                </a:solidFill>
                <a:latin typeface="宋体" pitchFamily="2" charset="-122"/>
                <a:ea typeface="仿宋_GB2312" pitchFamily="49" charset="-122"/>
              </a:rPr>
              <a:t>，</a:t>
            </a:r>
            <a:r>
              <a:rPr lang="en-US" altLang="zh-CN" dirty="0">
                <a:solidFill>
                  <a:srgbClr val="FF0000"/>
                </a:solidFill>
                <a:latin typeface="宋体" pitchFamily="2" charset="-122"/>
                <a:ea typeface="仿宋_GB2312" pitchFamily="49" charset="-122"/>
              </a:rPr>
              <a:t>2100H</a:t>
            </a:r>
            <a:endParaRPr lang="en-US" altLang="zh-CN" dirty="0">
              <a:solidFill>
                <a:srgbClr val="FF0000"/>
              </a:solidFill>
              <a:latin typeface="宋体" pitchFamily="2" charset="-122"/>
              <a:ea typeface="仿宋_GB2312" pitchFamily="49" charset="-122"/>
            </a:endParaRPr>
          </a:p>
          <a:p>
            <a:pPr eaLnBrk="0" hangingPunct="0">
              <a:lnSpc>
                <a:spcPct val="90000"/>
              </a:lnSpc>
              <a:spcBef>
                <a:spcPct val="50000"/>
              </a:spcBef>
              <a:buClrTx/>
              <a:buFontTx/>
            </a:pPr>
            <a:r>
              <a:rPr lang="en-US" altLang="zh-CN" dirty="0">
                <a:solidFill>
                  <a:srgbClr val="FF0000"/>
                </a:solidFill>
                <a:latin typeface="宋体" pitchFamily="2" charset="-122"/>
                <a:ea typeface="仿宋_GB2312" pitchFamily="49" charset="-122"/>
              </a:rPr>
              <a:t>；将A中数据写入2100H中(2100H)= X</a:t>
            </a:r>
            <a:endParaRPr lang="en-US" altLang="zh-CN" dirty="0">
              <a:solidFill>
                <a:srgbClr val="FF0000"/>
              </a:solidFill>
              <a:latin typeface="宋体" pitchFamily="2" charset="-122"/>
              <a:ea typeface="仿宋_GB2312" pitchFamily="49" charset="-122"/>
            </a:endParaRPr>
          </a:p>
        </p:txBody>
      </p:sp>
      <p:sp>
        <p:nvSpPr>
          <p:cNvPr id="8199" name="TextBox 5"/>
          <p:cNvSpPr txBox="1"/>
          <p:nvPr/>
        </p:nvSpPr>
        <p:spPr>
          <a:xfrm>
            <a:off x="4630738" y="4087813"/>
            <a:ext cx="4716462" cy="3379787"/>
          </a:xfrm>
          <a:prstGeom prst="rect">
            <a:avLst/>
          </a:prstGeom>
          <a:noFill/>
          <a:ln w="9525">
            <a:noFill/>
          </a:ln>
        </p:spPr>
        <p:txBody>
          <a:bodyPr anchor="t" anchorCtr="0">
            <a:spAutoFit/>
          </a:bodyPr>
          <a:p>
            <a:pPr indent="190500" eaLnBrk="0" hangingPunct="0">
              <a:spcBef>
                <a:spcPct val="50000"/>
              </a:spcBef>
              <a:buClrTx/>
              <a:buFontTx/>
            </a:pPr>
            <a:r>
              <a:rPr lang="zh-CN" altLang="en-US" dirty="0">
                <a:latin typeface="宋体" pitchFamily="2" charset="-122"/>
                <a:ea typeface="楷体_GB2312" pitchFamily="49" charset="-122"/>
              </a:rPr>
              <a:t>片外数据存储器不能直接寻址。</a:t>
            </a:r>
            <a:endParaRPr lang="zh-CN" altLang="en-US" dirty="0">
              <a:latin typeface="宋体" pitchFamily="2" charset="-122"/>
              <a:ea typeface="楷体_GB2312" pitchFamily="49" charset="-122"/>
            </a:endParaRPr>
          </a:p>
          <a:p>
            <a:pPr indent="190500" eaLnBrk="0" hangingPunct="0">
              <a:spcBef>
                <a:spcPct val="50000"/>
              </a:spcBef>
              <a:buClrTx/>
              <a:buFontTx/>
            </a:pPr>
            <a:r>
              <a:rPr lang="zh-CN" altLang="en-US" dirty="0">
                <a:latin typeface="宋体" pitchFamily="2" charset="-122"/>
                <a:ea typeface="楷体_GB2312" pitchFamily="49" charset="-122"/>
              </a:rPr>
              <a:t> 下列为</a:t>
            </a:r>
            <a:r>
              <a:rPr lang="zh-CN" altLang="en-US" sz="3200" dirty="0">
                <a:solidFill>
                  <a:schemeClr val="accent2"/>
                </a:solidFill>
                <a:latin typeface="宋体" pitchFamily="2" charset="-122"/>
                <a:ea typeface="黑体" panose="02010609060101010101" pitchFamily="49" charset="-122"/>
              </a:rPr>
              <a:t>非法</a:t>
            </a:r>
            <a:r>
              <a:rPr lang="zh-CN" altLang="en-US" dirty="0">
                <a:latin typeface="宋体" pitchFamily="2" charset="-122"/>
                <a:ea typeface="楷体_GB2312" pitchFamily="49" charset="-122"/>
              </a:rPr>
              <a:t>指令：</a:t>
            </a:r>
            <a:endParaRPr lang="zh-CN" altLang="en-US" dirty="0">
              <a:latin typeface="宋体" pitchFamily="2" charset="-122"/>
              <a:ea typeface="楷体_GB2312" pitchFamily="49" charset="-122"/>
            </a:endParaRPr>
          </a:p>
          <a:p>
            <a:pPr indent="190500" eaLnBrk="0" hangingPunct="0">
              <a:spcBef>
                <a:spcPct val="50000"/>
              </a:spcBef>
              <a:buClrTx/>
              <a:buFontTx/>
            </a:pPr>
            <a:r>
              <a:rPr lang="zh-CN" altLang="en-US" dirty="0">
                <a:latin typeface="宋体" pitchFamily="2" charset="-122"/>
                <a:ea typeface="仿宋_GB2312" pitchFamily="49" charset="-122"/>
              </a:rPr>
              <a:t>  </a:t>
            </a:r>
            <a:r>
              <a:rPr lang="en-US" altLang="zh-CN" dirty="0">
                <a:latin typeface="宋体" pitchFamily="2" charset="-122"/>
                <a:ea typeface="仿宋_GB2312" pitchFamily="49" charset="-122"/>
              </a:rPr>
              <a:t>MOVX  A，2000H     </a:t>
            </a:r>
            <a:endParaRPr lang="en-US" altLang="zh-CN" dirty="0">
              <a:latin typeface="宋体" pitchFamily="2" charset="-122"/>
              <a:ea typeface="仿宋_GB2312" pitchFamily="49" charset="-122"/>
            </a:endParaRPr>
          </a:p>
          <a:p>
            <a:pPr indent="190500" eaLnBrk="0" hangingPunct="0">
              <a:spcBef>
                <a:spcPct val="50000"/>
              </a:spcBef>
              <a:buClrTx/>
              <a:buFontTx/>
            </a:pPr>
            <a:r>
              <a:rPr lang="en-US" altLang="zh-CN" dirty="0">
                <a:latin typeface="宋体" pitchFamily="2" charset="-122"/>
                <a:ea typeface="仿宋_GB2312" pitchFamily="49" charset="-122"/>
              </a:rPr>
              <a:t>  MOVX  2100H，2000H</a:t>
            </a:r>
            <a:endParaRPr lang="zh-CN" altLang="en-US" dirty="0">
              <a:latin typeface="宋体" pitchFamily="2" charset="-122"/>
              <a:ea typeface="仿宋_GB2312" pitchFamily="49" charset="-122"/>
            </a:endParaRPr>
          </a:p>
          <a:p>
            <a:pPr indent="190500" eaLnBrk="0" hangingPunct="0">
              <a:spcBef>
                <a:spcPct val="50000"/>
              </a:spcBef>
              <a:buClrTx/>
              <a:buFontTx/>
            </a:pPr>
            <a:endParaRPr lang="zh-CN" altLang="en-US" dirty="0">
              <a:latin typeface="宋体" pitchFamily="2" charset="-122"/>
              <a:ea typeface="楷体_GB2312" pitchFamily="49" charset="-122"/>
            </a:endParaRPr>
          </a:p>
          <a:p>
            <a:pPr indent="190500">
              <a:spcBef>
                <a:spcPct val="50000"/>
              </a:spcBef>
              <a:buClrTx/>
              <a:buFontTx/>
            </a:pPr>
            <a:endParaRPr lang="zh-CN" altLang="en-US" dirty="0">
              <a:latin typeface="Times New Roman" panose="02020503050405090304" pitchFamily="18" charset="0"/>
              <a:ea typeface="仿宋_GB2312" pitchFamily="49" charset="-122"/>
            </a:endParaRPr>
          </a:p>
        </p:txBody>
      </p:sp>
      <p:graphicFrame>
        <p:nvGraphicFramePr>
          <p:cNvPr id="121858" name="Object 2"/>
          <p:cNvGraphicFramePr/>
          <p:nvPr/>
        </p:nvGraphicFramePr>
        <p:xfrm>
          <a:off x="250825" y="4221163"/>
          <a:ext cx="4379913" cy="1951037"/>
        </p:xfrm>
        <a:graphic>
          <a:graphicData uri="http://schemas.openxmlformats.org/presentationml/2006/ole">
            <mc:AlternateContent xmlns:mc="http://schemas.openxmlformats.org/markup-compatibility/2006">
              <mc:Choice xmlns:v="urn:schemas-microsoft-com:vml" Requires="v">
                <p:oleObj spid="_x0000_s3076" name="" r:id="rId1" imgW="2426335" imgH="1139825" progId="Word.Document.8">
                  <p:embed/>
                </p:oleObj>
              </mc:Choice>
              <mc:Fallback>
                <p:oleObj name="" r:id="rId1" imgW="2426335" imgH="1139825" progId="Word.Document.8">
                  <p:embed/>
                  <p:pic>
                    <p:nvPicPr>
                      <p:cNvPr id="0" name="Picture 3075"/>
                      <p:cNvPicPr/>
                      <p:nvPr/>
                    </p:nvPicPr>
                    <p:blipFill>
                      <a:blip r:embed="rId2"/>
                      <a:srcRect b="11900"/>
                      <a:stretch>
                        <a:fillRect/>
                      </a:stretch>
                    </p:blipFill>
                    <p:spPr>
                      <a:xfrm>
                        <a:off x="250825" y="4221163"/>
                        <a:ext cx="4379913" cy="1951037"/>
                      </a:xfrm>
                      <a:prstGeom prst="rect">
                        <a:avLst/>
                      </a:prstGeom>
                      <a:solidFill>
                        <a:schemeClr val="bg1"/>
                      </a:solidFill>
                      <a:ln w="38100">
                        <a:noFill/>
                        <a:miter/>
                      </a:ln>
                    </p:spPr>
                  </p:pic>
                </p:oleObj>
              </mc:Fallback>
            </mc:AlternateContent>
          </a:graphicData>
        </a:graphic>
      </p:graphicFrame>
      <p:sp>
        <p:nvSpPr>
          <p:cNvPr id="2" name="文本框 1"/>
          <p:cNvSpPr txBox="1"/>
          <p:nvPr/>
        </p:nvSpPr>
        <p:spPr>
          <a:xfrm>
            <a:off x="1241425" y="1563688"/>
            <a:ext cx="6378575" cy="460375"/>
          </a:xfrm>
          <a:prstGeom prst="rect">
            <a:avLst/>
          </a:prstGeom>
          <a:noFill/>
          <a:ln w="9525">
            <a:noFill/>
          </a:ln>
        </p:spPr>
        <p:txBody>
          <a:bodyPr wrap="none" anchor="t" anchorCtr="0">
            <a:spAutoFit/>
          </a:bodyPr>
          <a:p>
            <a:r>
              <a:rPr lang="zh-CN" altLang="en-US" dirty="0">
                <a:solidFill>
                  <a:srgbClr val="1209BD"/>
                </a:solidFill>
                <a:latin typeface="Times New Roman" panose="02020503050405090304" pitchFamily="18" charset="0"/>
                <a:ea typeface="仿宋_GB2312" pitchFamily="49" charset="-122"/>
              </a:rPr>
              <a:t>分析：读</a:t>
            </a:r>
            <a:r>
              <a:rPr lang="en-US" altLang="zh-CN">
                <a:solidFill>
                  <a:srgbClr val="1209BD"/>
                </a:solidFill>
                <a:latin typeface="Times New Roman" panose="02020503050405090304" pitchFamily="18" charset="0"/>
                <a:ea typeface="仿宋_GB2312" pitchFamily="49" charset="-122"/>
              </a:rPr>
              <a:t>2000H</a:t>
            </a:r>
            <a:r>
              <a:rPr lang="zh-CN" altLang="en-US" dirty="0">
                <a:solidFill>
                  <a:srgbClr val="1209BD"/>
                </a:solidFill>
                <a:latin typeface="Times New Roman" panose="02020503050405090304" pitchFamily="18" charset="0"/>
                <a:ea typeface="仿宋_GB2312" pitchFamily="49" charset="-122"/>
              </a:rPr>
              <a:t>中内容→</a:t>
            </a:r>
            <a:r>
              <a:rPr lang="en-US" altLang="zh-CN">
                <a:solidFill>
                  <a:srgbClr val="1209BD"/>
                </a:solidFill>
                <a:latin typeface="Times New Roman" panose="02020503050405090304" pitchFamily="18" charset="0"/>
                <a:ea typeface="仿宋_GB2312" pitchFamily="49" charset="-122"/>
              </a:rPr>
              <a:t>A→</a:t>
            </a:r>
            <a:r>
              <a:rPr lang="zh-CN" altLang="en-US" dirty="0">
                <a:solidFill>
                  <a:srgbClr val="1209BD"/>
                </a:solidFill>
                <a:latin typeface="Times New Roman" panose="02020503050405090304" pitchFamily="18" charset="0"/>
                <a:ea typeface="仿宋_GB2312" pitchFamily="49" charset="-122"/>
              </a:rPr>
              <a:t>写数据到</a:t>
            </a:r>
            <a:r>
              <a:rPr lang="en-US" altLang="zh-CN">
                <a:solidFill>
                  <a:srgbClr val="1209BD"/>
                </a:solidFill>
                <a:latin typeface="Times New Roman" panose="02020503050405090304" pitchFamily="18" charset="0"/>
                <a:ea typeface="仿宋_GB2312" pitchFamily="49" charset="-122"/>
              </a:rPr>
              <a:t>2100H</a:t>
            </a:r>
            <a:r>
              <a:rPr lang="zh-CN" altLang="en-US" dirty="0">
                <a:solidFill>
                  <a:srgbClr val="1209BD"/>
                </a:solidFill>
                <a:latin typeface="Times New Roman" panose="02020503050405090304" pitchFamily="18" charset="0"/>
                <a:ea typeface="仿宋_GB2312" pitchFamily="49" charset="-122"/>
              </a:rPr>
              <a:t>中</a:t>
            </a:r>
            <a:endParaRPr lang="zh-CN" altLang="en-US">
              <a:latin typeface="Times New Roman" panose="02020503050405090304" pitchFamily="18" charset="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197"/>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12185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8198">
                                            <p:txEl>
                                              <p:charRg st="0" end="17"/>
                                            </p:txEl>
                                          </p:spTgt>
                                        </p:tgtEl>
                                        <p:attrNameLst>
                                          <p:attrName>style.visibility</p:attrName>
                                        </p:attrNameLst>
                                      </p:cBhvr>
                                      <p:to>
                                        <p:strVal val="visible"/>
                                      </p:to>
                                    </p:set>
                                    <p:anim calcmode="lin" valueType="num">
                                      <p:cBhvr additive="base">
                                        <p:cTn id="20" dur="500" fill="hold"/>
                                        <p:tgtEl>
                                          <p:spTgt spid="8198">
                                            <p:txEl>
                                              <p:charRg st="0" end="17"/>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8198">
                                            <p:txEl>
                                              <p:charRg st="0" end="17"/>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8198">
                                            <p:txEl>
                                              <p:charRg st="17" end="36"/>
                                            </p:txEl>
                                          </p:spTgt>
                                        </p:tgtEl>
                                        <p:attrNameLst>
                                          <p:attrName>style.visibility</p:attrName>
                                        </p:attrNameLst>
                                      </p:cBhvr>
                                      <p:to>
                                        <p:strVal val="visible"/>
                                      </p:to>
                                    </p:set>
                                    <p:anim calcmode="lin" valueType="num">
                                      <p:cBhvr additive="base">
                                        <p:cTn id="26" dur="500" fill="hold"/>
                                        <p:tgtEl>
                                          <p:spTgt spid="8198">
                                            <p:txEl>
                                              <p:charRg st="17" end="36"/>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8198">
                                            <p:txEl>
                                              <p:charRg st="17" end="36"/>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8198">
                                            <p:txEl>
                                              <p:charRg st="36" end="54"/>
                                            </p:txEl>
                                          </p:spTgt>
                                        </p:tgtEl>
                                        <p:attrNameLst>
                                          <p:attrName>style.visibility</p:attrName>
                                        </p:attrNameLst>
                                      </p:cBhvr>
                                      <p:to>
                                        <p:strVal val="visible"/>
                                      </p:to>
                                    </p:set>
                                    <p:anim calcmode="lin" valueType="num">
                                      <p:cBhvr additive="base">
                                        <p:cTn id="32" dur="500" fill="hold"/>
                                        <p:tgtEl>
                                          <p:spTgt spid="8198">
                                            <p:txEl>
                                              <p:charRg st="36" end="54"/>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8198">
                                            <p:txEl>
                                              <p:charRg st="36" end="54"/>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8198">
                                            <p:txEl>
                                              <p:charRg st="54" end="79"/>
                                            </p:txEl>
                                          </p:spTgt>
                                        </p:tgtEl>
                                        <p:attrNameLst>
                                          <p:attrName>style.visibility</p:attrName>
                                        </p:attrNameLst>
                                      </p:cBhvr>
                                      <p:to>
                                        <p:strVal val="visible"/>
                                      </p:to>
                                    </p:set>
                                    <p:anim calcmode="lin" valueType="num">
                                      <p:cBhvr additive="base">
                                        <p:cTn id="38" dur="500" fill="hold"/>
                                        <p:tgtEl>
                                          <p:spTgt spid="8198">
                                            <p:txEl>
                                              <p:charRg st="54" end="79"/>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8198">
                                            <p:txEl>
                                              <p:charRg st="54" end="79"/>
                                            </p:txEl>
                                          </p:spTgt>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8199"/>
                                        </p:tgtEl>
                                        <p:attrNameLst>
                                          <p:attrName>style.visibility</p:attrName>
                                        </p:attrNameLst>
                                      </p:cBhvr>
                                      <p:to>
                                        <p:strVal val="visible"/>
                                      </p:to>
                                    </p:set>
                                    <p:anim calcmode="lin" valueType="num">
                                      <p:cBhvr additive="base">
                                        <p:cTn id="44" dur="500" fill="hold"/>
                                        <p:tgtEl>
                                          <p:spTgt spid="8199"/>
                                        </p:tgtEl>
                                        <p:attrNameLst>
                                          <p:attrName>ppt_x</p:attrName>
                                        </p:attrNameLst>
                                      </p:cBhvr>
                                      <p:tavLst>
                                        <p:tav tm="0">
                                          <p:val>
                                            <p:strVal val="#ppt_x"/>
                                          </p:val>
                                        </p:tav>
                                        <p:tav tm="100000">
                                          <p:val>
                                            <p:strVal val="#ppt_x"/>
                                          </p:val>
                                        </p:tav>
                                      </p:tavLst>
                                    </p:anim>
                                    <p:anim calcmode="lin" valueType="num">
                                      <p:cBhvr additive="base">
                                        <p:cTn id="45" dur="500" fill="hold"/>
                                        <p:tgtEl>
                                          <p:spTgt spid="81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7" grpId="0"/>
      <p:bldP spid="8199" grpId="0"/>
      <p:bldP spid="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56323" name="Rectangle 3"/>
          <p:cNvSpPr>
            <a:spLocks noGrp="1" noChangeArrowheads="1"/>
          </p:cNvSpPr>
          <p:nvPr>
            <p:ph type="body" idx="1"/>
          </p:nvPr>
        </p:nvSpPr>
        <p:spPr>
          <a:xfrm>
            <a:off x="357188" y="857250"/>
            <a:ext cx="8775700" cy="5572125"/>
          </a:xfrm>
        </p:spPr>
        <p:txBody>
          <a:bodyPr vert="horz" wrap="square" lIns="91440" tIns="45720" rIns="91440" bIns="45720" numCol="1" anchor="t" anchorCtr="0" compatLnSpc="1"/>
          <a:lstStyle/>
          <a:p>
            <a:pPr marL="0" marR="0" lvl="0" indent="-342900" algn="l" defTabSz="42545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r>
              <a:rPr kumimoji="1" lang="zh-CN" altLang="en-US" sz="2800" b="1" i="0" u="none" strike="noStrike" kern="0" cap="none" spc="0" normalizeH="0" baseline="0" noProof="0" dirty="0" smtClean="0">
                <a:ln>
                  <a:noFill/>
                </a:ln>
                <a:solidFill>
                  <a:schemeClr val="tx1"/>
                </a:solidFill>
                <a:effectLst/>
                <a:uLnTx/>
                <a:uFillTx/>
                <a:latin typeface="宋体" pitchFamily="2" charset="-122"/>
                <a:ea typeface="+mn-ea"/>
                <a:cs typeface="+mn-cs"/>
              </a:rPr>
              <a:t>  (三) 查表指令（</a:t>
            </a:r>
            <a:r>
              <a:rPr kumimoji="1" lang="zh-CN" altLang="en-US" sz="2200" b="1" i="0" u="none" strike="noStrike" kern="0" cap="none" spc="0" normalizeH="0" baseline="0" noProof="0" dirty="0" smtClean="0">
                <a:ln>
                  <a:noFill/>
                </a:ln>
                <a:solidFill>
                  <a:schemeClr val="tx2"/>
                </a:solidFill>
                <a:effectLst/>
                <a:uLnTx/>
                <a:uFillTx/>
                <a:latin typeface="黑体" panose="02010609060101010101" pitchFamily="49" charset="-122"/>
                <a:ea typeface="黑体" panose="02010609060101010101" pitchFamily="49" charset="-122"/>
                <a:cs typeface="+mn-cs"/>
              </a:rPr>
              <a:t>访问</a:t>
            </a:r>
            <a:r>
              <a:rPr kumimoji="1" lang="zh-CN" altLang="en-US" sz="2200" b="1" i="0" u="none" strike="noStrike" kern="0" cap="none" spc="0" normalizeH="0" baseline="0" noProof="0" dirty="0" smtClean="0">
                <a:ln>
                  <a:noFill/>
                </a:ln>
                <a:solidFill>
                  <a:schemeClr val="accent2"/>
                </a:solidFill>
                <a:effectLst/>
                <a:uLnTx/>
                <a:uFillTx/>
                <a:latin typeface="黑体" panose="02010609060101010101" pitchFamily="49" charset="-122"/>
                <a:ea typeface="黑体" panose="02010609060101010101" pitchFamily="49" charset="-122"/>
                <a:cs typeface="+mn-cs"/>
              </a:rPr>
              <a:t>程序存储器</a:t>
            </a:r>
            <a:r>
              <a:rPr kumimoji="1" lang="zh-CN" altLang="en-US" sz="2200" b="1" i="0" u="none" strike="noStrike" kern="0" cap="none" spc="0" normalizeH="0" baseline="0" noProof="0" dirty="0" smtClean="0">
                <a:ln>
                  <a:noFill/>
                </a:ln>
                <a:solidFill>
                  <a:schemeClr val="tx2"/>
                </a:solidFill>
                <a:effectLst/>
                <a:uLnTx/>
                <a:uFillTx/>
                <a:latin typeface="黑体" panose="02010609060101010101" pitchFamily="49" charset="-122"/>
                <a:ea typeface="黑体" panose="02010609060101010101" pitchFamily="49" charset="-122"/>
                <a:cs typeface="+mn-cs"/>
              </a:rPr>
              <a:t>的指令</a:t>
            </a:r>
            <a:r>
              <a:rPr kumimoji="1" lang="zh-CN" altLang="en-US" sz="2800" b="1" i="0" u="none" strike="noStrike" kern="0" cap="none" spc="0" normalizeH="0" baseline="0" noProof="0" dirty="0" smtClean="0">
                <a:ln>
                  <a:noFill/>
                </a:ln>
                <a:solidFill>
                  <a:schemeClr val="tx1"/>
                </a:solidFill>
                <a:effectLst/>
                <a:uLnTx/>
                <a:uFillTx/>
                <a:latin typeface="宋体" pitchFamily="2" charset="-122"/>
                <a:ea typeface="+mn-ea"/>
                <a:cs typeface="+mn-cs"/>
              </a:rPr>
              <a:t>）</a:t>
            </a:r>
            <a:br>
              <a:rPr kumimoji="1" lang="zh-CN" altLang="en-US" sz="2800" b="1" i="0" u="none" strike="noStrike" kern="0" cap="none" spc="0" normalizeH="0" baseline="0" noProof="0" dirty="0" smtClean="0">
                <a:ln>
                  <a:noFill/>
                </a:ln>
                <a:solidFill>
                  <a:srgbClr val="A40079"/>
                </a:solidFill>
                <a:effectLst/>
                <a:uLnTx/>
                <a:uFillTx/>
                <a:latin typeface="宋体" pitchFamily="2" charset="-122"/>
                <a:ea typeface="+mn-ea"/>
                <a:cs typeface="+mn-cs"/>
              </a:rPr>
            </a:br>
            <a:r>
              <a:rPr kumimoji="1" lang="zh-CN" altLang="en-US" sz="2400" b="1" i="0" u="none" strike="noStrike" kern="0" cap="none" spc="0" normalizeH="0" baseline="0" noProof="0" dirty="0" smtClean="0">
                <a:ln>
                  <a:noFill/>
                </a:ln>
                <a:solidFill>
                  <a:srgbClr val="A40079"/>
                </a:solidFill>
                <a:effectLst/>
                <a:uLnTx/>
                <a:uFillTx/>
                <a:latin typeface="宋体" pitchFamily="2" charset="-122"/>
                <a:ea typeface="+mn-ea"/>
                <a:cs typeface="+mn-cs"/>
              </a:rPr>
              <a:t>   </a:t>
            </a:r>
            <a:r>
              <a:rPr kumimoji="1" lang="zh-CN" altLang="en-US" sz="2400" b="1" i="0" u="none" strike="noStrike" kern="0" cap="none" spc="0" normalizeH="0" baseline="0" noProof="0" dirty="0" smtClean="0">
                <a:ln>
                  <a:noFill/>
                </a:ln>
                <a:solidFill>
                  <a:schemeClr val="tx1"/>
                </a:solidFill>
                <a:effectLst/>
                <a:uLnTx/>
                <a:uFillTx/>
                <a:latin typeface="宋体" pitchFamily="2" charset="-122"/>
                <a:ea typeface="+mn-ea"/>
                <a:cs typeface="+mn-cs"/>
              </a:rPr>
              <a:t>实现从程序存储器读取数据到</a:t>
            </a:r>
            <a:r>
              <a:rPr kumimoji="1" lang="en-US" altLang="zh-CN" sz="2400" b="1" i="0" u="none" strike="noStrike" kern="0" cap="none" spc="0" normalizeH="0" baseline="0" noProof="0" dirty="0" smtClean="0">
                <a:ln>
                  <a:noFill/>
                </a:ln>
                <a:solidFill>
                  <a:schemeClr val="tx1"/>
                </a:solidFill>
                <a:effectLst/>
                <a:uLnTx/>
                <a:uFillTx/>
                <a:latin typeface="宋体" pitchFamily="2" charset="-122"/>
                <a:ea typeface="+mn-ea"/>
                <a:cs typeface="+mn-cs"/>
              </a:rPr>
              <a:t>A</a:t>
            </a:r>
            <a:r>
              <a:rPr kumimoji="1" lang="zh-CN" altLang="en-US" sz="2400" b="1" i="0" u="none" strike="noStrike" kern="0" cap="none" spc="0" normalizeH="0" baseline="0" noProof="0" dirty="0" smtClean="0">
                <a:ln>
                  <a:noFill/>
                </a:ln>
                <a:solidFill>
                  <a:schemeClr val="tx1"/>
                </a:solidFill>
                <a:effectLst/>
                <a:uLnTx/>
                <a:uFillTx/>
                <a:latin typeface="宋体" pitchFamily="2" charset="-122"/>
                <a:ea typeface="+mn-ea"/>
                <a:cs typeface="+mn-cs"/>
              </a:rPr>
              <a:t>累加器，只能使用变址间接寻址方式。</a:t>
            </a:r>
            <a:br>
              <a:rPr kumimoji="1" lang="zh-CN" altLang="en-US" sz="2400" b="1" i="0" u="none" strike="noStrike" kern="0" cap="none" spc="0" normalizeH="0" baseline="0" noProof="0" dirty="0" smtClean="0">
                <a:ln>
                  <a:noFill/>
                </a:ln>
                <a:solidFill>
                  <a:schemeClr val="tx1"/>
                </a:solidFill>
                <a:effectLst/>
                <a:uLnTx/>
                <a:uFillTx/>
                <a:latin typeface="宋体" pitchFamily="2" charset="-122"/>
                <a:ea typeface="+mn-ea"/>
                <a:cs typeface="+mn-cs"/>
              </a:rPr>
            </a:br>
            <a:r>
              <a:rPr kumimoji="1" lang="zh-CN" altLang="en-US" sz="2400" b="1" i="0" u="none" strike="noStrike" kern="0" cap="none" spc="0" normalizeH="0" baseline="0" noProof="0" dirty="0" smtClean="0">
                <a:ln>
                  <a:noFill/>
                </a:ln>
                <a:solidFill>
                  <a:schemeClr val="tx1"/>
                </a:solidFill>
                <a:effectLst/>
                <a:uLnTx/>
                <a:uFillTx/>
                <a:latin typeface="宋体" pitchFamily="2" charset="-122"/>
                <a:ea typeface="+mn-ea"/>
                <a:cs typeface="+mn-cs"/>
              </a:rPr>
              <a:t>  多用于查常数表程序，可直接求取常数表中的函数值。</a:t>
            </a:r>
            <a:endParaRPr kumimoji="1" lang="en-US" altLang="zh-CN" sz="24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0" marR="0" lvl="0" indent="-342900" algn="l" defTabSz="42545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r>
              <a:rPr kumimoji="1" lang="zh-CN" altLang="en-US" sz="2400" b="1" i="0" u="none" strike="noStrike" kern="0" cap="none" spc="0" normalizeH="0" baseline="0" noProof="0" dirty="0" smtClean="0">
                <a:ln>
                  <a:noFill/>
                </a:ln>
                <a:solidFill>
                  <a:schemeClr val="tx1"/>
                </a:solidFill>
                <a:effectLst/>
                <a:uLnTx/>
                <a:uFillTx/>
                <a:latin typeface="宋体" pitchFamily="2" charset="-122"/>
                <a:ea typeface="+mn-ea"/>
                <a:cs typeface="+mn-cs"/>
              </a:rPr>
              <a:t>    1．</a:t>
            </a:r>
            <a:r>
              <a:rPr kumimoji="1" lang="en-US" altLang="zh-CN" sz="2400" b="1" i="0" u="none" strike="noStrike" kern="0" cap="none" spc="0" normalizeH="0" baseline="0" noProof="0" dirty="0" smtClean="0">
                <a:ln>
                  <a:noFill/>
                </a:ln>
                <a:solidFill>
                  <a:schemeClr val="tx2"/>
                </a:solidFill>
                <a:effectLst/>
                <a:uLnTx/>
                <a:uFillTx/>
                <a:latin typeface="宋体" pitchFamily="2" charset="-122"/>
                <a:ea typeface="+mn-ea"/>
                <a:cs typeface="+mn-cs"/>
              </a:rPr>
              <a:t>DPTR</a:t>
            </a:r>
            <a:r>
              <a:rPr kumimoji="1" lang="zh-CN" altLang="en-US" sz="2400" b="1" i="0" u="none" strike="noStrike" kern="0" cap="none" spc="0" normalizeH="0" baseline="0" noProof="0" dirty="0" smtClean="0">
                <a:ln>
                  <a:noFill/>
                </a:ln>
                <a:solidFill>
                  <a:schemeClr val="tx1"/>
                </a:solidFill>
                <a:effectLst/>
                <a:uLnTx/>
                <a:uFillTx/>
                <a:latin typeface="宋体" pitchFamily="2" charset="-122"/>
                <a:ea typeface="+mn-ea"/>
                <a:cs typeface="+mn-cs"/>
              </a:rPr>
              <a:t>为基址寄存器</a:t>
            </a:r>
            <a:endParaRPr kumimoji="1" lang="zh-CN" altLang="en-US" sz="24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0" marR="0" lvl="0" indent="-342900" algn="l" defTabSz="42545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r>
              <a:rPr kumimoji="1" lang="zh-CN" altLang="en-US" sz="2400" b="1" i="0" u="none" strike="noStrike" kern="0" cap="none" spc="0" normalizeH="0" baseline="0" noProof="0" dirty="0" smtClean="0">
                <a:ln>
                  <a:noFill/>
                </a:ln>
                <a:solidFill>
                  <a:schemeClr val="tx1"/>
                </a:solidFill>
                <a:effectLst/>
                <a:uLnTx/>
                <a:uFillTx/>
                <a:latin typeface="宋体" pitchFamily="2" charset="-122"/>
                <a:ea typeface="+mn-ea"/>
                <a:cs typeface="+mn-cs"/>
              </a:rPr>
              <a:t>			</a:t>
            </a:r>
            <a:r>
              <a:rPr kumimoji="1" lang="en-US" altLang="zh-CN" sz="2400" b="1" i="0" u="none" strike="noStrike" kern="0" cap="none" spc="0" normalizeH="0" baseline="0" noProof="0" dirty="0" smtClean="0">
                <a:ln>
                  <a:noFill/>
                </a:ln>
                <a:solidFill>
                  <a:schemeClr val="tx2"/>
                </a:solidFill>
                <a:effectLst/>
                <a:uLnTx/>
                <a:uFillTx/>
                <a:latin typeface="宋体" pitchFamily="2" charset="-122"/>
                <a:ea typeface="+mn-ea"/>
                <a:cs typeface="+mn-cs"/>
              </a:rPr>
              <a:t>MOVC	A，@A+DPTR</a:t>
            </a:r>
            <a:r>
              <a:rPr kumimoji="1" lang="en-US" altLang="zh-CN" sz="2400" b="1" i="0" u="none" strike="noStrike" kern="0" cap="none" spc="0" normalizeH="0" baseline="0" noProof="0" dirty="0" smtClean="0">
                <a:ln>
                  <a:noFill/>
                </a:ln>
                <a:solidFill>
                  <a:srgbClr val="FF0000"/>
                </a:solidFill>
                <a:effectLst/>
                <a:uLnTx/>
                <a:uFillTx/>
                <a:latin typeface="宋体" pitchFamily="2" charset="-122"/>
                <a:ea typeface="+mn-ea"/>
                <a:cs typeface="+mn-cs"/>
              </a:rPr>
              <a:t> </a:t>
            </a:r>
            <a:r>
              <a:rPr kumimoji="1" lang="en-US" altLang="zh-CN" sz="2400" b="1" i="0" u="none" strike="noStrike" kern="0" cap="none" spc="0" normalizeH="0" baseline="0" noProof="0" dirty="0" smtClean="0">
                <a:ln>
                  <a:noFill/>
                </a:ln>
                <a:solidFill>
                  <a:schemeClr val="tx1"/>
                </a:solidFill>
                <a:effectLst/>
                <a:uLnTx/>
                <a:uFillTx/>
                <a:latin typeface="宋体" pitchFamily="2" charset="-122"/>
                <a:ea typeface="+mn-ea"/>
                <a:cs typeface="+mn-cs"/>
              </a:rPr>
              <a:t>；A</a:t>
            </a:r>
            <a:r>
              <a:rPr kumimoji="1" lang="en-US" altLang="zh-CN" sz="2400" b="1" i="0" u="none" strike="noStrike" kern="0" cap="none" spc="0" normalizeH="0" baseline="0" noProof="0" dirty="0" smtClean="0">
                <a:ln>
                  <a:noFill/>
                </a:ln>
                <a:solidFill>
                  <a:schemeClr val="tx1"/>
                </a:solidFill>
                <a:effectLst/>
                <a:uLnTx/>
                <a:uFillTx/>
                <a:latin typeface="Symbol" pitchFamily="18" charset="2"/>
                <a:ea typeface="+mn-ea"/>
                <a:cs typeface="+mn-cs"/>
              </a:rPr>
              <a:t>¬</a:t>
            </a:r>
            <a:r>
              <a:rPr kumimoji="1" lang="en-US" altLang="zh-CN" sz="2400" b="1" i="0" u="none" strike="noStrike" kern="0" cap="none" spc="0" normalizeH="0" baseline="0" noProof="0" dirty="0" smtClean="0">
                <a:ln>
                  <a:noFill/>
                </a:ln>
                <a:solidFill>
                  <a:schemeClr val="tx1"/>
                </a:solidFill>
                <a:effectLst/>
                <a:uLnTx/>
                <a:uFillTx/>
                <a:latin typeface="宋体" pitchFamily="2" charset="-122"/>
                <a:ea typeface="+mn-ea"/>
                <a:cs typeface="+mn-cs"/>
              </a:rPr>
              <a:t>((A)+(DPTR)) </a:t>
            </a:r>
            <a:endParaRPr kumimoji="1" lang="en-US" altLang="zh-CN" sz="24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0" marR="0" lvl="0" indent="457200" algn="l" defTabSz="42545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r>
              <a:rPr kumimoji="1" lang="zh-CN" altLang="en-US" sz="2400" b="1" i="0" u="none" strike="noStrike" kern="0" cap="none" spc="0" normalizeH="0" baseline="0" noProof="0" dirty="0" smtClean="0">
                <a:ln>
                  <a:noFill/>
                </a:ln>
                <a:solidFill>
                  <a:schemeClr val="tx1"/>
                </a:solidFill>
                <a:effectLst/>
                <a:uLnTx/>
                <a:uFillTx/>
                <a:latin typeface="宋体" pitchFamily="2" charset="-122"/>
                <a:ea typeface="+mn-ea"/>
                <a:cs typeface="+mn-cs"/>
              </a:rPr>
              <a:t>查表范围为</a:t>
            </a:r>
            <a:r>
              <a:rPr kumimoji="1" lang="zh-CN" altLang="en-US" sz="2400" b="1" i="0" u="none" strike="noStrike" kern="0" cap="none" spc="0" normalizeH="0" baseline="0" noProof="0" dirty="0" smtClean="0">
                <a:ln>
                  <a:noFill/>
                </a:ln>
                <a:solidFill>
                  <a:srgbClr val="0000FF"/>
                </a:solidFill>
                <a:effectLst/>
                <a:uLnTx/>
                <a:uFillTx/>
                <a:latin typeface="宋体" pitchFamily="2" charset="-122"/>
                <a:ea typeface="+mn-ea"/>
                <a:cs typeface="+mn-cs"/>
              </a:rPr>
              <a:t> </a:t>
            </a:r>
            <a:r>
              <a:rPr kumimoji="1" lang="zh-CN" altLang="en-US" sz="2400" b="1" i="0" u="none" strike="noStrike" kern="0" cap="none" spc="0" normalizeH="0" baseline="0" noProof="0" dirty="0" smtClean="0">
                <a:ln>
                  <a:noFill/>
                </a:ln>
                <a:solidFill>
                  <a:schemeClr val="tx2"/>
                </a:solidFill>
                <a:effectLst/>
                <a:uLnTx/>
                <a:uFillTx/>
                <a:latin typeface="宋体" pitchFamily="2" charset="-122"/>
                <a:ea typeface="+mn-ea"/>
                <a:cs typeface="+mn-cs"/>
              </a:rPr>
              <a:t>64</a:t>
            </a:r>
            <a:r>
              <a:rPr kumimoji="1" lang="en-US" altLang="zh-CN" sz="2400" b="1" i="0" u="none" strike="noStrike" kern="0" cap="none" spc="0" normalizeH="0" baseline="0" noProof="0" dirty="0" smtClean="0">
                <a:ln>
                  <a:noFill/>
                </a:ln>
                <a:solidFill>
                  <a:schemeClr val="tx2"/>
                </a:solidFill>
                <a:effectLst/>
                <a:uLnTx/>
                <a:uFillTx/>
                <a:latin typeface="宋体" pitchFamily="2" charset="-122"/>
                <a:ea typeface="+mn-ea"/>
                <a:cs typeface="+mn-cs"/>
              </a:rPr>
              <a:t>KB </a:t>
            </a:r>
            <a:r>
              <a:rPr kumimoji="1" lang="zh-CN" altLang="en-US" sz="2400" b="1" i="0" u="none" strike="noStrike" kern="0" cap="none" spc="0" normalizeH="0" baseline="0" noProof="0" dirty="0" smtClean="0">
                <a:ln>
                  <a:noFill/>
                </a:ln>
                <a:solidFill>
                  <a:schemeClr val="tx1"/>
                </a:solidFill>
                <a:effectLst/>
                <a:uLnTx/>
                <a:uFillTx/>
                <a:latin typeface="宋体" pitchFamily="2" charset="-122"/>
                <a:ea typeface="+mn-ea"/>
                <a:cs typeface="+mn-cs"/>
              </a:rPr>
              <a:t>程序存储器任意空间，称为远程查表指令 </a:t>
            </a:r>
            <a:endParaRPr kumimoji="1" lang="zh-CN" altLang="en-US" sz="24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0" marR="0" lvl="0" indent="457200" algn="l" defTabSz="42545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1" lang="zh-CN" altLang="zh-CN" sz="24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0" marR="0" lvl="0" indent="-342900" algn="l" defTabSz="42545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r>
              <a:rPr kumimoji="1" lang="en-US" altLang="zh-CN" sz="2400" b="1" i="0" u="none" strike="noStrike" kern="0" cap="none" spc="0" normalizeH="0" baseline="0" noProof="0" dirty="0" smtClean="0">
                <a:ln>
                  <a:noFill/>
                </a:ln>
                <a:solidFill>
                  <a:schemeClr val="tx1"/>
                </a:solidFill>
                <a:effectLst/>
                <a:uLnTx/>
                <a:uFillTx/>
                <a:latin typeface="宋体" pitchFamily="2" charset="-122"/>
                <a:ea typeface="+mn-ea"/>
                <a:cs typeface="+mn-cs"/>
              </a:rPr>
              <a:t>    2. </a:t>
            </a:r>
            <a:r>
              <a:rPr kumimoji="1" lang="en-US" altLang="zh-CN" sz="2400" b="1" i="0" u="none" strike="noStrike" kern="0" cap="none" spc="0" normalizeH="0" baseline="0" noProof="0" dirty="0" smtClean="0">
                <a:ln>
                  <a:noFill/>
                </a:ln>
                <a:solidFill>
                  <a:schemeClr val="tx2"/>
                </a:solidFill>
                <a:effectLst/>
                <a:uLnTx/>
                <a:uFillTx/>
                <a:latin typeface="宋体" pitchFamily="2" charset="-122"/>
                <a:ea typeface="+mn-ea"/>
                <a:cs typeface="+mn-cs"/>
              </a:rPr>
              <a:t>PC</a:t>
            </a:r>
            <a:r>
              <a:rPr kumimoji="1" lang="zh-CN" altLang="en-US" sz="2400" b="1" i="0" u="none" strike="noStrike" kern="0" cap="none" spc="0" normalizeH="0" baseline="0" noProof="0" dirty="0" smtClean="0">
                <a:ln>
                  <a:noFill/>
                </a:ln>
                <a:solidFill>
                  <a:schemeClr val="tx1"/>
                </a:solidFill>
                <a:effectLst/>
                <a:uLnTx/>
                <a:uFillTx/>
                <a:latin typeface="宋体" pitchFamily="2" charset="-122"/>
                <a:ea typeface="+mn-ea"/>
                <a:cs typeface="+mn-cs"/>
              </a:rPr>
              <a:t>为基址寄存器</a:t>
            </a:r>
            <a:endParaRPr kumimoji="1" lang="zh-CN" altLang="en-US" sz="24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0" marR="0" lvl="0" indent="-342900" algn="l" defTabSz="42545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r>
              <a:rPr kumimoji="1" lang="zh-CN" altLang="en-US" sz="2400" b="1" i="0" u="none" strike="noStrike" kern="0" cap="none" spc="0" normalizeH="0" baseline="0" noProof="0" dirty="0" smtClean="0">
                <a:ln>
                  <a:noFill/>
                </a:ln>
                <a:solidFill>
                  <a:schemeClr val="tx1"/>
                </a:solidFill>
                <a:effectLst/>
                <a:uLnTx/>
                <a:uFillTx/>
                <a:latin typeface="宋体" pitchFamily="2" charset="-122"/>
                <a:ea typeface="+mn-ea"/>
                <a:cs typeface="+mn-cs"/>
              </a:rPr>
              <a:t>			</a:t>
            </a:r>
            <a:r>
              <a:rPr kumimoji="1" lang="en-US" altLang="zh-CN" sz="2400" b="1" i="0" u="none" strike="noStrike" kern="0" cap="none" spc="0" normalizeH="0" baseline="0" noProof="0" dirty="0" smtClean="0">
                <a:ln>
                  <a:noFill/>
                </a:ln>
                <a:solidFill>
                  <a:schemeClr val="tx2"/>
                </a:solidFill>
                <a:effectLst/>
                <a:uLnTx/>
                <a:uFillTx/>
                <a:latin typeface="宋体" pitchFamily="2" charset="-122"/>
                <a:ea typeface="+mn-ea"/>
                <a:cs typeface="+mn-cs"/>
              </a:rPr>
              <a:t>MOVC	A，@A+PC</a:t>
            </a:r>
            <a:r>
              <a:rPr kumimoji="1" lang="en-US" altLang="zh-CN" sz="2400" b="1" i="0" u="none" strike="noStrike" kern="0" cap="none" spc="0" normalizeH="0" baseline="0" noProof="0" dirty="0" smtClean="0">
                <a:ln>
                  <a:noFill/>
                </a:ln>
                <a:solidFill>
                  <a:srgbClr val="FF0000"/>
                </a:solidFill>
                <a:effectLst/>
                <a:uLnTx/>
                <a:uFillTx/>
                <a:latin typeface="宋体" pitchFamily="2" charset="-122"/>
                <a:ea typeface="+mn-ea"/>
                <a:cs typeface="+mn-cs"/>
              </a:rPr>
              <a:t>	</a:t>
            </a:r>
            <a:r>
              <a:rPr kumimoji="1" lang="en-US" altLang="zh-CN" sz="2400" b="1" i="0" u="none" strike="noStrike" kern="0" cap="none" spc="0" normalizeH="0" baseline="0" noProof="0" dirty="0" smtClean="0">
                <a:ln>
                  <a:noFill/>
                </a:ln>
                <a:solidFill>
                  <a:schemeClr val="tx1"/>
                </a:solidFill>
                <a:effectLst/>
                <a:uLnTx/>
                <a:uFillTx/>
                <a:latin typeface="宋体" pitchFamily="2" charset="-122"/>
                <a:ea typeface="+mn-ea"/>
                <a:cs typeface="+mn-cs"/>
              </a:rPr>
              <a:t>；PC</a:t>
            </a:r>
            <a:r>
              <a:rPr kumimoji="1" lang="en-US" altLang="zh-CN" sz="2400" b="1" i="0" u="none" strike="noStrike" kern="0" cap="none" spc="0" normalizeH="0" baseline="0" noProof="0" dirty="0" smtClean="0">
                <a:ln>
                  <a:noFill/>
                </a:ln>
                <a:solidFill>
                  <a:schemeClr val="tx1"/>
                </a:solidFill>
                <a:effectLst/>
                <a:uLnTx/>
                <a:uFillTx/>
                <a:latin typeface="Symbol" pitchFamily="18" charset="2"/>
                <a:ea typeface="+mn-ea"/>
                <a:cs typeface="+mn-cs"/>
              </a:rPr>
              <a:t>¬ </a:t>
            </a:r>
            <a:r>
              <a:rPr kumimoji="1" lang="en-US" altLang="zh-CN" sz="2400" b="1" i="0" u="none" strike="noStrike" kern="0" cap="none" spc="0" normalizeH="0" baseline="0" noProof="0" dirty="0" smtClean="0">
                <a:ln>
                  <a:noFill/>
                </a:ln>
                <a:solidFill>
                  <a:schemeClr val="tx1"/>
                </a:solidFill>
                <a:effectLst/>
                <a:uLnTx/>
                <a:uFillTx/>
                <a:latin typeface="宋体" pitchFamily="2" charset="-122"/>
                <a:ea typeface="+mn-ea"/>
                <a:cs typeface="+mn-cs"/>
              </a:rPr>
              <a:t>(PC)+1,A</a:t>
            </a:r>
            <a:r>
              <a:rPr kumimoji="1" lang="en-US" altLang="zh-CN" sz="2400" b="1" i="0" u="none" strike="noStrike" kern="0" cap="none" spc="0" normalizeH="0" baseline="0" noProof="0" dirty="0" smtClean="0">
                <a:ln>
                  <a:noFill/>
                </a:ln>
                <a:solidFill>
                  <a:schemeClr val="tx1"/>
                </a:solidFill>
                <a:effectLst/>
                <a:uLnTx/>
                <a:uFillTx/>
                <a:latin typeface="Symbol" pitchFamily="18" charset="2"/>
                <a:ea typeface="+mn-ea"/>
                <a:cs typeface="+mn-cs"/>
              </a:rPr>
              <a:t>¬</a:t>
            </a:r>
            <a:r>
              <a:rPr kumimoji="1" lang="en-US" altLang="zh-CN" sz="2400" b="1" i="0" u="none" strike="noStrike" kern="0" cap="none" spc="0" normalizeH="0" baseline="0" noProof="0" dirty="0" smtClean="0">
                <a:ln>
                  <a:noFill/>
                </a:ln>
                <a:solidFill>
                  <a:schemeClr val="tx1"/>
                </a:solidFill>
                <a:effectLst/>
                <a:uLnTx/>
                <a:uFillTx/>
                <a:latin typeface="宋体" pitchFamily="2" charset="-122"/>
                <a:ea typeface="+mn-ea"/>
                <a:cs typeface="+mn-cs"/>
              </a:rPr>
              <a:t>((A)+(PC))</a:t>
            </a:r>
            <a:endParaRPr kumimoji="1" lang="en-US" altLang="zh-CN" sz="24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0" marR="0" lvl="0" indent="-342900" algn="l" defTabSz="42545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r>
              <a:rPr kumimoji="1" lang="en-US" altLang="zh-CN" sz="2400" b="1" i="0" u="none" strike="noStrike" kern="0" cap="none" spc="0" normalizeH="0" baseline="0" noProof="0" dirty="0" smtClean="0">
                <a:ln>
                  <a:noFill/>
                </a:ln>
                <a:solidFill>
                  <a:schemeClr val="tx1"/>
                </a:solidFill>
                <a:effectLst/>
                <a:uLnTx/>
                <a:uFillTx/>
                <a:latin typeface="宋体" pitchFamily="2" charset="-122"/>
                <a:ea typeface="+mn-ea"/>
                <a:cs typeface="+mn-cs"/>
              </a:rPr>
              <a:t>	    </a:t>
            </a:r>
            <a:r>
              <a:rPr kumimoji="1" lang="zh-CN" altLang="en-US" sz="2400" b="1" i="0" u="none" strike="noStrike" kern="0" cap="none" spc="0" normalizeH="0" baseline="0" noProof="0" dirty="0" smtClean="0">
                <a:ln>
                  <a:noFill/>
                </a:ln>
                <a:solidFill>
                  <a:schemeClr val="tx1"/>
                </a:solidFill>
                <a:effectLst/>
                <a:uLnTx/>
                <a:uFillTx/>
                <a:latin typeface="宋体" pitchFamily="2" charset="-122"/>
                <a:ea typeface="+mn-ea"/>
                <a:cs typeface="+mn-cs"/>
              </a:rPr>
              <a:t>常数表只能在查表指令后</a:t>
            </a:r>
            <a:r>
              <a:rPr kumimoji="1" lang="zh-CN" altLang="en-US" sz="2400" b="1" i="0" u="none" strike="noStrike" kern="0" cap="none" spc="0" normalizeH="0" baseline="0" noProof="0" dirty="0" smtClean="0">
                <a:ln>
                  <a:noFill/>
                </a:ln>
                <a:solidFill>
                  <a:schemeClr val="tx2"/>
                </a:solidFill>
                <a:effectLst/>
                <a:uLnTx/>
                <a:uFillTx/>
                <a:latin typeface="宋体" pitchFamily="2" charset="-122"/>
                <a:ea typeface="+mn-ea"/>
                <a:cs typeface="+mn-cs"/>
              </a:rPr>
              <a:t>256</a:t>
            </a:r>
            <a:r>
              <a:rPr kumimoji="1" lang="en-US" altLang="zh-CN" sz="2400" b="1" i="0" u="none" strike="noStrike" kern="0" cap="none" spc="0" normalizeH="0" baseline="0" noProof="0" dirty="0" smtClean="0">
                <a:ln>
                  <a:noFill/>
                </a:ln>
                <a:solidFill>
                  <a:schemeClr val="tx2"/>
                </a:solidFill>
                <a:effectLst/>
                <a:uLnTx/>
                <a:uFillTx/>
                <a:latin typeface="宋体" pitchFamily="2" charset="-122"/>
                <a:ea typeface="+mn-ea"/>
                <a:cs typeface="+mn-cs"/>
              </a:rPr>
              <a:t>B</a:t>
            </a:r>
            <a:r>
              <a:rPr kumimoji="1" lang="zh-CN" altLang="en-US" sz="2400" b="1" i="0" u="none" strike="noStrike" kern="0" cap="none" spc="0" normalizeH="0" baseline="0" noProof="0" dirty="0" smtClean="0">
                <a:ln>
                  <a:noFill/>
                </a:ln>
                <a:solidFill>
                  <a:schemeClr val="tx1"/>
                </a:solidFill>
                <a:effectLst/>
                <a:uLnTx/>
                <a:uFillTx/>
                <a:latin typeface="宋体" pitchFamily="2" charset="-122"/>
                <a:ea typeface="+mn-ea"/>
                <a:cs typeface="+mn-cs"/>
              </a:rPr>
              <a:t>范围内。</a:t>
            </a:r>
            <a:endParaRPr kumimoji="1" lang="zh-CN" altLang="en-US" sz="24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0" marR="0" lvl="0" indent="-342900" algn="l" defTabSz="42545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r>
              <a:rPr kumimoji="1" lang="zh-CN" altLang="en-US" sz="2400" b="1" i="0" u="none" strike="noStrike" kern="0" cap="none" spc="0" normalizeH="0" baseline="0" noProof="0" dirty="0" smtClean="0">
                <a:ln>
                  <a:noFill/>
                </a:ln>
                <a:solidFill>
                  <a:schemeClr val="tx1"/>
                </a:solidFill>
                <a:effectLst/>
                <a:uLnTx/>
                <a:uFillTx/>
                <a:latin typeface="宋体" pitchFamily="2" charset="-122"/>
                <a:ea typeface="+mn-ea"/>
                <a:cs typeface="+mn-cs"/>
              </a:rPr>
              <a:t>     （</a:t>
            </a:r>
            <a:r>
              <a:rPr kumimoji="1" lang="en-US" altLang="zh-CN" sz="2400" b="1" i="0" u="none" strike="noStrike" kern="0" cap="none" spc="0" normalizeH="0" baseline="0" noProof="0" dirty="0" smtClean="0">
                <a:ln>
                  <a:noFill/>
                </a:ln>
                <a:solidFill>
                  <a:schemeClr val="tx1"/>
                </a:solidFill>
                <a:effectLst/>
                <a:uLnTx/>
                <a:uFillTx/>
                <a:latin typeface="宋体" pitchFamily="2" charset="-122"/>
                <a:ea typeface="+mn-ea"/>
                <a:cs typeface="+mn-cs"/>
              </a:rPr>
              <a:t>PC</a:t>
            </a:r>
            <a:r>
              <a:rPr kumimoji="1" lang="zh-CN" altLang="en-US" sz="2400" b="1" i="0" u="none" strike="noStrike" kern="0" cap="none" spc="0" normalizeH="0" baseline="0" noProof="0" dirty="0" smtClean="0">
                <a:ln>
                  <a:noFill/>
                </a:ln>
                <a:solidFill>
                  <a:schemeClr val="tx1"/>
                </a:solidFill>
                <a:effectLst/>
                <a:uLnTx/>
                <a:uFillTx/>
                <a:latin typeface="宋体" pitchFamily="2" charset="-122"/>
                <a:ea typeface="+mn-ea"/>
                <a:cs typeface="+mn-cs"/>
              </a:rPr>
              <a:t>内容为下一条指令的起始地址）</a:t>
            </a:r>
            <a:endParaRPr kumimoji="1" lang="zh-CN" altLang="en-US" sz="24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0" marR="0" lvl="0" indent="-342900" algn="l" defTabSz="42545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宋体" pitchFamily="2" charset="-122"/>
                <a:ea typeface="+mn-ea"/>
                <a:cs typeface="+mn-cs"/>
              </a:rPr>
              <a:t>	</a:t>
            </a:r>
            <a:endParaRPr kumimoji="0" lang="zh-CN" altLang="en-US" sz="24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0" marR="0" lvl="0" indent="-342900" algn="just" defTabSz="42545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zh-CN" sz="2800" b="1" i="0" u="none" strike="noStrike" kern="0" cap="none" spc="0" normalizeH="0" baseline="0" noProof="0" dirty="0" smtClean="0">
              <a:ln>
                <a:noFill/>
              </a:ln>
              <a:solidFill>
                <a:srgbClr val="FFC000"/>
              </a:solidFill>
              <a:effectLst/>
              <a:uLnTx/>
              <a:uFillTx/>
              <a:latin typeface="宋体" pitchFamily="2" charset="-122"/>
              <a:ea typeface="+mn-ea"/>
              <a:cs typeface="+mn-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idx="4294967295"/>
          </p:nvPr>
        </p:nvSpPr>
        <p:spPr>
          <a:xfrm>
            <a:off x="214313" y="214313"/>
            <a:ext cx="8763000" cy="609600"/>
          </a:xfrm>
        </p:spPr>
        <p:txBody>
          <a:bodyPr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86018" name="Rectangle 3"/>
          <p:cNvSpPr>
            <a:spLocks noGrp="1"/>
          </p:cNvSpPr>
          <p:nvPr>
            <p:ph type="body" idx="4294967295"/>
          </p:nvPr>
        </p:nvSpPr>
        <p:spPr>
          <a:xfrm>
            <a:off x="428625" y="857250"/>
            <a:ext cx="7858125" cy="1928813"/>
          </a:xfrm>
        </p:spPr>
        <p:txBody>
          <a:bodyPr vert="horz" wrap="square" lIns="91440" tIns="45720" rIns="91440" bIns="45720" anchor="t" anchorCtr="0"/>
          <a:p>
            <a:pPr marL="0">
              <a:lnSpc>
                <a:spcPct val="150000"/>
              </a:lnSpc>
              <a:spcBef>
                <a:spcPct val="0"/>
              </a:spcBef>
              <a:buNone/>
            </a:pPr>
            <a:r>
              <a:rPr lang="zh-CN" altLang="en-US" sz="2000" dirty="0">
                <a:latin typeface="宋体" pitchFamily="2" charset="-122"/>
              </a:rPr>
              <a:t>（四）堆栈操作指令</a:t>
            </a:r>
            <a:br>
              <a:rPr lang="zh-CN" altLang="en-US" sz="2000" dirty="0">
                <a:latin typeface="宋体" pitchFamily="2" charset="-122"/>
              </a:rPr>
            </a:br>
            <a:r>
              <a:rPr lang="zh-CN" altLang="en-US" dirty="0">
                <a:latin typeface="宋体" pitchFamily="2" charset="-122"/>
              </a:rPr>
              <a:t>     </a:t>
            </a:r>
            <a:r>
              <a:rPr lang="zh-CN" altLang="en-US" sz="2400" b="0" dirty="0">
                <a:solidFill>
                  <a:srgbClr val="3333CC"/>
                </a:solidFill>
                <a:latin typeface="Times New Roman" panose="02020503050405090304" pitchFamily="18" charset="0"/>
                <a:ea typeface="黑体" panose="02010609060101010101" pitchFamily="49" charset="-122"/>
              </a:rPr>
              <a:t>堆栈是在内部</a:t>
            </a:r>
            <a:r>
              <a:rPr lang="en-US" altLang="zh-CN" sz="2400" b="0" dirty="0">
                <a:solidFill>
                  <a:srgbClr val="3333CC"/>
                </a:solidFill>
                <a:latin typeface="Times New Roman" panose="02020503050405090304" pitchFamily="18" charset="0"/>
                <a:ea typeface="黑体" panose="02010609060101010101" pitchFamily="49" charset="-122"/>
              </a:rPr>
              <a:t>RAM</a:t>
            </a:r>
            <a:r>
              <a:rPr lang="zh-CN" altLang="en-US" sz="2400" b="0" dirty="0">
                <a:solidFill>
                  <a:srgbClr val="3333CC"/>
                </a:solidFill>
                <a:latin typeface="Times New Roman" panose="02020503050405090304" pitchFamily="18" charset="0"/>
                <a:ea typeface="黑体" panose="02010609060101010101" pitchFamily="49" charset="-122"/>
              </a:rPr>
              <a:t>中开辟的一个先进后出（后进先出：</a:t>
            </a:r>
            <a:r>
              <a:rPr lang="en-US" altLang="zh-CN" sz="2400" b="0" dirty="0">
                <a:solidFill>
                  <a:srgbClr val="3333CC"/>
                </a:solidFill>
                <a:latin typeface="Times New Roman" panose="02020503050405090304" pitchFamily="18" charset="0"/>
                <a:ea typeface="黑体" panose="02010609060101010101" pitchFamily="49" charset="-122"/>
              </a:rPr>
              <a:t>LIFO-Last In First Out</a:t>
            </a:r>
            <a:r>
              <a:rPr lang="zh-CN" altLang="en-US" sz="2400" b="0" dirty="0">
                <a:solidFill>
                  <a:srgbClr val="3333CC"/>
                </a:solidFill>
                <a:latin typeface="Times New Roman" panose="02020503050405090304" pitchFamily="18" charset="0"/>
                <a:ea typeface="黑体" panose="02010609060101010101" pitchFamily="49" charset="-122"/>
              </a:rPr>
              <a:t>）的区域，用来保护</a:t>
            </a:r>
            <a:r>
              <a:rPr lang="en-US" altLang="zh-CN" sz="2400" b="0" dirty="0">
                <a:solidFill>
                  <a:srgbClr val="3333CC"/>
                </a:solidFill>
                <a:latin typeface="Times New Roman" panose="02020503050405090304" pitchFamily="18" charset="0"/>
                <a:ea typeface="黑体" panose="02010609060101010101" pitchFamily="49" charset="-122"/>
              </a:rPr>
              <a:t>CPU</a:t>
            </a:r>
            <a:r>
              <a:rPr lang="zh-CN" altLang="en-US" sz="2400" b="0" dirty="0">
                <a:solidFill>
                  <a:srgbClr val="3333CC"/>
                </a:solidFill>
                <a:latin typeface="Times New Roman" panose="02020503050405090304" pitchFamily="18" charset="0"/>
                <a:ea typeface="黑体" panose="02010609060101010101" pitchFamily="49" charset="-122"/>
              </a:rPr>
              <a:t>执行程序的现场 。</a:t>
            </a:r>
            <a:r>
              <a:rPr lang="zh-CN" altLang="en-US" b="0" dirty="0">
                <a:solidFill>
                  <a:schemeClr val="tx2"/>
                </a:solidFill>
                <a:latin typeface="黑体" panose="02010609060101010101" pitchFamily="49" charset="-122"/>
                <a:ea typeface="黑体" panose="02010609060101010101" pitchFamily="49" charset="-122"/>
              </a:rPr>
              <a:t>堆栈指针</a:t>
            </a:r>
            <a:r>
              <a:rPr lang="en-US" altLang="zh-CN" b="0" dirty="0">
                <a:solidFill>
                  <a:schemeClr val="tx2"/>
                </a:solidFill>
                <a:latin typeface="黑体" panose="02010609060101010101" pitchFamily="49" charset="-122"/>
                <a:ea typeface="黑体" panose="02010609060101010101" pitchFamily="49" charset="-122"/>
              </a:rPr>
              <a:t>SP</a:t>
            </a:r>
            <a:r>
              <a:rPr lang="zh-CN" altLang="en-US" b="0" dirty="0">
                <a:solidFill>
                  <a:schemeClr val="tx2"/>
                </a:solidFill>
                <a:latin typeface="黑体" panose="02010609060101010101" pitchFamily="49" charset="-122"/>
                <a:ea typeface="黑体" panose="02010609060101010101" pitchFamily="49" charset="-122"/>
              </a:rPr>
              <a:t>指出</a:t>
            </a:r>
            <a:r>
              <a:rPr lang="zh-CN" altLang="en-US" b="0" dirty="0">
                <a:solidFill>
                  <a:srgbClr val="0000FF"/>
                </a:solidFill>
                <a:latin typeface="黑体" panose="02010609060101010101" pitchFamily="49" charset="-122"/>
                <a:ea typeface="黑体" panose="02010609060101010101" pitchFamily="49" charset="-122"/>
              </a:rPr>
              <a:t>堆栈的栈顶位置</a:t>
            </a:r>
            <a:r>
              <a:rPr lang="zh-CN" altLang="en-US" b="0" dirty="0">
                <a:solidFill>
                  <a:schemeClr val="tx2"/>
                </a:solidFill>
                <a:latin typeface="黑体" panose="02010609060101010101" pitchFamily="49" charset="-122"/>
                <a:ea typeface="黑体" panose="02010609060101010101" pitchFamily="49" charset="-122"/>
              </a:rPr>
              <a:t>。</a:t>
            </a:r>
            <a:endParaRPr lang="zh-CN" altLang="en-US" sz="1800" b="0" dirty="0">
              <a:solidFill>
                <a:srgbClr val="3333CC"/>
              </a:solidFill>
              <a:latin typeface="Times New Roman" panose="02020503050405090304" pitchFamily="18" charset="0"/>
              <a:ea typeface="黑体" panose="02010609060101010101" pitchFamily="49" charset="-122"/>
            </a:endParaRPr>
          </a:p>
          <a:p>
            <a:pPr marL="0">
              <a:lnSpc>
                <a:spcPct val="100000"/>
              </a:lnSpc>
              <a:spcBef>
                <a:spcPct val="0"/>
              </a:spcBef>
              <a:buNone/>
            </a:pPr>
            <a:endParaRPr lang="zh-CN" altLang="en-US" sz="2000" dirty="0">
              <a:latin typeface="宋体" pitchFamily="2" charset="-122"/>
            </a:endParaRPr>
          </a:p>
        </p:txBody>
      </p:sp>
      <p:sp>
        <p:nvSpPr>
          <p:cNvPr id="86019" name="TextBox 30"/>
          <p:cNvSpPr txBox="1"/>
          <p:nvPr/>
        </p:nvSpPr>
        <p:spPr>
          <a:xfrm>
            <a:off x="0" y="3286125"/>
            <a:ext cx="9358313" cy="461963"/>
          </a:xfrm>
          <a:prstGeom prst="rect">
            <a:avLst/>
          </a:prstGeom>
          <a:noFill/>
          <a:ln w="9525">
            <a:noFill/>
          </a:ln>
        </p:spPr>
        <p:txBody>
          <a:bodyPr anchor="t" anchorCtr="0">
            <a:spAutoFit/>
          </a:bodyPr>
          <a:p>
            <a:pPr eaLnBrk="0" hangingPunct="0"/>
            <a:r>
              <a:rPr lang="zh-CN" altLang="en-US" dirty="0">
                <a:latin typeface="宋体" pitchFamily="2" charset="-122"/>
                <a:ea typeface="仿宋_GB2312" pitchFamily="49" charset="-122"/>
              </a:rPr>
              <a:t> </a:t>
            </a:r>
            <a:r>
              <a:rPr lang="en-US" altLang="zh-CN" dirty="0">
                <a:latin typeface="宋体" pitchFamily="2" charset="-122"/>
                <a:ea typeface="仿宋_GB2312" pitchFamily="49" charset="-122"/>
              </a:rPr>
              <a:t>1</a:t>
            </a:r>
            <a:r>
              <a:rPr lang="zh-CN" altLang="en-US" dirty="0">
                <a:latin typeface="宋体" pitchFamily="2" charset="-122"/>
                <a:ea typeface="仿宋_GB2312" pitchFamily="49" charset="-122"/>
              </a:rPr>
              <a:t>、入栈指令：</a:t>
            </a:r>
            <a:r>
              <a:rPr lang="en-US" altLang="zh-CN" dirty="0">
                <a:latin typeface="宋体" pitchFamily="2" charset="-122"/>
                <a:ea typeface="仿宋_GB2312" pitchFamily="49" charset="-122"/>
              </a:rPr>
              <a:t>PUSH direct   ；SP</a:t>
            </a:r>
            <a:r>
              <a:rPr lang="en-US" altLang="zh-CN" dirty="0">
                <a:latin typeface="Symbol" pitchFamily="18" charset="2"/>
                <a:ea typeface="仿宋_GB2312" pitchFamily="49" charset="-122"/>
              </a:rPr>
              <a:t>¬(</a:t>
            </a:r>
            <a:r>
              <a:rPr lang="en-US" altLang="zh-CN" dirty="0">
                <a:latin typeface="宋体" pitchFamily="2" charset="-122"/>
                <a:ea typeface="仿宋_GB2312" pitchFamily="49" charset="-122"/>
              </a:rPr>
              <a:t>SP)+1，(SP)</a:t>
            </a:r>
            <a:r>
              <a:rPr lang="en-US" altLang="zh-CN" dirty="0">
                <a:latin typeface="Symbol" pitchFamily="18" charset="2"/>
                <a:ea typeface="仿宋_GB2312" pitchFamily="49" charset="-122"/>
              </a:rPr>
              <a:t>¬</a:t>
            </a:r>
            <a:r>
              <a:rPr lang="en-US" altLang="zh-CN" dirty="0">
                <a:latin typeface="宋体" pitchFamily="2" charset="-122"/>
                <a:ea typeface="仿宋_GB2312" pitchFamily="49" charset="-122"/>
              </a:rPr>
              <a:t>(direct)</a:t>
            </a:r>
            <a:endParaRPr lang="zh-CN" altLang="en-US" dirty="0">
              <a:latin typeface="Times New Roman" panose="02020503050405090304" pitchFamily="18" charset="0"/>
              <a:ea typeface="仿宋_GB2312" pitchFamily="49" charset="-122"/>
            </a:endParaRPr>
          </a:p>
        </p:txBody>
      </p:sp>
      <p:sp>
        <p:nvSpPr>
          <p:cNvPr id="86020" name="Rectangle 92"/>
          <p:cNvSpPr/>
          <p:nvPr/>
        </p:nvSpPr>
        <p:spPr>
          <a:xfrm>
            <a:off x="571500" y="4297363"/>
            <a:ext cx="7272338" cy="1273175"/>
          </a:xfrm>
          <a:prstGeom prst="rect">
            <a:avLst/>
          </a:prstGeom>
          <a:noFill/>
          <a:ln w="9525">
            <a:noFill/>
          </a:ln>
        </p:spPr>
        <p:txBody>
          <a:bodyPr anchor="t" anchorCtr="0">
            <a:spAutoFit/>
          </a:bodyPr>
          <a:p>
            <a:pPr>
              <a:lnSpc>
                <a:spcPct val="150000"/>
              </a:lnSpc>
              <a:spcBef>
                <a:spcPct val="20000"/>
              </a:spcBef>
              <a:buSzPct val="60000"/>
            </a:pPr>
            <a:r>
              <a:rPr lang="zh-CN" altLang="en-US" b="0" dirty="0">
                <a:solidFill>
                  <a:srgbClr val="3333CC"/>
                </a:solidFill>
                <a:latin typeface="Times New Roman" panose="02020503050405090304" pitchFamily="18" charset="0"/>
                <a:ea typeface="黑体" panose="02010609060101010101" pitchFamily="49" charset="-122"/>
              </a:rPr>
              <a:t>即：</a:t>
            </a:r>
            <a:r>
              <a:rPr lang="en-US" altLang="zh-CN" b="0" dirty="0">
                <a:solidFill>
                  <a:srgbClr val="3333CC"/>
                </a:solidFill>
                <a:latin typeface="Times New Roman" panose="02020503050405090304" pitchFamily="18" charset="0"/>
                <a:ea typeface="黑体" panose="02010609060101010101" pitchFamily="49" charset="-122"/>
              </a:rPr>
              <a:t>CPU</a:t>
            </a:r>
            <a:r>
              <a:rPr lang="zh-CN" altLang="en-US" b="0" dirty="0">
                <a:solidFill>
                  <a:srgbClr val="3333CC"/>
                </a:solidFill>
                <a:latin typeface="Times New Roman" panose="02020503050405090304" pitchFamily="18" charset="0"/>
                <a:ea typeface="黑体" panose="02010609060101010101" pitchFamily="49" charset="-122"/>
              </a:rPr>
              <a:t>操作：</a:t>
            </a:r>
            <a:r>
              <a:rPr lang="en-US" altLang="zh-CN" b="0" dirty="0">
                <a:solidFill>
                  <a:srgbClr val="3333CC"/>
                </a:solidFill>
                <a:latin typeface="Times New Roman" panose="02020503050405090304" pitchFamily="18" charset="0"/>
                <a:ea typeface="黑体" panose="02010609060101010101" pitchFamily="49" charset="-122"/>
              </a:rPr>
              <a:t>(SP)+1 </a:t>
            </a:r>
            <a:r>
              <a:rPr lang="en-US" altLang="zh-CN" b="0" dirty="0">
                <a:solidFill>
                  <a:srgbClr val="3333CC"/>
                </a:solidFill>
                <a:latin typeface="Times New Roman" panose="02020503050405090304" pitchFamily="18" charset="0"/>
                <a:ea typeface="黑体" panose="02010609060101010101" pitchFamily="49" charset="-122"/>
                <a:sym typeface="Wingdings" panose="05000000000000000000" pitchFamily="2" charset="2"/>
              </a:rPr>
              <a:t></a:t>
            </a:r>
            <a:r>
              <a:rPr lang="en-US" altLang="zh-CN" b="0" dirty="0">
                <a:solidFill>
                  <a:srgbClr val="3333CC"/>
                </a:solidFill>
                <a:latin typeface="Times New Roman" panose="02020503050405090304" pitchFamily="18" charset="0"/>
                <a:ea typeface="黑体" panose="02010609060101010101" pitchFamily="49" charset="-122"/>
              </a:rPr>
              <a:t>SP</a:t>
            </a:r>
            <a:r>
              <a:rPr lang="zh-CN" altLang="en-US" b="0" dirty="0">
                <a:solidFill>
                  <a:srgbClr val="3333CC"/>
                </a:solidFill>
                <a:latin typeface="Times New Roman" panose="02020503050405090304" pitchFamily="18" charset="0"/>
                <a:ea typeface="黑体" panose="02010609060101010101" pitchFamily="49" charset="-122"/>
              </a:rPr>
              <a:t>，</a:t>
            </a:r>
            <a:r>
              <a:rPr lang="zh-CN" altLang="en-US" dirty="0">
                <a:solidFill>
                  <a:srgbClr val="FF3300"/>
                </a:solidFill>
                <a:latin typeface="Times New Roman" panose="02020503050405090304" pitchFamily="18" charset="0"/>
                <a:ea typeface="黑体" panose="02010609060101010101" pitchFamily="49" charset="-122"/>
              </a:rPr>
              <a:t>修改堆栈指针</a:t>
            </a:r>
            <a:r>
              <a:rPr lang="zh-CN" altLang="en-US" b="0" dirty="0">
                <a:solidFill>
                  <a:srgbClr val="3333CC"/>
                </a:solidFill>
                <a:latin typeface="Times New Roman" panose="02020503050405090304" pitchFamily="18" charset="0"/>
                <a:ea typeface="黑体" panose="02010609060101010101" pitchFamily="49" charset="-122"/>
              </a:rPr>
              <a:t>；</a:t>
            </a:r>
            <a:endParaRPr lang="zh-CN" altLang="en-US" b="0" dirty="0">
              <a:solidFill>
                <a:srgbClr val="3333CC"/>
              </a:solidFill>
              <a:latin typeface="Times New Roman" panose="02020503050405090304" pitchFamily="18" charset="0"/>
              <a:ea typeface="黑体" panose="02010609060101010101" pitchFamily="49" charset="-122"/>
            </a:endParaRPr>
          </a:p>
          <a:p>
            <a:pPr>
              <a:lnSpc>
                <a:spcPct val="150000"/>
              </a:lnSpc>
              <a:spcBef>
                <a:spcPct val="20000"/>
              </a:spcBef>
              <a:buSzPct val="60000"/>
            </a:pPr>
            <a:r>
              <a:rPr lang="zh-CN" altLang="en-US" b="0" dirty="0">
                <a:solidFill>
                  <a:srgbClr val="3333CC"/>
                </a:solidFill>
                <a:latin typeface="Times New Roman" panose="02020503050405090304" pitchFamily="18" charset="0"/>
                <a:ea typeface="黑体" panose="02010609060101010101" pitchFamily="49" charset="-122"/>
              </a:rPr>
              <a:t>　　　　　　   </a:t>
            </a:r>
            <a:r>
              <a:rPr lang="en-US" altLang="zh-CN" b="0" dirty="0">
                <a:solidFill>
                  <a:srgbClr val="3333CC"/>
                </a:solidFill>
                <a:latin typeface="Times New Roman" panose="02020503050405090304" pitchFamily="18" charset="0"/>
                <a:ea typeface="黑体" panose="02010609060101010101" pitchFamily="49" charset="-122"/>
              </a:rPr>
              <a:t>(direct) </a:t>
            </a:r>
            <a:r>
              <a:rPr lang="en-US" altLang="zh-CN" b="0" dirty="0">
                <a:solidFill>
                  <a:srgbClr val="3333CC"/>
                </a:solidFill>
                <a:latin typeface="Times New Roman" panose="02020503050405090304" pitchFamily="18" charset="0"/>
                <a:ea typeface="黑体" panose="02010609060101010101" pitchFamily="49" charset="-122"/>
                <a:sym typeface="Wingdings" panose="05000000000000000000" pitchFamily="2" charset="2"/>
              </a:rPr>
              <a:t></a:t>
            </a:r>
            <a:r>
              <a:rPr lang="en-US" altLang="zh-CN" b="0" dirty="0">
                <a:solidFill>
                  <a:srgbClr val="3333CC"/>
                </a:solidFill>
                <a:latin typeface="Times New Roman" panose="02020503050405090304" pitchFamily="18" charset="0"/>
                <a:ea typeface="黑体" panose="02010609060101010101" pitchFamily="49" charset="-122"/>
              </a:rPr>
              <a:t> </a:t>
            </a:r>
            <a:r>
              <a:rPr lang="zh-CN" altLang="en-US" b="0" dirty="0">
                <a:solidFill>
                  <a:srgbClr val="3333CC"/>
                </a:solidFill>
                <a:latin typeface="Times New Roman" panose="02020503050405090304" pitchFamily="18" charset="0"/>
                <a:ea typeface="黑体" panose="02010609060101010101" pitchFamily="49" charset="-122"/>
              </a:rPr>
              <a:t> </a:t>
            </a:r>
            <a:r>
              <a:rPr lang="en-US" altLang="zh-CN" b="0" dirty="0">
                <a:solidFill>
                  <a:srgbClr val="3333CC"/>
                </a:solidFill>
                <a:latin typeface="Times New Roman" panose="02020503050405090304" pitchFamily="18" charset="0"/>
                <a:ea typeface="仿宋_GB2312" pitchFamily="49" charset="-122"/>
              </a:rPr>
              <a:t>(</a:t>
            </a:r>
            <a:r>
              <a:rPr lang="en-US" altLang="zh-CN" b="0" dirty="0">
                <a:solidFill>
                  <a:srgbClr val="3333CC"/>
                </a:solidFill>
                <a:latin typeface="Times New Roman" panose="02020503050405090304" pitchFamily="18" charset="0"/>
                <a:ea typeface="黑体" panose="02010609060101010101" pitchFamily="49" charset="-122"/>
              </a:rPr>
              <a:t>(SP) </a:t>
            </a:r>
            <a:r>
              <a:rPr lang="en-US" altLang="zh-CN" b="0" dirty="0">
                <a:solidFill>
                  <a:srgbClr val="3333CC"/>
                </a:solidFill>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 </a:t>
            </a:r>
            <a:r>
              <a:rPr lang="zh-CN" altLang="en-US" b="0" dirty="0">
                <a:solidFill>
                  <a:srgbClr val="3333CC"/>
                </a:solidFill>
                <a:latin typeface="Times New Roman" panose="02020503050405090304" pitchFamily="18" charset="0"/>
                <a:ea typeface="黑体" panose="02010609060101010101" pitchFamily="49" charset="-122"/>
              </a:rPr>
              <a:t>，</a:t>
            </a:r>
            <a:r>
              <a:rPr lang="zh-CN" altLang="en-US" dirty="0">
                <a:solidFill>
                  <a:srgbClr val="FF3300"/>
                </a:solidFill>
                <a:latin typeface="Times New Roman" panose="02020503050405090304" pitchFamily="18" charset="0"/>
                <a:ea typeface="黑体" panose="02010609060101010101" pitchFamily="49" charset="-122"/>
              </a:rPr>
              <a:t>入栈</a:t>
            </a:r>
            <a:r>
              <a:rPr lang="zh-CN" altLang="en-US" b="0" dirty="0">
                <a:solidFill>
                  <a:srgbClr val="3333CC"/>
                </a:solidFill>
                <a:latin typeface="Times New Roman" panose="02020503050405090304" pitchFamily="18" charset="0"/>
                <a:ea typeface="黑体" panose="02010609060101010101" pitchFamily="49" charset="-122"/>
              </a:rPr>
              <a:t>；</a:t>
            </a:r>
            <a:endParaRPr lang="zh-CN" altLang="en-US" b="0" dirty="0">
              <a:solidFill>
                <a:srgbClr val="3333CC"/>
              </a:solidFill>
              <a:latin typeface="Times New Roman" panose="02020503050405090304" pitchFamily="18" charset="0"/>
              <a:ea typeface="黑体" panose="02010609060101010101" pitchFamily="49"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idx="4294967295"/>
          </p:nvPr>
        </p:nvSpPr>
        <p:spPr>
          <a:xfrm>
            <a:off x="214313" y="214313"/>
            <a:ext cx="8763000" cy="609600"/>
          </a:xfrm>
        </p:spPr>
        <p:txBody>
          <a:bodyPr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2" name="TextBox 30"/>
          <p:cNvSpPr txBox="1"/>
          <p:nvPr/>
        </p:nvSpPr>
        <p:spPr>
          <a:xfrm>
            <a:off x="38100" y="1160463"/>
            <a:ext cx="9358313" cy="461962"/>
          </a:xfrm>
          <a:prstGeom prst="rect">
            <a:avLst/>
          </a:prstGeom>
          <a:noFill/>
          <a:ln w="9525">
            <a:noFill/>
          </a:ln>
        </p:spPr>
        <p:txBody>
          <a:bodyPr anchor="t" anchorCtr="0">
            <a:spAutoFit/>
          </a:bodyPr>
          <a:p>
            <a:pPr eaLnBrk="0" hangingPunct="0"/>
            <a:r>
              <a:rPr lang="zh-CN" altLang="en-US" dirty="0">
                <a:latin typeface="宋体" pitchFamily="2" charset="-122"/>
                <a:ea typeface="仿宋_GB2312" pitchFamily="49" charset="-122"/>
              </a:rPr>
              <a:t> </a:t>
            </a:r>
            <a:r>
              <a:rPr lang="en-US" altLang="zh-CN" dirty="0">
                <a:latin typeface="宋体" pitchFamily="2" charset="-122"/>
                <a:ea typeface="仿宋_GB2312" pitchFamily="49" charset="-122"/>
              </a:rPr>
              <a:t>1</a:t>
            </a:r>
            <a:r>
              <a:rPr lang="zh-CN" altLang="en-US" dirty="0">
                <a:latin typeface="宋体" pitchFamily="2" charset="-122"/>
                <a:ea typeface="仿宋_GB2312" pitchFamily="49" charset="-122"/>
              </a:rPr>
              <a:t>、入栈指令：</a:t>
            </a:r>
            <a:r>
              <a:rPr lang="en-US" altLang="zh-CN" dirty="0">
                <a:latin typeface="宋体" pitchFamily="2" charset="-122"/>
                <a:ea typeface="仿宋_GB2312" pitchFamily="49" charset="-122"/>
              </a:rPr>
              <a:t>PUSH direct   ；SP</a:t>
            </a:r>
            <a:r>
              <a:rPr lang="en-US" altLang="zh-CN" dirty="0">
                <a:latin typeface="Symbol" pitchFamily="18" charset="2"/>
                <a:ea typeface="仿宋_GB2312" pitchFamily="49" charset="-122"/>
              </a:rPr>
              <a:t>¬(</a:t>
            </a:r>
            <a:r>
              <a:rPr lang="en-US" altLang="zh-CN" dirty="0">
                <a:latin typeface="宋体" pitchFamily="2" charset="-122"/>
                <a:ea typeface="仿宋_GB2312" pitchFamily="49" charset="-122"/>
              </a:rPr>
              <a:t>SP)+1，(SP)</a:t>
            </a:r>
            <a:r>
              <a:rPr lang="en-US" altLang="zh-CN" dirty="0">
                <a:latin typeface="Symbol" pitchFamily="18" charset="2"/>
                <a:ea typeface="仿宋_GB2312" pitchFamily="49" charset="-122"/>
              </a:rPr>
              <a:t>¬</a:t>
            </a:r>
            <a:r>
              <a:rPr lang="en-US" altLang="zh-CN" dirty="0">
                <a:latin typeface="宋体" pitchFamily="2" charset="-122"/>
                <a:ea typeface="仿宋_GB2312" pitchFamily="49" charset="-122"/>
              </a:rPr>
              <a:t>(direct)</a:t>
            </a:r>
            <a:endParaRPr lang="zh-CN" altLang="en-US" dirty="0">
              <a:latin typeface="Times New Roman" panose="02020503050405090304" pitchFamily="18" charset="0"/>
              <a:ea typeface="仿宋_GB2312" pitchFamily="49" charset="-122"/>
            </a:endParaRPr>
          </a:p>
        </p:txBody>
      </p:sp>
      <p:sp>
        <p:nvSpPr>
          <p:cNvPr id="3" name="文本框 1"/>
          <p:cNvSpPr txBox="1"/>
          <p:nvPr/>
        </p:nvSpPr>
        <p:spPr>
          <a:xfrm>
            <a:off x="733425" y="1900238"/>
            <a:ext cx="7532688" cy="3414712"/>
          </a:xfrm>
          <a:prstGeom prst="rect">
            <a:avLst/>
          </a:prstGeom>
          <a:noFill/>
          <a:ln w="9525">
            <a:noFill/>
          </a:ln>
        </p:spPr>
        <p:txBody>
          <a:bodyPr wrap="square" anchor="t" anchorCtr="0">
            <a:spAutoFit/>
          </a:bodyPr>
          <a:p>
            <a:pPr>
              <a:lnSpc>
                <a:spcPct val="150000"/>
              </a:lnSpc>
            </a:pPr>
            <a:r>
              <a:rPr lang="zh-CN" altLang="en-US">
                <a:latin typeface="Times New Roman" panose="02020503050405090304" pitchFamily="18" charset="0"/>
                <a:ea typeface="仿宋_GB2312" pitchFamily="49" charset="-122"/>
              </a:rPr>
              <a:t>例如： 当（SP）=60H,（A）=30H,（B）=70H时，</a:t>
            </a:r>
            <a:endParaRPr lang="zh-CN" altLang="en-US">
              <a:latin typeface="Times New Roman" panose="02020503050405090304" pitchFamily="18" charset="0"/>
              <a:ea typeface="仿宋_GB2312" pitchFamily="49" charset="-122"/>
            </a:endParaRPr>
          </a:p>
          <a:p>
            <a:pPr>
              <a:lnSpc>
                <a:spcPct val="150000"/>
              </a:lnSpc>
            </a:pPr>
            <a:r>
              <a:rPr lang="zh-CN" altLang="en-US">
                <a:latin typeface="Times New Roman" panose="02020503050405090304" pitchFamily="18" charset="0"/>
                <a:ea typeface="仿宋_GB2312" pitchFamily="49" charset="-122"/>
              </a:rPr>
              <a:t>执行：</a:t>
            </a:r>
            <a:endParaRPr lang="zh-CN" altLang="en-US">
              <a:latin typeface="Times New Roman" panose="02020503050405090304" pitchFamily="18" charset="0"/>
              <a:ea typeface="仿宋_GB2312" pitchFamily="49" charset="-122"/>
            </a:endParaRPr>
          </a:p>
          <a:p>
            <a:pPr>
              <a:lnSpc>
                <a:spcPct val="200000"/>
              </a:lnSpc>
            </a:pPr>
            <a:r>
              <a:rPr lang="zh-CN" altLang="en-US">
                <a:latin typeface="Times New Roman" panose="02020503050405090304" pitchFamily="18" charset="0"/>
                <a:ea typeface="仿宋_GB2312" pitchFamily="49" charset="-122"/>
              </a:rPr>
              <a:t>PUSH   A </a:t>
            </a:r>
            <a:endParaRPr lang="zh-CN" altLang="en-US">
              <a:latin typeface="Times New Roman" panose="02020503050405090304" pitchFamily="18" charset="0"/>
              <a:ea typeface="仿宋_GB2312" pitchFamily="49" charset="-122"/>
            </a:endParaRPr>
          </a:p>
          <a:p>
            <a:pPr>
              <a:lnSpc>
                <a:spcPct val="200000"/>
              </a:lnSpc>
            </a:pPr>
            <a:r>
              <a:rPr lang="zh-CN" altLang="en-US">
                <a:latin typeface="Times New Roman" panose="02020503050405090304" pitchFamily="18" charset="0"/>
                <a:ea typeface="仿宋_GB2312" pitchFamily="49" charset="-122"/>
              </a:rPr>
              <a:t>PUSH   B </a:t>
            </a:r>
            <a:endParaRPr lang="zh-CN" altLang="en-US">
              <a:latin typeface="Times New Roman" panose="02020503050405090304" pitchFamily="18" charset="0"/>
              <a:ea typeface="仿宋_GB2312" pitchFamily="49" charset="-122"/>
            </a:endParaRPr>
          </a:p>
          <a:p>
            <a:pPr>
              <a:lnSpc>
                <a:spcPct val="200000"/>
              </a:lnSpc>
            </a:pPr>
            <a:r>
              <a:rPr lang="zh-CN" altLang="en-US">
                <a:latin typeface="Times New Roman" panose="02020503050405090304" pitchFamily="18" charset="0"/>
                <a:ea typeface="仿宋_GB2312" pitchFamily="49" charset="-122"/>
              </a:rPr>
              <a:t>结果：(61H)=30H,(62H)=70H,(SP)=62H</a:t>
            </a:r>
            <a:endParaRPr lang="zh-CN" altLang="en-US">
              <a:latin typeface="Times New Roman" panose="02020503050405090304" pitchFamily="18" charset="0"/>
              <a:ea typeface="仿宋_GB2312" pitchFamily="49" charset="-122"/>
            </a:endParaRPr>
          </a:p>
        </p:txBody>
      </p:sp>
      <p:sp>
        <p:nvSpPr>
          <p:cNvPr id="1017864" name="矩形 1017863"/>
          <p:cNvSpPr/>
          <p:nvPr/>
        </p:nvSpPr>
        <p:spPr>
          <a:xfrm>
            <a:off x="2311400" y="3332163"/>
            <a:ext cx="3940175" cy="460375"/>
          </a:xfrm>
          <a:prstGeom prst="rect">
            <a:avLst/>
          </a:prstGeom>
          <a:noFill/>
          <a:ln w="9525">
            <a:noFill/>
          </a:ln>
        </p:spPr>
        <p:txBody>
          <a:bodyPr wrap="none" anchor="t">
            <a:spAutoFit/>
          </a:bodyPr>
          <a:p>
            <a:pPr algn="l" fontAlgn="base"/>
            <a:r>
              <a:rPr lang="zh-CN" altLang="en-US" strike="noStrike" noProof="1">
                <a:solidFill>
                  <a:srgbClr val="FF0000"/>
                </a:solidFill>
                <a:latin typeface="Times New Roman" panose="02020503050405090304" pitchFamily="18" charset="0"/>
                <a:ea typeface="仿宋_GB2312" pitchFamily="49" charset="-122"/>
                <a:cs typeface="+mn-cs"/>
                <a:sym typeface="+mn-ea"/>
              </a:rPr>
              <a:t>; (SP)+1=61H→SP,(A)→61H</a:t>
            </a:r>
            <a:endParaRPr lang="zh-CN" altLang="en-US" b="1" strike="noStrike" noProof="1" dirty="0">
              <a:solidFill>
                <a:srgbClr val="FF0000"/>
              </a:solidFill>
              <a:effectLst>
                <a:outerShdw blurRad="38100" dist="38100" dir="2700000">
                  <a:srgbClr val="000000"/>
                </a:outerShdw>
              </a:effectLst>
              <a:latin typeface="宋体" pitchFamily="2" charset="-122"/>
              <a:sym typeface="+mn-ea"/>
            </a:endParaRPr>
          </a:p>
        </p:txBody>
      </p:sp>
      <p:sp>
        <p:nvSpPr>
          <p:cNvPr id="4" name="矩形 2"/>
          <p:cNvSpPr/>
          <p:nvPr/>
        </p:nvSpPr>
        <p:spPr>
          <a:xfrm>
            <a:off x="2287588" y="3984625"/>
            <a:ext cx="3922713" cy="460375"/>
          </a:xfrm>
          <a:prstGeom prst="rect">
            <a:avLst/>
          </a:prstGeom>
          <a:noFill/>
          <a:ln w="9525">
            <a:noFill/>
          </a:ln>
        </p:spPr>
        <p:txBody>
          <a:bodyPr wrap="none" anchor="t">
            <a:spAutoFit/>
          </a:bodyPr>
          <a:p>
            <a:pPr algn="l" fontAlgn="base"/>
            <a:r>
              <a:rPr lang="zh-CN" altLang="en-US" strike="noStrike" noProof="1">
                <a:solidFill>
                  <a:srgbClr val="FF0000"/>
                </a:solidFill>
                <a:latin typeface="Times New Roman" panose="02020503050405090304" pitchFamily="18" charset="0"/>
                <a:ea typeface="仿宋_GB2312" pitchFamily="49" charset="-122"/>
                <a:cs typeface="+mn-cs"/>
                <a:sym typeface="+mn-ea"/>
              </a:rPr>
              <a:t>; (SP)+1=62H→SP,(B)→62H</a:t>
            </a:r>
            <a:endParaRPr lang="zh-CN" altLang="en-US" b="1" strike="noStrike" noProof="1" dirty="0">
              <a:solidFill>
                <a:srgbClr val="FF0000"/>
              </a:solidFill>
              <a:effectLst>
                <a:outerShdw blurRad="38100" dist="38100" dir="2700000">
                  <a:srgbClr val="000000"/>
                </a:outerShdw>
              </a:effectLst>
              <a:latin typeface="宋体" pitchFamily="2"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17864"/>
                                        </p:tgtEl>
                                        <p:attrNameLst>
                                          <p:attrName>style.visibility</p:attrName>
                                        </p:attrNameLst>
                                      </p:cBhvr>
                                      <p:to>
                                        <p:strVal val="visible"/>
                                      </p:to>
                                    </p:set>
                                    <p:anim calcmode="lin" valueType="num">
                                      <p:cBhvr>
                                        <p:cTn id="7" dur="500" fill="hold"/>
                                        <p:tgtEl>
                                          <p:spTgt spid="1017864"/>
                                        </p:tgtEl>
                                        <p:attrNameLst>
                                          <p:attrName>ppt_x</p:attrName>
                                        </p:attrNameLst>
                                      </p:cBhvr>
                                      <p:tavLst>
                                        <p:tav tm="0">
                                          <p:val>
                                            <p:strVal val="#ppt_x"/>
                                          </p:val>
                                        </p:tav>
                                        <p:tav tm="100000">
                                          <p:val>
                                            <p:strVal val="#ppt_x"/>
                                          </p:val>
                                        </p:tav>
                                      </p:tavLst>
                                    </p:anim>
                                    <p:anim calcmode="lin" valueType="num">
                                      <p:cBhvr>
                                        <p:cTn id="8" dur="500" fill="hold"/>
                                        <p:tgtEl>
                                          <p:spTgt spid="101786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ppt_x</p:attrName>
                                        </p:attrNameLst>
                                      </p:cBhvr>
                                      <p:tavLst>
                                        <p:tav tm="0">
                                          <p:val>
                                            <p:strVal val="#ppt_x"/>
                                          </p:val>
                                        </p:tav>
                                        <p:tav tm="100000">
                                          <p:val>
                                            <p:strVal val="#ppt_x"/>
                                          </p:val>
                                        </p:tav>
                                      </p:tavLst>
                                    </p:anim>
                                    <p:anim calcmode="lin" valueType="num">
                                      <p:cBhvr>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charRg st="56" end="88"/>
                                            </p:txEl>
                                          </p:spTgt>
                                        </p:tgtEl>
                                        <p:attrNameLst>
                                          <p:attrName>style.visibility</p:attrName>
                                        </p:attrNameLst>
                                      </p:cBhvr>
                                      <p:to>
                                        <p:strVal val="visible"/>
                                      </p:to>
                                    </p:set>
                                    <p:anim calcmode="lin" valueType="num">
                                      <p:cBhvr additive="base">
                                        <p:cTn id="19" dur="500" fill="hold"/>
                                        <p:tgtEl>
                                          <p:spTgt spid="3">
                                            <p:txEl>
                                              <p:charRg st="56" end="8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charRg st="56" end="8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7864" grpId="0"/>
      <p:bldP spid="1017864" grpId="1"/>
      <p:bldP spid="4" grpId="0"/>
      <p:bldP spid="4" grpId="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idx="4294967295"/>
          </p:nvPr>
        </p:nvSpPr>
        <p:spPr>
          <a:xfrm>
            <a:off x="214313" y="214313"/>
            <a:ext cx="8763000" cy="609600"/>
          </a:xfrm>
        </p:spPr>
        <p:txBody>
          <a:bodyPr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88066" name="Rectangle 3"/>
          <p:cNvSpPr>
            <a:spLocks noGrp="1"/>
          </p:cNvSpPr>
          <p:nvPr>
            <p:ph type="body" idx="4294967295"/>
          </p:nvPr>
        </p:nvSpPr>
        <p:spPr>
          <a:xfrm>
            <a:off x="0" y="857250"/>
            <a:ext cx="9144000" cy="1635125"/>
          </a:xfrm>
        </p:spPr>
        <p:txBody>
          <a:bodyPr vert="horz" wrap="square" lIns="91440" tIns="45720" rIns="91440" bIns="45720" anchor="t" anchorCtr="0"/>
          <a:p>
            <a:pPr marL="0">
              <a:lnSpc>
                <a:spcPct val="100000"/>
              </a:lnSpc>
              <a:spcBef>
                <a:spcPct val="0"/>
              </a:spcBef>
              <a:buNone/>
            </a:pPr>
            <a:r>
              <a:rPr lang="zh-CN" altLang="en-US" sz="2400" dirty="0">
                <a:latin typeface="宋体" pitchFamily="2" charset="-122"/>
              </a:rPr>
              <a:t>（四）堆栈操作指令</a:t>
            </a:r>
            <a:br>
              <a:rPr lang="zh-CN" altLang="en-US" sz="2400" dirty="0">
                <a:latin typeface="宋体" pitchFamily="2" charset="-122"/>
              </a:rPr>
            </a:br>
            <a:endParaRPr lang="zh-CN" altLang="en-US" sz="2000" b="0" dirty="0">
              <a:solidFill>
                <a:srgbClr val="3333CC"/>
              </a:solidFill>
              <a:latin typeface="Times New Roman" panose="02020503050405090304" pitchFamily="18" charset="0"/>
              <a:ea typeface="黑体" panose="02010609060101010101" pitchFamily="49" charset="-122"/>
            </a:endParaRPr>
          </a:p>
          <a:p>
            <a:pPr marL="0">
              <a:lnSpc>
                <a:spcPct val="100000"/>
              </a:lnSpc>
              <a:spcBef>
                <a:spcPct val="0"/>
              </a:spcBef>
              <a:buNone/>
            </a:pPr>
            <a:r>
              <a:rPr lang="zh-CN" altLang="en-US" sz="2400" dirty="0">
                <a:latin typeface="宋体" pitchFamily="2" charset="-122"/>
              </a:rPr>
              <a:t>    </a:t>
            </a:r>
            <a:r>
              <a:rPr lang="zh-CN" altLang="zh-CN" sz="2400" dirty="0">
                <a:latin typeface="宋体" pitchFamily="2" charset="-122"/>
              </a:rPr>
              <a:t>2、出栈指令：POP</a:t>
            </a:r>
            <a:r>
              <a:rPr lang="en-US" altLang="zh-CN" sz="2400" dirty="0">
                <a:latin typeface="宋体" pitchFamily="2" charset="-122"/>
              </a:rPr>
              <a:t> direct</a:t>
            </a:r>
            <a:r>
              <a:rPr lang="zh-CN" altLang="zh-CN" sz="2400" dirty="0">
                <a:latin typeface="宋体" pitchFamily="2" charset="-122"/>
              </a:rPr>
              <a:t>；(</a:t>
            </a:r>
            <a:r>
              <a:rPr lang="en-US" altLang="zh-CN" sz="2400" dirty="0">
                <a:latin typeface="宋体" pitchFamily="2" charset="-122"/>
              </a:rPr>
              <a:t>direct</a:t>
            </a:r>
            <a:r>
              <a:rPr lang="zh-CN" altLang="zh-CN" sz="2400" dirty="0">
                <a:latin typeface="宋体" pitchFamily="2" charset="-122"/>
              </a:rPr>
              <a:t>) </a:t>
            </a:r>
            <a:r>
              <a:rPr lang="en-US" altLang="zh-CN" sz="2400" dirty="0">
                <a:latin typeface="Symbol" pitchFamily="18" charset="2"/>
              </a:rPr>
              <a:t>¬((</a:t>
            </a:r>
            <a:r>
              <a:rPr lang="zh-CN" altLang="zh-CN" sz="2400" dirty="0">
                <a:latin typeface="宋体" pitchFamily="2" charset="-122"/>
              </a:rPr>
              <a:t>SP</a:t>
            </a:r>
            <a:r>
              <a:rPr lang="en-US" altLang="zh-CN" sz="2400" dirty="0">
                <a:latin typeface="Symbol" pitchFamily="18" charset="2"/>
              </a:rPr>
              <a:t>))</a:t>
            </a:r>
            <a:r>
              <a:rPr lang="zh-CN" altLang="zh-CN" sz="2400" dirty="0">
                <a:latin typeface="宋体" pitchFamily="2" charset="-122"/>
              </a:rPr>
              <a:t>，SP</a:t>
            </a:r>
            <a:r>
              <a:rPr lang="en-US" altLang="zh-CN" sz="2400" dirty="0">
                <a:latin typeface="Symbol" pitchFamily="18" charset="2"/>
              </a:rPr>
              <a:t>¬(</a:t>
            </a:r>
            <a:r>
              <a:rPr lang="zh-CN" altLang="zh-CN" sz="2400" dirty="0">
                <a:latin typeface="宋体" pitchFamily="2" charset="-122"/>
              </a:rPr>
              <a:t>SP</a:t>
            </a:r>
            <a:r>
              <a:rPr lang="en-US" altLang="zh-CN" sz="2400" dirty="0">
                <a:latin typeface="宋体" pitchFamily="2" charset="-122"/>
              </a:rPr>
              <a:t>)</a:t>
            </a:r>
            <a:r>
              <a:rPr lang="zh-CN" altLang="zh-CN" sz="2400" dirty="0">
                <a:latin typeface="宋体" pitchFamily="2" charset="-122"/>
              </a:rPr>
              <a:t>-1</a:t>
            </a:r>
            <a:endParaRPr lang="zh-CN" altLang="zh-CN" sz="2400" dirty="0">
              <a:latin typeface="宋体" pitchFamily="2" charset="-122"/>
            </a:endParaRPr>
          </a:p>
          <a:p>
            <a:pPr marL="0">
              <a:lnSpc>
                <a:spcPct val="100000"/>
              </a:lnSpc>
              <a:spcBef>
                <a:spcPct val="0"/>
              </a:spcBef>
              <a:buNone/>
            </a:pPr>
            <a:endParaRPr lang="zh-CN" altLang="zh-CN" sz="2400" dirty="0">
              <a:solidFill>
                <a:srgbClr val="FFC000"/>
              </a:solidFill>
              <a:latin typeface="宋体" pitchFamily="2" charset="-122"/>
            </a:endParaRPr>
          </a:p>
        </p:txBody>
      </p:sp>
      <p:sp>
        <p:nvSpPr>
          <p:cNvPr id="88067" name="Rectangle 4"/>
          <p:cNvSpPr/>
          <p:nvPr/>
        </p:nvSpPr>
        <p:spPr>
          <a:xfrm>
            <a:off x="684213" y="4262438"/>
            <a:ext cx="4572000" cy="895350"/>
          </a:xfrm>
          <a:prstGeom prst="rect">
            <a:avLst/>
          </a:prstGeom>
          <a:noFill/>
          <a:ln w="9525">
            <a:noFill/>
          </a:ln>
        </p:spPr>
        <p:txBody>
          <a:bodyPr anchor="t" anchorCtr="0">
            <a:spAutoFit/>
          </a:bodyPr>
          <a:p>
            <a:pPr>
              <a:spcBef>
                <a:spcPct val="20000"/>
              </a:spcBef>
              <a:buSzPct val="60000"/>
            </a:pPr>
            <a:r>
              <a:rPr lang="zh-CN" altLang="en-US" b="0" dirty="0">
                <a:solidFill>
                  <a:srgbClr val="3333CC"/>
                </a:solidFill>
                <a:latin typeface="Times New Roman" panose="02020503050405090304" pitchFamily="18" charset="0"/>
                <a:ea typeface="黑体" panose="02010609060101010101" pitchFamily="49" charset="-122"/>
              </a:rPr>
              <a:t>例如：</a:t>
            </a:r>
            <a:r>
              <a:rPr lang="pt-BR" altLang="zh-CN" b="0" dirty="0">
                <a:solidFill>
                  <a:srgbClr val="3333CC"/>
                </a:solidFill>
                <a:latin typeface="Times New Roman" panose="02020503050405090304" pitchFamily="18" charset="0"/>
                <a:ea typeface="黑体" panose="02010609060101010101" pitchFamily="49" charset="-122"/>
              </a:rPr>
              <a:t> MOV  SP,  #71H             </a:t>
            </a:r>
            <a:endParaRPr lang="pt-BR" altLang="zh-CN" b="0" dirty="0">
              <a:solidFill>
                <a:srgbClr val="3333CC"/>
              </a:solidFill>
              <a:latin typeface="Times New Roman" panose="02020503050405090304" pitchFamily="18" charset="0"/>
              <a:ea typeface="黑体" panose="02010609060101010101" pitchFamily="49" charset="-122"/>
            </a:endParaRPr>
          </a:p>
          <a:p>
            <a:pPr>
              <a:spcBef>
                <a:spcPct val="20000"/>
              </a:spcBef>
              <a:buSzPct val="60000"/>
            </a:pPr>
            <a:r>
              <a:rPr lang="pt-BR" altLang="zh-CN" b="0" dirty="0">
                <a:solidFill>
                  <a:srgbClr val="3333CC"/>
                </a:solidFill>
                <a:latin typeface="Times New Roman" panose="02020503050405090304" pitchFamily="18" charset="0"/>
                <a:ea typeface="黑体" panose="02010609060101010101" pitchFamily="49" charset="-122"/>
              </a:rPr>
              <a:t>             POP  60H	</a:t>
            </a:r>
            <a:r>
              <a:rPr lang="en-US" altLang="zh-CN" b="0" dirty="0">
                <a:solidFill>
                  <a:srgbClr val="3333CC"/>
                </a:solidFill>
                <a:latin typeface="Times New Roman" panose="02020503050405090304" pitchFamily="18" charset="0"/>
                <a:ea typeface="黑体" panose="02010609060101010101" pitchFamily="49" charset="-122"/>
              </a:rPr>
              <a:t>	 </a:t>
            </a:r>
            <a:endParaRPr lang="en-US" altLang="zh-CN" b="0" dirty="0">
              <a:solidFill>
                <a:srgbClr val="3333CC"/>
              </a:solidFill>
              <a:latin typeface="Times New Roman" panose="02020503050405090304" pitchFamily="18" charset="0"/>
              <a:ea typeface="黑体" panose="02010609060101010101" pitchFamily="49" charset="-122"/>
            </a:endParaRPr>
          </a:p>
        </p:txBody>
      </p:sp>
      <p:sp>
        <p:nvSpPr>
          <p:cNvPr id="59397" name="Rectangle 5"/>
          <p:cNvSpPr>
            <a:spLocks noChangeArrowheads="1"/>
          </p:cNvSpPr>
          <p:nvPr/>
        </p:nvSpPr>
        <p:spPr bwMode="auto">
          <a:xfrm>
            <a:off x="323850" y="2428875"/>
            <a:ext cx="8640763" cy="1579563"/>
          </a:xfrm>
          <a:prstGeom prst="rect">
            <a:avLst/>
          </a:prstGeom>
          <a:noFill/>
          <a:ln w="9525" algn="ctr">
            <a:noFill/>
            <a:miter lim="800000"/>
          </a:ln>
        </p:spPr>
        <p:txBody>
          <a:bodyPr>
            <a:spAutoFit/>
          </a:bodyPr>
          <a:lstStyle/>
          <a:p>
            <a:pPr marL="4394200" marR="0" lvl="0" indent="-43942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zh-CN" altLang="en-US" sz="2300" b="0" i="0" u="none" strike="noStrike" kern="1200" cap="none" spc="0" normalizeH="0" baseline="0" noProof="0" dirty="0">
                <a:ln>
                  <a:noFill/>
                </a:ln>
                <a:solidFill>
                  <a:srgbClr val="3333CC"/>
                </a:solidFill>
                <a:effectLst/>
                <a:uLnTx/>
                <a:uFillTx/>
                <a:latin typeface="Times New Roman" panose="02020503050405090304" pitchFamily="18" charset="0"/>
                <a:ea typeface="黑体" panose="02010609060101010101" pitchFamily="49" charset="-122"/>
                <a:cs typeface="+mn-cs"/>
              </a:rPr>
              <a:t>即：</a:t>
            </a:r>
            <a:r>
              <a:rPr kumimoji="0" lang="en-US" altLang="zh-CN" sz="2300" b="0" i="0" u="none" strike="noStrike" kern="1200" cap="none" spc="0" normalizeH="0" baseline="0" noProof="0" dirty="0">
                <a:ln>
                  <a:noFill/>
                </a:ln>
                <a:solidFill>
                  <a:srgbClr val="3333CC"/>
                </a:solidFill>
                <a:effectLst/>
                <a:uLnTx/>
                <a:uFillTx/>
                <a:latin typeface="Times New Roman" panose="02020503050405090304" pitchFamily="18" charset="0"/>
                <a:ea typeface="黑体" panose="02010609060101010101" pitchFamily="49" charset="-122"/>
                <a:cs typeface="+mn-cs"/>
              </a:rPr>
              <a:t>CPU</a:t>
            </a:r>
            <a:r>
              <a:rPr kumimoji="0" lang="zh-CN" altLang="en-US" sz="2300" b="0" i="0" u="none" strike="noStrike" kern="1200" cap="none" spc="0" normalizeH="0" baseline="0" noProof="0" dirty="0">
                <a:ln>
                  <a:noFill/>
                </a:ln>
                <a:solidFill>
                  <a:srgbClr val="3333CC"/>
                </a:solidFill>
                <a:effectLst/>
                <a:uLnTx/>
                <a:uFillTx/>
                <a:latin typeface="Times New Roman" panose="02020503050405090304" pitchFamily="18" charset="0"/>
                <a:ea typeface="黑体" panose="02010609060101010101" pitchFamily="49" charset="-122"/>
                <a:cs typeface="+mn-cs"/>
              </a:rPr>
              <a:t>操作：</a:t>
            </a:r>
            <a:r>
              <a:rPr kumimoji="0" lang="en-US" altLang="zh-CN" sz="2300" b="0" i="0" u="none" strike="noStrike" kern="1200" cap="none" spc="0" normalizeH="0" baseline="0" noProof="0" dirty="0">
                <a:ln>
                  <a:noFill/>
                </a:ln>
                <a:solidFill>
                  <a:srgbClr val="3333CC"/>
                </a:solidFill>
                <a:effectLst/>
                <a:uLnTx/>
                <a:uFillTx/>
                <a:latin typeface="Times New Roman" panose="02020503050405090304" pitchFamily="18" charset="0"/>
                <a:ea typeface="仿宋_GB2312" pitchFamily="49" charset="-122"/>
                <a:cs typeface="+mn-cs"/>
              </a:rPr>
              <a:t>(</a:t>
            </a:r>
            <a:r>
              <a:rPr kumimoji="0" lang="en-US" altLang="zh-CN" sz="2300" b="1" i="0" u="none" strike="noStrike" kern="1200" cap="none" spc="0" normalizeH="0" baseline="0" noProof="0" dirty="0">
                <a:ln>
                  <a:noFill/>
                </a:ln>
                <a:solidFill>
                  <a:schemeClr val="tx1"/>
                </a:solidFill>
                <a:effectLst/>
                <a:uLnTx/>
                <a:uFillTx/>
                <a:latin typeface="Times New Roman" panose="02020503050405090304" pitchFamily="18" charset="0"/>
                <a:ea typeface="仿宋_GB2312" pitchFamily="49" charset="-122"/>
                <a:cs typeface="+mn-cs"/>
              </a:rPr>
              <a:t> </a:t>
            </a:r>
            <a:r>
              <a:rPr kumimoji="0" lang="en-US" altLang="zh-CN" sz="2300" b="0" i="0" u="none" strike="noStrike" kern="1200" cap="none" spc="0" normalizeH="0" baseline="0" noProof="0" dirty="0">
                <a:ln>
                  <a:noFill/>
                </a:ln>
                <a:solidFill>
                  <a:srgbClr val="3333CC"/>
                </a:solidFill>
                <a:effectLst/>
                <a:uLnTx/>
                <a:uFillTx/>
                <a:latin typeface="Times New Roman" panose="02020503050405090304" pitchFamily="18" charset="0"/>
                <a:ea typeface="黑体" panose="02010609060101010101" pitchFamily="49" charset="-122"/>
                <a:cs typeface="+mn-cs"/>
              </a:rPr>
              <a:t>(SP) </a:t>
            </a:r>
            <a:r>
              <a:rPr kumimoji="0" lang="en-US" altLang="zh-CN" sz="2300" b="0" i="0" u="none" strike="noStrike" kern="1200" cap="none" spc="0" normalizeH="0" baseline="0" noProof="0" dirty="0">
                <a:ln>
                  <a:noFill/>
                </a:ln>
                <a:solidFill>
                  <a:srgbClr val="3333CC"/>
                </a:solidFill>
                <a:effectLst/>
                <a:uLnTx/>
                <a:uFillTx/>
                <a:latin typeface="Times New Roman" panose="02020503050405090304" pitchFamily="18" charset="0"/>
                <a:ea typeface="仿宋_GB2312" pitchFamily="49" charset="-122"/>
                <a:cs typeface="+mn-cs"/>
              </a:rPr>
              <a:t>)</a:t>
            </a:r>
            <a:r>
              <a:rPr kumimoji="0" lang="en-US" altLang="zh-CN" sz="2300" b="0" i="0" u="none" strike="noStrike" kern="1200" cap="none" spc="0" normalizeH="0" baseline="0" noProof="0" dirty="0">
                <a:ln>
                  <a:noFill/>
                </a:ln>
                <a:solidFill>
                  <a:srgbClr val="3333CC"/>
                </a:solidFill>
                <a:effectLst/>
                <a:uLnTx/>
                <a:uFillTx/>
                <a:latin typeface="Times New Roman" panose="02020503050405090304" pitchFamily="18" charset="0"/>
                <a:ea typeface="黑体" panose="02010609060101010101" pitchFamily="49" charset="-122"/>
                <a:cs typeface="+mn-cs"/>
              </a:rPr>
              <a:t> </a:t>
            </a:r>
            <a:r>
              <a:rPr kumimoji="0" lang="en-US" altLang="zh-CN" sz="2300" b="0" i="0" u="none" strike="noStrike" kern="1200" cap="none" spc="0" normalizeH="0" baseline="0" noProof="0" dirty="0">
                <a:ln>
                  <a:noFill/>
                </a:ln>
                <a:solidFill>
                  <a:schemeClr val="folHlink"/>
                </a:solidFill>
                <a:effectLst/>
                <a:uLnTx/>
                <a:uFillTx/>
                <a:latin typeface="Times New Roman" panose="02020503050405090304" pitchFamily="18" charset="0"/>
                <a:ea typeface="仿宋_GB2312" pitchFamily="49" charset="-122"/>
                <a:cs typeface="+mn-cs"/>
                <a:sym typeface="Wingdings" panose="05000000000000000000" pitchFamily="2" charset="2"/>
              </a:rPr>
              <a:t></a:t>
            </a:r>
            <a:r>
              <a:rPr kumimoji="0" lang="en-US" altLang="zh-CN" sz="2300" b="0" i="0" u="none" strike="noStrike" kern="1200" cap="none" spc="0" normalizeH="0" baseline="0" noProof="0" dirty="0">
                <a:ln>
                  <a:noFill/>
                </a:ln>
                <a:solidFill>
                  <a:srgbClr val="3333CC"/>
                </a:solidFill>
                <a:effectLst/>
                <a:uLnTx/>
                <a:uFillTx/>
                <a:latin typeface="Times New Roman" panose="02020503050405090304" pitchFamily="18" charset="0"/>
                <a:ea typeface="黑体" panose="02010609060101010101" pitchFamily="49" charset="-122"/>
                <a:cs typeface="+mn-cs"/>
              </a:rPr>
              <a:t> (direct),  </a:t>
            </a:r>
            <a:r>
              <a:rPr kumimoji="0" lang="zh-CN" altLang="en-US" sz="2300" b="1" i="0" u="none" strike="noStrike" kern="1200" cap="none" spc="0" normalizeH="0" baseline="0" noProof="0" dirty="0">
                <a:ln>
                  <a:noFill/>
                </a:ln>
                <a:solidFill>
                  <a:srgbClr val="FF3300"/>
                </a:solidFill>
                <a:effectLst/>
                <a:uLnTx/>
                <a:uFillTx/>
                <a:latin typeface="Times New Roman" panose="02020503050405090304" pitchFamily="18" charset="0"/>
                <a:ea typeface="黑体" panose="02010609060101010101" pitchFamily="49" charset="-122"/>
                <a:cs typeface="+mn-cs"/>
              </a:rPr>
              <a:t>出栈，把堆栈中由（</a:t>
            </a:r>
            <a:r>
              <a:rPr kumimoji="0" lang="en-US" altLang="zh-CN" sz="2300" b="1" i="0" u="none" strike="noStrike" kern="1200" cap="none" spc="0" normalizeH="0" baseline="0" noProof="0" dirty="0">
                <a:ln>
                  <a:noFill/>
                </a:ln>
                <a:solidFill>
                  <a:srgbClr val="FF3300"/>
                </a:solidFill>
                <a:effectLst/>
                <a:uLnTx/>
                <a:uFillTx/>
                <a:latin typeface="Times New Roman" panose="02020503050405090304" pitchFamily="18" charset="0"/>
                <a:ea typeface="黑体" panose="02010609060101010101" pitchFamily="49" charset="-122"/>
                <a:cs typeface="+mn-cs"/>
              </a:rPr>
              <a:t>SP</a:t>
            </a:r>
            <a:r>
              <a:rPr kumimoji="0" lang="zh-CN" altLang="en-US" sz="2300" b="1" i="0" u="none" strike="noStrike" kern="1200" cap="none" spc="0" normalizeH="0" baseline="0" noProof="0" dirty="0">
                <a:ln>
                  <a:noFill/>
                </a:ln>
                <a:solidFill>
                  <a:srgbClr val="FF3300"/>
                </a:solidFill>
                <a:effectLst/>
                <a:uLnTx/>
                <a:uFillTx/>
                <a:latin typeface="Times New Roman" panose="02020503050405090304" pitchFamily="18" charset="0"/>
                <a:ea typeface="黑体" panose="02010609060101010101" pitchFamily="49" charset="-122"/>
                <a:cs typeface="+mn-cs"/>
              </a:rPr>
              <a:t>）所指　　　　　                         单元的内容传送到指定单元               </a:t>
            </a:r>
            <a:r>
              <a:rPr kumimoji="0" lang="en-US" altLang="zh-CN" sz="2300" b="1" i="0" u="none" strike="noStrike" kern="1200" cap="none" spc="0" normalizeH="0" baseline="0" noProof="0" dirty="0">
                <a:ln>
                  <a:noFill/>
                </a:ln>
                <a:solidFill>
                  <a:srgbClr val="FF3300"/>
                </a:solidFill>
                <a:effectLst/>
                <a:uLnTx/>
                <a:uFillTx/>
                <a:latin typeface="Times New Roman" panose="02020503050405090304" pitchFamily="18" charset="0"/>
                <a:ea typeface="黑体" panose="02010609060101010101" pitchFamily="49" charset="-122"/>
                <a:cs typeface="+mn-cs"/>
              </a:rPr>
              <a:t>direct</a:t>
            </a:r>
            <a:r>
              <a:rPr kumimoji="0" lang="zh-CN" altLang="en-US" sz="2300" b="1" i="0" u="none" strike="noStrike" kern="1200" cap="none" spc="0" normalizeH="0" baseline="0" noProof="0" dirty="0">
                <a:ln>
                  <a:noFill/>
                </a:ln>
                <a:solidFill>
                  <a:srgbClr val="FF3300"/>
                </a:solidFill>
                <a:effectLst/>
                <a:uLnTx/>
                <a:uFillTx/>
                <a:latin typeface="Times New Roman" panose="02020503050405090304" pitchFamily="18" charset="0"/>
                <a:ea typeface="黑体" panose="02010609060101010101" pitchFamily="49" charset="-122"/>
                <a:cs typeface="+mn-cs"/>
              </a:rPr>
              <a:t>。</a:t>
            </a:r>
            <a:endParaRPr kumimoji="0" lang="zh-CN" altLang="en-US" sz="2300" b="1" i="0" u="none" strike="noStrike" kern="1200" cap="none" spc="0" normalizeH="0" baseline="0" noProof="0" dirty="0">
              <a:ln>
                <a:noFill/>
              </a:ln>
              <a:solidFill>
                <a:srgbClr val="FF3300"/>
              </a:solidFill>
              <a:effectLst/>
              <a:uLnTx/>
              <a:uFillTx/>
              <a:latin typeface="Times New Roman" panose="02020503050405090304" pitchFamily="18" charset="0"/>
              <a:ea typeface="黑体" panose="02010609060101010101" pitchFamily="49" charset="-122"/>
              <a:cs typeface="+mn-cs"/>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zh-CN" altLang="en-US" sz="2300" b="0" i="0" u="none" strike="noStrike" kern="1200" cap="none" spc="0" normalizeH="0" baseline="0" noProof="0" dirty="0">
                <a:ln>
                  <a:noFill/>
                </a:ln>
                <a:solidFill>
                  <a:srgbClr val="3333CC"/>
                </a:solidFill>
                <a:effectLst/>
                <a:uLnTx/>
                <a:uFillTx/>
                <a:latin typeface="Times New Roman" panose="02020503050405090304" pitchFamily="18" charset="0"/>
                <a:ea typeface="黑体" panose="02010609060101010101" pitchFamily="49" charset="-122"/>
                <a:cs typeface="+mn-cs"/>
              </a:rPr>
              <a:t>　                        </a:t>
            </a:r>
            <a:r>
              <a:rPr kumimoji="0" lang="en-US" altLang="zh-CN" sz="2300" b="0" i="0" u="none" strike="noStrike" kern="1200" cap="none" spc="0" normalizeH="0" baseline="0" noProof="0" dirty="0">
                <a:ln>
                  <a:noFill/>
                </a:ln>
                <a:solidFill>
                  <a:srgbClr val="3333CC"/>
                </a:solidFill>
                <a:effectLst/>
                <a:uLnTx/>
                <a:uFillTx/>
                <a:latin typeface="Times New Roman" panose="02020503050405090304" pitchFamily="18" charset="0"/>
                <a:ea typeface="黑体" panose="02010609060101010101" pitchFamily="49" charset="-122"/>
                <a:cs typeface="+mn-cs"/>
              </a:rPr>
              <a:t>(SP)</a:t>
            </a:r>
            <a:r>
              <a:rPr kumimoji="0" lang="zh-CN" altLang="en-US" sz="2300" b="0" i="0" u="none" strike="noStrike" kern="1200" cap="none" spc="0" normalizeH="0" baseline="0" noProof="0" dirty="0">
                <a:ln>
                  <a:noFill/>
                </a:ln>
                <a:solidFill>
                  <a:srgbClr val="3333CC"/>
                </a:solidFill>
                <a:effectLst/>
                <a:uLnTx/>
                <a:uFillTx/>
                <a:latin typeface="Times New Roman" panose="02020503050405090304" pitchFamily="18" charset="0"/>
                <a:ea typeface="黑体" panose="02010609060101010101" pitchFamily="49" charset="-122"/>
                <a:cs typeface="+mn-cs"/>
              </a:rPr>
              <a:t>－</a:t>
            </a:r>
            <a:r>
              <a:rPr kumimoji="0" lang="en-US" altLang="zh-CN" sz="2300" b="0" i="0" u="none" strike="noStrike" kern="1200" cap="none" spc="0" normalizeH="0" baseline="0" noProof="0" dirty="0">
                <a:ln>
                  <a:noFill/>
                </a:ln>
                <a:solidFill>
                  <a:srgbClr val="3333CC"/>
                </a:solidFill>
                <a:effectLst/>
                <a:uLnTx/>
                <a:uFillTx/>
                <a:latin typeface="Times New Roman" panose="02020503050405090304" pitchFamily="18" charset="0"/>
                <a:ea typeface="黑体" panose="02010609060101010101" pitchFamily="49" charset="-122"/>
                <a:cs typeface="+mn-cs"/>
              </a:rPr>
              <a:t>1 </a:t>
            </a:r>
            <a:r>
              <a:rPr kumimoji="0" lang="en-US" altLang="zh-CN" sz="2300" b="0" i="0" u="none" strike="noStrike" kern="1200" cap="none" spc="0" normalizeH="0" baseline="0" noProof="0" dirty="0">
                <a:ln>
                  <a:noFill/>
                </a:ln>
                <a:solidFill>
                  <a:schemeClr val="folHlink"/>
                </a:solidFill>
                <a:effectLst/>
                <a:uLnTx/>
                <a:uFillTx/>
                <a:latin typeface="Times New Roman" panose="02020503050405090304" pitchFamily="18" charset="0"/>
                <a:ea typeface="仿宋_GB2312" pitchFamily="49" charset="-122"/>
                <a:cs typeface="+mn-cs"/>
                <a:sym typeface="Wingdings" panose="05000000000000000000" pitchFamily="2" charset="2"/>
              </a:rPr>
              <a:t></a:t>
            </a:r>
            <a:r>
              <a:rPr kumimoji="0" lang="en-US" altLang="zh-CN" sz="2300" b="0" i="0" u="none" strike="noStrike" kern="1200" cap="none" spc="0" normalizeH="0" baseline="0" noProof="0" dirty="0">
                <a:ln>
                  <a:noFill/>
                </a:ln>
                <a:solidFill>
                  <a:srgbClr val="3333CC"/>
                </a:solidFill>
                <a:effectLst/>
                <a:uLnTx/>
                <a:uFillTx/>
                <a:latin typeface="Times New Roman" panose="02020503050405090304" pitchFamily="18" charset="0"/>
                <a:ea typeface="黑体" panose="02010609060101010101" pitchFamily="49" charset="-122"/>
                <a:cs typeface="+mn-cs"/>
              </a:rPr>
              <a:t> SP</a:t>
            </a:r>
            <a:r>
              <a:rPr kumimoji="0" lang="zh-CN" altLang="en-US" sz="2300" b="0" i="0" u="none" strike="noStrike" kern="1200" cap="none" spc="0" normalizeH="0" baseline="0" noProof="0" dirty="0">
                <a:ln>
                  <a:noFill/>
                </a:ln>
                <a:solidFill>
                  <a:srgbClr val="3333CC"/>
                </a:solidFill>
                <a:effectLst/>
                <a:uLnTx/>
                <a:uFillTx/>
                <a:latin typeface="Times New Roman" panose="02020503050405090304" pitchFamily="18" charset="0"/>
                <a:ea typeface="黑体" panose="02010609060101010101" pitchFamily="49" charset="-122"/>
                <a:cs typeface="+mn-cs"/>
              </a:rPr>
              <a:t>，     </a:t>
            </a:r>
            <a:r>
              <a:rPr kumimoji="0" lang="zh-CN" altLang="en-US" sz="2300" b="1" i="0" u="none" strike="noStrike" kern="1200" cap="none" spc="0" normalizeH="0" baseline="0" noProof="0" dirty="0">
                <a:ln>
                  <a:noFill/>
                </a:ln>
                <a:solidFill>
                  <a:srgbClr val="FF3300"/>
                </a:solidFill>
                <a:effectLst/>
                <a:uLnTx/>
                <a:uFillTx/>
                <a:latin typeface="Times New Roman" panose="02020503050405090304" pitchFamily="18" charset="0"/>
                <a:ea typeface="黑体" panose="02010609060101010101" pitchFamily="49" charset="-122"/>
                <a:cs typeface="+mn-cs"/>
              </a:rPr>
              <a:t>修改堆栈指针</a:t>
            </a:r>
            <a:endParaRPr kumimoji="0" lang="zh-CN" altLang="en-US" sz="2300" b="0" i="0" u="none" strike="noStrike" kern="1200" cap="none" spc="0" normalizeH="0" baseline="0" noProof="0" dirty="0">
              <a:ln>
                <a:noFill/>
              </a:ln>
              <a:solidFill>
                <a:srgbClr val="3333CC"/>
              </a:solidFill>
              <a:effectLst/>
              <a:uLnTx/>
              <a:uFillTx/>
              <a:latin typeface="Times New Roman" panose="02020503050405090304" pitchFamily="18" charset="0"/>
              <a:ea typeface="黑体" panose="02010609060101010101" pitchFamily="49" charset="-122"/>
              <a:cs typeface="+mn-cs"/>
            </a:endParaRPr>
          </a:p>
        </p:txBody>
      </p:sp>
      <p:grpSp>
        <p:nvGrpSpPr>
          <p:cNvPr id="2" name="Group 32"/>
          <p:cNvGrpSpPr/>
          <p:nvPr/>
        </p:nvGrpSpPr>
        <p:grpSpPr>
          <a:xfrm>
            <a:off x="5476875" y="4311650"/>
            <a:ext cx="711200" cy="530225"/>
            <a:chOff x="3519" y="2301"/>
            <a:chExt cx="448" cy="334"/>
          </a:xfrm>
        </p:grpSpPr>
        <p:sp>
          <p:nvSpPr>
            <p:cNvPr id="88070" name="Rectangle 33"/>
            <p:cNvSpPr/>
            <p:nvPr/>
          </p:nvSpPr>
          <p:spPr>
            <a:xfrm>
              <a:off x="3519" y="2301"/>
              <a:ext cx="448" cy="165"/>
            </a:xfrm>
            <a:prstGeom prst="rect">
              <a:avLst/>
            </a:prstGeom>
            <a:noFill/>
            <a:ln w="9525">
              <a:noFill/>
            </a:ln>
          </p:spPr>
          <p:txBody>
            <a:bodyPr wrap="none" anchor="ctr" anchorCtr="0"/>
            <a:p>
              <a:pPr algn="ctr">
                <a:buClrTx/>
                <a:buFontTx/>
              </a:pPr>
              <a:r>
                <a:rPr lang="en-US" altLang="zh-CN" sz="1400" b="0" dirty="0">
                  <a:latin typeface="Times New Roman" panose="02020503050405090304" pitchFamily="18" charset="0"/>
                  <a:ea typeface="宋体" pitchFamily="2" charset="-122"/>
                </a:rPr>
                <a:t>60</a:t>
              </a:r>
              <a:endParaRPr lang="en-US" altLang="zh-CN" sz="1400" b="0" dirty="0">
                <a:latin typeface="Times New Roman" panose="02020503050405090304" pitchFamily="18" charset="0"/>
                <a:ea typeface="宋体" pitchFamily="2" charset="-122"/>
              </a:endParaRPr>
            </a:p>
          </p:txBody>
        </p:sp>
        <p:sp>
          <p:nvSpPr>
            <p:cNvPr id="88071" name="Rectangle 34"/>
            <p:cNvSpPr/>
            <p:nvPr/>
          </p:nvSpPr>
          <p:spPr>
            <a:xfrm>
              <a:off x="3519" y="2470"/>
              <a:ext cx="448" cy="165"/>
            </a:xfrm>
            <a:prstGeom prst="rect">
              <a:avLst/>
            </a:prstGeom>
            <a:noFill/>
            <a:ln w="9525">
              <a:noFill/>
            </a:ln>
          </p:spPr>
          <p:txBody>
            <a:bodyPr wrap="none" anchor="ctr" anchorCtr="0"/>
            <a:p>
              <a:pPr algn="ctr">
                <a:buClrTx/>
                <a:buFontTx/>
              </a:pPr>
              <a:r>
                <a:rPr lang="en-US" altLang="zh-CN" sz="1400" b="0" dirty="0">
                  <a:latin typeface="Times New Roman" panose="02020503050405090304" pitchFamily="18" charset="0"/>
                  <a:ea typeface="宋体" pitchFamily="2" charset="-122"/>
                </a:rPr>
                <a:t>61</a:t>
              </a:r>
              <a:endParaRPr lang="en-US" altLang="zh-CN" sz="1400" b="0" dirty="0">
                <a:latin typeface="Times New Roman" panose="02020503050405090304" pitchFamily="18" charset="0"/>
                <a:ea typeface="宋体" pitchFamily="2" charset="-122"/>
              </a:endParaRPr>
            </a:p>
          </p:txBody>
        </p:sp>
      </p:grpSp>
      <p:grpSp>
        <p:nvGrpSpPr>
          <p:cNvPr id="3" name="Group 35"/>
          <p:cNvGrpSpPr/>
          <p:nvPr/>
        </p:nvGrpSpPr>
        <p:grpSpPr>
          <a:xfrm>
            <a:off x="5781675" y="4319588"/>
            <a:ext cx="1187450" cy="2100262"/>
            <a:chOff x="4735" y="2646"/>
            <a:chExt cx="748" cy="1323"/>
          </a:xfrm>
        </p:grpSpPr>
        <p:sp>
          <p:nvSpPr>
            <p:cNvPr id="88073" name="Rectangle 36"/>
            <p:cNvSpPr/>
            <p:nvPr/>
          </p:nvSpPr>
          <p:spPr>
            <a:xfrm>
              <a:off x="4735" y="3492"/>
              <a:ext cx="262" cy="165"/>
            </a:xfrm>
            <a:prstGeom prst="rect">
              <a:avLst/>
            </a:prstGeom>
            <a:noFill/>
            <a:ln w="9525">
              <a:noFill/>
            </a:ln>
          </p:spPr>
          <p:txBody>
            <a:bodyPr wrap="none" anchor="ctr" anchorCtr="0"/>
            <a:p>
              <a:pPr algn="ctr">
                <a:buClrTx/>
                <a:buFontTx/>
              </a:pPr>
              <a:r>
                <a:rPr lang="en-US" altLang="zh-CN" sz="1400" b="0" dirty="0">
                  <a:latin typeface="Times New Roman" panose="02020503050405090304" pitchFamily="18" charset="0"/>
                  <a:ea typeface="宋体" pitchFamily="2" charset="-122"/>
                </a:rPr>
                <a:t>70</a:t>
              </a:r>
              <a:endParaRPr lang="en-US" altLang="zh-CN" sz="1400" b="0" dirty="0">
                <a:latin typeface="Times New Roman" panose="02020503050405090304" pitchFamily="18" charset="0"/>
                <a:ea typeface="宋体" pitchFamily="2" charset="-122"/>
              </a:endParaRPr>
            </a:p>
          </p:txBody>
        </p:sp>
        <p:sp>
          <p:nvSpPr>
            <p:cNvPr id="88074" name="Rectangle 37"/>
            <p:cNvSpPr/>
            <p:nvPr/>
          </p:nvSpPr>
          <p:spPr>
            <a:xfrm>
              <a:off x="4741" y="3636"/>
              <a:ext cx="262" cy="165"/>
            </a:xfrm>
            <a:prstGeom prst="rect">
              <a:avLst/>
            </a:prstGeom>
            <a:noFill/>
            <a:ln w="9525">
              <a:noFill/>
            </a:ln>
          </p:spPr>
          <p:txBody>
            <a:bodyPr wrap="none" anchor="ctr" anchorCtr="0"/>
            <a:p>
              <a:pPr algn="ctr">
                <a:buClrTx/>
                <a:buFontTx/>
              </a:pPr>
              <a:r>
                <a:rPr lang="en-US" altLang="zh-CN" sz="1400" b="0" dirty="0">
                  <a:latin typeface="Times New Roman" panose="02020503050405090304" pitchFamily="18" charset="0"/>
                  <a:ea typeface="宋体" pitchFamily="2" charset="-122"/>
                </a:rPr>
                <a:t>71</a:t>
              </a:r>
              <a:endParaRPr lang="en-US" altLang="zh-CN" sz="1400" b="0" dirty="0">
                <a:latin typeface="Times New Roman" panose="02020503050405090304" pitchFamily="18" charset="0"/>
                <a:ea typeface="宋体" pitchFamily="2" charset="-122"/>
              </a:endParaRPr>
            </a:p>
          </p:txBody>
        </p:sp>
        <p:sp>
          <p:nvSpPr>
            <p:cNvPr id="88075" name="Rectangle 38"/>
            <p:cNvSpPr/>
            <p:nvPr/>
          </p:nvSpPr>
          <p:spPr>
            <a:xfrm>
              <a:off x="4741" y="3804"/>
              <a:ext cx="262" cy="165"/>
            </a:xfrm>
            <a:prstGeom prst="rect">
              <a:avLst/>
            </a:prstGeom>
            <a:noFill/>
            <a:ln w="9525">
              <a:noFill/>
            </a:ln>
          </p:spPr>
          <p:txBody>
            <a:bodyPr wrap="none" anchor="ctr" anchorCtr="0"/>
            <a:p>
              <a:pPr algn="ctr">
                <a:buClrTx/>
                <a:buFontTx/>
              </a:pPr>
              <a:r>
                <a:rPr lang="en-US" altLang="zh-CN" sz="1400" b="0" dirty="0">
                  <a:latin typeface="Times New Roman" panose="02020503050405090304" pitchFamily="18" charset="0"/>
                  <a:ea typeface="宋体" pitchFamily="2" charset="-122"/>
                </a:rPr>
                <a:t>72</a:t>
              </a:r>
              <a:endParaRPr lang="en-US" altLang="zh-CN" sz="1400" b="0" dirty="0">
                <a:latin typeface="Times New Roman" panose="02020503050405090304" pitchFamily="18" charset="0"/>
                <a:ea typeface="宋体" pitchFamily="2" charset="-122"/>
              </a:endParaRPr>
            </a:p>
          </p:txBody>
        </p:sp>
        <p:sp>
          <p:nvSpPr>
            <p:cNvPr id="88076" name="Rectangle 39"/>
            <p:cNvSpPr/>
            <p:nvPr/>
          </p:nvSpPr>
          <p:spPr>
            <a:xfrm>
              <a:off x="5035" y="2646"/>
              <a:ext cx="448" cy="1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400" b="0" dirty="0">
                  <a:latin typeface="Times New Roman" panose="02020503050405090304" pitchFamily="18" charset="0"/>
                  <a:ea typeface="宋体" pitchFamily="2" charset="-122"/>
                </a:rPr>
                <a:t>A8</a:t>
              </a:r>
              <a:endParaRPr lang="en-US" altLang="zh-CN" sz="1400" b="0" dirty="0">
                <a:latin typeface="Times New Roman" panose="02020503050405090304" pitchFamily="18" charset="0"/>
                <a:ea typeface="宋体" pitchFamily="2" charset="-122"/>
              </a:endParaRPr>
            </a:p>
          </p:txBody>
        </p:sp>
        <p:sp>
          <p:nvSpPr>
            <p:cNvPr id="88077" name="Rectangle 40"/>
            <p:cNvSpPr/>
            <p:nvPr/>
          </p:nvSpPr>
          <p:spPr>
            <a:xfrm>
              <a:off x="5035" y="2815"/>
              <a:ext cx="448" cy="1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400" b="0" dirty="0">
                  <a:latin typeface="Times New Roman" panose="02020503050405090304" pitchFamily="18" charset="0"/>
                  <a:ea typeface="宋体" pitchFamily="2" charset="-122"/>
                </a:rPr>
                <a:t>69</a:t>
              </a:r>
              <a:endParaRPr lang="en-US" altLang="zh-CN" sz="1400" b="0" dirty="0">
                <a:latin typeface="Times New Roman" panose="02020503050405090304" pitchFamily="18" charset="0"/>
                <a:ea typeface="宋体" pitchFamily="2" charset="-122"/>
              </a:endParaRPr>
            </a:p>
          </p:txBody>
        </p:sp>
        <p:sp>
          <p:nvSpPr>
            <p:cNvPr id="88078" name="Rectangle 41"/>
            <p:cNvSpPr/>
            <p:nvPr/>
          </p:nvSpPr>
          <p:spPr>
            <a:xfrm>
              <a:off x="5035" y="2980"/>
              <a:ext cx="448" cy="1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88079" name="Rectangle 42"/>
            <p:cNvSpPr/>
            <p:nvPr/>
          </p:nvSpPr>
          <p:spPr>
            <a:xfrm>
              <a:off x="5035" y="3143"/>
              <a:ext cx="448" cy="1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88080" name="Rectangle 43"/>
            <p:cNvSpPr/>
            <p:nvPr/>
          </p:nvSpPr>
          <p:spPr>
            <a:xfrm>
              <a:off x="5035" y="3305"/>
              <a:ext cx="448" cy="1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88081" name="Rectangle 44"/>
            <p:cNvSpPr/>
            <p:nvPr/>
          </p:nvSpPr>
          <p:spPr>
            <a:xfrm>
              <a:off x="5035" y="3468"/>
              <a:ext cx="448" cy="1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400" b="0" dirty="0">
                  <a:latin typeface="Times New Roman" panose="02020503050405090304" pitchFamily="18" charset="0"/>
                  <a:ea typeface="宋体" pitchFamily="2" charset="-122"/>
                </a:rPr>
                <a:t>FE</a:t>
              </a:r>
              <a:endParaRPr lang="en-US" altLang="zh-CN" sz="1400" b="0" dirty="0">
                <a:latin typeface="Times New Roman" panose="02020503050405090304" pitchFamily="18" charset="0"/>
                <a:ea typeface="宋体" pitchFamily="2" charset="-122"/>
              </a:endParaRPr>
            </a:p>
          </p:txBody>
        </p:sp>
        <p:sp>
          <p:nvSpPr>
            <p:cNvPr id="88082" name="Rectangle 45"/>
            <p:cNvSpPr/>
            <p:nvPr/>
          </p:nvSpPr>
          <p:spPr>
            <a:xfrm>
              <a:off x="5035" y="3635"/>
              <a:ext cx="448" cy="1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solidFill>
                    <a:srgbClr val="FF3300"/>
                  </a:solidFill>
                  <a:latin typeface="Times New Roman" panose="02020503050405090304" pitchFamily="18" charset="0"/>
                  <a:ea typeface="宋体" pitchFamily="2" charset="-122"/>
                </a:rPr>
                <a:t>C6</a:t>
              </a:r>
              <a:endParaRPr lang="en-US" altLang="zh-CN" sz="2000" dirty="0">
                <a:solidFill>
                  <a:srgbClr val="FF3300"/>
                </a:solidFill>
                <a:latin typeface="Times New Roman" panose="02020503050405090304" pitchFamily="18" charset="0"/>
                <a:ea typeface="宋体" pitchFamily="2" charset="-122"/>
              </a:endParaRPr>
            </a:p>
          </p:txBody>
        </p:sp>
        <p:sp>
          <p:nvSpPr>
            <p:cNvPr id="88083" name="Rectangle 46"/>
            <p:cNvSpPr/>
            <p:nvPr/>
          </p:nvSpPr>
          <p:spPr>
            <a:xfrm>
              <a:off x="5035" y="3798"/>
              <a:ext cx="448" cy="1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400" b="0" dirty="0">
                  <a:latin typeface="Times New Roman" panose="02020503050405090304" pitchFamily="18" charset="0"/>
                  <a:ea typeface="宋体" pitchFamily="2" charset="-122"/>
                </a:rPr>
                <a:t>CA</a:t>
              </a:r>
              <a:endParaRPr lang="en-US" altLang="zh-CN" sz="1400" b="0" dirty="0">
                <a:latin typeface="Times New Roman" panose="02020503050405090304" pitchFamily="18" charset="0"/>
                <a:ea typeface="宋体" pitchFamily="2" charset="-122"/>
              </a:endParaRPr>
            </a:p>
          </p:txBody>
        </p:sp>
      </p:grpSp>
      <p:sp>
        <p:nvSpPr>
          <p:cNvPr id="163887" name="Rectangle 47"/>
          <p:cNvSpPr/>
          <p:nvPr/>
        </p:nvSpPr>
        <p:spPr>
          <a:xfrm>
            <a:off x="6296025" y="4005263"/>
            <a:ext cx="558800" cy="261937"/>
          </a:xfrm>
          <a:prstGeom prst="rect">
            <a:avLst/>
          </a:prstGeom>
          <a:noFill/>
          <a:ln w="9525">
            <a:noFill/>
          </a:ln>
        </p:spPr>
        <p:txBody>
          <a:bodyPr wrap="none" anchor="ctr" anchorCtr="0"/>
          <a:p>
            <a:pPr algn="ctr">
              <a:buClrTx/>
              <a:buFontTx/>
            </a:pPr>
            <a:r>
              <a:rPr lang="zh-CN" altLang="en-US" sz="1400" b="0" dirty="0">
                <a:latin typeface="Times New Roman" panose="02020503050405090304" pitchFamily="18" charset="0"/>
                <a:ea typeface="黑体" panose="02010609060101010101" pitchFamily="49" charset="-122"/>
              </a:rPr>
              <a:t>片内</a:t>
            </a:r>
            <a:r>
              <a:rPr lang="en-US" altLang="zh-CN" sz="1400" b="0" dirty="0">
                <a:latin typeface="Times New Roman" panose="02020503050405090304" pitchFamily="18" charset="0"/>
                <a:ea typeface="黑体" panose="02010609060101010101" pitchFamily="49" charset="-122"/>
              </a:rPr>
              <a:t>RAM</a:t>
            </a:r>
            <a:endParaRPr lang="en-US" altLang="zh-CN" sz="1400" b="0" dirty="0">
              <a:latin typeface="Times New Roman" panose="02020503050405090304" pitchFamily="18" charset="0"/>
              <a:ea typeface="黑体" panose="02010609060101010101" pitchFamily="49" charset="-122"/>
            </a:endParaRPr>
          </a:p>
        </p:txBody>
      </p:sp>
      <p:grpSp>
        <p:nvGrpSpPr>
          <p:cNvPr id="4" name="Group 48"/>
          <p:cNvGrpSpPr/>
          <p:nvPr/>
        </p:nvGrpSpPr>
        <p:grpSpPr>
          <a:xfrm>
            <a:off x="5076825" y="5662613"/>
            <a:ext cx="808038" cy="261937"/>
            <a:chOff x="4291" y="1800"/>
            <a:chExt cx="509" cy="165"/>
          </a:xfrm>
        </p:grpSpPr>
        <p:sp>
          <p:nvSpPr>
            <p:cNvPr id="88086" name="Line 49"/>
            <p:cNvSpPr/>
            <p:nvPr/>
          </p:nvSpPr>
          <p:spPr>
            <a:xfrm>
              <a:off x="4554" y="1890"/>
              <a:ext cx="246" cy="0"/>
            </a:xfrm>
            <a:prstGeom prst="line">
              <a:avLst/>
            </a:prstGeom>
            <a:ln w="38100" cap="flat" cmpd="sng">
              <a:solidFill>
                <a:schemeClr val="tx1"/>
              </a:solidFill>
              <a:prstDash val="solid"/>
              <a:round/>
              <a:headEnd type="none" w="med" len="med"/>
              <a:tailEnd type="triangle" w="med" len="med"/>
            </a:ln>
          </p:spPr>
        </p:sp>
        <p:sp>
          <p:nvSpPr>
            <p:cNvPr id="88087" name="Rectangle 50"/>
            <p:cNvSpPr/>
            <p:nvPr/>
          </p:nvSpPr>
          <p:spPr>
            <a:xfrm>
              <a:off x="4291" y="1800"/>
              <a:ext cx="262" cy="165"/>
            </a:xfrm>
            <a:prstGeom prst="rect">
              <a:avLst/>
            </a:prstGeom>
            <a:noFill/>
            <a:ln w="9525">
              <a:noFill/>
            </a:ln>
          </p:spPr>
          <p:txBody>
            <a:bodyPr wrap="none" anchor="ctr" anchorCtr="0"/>
            <a:p>
              <a:pPr algn="ctr">
                <a:buClrTx/>
                <a:buFontTx/>
              </a:pPr>
              <a:r>
                <a:rPr lang="en-US" altLang="zh-CN" sz="1400" b="0" dirty="0">
                  <a:latin typeface="Times New Roman" panose="02020503050405090304" pitchFamily="18" charset="0"/>
                  <a:ea typeface="宋体" pitchFamily="2" charset="-122"/>
                </a:rPr>
                <a:t>(SP)</a:t>
              </a:r>
              <a:endParaRPr lang="en-US" altLang="zh-CN" sz="1400" b="0" dirty="0">
                <a:latin typeface="Times New Roman" panose="02020503050405090304" pitchFamily="18" charset="0"/>
                <a:ea typeface="宋体" pitchFamily="2" charset="-122"/>
              </a:endParaRPr>
            </a:p>
          </p:txBody>
        </p:sp>
      </p:grpSp>
      <p:grpSp>
        <p:nvGrpSpPr>
          <p:cNvPr id="5" name="Group 51"/>
          <p:cNvGrpSpPr/>
          <p:nvPr/>
        </p:nvGrpSpPr>
        <p:grpSpPr>
          <a:xfrm>
            <a:off x="5076825" y="5895975"/>
            <a:ext cx="808038" cy="261938"/>
            <a:chOff x="4291" y="1947"/>
            <a:chExt cx="509" cy="165"/>
          </a:xfrm>
        </p:grpSpPr>
        <p:sp>
          <p:nvSpPr>
            <p:cNvPr id="88089" name="Rectangle 52"/>
            <p:cNvSpPr/>
            <p:nvPr/>
          </p:nvSpPr>
          <p:spPr>
            <a:xfrm>
              <a:off x="4291" y="1947"/>
              <a:ext cx="262" cy="165"/>
            </a:xfrm>
            <a:prstGeom prst="rect">
              <a:avLst/>
            </a:prstGeom>
            <a:noFill/>
            <a:ln w="9525">
              <a:noFill/>
            </a:ln>
          </p:spPr>
          <p:txBody>
            <a:bodyPr wrap="none" anchor="ctr" anchorCtr="0"/>
            <a:p>
              <a:pPr algn="ctr">
                <a:buClrTx/>
                <a:buFontTx/>
              </a:pPr>
              <a:r>
                <a:rPr lang="en-US" altLang="zh-CN" sz="1400" b="0" dirty="0">
                  <a:latin typeface="Times New Roman" panose="02020503050405090304" pitchFamily="18" charset="0"/>
                  <a:ea typeface="宋体" pitchFamily="2" charset="-122"/>
                </a:rPr>
                <a:t>(SP)</a:t>
              </a:r>
              <a:endParaRPr lang="en-US" altLang="zh-CN" sz="1400" b="0" dirty="0">
                <a:latin typeface="Times New Roman" panose="02020503050405090304" pitchFamily="18" charset="0"/>
                <a:ea typeface="宋体" pitchFamily="2" charset="-122"/>
              </a:endParaRPr>
            </a:p>
          </p:txBody>
        </p:sp>
        <p:sp>
          <p:nvSpPr>
            <p:cNvPr id="88090" name="Line 53"/>
            <p:cNvSpPr/>
            <p:nvPr/>
          </p:nvSpPr>
          <p:spPr>
            <a:xfrm>
              <a:off x="4554" y="2034"/>
              <a:ext cx="246" cy="0"/>
            </a:xfrm>
            <a:prstGeom prst="line">
              <a:avLst/>
            </a:prstGeom>
            <a:ln w="38100" cap="flat" cmpd="sng">
              <a:solidFill>
                <a:schemeClr val="tx1"/>
              </a:solidFill>
              <a:prstDash val="solid"/>
              <a:round/>
              <a:headEnd type="none" w="med" len="med"/>
              <a:tailEnd type="triangle" w="med" len="med"/>
            </a:ln>
          </p:spPr>
        </p:sp>
      </p:grpSp>
      <p:sp>
        <p:nvSpPr>
          <p:cNvPr id="59403" name="AutoShape 54"/>
          <p:cNvSpPr/>
          <p:nvPr/>
        </p:nvSpPr>
        <p:spPr>
          <a:xfrm flipV="1">
            <a:off x="7078663" y="4094163"/>
            <a:ext cx="330200" cy="2139950"/>
          </a:xfrm>
          <a:prstGeom prst="curvedLeftArrow">
            <a:avLst>
              <a:gd name="adj1" fmla="val 129615"/>
              <a:gd name="adj2" fmla="val 259230"/>
              <a:gd name="adj3" fmla="val 33273"/>
            </a:avLst>
          </a:prstGeom>
          <a:solidFill>
            <a:schemeClr val="hlink"/>
          </a:solidFill>
          <a:ln w="9525" cap="flat" cmpd="sng">
            <a:solidFill>
              <a:schemeClr val="hlink"/>
            </a:solidFill>
            <a:prstDash val="solid"/>
            <a:miter/>
            <a:headEnd type="none" w="med" len="med"/>
            <a:tailEnd type="none" w="med" len="med"/>
          </a:ln>
        </p:spPr>
        <p:txBody>
          <a:bodyPr rot="10800000" wrap="none" anchor="ctr" anchorCtr="0"/>
          <a:p>
            <a:pPr algn="ctr">
              <a:buClrTx/>
              <a:buFontTx/>
            </a:pPr>
            <a:endParaRPr lang="zh-CN" altLang="en-US" sz="1400" b="0" dirty="0">
              <a:latin typeface="Times New Roman" panose="02020503050405090304" pitchFamily="18" charset="0"/>
              <a:ea typeface="宋体" pitchFamily="2" charset="-122"/>
            </a:endParaRPr>
          </a:p>
        </p:txBody>
      </p:sp>
      <p:sp>
        <p:nvSpPr>
          <p:cNvPr id="163895" name="Rectangle 55"/>
          <p:cNvSpPr/>
          <p:nvPr/>
        </p:nvSpPr>
        <p:spPr>
          <a:xfrm>
            <a:off x="6264275" y="4292600"/>
            <a:ext cx="704850" cy="266700"/>
          </a:xfrm>
          <a:prstGeom prst="rect">
            <a:avLst/>
          </a:prstGeom>
          <a:solidFill>
            <a:schemeClr val="bg1"/>
          </a:solidFill>
          <a:ln w="9525" cap="flat" cmpd="sng">
            <a:solidFill>
              <a:srgbClr val="FF0000"/>
            </a:solidFill>
            <a:prstDash val="solid"/>
            <a:miter/>
            <a:headEnd type="none" w="med" len="med"/>
            <a:tailEnd type="none" w="med" len="med"/>
          </a:ln>
        </p:spPr>
        <p:txBody>
          <a:bodyPr wrap="none" anchor="ctr" anchorCtr="0"/>
          <a:p>
            <a:pPr algn="ctr">
              <a:buClrTx/>
              <a:buFontTx/>
            </a:pPr>
            <a:r>
              <a:rPr lang="en-US" altLang="zh-CN" dirty="0">
                <a:solidFill>
                  <a:srgbClr val="FF3300"/>
                </a:solidFill>
                <a:latin typeface="Times New Roman" panose="02020503050405090304" pitchFamily="18" charset="0"/>
                <a:ea typeface="宋体" pitchFamily="2" charset="-122"/>
              </a:rPr>
              <a:t>C6</a:t>
            </a:r>
            <a:endParaRPr lang="en-US" altLang="zh-CN" dirty="0">
              <a:solidFill>
                <a:srgbClr val="FF3300"/>
              </a:solidFill>
              <a:latin typeface="Times New Roman" panose="02020503050405090304" pitchFamily="18"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3887"/>
                                        </p:tgtEl>
                                        <p:attrNameLst>
                                          <p:attrName>style.visibility</p:attrName>
                                        </p:attrNameLst>
                                      </p:cBhvr>
                                      <p:to>
                                        <p:strVal val="visible"/>
                                      </p:to>
                                    </p:set>
                                    <p:anim calcmode="lin" valueType="num">
                                      <p:cBhvr additive="base">
                                        <p:cTn id="13" dur="500" fill="hold"/>
                                        <p:tgtEl>
                                          <p:spTgt spid="163887"/>
                                        </p:tgtEl>
                                        <p:attrNameLst>
                                          <p:attrName>ppt_x</p:attrName>
                                        </p:attrNameLst>
                                      </p:cBhvr>
                                      <p:tavLst>
                                        <p:tav tm="0">
                                          <p:val>
                                            <p:strVal val="0-#ppt_w/2"/>
                                          </p:val>
                                        </p:tav>
                                        <p:tav tm="100000">
                                          <p:val>
                                            <p:strVal val="#ppt_x"/>
                                          </p:val>
                                        </p:tav>
                                      </p:tavLst>
                                    </p:anim>
                                    <p:anim calcmode="lin" valueType="num">
                                      <p:cBhvr additive="base">
                                        <p:cTn id="14" dur="500" fill="hold"/>
                                        <p:tgtEl>
                                          <p:spTgt spid="16388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0-#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0-#ppt_w/2"/>
                                          </p:val>
                                        </p:tav>
                                        <p:tav tm="100000">
                                          <p:val>
                                            <p:strVal val="#ppt_x"/>
                                          </p:val>
                                        </p:tav>
                                      </p:tavLst>
                                    </p:anim>
                                    <p:anim calcmode="lin" valueType="num">
                                      <p:cBhvr additive="base">
                                        <p:cTn id="26"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5940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6389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6" presetClass="entr" presetSubtype="42"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barn(outHorizontal)">
                                      <p:cBhvr>
                                        <p:cTn id="3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87" grpId="0"/>
      <p:bldP spid="59403" grpId="0" animBg="1"/>
      <p:bldP spid="163895"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idx="4294967295"/>
          </p:nvPr>
        </p:nvSpPr>
        <p:spPr>
          <a:xfrm>
            <a:off x="214313" y="214313"/>
            <a:ext cx="8763000" cy="609600"/>
          </a:xfrm>
        </p:spPr>
        <p:txBody>
          <a:bodyPr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6" name="Rectangle 3"/>
          <p:cNvSpPr/>
          <p:nvPr/>
        </p:nvSpPr>
        <p:spPr>
          <a:xfrm>
            <a:off x="179388" y="1000125"/>
            <a:ext cx="8653462" cy="1938338"/>
          </a:xfrm>
          <a:prstGeom prst="rect">
            <a:avLst/>
          </a:prstGeom>
          <a:noFill/>
          <a:ln w="9525">
            <a:noFill/>
          </a:ln>
        </p:spPr>
        <p:txBody>
          <a:bodyPr wrap="none" anchor="ctr" anchorCtr="0">
            <a:spAutoFit/>
          </a:bodyPr>
          <a:p>
            <a:pPr eaLnBrk="0" hangingPunct="0">
              <a:lnSpc>
                <a:spcPct val="120000"/>
              </a:lnSpc>
              <a:buBlip>
                <a:blip r:embed="rId1"/>
              </a:buBlip>
            </a:pPr>
            <a:r>
              <a:rPr lang="en-US" altLang="zh-CN" sz="2000" b="0" dirty="0">
                <a:latin typeface="Times New Roman" panose="02020503050405090304" pitchFamily="18" charset="0"/>
                <a:ea typeface="仿宋_GB2312" pitchFamily="49" charset="-122"/>
              </a:rPr>
              <a:t>MOV  SP,#6FH;</a:t>
            </a:r>
            <a:r>
              <a:rPr lang="zh-CN" altLang="en-US" sz="2000" b="0" dirty="0">
                <a:latin typeface="Times New Roman" panose="02020503050405090304" pitchFamily="18" charset="0"/>
                <a:ea typeface="仿宋_GB2312" pitchFamily="49" charset="-122"/>
              </a:rPr>
              <a:t>将堆栈设在</a:t>
            </a:r>
            <a:r>
              <a:rPr lang="en-US" altLang="zh-CN" sz="2000" b="0" dirty="0">
                <a:latin typeface="Times New Roman" panose="02020503050405090304" pitchFamily="18" charset="0"/>
                <a:ea typeface="仿宋_GB2312" pitchFamily="49" charset="-122"/>
              </a:rPr>
              <a:t>70H</a:t>
            </a:r>
            <a:r>
              <a:rPr lang="zh-CN" altLang="en-US" sz="2000" b="0" dirty="0">
                <a:latin typeface="Times New Roman" panose="02020503050405090304" pitchFamily="18" charset="0"/>
                <a:ea typeface="仿宋_GB2312" pitchFamily="49" charset="-122"/>
              </a:rPr>
              <a:t>以上</a:t>
            </a:r>
            <a:r>
              <a:rPr lang="en-US" altLang="zh-CN" sz="2000" b="0" dirty="0">
                <a:latin typeface="Times New Roman" panose="02020503050405090304" pitchFamily="18" charset="0"/>
                <a:ea typeface="仿宋_GB2312" pitchFamily="49" charset="-122"/>
              </a:rPr>
              <a:t>RAM</a:t>
            </a:r>
            <a:r>
              <a:rPr lang="zh-CN" altLang="en-US" sz="2000" b="0" dirty="0">
                <a:latin typeface="Times New Roman" panose="02020503050405090304" pitchFamily="18" charset="0"/>
                <a:ea typeface="仿宋_GB2312" pitchFamily="49" charset="-122"/>
              </a:rPr>
              <a:t>空间</a:t>
            </a:r>
            <a:endParaRPr lang="zh-CN" altLang="en-US" sz="2000" b="0" dirty="0">
              <a:latin typeface="Times New Roman" panose="02020503050405090304" pitchFamily="18" charset="0"/>
              <a:ea typeface="仿宋_GB2312" pitchFamily="49" charset="-122"/>
            </a:endParaRPr>
          </a:p>
          <a:p>
            <a:pPr eaLnBrk="0" hangingPunct="0">
              <a:lnSpc>
                <a:spcPct val="120000"/>
              </a:lnSpc>
              <a:buBlip>
                <a:blip r:embed="rId1"/>
              </a:buBlip>
            </a:pPr>
            <a:r>
              <a:rPr lang="en-US" altLang="zh-CN" sz="2000" b="0" dirty="0">
                <a:latin typeface="Times New Roman" panose="02020503050405090304" pitchFamily="18" charset="0"/>
                <a:ea typeface="仿宋_GB2312" pitchFamily="49" charset="-122"/>
              </a:rPr>
              <a:t>PUSH  40H   ;①</a:t>
            </a:r>
            <a:r>
              <a:rPr lang="zh-CN" altLang="en-US" sz="2000" b="0" dirty="0">
                <a:latin typeface="Times New Roman" panose="02020503050405090304" pitchFamily="18" charset="0"/>
                <a:ea typeface="仿宋_GB2312" pitchFamily="49" charset="-122"/>
              </a:rPr>
              <a:t> （</a:t>
            </a:r>
            <a:r>
              <a:rPr lang="en-US" altLang="zh-CN" sz="2000" b="0" dirty="0">
                <a:latin typeface="Times New Roman" panose="02020503050405090304" pitchFamily="18" charset="0"/>
                <a:ea typeface="仿宋_GB2312" pitchFamily="49" charset="-122"/>
              </a:rPr>
              <a:t>SP</a:t>
            </a:r>
            <a:r>
              <a:rPr lang="zh-CN" altLang="en-US" sz="2000" b="0" dirty="0">
                <a:latin typeface="Times New Roman" panose="02020503050405090304" pitchFamily="18" charset="0"/>
                <a:ea typeface="仿宋_GB2312" pitchFamily="49" charset="-122"/>
              </a:rPr>
              <a:t>）</a:t>
            </a:r>
            <a:r>
              <a:rPr lang="en-US" altLang="zh-CN" sz="2000" b="0" dirty="0">
                <a:latin typeface="Times New Roman" panose="02020503050405090304" pitchFamily="18" charset="0"/>
                <a:ea typeface="仿宋_GB2312" pitchFamily="49" charset="-122"/>
              </a:rPr>
              <a:t>=70H</a:t>
            </a:r>
            <a:r>
              <a:rPr lang="zh-CN" altLang="en-US" sz="2000" b="0" dirty="0">
                <a:latin typeface="Times New Roman" panose="02020503050405090304" pitchFamily="18" charset="0"/>
                <a:ea typeface="仿宋_GB2312" pitchFamily="49" charset="-122"/>
              </a:rPr>
              <a:t>，将</a:t>
            </a:r>
            <a:r>
              <a:rPr lang="en-US" altLang="zh-CN" sz="2000" b="0" dirty="0">
                <a:latin typeface="Times New Roman" panose="02020503050405090304" pitchFamily="18" charset="0"/>
                <a:ea typeface="仿宋_GB2312" pitchFamily="49" charset="-122"/>
              </a:rPr>
              <a:t>40H</a:t>
            </a:r>
            <a:r>
              <a:rPr lang="zh-CN" altLang="en-US" sz="2000" b="0" dirty="0">
                <a:latin typeface="Times New Roman" panose="02020503050405090304" pitchFamily="18" charset="0"/>
                <a:ea typeface="仿宋_GB2312" pitchFamily="49" charset="-122"/>
              </a:rPr>
              <a:t>单元的</a:t>
            </a:r>
            <a:r>
              <a:rPr lang="zh-CN" altLang="en-US" sz="2000" b="0" dirty="0">
                <a:latin typeface="Arial" panose="020B0604020202090204" pitchFamily="34" charset="0"/>
                <a:ea typeface="仿宋_GB2312" pitchFamily="49" charset="-122"/>
              </a:rPr>
              <a:t>“</a:t>
            </a:r>
            <a:r>
              <a:rPr lang="en-US" altLang="zh-CN" sz="2000" b="0" dirty="0">
                <a:latin typeface="Times New Roman" panose="02020503050405090304" pitchFamily="18" charset="0"/>
                <a:ea typeface="仿宋_GB2312" pitchFamily="49" charset="-122"/>
              </a:rPr>
              <a:t>23H</a:t>
            </a:r>
            <a:r>
              <a:rPr lang="en-US" altLang="zh-CN" sz="2000" b="0" dirty="0">
                <a:latin typeface="Arial" panose="020B0604020202090204" pitchFamily="34" charset="0"/>
                <a:ea typeface="仿宋_GB2312" pitchFamily="49" charset="-122"/>
              </a:rPr>
              <a:t>”</a:t>
            </a:r>
            <a:r>
              <a:rPr lang="zh-CN" altLang="en-US" sz="2000" b="0" dirty="0">
                <a:latin typeface="Times New Roman" panose="02020503050405090304" pitchFamily="18" charset="0"/>
                <a:ea typeface="仿宋_GB2312" pitchFamily="49" charset="-122"/>
              </a:rPr>
              <a:t>入栈</a:t>
            </a:r>
            <a:endParaRPr lang="en-US" altLang="zh-CN" sz="2000" b="0" dirty="0">
              <a:latin typeface="Times New Roman" panose="02020503050405090304" pitchFamily="18" charset="0"/>
              <a:ea typeface="仿宋_GB2312" pitchFamily="49" charset="-122"/>
            </a:endParaRPr>
          </a:p>
          <a:p>
            <a:pPr eaLnBrk="0" hangingPunct="0">
              <a:lnSpc>
                <a:spcPct val="120000"/>
              </a:lnSpc>
              <a:buBlip>
                <a:blip r:embed="rId1"/>
              </a:buBlip>
            </a:pPr>
            <a:r>
              <a:rPr lang="en-US" altLang="zh-CN" sz="2000" b="0" dirty="0">
                <a:latin typeface="Times New Roman" panose="02020503050405090304" pitchFamily="18" charset="0"/>
                <a:ea typeface="仿宋_GB2312" pitchFamily="49" charset="-122"/>
              </a:rPr>
              <a:t>PUSH  50H   ;②</a:t>
            </a:r>
            <a:r>
              <a:rPr lang="zh-CN" altLang="en-US" sz="2000" b="0" dirty="0">
                <a:latin typeface="Times New Roman" panose="02020503050405090304" pitchFamily="18" charset="0"/>
                <a:ea typeface="仿宋_GB2312" pitchFamily="49" charset="-122"/>
              </a:rPr>
              <a:t> （</a:t>
            </a:r>
            <a:r>
              <a:rPr lang="en-US" altLang="zh-CN" sz="2000" b="0" dirty="0">
                <a:latin typeface="Times New Roman" panose="02020503050405090304" pitchFamily="18" charset="0"/>
                <a:ea typeface="仿宋_GB2312" pitchFamily="49" charset="-122"/>
              </a:rPr>
              <a:t>SP</a:t>
            </a:r>
            <a:r>
              <a:rPr lang="zh-CN" altLang="en-US" sz="2000" b="0" dirty="0">
                <a:latin typeface="Times New Roman" panose="02020503050405090304" pitchFamily="18" charset="0"/>
                <a:ea typeface="仿宋_GB2312" pitchFamily="49" charset="-122"/>
              </a:rPr>
              <a:t>）</a:t>
            </a:r>
            <a:r>
              <a:rPr lang="en-US" altLang="zh-CN" sz="2000" b="0" dirty="0">
                <a:latin typeface="Times New Roman" panose="02020503050405090304" pitchFamily="18" charset="0"/>
                <a:ea typeface="仿宋_GB2312" pitchFamily="49" charset="-122"/>
              </a:rPr>
              <a:t>=71H</a:t>
            </a:r>
            <a:r>
              <a:rPr lang="zh-CN" altLang="en-US" sz="2000" b="0" dirty="0">
                <a:latin typeface="Times New Roman" panose="02020503050405090304" pitchFamily="18" charset="0"/>
                <a:ea typeface="仿宋_GB2312" pitchFamily="49" charset="-122"/>
              </a:rPr>
              <a:t>，将</a:t>
            </a:r>
            <a:r>
              <a:rPr lang="en-US" altLang="zh-CN" sz="2000" b="0" dirty="0">
                <a:latin typeface="Times New Roman" panose="02020503050405090304" pitchFamily="18" charset="0"/>
                <a:ea typeface="仿宋_GB2312" pitchFamily="49" charset="-122"/>
              </a:rPr>
              <a:t>50H</a:t>
            </a:r>
            <a:r>
              <a:rPr lang="zh-CN" altLang="en-US" sz="2000" b="0" dirty="0">
                <a:latin typeface="Times New Roman" panose="02020503050405090304" pitchFamily="18" charset="0"/>
                <a:ea typeface="仿宋_GB2312" pitchFamily="49" charset="-122"/>
              </a:rPr>
              <a:t>单元的</a:t>
            </a:r>
            <a:r>
              <a:rPr lang="zh-CN" altLang="en-US" sz="2000" b="0" dirty="0">
                <a:latin typeface="Arial" panose="020B0604020202090204" pitchFamily="34" charset="0"/>
                <a:ea typeface="仿宋_GB2312" pitchFamily="49" charset="-122"/>
              </a:rPr>
              <a:t>“</a:t>
            </a:r>
            <a:r>
              <a:rPr lang="en-US" altLang="zh-CN" sz="2000" b="0" dirty="0">
                <a:latin typeface="Times New Roman" panose="02020503050405090304" pitchFamily="18" charset="0"/>
                <a:ea typeface="仿宋_GB2312" pitchFamily="49" charset="-122"/>
              </a:rPr>
              <a:t>45H</a:t>
            </a:r>
            <a:r>
              <a:rPr lang="en-US" altLang="zh-CN" sz="2000" b="0" dirty="0">
                <a:latin typeface="Arial" panose="020B0604020202090204" pitchFamily="34" charset="0"/>
                <a:ea typeface="仿宋_GB2312" pitchFamily="49" charset="-122"/>
              </a:rPr>
              <a:t>”</a:t>
            </a:r>
            <a:r>
              <a:rPr lang="zh-CN" altLang="en-US" sz="2000" b="0" dirty="0">
                <a:latin typeface="Times New Roman" panose="02020503050405090304" pitchFamily="18" charset="0"/>
                <a:ea typeface="仿宋_GB2312" pitchFamily="49" charset="-122"/>
              </a:rPr>
              <a:t>入栈</a:t>
            </a:r>
            <a:endParaRPr lang="en-US" altLang="zh-CN" sz="2000" b="0" dirty="0">
              <a:latin typeface="Times New Roman" panose="02020503050405090304" pitchFamily="18" charset="0"/>
              <a:ea typeface="仿宋_GB2312" pitchFamily="49" charset="-122"/>
            </a:endParaRPr>
          </a:p>
          <a:p>
            <a:pPr eaLnBrk="0" hangingPunct="0">
              <a:lnSpc>
                <a:spcPct val="120000"/>
              </a:lnSpc>
              <a:buBlip>
                <a:blip r:embed="rId1"/>
              </a:buBlip>
            </a:pPr>
            <a:r>
              <a:rPr lang="en-US" altLang="zh-CN" sz="2000" b="0" dirty="0">
                <a:latin typeface="Times New Roman" panose="02020503050405090304" pitchFamily="18" charset="0"/>
                <a:ea typeface="仿宋_GB2312" pitchFamily="49" charset="-122"/>
              </a:rPr>
              <a:t>POP   40H   ;③</a:t>
            </a:r>
            <a:r>
              <a:rPr lang="zh-CN" altLang="en-US" sz="2000" b="0" dirty="0">
                <a:latin typeface="Times New Roman" panose="02020503050405090304" pitchFamily="18" charset="0"/>
                <a:ea typeface="仿宋_GB2312" pitchFamily="49" charset="-122"/>
              </a:rPr>
              <a:t>将</a:t>
            </a:r>
            <a:r>
              <a:rPr lang="en-US" altLang="zh-CN" sz="2000" b="0" dirty="0">
                <a:latin typeface="Times New Roman" panose="02020503050405090304" pitchFamily="18" charset="0"/>
                <a:ea typeface="仿宋_GB2312" pitchFamily="49" charset="-122"/>
              </a:rPr>
              <a:t>SP</a:t>
            </a:r>
            <a:r>
              <a:rPr lang="zh-CN" altLang="en-US" sz="2000" b="0" dirty="0">
                <a:latin typeface="Times New Roman" panose="02020503050405090304" pitchFamily="18" charset="0"/>
                <a:ea typeface="仿宋_GB2312" pitchFamily="49" charset="-122"/>
              </a:rPr>
              <a:t>指向的</a:t>
            </a:r>
            <a:r>
              <a:rPr lang="en-US" altLang="zh-CN" sz="2000" b="0" dirty="0">
                <a:latin typeface="Times New Roman" panose="02020503050405090304" pitchFamily="18" charset="0"/>
                <a:ea typeface="仿宋_GB2312" pitchFamily="49" charset="-122"/>
              </a:rPr>
              <a:t>71H</a:t>
            </a:r>
            <a:r>
              <a:rPr lang="zh-CN" altLang="en-US" sz="2000" b="0" dirty="0">
                <a:latin typeface="Times New Roman" panose="02020503050405090304" pitchFamily="18" charset="0"/>
                <a:ea typeface="仿宋_GB2312" pitchFamily="49" charset="-122"/>
              </a:rPr>
              <a:t>单元的内容弹到</a:t>
            </a:r>
            <a:r>
              <a:rPr lang="en-US" altLang="zh-CN" sz="2000" b="0" dirty="0">
                <a:latin typeface="Times New Roman" panose="02020503050405090304" pitchFamily="18" charset="0"/>
                <a:ea typeface="仿宋_GB2312" pitchFamily="49" charset="-122"/>
              </a:rPr>
              <a:t>40H</a:t>
            </a:r>
            <a:r>
              <a:rPr lang="zh-CN" altLang="en-US" sz="2000" b="0" dirty="0">
                <a:latin typeface="Times New Roman" panose="02020503050405090304" pitchFamily="18" charset="0"/>
                <a:ea typeface="仿宋_GB2312" pitchFamily="49" charset="-122"/>
              </a:rPr>
              <a:t>单元，之后（</a:t>
            </a:r>
            <a:r>
              <a:rPr lang="en-US" altLang="zh-CN" sz="2000" b="0" dirty="0">
                <a:latin typeface="Times New Roman" panose="02020503050405090304" pitchFamily="18" charset="0"/>
                <a:ea typeface="仿宋_GB2312" pitchFamily="49" charset="-122"/>
              </a:rPr>
              <a:t>SP</a:t>
            </a:r>
            <a:r>
              <a:rPr lang="zh-CN" altLang="en-US" sz="2000" b="0" dirty="0">
                <a:latin typeface="Times New Roman" panose="02020503050405090304" pitchFamily="18" charset="0"/>
                <a:ea typeface="仿宋_GB2312" pitchFamily="49" charset="-122"/>
              </a:rPr>
              <a:t>）</a:t>
            </a:r>
            <a:r>
              <a:rPr lang="en-US" altLang="zh-CN" sz="2000" b="0" dirty="0">
                <a:latin typeface="Times New Roman" panose="02020503050405090304" pitchFamily="18" charset="0"/>
                <a:ea typeface="仿宋_GB2312" pitchFamily="49" charset="-122"/>
              </a:rPr>
              <a:t>=70H</a:t>
            </a:r>
            <a:endParaRPr lang="en-US" altLang="zh-CN" sz="2000" b="0" dirty="0">
              <a:latin typeface="Times New Roman" panose="02020503050405090304" pitchFamily="18" charset="0"/>
              <a:ea typeface="仿宋_GB2312" pitchFamily="49" charset="-122"/>
            </a:endParaRPr>
          </a:p>
          <a:p>
            <a:pPr eaLnBrk="0" hangingPunct="0">
              <a:lnSpc>
                <a:spcPct val="120000"/>
              </a:lnSpc>
              <a:buBlip>
                <a:blip r:embed="rId1"/>
              </a:buBlip>
            </a:pPr>
            <a:r>
              <a:rPr lang="en-US" altLang="zh-CN" sz="2000" b="0" dirty="0">
                <a:latin typeface="Times New Roman" panose="02020503050405090304" pitchFamily="18" charset="0"/>
                <a:ea typeface="仿宋_GB2312" pitchFamily="49" charset="-122"/>
              </a:rPr>
              <a:t>POP   50H   ;④</a:t>
            </a:r>
            <a:r>
              <a:rPr lang="zh-CN" altLang="en-US" sz="2000" b="0" dirty="0">
                <a:latin typeface="Times New Roman" panose="02020503050405090304" pitchFamily="18" charset="0"/>
                <a:ea typeface="仿宋_GB2312" pitchFamily="49" charset="-122"/>
              </a:rPr>
              <a:t>将</a:t>
            </a:r>
            <a:r>
              <a:rPr lang="en-US" altLang="zh-CN" sz="2000" b="0" dirty="0">
                <a:latin typeface="Times New Roman" panose="02020503050405090304" pitchFamily="18" charset="0"/>
                <a:ea typeface="仿宋_GB2312" pitchFamily="49" charset="-122"/>
              </a:rPr>
              <a:t>SP</a:t>
            </a:r>
            <a:r>
              <a:rPr lang="zh-CN" altLang="en-US" sz="2000" b="0" dirty="0">
                <a:latin typeface="Times New Roman" panose="02020503050405090304" pitchFamily="18" charset="0"/>
                <a:ea typeface="仿宋_GB2312" pitchFamily="49" charset="-122"/>
              </a:rPr>
              <a:t>指向的</a:t>
            </a:r>
            <a:r>
              <a:rPr lang="en-US" altLang="zh-CN" sz="2000" b="0" dirty="0">
                <a:latin typeface="Times New Roman" panose="02020503050405090304" pitchFamily="18" charset="0"/>
                <a:ea typeface="仿宋_GB2312" pitchFamily="49" charset="-122"/>
              </a:rPr>
              <a:t>70H</a:t>
            </a:r>
            <a:r>
              <a:rPr lang="zh-CN" altLang="en-US" sz="2000" b="0" dirty="0">
                <a:latin typeface="Times New Roman" panose="02020503050405090304" pitchFamily="18" charset="0"/>
                <a:ea typeface="仿宋_GB2312" pitchFamily="49" charset="-122"/>
              </a:rPr>
              <a:t>单元的内容弹到</a:t>
            </a:r>
            <a:r>
              <a:rPr lang="en-US" altLang="zh-CN" sz="2000" b="0" dirty="0">
                <a:latin typeface="Times New Roman" panose="02020503050405090304" pitchFamily="18" charset="0"/>
                <a:ea typeface="仿宋_GB2312" pitchFamily="49" charset="-122"/>
              </a:rPr>
              <a:t>50H</a:t>
            </a:r>
            <a:r>
              <a:rPr lang="zh-CN" altLang="en-US" sz="2000" b="0" dirty="0">
                <a:latin typeface="Times New Roman" panose="02020503050405090304" pitchFamily="18" charset="0"/>
                <a:ea typeface="仿宋_GB2312" pitchFamily="49" charset="-122"/>
              </a:rPr>
              <a:t>单元，之后（</a:t>
            </a:r>
            <a:r>
              <a:rPr lang="en-US" altLang="zh-CN" sz="2000" b="0" dirty="0">
                <a:latin typeface="Times New Roman" panose="02020503050405090304" pitchFamily="18" charset="0"/>
                <a:ea typeface="仿宋_GB2312" pitchFamily="49" charset="-122"/>
              </a:rPr>
              <a:t>SP</a:t>
            </a:r>
            <a:r>
              <a:rPr lang="zh-CN" altLang="en-US" sz="2000" b="0" dirty="0">
                <a:latin typeface="Times New Roman" panose="02020503050405090304" pitchFamily="18" charset="0"/>
                <a:ea typeface="仿宋_GB2312" pitchFamily="49" charset="-122"/>
              </a:rPr>
              <a:t>）</a:t>
            </a:r>
            <a:r>
              <a:rPr lang="en-US" altLang="zh-CN" sz="2000" b="0" dirty="0">
                <a:latin typeface="Times New Roman" panose="02020503050405090304" pitchFamily="18" charset="0"/>
                <a:ea typeface="仿宋_GB2312" pitchFamily="49" charset="-122"/>
              </a:rPr>
              <a:t>=6FH</a:t>
            </a:r>
            <a:endParaRPr lang="en-US" altLang="zh-CN" sz="2000" b="0" dirty="0">
              <a:latin typeface="Times New Roman" panose="02020503050405090304" pitchFamily="18" charset="0"/>
              <a:ea typeface="仿宋_GB2312" pitchFamily="49" charset="-122"/>
            </a:endParaRPr>
          </a:p>
        </p:txBody>
      </p:sp>
      <p:sp>
        <p:nvSpPr>
          <p:cNvPr id="89091" name="Rectangle 5"/>
          <p:cNvSpPr/>
          <p:nvPr/>
        </p:nvSpPr>
        <p:spPr>
          <a:xfrm>
            <a:off x="0" y="2509838"/>
            <a:ext cx="9144000" cy="0"/>
          </a:xfrm>
          <a:prstGeom prst="rect">
            <a:avLst/>
          </a:prstGeom>
          <a:noFill/>
          <a:ln w="9525">
            <a:noFill/>
          </a:ln>
        </p:spPr>
        <p:txBody>
          <a:bodyPr wrap="none" anchor="ctr" anchorCtr="0">
            <a:spAutoFit/>
          </a:bodyPr>
          <a:p>
            <a:pPr eaLnBrk="0" hangingPunct="0"/>
            <a:endParaRPr lang="zh-CN" altLang="en-US" dirty="0">
              <a:latin typeface="Times New Roman" panose="02020503050405090304" pitchFamily="18" charset="0"/>
              <a:ea typeface="仿宋_GB2312" pitchFamily="49" charset="-122"/>
            </a:endParaRPr>
          </a:p>
        </p:txBody>
      </p:sp>
      <p:sp>
        <p:nvSpPr>
          <p:cNvPr id="8" name="Rectangle 7"/>
          <p:cNvSpPr/>
          <p:nvPr/>
        </p:nvSpPr>
        <p:spPr>
          <a:xfrm>
            <a:off x="611188" y="5734050"/>
            <a:ext cx="7958137" cy="396875"/>
          </a:xfrm>
          <a:prstGeom prst="rect">
            <a:avLst/>
          </a:prstGeom>
          <a:noFill/>
          <a:ln w="9525">
            <a:noFill/>
          </a:ln>
        </p:spPr>
        <p:txBody>
          <a:bodyPr anchor="ctr" anchorCtr="0">
            <a:spAutoFit/>
          </a:bodyPr>
          <a:p>
            <a:pPr eaLnBrk="0" hangingPunct="0">
              <a:buClrTx/>
              <a:buFontTx/>
            </a:pPr>
            <a:r>
              <a:rPr lang="zh-CN" altLang="en-US" sz="2000" b="0" dirty="0">
                <a:latin typeface="Times New Roman" panose="02020503050405090304" pitchFamily="18" charset="0"/>
                <a:ea typeface="仿宋_GB2312" pitchFamily="49" charset="-122"/>
              </a:rPr>
              <a:t>（</a:t>
            </a:r>
            <a:r>
              <a:rPr lang="en-US" altLang="zh-CN" sz="2000" b="0" dirty="0">
                <a:latin typeface="Times New Roman" panose="02020503050405090304" pitchFamily="18" charset="0"/>
                <a:ea typeface="仿宋_GB2312" pitchFamily="49" charset="-122"/>
              </a:rPr>
              <a:t>a</a:t>
            </a:r>
            <a:r>
              <a:rPr lang="zh-CN" altLang="en-US" sz="2000" b="0" dirty="0">
                <a:latin typeface="Times New Roman" panose="02020503050405090304" pitchFamily="18" charset="0"/>
                <a:ea typeface="仿宋_GB2312" pitchFamily="49" charset="-122"/>
              </a:rPr>
              <a:t>）初始状态  （</a:t>
            </a:r>
            <a:r>
              <a:rPr lang="en-US" altLang="zh-CN" sz="2000" b="0" dirty="0">
                <a:latin typeface="Times New Roman" panose="02020503050405090304" pitchFamily="18" charset="0"/>
                <a:ea typeface="仿宋_GB2312" pitchFamily="49" charset="-122"/>
              </a:rPr>
              <a:t>b</a:t>
            </a:r>
            <a:r>
              <a:rPr lang="zh-CN" altLang="en-US" sz="2000" b="0" dirty="0">
                <a:latin typeface="Times New Roman" panose="02020503050405090304" pitchFamily="18" charset="0"/>
                <a:ea typeface="仿宋_GB2312" pitchFamily="49" charset="-122"/>
              </a:rPr>
              <a:t>）</a:t>
            </a:r>
            <a:r>
              <a:rPr lang="en-US" altLang="zh-CN" sz="2000" b="0" dirty="0">
                <a:latin typeface="Times New Roman" panose="02020503050405090304" pitchFamily="18" charset="0"/>
                <a:ea typeface="仿宋_GB2312" pitchFamily="49" charset="-122"/>
              </a:rPr>
              <a:t>2</a:t>
            </a:r>
            <a:r>
              <a:rPr lang="zh-CN" altLang="en-US" sz="2000" b="0" dirty="0">
                <a:latin typeface="Times New Roman" panose="02020503050405090304" pitchFamily="18" charset="0"/>
                <a:ea typeface="仿宋_GB2312" pitchFamily="49" charset="-122"/>
              </a:rPr>
              <a:t>条</a:t>
            </a:r>
            <a:r>
              <a:rPr lang="en-US" altLang="zh-CN" sz="2000" b="0" dirty="0">
                <a:latin typeface="Times New Roman" panose="02020503050405090304" pitchFamily="18" charset="0"/>
                <a:ea typeface="仿宋_GB2312" pitchFamily="49" charset="-122"/>
              </a:rPr>
              <a:t>PUSH</a:t>
            </a:r>
            <a:r>
              <a:rPr lang="zh-CN" altLang="en-US" sz="2000" b="0" dirty="0">
                <a:latin typeface="Times New Roman" panose="02020503050405090304" pitchFamily="18" charset="0"/>
                <a:ea typeface="仿宋_GB2312" pitchFamily="49" charset="-122"/>
              </a:rPr>
              <a:t>指令执行后 （</a:t>
            </a:r>
            <a:r>
              <a:rPr lang="en-US" altLang="zh-CN" sz="2000" b="0" dirty="0">
                <a:latin typeface="Times New Roman" panose="02020503050405090304" pitchFamily="18" charset="0"/>
                <a:ea typeface="仿宋_GB2312" pitchFamily="49" charset="-122"/>
              </a:rPr>
              <a:t>c</a:t>
            </a:r>
            <a:r>
              <a:rPr lang="zh-CN" altLang="en-US" sz="2000" b="0" dirty="0">
                <a:latin typeface="Times New Roman" panose="02020503050405090304" pitchFamily="18" charset="0"/>
                <a:ea typeface="仿宋_GB2312" pitchFamily="49" charset="-122"/>
              </a:rPr>
              <a:t>）</a:t>
            </a:r>
            <a:r>
              <a:rPr lang="en-US" altLang="zh-CN" sz="2000" b="0" dirty="0">
                <a:latin typeface="Times New Roman" panose="02020503050405090304" pitchFamily="18" charset="0"/>
                <a:ea typeface="仿宋_GB2312" pitchFamily="49" charset="-122"/>
              </a:rPr>
              <a:t>2</a:t>
            </a:r>
            <a:r>
              <a:rPr lang="zh-CN" altLang="en-US" sz="2000" b="0" dirty="0">
                <a:latin typeface="Times New Roman" panose="02020503050405090304" pitchFamily="18" charset="0"/>
                <a:ea typeface="仿宋_GB2312" pitchFamily="49" charset="-122"/>
              </a:rPr>
              <a:t>条</a:t>
            </a:r>
            <a:r>
              <a:rPr lang="en-US" altLang="zh-CN" sz="2000" b="0" dirty="0">
                <a:latin typeface="Times New Roman" panose="02020503050405090304" pitchFamily="18" charset="0"/>
                <a:ea typeface="仿宋_GB2312" pitchFamily="49" charset="-122"/>
              </a:rPr>
              <a:t>POP</a:t>
            </a:r>
            <a:r>
              <a:rPr lang="zh-CN" altLang="en-US" sz="2000" b="0" dirty="0">
                <a:latin typeface="Times New Roman" panose="02020503050405090304" pitchFamily="18" charset="0"/>
                <a:ea typeface="仿宋_GB2312" pitchFamily="49" charset="-122"/>
              </a:rPr>
              <a:t>指令执行后</a:t>
            </a:r>
            <a:endParaRPr lang="zh-CN" altLang="en-US" sz="2000" dirty="0">
              <a:latin typeface="Times New Roman" panose="02020503050405090304" pitchFamily="18" charset="0"/>
              <a:ea typeface="仿宋_GB2312" pitchFamily="49" charset="-122"/>
            </a:endParaRPr>
          </a:p>
        </p:txBody>
      </p:sp>
      <p:graphicFrame>
        <p:nvGraphicFramePr>
          <p:cNvPr id="9" name="Object 8"/>
          <p:cNvGraphicFramePr/>
          <p:nvPr/>
        </p:nvGraphicFramePr>
        <p:xfrm>
          <a:off x="611188" y="3068638"/>
          <a:ext cx="1958975" cy="2592387"/>
        </p:xfrm>
        <a:graphic>
          <a:graphicData uri="http://schemas.openxmlformats.org/presentationml/2006/ole">
            <mc:AlternateContent xmlns:mc="http://schemas.openxmlformats.org/markup-compatibility/2006">
              <mc:Choice xmlns:v="urn:schemas-microsoft-com:vml" Requires="v">
                <p:oleObj spid="_x0000_s3082" name="" r:id="rId2" imgW="1410970" imgH="1862455" progId="Visio.Drawing.11">
                  <p:embed/>
                </p:oleObj>
              </mc:Choice>
              <mc:Fallback>
                <p:oleObj name="" r:id="rId2" imgW="1410970" imgH="1862455" progId="Visio.Drawing.11">
                  <p:embed/>
                  <p:pic>
                    <p:nvPicPr>
                      <p:cNvPr id="0" name="Picture 3081"/>
                      <p:cNvPicPr/>
                      <p:nvPr/>
                    </p:nvPicPr>
                    <p:blipFill>
                      <a:blip r:embed="rId3"/>
                      <a:stretch>
                        <a:fillRect/>
                      </a:stretch>
                    </p:blipFill>
                    <p:spPr>
                      <a:xfrm>
                        <a:off x="611188" y="3068638"/>
                        <a:ext cx="1958975" cy="2592387"/>
                      </a:xfrm>
                      <a:prstGeom prst="rect">
                        <a:avLst/>
                      </a:prstGeom>
                      <a:noFill/>
                      <a:ln w="38100">
                        <a:noFill/>
                        <a:miter/>
                      </a:ln>
                    </p:spPr>
                  </p:pic>
                </p:oleObj>
              </mc:Fallback>
            </mc:AlternateContent>
          </a:graphicData>
        </a:graphic>
      </p:graphicFrame>
      <p:graphicFrame>
        <p:nvGraphicFramePr>
          <p:cNvPr id="10" name="Object 10"/>
          <p:cNvGraphicFramePr/>
          <p:nvPr/>
        </p:nvGraphicFramePr>
        <p:xfrm>
          <a:off x="3492500" y="3068638"/>
          <a:ext cx="1727200" cy="2663825"/>
        </p:xfrm>
        <a:graphic>
          <a:graphicData uri="http://schemas.openxmlformats.org/presentationml/2006/ole">
            <mc:AlternateContent xmlns:mc="http://schemas.openxmlformats.org/markup-compatibility/2006">
              <mc:Choice xmlns:v="urn:schemas-microsoft-com:vml" Requires="v">
                <p:oleObj spid="_x0000_s3081" name="" r:id="rId4" imgW="1061085" imgH="1862455" progId="Visio.Drawing.11">
                  <p:embed/>
                </p:oleObj>
              </mc:Choice>
              <mc:Fallback>
                <p:oleObj name="" r:id="rId4" imgW="1061085" imgH="1862455" progId="Visio.Drawing.11">
                  <p:embed/>
                  <p:pic>
                    <p:nvPicPr>
                      <p:cNvPr id="0" name="Picture 3080"/>
                      <p:cNvPicPr/>
                      <p:nvPr/>
                    </p:nvPicPr>
                    <p:blipFill>
                      <a:blip r:embed="rId5"/>
                      <a:stretch>
                        <a:fillRect/>
                      </a:stretch>
                    </p:blipFill>
                    <p:spPr>
                      <a:xfrm>
                        <a:off x="3492500" y="3068638"/>
                        <a:ext cx="1727200" cy="2663825"/>
                      </a:xfrm>
                      <a:prstGeom prst="rect">
                        <a:avLst/>
                      </a:prstGeom>
                      <a:noFill/>
                      <a:ln w="38100">
                        <a:noFill/>
                        <a:miter/>
                      </a:ln>
                    </p:spPr>
                  </p:pic>
                </p:oleObj>
              </mc:Fallback>
            </mc:AlternateContent>
          </a:graphicData>
        </a:graphic>
      </p:graphicFrame>
      <p:graphicFrame>
        <p:nvGraphicFramePr>
          <p:cNvPr id="11" name="Object 13"/>
          <p:cNvGraphicFramePr/>
          <p:nvPr/>
        </p:nvGraphicFramePr>
        <p:xfrm>
          <a:off x="6156325" y="2997200"/>
          <a:ext cx="1736725" cy="2736850"/>
        </p:xfrm>
        <a:graphic>
          <a:graphicData uri="http://schemas.openxmlformats.org/presentationml/2006/ole">
            <mc:AlternateContent xmlns:mc="http://schemas.openxmlformats.org/markup-compatibility/2006">
              <mc:Choice xmlns:v="urn:schemas-microsoft-com:vml" Requires="v">
                <p:oleObj spid="_x0000_s3083" name="" r:id="rId6" imgW="1185545" imgH="1862455" progId="Visio.Drawing.11">
                  <p:embed/>
                </p:oleObj>
              </mc:Choice>
              <mc:Fallback>
                <p:oleObj name="" r:id="rId6" imgW="1185545" imgH="1862455" progId="Visio.Drawing.11">
                  <p:embed/>
                  <p:pic>
                    <p:nvPicPr>
                      <p:cNvPr id="0" name="Picture 3082"/>
                      <p:cNvPicPr/>
                      <p:nvPr/>
                    </p:nvPicPr>
                    <p:blipFill>
                      <a:blip r:embed="rId7"/>
                      <a:stretch>
                        <a:fillRect/>
                      </a:stretch>
                    </p:blipFill>
                    <p:spPr>
                      <a:xfrm>
                        <a:off x="6156325" y="2997200"/>
                        <a:ext cx="1736725" cy="27368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0-#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1+#ppt_w/2"/>
                                          </p:val>
                                        </p:tav>
                                        <p:tav tm="100000">
                                          <p:val>
                                            <p:strVal val="#ppt_x"/>
                                          </p:val>
                                        </p:tav>
                                      </p:tavLst>
                                    </p:anim>
                                    <p:anim calcmode="lin" valueType="num">
                                      <p:cBhvr additive="base">
                                        <p:cTn id="26"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1+#ppt_w/2"/>
                                          </p:val>
                                        </p:tav>
                                        <p:tav tm="100000">
                                          <p:val>
                                            <p:strVal val="#ppt_x"/>
                                          </p:val>
                                        </p:tav>
                                      </p:tavLst>
                                    </p:anim>
                                    <p:anim calcmode="lin" valueType="num">
                                      <p:cBhvr additive="base">
                                        <p:cTn id="32"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9" name="Rectangle 3"/>
          <p:cNvSpPr>
            <a:spLocks noGrp="1" noChangeArrowheads="1"/>
          </p:cNvSpPr>
          <p:nvPr>
            <p:ph idx="1"/>
          </p:nvPr>
        </p:nvSpPr>
        <p:spPr>
          <a:xfrm>
            <a:off x="428625" y="1042988"/>
            <a:ext cx="8307388" cy="552926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在使用堆栈时，应</a:t>
            </a:r>
            <a:r>
              <a:rPr kumimoji="0" lang="zh-CN" altLang="en-US" sz="3200" b="1" i="0" u="none" strike="noStrike" kern="0" cap="none" spc="0" normalizeH="0" baseline="0" noProof="0" dirty="0" smtClean="0">
                <a:ln>
                  <a:noFill/>
                </a:ln>
                <a:solidFill>
                  <a:srgbClr val="FF3300"/>
                </a:solidFill>
                <a:effectLst/>
                <a:uLnTx/>
                <a:uFillTx/>
                <a:latin typeface="+mn-lt"/>
                <a:ea typeface="黑体" panose="02010609060101010101" pitchFamily="49" charset="-122"/>
                <a:cs typeface="+mn-cs"/>
              </a:rPr>
              <a:t>注意</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以下几点 ：</a:t>
            </a:r>
            <a:endPar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endParaRPr>
          </a:p>
          <a:p>
            <a:pPr marL="723900" marR="0" lvl="0" indent="-723900" algn="l" defTabSz="914400" rtl="0" eaLnBrk="1" fontAlgn="base" latinLnBrk="0" hangingPunct="1">
              <a:lnSpc>
                <a:spcPct val="130000"/>
              </a:lnSpc>
              <a:spcBef>
                <a:spcPct val="20000"/>
              </a:spcBef>
              <a:spcAft>
                <a:spcPct val="0"/>
              </a:spcAft>
              <a:buClr>
                <a:schemeClr val="folHlink"/>
              </a:buClr>
              <a:buSzPct val="60000"/>
              <a:buFont typeface="Wingdings" panose="05000000000000000000" pitchFamily="2" charset="2"/>
              <a:buNone/>
              <a:defRPr/>
            </a:pP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1</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PUSH</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和</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POP</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指令的操作数必须是</a:t>
            </a:r>
            <a:r>
              <a:rPr kumimoji="0" lang="zh-CN" altLang="en-US" sz="2400" b="1" i="0" u="none" strike="noStrike" kern="0" cap="none" spc="0" normalizeH="0" baseline="0" noProof="0" dirty="0" smtClean="0">
                <a:ln>
                  <a:noFill/>
                </a:ln>
                <a:solidFill>
                  <a:srgbClr val="FF3300"/>
                </a:solidFill>
                <a:effectLst/>
                <a:uLnTx/>
                <a:uFillTx/>
                <a:latin typeface="+mn-lt"/>
                <a:ea typeface="+mn-ea"/>
                <a:cs typeface="+mn-cs"/>
              </a:rPr>
              <a:t>单元地址</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PUSH</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指令中指定的单元地址是被保护单元的地址（源操作数），指令隐含了目的操作数；而</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POP</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指令中指定的单元地址是内容要恢复的单元地址（目的操作数），指令隐含了源操作数。</a:t>
            </a:r>
            <a:endPar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endParaRPr>
          </a:p>
          <a:p>
            <a:pPr marL="723900" marR="0" lvl="0" indent="-723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a:pP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2</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MCS-51</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单片机的堆栈建在内部</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RAM</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中，单片机复位后，（</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SP</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07H</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，从</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08H</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单元开始的区域均为栈区。</a:t>
            </a:r>
            <a:r>
              <a:rPr kumimoji="0" lang="zh-CN" altLang="en-US" sz="2400" b="1" i="0" u="none" strike="noStrike" kern="0" cap="none" spc="0" normalizeH="0" baseline="0" noProof="0" dirty="0" smtClean="0">
                <a:ln>
                  <a:noFill/>
                </a:ln>
                <a:solidFill>
                  <a:srgbClr val="FF3300"/>
                </a:solidFill>
                <a:effectLst/>
                <a:uLnTx/>
                <a:uFillTx/>
                <a:latin typeface="+mn-lt"/>
                <a:ea typeface="+mn-ea"/>
                <a:cs typeface="+mn-cs"/>
              </a:rPr>
              <a:t>在应用系统中，一般把栈区</a:t>
            </a:r>
            <a:r>
              <a:rPr kumimoji="0" lang="zh-CN" altLang="en-US" sz="2400" b="1" i="0" u="none" strike="noStrike" kern="0" cap="none" spc="0" normalizeH="0" baseline="0" noProof="0" dirty="0" smtClean="0">
                <a:ln>
                  <a:noFill/>
                </a:ln>
                <a:solidFill>
                  <a:schemeClr val="tx2">
                    <a:lumMod val="50000"/>
                  </a:schemeClr>
                </a:solidFill>
                <a:effectLst/>
                <a:uLnTx/>
                <a:uFillTx/>
                <a:latin typeface="+mn-lt"/>
                <a:ea typeface="+mn-ea"/>
                <a:cs typeface="+mn-cs"/>
              </a:rPr>
              <a:t>开辟</a:t>
            </a:r>
            <a:r>
              <a:rPr kumimoji="0" lang="zh-CN" altLang="en-US" sz="2400" b="1" i="0" u="none" strike="noStrike" kern="0" cap="none" spc="0" normalizeH="0" baseline="0" noProof="0" dirty="0" smtClean="0">
                <a:ln>
                  <a:noFill/>
                </a:ln>
                <a:solidFill>
                  <a:srgbClr val="FF3300"/>
                </a:solidFill>
                <a:effectLst/>
                <a:uLnTx/>
                <a:uFillTx/>
                <a:latin typeface="+mn-lt"/>
                <a:ea typeface="+mn-ea"/>
                <a:cs typeface="+mn-cs"/>
              </a:rPr>
              <a:t>在内部</a:t>
            </a:r>
            <a:r>
              <a:rPr kumimoji="0" lang="en-US" altLang="zh-CN" sz="2400" b="1" i="0" u="none" strike="noStrike" kern="0" cap="none" spc="0" normalizeH="0" baseline="0" noProof="0" dirty="0" smtClean="0">
                <a:ln>
                  <a:noFill/>
                </a:ln>
                <a:solidFill>
                  <a:srgbClr val="FF3300"/>
                </a:solidFill>
                <a:effectLst/>
                <a:uLnTx/>
                <a:uFillTx/>
                <a:latin typeface="+mn-lt"/>
                <a:ea typeface="+mn-ea"/>
                <a:cs typeface="+mn-cs"/>
              </a:rPr>
              <a:t>RAM</a:t>
            </a:r>
            <a:r>
              <a:rPr kumimoji="0" lang="zh-CN" altLang="en-US" sz="2400" b="1" i="0" u="none" strike="noStrike" kern="0" cap="none" spc="0" normalizeH="0" baseline="0" noProof="0" dirty="0" smtClean="0">
                <a:ln>
                  <a:noFill/>
                </a:ln>
                <a:solidFill>
                  <a:srgbClr val="FF3300"/>
                </a:solidFill>
                <a:effectLst/>
                <a:uLnTx/>
                <a:uFillTx/>
                <a:latin typeface="+mn-lt"/>
                <a:ea typeface="+mn-ea"/>
                <a:cs typeface="+mn-cs"/>
              </a:rPr>
              <a:t>的</a:t>
            </a:r>
            <a:r>
              <a:rPr kumimoji="0" lang="en-US" altLang="zh-CN" sz="2600" b="1" i="0" u="none" strike="noStrike" kern="0" cap="none" spc="0" normalizeH="0" baseline="0" noProof="0" dirty="0" smtClean="0">
                <a:ln>
                  <a:noFill/>
                </a:ln>
                <a:solidFill>
                  <a:schemeClr val="folHlink"/>
                </a:solidFill>
                <a:effectLst/>
                <a:uLnTx/>
                <a:uFillTx/>
                <a:latin typeface="+mn-lt"/>
                <a:ea typeface="+mn-ea"/>
                <a:cs typeface="+mn-cs"/>
              </a:rPr>
              <a:t>30H~7FH</a:t>
            </a:r>
            <a:r>
              <a:rPr kumimoji="0" lang="zh-CN" altLang="en-US" sz="2400" b="1" i="0" u="none" strike="noStrike" kern="0" cap="none" spc="0" normalizeH="0" baseline="0" noProof="0" dirty="0" smtClean="0">
                <a:ln>
                  <a:noFill/>
                </a:ln>
                <a:solidFill>
                  <a:srgbClr val="FF3300"/>
                </a:solidFill>
                <a:effectLst/>
                <a:uLnTx/>
                <a:uFillTx/>
                <a:latin typeface="+mn-lt"/>
                <a:ea typeface="+mn-ea"/>
                <a:cs typeface="+mn-cs"/>
              </a:rPr>
              <a:t>这一区域，栈区最好靠近内部</a:t>
            </a:r>
            <a:r>
              <a:rPr kumimoji="0" lang="en-US" altLang="zh-CN" sz="2400" b="1" i="0" u="none" strike="noStrike" kern="0" cap="none" spc="0" normalizeH="0" baseline="0" noProof="0" dirty="0" smtClean="0">
                <a:ln>
                  <a:noFill/>
                </a:ln>
                <a:solidFill>
                  <a:srgbClr val="FF3300"/>
                </a:solidFill>
                <a:effectLst/>
                <a:uLnTx/>
                <a:uFillTx/>
                <a:latin typeface="+mn-lt"/>
                <a:ea typeface="+mn-ea"/>
                <a:cs typeface="+mn-cs"/>
              </a:rPr>
              <a:t>RAM</a:t>
            </a:r>
            <a:r>
              <a:rPr kumimoji="0" lang="zh-CN" altLang="en-US" sz="2400" b="1" i="0" u="none" strike="noStrike" kern="0" cap="none" spc="0" normalizeH="0" baseline="0" noProof="0" dirty="0" smtClean="0">
                <a:ln>
                  <a:noFill/>
                </a:ln>
                <a:solidFill>
                  <a:srgbClr val="FF3300"/>
                </a:solidFill>
                <a:effectLst/>
                <a:uLnTx/>
                <a:uFillTx/>
                <a:latin typeface="+mn-lt"/>
                <a:ea typeface="+mn-ea"/>
                <a:cs typeface="+mn-cs"/>
              </a:rPr>
              <a:t>的末端，以避免堆栈加</a:t>
            </a:r>
            <a:r>
              <a:rPr kumimoji="0" lang="en-US" altLang="zh-CN" sz="2400" b="1" i="0" u="none" strike="noStrike" kern="0" cap="none" spc="0" normalizeH="0" baseline="0" noProof="0" dirty="0" smtClean="0">
                <a:ln>
                  <a:noFill/>
                </a:ln>
                <a:solidFill>
                  <a:srgbClr val="FF3300"/>
                </a:solidFill>
                <a:effectLst/>
                <a:uLnTx/>
                <a:uFillTx/>
                <a:latin typeface="+mn-lt"/>
                <a:ea typeface="+mn-ea"/>
                <a:cs typeface="+mn-cs"/>
              </a:rPr>
              <a:t>1</a:t>
            </a:r>
            <a:r>
              <a:rPr kumimoji="0" lang="zh-CN" altLang="en-US" sz="2400" b="1" i="0" u="none" strike="noStrike" kern="0" cap="none" spc="0" normalizeH="0" baseline="0" noProof="0" dirty="0" smtClean="0">
                <a:ln>
                  <a:noFill/>
                </a:ln>
                <a:solidFill>
                  <a:srgbClr val="FF3300"/>
                </a:solidFill>
                <a:effectLst/>
                <a:uLnTx/>
                <a:uFillTx/>
                <a:latin typeface="+mn-lt"/>
                <a:ea typeface="+mn-ea"/>
                <a:cs typeface="+mn-cs"/>
              </a:rPr>
              <a:t>向上增长时覆盖有效数据</a:t>
            </a:r>
            <a:r>
              <a:rPr kumimoji="0" lang="zh-CN" altLang="en-US" sz="2400" b="1" i="0" u="none" strike="noStrike" kern="0" cap="none" spc="0" normalizeH="0" baseline="0" noProof="0" dirty="0" smtClean="0">
                <a:ln>
                  <a:noFill/>
                </a:ln>
                <a:solidFill>
                  <a:schemeClr val="folHlink"/>
                </a:solidFill>
                <a:effectLst/>
                <a:uLnTx/>
                <a:uFillTx/>
                <a:latin typeface="+mn-lt"/>
                <a:ea typeface="+mn-ea"/>
                <a:cs typeface="+mn-cs"/>
              </a:rPr>
              <a:t>。</a:t>
            </a:r>
            <a:endParaRPr kumimoji="0" lang="zh-CN" altLang="en-US" sz="2400" b="1" i="0" u="none" strike="noStrike" kern="0" cap="none" spc="0" normalizeH="0" baseline="0" noProof="0" dirty="0" smtClean="0">
              <a:ln>
                <a:noFill/>
              </a:ln>
              <a:solidFill>
                <a:schemeClr val="folHlink"/>
              </a:solidFill>
              <a:effectLst/>
              <a:uLnTx/>
              <a:uFillTx/>
              <a:latin typeface="+mn-lt"/>
              <a:ea typeface="+mn-ea"/>
              <a:cs typeface="+mn-cs"/>
            </a:endParaRPr>
          </a:p>
        </p:txBody>
      </p:sp>
      <p:sp>
        <p:nvSpPr>
          <p:cNvPr id="87042" name="Rectangle 2"/>
          <p:cNvSpPr>
            <a:spLocks noChangeArrowheads="1"/>
          </p:cNvSpPr>
          <p:nvPr/>
        </p:nvSpPr>
        <p:spPr bwMode="auto">
          <a:xfrm>
            <a:off x="214313" y="214313"/>
            <a:ext cx="8763000" cy="609600"/>
          </a:xfrm>
          <a:prstGeom prst="rect">
            <a:avLst/>
          </a:prstGeom>
          <a:noFill/>
          <a:ln>
            <a:noFill/>
          </a:ln>
        </p:spPr>
        <p:txBody>
          <a:bodyPr anchor="ctr"/>
          <a:lstStyle>
            <a:lvl1pPr>
              <a:defRPr sz="3600">
                <a:solidFill>
                  <a:schemeClr val="tx2"/>
                </a:solidFill>
                <a:latin typeface="Times New Roman" panose="02020503050405090304" pitchFamily="18" charset="0"/>
                <a:ea typeface="宋体" pitchFamily="2" charset="-122"/>
              </a:defRPr>
            </a:lvl1pPr>
            <a:lvl2pPr>
              <a:defRPr sz="3600">
                <a:solidFill>
                  <a:schemeClr val="tx2"/>
                </a:solidFill>
                <a:latin typeface="Times New Roman" panose="02020503050405090304" pitchFamily="18" charset="0"/>
                <a:ea typeface="宋体" pitchFamily="2" charset="-122"/>
              </a:defRPr>
            </a:lvl2pPr>
            <a:lvl3pPr>
              <a:defRPr sz="3600">
                <a:solidFill>
                  <a:schemeClr val="tx2"/>
                </a:solidFill>
                <a:latin typeface="Times New Roman" panose="02020503050405090304" pitchFamily="18" charset="0"/>
                <a:ea typeface="宋体" pitchFamily="2" charset="-122"/>
              </a:defRPr>
            </a:lvl3pPr>
            <a:lvl4pPr>
              <a:defRPr sz="3600">
                <a:solidFill>
                  <a:schemeClr val="tx2"/>
                </a:solidFill>
                <a:latin typeface="Times New Roman" panose="02020503050405090304" pitchFamily="18" charset="0"/>
                <a:ea typeface="宋体" pitchFamily="2" charset="-122"/>
              </a:defRPr>
            </a:lvl4pPr>
            <a:lvl5pPr>
              <a:defRPr sz="3600">
                <a:solidFill>
                  <a:schemeClr val="tx2"/>
                </a:solidFill>
                <a:latin typeface="Times New Roman" panose="02020503050405090304" pitchFamily="18" charset="0"/>
                <a:ea typeface="宋体" pitchFamily="2" charset="-122"/>
              </a:defRPr>
            </a:lvl5pPr>
            <a:lvl6pPr marL="45720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fontAlgn="base">
              <a:spcBef>
                <a:spcPct val="0"/>
              </a:spcBef>
              <a:spcAft>
                <a:spcPct val="0"/>
              </a:spcAft>
              <a:defRPr sz="3600">
                <a:solidFill>
                  <a:schemeClr val="tx2"/>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第三章</a:t>
            </a:r>
            <a:r>
              <a:rPr kumimoji="0" lang="zh-CN" altLang="en-US" sz="28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zh-CN" altLang="en-US" sz="24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en-US" altLang="zh-CN"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MCS-51</a:t>
            </a: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指令系统</a:t>
            </a:r>
            <a:endParaRPr kumimoji="0" lang="zh-CN" altLang="en-US" sz="3600" b="0"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Times New Roman" panose="02020503050405090304" pitchFamily="18" charset="0"/>
              <a:ea typeface="宋体"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7939">
                                            <p:txEl>
                                              <p:charRg st="127" end="251"/>
                                            </p:txEl>
                                          </p:spTgt>
                                        </p:tgtEl>
                                        <p:attrNameLst>
                                          <p:attrName>style.visibility</p:attrName>
                                        </p:attrNameLst>
                                      </p:cBhvr>
                                      <p:to>
                                        <p:strVal val="visible"/>
                                      </p:to>
                                    </p:set>
                                    <p:anim calcmode="lin" valueType="num">
                                      <p:cBhvr additive="base">
                                        <p:cTn id="7" dur="500" fill="hold"/>
                                        <p:tgtEl>
                                          <p:spTgt spid="167939">
                                            <p:txEl>
                                              <p:charRg st="127" end="25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7939">
                                            <p:txEl>
                                              <p:charRg st="127" end="25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8963" name="Rectangle 3"/>
          <p:cNvSpPr>
            <a:spLocks noGrp="1" noChangeArrowheads="1"/>
          </p:cNvSpPr>
          <p:nvPr>
            <p:ph idx="1"/>
          </p:nvPr>
        </p:nvSpPr>
        <p:spPr>
          <a:xfrm>
            <a:off x="836613" y="1042988"/>
            <a:ext cx="8164513" cy="5086350"/>
          </a:xfrm>
        </p:spPr>
        <p:txBody>
          <a:bodyPr vert="horz" wrap="square" lIns="91440" tIns="45720" rIns="91440" bIns="45720" numCol="1" anchor="t" anchorCtr="0" compatLnSpc="1"/>
          <a:lstStyle/>
          <a:p>
            <a:pPr marL="812800" marR="0" lvl="0" indent="-8128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a:pP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3</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）在使用堆栈操作指令时，入栈指令</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PUSH</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和出栈指令</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POP</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应</a:t>
            </a:r>
            <a:r>
              <a:rPr kumimoji="0" lang="zh-CN" altLang="en-US" sz="2600" b="1" i="0" u="none" strike="noStrike" kern="0" cap="none" spc="0" normalizeH="0" baseline="0" noProof="0" dirty="0" smtClean="0">
                <a:ln>
                  <a:noFill/>
                </a:ln>
                <a:solidFill>
                  <a:srgbClr val="FF3300"/>
                </a:solidFill>
                <a:effectLst/>
                <a:uLnTx/>
                <a:uFillTx/>
                <a:latin typeface="+mn-lt"/>
                <a:ea typeface="黑体" panose="02010609060101010101" pitchFamily="49" charset="-122"/>
                <a:cs typeface="+mn-cs"/>
              </a:rPr>
              <a:t>成对出现</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，保护指定单元内容时，必须遵循</a:t>
            </a:r>
            <a:r>
              <a:rPr kumimoji="0" lang="zh-CN" altLang="en-US" sz="2600" b="1" i="0" u="none" strike="noStrike" kern="0" cap="none" spc="0" normalizeH="0" baseline="0" noProof="0" dirty="0" smtClean="0">
                <a:ln>
                  <a:noFill/>
                </a:ln>
                <a:solidFill>
                  <a:srgbClr val="FF3300"/>
                </a:solidFill>
                <a:effectLst/>
                <a:uLnTx/>
                <a:uFillTx/>
                <a:latin typeface="+mn-lt"/>
                <a:ea typeface="+mn-ea"/>
                <a:cs typeface="+mn-cs"/>
              </a:rPr>
              <a:t>先进后出</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的步骤，否则，单元内容在出栈恢复时会发生改变。</a:t>
            </a:r>
            <a:endPar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endParaRPr>
          </a:p>
          <a:p>
            <a:pPr marL="723900" marR="0" lvl="0" indent="-723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a:pP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4</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MCS-51</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单片机</a:t>
            </a:r>
            <a:r>
              <a:rPr kumimoji="0" lang="zh-CN" altLang="en-US" sz="2600" b="1" i="0" u="none" strike="noStrike" kern="0" cap="none" spc="0" normalizeH="0" baseline="0" noProof="0" dirty="0" smtClean="0">
                <a:ln>
                  <a:noFill/>
                </a:ln>
                <a:solidFill>
                  <a:srgbClr val="FF3300"/>
                </a:solidFill>
                <a:effectLst/>
                <a:uLnTx/>
                <a:uFillTx/>
                <a:latin typeface="+mn-lt"/>
                <a:ea typeface="黑体" panose="02010609060101010101" pitchFamily="49" charset="-122"/>
                <a:cs typeface="+mn-cs"/>
              </a:rPr>
              <a:t>不支持</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对工作寄存器</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R0~R7</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直接使用堆栈操作指令。如果要用堆栈操作保护某一寄存器</a:t>
            </a:r>
            <a:r>
              <a:rPr kumimoji="0" lang="en-US" altLang="zh-CN" sz="2400" b="0" i="0" u="none" strike="noStrike" kern="0" cap="none" spc="0" normalizeH="0" baseline="0" noProof="0" dirty="0" err="1" smtClean="0">
                <a:ln>
                  <a:noFill/>
                </a:ln>
                <a:solidFill>
                  <a:schemeClr val="folHlink"/>
                </a:solidFill>
                <a:effectLst/>
                <a:uLnTx/>
                <a:uFillTx/>
                <a:latin typeface="+mn-lt"/>
                <a:ea typeface="+mn-ea"/>
                <a:cs typeface="+mn-cs"/>
              </a:rPr>
              <a:t>Rn</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n</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0~7</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）的状态，可用该工作寄存器对应单元进行操作。</a:t>
            </a:r>
            <a:endPar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endParaRPr>
          </a:p>
          <a:p>
            <a:pPr marL="723900" marR="0" lvl="0" indent="-723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a:pP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                 如当（</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PSW.4</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1</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PSW.3</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0</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时，把</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R5</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的内容入栈，可用</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PUSH 15H</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；出栈时，</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POP 15H</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，即可恢复</a:t>
            </a:r>
            <a:r>
              <a:rPr kumimoji="0" lang="en-US" altLang="zh-CN" sz="2400" b="0" i="0" u="none" strike="noStrike" kern="0" cap="none" spc="0" normalizeH="0" baseline="0" noProof="0" dirty="0" smtClean="0">
                <a:ln>
                  <a:noFill/>
                </a:ln>
                <a:solidFill>
                  <a:schemeClr val="folHlink"/>
                </a:solidFill>
                <a:effectLst/>
                <a:uLnTx/>
                <a:uFillTx/>
                <a:latin typeface="+mn-lt"/>
                <a:ea typeface="+mn-ea"/>
                <a:cs typeface="+mn-cs"/>
              </a:rPr>
              <a:t>R5</a:t>
            </a:r>
            <a:r>
              <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rPr>
              <a:t>原来的内容。</a:t>
            </a:r>
            <a:endParaRPr kumimoji="0" lang="zh-CN" altLang="en-US" sz="2400" b="0" i="0" u="none" strike="noStrike" kern="0" cap="none" spc="0" normalizeH="0" baseline="0" noProof="0" dirty="0" smtClean="0">
              <a:ln>
                <a:noFill/>
              </a:ln>
              <a:solidFill>
                <a:schemeClr val="folHlink"/>
              </a:solidFill>
              <a:effectLst/>
              <a:uLnTx/>
              <a:uFillTx/>
              <a:latin typeface="+mn-lt"/>
              <a:ea typeface="+mn-ea"/>
              <a:cs typeface="+mn-cs"/>
            </a:endParaRPr>
          </a:p>
        </p:txBody>
      </p:sp>
      <p:sp>
        <p:nvSpPr>
          <p:cNvPr id="87042" name="Rectangle 2"/>
          <p:cNvSpPr>
            <a:spLocks noChangeArrowheads="1"/>
          </p:cNvSpPr>
          <p:nvPr/>
        </p:nvSpPr>
        <p:spPr bwMode="auto">
          <a:xfrm>
            <a:off x="214313" y="214313"/>
            <a:ext cx="8763000" cy="609600"/>
          </a:xfrm>
          <a:prstGeom prst="rect">
            <a:avLst/>
          </a:prstGeom>
          <a:noFill/>
          <a:ln>
            <a:noFill/>
          </a:ln>
        </p:spPr>
        <p:txBody>
          <a:bodyPr anchor="ctr"/>
          <a:lstStyle>
            <a:lvl1pPr>
              <a:defRPr sz="3600">
                <a:solidFill>
                  <a:schemeClr val="tx2"/>
                </a:solidFill>
                <a:latin typeface="Times New Roman" panose="02020503050405090304" pitchFamily="18" charset="0"/>
                <a:ea typeface="宋体" pitchFamily="2" charset="-122"/>
              </a:defRPr>
            </a:lvl1pPr>
            <a:lvl2pPr>
              <a:defRPr sz="3600">
                <a:solidFill>
                  <a:schemeClr val="tx2"/>
                </a:solidFill>
                <a:latin typeface="Times New Roman" panose="02020503050405090304" pitchFamily="18" charset="0"/>
                <a:ea typeface="宋体" pitchFamily="2" charset="-122"/>
              </a:defRPr>
            </a:lvl2pPr>
            <a:lvl3pPr>
              <a:defRPr sz="3600">
                <a:solidFill>
                  <a:schemeClr val="tx2"/>
                </a:solidFill>
                <a:latin typeface="Times New Roman" panose="02020503050405090304" pitchFamily="18" charset="0"/>
                <a:ea typeface="宋体" pitchFamily="2" charset="-122"/>
              </a:defRPr>
            </a:lvl3pPr>
            <a:lvl4pPr>
              <a:defRPr sz="3600">
                <a:solidFill>
                  <a:schemeClr val="tx2"/>
                </a:solidFill>
                <a:latin typeface="Times New Roman" panose="02020503050405090304" pitchFamily="18" charset="0"/>
                <a:ea typeface="宋体" pitchFamily="2" charset="-122"/>
              </a:defRPr>
            </a:lvl4pPr>
            <a:lvl5pPr>
              <a:defRPr sz="3600">
                <a:solidFill>
                  <a:schemeClr val="tx2"/>
                </a:solidFill>
                <a:latin typeface="Times New Roman" panose="02020503050405090304" pitchFamily="18" charset="0"/>
                <a:ea typeface="宋体" pitchFamily="2" charset="-122"/>
              </a:defRPr>
            </a:lvl5pPr>
            <a:lvl6pPr marL="45720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fontAlgn="base">
              <a:spcBef>
                <a:spcPct val="0"/>
              </a:spcBef>
              <a:spcAft>
                <a:spcPct val="0"/>
              </a:spcAft>
              <a:defRPr sz="3600">
                <a:solidFill>
                  <a:schemeClr val="tx2"/>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第三章</a:t>
            </a:r>
            <a:r>
              <a:rPr kumimoji="0" lang="zh-CN" altLang="en-US" sz="28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zh-CN" altLang="en-US" sz="24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en-US" altLang="zh-CN"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MCS-51</a:t>
            </a: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指令系统</a:t>
            </a:r>
            <a:endParaRPr kumimoji="0" lang="zh-CN" altLang="en-US" sz="3600" b="0"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Times New Roman" panose="02020503050405090304" pitchFamily="18" charset="0"/>
              <a:ea typeface="宋体"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168963">
                                            <p:txEl>
                                              <p:charRg st="79" end="162"/>
                                            </p:txEl>
                                          </p:spTgt>
                                        </p:tgtEl>
                                        <p:attrNameLst>
                                          <p:attrName>style.visibility</p:attrName>
                                        </p:attrNameLst>
                                      </p:cBhvr>
                                      <p:to>
                                        <p:strVal val="visible"/>
                                      </p:to>
                                    </p:set>
                                    <p:anim calcmode="discrete" valueType="clr">
                                      <p:cBhvr override="childStyle">
                                        <p:cTn id="7" dur="80"/>
                                        <p:tgtEl>
                                          <p:spTgt spid="168963">
                                            <p:txEl>
                                              <p:charRg st="79" end="16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68963">
                                            <p:txEl>
                                              <p:charRg st="79" end="162"/>
                                            </p:txEl>
                                          </p:spTgt>
                                        </p:tgtEl>
                                        <p:attrNameLst>
                                          <p:attrName>fillcolor</p:attrName>
                                        </p:attrNameLst>
                                      </p:cBhvr>
                                      <p:tavLst>
                                        <p:tav tm="0">
                                          <p:val>
                                            <p:clrVal>
                                              <a:schemeClr val="accent2"/>
                                            </p:clrVal>
                                          </p:val>
                                        </p:tav>
                                        <p:tav tm="50000">
                                          <p:val>
                                            <p:clrVal>
                                              <a:schemeClr val="hlink"/>
                                            </p:clrVal>
                                          </p:val>
                                        </p:tav>
                                      </p:tavLst>
                                    </p:anim>
                                    <p:set>
                                      <p:cBhvr>
                                        <p:cTn id="9" dur="80"/>
                                        <p:tgtEl>
                                          <p:spTgt spid="168963">
                                            <p:txEl>
                                              <p:charRg st="79" end="162"/>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168963">
                                            <p:txEl>
                                              <p:charRg st="162" end="248"/>
                                            </p:txEl>
                                          </p:spTgt>
                                        </p:tgtEl>
                                        <p:attrNameLst>
                                          <p:attrName>style.visibility</p:attrName>
                                        </p:attrNameLst>
                                      </p:cBhvr>
                                      <p:to>
                                        <p:strVal val="visible"/>
                                      </p:to>
                                    </p:set>
                                    <p:anim calcmode="discrete" valueType="clr">
                                      <p:cBhvr override="childStyle">
                                        <p:cTn id="14" dur="80"/>
                                        <p:tgtEl>
                                          <p:spTgt spid="168963">
                                            <p:txEl>
                                              <p:charRg st="162" end="248"/>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168963">
                                            <p:txEl>
                                              <p:charRg st="162" end="248"/>
                                            </p:txEl>
                                          </p:spTgt>
                                        </p:tgtEl>
                                        <p:attrNameLst>
                                          <p:attrName>fillcolor</p:attrName>
                                        </p:attrNameLst>
                                      </p:cBhvr>
                                      <p:tavLst>
                                        <p:tav tm="0">
                                          <p:val>
                                            <p:clrVal>
                                              <a:schemeClr val="accent2"/>
                                            </p:clrVal>
                                          </p:val>
                                        </p:tav>
                                        <p:tav tm="50000">
                                          <p:val>
                                            <p:clrVal>
                                              <a:schemeClr val="hlink"/>
                                            </p:clrVal>
                                          </p:val>
                                        </p:tav>
                                      </p:tavLst>
                                    </p:anim>
                                    <p:set>
                                      <p:cBhvr>
                                        <p:cTn id="16" dur="80"/>
                                        <p:tgtEl>
                                          <p:spTgt spid="168963">
                                            <p:txEl>
                                              <p:charRg st="162" end="248"/>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3" grpId="0" uiExpand="1"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7" name="Rectangle 3"/>
          <p:cNvSpPr>
            <a:spLocks noGrp="1"/>
          </p:cNvSpPr>
          <p:nvPr>
            <p:ph idx="1"/>
          </p:nvPr>
        </p:nvSpPr>
        <p:spPr/>
        <p:txBody>
          <a:bodyPr vert="horz" wrap="square" lIns="91440" tIns="45720" rIns="91440" bIns="45720" anchor="t" anchorCtr="0"/>
          <a:p>
            <a:pPr eaLnBrk="1" hangingPunct="1">
              <a:lnSpc>
                <a:spcPct val="90000"/>
              </a:lnSpc>
              <a:buNone/>
            </a:pPr>
            <a:r>
              <a:rPr lang="zh-CN" altLang="en-US" sz="2400" dirty="0"/>
              <a:t>例： 已知（</a:t>
            </a:r>
            <a:r>
              <a:rPr lang="en-US" altLang="zh-CN" sz="2400" dirty="0"/>
              <a:t>30H</a:t>
            </a:r>
            <a:r>
              <a:rPr lang="zh-CN" altLang="en-US" sz="2400" dirty="0"/>
              <a:t>）＝</a:t>
            </a:r>
            <a:r>
              <a:rPr lang="en-US" altLang="zh-CN" sz="2400" dirty="0"/>
              <a:t>11H</a:t>
            </a:r>
            <a:r>
              <a:rPr lang="zh-CN" altLang="en-US" sz="2400" dirty="0"/>
              <a:t>，</a:t>
            </a:r>
            <a:r>
              <a:rPr lang="en-US" altLang="zh-CN" sz="2400" dirty="0"/>
              <a:t>(31H)</a:t>
            </a:r>
            <a:r>
              <a:rPr lang="zh-CN" altLang="en-US" sz="2400" dirty="0"/>
              <a:t>＝</a:t>
            </a:r>
            <a:r>
              <a:rPr lang="en-US" altLang="zh-CN" sz="2400" dirty="0"/>
              <a:t>22H</a:t>
            </a:r>
            <a:r>
              <a:rPr lang="zh-CN" altLang="en-US" sz="2400" dirty="0"/>
              <a:t>，则下列程序段的操作过程如下。</a:t>
            </a:r>
            <a:endParaRPr lang="zh-CN" altLang="en-US" sz="2400" dirty="0"/>
          </a:p>
          <a:p>
            <a:pPr eaLnBrk="1" hangingPunct="1">
              <a:lnSpc>
                <a:spcPct val="90000"/>
              </a:lnSpc>
              <a:buNone/>
            </a:pPr>
            <a:endParaRPr lang="zh-CN" altLang="en-US" sz="2400" dirty="0"/>
          </a:p>
          <a:p>
            <a:pPr eaLnBrk="1" hangingPunct="1">
              <a:lnSpc>
                <a:spcPct val="90000"/>
              </a:lnSpc>
              <a:buNone/>
            </a:pPr>
            <a:r>
              <a:rPr lang="en-US" altLang="zh-CN" sz="2400" dirty="0">
                <a:solidFill>
                  <a:srgbClr val="FF3300"/>
                </a:solidFill>
              </a:rPr>
              <a:t>MOV SP, #60H</a:t>
            </a:r>
            <a:r>
              <a:rPr lang="en-US" altLang="zh-CN" sz="2400" dirty="0"/>
              <a:t>   </a:t>
            </a:r>
            <a:r>
              <a:rPr lang="zh-CN" altLang="en-US" sz="2400" dirty="0"/>
              <a:t>；开辟栈区</a:t>
            </a:r>
            <a:r>
              <a:rPr lang="en-US" altLang="zh-CN" sz="2400" dirty="0"/>
              <a:t>(SP)=60H</a:t>
            </a:r>
            <a:endParaRPr lang="zh-CN" altLang="en-US" sz="2400" dirty="0"/>
          </a:p>
          <a:p>
            <a:pPr eaLnBrk="1" hangingPunct="1">
              <a:lnSpc>
                <a:spcPct val="90000"/>
              </a:lnSpc>
              <a:buNone/>
            </a:pPr>
            <a:r>
              <a:rPr lang="en-US" altLang="zh-CN" sz="2400" dirty="0">
                <a:solidFill>
                  <a:srgbClr val="FF3300"/>
                </a:solidFill>
              </a:rPr>
              <a:t>PUSH  30H</a:t>
            </a:r>
            <a:r>
              <a:rPr lang="en-US" altLang="zh-CN" sz="2400" dirty="0"/>
              <a:t>         </a:t>
            </a:r>
            <a:r>
              <a:rPr lang="zh-CN" altLang="en-US" sz="2400" dirty="0"/>
              <a:t>；</a:t>
            </a:r>
            <a:r>
              <a:rPr lang="en-US" altLang="zh-CN" sz="2400" dirty="0"/>
              <a:t>(SP)+1 </a:t>
            </a:r>
            <a:r>
              <a:rPr lang="en-US" altLang="zh-CN" sz="2400" dirty="0">
                <a:sym typeface="Wingdings" panose="05000000000000000000" pitchFamily="2" charset="2"/>
              </a:rPr>
              <a:t></a:t>
            </a:r>
            <a:r>
              <a:rPr lang="en-US" altLang="zh-CN" sz="2400" dirty="0"/>
              <a:t> (SP)=61H</a:t>
            </a:r>
            <a:r>
              <a:rPr lang="zh-CN" altLang="en-US" sz="2400" dirty="0"/>
              <a:t>，</a:t>
            </a:r>
            <a:r>
              <a:rPr lang="en-US" altLang="zh-CN" sz="2400" dirty="0"/>
              <a:t>30H</a:t>
            </a:r>
            <a:r>
              <a:rPr lang="zh-CN" altLang="en-US" sz="2400" dirty="0"/>
              <a:t>内容进栈</a:t>
            </a:r>
            <a:endParaRPr lang="zh-CN" altLang="en-US" sz="2400" dirty="0"/>
          </a:p>
          <a:p>
            <a:pPr eaLnBrk="1" hangingPunct="1">
              <a:lnSpc>
                <a:spcPct val="90000"/>
              </a:lnSpc>
              <a:buNone/>
            </a:pPr>
            <a:r>
              <a:rPr lang="zh-CN" altLang="en-US" sz="2400" dirty="0"/>
              <a:t>                               </a:t>
            </a:r>
            <a:r>
              <a:rPr lang="en-US" altLang="zh-CN" sz="2400" dirty="0"/>
              <a:t>(61H)=11H</a:t>
            </a:r>
            <a:endParaRPr lang="zh-CN" altLang="en-US" sz="2400" dirty="0"/>
          </a:p>
          <a:p>
            <a:pPr eaLnBrk="1" hangingPunct="1">
              <a:lnSpc>
                <a:spcPct val="90000"/>
              </a:lnSpc>
              <a:buNone/>
            </a:pPr>
            <a:r>
              <a:rPr lang="en-US" altLang="zh-CN" sz="2400" dirty="0">
                <a:solidFill>
                  <a:srgbClr val="FF3300"/>
                </a:solidFill>
              </a:rPr>
              <a:t>PUSH 31H</a:t>
            </a:r>
            <a:r>
              <a:rPr lang="en-US" altLang="zh-CN" sz="2400" dirty="0"/>
              <a:t>          </a:t>
            </a:r>
            <a:r>
              <a:rPr lang="zh-CN" altLang="en-US" sz="2400" dirty="0"/>
              <a:t>；</a:t>
            </a:r>
            <a:r>
              <a:rPr lang="en-US" altLang="zh-CN" sz="2400" dirty="0"/>
              <a:t>(SP)+1 </a:t>
            </a:r>
            <a:r>
              <a:rPr lang="en-US" altLang="zh-CN" sz="2400" dirty="0">
                <a:sym typeface="Wingdings" panose="05000000000000000000" pitchFamily="2" charset="2"/>
              </a:rPr>
              <a:t></a:t>
            </a:r>
            <a:r>
              <a:rPr lang="en-US" altLang="zh-CN" sz="2400" dirty="0"/>
              <a:t> (SP)</a:t>
            </a:r>
            <a:r>
              <a:rPr lang="en-US" altLang="zh-CN" sz="2400" dirty="0">
                <a:sym typeface="宋体" pitchFamily="2" charset="-122"/>
              </a:rPr>
              <a:t>=62H</a:t>
            </a:r>
            <a:r>
              <a:rPr lang="zh-CN" altLang="en-US" sz="2400" dirty="0"/>
              <a:t>，</a:t>
            </a:r>
            <a:r>
              <a:rPr lang="en-US" altLang="zh-CN" sz="2400" dirty="0"/>
              <a:t>31H</a:t>
            </a:r>
            <a:r>
              <a:rPr lang="zh-CN" altLang="en-US" sz="2400" dirty="0"/>
              <a:t>元内容进栈</a:t>
            </a:r>
            <a:endParaRPr lang="zh-CN" altLang="en-US" sz="2400" dirty="0"/>
          </a:p>
          <a:p>
            <a:pPr eaLnBrk="1" hangingPunct="1">
              <a:lnSpc>
                <a:spcPct val="90000"/>
              </a:lnSpc>
              <a:buNone/>
            </a:pPr>
            <a:r>
              <a:rPr lang="zh-CN" altLang="en-US" sz="2400" dirty="0"/>
              <a:t>                               </a:t>
            </a:r>
            <a:r>
              <a:rPr lang="en-US" altLang="zh-CN" sz="2400" dirty="0"/>
              <a:t>(62H)</a:t>
            </a:r>
            <a:r>
              <a:rPr lang="zh-CN" altLang="en-US" sz="2400" dirty="0"/>
              <a:t>＝</a:t>
            </a:r>
            <a:r>
              <a:rPr lang="en-US" altLang="zh-CN" sz="2400" dirty="0"/>
              <a:t>22H</a:t>
            </a:r>
            <a:endParaRPr lang="en-US" altLang="zh-CN" sz="2400" dirty="0"/>
          </a:p>
          <a:p>
            <a:pPr eaLnBrk="1" hangingPunct="1">
              <a:lnSpc>
                <a:spcPct val="90000"/>
              </a:lnSpc>
              <a:buNone/>
            </a:pPr>
            <a:r>
              <a:rPr lang="en-US" altLang="zh-CN" sz="2400" dirty="0">
                <a:solidFill>
                  <a:srgbClr val="FF3300"/>
                </a:solidFill>
              </a:rPr>
              <a:t>POP   A</a:t>
            </a:r>
            <a:r>
              <a:rPr lang="en-US" altLang="zh-CN" sz="2400" dirty="0"/>
              <a:t>               </a:t>
            </a:r>
            <a:r>
              <a:rPr lang="zh-CN" altLang="en-US" sz="2400" dirty="0"/>
              <a:t>；</a:t>
            </a:r>
            <a:r>
              <a:rPr lang="en-US" altLang="zh-CN" sz="2400" dirty="0"/>
              <a:t>[(SP)]</a:t>
            </a:r>
            <a:r>
              <a:rPr lang="en-US" altLang="zh-CN" sz="2400" dirty="0">
                <a:sym typeface="Wingdings" panose="05000000000000000000" pitchFamily="2" charset="2"/>
              </a:rPr>
              <a:t></a:t>
            </a:r>
            <a:r>
              <a:rPr lang="en-US" altLang="zh-CN" sz="2400" dirty="0"/>
              <a:t>(A)</a:t>
            </a:r>
            <a:r>
              <a:rPr lang="zh-CN" altLang="en-US" sz="2400" dirty="0"/>
              <a:t>，栈顶</a:t>
            </a:r>
            <a:r>
              <a:rPr lang="en-US" altLang="zh-CN" sz="2400" dirty="0"/>
              <a:t>62H</a:t>
            </a:r>
            <a:r>
              <a:rPr lang="zh-CN" altLang="en-US" sz="2400" dirty="0"/>
              <a:t>单元内容</a:t>
            </a:r>
            <a:r>
              <a:rPr lang="en-US" altLang="zh-CN" sz="2400" dirty="0">
                <a:solidFill>
                  <a:srgbClr val="FF0000"/>
                </a:solidFill>
              </a:rPr>
              <a:t>22H</a:t>
            </a:r>
            <a:r>
              <a:rPr lang="zh-CN" altLang="en-US" sz="2400" dirty="0"/>
              <a:t>弹                </a:t>
            </a:r>
            <a:endParaRPr lang="zh-CN" altLang="en-US" sz="2400" dirty="0"/>
          </a:p>
          <a:p>
            <a:pPr eaLnBrk="1" hangingPunct="1">
              <a:lnSpc>
                <a:spcPct val="90000"/>
              </a:lnSpc>
              <a:buNone/>
            </a:pPr>
            <a:r>
              <a:rPr lang="zh-CN" altLang="en-US" sz="2400" dirty="0"/>
              <a:t>                               出到</a:t>
            </a:r>
            <a:r>
              <a:rPr lang="zh-CN" altLang="en-US" sz="2400" dirty="0">
                <a:sym typeface="宋体" pitchFamily="2" charset="-122"/>
              </a:rPr>
              <a:t>累</a:t>
            </a:r>
            <a:r>
              <a:rPr lang="zh-CN" altLang="en-US" sz="2400" dirty="0"/>
              <a:t>加器</a:t>
            </a:r>
            <a:r>
              <a:rPr lang="en-US" altLang="zh-CN" sz="2400" dirty="0"/>
              <a:t>A</a:t>
            </a:r>
            <a:r>
              <a:rPr lang="zh-CN" altLang="en-US" sz="2400" dirty="0"/>
              <a:t>，</a:t>
            </a:r>
            <a:r>
              <a:rPr lang="en-US" altLang="zh-CN" sz="2400" dirty="0"/>
              <a:t>(SP)</a:t>
            </a:r>
            <a:r>
              <a:rPr lang="zh-CN" altLang="en-US" sz="2400" dirty="0"/>
              <a:t>－</a:t>
            </a:r>
            <a:r>
              <a:rPr lang="en-US" altLang="zh-CN" sz="2400" dirty="0"/>
              <a:t>1</a:t>
            </a:r>
            <a:r>
              <a:rPr lang="en-US" altLang="zh-CN" sz="2400" dirty="0">
                <a:sym typeface="Wingdings" panose="05000000000000000000" pitchFamily="2" charset="2"/>
              </a:rPr>
              <a:t></a:t>
            </a:r>
            <a:r>
              <a:rPr lang="en-US" altLang="zh-CN" sz="2400" dirty="0"/>
              <a:t>(SP)</a:t>
            </a:r>
            <a:r>
              <a:rPr lang="zh-CN" altLang="en-US" sz="2400" dirty="0"/>
              <a:t>＝</a:t>
            </a:r>
            <a:r>
              <a:rPr lang="en-US" altLang="zh-CN" sz="2400" dirty="0"/>
              <a:t>61H</a:t>
            </a:r>
            <a:r>
              <a:rPr lang="zh-CN" altLang="en-US" sz="2400" dirty="0"/>
              <a:t>。</a:t>
            </a:r>
            <a:endParaRPr lang="zh-CN" altLang="en-US" sz="2400" dirty="0"/>
          </a:p>
          <a:p>
            <a:pPr eaLnBrk="1" hangingPunct="1">
              <a:lnSpc>
                <a:spcPct val="90000"/>
              </a:lnSpc>
              <a:buNone/>
            </a:pPr>
            <a:r>
              <a:rPr lang="en-US" altLang="zh-CN" sz="2400" dirty="0">
                <a:solidFill>
                  <a:srgbClr val="FF3300"/>
                </a:solidFill>
              </a:rPr>
              <a:t>POP    B</a:t>
            </a:r>
            <a:r>
              <a:rPr lang="en-US" altLang="zh-CN" sz="2400" dirty="0"/>
              <a:t>              </a:t>
            </a:r>
            <a:r>
              <a:rPr lang="zh-CN" altLang="en-US" sz="2400" dirty="0"/>
              <a:t>；</a:t>
            </a:r>
            <a:r>
              <a:rPr lang="en-US" altLang="zh-CN" sz="2400" dirty="0"/>
              <a:t>[(SP)]</a:t>
            </a:r>
            <a:r>
              <a:rPr lang="en-US" altLang="zh-CN" sz="2400" dirty="0">
                <a:sym typeface="Wingdings" panose="05000000000000000000" pitchFamily="2" charset="2"/>
              </a:rPr>
              <a:t></a:t>
            </a:r>
            <a:r>
              <a:rPr lang="en-US" altLang="zh-CN" sz="2400" dirty="0"/>
              <a:t>(B)</a:t>
            </a:r>
            <a:r>
              <a:rPr lang="zh-CN" altLang="en-US" sz="2400" dirty="0"/>
              <a:t>，栈顶</a:t>
            </a:r>
            <a:r>
              <a:rPr lang="en-US" altLang="zh-CN" sz="2400" dirty="0"/>
              <a:t>61H</a:t>
            </a:r>
            <a:r>
              <a:rPr lang="zh-CN" altLang="en-US" sz="2400" dirty="0"/>
              <a:t>单元内容</a:t>
            </a:r>
            <a:r>
              <a:rPr lang="en-US" altLang="zh-CN" sz="2400" dirty="0"/>
              <a:t>11H</a:t>
            </a:r>
            <a:r>
              <a:rPr lang="zh-CN" altLang="en-US" sz="2400" dirty="0"/>
              <a:t>弹</a:t>
            </a:r>
            <a:endParaRPr lang="zh-CN" altLang="en-US" sz="2400" dirty="0"/>
          </a:p>
          <a:p>
            <a:pPr algn="r" eaLnBrk="1" hangingPunct="1">
              <a:lnSpc>
                <a:spcPct val="90000"/>
              </a:lnSpc>
              <a:buNone/>
            </a:pPr>
            <a:r>
              <a:rPr lang="zh-CN" altLang="en-US" sz="2400" dirty="0"/>
              <a:t>                       出到寄存器</a:t>
            </a:r>
            <a:r>
              <a:rPr lang="en-US" altLang="zh-CN" sz="2400" dirty="0"/>
              <a:t>B</a:t>
            </a:r>
            <a:r>
              <a:rPr lang="zh-CN" altLang="en-US" sz="2400" dirty="0"/>
              <a:t>，</a:t>
            </a:r>
            <a:r>
              <a:rPr lang="en-US" altLang="zh-CN" sz="2400" dirty="0"/>
              <a:t>(SP)</a:t>
            </a:r>
            <a:r>
              <a:rPr lang="zh-CN" altLang="en-US" sz="2400" dirty="0"/>
              <a:t>－</a:t>
            </a:r>
            <a:r>
              <a:rPr lang="en-US" altLang="zh-CN" sz="2400" dirty="0"/>
              <a:t>1</a:t>
            </a:r>
            <a:r>
              <a:rPr lang="en-US" altLang="zh-CN" sz="2400" dirty="0">
                <a:sym typeface="Wingdings" panose="05000000000000000000" pitchFamily="2" charset="2"/>
              </a:rPr>
              <a:t></a:t>
            </a:r>
            <a:r>
              <a:rPr lang="en-US" altLang="zh-CN" sz="2400" dirty="0"/>
              <a:t>(SP)</a:t>
            </a:r>
            <a:r>
              <a:rPr lang="zh-CN" altLang="en-US" sz="2400" dirty="0"/>
              <a:t>＝</a:t>
            </a:r>
            <a:r>
              <a:rPr lang="en-US" altLang="zh-CN" sz="2400" dirty="0"/>
              <a:t>60H</a:t>
            </a:r>
            <a:r>
              <a:rPr lang="zh-CN" altLang="en-US" sz="2400" dirty="0"/>
              <a:t>。</a:t>
            </a:r>
            <a:endParaRPr lang="zh-CN" altLang="en-US" sz="2400" dirty="0"/>
          </a:p>
          <a:p>
            <a:pPr eaLnBrk="1" hangingPunct="1">
              <a:lnSpc>
                <a:spcPct val="90000"/>
              </a:lnSpc>
              <a:buNone/>
            </a:pPr>
            <a:endParaRPr lang="zh-CN" altLang="en-US" sz="2400" dirty="0"/>
          </a:p>
        </p:txBody>
      </p:sp>
      <p:sp>
        <p:nvSpPr>
          <p:cNvPr id="87042" name="Rectangle 2"/>
          <p:cNvSpPr>
            <a:spLocks noChangeArrowheads="1"/>
          </p:cNvSpPr>
          <p:nvPr/>
        </p:nvSpPr>
        <p:spPr bwMode="auto">
          <a:xfrm>
            <a:off x="214313" y="214313"/>
            <a:ext cx="8763000" cy="609600"/>
          </a:xfrm>
          <a:prstGeom prst="rect">
            <a:avLst/>
          </a:prstGeom>
          <a:noFill/>
          <a:ln>
            <a:noFill/>
          </a:ln>
        </p:spPr>
        <p:txBody>
          <a:bodyPr anchor="ctr"/>
          <a:lstStyle>
            <a:lvl1pPr>
              <a:defRPr sz="3600">
                <a:solidFill>
                  <a:schemeClr val="tx2"/>
                </a:solidFill>
                <a:latin typeface="Times New Roman" panose="02020503050405090304" pitchFamily="18" charset="0"/>
                <a:ea typeface="宋体" pitchFamily="2" charset="-122"/>
              </a:defRPr>
            </a:lvl1pPr>
            <a:lvl2pPr>
              <a:defRPr sz="3600">
                <a:solidFill>
                  <a:schemeClr val="tx2"/>
                </a:solidFill>
                <a:latin typeface="Times New Roman" panose="02020503050405090304" pitchFamily="18" charset="0"/>
                <a:ea typeface="宋体" pitchFamily="2" charset="-122"/>
              </a:defRPr>
            </a:lvl2pPr>
            <a:lvl3pPr>
              <a:defRPr sz="3600">
                <a:solidFill>
                  <a:schemeClr val="tx2"/>
                </a:solidFill>
                <a:latin typeface="Times New Roman" panose="02020503050405090304" pitchFamily="18" charset="0"/>
                <a:ea typeface="宋体" pitchFamily="2" charset="-122"/>
              </a:defRPr>
            </a:lvl3pPr>
            <a:lvl4pPr>
              <a:defRPr sz="3600">
                <a:solidFill>
                  <a:schemeClr val="tx2"/>
                </a:solidFill>
                <a:latin typeface="Times New Roman" panose="02020503050405090304" pitchFamily="18" charset="0"/>
                <a:ea typeface="宋体" pitchFamily="2" charset="-122"/>
              </a:defRPr>
            </a:lvl4pPr>
            <a:lvl5pPr>
              <a:defRPr sz="3600">
                <a:solidFill>
                  <a:schemeClr val="tx2"/>
                </a:solidFill>
                <a:latin typeface="Times New Roman" panose="02020503050405090304" pitchFamily="18" charset="0"/>
                <a:ea typeface="宋体" pitchFamily="2" charset="-122"/>
              </a:defRPr>
            </a:lvl5pPr>
            <a:lvl6pPr marL="45720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fontAlgn="base">
              <a:spcBef>
                <a:spcPct val="0"/>
              </a:spcBef>
              <a:spcAft>
                <a:spcPct val="0"/>
              </a:spcAft>
              <a:defRPr sz="3600">
                <a:solidFill>
                  <a:schemeClr val="tx2"/>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第三章</a:t>
            </a:r>
            <a:r>
              <a:rPr kumimoji="0" lang="zh-CN" altLang="en-US" sz="28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zh-CN" altLang="en-US" sz="24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en-US" altLang="zh-CN"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MCS-51</a:t>
            </a: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指令系统</a:t>
            </a:r>
            <a:endParaRPr kumimoji="0" lang="zh-CN" altLang="en-US" sz="3600" b="0"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Times New Roman" panose="02020503050405090304" pitchFamily="18" charset="0"/>
              <a:ea typeface="宋体"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9987">
                                            <p:txEl>
                                              <p:charRg st="41" end="62"/>
                                            </p:txEl>
                                          </p:spTgt>
                                        </p:tgtEl>
                                        <p:attrNameLst>
                                          <p:attrName>style.visibility</p:attrName>
                                        </p:attrNameLst>
                                      </p:cBhvr>
                                      <p:to>
                                        <p:strVal val="visible"/>
                                      </p:to>
                                    </p:set>
                                    <p:animEffect transition="in" filter="blinds(horizontal)">
                                      <p:cBhvr>
                                        <p:cTn id="7" dur="500"/>
                                        <p:tgtEl>
                                          <p:spTgt spid="169987">
                                            <p:txEl>
                                              <p:charRg st="41" end="6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9987">
                                            <p:txEl>
                                              <p:charRg st="62" end="105"/>
                                            </p:txEl>
                                          </p:spTgt>
                                        </p:tgtEl>
                                        <p:attrNameLst>
                                          <p:attrName>style.visibility</p:attrName>
                                        </p:attrNameLst>
                                      </p:cBhvr>
                                      <p:to>
                                        <p:strVal val="visible"/>
                                      </p:to>
                                    </p:set>
                                    <p:animEffect transition="in" filter="blinds(horizontal)">
                                      <p:cBhvr>
                                        <p:cTn id="12" dur="500"/>
                                        <p:tgtEl>
                                          <p:spTgt spid="169987">
                                            <p:txEl>
                                              <p:charRg st="62" end="105"/>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69987">
                                            <p:txEl>
                                              <p:charRg st="105" end="150"/>
                                            </p:txEl>
                                          </p:spTgt>
                                        </p:tgtEl>
                                        <p:attrNameLst>
                                          <p:attrName>style.visibility</p:attrName>
                                        </p:attrNameLst>
                                      </p:cBhvr>
                                      <p:to>
                                        <p:strVal val="visible"/>
                                      </p:to>
                                    </p:set>
                                    <p:animEffect transition="in" filter="blinds(horizontal)">
                                      <p:cBhvr>
                                        <p:cTn id="15" dur="500"/>
                                        <p:tgtEl>
                                          <p:spTgt spid="169987">
                                            <p:txEl>
                                              <p:charRg st="105" end="15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69987">
                                            <p:txEl>
                                              <p:charRg st="150" end="192"/>
                                            </p:txEl>
                                          </p:spTgt>
                                        </p:tgtEl>
                                        <p:attrNameLst>
                                          <p:attrName>style.visibility</p:attrName>
                                        </p:attrNameLst>
                                      </p:cBhvr>
                                      <p:to>
                                        <p:strVal val="visible"/>
                                      </p:to>
                                    </p:set>
                                    <p:animEffect transition="in" filter="blinds(horizontal)">
                                      <p:cBhvr>
                                        <p:cTn id="20" dur="500"/>
                                        <p:tgtEl>
                                          <p:spTgt spid="169987">
                                            <p:txEl>
                                              <p:charRg st="150" end="192"/>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69987">
                                            <p:txEl>
                                              <p:charRg st="192" end="237"/>
                                            </p:txEl>
                                          </p:spTgt>
                                        </p:tgtEl>
                                        <p:attrNameLst>
                                          <p:attrName>style.visibility</p:attrName>
                                        </p:attrNameLst>
                                      </p:cBhvr>
                                      <p:to>
                                        <p:strVal val="visible"/>
                                      </p:to>
                                    </p:set>
                                    <p:animEffect transition="in" filter="blinds(horizontal)">
                                      <p:cBhvr>
                                        <p:cTn id="23" dur="500"/>
                                        <p:tgtEl>
                                          <p:spTgt spid="169987">
                                            <p:txEl>
                                              <p:charRg st="192" end="23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7" grpId="0" uiExpand="1"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9220" name="Rectangle 3"/>
          <p:cNvSpPr>
            <a:spLocks noGrp="1"/>
          </p:cNvSpPr>
          <p:nvPr>
            <p:ph type="body" idx="4294967295"/>
          </p:nvPr>
        </p:nvSpPr>
        <p:spPr>
          <a:xfrm>
            <a:off x="428625" y="857250"/>
            <a:ext cx="8715375" cy="2286000"/>
          </a:xfrm>
        </p:spPr>
        <p:txBody>
          <a:bodyPr vert="horz" wrap="square" lIns="91440" tIns="45720" rIns="91440" bIns="45720" anchor="t" anchorCtr="0"/>
          <a:p>
            <a:pPr marL="0">
              <a:lnSpc>
                <a:spcPct val="100000"/>
              </a:lnSpc>
              <a:spcBef>
                <a:spcPct val="0"/>
              </a:spcBef>
              <a:buNone/>
            </a:pPr>
            <a:endParaRPr lang="zh-CN" altLang="en-US" dirty="0">
              <a:latin typeface="宋体" pitchFamily="2" charset="-122"/>
            </a:endParaRPr>
          </a:p>
          <a:p>
            <a:pPr marL="0">
              <a:lnSpc>
                <a:spcPct val="100000"/>
              </a:lnSpc>
              <a:spcBef>
                <a:spcPct val="0"/>
              </a:spcBef>
              <a:buNone/>
            </a:pPr>
            <a:r>
              <a:rPr lang="zh-CN" altLang="en-US" dirty="0">
                <a:solidFill>
                  <a:schemeClr val="folHlink"/>
                </a:solidFill>
                <a:latin typeface="宋体" pitchFamily="2" charset="-122"/>
              </a:rPr>
              <a:t> 例：</a:t>
            </a:r>
            <a:r>
              <a:rPr lang="zh-CN" altLang="en-US" dirty="0">
                <a:latin typeface="宋体" pitchFamily="2" charset="-122"/>
              </a:rPr>
              <a:t>设</a:t>
            </a:r>
            <a:r>
              <a:rPr lang="zh-CN" altLang="zh-CN" dirty="0">
                <a:latin typeface="宋体" pitchFamily="2" charset="-122"/>
              </a:rPr>
              <a:t> </a:t>
            </a:r>
            <a:r>
              <a:rPr lang="en-US" altLang="zh-CN" dirty="0">
                <a:latin typeface="宋体" pitchFamily="2" charset="-122"/>
              </a:rPr>
              <a:t>A=</a:t>
            </a:r>
            <a:r>
              <a:rPr lang="zh-CN" altLang="en-US" dirty="0">
                <a:latin typeface="宋体" pitchFamily="2" charset="-122"/>
              </a:rPr>
              <a:t>（</a:t>
            </a:r>
            <a:r>
              <a:rPr lang="en-US" altLang="zh-CN" dirty="0">
                <a:latin typeface="宋体" pitchFamily="2" charset="-122"/>
              </a:rPr>
              <a:t>02H</a:t>
            </a:r>
            <a:r>
              <a:rPr lang="zh-CN" altLang="en-US" dirty="0">
                <a:latin typeface="宋体" pitchFamily="2" charset="-122"/>
              </a:rPr>
              <a:t>）</a:t>
            </a:r>
            <a:r>
              <a:rPr lang="en-US" altLang="zh-CN" dirty="0">
                <a:latin typeface="宋体" pitchFamily="2" charset="-122"/>
              </a:rPr>
              <a:t>，</a:t>
            </a:r>
            <a:r>
              <a:rPr lang="zh-CN" altLang="en-US" dirty="0">
                <a:latin typeface="宋体" pitchFamily="2" charset="-122"/>
              </a:rPr>
              <a:t>（</a:t>
            </a:r>
            <a:r>
              <a:rPr lang="en-US" altLang="zh-CN" dirty="0">
                <a:latin typeface="宋体" pitchFamily="2" charset="-122"/>
              </a:rPr>
              <a:t>B</a:t>
            </a:r>
            <a:r>
              <a:rPr lang="zh-CN" altLang="en-US" dirty="0">
                <a:latin typeface="宋体" pitchFamily="2" charset="-122"/>
              </a:rPr>
              <a:t>）</a:t>
            </a:r>
            <a:r>
              <a:rPr lang="en-US" altLang="zh-CN" dirty="0">
                <a:latin typeface="宋体" pitchFamily="2" charset="-122"/>
              </a:rPr>
              <a:t>=56H，</a:t>
            </a:r>
            <a:r>
              <a:rPr lang="zh-CN" altLang="en-US" dirty="0">
                <a:latin typeface="宋体" pitchFamily="2" charset="-122"/>
              </a:rPr>
              <a:t>执行下列指令后，（</a:t>
            </a:r>
            <a:r>
              <a:rPr lang="en-US" altLang="zh-CN" dirty="0">
                <a:latin typeface="宋体" pitchFamily="2" charset="-122"/>
              </a:rPr>
              <a:t>SP</a:t>
            </a:r>
            <a:r>
              <a:rPr lang="zh-CN" altLang="en-US" dirty="0">
                <a:latin typeface="宋体" pitchFamily="2" charset="-122"/>
              </a:rPr>
              <a:t>）</a:t>
            </a:r>
            <a:r>
              <a:rPr lang="en-US" altLang="zh-CN" dirty="0">
                <a:latin typeface="宋体" pitchFamily="2" charset="-122"/>
              </a:rPr>
              <a:t>=  ？，</a:t>
            </a:r>
            <a:r>
              <a:rPr lang="zh-CN" altLang="en-US" dirty="0">
                <a:latin typeface="宋体" pitchFamily="2" charset="-122"/>
              </a:rPr>
              <a:t>（</a:t>
            </a:r>
            <a:r>
              <a:rPr lang="en-US" altLang="zh-CN" dirty="0">
                <a:latin typeface="宋体" pitchFamily="2" charset="-122"/>
              </a:rPr>
              <a:t>A</a:t>
            </a:r>
            <a:r>
              <a:rPr lang="zh-CN" altLang="en-US" dirty="0">
                <a:latin typeface="宋体" pitchFamily="2" charset="-122"/>
              </a:rPr>
              <a:t>）</a:t>
            </a:r>
            <a:r>
              <a:rPr lang="en-US" altLang="zh-CN" dirty="0">
                <a:latin typeface="宋体" pitchFamily="2" charset="-122"/>
              </a:rPr>
              <a:t>=  ？ ，</a:t>
            </a:r>
            <a:r>
              <a:rPr lang="zh-CN" altLang="en-US" dirty="0">
                <a:latin typeface="宋体" pitchFamily="2" charset="-122"/>
              </a:rPr>
              <a:t>（</a:t>
            </a:r>
            <a:r>
              <a:rPr lang="en-US" altLang="zh-CN" dirty="0">
                <a:latin typeface="宋体" pitchFamily="2" charset="-122"/>
              </a:rPr>
              <a:t>B</a:t>
            </a:r>
            <a:r>
              <a:rPr lang="zh-CN" altLang="en-US" dirty="0">
                <a:latin typeface="宋体" pitchFamily="2" charset="-122"/>
              </a:rPr>
              <a:t>）</a:t>
            </a:r>
            <a:r>
              <a:rPr lang="en-US" altLang="zh-CN" dirty="0">
                <a:latin typeface="宋体" pitchFamily="2" charset="-122"/>
              </a:rPr>
              <a:t>= ?</a:t>
            </a:r>
            <a:endParaRPr lang="zh-CN" altLang="en-US" dirty="0">
              <a:latin typeface="宋体" pitchFamily="2" charset="-122"/>
            </a:endParaRPr>
          </a:p>
          <a:p>
            <a:pPr marL="0">
              <a:lnSpc>
                <a:spcPct val="100000"/>
              </a:lnSpc>
              <a:spcBef>
                <a:spcPct val="0"/>
              </a:spcBef>
              <a:buNone/>
            </a:pPr>
            <a:endParaRPr lang="zh-CN" altLang="zh-CN" dirty="0">
              <a:solidFill>
                <a:srgbClr val="FFC000"/>
              </a:solidFill>
              <a:latin typeface="宋体" pitchFamily="2" charset="-122"/>
            </a:endParaRPr>
          </a:p>
        </p:txBody>
      </p:sp>
      <p:sp>
        <p:nvSpPr>
          <p:cNvPr id="4" name="Text Box 25"/>
          <p:cNvSpPr txBox="1"/>
          <p:nvPr/>
        </p:nvSpPr>
        <p:spPr>
          <a:xfrm>
            <a:off x="1758950" y="1711325"/>
            <a:ext cx="815975" cy="473075"/>
          </a:xfrm>
          <a:prstGeom prst="rect">
            <a:avLst/>
          </a:prstGeom>
          <a:solidFill>
            <a:srgbClr val="F6DEE8"/>
          </a:solidFill>
          <a:ln w="9525">
            <a:noFill/>
          </a:ln>
        </p:spPr>
        <p:txBody>
          <a:bodyPr wrap="none" tIns="0" anchor="ctr" anchorCtr="0">
            <a:spAutoFit/>
          </a:bodyPr>
          <a:p>
            <a:pPr algn="ctr">
              <a:spcBef>
                <a:spcPct val="50000"/>
              </a:spcBef>
              <a:buClrTx/>
              <a:buFontTx/>
            </a:pPr>
            <a:r>
              <a:rPr lang="zh-CN" altLang="en-US" sz="2800" dirty="0">
                <a:solidFill>
                  <a:srgbClr val="F59A21"/>
                </a:solidFill>
                <a:latin typeface="Times New Roman" panose="02020503050405090304" pitchFamily="18" charset="0"/>
                <a:ea typeface="仿宋_GB2312" pitchFamily="49" charset="-122"/>
              </a:rPr>
              <a:t>30</a:t>
            </a:r>
            <a:r>
              <a:rPr lang="en-US" altLang="zh-CN" sz="2800" dirty="0">
                <a:solidFill>
                  <a:srgbClr val="F59A21"/>
                </a:solidFill>
                <a:latin typeface="Times New Roman" panose="02020503050405090304" pitchFamily="18" charset="0"/>
                <a:ea typeface="仿宋_GB2312" pitchFamily="49" charset="-122"/>
              </a:rPr>
              <a:t>H</a:t>
            </a:r>
            <a:endParaRPr lang="en-US" altLang="zh-CN" sz="2800" dirty="0">
              <a:solidFill>
                <a:srgbClr val="F59A21"/>
              </a:solidFill>
              <a:latin typeface="Times New Roman" panose="02020503050405090304" pitchFamily="18" charset="0"/>
              <a:ea typeface="仿宋_GB2312" pitchFamily="49" charset="-122"/>
            </a:endParaRPr>
          </a:p>
        </p:txBody>
      </p:sp>
      <p:sp>
        <p:nvSpPr>
          <p:cNvPr id="5" name="Text Box 25"/>
          <p:cNvSpPr txBox="1"/>
          <p:nvPr/>
        </p:nvSpPr>
        <p:spPr>
          <a:xfrm>
            <a:off x="4064000" y="1711325"/>
            <a:ext cx="815975" cy="473075"/>
          </a:xfrm>
          <a:prstGeom prst="rect">
            <a:avLst/>
          </a:prstGeom>
          <a:solidFill>
            <a:srgbClr val="F6DEE8"/>
          </a:solidFill>
          <a:ln w="9525">
            <a:noFill/>
          </a:ln>
        </p:spPr>
        <p:txBody>
          <a:bodyPr wrap="none" tIns="0" anchor="ctr" anchorCtr="0">
            <a:spAutoFit/>
          </a:bodyPr>
          <a:p>
            <a:pPr algn="ctr">
              <a:spcBef>
                <a:spcPct val="50000"/>
              </a:spcBef>
              <a:buClrTx/>
              <a:buFontTx/>
            </a:pPr>
            <a:r>
              <a:rPr lang="en-US" altLang="zh-CN" sz="2800" dirty="0">
                <a:solidFill>
                  <a:srgbClr val="F59A21"/>
                </a:solidFill>
                <a:latin typeface="Times New Roman" panose="02020503050405090304" pitchFamily="18" charset="0"/>
                <a:ea typeface="仿宋_GB2312" pitchFamily="49" charset="-122"/>
              </a:rPr>
              <a:t>02H</a:t>
            </a:r>
            <a:endParaRPr lang="en-US" altLang="zh-CN" sz="2800" dirty="0">
              <a:solidFill>
                <a:srgbClr val="F59A21"/>
              </a:solidFill>
              <a:latin typeface="Times New Roman" panose="02020503050405090304" pitchFamily="18" charset="0"/>
              <a:ea typeface="仿宋_GB2312" pitchFamily="49" charset="-122"/>
            </a:endParaRPr>
          </a:p>
        </p:txBody>
      </p:sp>
      <p:sp>
        <p:nvSpPr>
          <p:cNvPr id="6" name="Text Box 25"/>
          <p:cNvSpPr txBox="1"/>
          <p:nvPr/>
        </p:nvSpPr>
        <p:spPr>
          <a:xfrm>
            <a:off x="6399213" y="1763713"/>
            <a:ext cx="815975" cy="473075"/>
          </a:xfrm>
          <a:prstGeom prst="rect">
            <a:avLst/>
          </a:prstGeom>
          <a:solidFill>
            <a:srgbClr val="F6DEE8"/>
          </a:solidFill>
          <a:ln w="9525">
            <a:noFill/>
          </a:ln>
        </p:spPr>
        <p:txBody>
          <a:bodyPr wrap="none" tIns="0" anchor="ctr" anchorCtr="0">
            <a:spAutoFit/>
          </a:bodyPr>
          <a:p>
            <a:pPr algn="ctr">
              <a:spcBef>
                <a:spcPct val="50000"/>
              </a:spcBef>
              <a:buClrTx/>
              <a:buFontTx/>
            </a:pPr>
            <a:r>
              <a:rPr lang="en-US" altLang="zh-CN" sz="2800" dirty="0">
                <a:solidFill>
                  <a:srgbClr val="F59A21"/>
                </a:solidFill>
                <a:latin typeface="Times New Roman" panose="02020503050405090304" pitchFamily="18" charset="0"/>
                <a:ea typeface="仿宋_GB2312" pitchFamily="49" charset="-122"/>
              </a:rPr>
              <a:t>56H</a:t>
            </a:r>
            <a:endParaRPr lang="en-US" altLang="zh-CN" sz="2800" dirty="0">
              <a:solidFill>
                <a:srgbClr val="F59A21"/>
              </a:solidFill>
              <a:latin typeface="Times New Roman" panose="02020503050405090304" pitchFamily="18" charset="0"/>
              <a:ea typeface="仿宋_GB2312" pitchFamily="49" charset="-122"/>
            </a:endParaRPr>
          </a:p>
        </p:txBody>
      </p:sp>
      <p:sp>
        <p:nvSpPr>
          <p:cNvPr id="9224" name="TextBox 6"/>
          <p:cNvSpPr txBox="1"/>
          <p:nvPr/>
        </p:nvSpPr>
        <p:spPr>
          <a:xfrm>
            <a:off x="428625" y="2798763"/>
            <a:ext cx="5295900" cy="3101975"/>
          </a:xfrm>
          <a:prstGeom prst="rect">
            <a:avLst/>
          </a:prstGeom>
          <a:noFill/>
          <a:ln w="9525">
            <a:noFill/>
          </a:ln>
        </p:spPr>
        <p:txBody>
          <a:bodyPr anchor="t" anchorCtr="0">
            <a:spAutoFit/>
          </a:bodyPr>
          <a:p>
            <a:pPr indent="-342900">
              <a:buClr>
                <a:schemeClr val="accent2"/>
              </a:buClr>
              <a:buSzPct val="80000"/>
            </a:pPr>
            <a:r>
              <a:rPr lang="en-US" altLang="zh-CN" dirty="0">
                <a:latin typeface="宋体" pitchFamily="2" charset="-122"/>
                <a:ea typeface="仿宋_GB2312" pitchFamily="49" charset="-122"/>
              </a:rPr>
              <a:t>  SBR：  MOV   SP，#30H </a:t>
            </a:r>
            <a:r>
              <a:rPr lang="zh-CN" altLang="en-US" dirty="0">
                <a:latin typeface="宋体" pitchFamily="2" charset="-122"/>
                <a:ea typeface="楷体_GB2312" pitchFamily="49" charset="-122"/>
              </a:rPr>
              <a:t>；设栈底</a:t>
            </a:r>
            <a:endParaRPr lang="zh-CN" altLang="en-US" dirty="0">
              <a:latin typeface="宋体" pitchFamily="2" charset="-122"/>
              <a:ea typeface="楷体_GB2312" pitchFamily="49" charset="-122"/>
            </a:endParaRPr>
          </a:p>
          <a:p>
            <a:pPr indent="-342900">
              <a:lnSpc>
                <a:spcPct val="90000"/>
              </a:lnSpc>
              <a:buClr>
                <a:schemeClr val="accent2"/>
              </a:buClr>
              <a:buSzPct val="80000"/>
            </a:pPr>
            <a:r>
              <a:rPr lang="zh-CN" altLang="zh-CN" dirty="0">
                <a:latin typeface="宋体" pitchFamily="2" charset="-122"/>
                <a:ea typeface="仿宋_GB2312" pitchFamily="49" charset="-122"/>
              </a:rPr>
              <a:t>		 </a:t>
            </a:r>
            <a:r>
              <a:rPr lang="en-US" altLang="zh-CN" dirty="0">
                <a:latin typeface="宋体" pitchFamily="2" charset="-122"/>
                <a:ea typeface="仿宋_GB2312" pitchFamily="49" charset="-122"/>
              </a:rPr>
              <a:t>PUSH  A;</a:t>
            </a:r>
            <a:endParaRPr lang="en-US" altLang="zh-CN" dirty="0">
              <a:latin typeface="宋体" pitchFamily="2" charset="-122"/>
              <a:ea typeface="仿宋_GB2312" pitchFamily="49" charset="-122"/>
            </a:endParaRPr>
          </a:p>
          <a:p>
            <a:pPr indent="-342900">
              <a:lnSpc>
                <a:spcPct val="90000"/>
              </a:lnSpc>
              <a:buClr>
                <a:schemeClr val="accent2"/>
              </a:buClr>
              <a:buSzPct val="80000"/>
            </a:pPr>
            <a:r>
              <a:rPr lang="en-US" altLang="zh-CN" dirty="0">
                <a:latin typeface="宋体" pitchFamily="2" charset="-122"/>
                <a:ea typeface="仿宋_GB2312" pitchFamily="49" charset="-122"/>
              </a:rPr>
              <a:t>	       PUSH  B;</a:t>
            </a:r>
            <a:endParaRPr lang="en-US" altLang="zh-CN" dirty="0">
              <a:latin typeface="宋体" pitchFamily="2" charset="-122"/>
              <a:ea typeface="仿宋_GB2312" pitchFamily="49" charset="-122"/>
            </a:endParaRPr>
          </a:p>
          <a:p>
            <a:pPr indent="-342900">
              <a:lnSpc>
                <a:spcPct val="90000"/>
              </a:lnSpc>
              <a:buClr>
                <a:schemeClr val="accent2"/>
              </a:buClr>
              <a:buSzPct val="80000"/>
            </a:pPr>
            <a:r>
              <a:rPr lang="en-US" altLang="zh-CN" dirty="0">
                <a:latin typeface="宋体" pitchFamily="2" charset="-122"/>
                <a:ea typeface="仿宋_GB2312" pitchFamily="49" charset="-122"/>
              </a:rPr>
              <a:t>		 MOV   A，#0;</a:t>
            </a:r>
            <a:endParaRPr lang="en-US" altLang="zh-CN" dirty="0">
              <a:latin typeface="宋体" pitchFamily="2" charset="-122"/>
              <a:ea typeface="仿宋_GB2312" pitchFamily="49" charset="-122"/>
            </a:endParaRPr>
          </a:p>
          <a:p>
            <a:pPr indent="-342900">
              <a:lnSpc>
                <a:spcPct val="90000"/>
              </a:lnSpc>
              <a:buClr>
                <a:schemeClr val="accent2"/>
              </a:buClr>
              <a:buSzPct val="80000"/>
            </a:pPr>
            <a:r>
              <a:rPr lang="en-US" altLang="zh-CN" dirty="0">
                <a:latin typeface="宋体" pitchFamily="2" charset="-122"/>
                <a:ea typeface="仿宋_GB2312" pitchFamily="49" charset="-122"/>
              </a:rPr>
              <a:t>             MOV	 B，#01H;	</a:t>
            </a:r>
            <a:endParaRPr lang="zh-CN" altLang="en-US" dirty="0">
              <a:latin typeface="宋体" pitchFamily="2" charset="-122"/>
              <a:ea typeface="仿宋_GB2312" pitchFamily="49" charset="-122"/>
            </a:endParaRPr>
          </a:p>
          <a:p>
            <a:pPr indent="-342900">
              <a:lnSpc>
                <a:spcPct val="90000"/>
              </a:lnSpc>
              <a:buClr>
                <a:schemeClr val="accent2"/>
              </a:buClr>
              <a:buSzPct val="80000"/>
            </a:pPr>
            <a:r>
              <a:rPr lang="en-US" altLang="zh-CN" dirty="0">
                <a:latin typeface="宋体" pitchFamily="2" charset="-122"/>
                <a:ea typeface="仿宋_GB2312" pitchFamily="49" charset="-122"/>
              </a:rPr>
              <a:t>		 POP	 B	</a:t>
            </a:r>
            <a:endParaRPr lang="en-US" altLang="zh-CN" dirty="0">
              <a:latin typeface="宋体" pitchFamily="2" charset="-122"/>
              <a:ea typeface="仿宋_GB2312" pitchFamily="49" charset="-122"/>
            </a:endParaRPr>
          </a:p>
          <a:p>
            <a:pPr indent="-342900">
              <a:lnSpc>
                <a:spcPct val="90000"/>
              </a:lnSpc>
              <a:buClr>
                <a:schemeClr val="accent2"/>
              </a:buClr>
              <a:buSzPct val="80000"/>
            </a:pPr>
            <a:r>
              <a:rPr lang="en-US" altLang="zh-CN" dirty="0">
                <a:latin typeface="宋体" pitchFamily="2" charset="-122"/>
                <a:ea typeface="仿宋_GB2312" pitchFamily="49" charset="-122"/>
              </a:rPr>
              <a:t>    	       POP   A	</a:t>
            </a:r>
            <a:endParaRPr lang="zh-CN" altLang="en-US" dirty="0">
              <a:latin typeface="宋体" pitchFamily="2" charset="-122"/>
              <a:ea typeface="仿宋_GB2312" pitchFamily="49" charset="-122"/>
            </a:endParaRPr>
          </a:p>
          <a:p>
            <a:pPr indent="-342900">
              <a:spcBef>
                <a:spcPct val="50000"/>
              </a:spcBef>
              <a:buClrTx/>
              <a:buFontTx/>
            </a:pPr>
            <a:endParaRPr lang="zh-CN" altLang="en-US" sz="2800" dirty="0">
              <a:latin typeface="Times New Roman" panose="02020503050405090304" pitchFamily="18" charset="0"/>
              <a:ea typeface="仿宋_GB2312" pitchFamily="49" charset="-122"/>
            </a:endParaRPr>
          </a:p>
        </p:txBody>
      </p:sp>
      <p:graphicFrame>
        <p:nvGraphicFramePr>
          <p:cNvPr id="35850" name="Object 10"/>
          <p:cNvGraphicFramePr>
            <a:graphicFrameLocks noChangeAspect="1"/>
          </p:cNvGraphicFramePr>
          <p:nvPr/>
        </p:nvGraphicFramePr>
        <p:xfrm>
          <a:off x="5807075" y="3038475"/>
          <a:ext cx="2163763" cy="2624138"/>
        </p:xfrm>
        <a:graphic>
          <a:graphicData uri="http://schemas.openxmlformats.org/presentationml/2006/ole">
            <mc:AlternateContent xmlns:mc="http://schemas.openxmlformats.org/markup-compatibility/2006">
              <mc:Choice xmlns:v="urn:schemas-microsoft-com:vml" Requires="v">
                <p:oleObj spid="_x0000_s3084" name="" r:id="rId1" imgW="5501640" imgH="1808480" progId="Word.Document.8">
                  <p:embed/>
                </p:oleObj>
              </mc:Choice>
              <mc:Fallback>
                <p:oleObj name="" r:id="rId1" imgW="5501640" imgH="1808480" progId="Word.Document.8">
                  <p:embed/>
                  <p:pic>
                    <p:nvPicPr>
                      <p:cNvPr id="0" name="Picture 3083"/>
                      <p:cNvPicPr/>
                      <p:nvPr/>
                    </p:nvPicPr>
                    <p:blipFill>
                      <a:blip r:embed="rId2"/>
                      <a:srcRect l="71931"/>
                      <a:stretch>
                        <a:fillRect/>
                      </a:stretch>
                    </p:blipFill>
                    <p:spPr>
                      <a:xfrm>
                        <a:off x="5807075" y="3038475"/>
                        <a:ext cx="2163763" cy="2624138"/>
                      </a:xfrm>
                      <a:prstGeom prst="rect">
                        <a:avLst/>
                      </a:prstGeom>
                      <a:noFill/>
                      <a:ln w="38100">
                        <a:noFill/>
                        <a:miter/>
                      </a:ln>
                    </p:spPr>
                  </p:pic>
                </p:oleObj>
              </mc:Fallback>
            </mc:AlternateContent>
          </a:graphicData>
        </a:graphic>
      </p:graphicFrame>
      <p:sp>
        <p:nvSpPr>
          <p:cNvPr id="93192" name="Text Box 11"/>
          <p:cNvSpPr txBox="1"/>
          <p:nvPr/>
        </p:nvSpPr>
        <p:spPr>
          <a:xfrm>
            <a:off x="6948488" y="4076700"/>
            <a:ext cx="647700" cy="304800"/>
          </a:xfrm>
          <a:prstGeom prst="rect">
            <a:avLst/>
          </a:prstGeom>
          <a:noFill/>
          <a:ln w="9525">
            <a:noFill/>
          </a:ln>
        </p:spPr>
        <p:txBody>
          <a:bodyPr anchor="t" anchorCtr="0">
            <a:spAutoFit/>
          </a:bodyPr>
          <a:p>
            <a:pPr>
              <a:spcBef>
                <a:spcPct val="50000"/>
              </a:spcBef>
              <a:buClrTx/>
              <a:buFontTx/>
            </a:pPr>
            <a:r>
              <a:rPr lang="zh-CN" altLang="en-US" sz="1400" dirty="0">
                <a:latin typeface="Times New Roman" panose="02020503050405090304" pitchFamily="18" charset="0"/>
                <a:ea typeface="黑体" panose="02010609060101010101" pitchFamily="49" charset="-122"/>
              </a:rPr>
              <a:t>…</a:t>
            </a:r>
            <a:endParaRPr lang="zh-CN" altLang="en-US" sz="1400" dirty="0">
              <a:latin typeface="Times New Roman" panose="02020503050405090304" pitchFamily="18"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220">
                                            <p:txEl>
                                              <p:charRg st="1" end="49"/>
                                            </p:txEl>
                                          </p:spTgt>
                                        </p:tgtEl>
                                        <p:attrNameLst>
                                          <p:attrName>style.visibility</p:attrName>
                                        </p:attrNameLst>
                                      </p:cBhvr>
                                      <p:to>
                                        <p:strVal val="visible"/>
                                      </p:to>
                                    </p:set>
                                    <p:animEffect transition="in" filter="blinds(horizontal)">
                                      <p:cBhvr>
                                        <p:cTn id="7" dur="500"/>
                                        <p:tgtEl>
                                          <p:spTgt spid="9220">
                                            <p:txEl>
                                              <p:charRg st="1" end="4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9224"/>
                                        </p:tgtEl>
                                        <p:attrNameLst>
                                          <p:attrName>style.visibility</p:attrName>
                                        </p:attrNameLst>
                                      </p:cBhvr>
                                      <p:to>
                                        <p:strVal val="visible"/>
                                      </p:to>
                                    </p:set>
                                    <p:anim calcmode="lin" valueType="num">
                                      <p:cBhvr additive="base">
                                        <p:cTn id="12" dur="500" fill="hold"/>
                                        <p:tgtEl>
                                          <p:spTgt spid="9224"/>
                                        </p:tgtEl>
                                        <p:attrNameLst>
                                          <p:attrName>ppt_x</p:attrName>
                                        </p:attrNameLst>
                                      </p:cBhvr>
                                      <p:tavLst>
                                        <p:tav tm="0">
                                          <p:val>
                                            <p:strVal val="#ppt_x"/>
                                          </p:val>
                                        </p:tav>
                                        <p:tav tm="100000">
                                          <p:val>
                                            <p:strVal val="#ppt_x"/>
                                          </p:val>
                                        </p:tav>
                                      </p:tavLst>
                                    </p:anim>
                                    <p:anim calcmode="lin" valueType="num">
                                      <p:cBhvr additive="base">
                                        <p:cTn id="13" dur="500" fill="hold"/>
                                        <p:tgtEl>
                                          <p:spTgt spid="922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499"/>
                                          </p:stCondLst>
                                        </p:cTn>
                                        <p:tgtEl>
                                          <p:spTgt spid="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nodeType="clickEffect">
                                  <p:stCondLst>
                                    <p:cond delay="0"/>
                                  </p:stCondLst>
                                  <p:childTnLst>
                                    <p:set>
                                      <p:cBhvr>
                                        <p:cTn id="29" dur="1" fill="hold">
                                          <p:stCondLst>
                                            <p:cond delay="0"/>
                                          </p:stCondLst>
                                        </p:cTn>
                                        <p:tgtEl>
                                          <p:spTgt spid="35850"/>
                                        </p:tgtEl>
                                        <p:attrNameLst>
                                          <p:attrName>style.visibility</p:attrName>
                                        </p:attrNameLst>
                                      </p:cBhvr>
                                      <p:to>
                                        <p:strVal val="visible"/>
                                      </p:to>
                                    </p:set>
                                    <p:anim calcmode="lin" valueType="num">
                                      <p:cBhvr additive="base">
                                        <p:cTn id="30" dur="500" fill="hold"/>
                                        <p:tgtEl>
                                          <p:spTgt spid="35850"/>
                                        </p:tgtEl>
                                        <p:attrNameLst>
                                          <p:attrName>ppt_x</p:attrName>
                                        </p:attrNameLst>
                                      </p:cBhvr>
                                      <p:tavLst>
                                        <p:tav tm="0">
                                          <p:val>
                                            <p:strVal val="1+#ppt_w/2"/>
                                          </p:val>
                                        </p:tav>
                                        <p:tav tm="100000">
                                          <p:val>
                                            <p:strVal val="#ppt_x"/>
                                          </p:val>
                                        </p:tav>
                                      </p:tavLst>
                                    </p:anim>
                                    <p:anim calcmode="lin" valueType="num">
                                      <p:cBhvr additive="base">
                                        <p:cTn id="31" dur="500" fill="hold"/>
                                        <p:tgtEl>
                                          <p:spTgt spid="3585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build="p"/>
      <p:bldP spid="4" grpId="0" bldLvl="0" animBg="1"/>
      <p:bldP spid="5" grpId="0" bldLvl="0" animBg="1"/>
      <p:bldP spid="6" grpId="0" bldLvl="0" animBg="1"/>
      <p:bldP spid="9224"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94210" name="Rectangle 3"/>
          <p:cNvSpPr>
            <a:spLocks noGrp="1"/>
          </p:cNvSpPr>
          <p:nvPr>
            <p:ph type="body" idx="4294967295"/>
          </p:nvPr>
        </p:nvSpPr>
        <p:spPr>
          <a:xfrm>
            <a:off x="179388" y="981075"/>
            <a:ext cx="7993062" cy="1071563"/>
          </a:xfrm>
        </p:spPr>
        <p:txBody>
          <a:bodyPr vert="horz" wrap="square" lIns="91440" tIns="45720" rIns="91440" bIns="45720" anchor="t" anchorCtr="0"/>
          <a:p>
            <a:pPr marL="0">
              <a:lnSpc>
                <a:spcPct val="100000"/>
              </a:lnSpc>
              <a:spcBef>
                <a:spcPct val="0"/>
              </a:spcBef>
              <a:buNone/>
            </a:pPr>
            <a:r>
              <a:rPr lang="zh-CN" altLang="en-US" dirty="0">
                <a:latin typeface="宋体" pitchFamily="2" charset="-122"/>
              </a:rPr>
              <a:t>  （五） 交换指令	</a:t>
            </a:r>
            <a:r>
              <a:rPr lang="zh-CN" altLang="en-US" dirty="0">
                <a:solidFill>
                  <a:srgbClr val="A40079"/>
                </a:solidFill>
                <a:latin typeface="宋体" pitchFamily="2" charset="-122"/>
              </a:rPr>
              <a:t>		</a:t>
            </a:r>
            <a:br>
              <a:rPr lang="zh-CN" altLang="en-US" dirty="0">
                <a:solidFill>
                  <a:srgbClr val="A40079"/>
                </a:solidFill>
                <a:latin typeface="宋体" pitchFamily="2" charset="-122"/>
              </a:rPr>
            </a:br>
            <a:r>
              <a:rPr lang="zh-CN" altLang="en-US" dirty="0">
                <a:solidFill>
                  <a:srgbClr val="A40079"/>
                </a:solidFill>
                <a:latin typeface="宋体" pitchFamily="2" charset="-122"/>
              </a:rPr>
              <a:t>                </a:t>
            </a:r>
            <a:r>
              <a:rPr lang="zh-CN" altLang="en-US" sz="2400" u="sng" dirty="0">
                <a:latin typeface="宋体" pitchFamily="2" charset="-122"/>
              </a:rPr>
              <a:t>实现片内</a:t>
            </a:r>
            <a:r>
              <a:rPr lang="en-US" altLang="zh-CN" sz="2400" u="sng" dirty="0">
                <a:latin typeface="宋体" pitchFamily="2" charset="-122"/>
              </a:rPr>
              <a:t>RAM</a:t>
            </a:r>
            <a:r>
              <a:rPr lang="zh-CN" altLang="en-US" sz="2400" u="sng" dirty="0">
                <a:latin typeface="宋体" pitchFamily="2" charset="-122"/>
              </a:rPr>
              <a:t>区的数据双向传送。</a:t>
            </a:r>
            <a:endParaRPr lang="zh-CN" altLang="zh-CN" sz="2400" dirty="0">
              <a:solidFill>
                <a:srgbClr val="FFC000"/>
              </a:solidFill>
              <a:latin typeface="宋体" pitchFamily="2" charset="-122"/>
            </a:endParaRPr>
          </a:p>
        </p:txBody>
      </p:sp>
      <p:sp>
        <p:nvSpPr>
          <p:cNvPr id="10245" name="TextBox 3"/>
          <p:cNvSpPr txBox="1"/>
          <p:nvPr/>
        </p:nvSpPr>
        <p:spPr>
          <a:xfrm>
            <a:off x="142875" y="1857375"/>
            <a:ext cx="6448425" cy="2244725"/>
          </a:xfrm>
          <a:prstGeom prst="rect">
            <a:avLst/>
          </a:prstGeom>
          <a:noFill/>
          <a:ln w="9525">
            <a:noFill/>
          </a:ln>
        </p:spPr>
        <p:txBody>
          <a:bodyPr wrap="square" anchor="t" anchorCtr="0">
            <a:spAutoFit/>
          </a:bodyPr>
          <a:p>
            <a:pPr>
              <a:buClrTx/>
            </a:pPr>
            <a:r>
              <a:rPr lang="zh-CN" altLang="en-US" sz="2800" dirty="0">
                <a:latin typeface="楷体_GB2312" pitchFamily="49" charset="-122"/>
                <a:ea typeface="楷体_GB2312" pitchFamily="49" charset="-122"/>
              </a:rPr>
              <a:t>1. 字节交换指令</a:t>
            </a:r>
            <a:endParaRPr lang="zh-CN" altLang="en-US" sz="2800" dirty="0">
              <a:latin typeface="楷体_GB2312" pitchFamily="49" charset="-122"/>
              <a:ea typeface="楷体_GB2312" pitchFamily="49" charset="-122"/>
            </a:endParaRPr>
          </a:p>
          <a:p>
            <a:pPr>
              <a:buClrTx/>
            </a:pPr>
            <a:r>
              <a:rPr lang="en-US" altLang="zh-CN" sz="2800" dirty="0">
                <a:solidFill>
                  <a:schemeClr val="tx2"/>
                </a:solidFill>
                <a:latin typeface="宋体" pitchFamily="2" charset="-122"/>
                <a:ea typeface="仿宋_GB2312" pitchFamily="49" charset="-122"/>
              </a:rPr>
              <a:t>   XCH  A，Rn</a:t>
            </a:r>
            <a:r>
              <a:rPr lang="en-US" altLang="zh-CN" sz="2800" dirty="0">
                <a:solidFill>
                  <a:srgbClr val="A40079"/>
                </a:solidFill>
                <a:latin typeface="宋体" pitchFamily="2" charset="-122"/>
                <a:ea typeface="仿宋_GB2312" pitchFamily="49" charset="-122"/>
              </a:rPr>
              <a:t> </a:t>
            </a:r>
            <a:r>
              <a:rPr lang="en-US" altLang="zh-CN" sz="2800" dirty="0">
                <a:latin typeface="宋体" pitchFamily="2" charset="-122"/>
                <a:ea typeface="仿宋_GB2312" pitchFamily="49" charset="-122"/>
              </a:rPr>
              <a:t>；(A) </a:t>
            </a:r>
            <a:r>
              <a:rPr lang="en-US" altLang="zh-CN" sz="2800" dirty="0">
                <a:latin typeface="Symbol" pitchFamily="18" charset="2"/>
                <a:ea typeface="仿宋_GB2312" pitchFamily="49" charset="-122"/>
              </a:rPr>
              <a:t>«</a:t>
            </a:r>
            <a:r>
              <a:rPr lang="en-US" altLang="zh-CN" sz="2800" dirty="0">
                <a:latin typeface="宋体" pitchFamily="2" charset="-122"/>
                <a:ea typeface="仿宋_GB2312" pitchFamily="49" charset="-122"/>
              </a:rPr>
              <a:t> (Rn)</a:t>
            </a:r>
            <a:endParaRPr lang="en-US" altLang="zh-CN" sz="2800" dirty="0">
              <a:latin typeface="宋体" pitchFamily="2" charset="-122"/>
              <a:ea typeface="仿宋_GB2312" pitchFamily="49" charset="-122"/>
            </a:endParaRPr>
          </a:p>
          <a:p>
            <a:pPr>
              <a:buClrTx/>
            </a:pPr>
            <a:r>
              <a:rPr lang="en-US" altLang="zh-CN" sz="2800" dirty="0">
                <a:solidFill>
                  <a:schemeClr val="tx2"/>
                </a:solidFill>
                <a:latin typeface="宋体" pitchFamily="2" charset="-122"/>
                <a:ea typeface="仿宋_GB2312" pitchFamily="49" charset="-122"/>
              </a:rPr>
              <a:t>   XCH  A，@Ri</a:t>
            </a:r>
            <a:r>
              <a:rPr lang="en-US" altLang="zh-CN" sz="2800" dirty="0">
                <a:latin typeface="宋体" pitchFamily="2" charset="-122"/>
                <a:ea typeface="仿宋_GB2312" pitchFamily="49" charset="-122"/>
              </a:rPr>
              <a:t>；(A) </a:t>
            </a:r>
            <a:r>
              <a:rPr lang="en-US" altLang="zh-CN" sz="2800" dirty="0">
                <a:latin typeface="Symbol" pitchFamily="18" charset="2"/>
                <a:ea typeface="仿宋_GB2312" pitchFamily="49" charset="-122"/>
              </a:rPr>
              <a:t>«((</a:t>
            </a:r>
            <a:r>
              <a:rPr lang="en-US" altLang="zh-CN" sz="2800" dirty="0">
                <a:latin typeface="宋体" pitchFamily="2" charset="-122"/>
                <a:ea typeface="仿宋_GB2312" pitchFamily="49" charset="-122"/>
              </a:rPr>
              <a:t>Ri</a:t>
            </a:r>
            <a:r>
              <a:rPr lang="en-US" altLang="zh-CN" sz="2800" dirty="0">
                <a:latin typeface="Symbol" pitchFamily="18" charset="2"/>
                <a:ea typeface="仿宋_GB2312" pitchFamily="49" charset="-122"/>
              </a:rPr>
              <a:t>))</a:t>
            </a:r>
            <a:endParaRPr lang="en-US" altLang="zh-CN" sz="2800" dirty="0">
              <a:solidFill>
                <a:srgbClr val="A40079"/>
              </a:solidFill>
              <a:latin typeface="宋体" pitchFamily="2" charset="-122"/>
              <a:ea typeface="仿宋_GB2312" pitchFamily="49" charset="-122"/>
            </a:endParaRPr>
          </a:p>
          <a:p>
            <a:pPr>
              <a:buClrTx/>
            </a:pPr>
            <a:r>
              <a:rPr lang="en-US" altLang="zh-CN" sz="2800" dirty="0">
                <a:solidFill>
                  <a:schemeClr val="tx2"/>
                </a:solidFill>
                <a:latin typeface="宋体" pitchFamily="2" charset="-122"/>
                <a:ea typeface="仿宋_GB2312" pitchFamily="49" charset="-122"/>
              </a:rPr>
              <a:t>   XCH  A，direct</a:t>
            </a:r>
            <a:r>
              <a:rPr lang="en-US" altLang="zh-CN" sz="2800" dirty="0">
                <a:latin typeface="宋体" pitchFamily="2" charset="-122"/>
                <a:ea typeface="仿宋_GB2312" pitchFamily="49" charset="-122"/>
              </a:rPr>
              <a:t>；(A)</a:t>
            </a:r>
            <a:r>
              <a:rPr lang="en-US" altLang="zh-CN" sz="2800" dirty="0">
                <a:latin typeface="Symbol" pitchFamily="18" charset="2"/>
                <a:ea typeface="仿宋_GB2312" pitchFamily="49" charset="-122"/>
              </a:rPr>
              <a:t>«</a:t>
            </a:r>
            <a:r>
              <a:rPr lang="en-US" altLang="zh-CN" sz="2800" dirty="0">
                <a:latin typeface="宋体" pitchFamily="2" charset="-122"/>
                <a:ea typeface="仿宋_GB2312" pitchFamily="49" charset="-122"/>
              </a:rPr>
              <a:t>(direct)</a:t>
            </a:r>
            <a:endParaRPr lang="en-US" altLang="zh-CN" sz="2800" dirty="0">
              <a:solidFill>
                <a:srgbClr val="A40079"/>
              </a:solidFill>
              <a:latin typeface="宋体" pitchFamily="2" charset="-122"/>
              <a:ea typeface="仿宋_GB2312" pitchFamily="49" charset="-122"/>
            </a:endParaRPr>
          </a:p>
          <a:p>
            <a:pPr>
              <a:buClrTx/>
            </a:pPr>
            <a:endParaRPr lang="zh-CN" altLang="en-US" sz="2800" dirty="0">
              <a:latin typeface="宋体" pitchFamily="2" charset="-122"/>
              <a:ea typeface="仿宋_GB2312" pitchFamily="49" charset="-122"/>
            </a:endParaRPr>
          </a:p>
        </p:txBody>
      </p:sp>
      <p:sp>
        <p:nvSpPr>
          <p:cNvPr id="11269" name="Rectangle 3"/>
          <p:cNvSpPr>
            <a:spLocks noGrp="1" noChangeArrowheads="1"/>
          </p:cNvSpPr>
          <p:nvPr/>
        </p:nvSpPr>
        <p:spPr>
          <a:xfrm>
            <a:off x="-258762" y="3721100"/>
            <a:ext cx="8643938" cy="1500188"/>
          </a:xfrm>
          <a:prstGeom prst="rect">
            <a:avLst/>
          </a:prstGeom>
          <a:noFill/>
          <a:ln w="9525">
            <a:noFill/>
          </a:ln>
        </p:spPr>
        <p:txBody>
          <a:bodyPr vert="horz" wrap="square" lIns="91440" tIns="45720" rIns="91440" bIns="45720" numCol="1" anchor="t" anchorCtr="0" compatLnSpc="1"/>
          <a:lstStyle>
            <a:lvl1pPr marL="342900" indent="-342900" algn="l" defTabSz="425450" rtl="0" eaLnBrk="0" fontAlgn="base" hangingPunct="0">
              <a:lnSpc>
                <a:spcPct val="130000"/>
              </a:lnSpc>
              <a:spcBef>
                <a:spcPct val="20000"/>
              </a:spcBef>
              <a:spcAft>
                <a:spcPct val="0"/>
              </a:spcAft>
              <a:buClr>
                <a:schemeClr val="folHlink"/>
              </a:buClr>
              <a:buFont typeface="Wingdings" panose="05000000000000000000" pitchFamily="2" charset="2"/>
              <a:buChar char="v"/>
              <a:defRPr kumimoji="1" sz="2800" b="1">
                <a:solidFill>
                  <a:schemeClr val="tx1"/>
                </a:solidFill>
                <a:latin typeface="+mn-lt"/>
                <a:ea typeface="+mn-ea"/>
                <a:cs typeface="+mn-cs"/>
              </a:defRPr>
            </a:lvl1pPr>
            <a:lvl2pPr marL="382905" indent="5080" algn="l" defTabSz="425450" rtl="0" eaLnBrk="0" fontAlgn="base" hangingPunct="0">
              <a:spcBef>
                <a:spcPct val="20000"/>
              </a:spcBef>
              <a:spcAft>
                <a:spcPct val="0"/>
              </a:spcAft>
              <a:buClr>
                <a:schemeClr val="accent2"/>
              </a:buClr>
              <a:buChar char="•"/>
              <a:defRPr kumimoji="1" sz="2400" b="1">
                <a:solidFill>
                  <a:schemeClr val="tx1"/>
                </a:solidFill>
                <a:latin typeface="+mn-lt"/>
                <a:ea typeface="+mn-ea"/>
              </a:defRPr>
            </a:lvl2pPr>
            <a:lvl3pPr marL="757555" indent="5080" algn="l" defTabSz="425450" rtl="0" eaLnBrk="0" fontAlgn="base" hangingPunct="0">
              <a:spcBef>
                <a:spcPct val="20000"/>
              </a:spcBef>
              <a:spcAft>
                <a:spcPct val="0"/>
              </a:spcAft>
              <a:buClr>
                <a:schemeClr val="hlink"/>
              </a:buClr>
              <a:buFont typeface="Wingdings" panose="05000000000000000000" pitchFamily="2" charset="2"/>
              <a:buChar char="§"/>
              <a:defRPr kumimoji="1" sz="2000" b="1">
                <a:solidFill>
                  <a:schemeClr val="tx1"/>
                </a:solidFill>
                <a:latin typeface="+mn-lt"/>
                <a:ea typeface="+mn-ea"/>
              </a:defRPr>
            </a:lvl3pPr>
            <a:lvl4pPr marL="1144905" indent="5080" algn="l" defTabSz="425450" rtl="0" eaLnBrk="0" fontAlgn="base" hangingPunct="0">
              <a:spcBef>
                <a:spcPct val="20000"/>
              </a:spcBef>
              <a:spcAft>
                <a:spcPct val="0"/>
              </a:spcAft>
              <a:buClr>
                <a:schemeClr val="tx2"/>
              </a:buClr>
              <a:buChar char="–"/>
              <a:defRPr kumimoji="1" sz="2000" b="1">
                <a:solidFill>
                  <a:schemeClr val="tx1"/>
                </a:solidFill>
                <a:latin typeface="+mn-lt"/>
                <a:ea typeface="+mn-ea"/>
              </a:defRPr>
            </a:lvl4pPr>
            <a:lvl5pPr marL="1530350" indent="6350" algn="l" defTabSz="425450" rtl="0" eaLnBrk="0" fontAlgn="base" hangingPunct="0">
              <a:spcBef>
                <a:spcPct val="20000"/>
              </a:spcBef>
              <a:spcAft>
                <a:spcPct val="0"/>
              </a:spcAft>
              <a:buClr>
                <a:schemeClr val="accent1"/>
              </a:buClr>
              <a:buChar char="»"/>
              <a:defRPr kumimoji="1" sz="2000" b="1">
                <a:solidFill>
                  <a:schemeClr val="tx1"/>
                </a:solidFill>
                <a:latin typeface="+mn-lt"/>
                <a:ea typeface="+mn-ea"/>
              </a:defRPr>
            </a:lvl5pPr>
            <a:lvl6pPr marL="19875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6pPr>
            <a:lvl7pPr marL="24447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7pPr>
            <a:lvl8pPr marL="29019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8pPr>
            <a:lvl9pPr marL="3359150" indent="6350" algn="l" defTabSz="425450" rtl="0" fontAlgn="base">
              <a:spcBef>
                <a:spcPct val="20000"/>
              </a:spcBef>
              <a:spcAft>
                <a:spcPct val="0"/>
              </a:spcAft>
              <a:buClr>
                <a:schemeClr val="accent1"/>
              </a:buClr>
              <a:buChar char="»"/>
              <a:defRPr kumimoji="1" sz="2000" b="1">
                <a:solidFill>
                  <a:schemeClr val="tx1"/>
                </a:solidFill>
                <a:latin typeface="+mn-lt"/>
                <a:ea typeface="+mn-ea"/>
              </a:defRPr>
            </a:lvl9pPr>
          </a:lstStyle>
          <a:p>
            <a:pPr marL="0" marR="0" lvl="0" indent="-342900" algn="just" defTabSz="42545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r>
              <a:rPr kumimoji="1" lang="zh-CN" altLang="en-US" sz="2800" b="1" i="0" u="none" strike="noStrike" kern="0" cap="none" spc="0" normalizeH="0" baseline="0" noProof="0" dirty="0" smtClean="0">
                <a:ln>
                  <a:noFill/>
                </a:ln>
                <a:solidFill>
                  <a:schemeClr val="tx1"/>
                </a:solidFill>
                <a:effectLst/>
                <a:uLnTx/>
                <a:uFillTx/>
                <a:latin typeface="宋体" pitchFamily="2" charset="-122"/>
                <a:ea typeface="+mn-ea"/>
                <a:cs typeface="+mn-cs"/>
              </a:rPr>
              <a:t>  2. 半字节交换指令</a:t>
            </a:r>
            <a:endParaRPr kumimoji="1"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812800" marR="0" lvl="0" indent="12700" algn="l" defTabSz="42545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2"/>
                </a:solidFill>
                <a:effectLst/>
                <a:uLnTx/>
                <a:uFillTx/>
                <a:latin typeface="宋体" pitchFamily="2" charset="-122"/>
                <a:ea typeface="+mn-ea"/>
                <a:cs typeface="+mn-cs"/>
              </a:rPr>
              <a:t>XCHD  A，@</a:t>
            </a:r>
            <a:r>
              <a:rPr kumimoji="0" lang="en-US" altLang="zh-CN" sz="2800" b="1" i="0" u="none" strike="noStrike" kern="0" cap="none" spc="0" normalizeH="0" baseline="0" noProof="0" dirty="0" err="1" smtClean="0">
                <a:ln>
                  <a:noFill/>
                </a:ln>
                <a:solidFill>
                  <a:schemeClr val="tx2"/>
                </a:solidFill>
                <a:effectLst/>
                <a:uLnTx/>
                <a:uFillTx/>
                <a:latin typeface="宋体" pitchFamily="2" charset="-122"/>
                <a:ea typeface="+mn-ea"/>
                <a:cs typeface="+mn-cs"/>
              </a:rPr>
              <a:t>Ri</a:t>
            </a:r>
            <a:r>
              <a:rPr kumimoji="0" lang="en-US" altLang="zh-CN" sz="2800" b="1" i="0" u="none" strike="noStrike" kern="0" cap="none" spc="0" normalizeH="0" baseline="0" noProof="0" dirty="0" smtClean="0">
                <a:ln>
                  <a:noFill/>
                </a:ln>
                <a:solidFill>
                  <a:srgbClr val="A40079"/>
                </a:solidFill>
                <a:effectLst/>
                <a:uLnTx/>
                <a:uFillTx/>
                <a:latin typeface="宋体" pitchFamily="2" charset="-122"/>
                <a:ea typeface="+mn-ea"/>
                <a:cs typeface="+mn-cs"/>
              </a:rPr>
              <a:t> </a:t>
            </a: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a:t>
            </a:r>
            <a:r>
              <a:rPr lang="en-US" altLang="zh-CN" strike="noStrike" noProof="1" dirty="0">
                <a:latin typeface="宋体" pitchFamily="2" charset="-122"/>
                <a:ea typeface="+mn-ea"/>
                <a:cs typeface="+mn-cs"/>
                <a:sym typeface="+mn-ea"/>
              </a:rPr>
              <a:t>(</a:t>
            </a: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A</a:t>
            </a:r>
            <a:r>
              <a:rPr lang="en-US" altLang="zh-CN" strike="noStrike" noProof="1" dirty="0">
                <a:latin typeface="宋体" pitchFamily="2" charset="-122"/>
                <a:ea typeface="仿宋_GB2312" pitchFamily="49" charset="-122"/>
                <a:cs typeface="+mn-cs"/>
                <a:sym typeface="+mn-ea"/>
              </a:rPr>
              <a:t>)</a:t>
            </a:r>
            <a:r>
              <a:rPr kumimoji="0" lang="en-US" altLang="zh-CN" sz="2800" b="1" i="0" u="none" strike="noStrike" kern="0" cap="none" spc="0" normalizeH="0" baseline="-25000" noProof="0" dirty="0" smtClean="0">
                <a:ln>
                  <a:noFill/>
                </a:ln>
                <a:solidFill>
                  <a:schemeClr val="tx1"/>
                </a:solidFill>
                <a:effectLst/>
                <a:uLnTx/>
                <a:uFillTx/>
                <a:latin typeface="宋体" pitchFamily="2" charset="-122"/>
                <a:ea typeface="+mn-ea"/>
                <a:cs typeface="+mn-cs"/>
              </a:rPr>
              <a:t>0～3</a:t>
            </a: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 </a:t>
            </a:r>
            <a:r>
              <a:rPr kumimoji="0" lang="en-US" altLang="zh-CN" sz="2800" b="1" i="0" u="none" strike="noStrike" kern="0" cap="none" spc="0" normalizeH="0" baseline="0" noProof="0" dirty="0" smtClean="0">
                <a:ln>
                  <a:noFill/>
                </a:ln>
                <a:solidFill>
                  <a:schemeClr val="tx1"/>
                </a:solidFill>
                <a:effectLst/>
                <a:uLnTx/>
                <a:uFillTx/>
                <a:latin typeface="Symbol" pitchFamily="18" charset="2"/>
                <a:ea typeface="+mn-ea"/>
                <a:cs typeface="+mn-cs"/>
              </a:rPr>
              <a:t>«</a:t>
            </a: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a:t>
            </a:r>
            <a:r>
              <a:rPr kumimoji="0" lang="en-US" altLang="zh-CN" sz="2800" b="1" i="0" u="none" strike="noStrike" kern="0" cap="none" spc="0" normalizeH="0" baseline="0" noProof="0" dirty="0" err="1" smtClean="0">
                <a:ln>
                  <a:noFill/>
                </a:ln>
                <a:solidFill>
                  <a:schemeClr val="tx1"/>
                </a:solidFill>
                <a:effectLst/>
                <a:uLnTx/>
                <a:uFillTx/>
                <a:latin typeface="宋体" pitchFamily="2" charset="-122"/>
                <a:ea typeface="+mn-ea"/>
                <a:cs typeface="+mn-cs"/>
              </a:rPr>
              <a:t>Ri</a:t>
            </a: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a:t>
            </a:r>
            <a:r>
              <a:rPr kumimoji="0" lang="en-US" altLang="zh-CN" sz="2800" b="1" i="0" u="none" strike="noStrike" kern="0" cap="none" spc="0" normalizeH="0" baseline="-25000" noProof="0" dirty="0" smtClean="0">
                <a:ln>
                  <a:noFill/>
                </a:ln>
                <a:solidFill>
                  <a:schemeClr val="tx1"/>
                </a:solidFill>
                <a:effectLst/>
                <a:uLnTx/>
                <a:uFillTx/>
                <a:latin typeface="宋体" pitchFamily="2" charset="-122"/>
                <a:ea typeface="+mn-ea"/>
                <a:cs typeface="+mn-cs"/>
              </a:rPr>
              <a:t>0～3</a:t>
            </a:r>
            <a:r>
              <a:rPr kumimoji="0" lang="en-US" altLang="zh-CN" sz="2800" b="1" i="0" u="none" strike="noStrike" kern="0" cap="none" spc="0" normalizeH="0" baseline="-25000" noProof="0" dirty="0" smtClean="0">
                <a:ln>
                  <a:noFill/>
                </a:ln>
                <a:solidFill>
                  <a:srgbClr val="A40079"/>
                </a:solidFill>
                <a:effectLst/>
                <a:uLnTx/>
                <a:uFillTx/>
                <a:latin typeface="宋体" pitchFamily="2" charset="-122"/>
                <a:ea typeface="+mn-ea"/>
                <a:cs typeface="+mn-cs"/>
              </a:rPr>
              <a:t>	</a:t>
            </a:r>
            <a:endParaRPr kumimoji="0" lang="en-US" altLang="zh-CN" sz="2800" b="1" i="0" u="none" strike="noStrike" kern="0" cap="none" spc="0" normalizeH="0" baseline="-25000" noProof="0" dirty="0" smtClean="0">
              <a:ln>
                <a:noFill/>
              </a:ln>
              <a:solidFill>
                <a:srgbClr val="A40079"/>
              </a:solidFill>
              <a:effectLst/>
              <a:uLnTx/>
              <a:uFillTx/>
              <a:latin typeface="宋体" pitchFamily="2" charset="-122"/>
              <a:ea typeface="+mn-ea"/>
              <a:cs typeface="+mn-cs"/>
            </a:endParaRPr>
          </a:p>
          <a:p>
            <a:pPr marL="812800" marR="0" lvl="0" indent="0" algn="l" defTabSz="42545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2"/>
                </a:solidFill>
                <a:effectLst/>
                <a:uLnTx/>
                <a:uFillTx/>
                <a:latin typeface="宋体" pitchFamily="2" charset="-122"/>
                <a:ea typeface="+mn-ea"/>
                <a:cs typeface="+mn-cs"/>
              </a:rPr>
              <a:t>SWAP  A</a:t>
            </a:r>
            <a:r>
              <a:rPr kumimoji="0" lang="en-US" altLang="zh-CN" sz="2800" b="1" i="0" u="none" strike="noStrike" kern="0" cap="none" spc="0" normalizeH="0" baseline="0" noProof="0" dirty="0" smtClean="0">
                <a:ln>
                  <a:noFill/>
                </a:ln>
                <a:solidFill>
                  <a:srgbClr val="A40079"/>
                </a:solidFill>
                <a:effectLst/>
                <a:uLnTx/>
                <a:uFillTx/>
                <a:latin typeface="宋体" pitchFamily="2" charset="-122"/>
                <a:ea typeface="+mn-ea"/>
                <a:cs typeface="+mn-cs"/>
              </a:rPr>
              <a:t>	 </a:t>
            </a: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   ；</a:t>
            </a:r>
            <a:r>
              <a:rPr lang="en-US" altLang="zh-CN" strike="noStrike" noProof="1" dirty="0">
                <a:latin typeface="宋体" pitchFamily="2" charset="-122"/>
                <a:ea typeface="+mn-ea"/>
                <a:cs typeface="+mn-cs"/>
                <a:sym typeface="+mn-ea"/>
              </a:rPr>
              <a:t>(</a:t>
            </a:r>
            <a:r>
              <a:rPr kumimoji="0" lang="en-US" altLang="zh-CN" strike="noStrike" kern="0" noProof="0" dirty="0" smtClean="0">
                <a:ln>
                  <a:noFill/>
                </a:ln>
                <a:effectLst/>
                <a:uLnTx/>
                <a:uFillTx/>
                <a:latin typeface="宋体" pitchFamily="2" charset="-122"/>
                <a:ea typeface="+mn-ea"/>
                <a:cs typeface="+mn-cs"/>
                <a:sym typeface="+mn-ea"/>
              </a:rPr>
              <a:t>A</a:t>
            </a:r>
            <a:r>
              <a:rPr lang="en-US" altLang="zh-CN" strike="noStrike" noProof="1" dirty="0">
                <a:latin typeface="宋体" pitchFamily="2" charset="-122"/>
                <a:ea typeface="仿宋_GB2312" pitchFamily="49" charset="-122"/>
                <a:cs typeface="+mn-cs"/>
                <a:sym typeface="+mn-ea"/>
              </a:rPr>
              <a:t>)</a:t>
            </a:r>
            <a:r>
              <a:rPr kumimoji="0" lang="en-US" altLang="zh-CN" sz="2800" b="1" i="0" u="none" strike="noStrike" kern="0" cap="none" spc="0" normalizeH="0" baseline="-25000" noProof="0" dirty="0" smtClean="0">
                <a:ln>
                  <a:noFill/>
                </a:ln>
                <a:solidFill>
                  <a:schemeClr val="tx1"/>
                </a:solidFill>
                <a:effectLst/>
                <a:uLnTx/>
                <a:uFillTx/>
                <a:latin typeface="宋体" pitchFamily="2" charset="-122"/>
                <a:ea typeface="+mn-ea"/>
                <a:cs typeface="+mn-cs"/>
              </a:rPr>
              <a:t>4～7</a:t>
            </a: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 </a:t>
            </a:r>
            <a:r>
              <a:rPr kumimoji="0" lang="en-US" altLang="zh-CN" sz="2800" b="1" i="0" u="none" strike="noStrike" kern="0" cap="none" spc="0" normalizeH="0" baseline="0" noProof="0" dirty="0" smtClean="0">
                <a:ln>
                  <a:noFill/>
                </a:ln>
                <a:solidFill>
                  <a:schemeClr val="tx1"/>
                </a:solidFill>
                <a:effectLst/>
                <a:uLnTx/>
                <a:uFillTx/>
                <a:latin typeface="Symbol" pitchFamily="18" charset="2"/>
                <a:ea typeface="+mn-ea"/>
                <a:cs typeface="+mn-cs"/>
              </a:rPr>
              <a:t>«</a:t>
            </a: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 </a:t>
            </a:r>
            <a:r>
              <a:rPr lang="en-US" altLang="zh-CN" strike="noStrike" noProof="1" dirty="0">
                <a:latin typeface="宋体" pitchFamily="2" charset="-122"/>
                <a:ea typeface="+mn-ea"/>
                <a:cs typeface="+mn-cs"/>
                <a:sym typeface="+mn-ea"/>
              </a:rPr>
              <a:t>(</a:t>
            </a:r>
            <a:r>
              <a:rPr kumimoji="0" lang="en-US" altLang="zh-CN" strike="noStrike" kern="0" noProof="0" dirty="0" smtClean="0">
                <a:ln>
                  <a:noFill/>
                </a:ln>
                <a:effectLst/>
                <a:uLnTx/>
                <a:uFillTx/>
                <a:latin typeface="宋体" pitchFamily="2" charset="-122"/>
                <a:ea typeface="+mn-ea"/>
                <a:cs typeface="+mn-cs"/>
                <a:sym typeface="+mn-ea"/>
              </a:rPr>
              <a:t>A</a:t>
            </a:r>
            <a:r>
              <a:rPr lang="en-US" altLang="zh-CN" strike="noStrike" noProof="1" dirty="0">
                <a:latin typeface="宋体" pitchFamily="2" charset="-122"/>
                <a:ea typeface="仿宋_GB2312" pitchFamily="49" charset="-122"/>
                <a:cs typeface="+mn-cs"/>
                <a:sym typeface="+mn-ea"/>
              </a:rPr>
              <a:t>)</a:t>
            </a:r>
            <a:r>
              <a:rPr kumimoji="0" lang="en-US" altLang="zh-CN" sz="2800" b="1" i="0" u="none" strike="noStrike" kern="0" cap="none" spc="0" normalizeH="0" baseline="-25000" noProof="0" dirty="0" smtClean="0">
                <a:ln>
                  <a:noFill/>
                </a:ln>
                <a:solidFill>
                  <a:schemeClr val="tx1"/>
                </a:solidFill>
                <a:effectLst/>
                <a:uLnTx/>
                <a:uFillTx/>
                <a:latin typeface="宋体" pitchFamily="2" charset="-122"/>
                <a:ea typeface="+mn-ea"/>
                <a:cs typeface="+mn-cs"/>
              </a:rPr>
              <a:t>0～3</a:t>
            </a:r>
            <a:endParaRPr kumimoji="1" lang="zh-CN" altLang="zh-CN" sz="2800" b="1" i="0" u="none" strike="noStrike" kern="0" cap="none" spc="0" normalizeH="0" baseline="0" noProof="0" dirty="0" smtClean="0">
              <a:ln>
                <a:noFill/>
              </a:ln>
              <a:solidFill>
                <a:srgbClr val="FFC000"/>
              </a:solidFill>
              <a:effectLst/>
              <a:uLnTx/>
              <a:uFillTx/>
              <a:latin typeface="宋体" pitchFamily="2" charset="-122"/>
              <a:ea typeface="+mn-ea"/>
              <a:cs typeface="+mn-cs"/>
            </a:endParaRPr>
          </a:p>
        </p:txBody>
      </p:sp>
      <p:sp>
        <p:nvSpPr>
          <p:cNvPr id="76805" name="Rectangle 11"/>
          <p:cNvSpPr/>
          <p:nvPr/>
        </p:nvSpPr>
        <p:spPr>
          <a:xfrm>
            <a:off x="142875" y="5221288"/>
            <a:ext cx="7081838" cy="822325"/>
          </a:xfrm>
          <a:prstGeom prst="rect">
            <a:avLst/>
          </a:prstGeom>
          <a:noFill/>
          <a:ln w="9525">
            <a:noFill/>
          </a:ln>
        </p:spPr>
        <p:txBody>
          <a:bodyPr wrap="none" anchor="ctr" anchorCtr="0">
            <a:spAutoFit/>
          </a:bodyPr>
          <a:p>
            <a:pPr indent="266700" eaLnBrk="0" hangingPunct="0"/>
            <a:r>
              <a:rPr lang="en-US" altLang="zh-CN" dirty="0">
                <a:latin typeface="Times New Roman" panose="02020503050405090304" pitchFamily="18" charset="0"/>
                <a:ea typeface="仿宋_GB2312" pitchFamily="49" charset="-122"/>
              </a:rPr>
              <a:t>XCHD</a:t>
            </a:r>
            <a:r>
              <a:rPr lang="zh-CN" altLang="en-US" dirty="0">
                <a:latin typeface="Times New Roman" panose="02020503050405090304" pitchFamily="18" charset="0"/>
                <a:ea typeface="仿宋_GB2312" pitchFamily="49" charset="-122"/>
              </a:rPr>
              <a:t>是间址操作数的低半字节与</a:t>
            </a:r>
            <a:r>
              <a:rPr lang="en-US" altLang="zh-CN" dirty="0">
                <a:latin typeface="Times New Roman" panose="02020503050405090304" pitchFamily="18" charset="0"/>
                <a:ea typeface="仿宋_GB2312" pitchFamily="49" charset="-122"/>
              </a:rPr>
              <a:t>A</a:t>
            </a:r>
            <a:r>
              <a:rPr lang="zh-CN" altLang="en-US" dirty="0">
                <a:latin typeface="Times New Roman" panose="02020503050405090304" pitchFamily="18" charset="0"/>
                <a:ea typeface="仿宋_GB2312" pitchFamily="49" charset="-122"/>
              </a:rPr>
              <a:t>的低半字节互换。</a:t>
            </a:r>
            <a:endParaRPr lang="zh-CN" altLang="en-US" dirty="0">
              <a:latin typeface="Times New Roman" panose="02020503050405090304" pitchFamily="18" charset="0"/>
              <a:ea typeface="仿宋_GB2312" pitchFamily="49" charset="-122"/>
            </a:endParaRPr>
          </a:p>
          <a:p>
            <a:pPr indent="266700" eaLnBrk="0" hangingPunct="0"/>
            <a:r>
              <a:rPr lang="en-US" altLang="zh-CN" dirty="0">
                <a:latin typeface="Times New Roman" panose="02020503050405090304" pitchFamily="18" charset="0"/>
                <a:ea typeface="仿宋_GB2312" pitchFamily="49" charset="-122"/>
              </a:rPr>
              <a:t>SWAP</a:t>
            </a:r>
            <a:r>
              <a:rPr lang="zh-CN" altLang="en-US" dirty="0">
                <a:latin typeface="Times New Roman" panose="02020503050405090304" pitchFamily="18" charset="0"/>
                <a:ea typeface="仿宋_GB2312" pitchFamily="49" charset="-122"/>
              </a:rPr>
              <a:t>是累加器的高低</a:t>
            </a:r>
            <a:r>
              <a:rPr lang="en-US" altLang="zh-CN" dirty="0">
                <a:latin typeface="Times New Roman" panose="02020503050405090304" pitchFamily="18" charset="0"/>
                <a:ea typeface="仿宋_GB2312" pitchFamily="49" charset="-122"/>
              </a:rPr>
              <a:t>4</a:t>
            </a:r>
            <a:r>
              <a:rPr lang="zh-CN" altLang="en-US" dirty="0">
                <a:latin typeface="Times New Roman" panose="02020503050405090304" pitchFamily="18" charset="0"/>
                <a:ea typeface="仿宋_GB2312" pitchFamily="49" charset="-122"/>
              </a:rPr>
              <a:t>位互换</a:t>
            </a:r>
            <a:endParaRPr lang="zh-CN" altLang="en-US" dirty="0">
              <a:latin typeface="Times New Roman" panose="02020503050405090304" pitchFamily="18" charset="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1269"/>
                                        </p:tgtEl>
                                        <p:attrNameLst>
                                          <p:attrName>style.visibility</p:attrName>
                                        </p:attrNameLst>
                                      </p:cBhvr>
                                      <p:to>
                                        <p:strVal val="visible"/>
                                      </p:to>
                                    </p:set>
                                    <p:anim calcmode="lin" valueType="num">
                                      <p:cBhvr additive="base">
                                        <p:cTn id="11" dur="500" fill="hold"/>
                                        <p:tgtEl>
                                          <p:spTgt spid="11269"/>
                                        </p:tgtEl>
                                        <p:attrNameLst>
                                          <p:attrName>ppt_x</p:attrName>
                                        </p:attrNameLst>
                                      </p:cBhvr>
                                      <p:tavLst>
                                        <p:tav tm="0">
                                          <p:val>
                                            <p:strVal val="#ppt_x"/>
                                          </p:val>
                                        </p:tav>
                                        <p:tav tm="100000">
                                          <p:val>
                                            <p:strVal val="#ppt_x"/>
                                          </p:val>
                                        </p:tav>
                                      </p:tavLst>
                                    </p:anim>
                                    <p:anim calcmode="lin" valueType="num">
                                      <p:cBhvr additive="base">
                                        <p:cTn id="12" dur="500" fill="hold"/>
                                        <p:tgtEl>
                                          <p:spTgt spid="11269"/>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2" presetClass="entr" presetSubtype="4" fill="hold" grpId="0" nodeType="afterEffect">
                                  <p:stCondLst>
                                    <p:cond delay="0"/>
                                  </p:stCondLst>
                                  <p:childTnLst>
                                    <p:set>
                                      <p:cBhvr>
                                        <p:cTn id="15" dur="1" fill="hold">
                                          <p:stCondLst>
                                            <p:cond delay="0"/>
                                          </p:stCondLst>
                                        </p:cTn>
                                        <p:tgtEl>
                                          <p:spTgt spid="76805"/>
                                        </p:tgtEl>
                                        <p:attrNameLst>
                                          <p:attrName>style.visibility</p:attrName>
                                        </p:attrNameLst>
                                      </p:cBhvr>
                                      <p:to>
                                        <p:strVal val="visible"/>
                                      </p:to>
                                    </p:set>
                                    <p:anim calcmode="lin" valueType="num">
                                      <p:cBhvr additive="base">
                                        <p:cTn id="16" dur="500" fill="hold"/>
                                        <p:tgtEl>
                                          <p:spTgt spid="76805"/>
                                        </p:tgtEl>
                                        <p:attrNameLst>
                                          <p:attrName>ppt_x</p:attrName>
                                        </p:attrNameLst>
                                      </p:cBhvr>
                                      <p:tavLst>
                                        <p:tav tm="0">
                                          <p:val>
                                            <p:strVal val="#ppt_x"/>
                                          </p:val>
                                        </p:tav>
                                        <p:tav tm="100000">
                                          <p:val>
                                            <p:strVal val="#ppt_x"/>
                                          </p:val>
                                        </p:tav>
                                      </p:tavLst>
                                    </p:anim>
                                    <p:anim calcmode="lin" valueType="num">
                                      <p:cBhvr additive="base">
                                        <p:cTn id="17" dur="500" fill="hold"/>
                                        <p:tgtEl>
                                          <p:spTgt spid="768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5" grpId="0"/>
      <p:bldP spid="11269" grpId="0" uiExpand="1"/>
      <p:bldP spid="76805"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921602" name="文本占位符 921601"/>
          <p:cNvSpPr>
            <a:spLocks noGrp="1"/>
          </p:cNvSpPr>
          <p:nvPr>
            <p:ph type="body" idx="4294967295"/>
          </p:nvPr>
        </p:nvSpPr>
        <p:spPr>
          <a:xfrm>
            <a:off x="377825" y="903288"/>
            <a:ext cx="7905750" cy="5600700"/>
          </a:xfrm>
        </p:spPr>
        <p:txBody>
          <a:bodyPr anchor="t" anchorCtr="0"/>
          <a:p>
            <a:pPr latinLnBrk="0">
              <a:spcBef>
                <a:spcPct val="0"/>
              </a:spcBef>
              <a:spcAft>
                <a:spcPts val="1200"/>
              </a:spcAft>
              <a:buNone/>
            </a:pPr>
            <a:r>
              <a:rPr lang="en-US" altLang="zh-CN" sz="2400">
                <a:solidFill>
                  <a:srgbClr val="000000"/>
                </a:solidFill>
              </a:rPr>
              <a:t>【</a:t>
            </a:r>
            <a:r>
              <a:rPr lang="zh-CN" altLang="en-US" sz="2400" dirty="0">
                <a:solidFill>
                  <a:srgbClr val="000000"/>
                </a:solidFill>
              </a:rPr>
              <a:t>例</a:t>
            </a:r>
            <a:r>
              <a:rPr lang="en-US" altLang="zh-CN" sz="2400">
                <a:solidFill>
                  <a:srgbClr val="000000"/>
                </a:solidFill>
              </a:rPr>
              <a:t>】 </a:t>
            </a:r>
            <a:r>
              <a:rPr lang="zh-CN" altLang="en-US" sz="2400" dirty="0">
                <a:solidFill>
                  <a:srgbClr val="000000"/>
                </a:solidFill>
              </a:rPr>
              <a:t>设（</a:t>
            </a:r>
            <a:r>
              <a:rPr lang="en-US" altLang="zh-CN" sz="2400">
                <a:solidFill>
                  <a:srgbClr val="000000"/>
                </a:solidFill>
              </a:rPr>
              <a:t>A</a:t>
            </a:r>
            <a:r>
              <a:rPr lang="zh-CN" altLang="en-US" sz="2400" dirty="0">
                <a:solidFill>
                  <a:srgbClr val="000000"/>
                </a:solidFill>
              </a:rPr>
              <a:t>）</a:t>
            </a:r>
            <a:r>
              <a:rPr lang="en-US" altLang="zh-CN" sz="2400">
                <a:solidFill>
                  <a:srgbClr val="000000"/>
                </a:solidFill>
              </a:rPr>
              <a:t>=57H</a:t>
            </a:r>
            <a:r>
              <a:rPr lang="zh-CN" altLang="en-US" sz="2400" dirty="0">
                <a:solidFill>
                  <a:srgbClr val="000000"/>
                </a:solidFill>
              </a:rPr>
              <a:t>，（</a:t>
            </a:r>
            <a:r>
              <a:rPr lang="en-US" altLang="zh-CN" sz="2400">
                <a:solidFill>
                  <a:srgbClr val="000000"/>
                </a:solidFill>
              </a:rPr>
              <a:t>20H</a:t>
            </a:r>
            <a:r>
              <a:rPr lang="zh-CN" altLang="en-US" sz="2400" dirty="0">
                <a:solidFill>
                  <a:srgbClr val="000000"/>
                </a:solidFill>
              </a:rPr>
              <a:t>）</a:t>
            </a:r>
            <a:r>
              <a:rPr lang="en-US" altLang="zh-CN" sz="2400">
                <a:solidFill>
                  <a:srgbClr val="000000"/>
                </a:solidFill>
              </a:rPr>
              <a:t>=68H</a:t>
            </a:r>
            <a:r>
              <a:rPr lang="zh-CN" altLang="en-US" sz="2400" dirty="0">
                <a:solidFill>
                  <a:srgbClr val="000000"/>
                </a:solidFill>
              </a:rPr>
              <a:t>，（</a:t>
            </a:r>
            <a:r>
              <a:rPr lang="en-US" altLang="zh-CN" sz="2400">
                <a:solidFill>
                  <a:srgbClr val="000000"/>
                </a:solidFill>
              </a:rPr>
              <a:t>R0</a:t>
            </a:r>
            <a:r>
              <a:rPr lang="zh-CN" altLang="en-US" sz="2400" dirty="0">
                <a:solidFill>
                  <a:srgbClr val="000000"/>
                </a:solidFill>
              </a:rPr>
              <a:t>）</a:t>
            </a:r>
            <a:r>
              <a:rPr lang="en-US" altLang="zh-CN" sz="2400">
                <a:solidFill>
                  <a:srgbClr val="000000"/>
                </a:solidFill>
              </a:rPr>
              <a:t>=30H</a:t>
            </a:r>
            <a:r>
              <a:rPr lang="zh-CN" altLang="en-US" sz="2400" dirty="0">
                <a:solidFill>
                  <a:srgbClr val="000000"/>
                </a:solidFill>
              </a:rPr>
              <a:t>，（</a:t>
            </a:r>
            <a:r>
              <a:rPr lang="en-US" altLang="zh-CN" sz="2400">
                <a:solidFill>
                  <a:srgbClr val="000000"/>
                </a:solidFill>
              </a:rPr>
              <a:t>30H</a:t>
            </a:r>
            <a:r>
              <a:rPr lang="zh-CN" altLang="en-US" sz="2400" dirty="0">
                <a:solidFill>
                  <a:srgbClr val="000000"/>
                </a:solidFill>
              </a:rPr>
              <a:t>）</a:t>
            </a:r>
            <a:r>
              <a:rPr lang="en-US" altLang="zh-CN" sz="2400">
                <a:solidFill>
                  <a:srgbClr val="000000"/>
                </a:solidFill>
              </a:rPr>
              <a:t>=39H</a:t>
            </a:r>
            <a:r>
              <a:rPr lang="zh-CN" altLang="en-US" sz="2400" dirty="0">
                <a:solidFill>
                  <a:srgbClr val="000000"/>
                </a:solidFill>
              </a:rPr>
              <a:t>，求下列指令的执行结果。</a:t>
            </a:r>
            <a:endParaRPr lang="zh-CN" altLang="en-US" sz="2400" dirty="0">
              <a:solidFill>
                <a:srgbClr val="000000"/>
              </a:solidFill>
            </a:endParaRPr>
          </a:p>
          <a:p>
            <a:pPr latinLnBrk="0">
              <a:lnSpc>
                <a:spcPct val="120000"/>
              </a:lnSpc>
              <a:spcBef>
                <a:spcPct val="0"/>
              </a:spcBef>
            </a:pPr>
            <a:r>
              <a:rPr lang="zh-CN" altLang="en-US" sz="2400" dirty="0">
                <a:solidFill>
                  <a:srgbClr val="000000"/>
                </a:solidFill>
              </a:rPr>
              <a:t>（</a:t>
            </a:r>
            <a:r>
              <a:rPr lang="en-US" altLang="zh-CN" sz="2400">
                <a:solidFill>
                  <a:srgbClr val="000000"/>
                </a:solidFill>
              </a:rPr>
              <a:t>1</a:t>
            </a:r>
            <a:r>
              <a:rPr lang="zh-CN" altLang="en-US" sz="2400" dirty="0">
                <a:solidFill>
                  <a:srgbClr val="000000"/>
                </a:solidFill>
              </a:rPr>
              <a:t>）</a:t>
            </a:r>
            <a:r>
              <a:rPr lang="en-US" altLang="zh-CN" sz="2400">
                <a:solidFill>
                  <a:srgbClr val="000000"/>
                </a:solidFill>
              </a:rPr>
              <a:t>XCH  A</a:t>
            </a:r>
            <a:r>
              <a:rPr lang="zh-CN" altLang="en-US" sz="2400" dirty="0">
                <a:solidFill>
                  <a:srgbClr val="000000"/>
                </a:solidFill>
              </a:rPr>
              <a:t>，</a:t>
            </a:r>
            <a:r>
              <a:rPr lang="en-US" altLang="zh-CN" sz="2400">
                <a:solidFill>
                  <a:srgbClr val="000000"/>
                </a:solidFill>
              </a:rPr>
              <a:t>20H </a:t>
            </a:r>
            <a:r>
              <a:rPr lang="zh-CN" altLang="en-US" sz="2400" dirty="0">
                <a:solidFill>
                  <a:srgbClr val="000000"/>
                </a:solidFill>
              </a:rPr>
              <a:t>；</a:t>
            </a:r>
            <a:endParaRPr lang="zh-CN" altLang="en-US" sz="2400" dirty="0">
              <a:solidFill>
                <a:srgbClr val="000000"/>
              </a:solidFill>
            </a:endParaRPr>
          </a:p>
          <a:p>
            <a:pPr latinLnBrk="0">
              <a:lnSpc>
                <a:spcPct val="120000"/>
              </a:lnSpc>
              <a:spcBef>
                <a:spcPct val="0"/>
              </a:spcBef>
              <a:buNone/>
            </a:pPr>
            <a:r>
              <a:rPr lang="zh-CN" altLang="en-US" sz="2400" dirty="0">
                <a:solidFill>
                  <a:srgbClr val="000000"/>
                </a:solidFill>
              </a:rPr>
              <a:t>    	结果：（</a:t>
            </a:r>
            <a:r>
              <a:rPr lang="en-US" altLang="zh-CN" sz="2400">
                <a:solidFill>
                  <a:srgbClr val="000000"/>
                </a:solidFill>
              </a:rPr>
              <a:t>A</a:t>
            </a:r>
            <a:r>
              <a:rPr lang="zh-CN" altLang="en-US" sz="2400" dirty="0">
                <a:solidFill>
                  <a:srgbClr val="000000"/>
                </a:solidFill>
              </a:rPr>
              <a:t>）</a:t>
            </a:r>
            <a:r>
              <a:rPr lang="en-US" altLang="zh-CN" sz="2400">
                <a:solidFill>
                  <a:srgbClr val="000000"/>
                </a:solidFill>
              </a:rPr>
              <a:t>=68H</a:t>
            </a:r>
            <a:r>
              <a:rPr lang="zh-CN" altLang="en-US" sz="2400" dirty="0">
                <a:solidFill>
                  <a:srgbClr val="000000"/>
                </a:solidFill>
              </a:rPr>
              <a:t>，（</a:t>
            </a:r>
            <a:r>
              <a:rPr lang="en-US" altLang="zh-CN" sz="2400">
                <a:solidFill>
                  <a:srgbClr val="000000"/>
                </a:solidFill>
              </a:rPr>
              <a:t>20H</a:t>
            </a:r>
            <a:r>
              <a:rPr lang="zh-CN" altLang="en-US" sz="2400" dirty="0">
                <a:solidFill>
                  <a:srgbClr val="000000"/>
                </a:solidFill>
              </a:rPr>
              <a:t>）</a:t>
            </a:r>
            <a:r>
              <a:rPr lang="en-US" altLang="zh-CN" sz="2400">
                <a:solidFill>
                  <a:srgbClr val="000000"/>
                </a:solidFill>
              </a:rPr>
              <a:t>=57H</a:t>
            </a:r>
            <a:endParaRPr lang="en-US" altLang="zh-CN" sz="2400">
              <a:solidFill>
                <a:srgbClr val="000000"/>
              </a:solidFill>
            </a:endParaRPr>
          </a:p>
          <a:p>
            <a:pPr latinLnBrk="0">
              <a:lnSpc>
                <a:spcPct val="120000"/>
              </a:lnSpc>
              <a:spcBef>
                <a:spcPct val="0"/>
              </a:spcBef>
            </a:pPr>
            <a:r>
              <a:rPr lang="zh-CN" altLang="en-US" sz="2400" dirty="0">
                <a:solidFill>
                  <a:srgbClr val="000000"/>
                </a:solidFill>
              </a:rPr>
              <a:t>（</a:t>
            </a:r>
            <a:r>
              <a:rPr lang="en-US" altLang="zh-CN" sz="2400">
                <a:solidFill>
                  <a:srgbClr val="000000"/>
                </a:solidFill>
              </a:rPr>
              <a:t>2</a:t>
            </a:r>
            <a:r>
              <a:rPr lang="zh-CN" altLang="en-US" sz="2400" dirty="0">
                <a:solidFill>
                  <a:srgbClr val="000000"/>
                </a:solidFill>
              </a:rPr>
              <a:t>）</a:t>
            </a:r>
            <a:r>
              <a:rPr lang="en-US" altLang="zh-CN" sz="2400">
                <a:solidFill>
                  <a:srgbClr val="000000"/>
                </a:solidFill>
              </a:rPr>
              <a:t>XCH   A</a:t>
            </a:r>
            <a:r>
              <a:rPr lang="zh-CN" altLang="en-US" sz="2400" dirty="0">
                <a:solidFill>
                  <a:srgbClr val="000000"/>
                </a:solidFill>
              </a:rPr>
              <a:t>，</a:t>
            </a:r>
            <a:r>
              <a:rPr lang="en-US" altLang="zh-CN" sz="2400">
                <a:solidFill>
                  <a:srgbClr val="000000"/>
                </a:solidFill>
              </a:rPr>
              <a:t>@R0  </a:t>
            </a:r>
            <a:r>
              <a:rPr lang="zh-CN" altLang="en-US" sz="2400" dirty="0">
                <a:solidFill>
                  <a:srgbClr val="000000"/>
                </a:solidFill>
              </a:rPr>
              <a:t>；</a:t>
            </a:r>
            <a:endParaRPr lang="zh-CN" altLang="en-US" sz="2400" dirty="0">
              <a:solidFill>
                <a:srgbClr val="000000"/>
              </a:solidFill>
            </a:endParaRPr>
          </a:p>
          <a:p>
            <a:pPr latinLnBrk="0">
              <a:lnSpc>
                <a:spcPct val="120000"/>
              </a:lnSpc>
              <a:spcBef>
                <a:spcPct val="0"/>
              </a:spcBef>
              <a:buNone/>
            </a:pPr>
            <a:r>
              <a:rPr lang="zh-CN" altLang="en-US" sz="2400" dirty="0">
                <a:solidFill>
                  <a:srgbClr val="000000"/>
                </a:solidFill>
              </a:rPr>
              <a:t>         结果： （</a:t>
            </a:r>
            <a:r>
              <a:rPr lang="en-US" altLang="zh-CN" sz="2400">
                <a:solidFill>
                  <a:srgbClr val="000000"/>
                </a:solidFill>
              </a:rPr>
              <a:t>A</a:t>
            </a:r>
            <a:r>
              <a:rPr lang="zh-CN" altLang="en-US" sz="2400" dirty="0">
                <a:solidFill>
                  <a:srgbClr val="000000"/>
                </a:solidFill>
              </a:rPr>
              <a:t>）</a:t>
            </a:r>
            <a:r>
              <a:rPr lang="en-US" altLang="zh-CN" sz="2400">
                <a:solidFill>
                  <a:srgbClr val="000000"/>
                </a:solidFill>
              </a:rPr>
              <a:t>=39H</a:t>
            </a:r>
            <a:r>
              <a:rPr lang="zh-CN" altLang="en-US" sz="2400" dirty="0">
                <a:solidFill>
                  <a:srgbClr val="000000"/>
                </a:solidFill>
              </a:rPr>
              <a:t>，（</a:t>
            </a:r>
            <a:r>
              <a:rPr lang="en-US" altLang="zh-CN" sz="2400">
                <a:solidFill>
                  <a:srgbClr val="000000"/>
                </a:solidFill>
              </a:rPr>
              <a:t>30H</a:t>
            </a:r>
            <a:r>
              <a:rPr lang="zh-CN" altLang="en-US" sz="2400" dirty="0">
                <a:solidFill>
                  <a:srgbClr val="000000"/>
                </a:solidFill>
              </a:rPr>
              <a:t>）</a:t>
            </a:r>
            <a:r>
              <a:rPr lang="en-US" altLang="zh-CN" sz="2400">
                <a:solidFill>
                  <a:srgbClr val="000000"/>
                </a:solidFill>
              </a:rPr>
              <a:t>=57H</a:t>
            </a:r>
            <a:endParaRPr lang="en-US" altLang="zh-CN" sz="2400">
              <a:solidFill>
                <a:srgbClr val="000000"/>
              </a:solidFill>
            </a:endParaRPr>
          </a:p>
          <a:p>
            <a:pPr latinLnBrk="0">
              <a:lnSpc>
                <a:spcPct val="120000"/>
              </a:lnSpc>
              <a:spcBef>
                <a:spcPct val="0"/>
              </a:spcBef>
            </a:pPr>
            <a:r>
              <a:rPr lang="zh-CN" altLang="en-US" sz="2400" dirty="0">
                <a:solidFill>
                  <a:srgbClr val="000000"/>
                </a:solidFill>
              </a:rPr>
              <a:t>（</a:t>
            </a:r>
            <a:r>
              <a:rPr lang="en-US" altLang="zh-CN" sz="2400">
                <a:solidFill>
                  <a:srgbClr val="000000"/>
                </a:solidFill>
              </a:rPr>
              <a:t>3</a:t>
            </a:r>
            <a:r>
              <a:rPr lang="zh-CN" altLang="en-US" sz="2400" dirty="0">
                <a:solidFill>
                  <a:srgbClr val="000000"/>
                </a:solidFill>
              </a:rPr>
              <a:t>）</a:t>
            </a:r>
            <a:r>
              <a:rPr lang="en-US" altLang="zh-CN" sz="2400">
                <a:solidFill>
                  <a:srgbClr val="000000"/>
                </a:solidFill>
              </a:rPr>
              <a:t>XCH   A</a:t>
            </a:r>
            <a:r>
              <a:rPr lang="zh-CN" altLang="en-US" sz="2400" dirty="0">
                <a:solidFill>
                  <a:srgbClr val="000000"/>
                </a:solidFill>
              </a:rPr>
              <a:t>，</a:t>
            </a:r>
            <a:r>
              <a:rPr lang="en-US" altLang="zh-CN" sz="2400">
                <a:solidFill>
                  <a:srgbClr val="000000"/>
                </a:solidFill>
              </a:rPr>
              <a:t>R0  </a:t>
            </a:r>
            <a:r>
              <a:rPr lang="zh-CN" altLang="en-US" sz="2400" dirty="0">
                <a:solidFill>
                  <a:srgbClr val="000000"/>
                </a:solidFill>
              </a:rPr>
              <a:t>；</a:t>
            </a:r>
            <a:endParaRPr lang="zh-CN" altLang="en-US" sz="2400" dirty="0">
              <a:solidFill>
                <a:srgbClr val="000000"/>
              </a:solidFill>
            </a:endParaRPr>
          </a:p>
          <a:p>
            <a:pPr latinLnBrk="0">
              <a:lnSpc>
                <a:spcPct val="120000"/>
              </a:lnSpc>
              <a:spcBef>
                <a:spcPct val="0"/>
              </a:spcBef>
              <a:buNone/>
            </a:pPr>
            <a:r>
              <a:rPr lang="zh-CN" altLang="en-US" sz="2400" dirty="0">
                <a:solidFill>
                  <a:srgbClr val="000000"/>
                </a:solidFill>
              </a:rPr>
              <a:t>         结果： （</a:t>
            </a:r>
            <a:r>
              <a:rPr lang="en-US" altLang="zh-CN" sz="2400">
                <a:solidFill>
                  <a:srgbClr val="000000"/>
                </a:solidFill>
              </a:rPr>
              <a:t>A</a:t>
            </a:r>
            <a:r>
              <a:rPr lang="zh-CN" altLang="en-US" sz="2400" dirty="0">
                <a:solidFill>
                  <a:srgbClr val="000000"/>
                </a:solidFill>
              </a:rPr>
              <a:t>）</a:t>
            </a:r>
            <a:r>
              <a:rPr lang="en-US" altLang="zh-CN" sz="2400">
                <a:solidFill>
                  <a:srgbClr val="000000"/>
                </a:solidFill>
              </a:rPr>
              <a:t>=30H</a:t>
            </a:r>
            <a:r>
              <a:rPr lang="zh-CN" altLang="en-US" sz="2400" dirty="0">
                <a:solidFill>
                  <a:srgbClr val="000000"/>
                </a:solidFill>
              </a:rPr>
              <a:t>，（</a:t>
            </a:r>
            <a:r>
              <a:rPr lang="en-US" altLang="zh-CN" sz="2400">
                <a:solidFill>
                  <a:srgbClr val="000000"/>
                </a:solidFill>
              </a:rPr>
              <a:t>R0</a:t>
            </a:r>
            <a:r>
              <a:rPr lang="zh-CN" altLang="en-US" sz="2400" dirty="0">
                <a:solidFill>
                  <a:srgbClr val="000000"/>
                </a:solidFill>
              </a:rPr>
              <a:t>）</a:t>
            </a:r>
            <a:r>
              <a:rPr lang="en-US" altLang="zh-CN" sz="2400">
                <a:solidFill>
                  <a:srgbClr val="000000"/>
                </a:solidFill>
              </a:rPr>
              <a:t>=57H</a:t>
            </a:r>
            <a:endParaRPr lang="en-US" altLang="zh-CN" sz="2400">
              <a:solidFill>
                <a:srgbClr val="000000"/>
              </a:solidFill>
            </a:endParaRPr>
          </a:p>
          <a:p>
            <a:pPr latinLnBrk="0">
              <a:lnSpc>
                <a:spcPct val="120000"/>
              </a:lnSpc>
              <a:spcBef>
                <a:spcPct val="0"/>
              </a:spcBef>
            </a:pPr>
            <a:r>
              <a:rPr lang="zh-CN" altLang="en-US" sz="2400" dirty="0">
                <a:solidFill>
                  <a:srgbClr val="000000"/>
                </a:solidFill>
              </a:rPr>
              <a:t>（</a:t>
            </a:r>
            <a:r>
              <a:rPr lang="en-US" altLang="zh-CN" sz="2400">
                <a:solidFill>
                  <a:srgbClr val="000000"/>
                </a:solidFill>
              </a:rPr>
              <a:t>4</a:t>
            </a:r>
            <a:r>
              <a:rPr lang="zh-CN" altLang="en-US" sz="2400" dirty="0">
                <a:solidFill>
                  <a:srgbClr val="000000"/>
                </a:solidFill>
              </a:rPr>
              <a:t>）</a:t>
            </a:r>
            <a:r>
              <a:rPr lang="en-US" altLang="zh-CN" sz="2400">
                <a:solidFill>
                  <a:srgbClr val="000000"/>
                </a:solidFill>
              </a:rPr>
              <a:t>XCHD  A</a:t>
            </a:r>
            <a:r>
              <a:rPr lang="zh-CN" altLang="en-US" sz="2400" dirty="0">
                <a:solidFill>
                  <a:srgbClr val="000000"/>
                </a:solidFill>
              </a:rPr>
              <a:t>，</a:t>
            </a:r>
            <a:r>
              <a:rPr lang="en-US" altLang="zh-CN" sz="2400">
                <a:solidFill>
                  <a:srgbClr val="000000"/>
                </a:solidFill>
              </a:rPr>
              <a:t>@R0 </a:t>
            </a:r>
            <a:r>
              <a:rPr lang="zh-CN" altLang="en-US" sz="2400" dirty="0">
                <a:solidFill>
                  <a:srgbClr val="000000"/>
                </a:solidFill>
              </a:rPr>
              <a:t>；</a:t>
            </a:r>
            <a:endParaRPr lang="zh-CN" altLang="en-US" sz="2400" dirty="0">
              <a:solidFill>
                <a:srgbClr val="000000"/>
              </a:solidFill>
            </a:endParaRPr>
          </a:p>
          <a:p>
            <a:pPr latinLnBrk="0">
              <a:lnSpc>
                <a:spcPct val="120000"/>
              </a:lnSpc>
              <a:spcBef>
                <a:spcPct val="0"/>
              </a:spcBef>
              <a:buNone/>
            </a:pPr>
            <a:r>
              <a:rPr lang="zh-CN" altLang="en-US" sz="2400" dirty="0">
                <a:solidFill>
                  <a:srgbClr val="000000"/>
                </a:solidFill>
              </a:rPr>
              <a:t>         结果： （</a:t>
            </a:r>
            <a:r>
              <a:rPr lang="en-US" altLang="zh-CN" sz="2400">
                <a:solidFill>
                  <a:srgbClr val="000000"/>
                </a:solidFill>
              </a:rPr>
              <a:t>A</a:t>
            </a:r>
            <a:r>
              <a:rPr lang="zh-CN" altLang="en-US" sz="2400" dirty="0">
                <a:solidFill>
                  <a:srgbClr val="000000"/>
                </a:solidFill>
              </a:rPr>
              <a:t>）</a:t>
            </a:r>
            <a:r>
              <a:rPr lang="en-US" altLang="zh-CN" sz="2400">
                <a:solidFill>
                  <a:srgbClr val="000000"/>
                </a:solidFill>
              </a:rPr>
              <a:t>=59H</a:t>
            </a:r>
            <a:r>
              <a:rPr lang="zh-CN" altLang="en-US" sz="2400" dirty="0">
                <a:solidFill>
                  <a:srgbClr val="000000"/>
                </a:solidFill>
              </a:rPr>
              <a:t>，（</a:t>
            </a:r>
            <a:r>
              <a:rPr lang="en-US" altLang="zh-CN" sz="2400">
                <a:solidFill>
                  <a:srgbClr val="000000"/>
                </a:solidFill>
              </a:rPr>
              <a:t>30H</a:t>
            </a:r>
            <a:r>
              <a:rPr lang="zh-CN" altLang="en-US" sz="2400" dirty="0">
                <a:solidFill>
                  <a:srgbClr val="000000"/>
                </a:solidFill>
              </a:rPr>
              <a:t>）</a:t>
            </a:r>
            <a:r>
              <a:rPr lang="en-US" altLang="zh-CN" sz="2400">
                <a:solidFill>
                  <a:srgbClr val="000000"/>
                </a:solidFill>
              </a:rPr>
              <a:t>=37H</a:t>
            </a:r>
            <a:endParaRPr lang="en-US" altLang="zh-CN" sz="2400">
              <a:solidFill>
                <a:srgbClr val="000000"/>
              </a:solidFill>
            </a:endParaRPr>
          </a:p>
          <a:p>
            <a:pPr latinLnBrk="0">
              <a:lnSpc>
                <a:spcPct val="120000"/>
              </a:lnSpc>
              <a:spcBef>
                <a:spcPct val="0"/>
              </a:spcBef>
            </a:pPr>
            <a:r>
              <a:rPr lang="zh-CN" altLang="en-US" sz="2400" dirty="0">
                <a:solidFill>
                  <a:srgbClr val="000000"/>
                </a:solidFill>
              </a:rPr>
              <a:t>（</a:t>
            </a:r>
            <a:r>
              <a:rPr lang="en-US" altLang="zh-CN" sz="2400">
                <a:solidFill>
                  <a:srgbClr val="000000"/>
                </a:solidFill>
              </a:rPr>
              <a:t>5</a:t>
            </a:r>
            <a:r>
              <a:rPr lang="zh-CN" altLang="en-US" sz="2400" dirty="0">
                <a:solidFill>
                  <a:srgbClr val="000000"/>
                </a:solidFill>
              </a:rPr>
              <a:t>）</a:t>
            </a:r>
            <a:r>
              <a:rPr lang="en-US" altLang="zh-CN" sz="2400">
                <a:solidFill>
                  <a:srgbClr val="000000"/>
                </a:solidFill>
              </a:rPr>
              <a:t>SWAP  A  	</a:t>
            </a:r>
            <a:r>
              <a:rPr lang="zh-CN" altLang="en-US" sz="2400" dirty="0">
                <a:solidFill>
                  <a:srgbClr val="000000"/>
                </a:solidFill>
              </a:rPr>
              <a:t>；</a:t>
            </a:r>
            <a:endParaRPr lang="zh-CN" altLang="en-US" sz="2400" dirty="0">
              <a:solidFill>
                <a:srgbClr val="000000"/>
              </a:solidFill>
            </a:endParaRPr>
          </a:p>
          <a:p>
            <a:pPr latinLnBrk="0">
              <a:lnSpc>
                <a:spcPct val="120000"/>
              </a:lnSpc>
              <a:spcBef>
                <a:spcPct val="0"/>
              </a:spcBef>
              <a:buNone/>
            </a:pPr>
            <a:r>
              <a:rPr lang="zh-CN" altLang="en-US" sz="2400" dirty="0">
                <a:solidFill>
                  <a:srgbClr val="000000"/>
                </a:solidFill>
              </a:rPr>
              <a:t>         结果： （</a:t>
            </a:r>
            <a:r>
              <a:rPr lang="en-US" altLang="zh-CN" sz="2400">
                <a:solidFill>
                  <a:srgbClr val="000000"/>
                </a:solidFill>
              </a:rPr>
              <a:t>A</a:t>
            </a:r>
            <a:r>
              <a:rPr lang="zh-CN" altLang="en-US" sz="2400" dirty="0">
                <a:solidFill>
                  <a:srgbClr val="000000"/>
                </a:solidFill>
              </a:rPr>
              <a:t>）</a:t>
            </a:r>
            <a:r>
              <a:rPr lang="en-US" altLang="zh-CN" sz="2400">
                <a:solidFill>
                  <a:srgbClr val="000000"/>
                </a:solidFill>
              </a:rPr>
              <a:t>=75H</a:t>
            </a:r>
            <a:endParaRPr lang="en-US" altLang="zh-CN" sz="240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21602">
                                            <p:txEl>
                                              <p:charRg st="70" end="96"/>
                                            </p:txEl>
                                          </p:spTgt>
                                        </p:tgtEl>
                                        <p:attrNameLst>
                                          <p:attrName>style.visibility</p:attrName>
                                        </p:attrNameLst>
                                      </p:cBhvr>
                                      <p:to>
                                        <p:strVal val="visible"/>
                                      </p:to>
                                    </p:set>
                                    <p:anim calcmode="lin" valueType="num">
                                      <p:cBhvr additive="base">
                                        <p:cTn id="7" dur="500" fill="hold"/>
                                        <p:tgtEl>
                                          <p:spTgt spid="921602">
                                            <p:txEl>
                                              <p:charRg st="70" end="9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1602">
                                            <p:txEl>
                                              <p:charRg st="70" end="96"/>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21602">
                                            <p:txEl>
                                              <p:charRg st="114" end="145"/>
                                            </p:txEl>
                                          </p:spTgt>
                                        </p:tgtEl>
                                        <p:attrNameLst>
                                          <p:attrName>style.visibility</p:attrName>
                                        </p:attrNameLst>
                                      </p:cBhvr>
                                      <p:to>
                                        <p:strVal val="visible"/>
                                      </p:to>
                                    </p:set>
                                    <p:anim calcmode="lin" valueType="num">
                                      <p:cBhvr additive="base">
                                        <p:cTn id="13" dur="500" fill="hold"/>
                                        <p:tgtEl>
                                          <p:spTgt spid="921602">
                                            <p:txEl>
                                              <p:charRg st="114" end="14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21602">
                                            <p:txEl>
                                              <p:charRg st="114" end="14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21602">
                                            <p:txEl>
                                              <p:charRg st="162" end="192"/>
                                            </p:txEl>
                                          </p:spTgt>
                                        </p:tgtEl>
                                        <p:attrNameLst>
                                          <p:attrName>style.visibility</p:attrName>
                                        </p:attrNameLst>
                                      </p:cBhvr>
                                      <p:to>
                                        <p:strVal val="visible"/>
                                      </p:to>
                                    </p:set>
                                    <p:anim calcmode="lin" valueType="num">
                                      <p:cBhvr additive="base">
                                        <p:cTn id="19" dur="500" fill="hold"/>
                                        <p:tgtEl>
                                          <p:spTgt spid="921602">
                                            <p:txEl>
                                              <p:charRg st="162" end="19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21602">
                                            <p:txEl>
                                              <p:charRg st="162" end="19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21602">
                                            <p:txEl>
                                              <p:charRg st="209" end="240"/>
                                            </p:txEl>
                                          </p:spTgt>
                                        </p:tgtEl>
                                        <p:attrNameLst>
                                          <p:attrName>style.visibility</p:attrName>
                                        </p:attrNameLst>
                                      </p:cBhvr>
                                      <p:to>
                                        <p:strVal val="visible"/>
                                      </p:to>
                                    </p:set>
                                    <p:anim calcmode="lin" valueType="num">
                                      <p:cBhvr additive="base">
                                        <p:cTn id="25" dur="500" fill="hold"/>
                                        <p:tgtEl>
                                          <p:spTgt spid="921602">
                                            <p:txEl>
                                              <p:charRg st="209" end="24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21602">
                                            <p:txEl>
                                              <p:charRg st="209" end="24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21602">
                                            <p:txEl>
                                              <p:charRg st="255" end="276"/>
                                            </p:txEl>
                                          </p:spTgt>
                                        </p:tgtEl>
                                        <p:attrNameLst>
                                          <p:attrName>style.visibility</p:attrName>
                                        </p:attrNameLst>
                                      </p:cBhvr>
                                      <p:to>
                                        <p:strVal val="visible"/>
                                      </p:to>
                                    </p:set>
                                    <p:anim calcmode="lin" valueType="num">
                                      <p:cBhvr additive="base">
                                        <p:cTn id="31" dur="500" fill="hold"/>
                                        <p:tgtEl>
                                          <p:spTgt spid="921602">
                                            <p:txEl>
                                              <p:charRg st="255" end="27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21602">
                                            <p:txEl>
                                              <p:charRg st="255" end="27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ChangeArrowheads="1"/>
          </p:cNvSpPr>
          <p:nvPr/>
        </p:nvSpPr>
        <p:spPr bwMode="auto">
          <a:xfrm>
            <a:off x="214313" y="214313"/>
            <a:ext cx="8763000" cy="609600"/>
          </a:xfrm>
          <a:prstGeom prst="rect">
            <a:avLst/>
          </a:prstGeom>
          <a:noFill/>
          <a:ln>
            <a:noFill/>
          </a:ln>
        </p:spPr>
        <p:txBody>
          <a:bodyPr anchor="ctr"/>
          <a:lstStyle>
            <a:lvl1pPr>
              <a:defRPr sz="3600">
                <a:solidFill>
                  <a:schemeClr val="tx2"/>
                </a:solidFill>
                <a:latin typeface="Times New Roman" panose="02020503050405090304" pitchFamily="18" charset="0"/>
                <a:ea typeface="宋体" pitchFamily="2" charset="-122"/>
              </a:defRPr>
            </a:lvl1pPr>
            <a:lvl2pPr>
              <a:defRPr sz="3600">
                <a:solidFill>
                  <a:schemeClr val="tx2"/>
                </a:solidFill>
                <a:latin typeface="Times New Roman" panose="02020503050405090304" pitchFamily="18" charset="0"/>
                <a:ea typeface="宋体" pitchFamily="2" charset="-122"/>
              </a:defRPr>
            </a:lvl2pPr>
            <a:lvl3pPr>
              <a:defRPr sz="3600">
                <a:solidFill>
                  <a:schemeClr val="tx2"/>
                </a:solidFill>
                <a:latin typeface="Times New Roman" panose="02020503050405090304" pitchFamily="18" charset="0"/>
                <a:ea typeface="宋体" pitchFamily="2" charset="-122"/>
              </a:defRPr>
            </a:lvl3pPr>
            <a:lvl4pPr>
              <a:defRPr sz="3600">
                <a:solidFill>
                  <a:schemeClr val="tx2"/>
                </a:solidFill>
                <a:latin typeface="Times New Roman" panose="02020503050405090304" pitchFamily="18" charset="0"/>
                <a:ea typeface="宋体" pitchFamily="2" charset="-122"/>
              </a:defRPr>
            </a:lvl4pPr>
            <a:lvl5pPr>
              <a:defRPr sz="3600">
                <a:solidFill>
                  <a:schemeClr val="tx2"/>
                </a:solidFill>
                <a:latin typeface="Times New Roman" panose="02020503050405090304" pitchFamily="18" charset="0"/>
                <a:ea typeface="宋体" pitchFamily="2" charset="-122"/>
              </a:defRPr>
            </a:lvl5pPr>
            <a:lvl6pPr marL="45720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fontAlgn="base">
              <a:spcBef>
                <a:spcPct val="0"/>
              </a:spcBef>
              <a:spcAft>
                <a:spcPct val="0"/>
              </a:spcAft>
              <a:defRPr sz="3600">
                <a:solidFill>
                  <a:schemeClr val="tx2"/>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第三章</a:t>
            </a:r>
            <a:r>
              <a:rPr kumimoji="0" lang="zh-CN" altLang="en-US" sz="28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zh-CN" altLang="en-US" sz="24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en-US" altLang="zh-CN"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MCS-51</a:t>
            </a: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指令系统</a:t>
            </a:r>
            <a:endParaRPr kumimoji="0" lang="zh-CN" altLang="en-US" sz="3600" b="0"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Times New Roman" panose="02020503050405090304" pitchFamily="18" charset="0"/>
              <a:ea typeface="宋体" pitchFamily="2" charset="-122"/>
              <a:cs typeface="+mn-cs"/>
            </a:endParaRPr>
          </a:p>
        </p:txBody>
      </p:sp>
      <p:sp>
        <p:nvSpPr>
          <p:cNvPr id="50219" name="文本框 50218"/>
          <p:cNvSpPr txBox="1"/>
          <p:nvPr/>
        </p:nvSpPr>
        <p:spPr>
          <a:xfrm>
            <a:off x="4932363" y="2417763"/>
            <a:ext cx="3240088" cy="396875"/>
          </a:xfrm>
          <a:prstGeom prst="rect">
            <a:avLst/>
          </a:prstGeom>
          <a:noFill/>
          <a:ln w="9525">
            <a:noFill/>
          </a:ln>
        </p:spPr>
        <p:txBody>
          <a:bodyPr>
            <a:spAutoFit/>
          </a:bodyPr>
          <a:p>
            <a:pPr algn="just">
              <a:spcBef>
                <a:spcPct val="50000"/>
              </a:spcBef>
            </a:pPr>
            <a:r>
              <a:rPr lang="zh-CN" altLang="en-US" noProof="1" dirty="0">
                <a:effectLst>
                  <a:outerShdw blurRad="38100" dist="38100" dir="2700000">
                    <a:srgbClr val="FFFFFF"/>
                  </a:outerShdw>
                </a:effectLst>
                <a:latin typeface="Times New Roman" panose="02020503050405090304" pitchFamily="18" charset="0"/>
                <a:ea typeface="宋体" pitchFamily="2" charset="-122"/>
                <a:cs typeface="宋体" pitchFamily="2" charset="-122"/>
              </a:rPr>
              <a:t>目的地址                  源地址</a:t>
            </a:r>
            <a:endParaRPr lang="zh-CN" altLang="en-US" noProof="1" dirty="0">
              <a:effectLst>
                <a:outerShdw blurRad="38100" dist="38100" dir="2700000">
                  <a:srgbClr val="FFFFFF"/>
                </a:outerShdw>
              </a:effectLst>
              <a:latin typeface="Times New Roman" panose="02020503050405090304" pitchFamily="18" charset="0"/>
              <a:ea typeface="宋体" pitchFamily="2" charset="-122"/>
            </a:endParaRPr>
          </a:p>
        </p:txBody>
      </p:sp>
      <p:sp>
        <p:nvSpPr>
          <p:cNvPr id="50220" name="流程图: 顺序访问存储器 50219"/>
          <p:cNvSpPr/>
          <p:nvPr/>
        </p:nvSpPr>
        <p:spPr>
          <a:xfrm>
            <a:off x="4932363" y="2921000"/>
            <a:ext cx="1079500" cy="1006475"/>
          </a:xfrm>
          <a:prstGeom prst="flowChartMagneticTape">
            <a:avLst/>
          </a:prstGeom>
          <a:solidFill>
            <a:srgbClr val="00CC99"/>
          </a:solidFill>
          <a:ln w="9525" cap="flat" cmpd="sng">
            <a:solidFill>
              <a:srgbClr val="000000"/>
            </a:solidFill>
            <a:prstDash val="solid"/>
            <a:miter/>
            <a:headEnd type="none" w="med" len="med"/>
            <a:tailEnd type="none" w="med" len="med"/>
          </a:ln>
          <a:effectLst>
            <a:outerShdw dist="107763" dir="18900000" algn="ctr" rotWithShape="0">
              <a:srgbClr val="808080">
                <a:alpha val="50000"/>
              </a:srgbClr>
            </a:outerShdw>
          </a:effectLst>
        </p:spPr>
        <p:txBody>
          <a:bodyPr wrap="none" lIns="0" tIns="36000" rIns="0" bIns="0"/>
          <a:p>
            <a:pPr lvl="0" algn="ctr" fontAlgn="base">
              <a:buClrTx/>
            </a:pPr>
            <a:endParaRPr sz="1600" b="1" strike="noStrike" noProof="1" dirty="0">
              <a:effectLst>
                <a:outerShdw blurRad="38100" dist="38100" dir="2700000">
                  <a:srgbClr val="FFFFFF"/>
                </a:outerShdw>
              </a:effectLst>
              <a:latin typeface="Arial" panose="020B0604020202090204" pitchFamily="34" charset="0"/>
              <a:ea typeface="宋体" pitchFamily="2" charset="-122"/>
            </a:endParaRPr>
          </a:p>
        </p:txBody>
      </p:sp>
      <p:sp>
        <p:nvSpPr>
          <p:cNvPr id="50221" name="流程图: 可选过程 50220"/>
          <p:cNvSpPr/>
          <p:nvPr/>
        </p:nvSpPr>
        <p:spPr>
          <a:xfrm>
            <a:off x="7091363" y="2994025"/>
            <a:ext cx="1079500" cy="863600"/>
          </a:xfrm>
          <a:prstGeom prst="flowChartAlternateProcess">
            <a:avLst/>
          </a:prstGeom>
          <a:solidFill>
            <a:srgbClr val="00CC99"/>
          </a:solidFill>
          <a:ln w="9525" cap="flat" cmpd="sng">
            <a:solidFill>
              <a:srgbClr val="000000"/>
            </a:solidFill>
            <a:prstDash val="solid"/>
            <a:miter/>
            <a:headEnd type="none" w="med" len="med"/>
            <a:tailEnd type="none" w="med" len="med"/>
          </a:ln>
          <a:effectLst>
            <a:outerShdw dist="107763" dir="18900000" algn="ctr" rotWithShape="0">
              <a:srgbClr val="808080">
                <a:alpha val="50000"/>
              </a:srgbClr>
            </a:outerShdw>
          </a:effectLst>
        </p:spPr>
        <p:txBody>
          <a:bodyPr wrap="none" lIns="0" tIns="72000" rIns="0" bIns="0" anchor="ctr"/>
          <a:p>
            <a:pPr lvl="0" algn="ctr" eaLnBrk="0" fontAlgn="base" hangingPunct="0"/>
            <a:endParaRPr lang="en-US" altLang="zh-CN" sz="1800" b="1" strike="noStrike" noProof="1" dirty="0">
              <a:effectLst>
                <a:outerShdw blurRad="38100" dist="38100" dir="2700000">
                  <a:srgbClr val="FFFFFF"/>
                </a:outerShdw>
              </a:effectLst>
              <a:latin typeface="Arial" panose="020B0604020202090204" pitchFamily="34" charset="0"/>
              <a:ea typeface="宋体" pitchFamily="2" charset="-122"/>
            </a:endParaRPr>
          </a:p>
          <a:p>
            <a:pPr lvl="0" algn="ctr" fontAlgn="base">
              <a:buClrTx/>
            </a:pPr>
            <a:endParaRPr lang="en-US" altLang="zh-CN" sz="1800" b="1" strike="noStrike" noProof="1" dirty="0">
              <a:effectLst>
                <a:outerShdw blurRad="38100" dist="38100" dir="2700000">
                  <a:srgbClr val="FFFFFF"/>
                </a:outerShdw>
              </a:effectLst>
              <a:latin typeface="Arial" panose="020B0604020202090204" pitchFamily="34" charset="0"/>
              <a:ea typeface="宋体" pitchFamily="2" charset="-122"/>
            </a:endParaRPr>
          </a:p>
        </p:txBody>
      </p:sp>
      <p:sp>
        <p:nvSpPr>
          <p:cNvPr id="96261" name="直接连接符 50221"/>
          <p:cNvSpPr/>
          <p:nvPr/>
        </p:nvSpPr>
        <p:spPr>
          <a:xfrm flipH="1">
            <a:off x="6227763" y="3425825"/>
            <a:ext cx="720725" cy="0"/>
          </a:xfrm>
          <a:prstGeom prst="line">
            <a:avLst/>
          </a:prstGeom>
          <a:ln w="28575" cap="flat" cmpd="sng">
            <a:solidFill>
              <a:srgbClr val="000000"/>
            </a:solidFill>
            <a:prstDash val="solid"/>
            <a:miter/>
            <a:headEnd type="none" w="med" len="med"/>
            <a:tailEnd type="triangle" w="med" len="med"/>
          </a:ln>
          <a:effectLst>
            <a:outerShdw dist="107763" dir="18900000" algn="ctr" rotWithShape="0">
              <a:srgbClr val="808080">
                <a:alpha val="50000"/>
              </a:srgbClr>
            </a:outerShdw>
          </a:effectLst>
        </p:spPr>
      </p:sp>
      <p:sp>
        <p:nvSpPr>
          <p:cNvPr id="50223" name="文本框 50222"/>
          <p:cNvSpPr txBox="1"/>
          <p:nvPr/>
        </p:nvSpPr>
        <p:spPr>
          <a:xfrm>
            <a:off x="7235825" y="3090863"/>
            <a:ext cx="1152525" cy="336550"/>
          </a:xfrm>
          <a:prstGeom prst="rect">
            <a:avLst/>
          </a:prstGeom>
          <a:noFill/>
          <a:ln w="9525">
            <a:noFill/>
          </a:ln>
        </p:spPr>
        <p:txBody>
          <a:bodyPr>
            <a:spAutoFit/>
          </a:bodyPr>
          <a:p>
            <a:pPr>
              <a:buClrTx/>
            </a:pPr>
            <a:r>
              <a:rPr lang="zh-CN" altLang="en-US" sz="1600" noProof="1" dirty="0">
                <a:solidFill>
                  <a:srgbClr val="3399FF"/>
                </a:solidFill>
                <a:effectLst>
                  <a:outerShdw blurRad="38100" dist="38100" dir="2700000">
                    <a:srgbClr val="000000"/>
                  </a:outerShdw>
                </a:effectLst>
                <a:latin typeface="Arial" panose="020B0604020202090204" pitchFamily="34" charset="0"/>
                <a:ea typeface="宋体" pitchFamily="2" charset="-122"/>
                <a:cs typeface="宋体" pitchFamily="2" charset="-122"/>
              </a:rPr>
              <a:t>数  据</a:t>
            </a:r>
            <a:endParaRPr lang="zh-CN" altLang="en-US" sz="1600" noProof="1" dirty="0">
              <a:solidFill>
                <a:srgbClr val="3399FF"/>
              </a:solidFill>
              <a:effectLst>
                <a:outerShdw blurRad="38100" dist="38100" dir="2700000">
                  <a:srgbClr val="000000"/>
                </a:outerShdw>
              </a:effectLst>
              <a:latin typeface="Arial" panose="020B0604020202090204" pitchFamily="34" charset="0"/>
              <a:ea typeface="宋体" pitchFamily="2" charset="-122"/>
            </a:endParaRPr>
          </a:p>
        </p:txBody>
      </p:sp>
      <p:sp>
        <p:nvSpPr>
          <p:cNvPr id="50225" name="矩形 50224"/>
          <p:cNvSpPr/>
          <p:nvPr/>
        </p:nvSpPr>
        <p:spPr>
          <a:xfrm>
            <a:off x="611188" y="2576513"/>
            <a:ext cx="4105275" cy="366712"/>
          </a:xfrm>
          <a:prstGeom prst="rect">
            <a:avLst/>
          </a:prstGeom>
          <a:noFill/>
          <a:ln w="9525">
            <a:noFill/>
          </a:ln>
        </p:spPr>
        <p:txBody>
          <a:bodyPr anchor="t" anchorCtr="0">
            <a:spAutoFit/>
          </a:bodyPr>
          <a:p>
            <a:pPr>
              <a:spcBef>
                <a:spcPct val="50000"/>
              </a:spcBef>
            </a:pPr>
            <a:r>
              <a:rPr lang="en-US" altLang="zh-CN" sz="1800">
                <a:solidFill>
                  <a:srgbClr val="3333CC"/>
                </a:solidFill>
                <a:latin typeface="Arial" panose="020B0604020202090204" pitchFamily="34" charset="0"/>
                <a:ea typeface="黑体" panose="02010609060101010101" pitchFamily="49" charset="-122"/>
              </a:rPr>
              <a:t>MOV </a:t>
            </a:r>
            <a:r>
              <a:rPr lang="en-US" altLang="zh-CN" sz="1800">
                <a:solidFill>
                  <a:srgbClr val="FF9933"/>
                </a:solidFill>
                <a:latin typeface="Arial" panose="020B0604020202090204" pitchFamily="34" charset="0"/>
                <a:ea typeface="黑体" panose="02010609060101010101" pitchFamily="49" charset="-122"/>
              </a:rPr>
              <a:t> </a:t>
            </a:r>
            <a:r>
              <a:rPr lang="en-US" altLang="zh-CN" sz="1800">
                <a:latin typeface="黑体" panose="02010609060101010101" pitchFamily="49" charset="-122"/>
                <a:ea typeface="黑体" panose="02010609060101010101" pitchFamily="49" charset="-122"/>
              </a:rPr>
              <a:t>  &lt;</a:t>
            </a:r>
            <a:r>
              <a:rPr lang="zh-CN" altLang="en-US" sz="1800" dirty="0">
                <a:latin typeface="黑体" panose="02010609060101010101" pitchFamily="49" charset="-122"/>
                <a:ea typeface="黑体" panose="02010609060101010101" pitchFamily="49" charset="-122"/>
              </a:rPr>
              <a:t>目的操作数</a:t>
            </a:r>
            <a:r>
              <a:rPr lang="en-US" altLang="zh-CN" sz="1800">
                <a:latin typeface="黑体" panose="02010609060101010101" pitchFamily="49" charset="-122"/>
                <a:ea typeface="黑体" panose="02010609060101010101" pitchFamily="49" charset="-122"/>
              </a:rPr>
              <a:t>&gt;,&lt;</a:t>
            </a:r>
            <a:r>
              <a:rPr lang="zh-CN" altLang="en-US" sz="1800" dirty="0">
                <a:latin typeface="黑体" panose="02010609060101010101" pitchFamily="49" charset="-122"/>
                <a:ea typeface="黑体" panose="02010609060101010101" pitchFamily="49" charset="-122"/>
              </a:rPr>
              <a:t>源操作数</a:t>
            </a:r>
            <a:r>
              <a:rPr lang="en-US" altLang="zh-CN" sz="1800">
                <a:latin typeface="黑体" panose="02010609060101010101" pitchFamily="49" charset="-122"/>
                <a:ea typeface="黑体" panose="02010609060101010101" pitchFamily="49" charset="-122"/>
              </a:rPr>
              <a:t>&gt;</a:t>
            </a:r>
            <a:endParaRPr lang="en-US" altLang="zh-CN" sz="1800">
              <a:latin typeface="黑体" panose="02010609060101010101" pitchFamily="49" charset="-122"/>
              <a:ea typeface="黑体" panose="02010609060101010101" pitchFamily="49" charset="-122"/>
            </a:endParaRPr>
          </a:p>
        </p:txBody>
      </p:sp>
      <p:sp>
        <p:nvSpPr>
          <p:cNvPr id="50226" name="矩形 50225"/>
          <p:cNvSpPr/>
          <p:nvPr/>
        </p:nvSpPr>
        <p:spPr>
          <a:xfrm>
            <a:off x="5867400" y="4305300"/>
            <a:ext cx="2305050" cy="366713"/>
          </a:xfrm>
          <a:prstGeom prst="rect">
            <a:avLst/>
          </a:prstGeom>
          <a:noFill/>
          <a:ln w="9525">
            <a:noFill/>
          </a:ln>
        </p:spPr>
        <p:txBody>
          <a:bodyPr anchor="t" anchorCtr="0">
            <a:spAutoFit/>
          </a:bodyPr>
          <a:p>
            <a:pPr>
              <a:spcBef>
                <a:spcPct val="50000"/>
              </a:spcBef>
            </a:pPr>
            <a:r>
              <a:rPr lang="en-US" altLang="zh-CN" sz="1800">
                <a:solidFill>
                  <a:srgbClr val="3333CC"/>
                </a:solidFill>
                <a:latin typeface="Arial" panose="020B0604020202090204" pitchFamily="34" charset="0"/>
                <a:ea typeface="黑体" panose="02010609060101010101" pitchFamily="49" charset="-122"/>
              </a:rPr>
              <a:t>MOV  </a:t>
            </a:r>
            <a:r>
              <a:rPr lang="en-US" altLang="zh-CN" sz="1800" dirty="0">
                <a:solidFill>
                  <a:srgbClr val="3333CC"/>
                </a:solidFill>
                <a:latin typeface="Arial" panose="020B0604020202090204" pitchFamily="34" charset="0"/>
                <a:ea typeface="黑体" panose="02010609060101010101" pitchFamily="49" charset="-122"/>
              </a:rPr>
              <a:t>A</a:t>
            </a:r>
            <a:r>
              <a:rPr lang="zh-CN" altLang="en-US" sz="1800" dirty="0">
                <a:solidFill>
                  <a:srgbClr val="3333CC"/>
                </a:solidFill>
                <a:latin typeface="Arial" panose="020B0604020202090204" pitchFamily="34" charset="0"/>
                <a:ea typeface="黑体" panose="02010609060101010101" pitchFamily="49" charset="-122"/>
              </a:rPr>
              <a:t>，</a:t>
            </a:r>
            <a:r>
              <a:rPr lang="en-US" altLang="zh-CN" sz="1800">
                <a:solidFill>
                  <a:srgbClr val="3333CC"/>
                </a:solidFill>
                <a:latin typeface="Arial" panose="020B0604020202090204" pitchFamily="34" charset="0"/>
                <a:ea typeface="黑体" panose="02010609060101010101" pitchFamily="49" charset="-122"/>
              </a:rPr>
              <a:t>#20H</a:t>
            </a:r>
            <a:endParaRPr lang="en-US" altLang="zh-CN" sz="1800">
              <a:solidFill>
                <a:srgbClr val="3333CC"/>
              </a:solidFill>
              <a:latin typeface="Arial" panose="020B0604020202090204" pitchFamily="34" charset="0"/>
              <a:ea typeface="黑体" panose="02010609060101010101" pitchFamily="49" charset="-122"/>
            </a:endParaRPr>
          </a:p>
        </p:txBody>
      </p:sp>
      <p:sp>
        <p:nvSpPr>
          <p:cNvPr id="50240" name="文本框 50239"/>
          <p:cNvSpPr txBox="1"/>
          <p:nvPr/>
        </p:nvSpPr>
        <p:spPr>
          <a:xfrm>
            <a:off x="2874963" y="4140200"/>
            <a:ext cx="412750" cy="366713"/>
          </a:xfrm>
          <a:prstGeom prst="rect">
            <a:avLst/>
          </a:prstGeom>
          <a:noFill/>
          <a:ln w="9525">
            <a:noFill/>
          </a:ln>
        </p:spPr>
        <p:txBody>
          <a:bodyPr wrap="none" anchor="t">
            <a:spAutoFit/>
          </a:bodyPr>
          <a:p>
            <a:pPr>
              <a:buClrTx/>
            </a:pPr>
            <a:r>
              <a:rPr lang="zh-CN" altLang="en-US" sz="1800" noProof="1" dirty="0">
                <a:solidFill>
                  <a:srgbClr val="3333CC"/>
                </a:solidFill>
                <a:effectLst>
                  <a:outerShdw blurRad="38100" dist="38100" dir="2700000">
                    <a:srgbClr val="000000"/>
                  </a:outerShdw>
                </a:effectLst>
                <a:latin typeface="Arial" panose="020B0604020202090204" pitchFamily="34" charset="0"/>
                <a:ea typeface="黑体" panose="02010609060101010101" pitchFamily="49" charset="-122"/>
                <a:cs typeface="宋体" pitchFamily="2" charset="-122"/>
              </a:rPr>
              <a:t>，</a:t>
            </a:r>
            <a:endParaRPr lang="zh-CN" altLang="en-US" sz="1800" noProof="1" dirty="0">
              <a:solidFill>
                <a:srgbClr val="3333CC"/>
              </a:solidFill>
              <a:effectLst>
                <a:outerShdw blurRad="38100" dist="38100" dir="2700000">
                  <a:srgbClr val="000000"/>
                </a:outerShdw>
              </a:effectLst>
              <a:latin typeface="Arial" panose="020B0604020202090204" pitchFamily="34" charset="0"/>
              <a:ea typeface="黑体" panose="02010609060101010101" pitchFamily="49" charset="-122"/>
            </a:endParaRPr>
          </a:p>
        </p:txBody>
      </p:sp>
      <p:grpSp>
        <p:nvGrpSpPr>
          <p:cNvPr id="50245" name="组合 50244"/>
          <p:cNvGrpSpPr/>
          <p:nvPr/>
        </p:nvGrpSpPr>
        <p:grpSpPr>
          <a:xfrm>
            <a:off x="1847850" y="3209925"/>
            <a:ext cx="1008063" cy="2160588"/>
            <a:chOff x="975" y="1706"/>
            <a:chExt cx="635" cy="1361"/>
          </a:xfrm>
        </p:grpSpPr>
        <p:grpSp>
          <p:nvGrpSpPr>
            <p:cNvPr id="96267" name="组合 50237"/>
            <p:cNvGrpSpPr/>
            <p:nvPr/>
          </p:nvGrpSpPr>
          <p:grpSpPr>
            <a:xfrm>
              <a:off x="1020" y="1706"/>
              <a:ext cx="588" cy="1184"/>
              <a:chOff x="1020" y="1706"/>
              <a:chExt cx="588" cy="1184"/>
            </a:xfrm>
          </p:grpSpPr>
          <p:sp>
            <p:nvSpPr>
              <p:cNvPr id="50229" name="文本框 50228"/>
              <p:cNvSpPr txBox="1"/>
              <p:nvPr/>
            </p:nvSpPr>
            <p:spPr>
              <a:xfrm>
                <a:off x="1020" y="1706"/>
                <a:ext cx="220" cy="231"/>
              </a:xfrm>
              <a:prstGeom prst="rect">
                <a:avLst/>
              </a:prstGeom>
              <a:noFill/>
              <a:ln w="9525">
                <a:noFill/>
              </a:ln>
            </p:spPr>
            <p:txBody>
              <a:bodyPr wrap="none" anchor="t">
                <a:spAutoFit/>
              </a:bodyPr>
              <a:p>
                <a:pPr>
                  <a:buClrTx/>
                </a:pPr>
                <a:r>
                  <a:rPr lang="en-US" altLang="zh-CN" sz="1800" noProof="1">
                    <a:solidFill>
                      <a:srgbClr val="3333CC"/>
                    </a:solidFill>
                    <a:effectLst>
                      <a:outerShdw blurRad="38100" dist="38100" dir="2700000">
                        <a:srgbClr val="FFFFFF"/>
                      </a:outerShdw>
                    </a:effectLst>
                    <a:latin typeface="Arial" panose="020B0604020202090204" pitchFamily="34" charset="0"/>
                    <a:ea typeface="MingLiU" pitchFamily="49" charset="-120"/>
                    <a:cs typeface="宋体" pitchFamily="2" charset="-122"/>
                  </a:rPr>
                  <a:t>A</a:t>
                </a:r>
                <a:endParaRPr lang="en-US" altLang="zh-CN" sz="1800" noProof="1">
                  <a:solidFill>
                    <a:srgbClr val="3333CC"/>
                  </a:solidFill>
                  <a:effectLst>
                    <a:outerShdw blurRad="38100" dist="38100" dir="2700000">
                      <a:srgbClr val="FFFFFF"/>
                    </a:outerShdw>
                  </a:effectLst>
                  <a:latin typeface="Arial" panose="020B0604020202090204" pitchFamily="34" charset="0"/>
                  <a:ea typeface="MingLiU" pitchFamily="49" charset="-120"/>
                </a:endParaRPr>
              </a:p>
            </p:txBody>
          </p:sp>
          <p:sp>
            <p:nvSpPr>
              <p:cNvPr id="50230" name="文本框 50229"/>
              <p:cNvSpPr txBox="1"/>
              <p:nvPr/>
            </p:nvSpPr>
            <p:spPr>
              <a:xfrm>
                <a:off x="1020" y="2011"/>
                <a:ext cx="308" cy="231"/>
              </a:xfrm>
              <a:prstGeom prst="rect">
                <a:avLst/>
              </a:prstGeom>
              <a:noFill/>
              <a:ln w="9525">
                <a:noFill/>
              </a:ln>
            </p:spPr>
            <p:txBody>
              <a:bodyPr wrap="none" anchor="t">
                <a:spAutoFit/>
              </a:bodyPr>
              <a:p>
                <a:pPr>
                  <a:buClrTx/>
                </a:pPr>
                <a:r>
                  <a:rPr lang="en-US" altLang="zh-CN" sz="1800" noProof="1" err="1">
                    <a:solidFill>
                      <a:srgbClr val="3333CC"/>
                    </a:solidFill>
                    <a:effectLst>
                      <a:outerShdw blurRad="38100" dist="38100" dir="2700000">
                        <a:srgbClr val="FFFFFF"/>
                      </a:outerShdw>
                    </a:effectLst>
                    <a:latin typeface="Arial" panose="020B0604020202090204" pitchFamily="34" charset="0"/>
                    <a:ea typeface="MingLiU" pitchFamily="49" charset="-120"/>
                    <a:cs typeface="宋体" pitchFamily="2" charset="-122"/>
                  </a:rPr>
                  <a:t>Rn</a:t>
                </a:r>
                <a:endParaRPr lang="en-US" altLang="zh-CN" sz="1800" noProof="1" err="1">
                  <a:solidFill>
                    <a:srgbClr val="3333CC"/>
                  </a:solidFill>
                  <a:effectLst>
                    <a:outerShdw blurRad="38100" dist="38100" dir="2700000">
                      <a:srgbClr val="FFFFFF"/>
                    </a:outerShdw>
                  </a:effectLst>
                  <a:latin typeface="Arial" panose="020B0604020202090204" pitchFamily="34" charset="0"/>
                  <a:ea typeface="MingLiU" pitchFamily="49" charset="-120"/>
                </a:endParaRPr>
              </a:p>
            </p:txBody>
          </p:sp>
          <p:sp>
            <p:nvSpPr>
              <p:cNvPr id="50231" name="文本框 50230"/>
              <p:cNvSpPr txBox="1"/>
              <p:nvPr/>
            </p:nvSpPr>
            <p:spPr>
              <a:xfrm>
                <a:off x="1020" y="2329"/>
                <a:ext cx="588" cy="231"/>
              </a:xfrm>
              <a:prstGeom prst="rect">
                <a:avLst/>
              </a:prstGeom>
              <a:noFill/>
              <a:ln w="9525">
                <a:noFill/>
              </a:ln>
            </p:spPr>
            <p:txBody>
              <a:bodyPr wrap="none" anchor="t">
                <a:spAutoFit/>
              </a:bodyPr>
              <a:p>
                <a:pPr>
                  <a:buClrTx/>
                </a:pPr>
                <a:r>
                  <a:rPr lang="en-US" altLang="zh-CN" sz="1800" noProof="1">
                    <a:solidFill>
                      <a:srgbClr val="3333CC"/>
                    </a:solidFill>
                    <a:effectLst>
                      <a:outerShdw blurRad="38100" dist="38100" dir="2700000">
                        <a:srgbClr val="FFFFFF"/>
                      </a:outerShdw>
                    </a:effectLst>
                    <a:latin typeface="Arial" panose="020B0604020202090204" pitchFamily="34" charset="0"/>
                    <a:ea typeface="MingLiU" pitchFamily="49" charset="-120"/>
                    <a:cs typeface="宋体" pitchFamily="2" charset="-122"/>
                  </a:rPr>
                  <a:t>direct1</a:t>
                </a:r>
                <a:endParaRPr lang="en-US" altLang="zh-CN" sz="1800" noProof="1">
                  <a:solidFill>
                    <a:srgbClr val="3333CC"/>
                  </a:solidFill>
                  <a:effectLst>
                    <a:outerShdw blurRad="38100" dist="38100" dir="2700000">
                      <a:srgbClr val="FFFFFF"/>
                    </a:outerShdw>
                  </a:effectLst>
                  <a:latin typeface="Arial" panose="020B0604020202090204" pitchFamily="34" charset="0"/>
                  <a:ea typeface="MingLiU" pitchFamily="49" charset="-120"/>
                </a:endParaRPr>
              </a:p>
            </p:txBody>
          </p:sp>
          <p:sp>
            <p:nvSpPr>
              <p:cNvPr id="50232" name="文本框 50231"/>
              <p:cNvSpPr txBox="1"/>
              <p:nvPr/>
            </p:nvSpPr>
            <p:spPr>
              <a:xfrm>
                <a:off x="1020" y="2659"/>
                <a:ext cx="400" cy="231"/>
              </a:xfrm>
              <a:prstGeom prst="rect">
                <a:avLst/>
              </a:prstGeom>
              <a:noFill/>
              <a:ln w="9525">
                <a:noFill/>
              </a:ln>
            </p:spPr>
            <p:txBody>
              <a:bodyPr wrap="none" anchor="t">
                <a:spAutoFit/>
              </a:bodyPr>
              <a:p>
                <a:pPr>
                  <a:buClrTx/>
                </a:pPr>
                <a:r>
                  <a:rPr lang="en-US" altLang="zh-CN" sz="1800" noProof="1" err="1">
                    <a:solidFill>
                      <a:srgbClr val="3333CC"/>
                    </a:solidFill>
                    <a:effectLst>
                      <a:outerShdw blurRad="38100" dist="38100" dir="2700000">
                        <a:srgbClr val="FFFFFF"/>
                      </a:outerShdw>
                    </a:effectLst>
                    <a:latin typeface="Arial" panose="020B0604020202090204" pitchFamily="34" charset="0"/>
                    <a:ea typeface="MingLiU" pitchFamily="49" charset="-120"/>
                    <a:cs typeface="宋体" pitchFamily="2" charset="-122"/>
                  </a:rPr>
                  <a:t>@Ri</a:t>
                </a:r>
                <a:endParaRPr lang="en-US" altLang="zh-CN" sz="1800" noProof="1" err="1">
                  <a:solidFill>
                    <a:srgbClr val="3333CC"/>
                  </a:solidFill>
                  <a:effectLst>
                    <a:outerShdw blurRad="38100" dist="38100" dir="2700000">
                      <a:srgbClr val="FFFFFF"/>
                    </a:outerShdw>
                  </a:effectLst>
                  <a:latin typeface="Arial" panose="020B0604020202090204" pitchFamily="34" charset="0"/>
                  <a:ea typeface="MingLiU" pitchFamily="49" charset="-120"/>
                </a:endParaRPr>
              </a:p>
            </p:txBody>
          </p:sp>
        </p:grpSp>
        <p:sp>
          <p:nvSpPr>
            <p:cNvPr id="96272" name="双括号 50240"/>
            <p:cNvSpPr/>
            <p:nvPr/>
          </p:nvSpPr>
          <p:spPr>
            <a:xfrm>
              <a:off x="975" y="1706"/>
              <a:ext cx="635" cy="1361"/>
            </a:xfrm>
            <a:prstGeom prst="bracketPair">
              <a:avLst>
                <a:gd name="adj" fmla="val 16667"/>
              </a:avLst>
            </a:prstGeom>
            <a:noFill/>
            <a:ln w="9525" cap="flat" cmpd="sng">
              <a:solidFill>
                <a:srgbClr val="000000"/>
              </a:solidFill>
              <a:prstDash val="solid"/>
              <a:miter/>
              <a:headEnd type="none" w="med" len="med"/>
              <a:tailEnd type="none" w="med" len="med"/>
            </a:ln>
          </p:spPr>
          <p:txBody>
            <a:bodyPr anchor="t" anchorCtr="0"/>
            <a:p>
              <a:endParaRPr lang="zh-CN" altLang="en-US">
                <a:solidFill>
                  <a:srgbClr val="3333CC"/>
                </a:solidFill>
                <a:latin typeface="Times New Roman" panose="02020503050405090304" pitchFamily="18" charset="0"/>
                <a:ea typeface="宋体" pitchFamily="2" charset="-122"/>
              </a:endParaRPr>
            </a:p>
          </p:txBody>
        </p:sp>
      </p:grpSp>
      <p:grpSp>
        <p:nvGrpSpPr>
          <p:cNvPr id="50246" name="组合 50245"/>
          <p:cNvGrpSpPr/>
          <p:nvPr/>
        </p:nvGrpSpPr>
        <p:grpSpPr>
          <a:xfrm>
            <a:off x="3143250" y="3138488"/>
            <a:ext cx="1081088" cy="2592387"/>
            <a:chOff x="1791" y="1661"/>
            <a:chExt cx="681" cy="1633"/>
          </a:xfrm>
        </p:grpSpPr>
        <p:grpSp>
          <p:nvGrpSpPr>
            <p:cNvPr id="96274" name="组合 50238"/>
            <p:cNvGrpSpPr/>
            <p:nvPr/>
          </p:nvGrpSpPr>
          <p:grpSpPr>
            <a:xfrm>
              <a:off x="1882" y="1706"/>
              <a:ext cx="590" cy="1547"/>
              <a:chOff x="1837" y="1706"/>
              <a:chExt cx="590" cy="1547"/>
            </a:xfrm>
          </p:grpSpPr>
          <p:sp>
            <p:nvSpPr>
              <p:cNvPr id="50233" name="文本框 50232"/>
              <p:cNvSpPr txBox="1"/>
              <p:nvPr/>
            </p:nvSpPr>
            <p:spPr>
              <a:xfrm>
                <a:off x="1837" y="1706"/>
                <a:ext cx="220" cy="231"/>
              </a:xfrm>
              <a:prstGeom prst="rect">
                <a:avLst/>
              </a:prstGeom>
              <a:noFill/>
              <a:ln w="9525">
                <a:noFill/>
              </a:ln>
            </p:spPr>
            <p:txBody>
              <a:bodyPr wrap="none" anchor="t">
                <a:spAutoFit/>
              </a:bodyPr>
              <a:p>
                <a:pPr>
                  <a:buClrTx/>
                </a:pPr>
                <a:r>
                  <a:rPr lang="en-US" altLang="zh-CN" sz="1800" noProof="1">
                    <a:solidFill>
                      <a:srgbClr val="3333CC"/>
                    </a:solidFill>
                    <a:effectLst>
                      <a:outerShdw blurRad="38100" dist="38100" dir="2700000">
                        <a:srgbClr val="FFFFFF"/>
                      </a:outerShdw>
                    </a:effectLst>
                    <a:latin typeface="Arial" panose="020B0604020202090204" pitchFamily="34" charset="0"/>
                    <a:ea typeface="MingLiU" pitchFamily="49" charset="-120"/>
                    <a:cs typeface="宋体" pitchFamily="2" charset="-122"/>
                  </a:rPr>
                  <a:t>A</a:t>
                </a:r>
                <a:endParaRPr lang="en-US" altLang="zh-CN" sz="1800" noProof="1">
                  <a:solidFill>
                    <a:srgbClr val="3333CC"/>
                  </a:solidFill>
                  <a:effectLst>
                    <a:outerShdw blurRad="38100" dist="38100" dir="2700000">
                      <a:srgbClr val="FFFFFF"/>
                    </a:outerShdw>
                  </a:effectLst>
                  <a:latin typeface="Arial" panose="020B0604020202090204" pitchFamily="34" charset="0"/>
                  <a:ea typeface="MingLiU" pitchFamily="49" charset="-120"/>
                </a:endParaRPr>
              </a:p>
            </p:txBody>
          </p:sp>
          <p:sp>
            <p:nvSpPr>
              <p:cNvPr id="50234" name="文本框 50233"/>
              <p:cNvSpPr txBox="1"/>
              <p:nvPr/>
            </p:nvSpPr>
            <p:spPr>
              <a:xfrm>
                <a:off x="1837" y="2011"/>
                <a:ext cx="308" cy="231"/>
              </a:xfrm>
              <a:prstGeom prst="rect">
                <a:avLst/>
              </a:prstGeom>
              <a:noFill/>
              <a:ln w="9525">
                <a:noFill/>
              </a:ln>
            </p:spPr>
            <p:txBody>
              <a:bodyPr wrap="none" anchor="t">
                <a:spAutoFit/>
              </a:bodyPr>
              <a:p>
                <a:pPr>
                  <a:buClrTx/>
                </a:pPr>
                <a:r>
                  <a:rPr lang="en-US" altLang="zh-CN" sz="1800" noProof="1" err="1">
                    <a:solidFill>
                      <a:srgbClr val="3333CC"/>
                    </a:solidFill>
                    <a:effectLst>
                      <a:outerShdw blurRad="38100" dist="38100" dir="2700000">
                        <a:srgbClr val="FFFFFF"/>
                      </a:outerShdw>
                    </a:effectLst>
                    <a:latin typeface="Arial" panose="020B0604020202090204" pitchFamily="34" charset="0"/>
                    <a:ea typeface="MingLiU" pitchFamily="49" charset="-120"/>
                    <a:cs typeface="宋体" pitchFamily="2" charset="-122"/>
                  </a:rPr>
                  <a:t>Rn</a:t>
                </a:r>
                <a:endParaRPr lang="en-US" altLang="zh-CN" sz="1800" noProof="1" err="1">
                  <a:solidFill>
                    <a:srgbClr val="3333CC"/>
                  </a:solidFill>
                  <a:effectLst>
                    <a:outerShdw blurRad="38100" dist="38100" dir="2700000">
                      <a:srgbClr val="FFFFFF"/>
                    </a:outerShdw>
                  </a:effectLst>
                  <a:latin typeface="Arial" panose="020B0604020202090204" pitchFamily="34" charset="0"/>
                  <a:ea typeface="MingLiU" pitchFamily="49" charset="-120"/>
                </a:endParaRPr>
              </a:p>
            </p:txBody>
          </p:sp>
          <p:sp>
            <p:nvSpPr>
              <p:cNvPr id="50235" name="文本框 50234"/>
              <p:cNvSpPr txBox="1"/>
              <p:nvPr/>
            </p:nvSpPr>
            <p:spPr>
              <a:xfrm>
                <a:off x="1839" y="2329"/>
                <a:ext cx="588" cy="231"/>
              </a:xfrm>
              <a:prstGeom prst="rect">
                <a:avLst/>
              </a:prstGeom>
              <a:noFill/>
              <a:ln w="9525">
                <a:noFill/>
              </a:ln>
            </p:spPr>
            <p:txBody>
              <a:bodyPr wrap="none" anchor="t">
                <a:spAutoFit/>
              </a:bodyPr>
              <a:p>
                <a:pPr>
                  <a:buClrTx/>
                </a:pPr>
                <a:r>
                  <a:rPr lang="en-US" altLang="zh-CN" sz="1800" noProof="1">
                    <a:solidFill>
                      <a:srgbClr val="3333CC"/>
                    </a:solidFill>
                    <a:effectLst>
                      <a:outerShdw blurRad="38100" dist="38100" dir="2700000">
                        <a:srgbClr val="FFFFFF"/>
                      </a:outerShdw>
                    </a:effectLst>
                    <a:latin typeface="Arial" panose="020B0604020202090204" pitchFamily="34" charset="0"/>
                    <a:ea typeface="MingLiU" pitchFamily="49" charset="-120"/>
                    <a:cs typeface="宋体" pitchFamily="2" charset="-122"/>
                  </a:rPr>
                  <a:t>direct2</a:t>
                </a:r>
                <a:endParaRPr lang="en-US" altLang="zh-CN" sz="1800" noProof="1">
                  <a:solidFill>
                    <a:srgbClr val="3333CC"/>
                  </a:solidFill>
                  <a:effectLst>
                    <a:outerShdw blurRad="38100" dist="38100" dir="2700000">
                      <a:srgbClr val="FFFFFF"/>
                    </a:outerShdw>
                  </a:effectLst>
                  <a:latin typeface="Arial" panose="020B0604020202090204" pitchFamily="34" charset="0"/>
                  <a:ea typeface="MingLiU" pitchFamily="49" charset="-120"/>
                </a:endParaRPr>
              </a:p>
            </p:txBody>
          </p:sp>
          <p:sp>
            <p:nvSpPr>
              <p:cNvPr id="50236" name="文本框 50235"/>
              <p:cNvSpPr txBox="1"/>
              <p:nvPr/>
            </p:nvSpPr>
            <p:spPr>
              <a:xfrm>
                <a:off x="1837" y="2659"/>
                <a:ext cx="400" cy="231"/>
              </a:xfrm>
              <a:prstGeom prst="rect">
                <a:avLst/>
              </a:prstGeom>
              <a:noFill/>
              <a:ln w="9525">
                <a:noFill/>
              </a:ln>
            </p:spPr>
            <p:txBody>
              <a:bodyPr wrap="none" anchor="t">
                <a:spAutoFit/>
              </a:bodyPr>
              <a:p>
                <a:pPr>
                  <a:buClrTx/>
                </a:pPr>
                <a:r>
                  <a:rPr lang="en-US" altLang="zh-CN" sz="1800" noProof="1" err="1">
                    <a:solidFill>
                      <a:srgbClr val="3333CC"/>
                    </a:solidFill>
                    <a:effectLst>
                      <a:outerShdw blurRad="38100" dist="38100" dir="2700000">
                        <a:srgbClr val="FFFFFF"/>
                      </a:outerShdw>
                    </a:effectLst>
                    <a:latin typeface="Arial" panose="020B0604020202090204" pitchFamily="34" charset="0"/>
                    <a:ea typeface="MingLiU" pitchFamily="49" charset="-120"/>
                    <a:cs typeface="宋体" pitchFamily="2" charset="-122"/>
                  </a:rPr>
                  <a:t>@Ri</a:t>
                </a:r>
                <a:endParaRPr lang="en-US" altLang="zh-CN" sz="1800" noProof="1" err="1">
                  <a:solidFill>
                    <a:srgbClr val="3333CC"/>
                  </a:solidFill>
                  <a:effectLst>
                    <a:outerShdw blurRad="38100" dist="38100" dir="2700000">
                      <a:srgbClr val="FFFFFF"/>
                    </a:outerShdw>
                  </a:effectLst>
                  <a:latin typeface="Arial" panose="020B0604020202090204" pitchFamily="34" charset="0"/>
                  <a:ea typeface="MingLiU" pitchFamily="49" charset="-120"/>
                </a:endParaRPr>
              </a:p>
            </p:txBody>
          </p:sp>
          <p:sp>
            <p:nvSpPr>
              <p:cNvPr id="50237" name="文本框 50236"/>
              <p:cNvSpPr txBox="1"/>
              <p:nvPr/>
            </p:nvSpPr>
            <p:spPr>
              <a:xfrm>
                <a:off x="1837" y="3022"/>
                <a:ext cx="492" cy="231"/>
              </a:xfrm>
              <a:prstGeom prst="rect">
                <a:avLst/>
              </a:prstGeom>
              <a:noFill/>
              <a:ln w="9525">
                <a:noFill/>
              </a:ln>
            </p:spPr>
            <p:txBody>
              <a:bodyPr wrap="none" anchor="t">
                <a:spAutoFit/>
              </a:bodyPr>
              <a:p>
                <a:pPr>
                  <a:buClrTx/>
                </a:pPr>
                <a:r>
                  <a:rPr lang="en-US" altLang="zh-CN" sz="1800" noProof="1">
                    <a:solidFill>
                      <a:srgbClr val="3333CC"/>
                    </a:solidFill>
                    <a:effectLst>
                      <a:outerShdw blurRad="38100" dist="38100" dir="2700000">
                        <a:srgbClr val="FFFFFF"/>
                      </a:outerShdw>
                    </a:effectLst>
                    <a:latin typeface="Arial" panose="020B0604020202090204" pitchFamily="34" charset="0"/>
                    <a:ea typeface="MingLiU" pitchFamily="49" charset="-120"/>
                    <a:cs typeface="宋体" pitchFamily="2" charset="-122"/>
                  </a:rPr>
                  <a:t>#data</a:t>
                </a:r>
                <a:endParaRPr lang="en-US" altLang="zh-CN" sz="1800" noProof="1">
                  <a:solidFill>
                    <a:srgbClr val="3333CC"/>
                  </a:solidFill>
                  <a:effectLst>
                    <a:outerShdw blurRad="38100" dist="38100" dir="2700000">
                      <a:srgbClr val="FFFFFF"/>
                    </a:outerShdw>
                  </a:effectLst>
                  <a:latin typeface="Arial" panose="020B0604020202090204" pitchFamily="34" charset="0"/>
                  <a:ea typeface="MingLiU" pitchFamily="49" charset="-120"/>
                </a:endParaRPr>
              </a:p>
            </p:txBody>
          </p:sp>
        </p:grpSp>
        <p:sp>
          <p:nvSpPr>
            <p:cNvPr id="96280" name="双括号 50243"/>
            <p:cNvSpPr/>
            <p:nvPr/>
          </p:nvSpPr>
          <p:spPr>
            <a:xfrm>
              <a:off x="1791" y="1661"/>
              <a:ext cx="681" cy="1633"/>
            </a:xfrm>
            <a:prstGeom prst="bracketPair">
              <a:avLst>
                <a:gd name="adj" fmla="val 16667"/>
              </a:avLst>
            </a:prstGeom>
            <a:noFill/>
            <a:ln w="9525" cap="flat" cmpd="sng">
              <a:solidFill>
                <a:srgbClr val="000000"/>
              </a:solidFill>
              <a:prstDash val="solid"/>
              <a:miter/>
              <a:headEnd type="none" w="med" len="med"/>
              <a:tailEnd type="none" w="med" len="med"/>
            </a:ln>
          </p:spPr>
          <p:txBody>
            <a:bodyPr anchor="t" anchorCtr="0"/>
            <a:p>
              <a:endParaRPr lang="zh-CN" altLang="en-US">
                <a:solidFill>
                  <a:srgbClr val="3333CC"/>
                </a:solidFill>
                <a:latin typeface="Times New Roman" panose="02020503050405090304" pitchFamily="18" charset="0"/>
                <a:ea typeface="宋体" pitchFamily="2" charset="-122"/>
              </a:endParaRPr>
            </a:p>
          </p:txBody>
        </p:sp>
      </p:grpSp>
      <p:grpSp>
        <p:nvGrpSpPr>
          <p:cNvPr id="50252" name="组合 50251"/>
          <p:cNvGrpSpPr/>
          <p:nvPr/>
        </p:nvGrpSpPr>
        <p:grpSpPr>
          <a:xfrm>
            <a:off x="1358900" y="3203575"/>
            <a:ext cx="2419350" cy="857250"/>
            <a:chOff x="476" y="1430"/>
            <a:chExt cx="1524" cy="540"/>
          </a:xfrm>
        </p:grpSpPr>
        <p:sp>
          <p:nvSpPr>
            <p:cNvPr id="96282" name="直接连接符 50247"/>
            <p:cNvSpPr/>
            <p:nvPr/>
          </p:nvSpPr>
          <p:spPr>
            <a:xfrm flipV="1">
              <a:off x="476" y="1570"/>
              <a:ext cx="363" cy="318"/>
            </a:xfrm>
            <a:prstGeom prst="line">
              <a:avLst/>
            </a:prstGeom>
            <a:ln w="9525">
              <a:noFill/>
            </a:ln>
          </p:spPr>
        </p:sp>
        <p:sp>
          <p:nvSpPr>
            <p:cNvPr id="96283" name="直接连接符 50248"/>
            <p:cNvSpPr/>
            <p:nvPr/>
          </p:nvSpPr>
          <p:spPr>
            <a:xfrm>
              <a:off x="1066" y="1525"/>
              <a:ext cx="635" cy="317"/>
            </a:xfrm>
            <a:prstGeom prst="line">
              <a:avLst/>
            </a:prstGeom>
            <a:ln w="9525" cap="flat" cmpd="sng">
              <a:solidFill>
                <a:srgbClr val="FF3300"/>
              </a:solidFill>
              <a:prstDash val="solid"/>
              <a:miter/>
              <a:headEnd type="arrow" w="lg" len="lg"/>
              <a:tailEnd type="none" w="med" len="med"/>
            </a:ln>
          </p:spPr>
        </p:sp>
        <p:sp>
          <p:nvSpPr>
            <p:cNvPr id="50250" name="文本框 50249"/>
            <p:cNvSpPr txBox="1"/>
            <p:nvPr/>
          </p:nvSpPr>
          <p:spPr>
            <a:xfrm>
              <a:off x="830" y="1430"/>
              <a:ext cx="220" cy="231"/>
            </a:xfrm>
            <a:prstGeom prst="rect">
              <a:avLst/>
            </a:prstGeom>
            <a:noFill/>
            <a:ln w="9525">
              <a:noFill/>
            </a:ln>
          </p:spPr>
          <p:txBody>
            <a:bodyPr wrap="none" anchor="t">
              <a:spAutoFit/>
            </a:bodyPr>
            <a:p>
              <a:pPr>
                <a:buClrTx/>
              </a:pPr>
              <a:r>
                <a:rPr lang="en-US" altLang="zh-CN" sz="1800" noProof="1">
                  <a:solidFill>
                    <a:srgbClr val="3333CC"/>
                  </a:solidFill>
                  <a:effectLst>
                    <a:outerShdw blurRad="38100" dist="38100" dir="2700000">
                      <a:srgbClr val="000000"/>
                    </a:outerShdw>
                  </a:effectLst>
                  <a:latin typeface="Arial" panose="020B0604020202090204" pitchFamily="34" charset="0"/>
                  <a:ea typeface="宋体" pitchFamily="2" charset="-122"/>
                  <a:cs typeface="宋体" pitchFamily="2" charset="-122"/>
                </a:rPr>
                <a:t>A</a:t>
              </a:r>
              <a:endParaRPr lang="en-US" altLang="zh-CN" sz="1800" noProof="1">
                <a:solidFill>
                  <a:srgbClr val="3333CC"/>
                </a:solidFill>
                <a:effectLst>
                  <a:outerShdw blurRad="38100" dist="38100" dir="2700000">
                    <a:srgbClr val="000000"/>
                  </a:outerShdw>
                </a:effectLst>
                <a:latin typeface="Arial" panose="020B0604020202090204" pitchFamily="34" charset="0"/>
                <a:ea typeface="宋体" pitchFamily="2" charset="-122"/>
              </a:endParaRPr>
            </a:p>
          </p:txBody>
        </p:sp>
        <p:sp>
          <p:nvSpPr>
            <p:cNvPr id="50251" name="文本框 50250"/>
            <p:cNvSpPr txBox="1"/>
            <p:nvPr/>
          </p:nvSpPr>
          <p:spPr>
            <a:xfrm>
              <a:off x="1692" y="1739"/>
              <a:ext cx="308" cy="231"/>
            </a:xfrm>
            <a:prstGeom prst="rect">
              <a:avLst/>
            </a:prstGeom>
            <a:noFill/>
            <a:ln w="9525">
              <a:noFill/>
            </a:ln>
          </p:spPr>
          <p:txBody>
            <a:bodyPr wrap="none" anchor="t">
              <a:spAutoFit/>
            </a:bodyPr>
            <a:p>
              <a:pPr>
                <a:buClrTx/>
              </a:pPr>
              <a:r>
                <a:rPr lang="en-US" altLang="zh-CN" sz="1800" noProof="1" err="1">
                  <a:solidFill>
                    <a:srgbClr val="3333CC"/>
                  </a:solidFill>
                  <a:effectLst>
                    <a:outerShdw blurRad="38100" dist="38100" dir="2700000">
                      <a:srgbClr val="000000"/>
                    </a:outerShdw>
                  </a:effectLst>
                  <a:latin typeface="Arial" panose="020B0604020202090204" pitchFamily="34" charset="0"/>
                  <a:ea typeface="宋体" pitchFamily="2" charset="-122"/>
                  <a:cs typeface="宋体" pitchFamily="2" charset="-122"/>
                </a:rPr>
                <a:t>Rn</a:t>
              </a:r>
              <a:endParaRPr lang="en-US" altLang="zh-CN" sz="1800" noProof="1" err="1">
                <a:solidFill>
                  <a:srgbClr val="3333CC"/>
                </a:solidFill>
                <a:effectLst>
                  <a:outerShdw blurRad="38100" dist="38100" dir="2700000">
                    <a:srgbClr val="000000"/>
                  </a:outerShdw>
                </a:effectLst>
                <a:latin typeface="Arial" panose="020B0604020202090204" pitchFamily="34" charset="0"/>
                <a:ea typeface="宋体" pitchFamily="2" charset="-122"/>
              </a:endParaRPr>
            </a:p>
          </p:txBody>
        </p:sp>
      </p:grpSp>
      <p:grpSp>
        <p:nvGrpSpPr>
          <p:cNvPr id="50261" name="组合 50260"/>
          <p:cNvGrpSpPr/>
          <p:nvPr/>
        </p:nvGrpSpPr>
        <p:grpSpPr>
          <a:xfrm>
            <a:off x="2295525" y="3354388"/>
            <a:ext cx="1928813" cy="1211262"/>
            <a:chOff x="1066" y="1525"/>
            <a:chExt cx="1215" cy="763"/>
          </a:xfrm>
        </p:grpSpPr>
        <p:sp>
          <p:nvSpPr>
            <p:cNvPr id="50259" name="文本框 50258"/>
            <p:cNvSpPr txBox="1"/>
            <p:nvPr/>
          </p:nvSpPr>
          <p:spPr>
            <a:xfrm>
              <a:off x="1693" y="2057"/>
              <a:ext cx="588" cy="231"/>
            </a:xfrm>
            <a:prstGeom prst="rect">
              <a:avLst/>
            </a:prstGeom>
            <a:noFill/>
            <a:ln w="9525">
              <a:noFill/>
            </a:ln>
          </p:spPr>
          <p:txBody>
            <a:bodyPr wrap="none" anchor="t">
              <a:spAutoFit/>
            </a:bodyPr>
            <a:p>
              <a:pPr>
                <a:buClrTx/>
              </a:pPr>
              <a:r>
                <a:rPr lang="en-US" altLang="zh-CN" sz="1800" noProof="1">
                  <a:solidFill>
                    <a:srgbClr val="3333CC"/>
                  </a:solidFill>
                  <a:effectLst>
                    <a:outerShdw blurRad="38100" dist="38100" dir="2700000">
                      <a:srgbClr val="000000"/>
                    </a:outerShdw>
                  </a:effectLst>
                  <a:latin typeface="Arial" panose="020B0604020202090204" pitchFamily="34" charset="0"/>
                  <a:ea typeface="宋体" pitchFamily="2" charset="-122"/>
                  <a:cs typeface="宋体" pitchFamily="2" charset="-122"/>
                </a:rPr>
                <a:t>direct2</a:t>
              </a:r>
              <a:endParaRPr lang="en-US" altLang="zh-CN" sz="1800" noProof="1">
                <a:solidFill>
                  <a:srgbClr val="3333CC"/>
                </a:solidFill>
                <a:effectLst>
                  <a:outerShdw blurRad="38100" dist="38100" dir="2700000">
                    <a:srgbClr val="000000"/>
                  </a:outerShdw>
                </a:effectLst>
                <a:latin typeface="Arial" panose="020B0604020202090204" pitchFamily="34" charset="0"/>
                <a:ea typeface="宋体" pitchFamily="2" charset="-122"/>
              </a:endParaRPr>
            </a:p>
          </p:txBody>
        </p:sp>
        <p:sp>
          <p:nvSpPr>
            <p:cNvPr id="96288" name="直接连接符 50259"/>
            <p:cNvSpPr/>
            <p:nvPr/>
          </p:nvSpPr>
          <p:spPr>
            <a:xfrm>
              <a:off x="1066" y="1525"/>
              <a:ext cx="635" cy="635"/>
            </a:xfrm>
            <a:prstGeom prst="line">
              <a:avLst/>
            </a:prstGeom>
            <a:ln w="9525" cap="flat" cmpd="sng">
              <a:solidFill>
                <a:srgbClr val="FF3300"/>
              </a:solidFill>
              <a:prstDash val="solid"/>
              <a:miter/>
              <a:headEnd type="arrow" w="lg" len="lg"/>
              <a:tailEnd type="none" w="med" len="med"/>
            </a:ln>
          </p:spPr>
        </p:sp>
      </p:grpSp>
      <p:grpSp>
        <p:nvGrpSpPr>
          <p:cNvPr id="50264" name="组合 50263"/>
          <p:cNvGrpSpPr/>
          <p:nvPr/>
        </p:nvGrpSpPr>
        <p:grpSpPr>
          <a:xfrm>
            <a:off x="2295525" y="3354388"/>
            <a:ext cx="1627188" cy="1735137"/>
            <a:chOff x="1066" y="1525"/>
            <a:chExt cx="1025" cy="1093"/>
          </a:xfrm>
        </p:grpSpPr>
        <p:sp>
          <p:nvSpPr>
            <p:cNvPr id="96290" name="直接连接符 50261"/>
            <p:cNvSpPr/>
            <p:nvPr/>
          </p:nvSpPr>
          <p:spPr>
            <a:xfrm>
              <a:off x="1066" y="1525"/>
              <a:ext cx="635" cy="998"/>
            </a:xfrm>
            <a:prstGeom prst="line">
              <a:avLst/>
            </a:prstGeom>
            <a:ln w="9525" cap="flat" cmpd="sng">
              <a:solidFill>
                <a:srgbClr val="FF3300"/>
              </a:solidFill>
              <a:prstDash val="solid"/>
              <a:miter/>
              <a:headEnd type="arrow" w="lg" len="lg"/>
              <a:tailEnd type="none" w="med" len="med"/>
            </a:ln>
          </p:spPr>
        </p:sp>
        <p:sp>
          <p:nvSpPr>
            <p:cNvPr id="50263" name="矩形 50262"/>
            <p:cNvSpPr/>
            <p:nvPr/>
          </p:nvSpPr>
          <p:spPr>
            <a:xfrm>
              <a:off x="1691" y="2387"/>
              <a:ext cx="400" cy="231"/>
            </a:xfrm>
            <a:prstGeom prst="rect">
              <a:avLst/>
            </a:prstGeom>
            <a:noFill/>
            <a:ln w="9525">
              <a:noFill/>
            </a:ln>
          </p:spPr>
          <p:txBody>
            <a:bodyPr wrap="none" anchor="t">
              <a:spAutoFit/>
            </a:bodyPr>
            <a:p>
              <a:pPr lvl="0" fontAlgn="base">
                <a:buClrTx/>
              </a:pPr>
              <a:r>
                <a:rPr lang="en-US" altLang="zh-CN" sz="1800" b="1" strike="noStrike" noProof="1" err="1">
                  <a:solidFill>
                    <a:srgbClr val="3333CC"/>
                  </a:solidFill>
                  <a:effectLst>
                    <a:outerShdw blurRad="38100" dist="38100" dir="2700000">
                      <a:srgbClr val="000000"/>
                    </a:outerShdw>
                  </a:effectLst>
                  <a:latin typeface="Arial" panose="020B0604020202090204" pitchFamily="34" charset="0"/>
                  <a:ea typeface="宋体" pitchFamily="2" charset="-122"/>
                  <a:cs typeface="宋体" pitchFamily="2" charset="-122"/>
                </a:rPr>
                <a:t>@Ri</a:t>
              </a:r>
              <a:endParaRPr lang="en-US" altLang="zh-CN" sz="1800" b="1" strike="noStrike" noProof="1" err="1">
                <a:solidFill>
                  <a:srgbClr val="3333CC"/>
                </a:solidFill>
                <a:effectLst>
                  <a:outerShdw blurRad="38100" dist="38100" dir="2700000">
                    <a:srgbClr val="000000"/>
                  </a:outerShdw>
                </a:effectLst>
                <a:latin typeface="Arial" panose="020B0604020202090204" pitchFamily="34" charset="0"/>
                <a:ea typeface="宋体" pitchFamily="2" charset="-122"/>
              </a:endParaRPr>
            </a:p>
          </p:txBody>
        </p:sp>
      </p:grpSp>
      <p:grpSp>
        <p:nvGrpSpPr>
          <p:cNvPr id="50267" name="组合 50266"/>
          <p:cNvGrpSpPr/>
          <p:nvPr/>
        </p:nvGrpSpPr>
        <p:grpSpPr>
          <a:xfrm>
            <a:off x="2295525" y="3354388"/>
            <a:ext cx="1762125" cy="2311400"/>
            <a:chOff x="1066" y="1525"/>
            <a:chExt cx="1110" cy="1456"/>
          </a:xfrm>
        </p:grpSpPr>
        <p:sp>
          <p:nvSpPr>
            <p:cNvPr id="96293" name="直接连接符 50264"/>
            <p:cNvSpPr/>
            <p:nvPr/>
          </p:nvSpPr>
          <p:spPr>
            <a:xfrm>
              <a:off x="1066" y="1525"/>
              <a:ext cx="635" cy="1315"/>
            </a:xfrm>
            <a:prstGeom prst="line">
              <a:avLst/>
            </a:prstGeom>
            <a:ln w="9525" cap="flat" cmpd="sng">
              <a:solidFill>
                <a:srgbClr val="FF3300"/>
              </a:solidFill>
              <a:prstDash val="solid"/>
              <a:miter/>
              <a:headEnd type="arrow" w="lg" len="lg"/>
              <a:tailEnd type="none" w="med" len="med"/>
            </a:ln>
          </p:spPr>
        </p:sp>
        <p:sp>
          <p:nvSpPr>
            <p:cNvPr id="50266" name="矩形 50265"/>
            <p:cNvSpPr/>
            <p:nvPr/>
          </p:nvSpPr>
          <p:spPr>
            <a:xfrm>
              <a:off x="1684" y="2750"/>
              <a:ext cx="492" cy="231"/>
            </a:xfrm>
            <a:prstGeom prst="rect">
              <a:avLst/>
            </a:prstGeom>
            <a:noFill/>
            <a:ln w="9525">
              <a:noFill/>
            </a:ln>
          </p:spPr>
          <p:txBody>
            <a:bodyPr wrap="none" anchor="t">
              <a:spAutoFit/>
            </a:bodyPr>
            <a:p>
              <a:pPr lvl="0" fontAlgn="base">
                <a:buClrTx/>
              </a:pPr>
              <a:r>
                <a:rPr lang="en-US" altLang="zh-CN" sz="1800" b="1" strike="noStrike" noProof="1">
                  <a:solidFill>
                    <a:srgbClr val="3333CC"/>
                  </a:solidFill>
                  <a:effectLst>
                    <a:outerShdw blurRad="38100" dist="38100" dir="2700000">
                      <a:srgbClr val="000000"/>
                    </a:outerShdw>
                  </a:effectLst>
                  <a:latin typeface="Arial" panose="020B0604020202090204" pitchFamily="34" charset="0"/>
                  <a:ea typeface="宋体" pitchFamily="2" charset="-122"/>
                  <a:cs typeface="宋体" pitchFamily="2" charset="-122"/>
                </a:rPr>
                <a:t>#data</a:t>
              </a:r>
              <a:endParaRPr lang="en-US" altLang="zh-CN" sz="1800" b="1" strike="noStrike" noProof="1">
                <a:solidFill>
                  <a:srgbClr val="3333CC"/>
                </a:solidFill>
                <a:effectLst>
                  <a:outerShdw blurRad="38100" dist="38100" dir="2700000">
                    <a:srgbClr val="000000"/>
                  </a:outerShdw>
                </a:effectLst>
                <a:latin typeface="Arial" panose="020B0604020202090204" pitchFamily="34" charset="0"/>
                <a:ea typeface="宋体" pitchFamily="2" charset="-122"/>
              </a:endParaRPr>
            </a:p>
          </p:txBody>
        </p:sp>
      </p:grpSp>
      <p:sp>
        <p:nvSpPr>
          <p:cNvPr id="50269" name="矩形 50268"/>
          <p:cNvSpPr/>
          <p:nvPr/>
        </p:nvSpPr>
        <p:spPr>
          <a:xfrm>
            <a:off x="611188" y="3995738"/>
            <a:ext cx="704850" cy="366713"/>
          </a:xfrm>
          <a:prstGeom prst="rect">
            <a:avLst/>
          </a:prstGeom>
          <a:noFill/>
          <a:ln w="9525">
            <a:noFill/>
          </a:ln>
        </p:spPr>
        <p:txBody>
          <a:bodyPr wrap="none" anchor="t">
            <a:spAutoFit/>
          </a:bodyPr>
          <a:p>
            <a:pPr lvl="0" fontAlgn="base">
              <a:buClrTx/>
            </a:pPr>
            <a:r>
              <a:rPr lang="en-US" altLang="zh-CN" sz="1800" b="1" strike="noStrike" noProof="1">
                <a:solidFill>
                  <a:srgbClr val="3333CC"/>
                </a:solidFill>
                <a:effectLst>
                  <a:outerShdw blurRad="38100" dist="38100" dir="2700000">
                    <a:srgbClr val="000000"/>
                  </a:outerShdw>
                </a:effectLst>
                <a:latin typeface="Arial" panose="020B0604020202090204" pitchFamily="34" charset="0"/>
                <a:ea typeface="宋体" pitchFamily="2" charset="-122"/>
                <a:cs typeface="宋体" pitchFamily="2" charset="-122"/>
              </a:rPr>
              <a:t>MOV</a:t>
            </a:r>
            <a:endParaRPr lang="en-US" altLang="zh-CN" sz="1800" b="1" strike="noStrike" noProof="1">
              <a:solidFill>
                <a:srgbClr val="3333CC"/>
              </a:solidFill>
              <a:effectLst>
                <a:outerShdw blurRad="38100" dist="38100" dir="2700000">
                  <a:srgbClr val="000000"/>
                </a:outerShdw>
              </a:effectLst>
              <a:latin typeface="Arial" panose="020B0604020202090204" pitchFamily="34" charset="0"/>
              <a:ea typeface="宋体" pitchFamily="2" charset="-122"/>
            </a:endParaRPr>
          </a:p>
        </p:txBody>
      </p:sp>
      <p:grpSp>
        <p:nvGrpSpPr>
          <p:cNvPr id="50272" name="组合 50271"/>
          <p:cNvGrpSpPr/>
          <p:nvPr/>
        </p:nvGrpSpPr>
        <p:grpSpPr>
          <a:xfrm>
            <a:off x="1358900" y="3209925"/>
            <a:ext cx="2276475" cy="936625"/>
            <a:chOff x="720" y="1434"/>
            <a:chExt cx="1434" cy="590"/>
          </a:xfrm>
        </p:grpSpPr>
        <p:sp>
          <p:nvSpPr>
            <p:cNvPr id="96297" name="直接连接符 50252"/>
            <p:cNvSpPr/>
            <p:nvPr/>
          </p:nvSpPr>
          <p:spPr>
            <a:xfrm flipV="1">
              <a:off x="720" y="1842"/>
              <a:ext cx="363" cy="182"/>
            </a:xfrm>
            <a:prstGeom prst="line">
              <a:avLst/>
            </a:prstGeom>
            <a:ln w="9525">
              <a:noFill/>
            </a:ln>
          </p:spPr>
        </p:sp>
        <p:sp>
          <p:nvSpPr>
            <p:cNvPr id="50254" name="文本框 50253"/>
            <p:cNvSpPr txBox="1"/>
            <p:nvPr/>
          </p:nvSpPr>
          <p:spPr>
            <a:xfrm>
              <a:off x="1074" y="1739"/>
              <a:ext cx="308" cy="231"/>
            </a:xfrm>
            <a:prstGeom prst="rect">
              <a:avLst/>
            </a:prstGeom>
            <a:noFill/>
            <a:ln w="9525">
              <a:noFill/>
            </a:ln>
          </p:spPr>
          <p:txBody>
            <a:bodyPr wrap="none" anchor="t">
              <a:spAutoFit/>
            </a:bodyPr>
            <a:p>
              <a:pPr>
                <a:buClrTx/>
              </a:pPr>
              <a:r>
                <a:rPr lang="en-US" altLang="zh-CN" sz="1800" noProof="1" err="1">
                  <a:solidFill>
                    <a:srgbClr val="3333CC"/>
                  </a:solidFill>
                  <a:effectLst>
                    <a:outerShdw blurRad="38100" dist="38100" dir="2700000">
                      <a:srgbClr val="000000"/>
                    </a:outerShdw>
                  </a:effectLst>
                  <a:latin typeface="Arial" panose="020B0604020202090204" pitchFamily="34" charset="0"/>
                  <a:ea typeface="宋体" pitchFamily="2" charset="-122"/>
                  <a:cs typeface="宋体" pitchFamily="2" charset="-122"/>
                </a:rPr>
                <a:t>Rn</a:t>
              </a:r>
              <a:endParaRPr lang="en-US" altLang="zh-CN" sz="1800" noProof="1" err="1">
                <a:solidFill>
                  <a:srgbClr val="3333CC"/>
                </a:solidFill>
                <a:effectLst>
                  <a:outerShdw blurRad="38100" dist="38100" dir="2700000">
                    <a:srgbClr val="000000"/>
                  </a:outerShdw>
                </a:effectLst>
                <a:latin typeface="Arial" panose="020B0604020202090204" pitchFamily="34" charset="0"/>
                <a:ea typeface="宋体" pitchFamily="2" charset="-122"/>
              </a:endParaRPr>
            </a:p>
          </p:txBody>
        </p:sp>
        <p:sp>
          <p:nvSpPr>
            <p:cNvPr id="96299" name="直接连接符 50269"/>
            <p:cNvSpPr/>
            <p:nvPr/>
          </p:nvSpPr>
          <p:spPr>
            <a:xfrm flipV="1">
              <a:off x="1429" y="1570"/>
              <a:ext cx="498" cy="272"/>
            </a:xfrm>
            <a:prstGeom prst="line">
              <a:avLst/>
            </a:prstGeom>
            <a:ln w="9525" cap="flat" cmpd="sng">
              <a:solidFill>
                <a:srgbClr val="FF3300"/>
              </a:solidFill>
              <a:prstDash val="solid"/>
              <a:miter/>
              <a:headEnd type="arrow" w="lg" len="lg"/>
              <a:tailEnd type="none" w="med" len="med"/>
            </a:ln>
          </p:spPr>
        </p:sp>
        <p:sp>
          <p:nvSpPr>
            <p:cNvPr id="50271" name="矩形 50270"/>
            <p:cNvSpPr/>
            <p:nvPr/>
          </p:nvSpPr>
          <p:spPr>
            <a:xfrm>
              <a:off x="1934" y="1434"/>
              <a:ext cx="220" cy="231"/>
            </a:xfrm>
            <a:prstGeom prst="rect">
              <a:avLst/>
            </a:prstGeom>
            <a:noFill/>
            <a:ln w="9525">
              <a:noFill/>
            </a:ln>
          </p:spPr>
          <p:txBody>
            <a:bodyPr wrap="none" anchor="t">
              <a:spAutoFit/>
            </a:bodyPr>
            <a:p>
              <a:pPr lvl="0" fontAlgn="base">
                <a:buClrTx/>
              </a:pPr>
              <a:r>
                <a:rPr lang="en-US" altLang="zh-CN" sz="1800" b="1" strike="noStrike" noProof="1">
                  <a:solidFill>
                    <a:srgbClr val="3333CC"/>
                  </a:solidFill>
                  <a:effectLst>
                    <a:outerShdw blurRad="38100" dist="38100" dir="2700000">
                      <a:srgbClr val="000000"/>
                    </a:outerShdw>
                  </a:effectLst>
                  <a:latin typeface="Arial" panose="020B0604020202090204" pitchFamily="34" charset="0"/>
                  <a:ea typeface="宋体" pitchFamily="2" charset="-122"/>
                  <a:cs typeface="宋体" pitchFamily="2" charset="-122"/>
                </a:rPr>
                <a:t>A</a:t>
              </a:r>
              <a:endParaRPr lang="en-US" altLang="zh-CN" sz="1800" b="1" strike="noStrike" noProof="1">
                <a:solidFill>
                  <a:srgbClr val="3333CC"/>
                </a:solidFill>
                <a:effectLst>
                  <a:outerShdw blurRad="38100" dist="38100" dir="2700000">
                    <a:srgbClr val="000000"/>
                  </a:outerShdw>
                </a:effectLst>
                <a:latin typeface="Arial" panose="020B0604020202090204" pitchFamily="34" charset="0"/>
                <a:ea typeface="宋体" pitchFamily="2" charset="-122"/>
              </a:endParaRPr>
            </a:p>
          </p:txBody>
        </p:sp>
      </p:grpSp>
      <p:grpSp>
        <p:nvGrpSpPr>
          <p:cNvPr id="50293" name="组合 50292"/>
          <p:cNvGrpSpPr/>
          <p:nvPr/>
        </p:nvGrpSpPr>
        <p:grpSpPr>
          <a:xfrm>
            <a:off x="2511425" y="3859213"/>
            <a:ext cx="1546225" cy="1806575"/>
            <a:chOff x="3152" y="2659"/>
            <a:chExt cx="974" cy="1138"/>
          </a:xfrm>
        </p:grpSpPr>
        <p:sp>
          <p:nvSpPr>
            <p:cNvPr id="96302" name="直接连接符 50289"/>
            <p:cNvSpPr/>
            <p:nvPr/>
          </p:nvSpPr>
          <p:spPr>
            <a:xfrm>
              <a:off x="3152" y="2659"/>
              <a:ext cx="499" cy="997"/>
            </a:xfrm>
            <a:prstGeom prst="line">
              <a:avLst/>
            </a:prstGeom>
            <a:ln w="9525" cap="flat" cmpd="sng">
              <a:solidFill>
                <a:srgbClr val="FF3300"/>
              </a:solidFill>
              <a:prstDash val="solid"/>
              <a:miter/>
              <a:headEnd type="arrow" w="lg" len="lg"/>
              <a:tailEnd type="none" w="med" len="med"/>
            </a:ln>
          </p:spPr>
        </p:sp>
        <p:sp>
          <p:nvSpPr>
            <p:cNvPr id="50291" name="矩形 50290"/>
            <p:cNvSpPr/>
            <p:nvPr/>
          </p:nvSpPr>
          <p:spPr>
            <a:xfrm>
              <a:off x="3634" y="3566"/>
              <a:ext cx="492" cy="231"/>
            </a:xfrm>
            <a:prstGeom prst="rect">
              <a:avLst/>
            </a:prstGeom>
            <a:noFill/>
            <a:ln w="9525">
              <a:noFill/>
            </a:ln>
          </p:spPr>
          <p:txBody>
            <a:bodyPr wrap="none" anchor="t">
              <a:spAutoFit/>
            </a:bodyPr>
            <a:p>
              <a:pPr lvl="0" fontAlgn="base">
                <a:buClrTx/>
              </a:pPr>
              <a:r>
                <a:rPr lang="en-US" altLang="zh-CN" sz="1800" b="1" strike="noStrike" noProof="1">
                  <a:solidFill>
                    <a:srgbClr val="3333CC"/>
                  </a:solidFill>
                  <a:effectLst>
                    <a:outerShdw blurRad="38100" dist="38100" dir="2700000">
                      <a:srgbClr val="000000"/>
                    </a:outerShdw>
                  </a:effectLst>
                  <a:latin typeface="Arial" panose="020B0604020202090204" pitchFamily="34" charset="0"/>
                  <a:ea typeface="宋体" pitchFamily="2" charset="-122"/>
                  <a:cs typeface="宋体" pitchFamily="2" charset="-122"/>
                </a:rPr>
                <a:t>#data</a:t>
              </a:r>
              <a:endParaRPr lang="en-US" altLang="zh-CN" sz="1800" b="1" strike="noStrike" noProof="1">
                <a:solidFill>
                  <a:srgbClr val="3333CC"/>
                </a:solidFill>
                <a:effectLst>
                  <a:outerShdw blurRad="38100" dist="38100" dir="2700000">
                    <a:srgbClr val="000000"/>
                  </a:outerShdw>
                </a:effectLst>
                <a:latin typeface="Arial" panose="020B0604020202090204" pitchFamily="34" charset="0"/>
                <a:ea typeface="宋体" pitchFamily="2" charset="-122"/>
              </a:endParaRPr>
            </a:p>
          </p:txBody>
        </p:sp>
      </p:grpSp>
      <p:grpSp>
        <p:nvGrpSpPr>
          <p:cNvPr id="50295" name="组合 50294"/>
          <p:cNvGrpSpPr/>
          <p:nvPr/>
        </p:nvGrpSpPr>
        <p:grpSpPr>
          <a:xfrm>
            <a:off x="2484438" y="3857625"/>
            <a:ext cx="1739900" cy="708025"/>
            <a:chOff x="3135" y="2658"/>
            <a:chExt cx="1096" cy="446"/>
          </a:xfrm>
        </p:grpSpPr>
        <p:sp>
          <p:nvSpPr>
            <p:cNvPr id="50284" name="文本框 50283"/>
            <p:cNvSpPr txBox="1"/>
            <p:nvPr/>
          </p:nvSpPr>
          <p:spPr>
            <a:xfrm>
              <a:off x="3643" y="2873"/>
              <a:ext cx="588" cy="231"/>
            </a:xfrm>
            <a:prstGeom prst="rect">
              <a:avLst/>
            </a:prstGeom>
            <a:noFill/>
            <a:ln w="9525">
              <a:noFill/>
            </a:ln>
          </p:spPr>
          <p:txBody>
            <a:bodyPr wrap="none" anchor="t">
              <a:spAutoFit/>
            </a:bodyPr>
            <a:p>
              <a:pPr>
                <a:buClrTx/>
              </a:pPr>
              <a:r>
                <a:rPr lang="en-US" altLang="zh-CN" sz="1800" noProof="1">
                  <a:solidFill>
                    <a:srgbClr val="3333CC"/>
                  </a:solidFill>
                  <a:effectLst>
                    <a:outerShdw blurRad="38100" dist="38100" dir="2700000">
                      <a:srgbClr val="000000"/>
                    </a:outerShdw>
                  </a:effectLst>
                  <a:latin typeface="Arial" panose="020B0604020202090204" pitchFamily="34" charset="0"/>
                  <a:ea typeface="宋体" pitchFamily="2" charset="-122"/>
                  <a:cs typeface="宋体" pitchFamily="2" charset="-122"/>
                </a:rPr>
                <a:t>direct2</a:t>
              </a:r>
              <a:endParaRPr lang="en-US" altLang="zh-CN" sz="1800" noProof="1">
                <a:solidFill>
                  <a:srgbClr val="3333CC"/>
                </a:solidFill>
                <a:effectLst>
                  <a:outerShdw blurRad="38100" dist="38100" dir="2700000">
                    <a:srgbClr val="000000"/>
                  </a:outerShdw>
                </a:effectLst>
                <a:latin typeface="Arial" panose="020B0604020202090204" pitchFamily="34" charset="0"/>
                <a:ea typeface="宋体" pitchFamily="2" charset="-122"/>
              </a:endParaRPr>
            </a:p>
          </p:txBody>
        </p:sp>
        <p:sp>
          <p:nvSpPr>
            <p:cNvPr id="96306" name="直接连接符 50291"/>
            <p:cNvSpPr/>
            <p:nvPr/>
          </p:nvSpPr>
          <p:spPr>
            <a:xfrm>
              <a:off x="3135" y="2658"/>
              <a:ext cx="498" cy="318"/>
            </a:xfrm>
            <a:prstGeom prst="line">
              <a:avLst/>
            </a:prstGeom>
            <a:ln w="9525" cap="flat" cmpd="sng">
              <a:solidFill>
                <a:srgbClr val="FF3300"/>
              </a:solidFill>
              <a:prstDash val="solid"/>
              <a:miter/>
              <a:headEnd type="arrow" w="lg" len="lg"/>
              <a:tailEnd type="none" w="med" len="med"/>
            </a:ln>
          </p:spPr>
        </p:sp>
      </p:grpSp>
      <p:grpSp>
        <p:nvGrpSpPr>
          <p:cNvPr id="50317" name="组合 50316"/>
          <p:cNvGrpSpPr/>
          <p:nvPr/>
        </p:nvGrpSpPr>
        <p:grpSpPr>
          <a:xfrm>
            <a:off x="1360488" y="3209925"/>
            <a:ext cx="2274887" cy="1352550"/>
            <a:chOff x="721" y="1434"/>
            <a:chExt cx="1433" cy="852"/>
          </a:xfrm>
        </p:grpSpPr>
        <p:sp>
          <p:nvSpPr>
            <p:cNvPr id="50299" name="文本框 50298"/>
            <p:cNvSpPr txBox="1"/>
            <p:nvPr/>
          </p:nvSpPr>
          <p:spPr>
            <a:xfrm>
              <a:off x="1075" y="2055"/>
              <a:ext cx="588" cy="231"/>
            </a:xfrm>
            <a:prstGeom prst="rect">
              <a:avLst/>
            </a:prstGeom>
            <a:noFill/>
            <a:ln w="9525">
              <a:noFill/>
            </a:ln>
          </p:spPr>
          <p:txBody>
            <a:bodyPr wrap="none" anchor="t">
              <a:spAutoFit/>
            </a:bodyPr>
            <a:p>
              <a:pPr>
                <a:buClrTx/>
              </a:pPr>
              <a:r>
                <a:rPr lang="en-US" altLang="zh-CN" sz="1800" noProof="1">
                  <a:solidFill>
                    <a:srgbClr val="3333CC"/>
                  </a:solidFill>
                  <a:effectLst>
                    <a:outerShdw blurRad="38100" dist="38100" dir="2700000">
                      <a:srgbClr val="000000"/>
                    </a:outerShdw>
                  </a:effectLst>
                  <a:latin typeface="Arial" panose="020B0604020202090204" pitchFamily="34" charset="0"/>
                  <a:ea typeface="宋体" pitchFamily="2" charset="-122"/>
                  <a:cs typeface="宋体" pitchFamily="2" charset="-122"/>
                </a:rPr>
                <a:t>direct1</a:t>
              </a:r>
              <a:endParaRPr lang="en-US" altLang="zh-CN" sz="1800" noProof="1">
                <a:solidFill>
                  <a:srgbClr val="3333CC"/>
                </a:solidFill>
                <a:effectLst>
                  <a:outerShdw blurRad="38100" dist="38100" dir="2700000">
                    <a:srgbClr val="000000"/>
                  </a:outerShdw>
                </a:effectLst>
                <a:latin typeface="Arial" panose="020B0604020202090204" pitchFamily="34" charset="0"/>
                <a:ea typeface="宋体" pitchFamily="2" charset="-122"/>
              </a:endParaRPr>
            </a:p>
          </p:txBody>
        </p:sp>
        <p:sp>
          <p:nvSpPr>
            <p:cNvPr id="50308" name="矩形 50307"/>
            <p:cNvSpPr/>
            <p:nvPr/>
          </p:nvSpPr>
          <p:spPr>
            <a:xfrm>
              <a:off x="1934" y="1434"/>
              <a:ext cx="220" cy="231"/>
            </a:xfrm>
            <a:prstGeom prst="rect">
              <a:avLst/>
            </a:prstGeom>
            <a:noFill/>
            <a:ln w="9525">
              <a:noFill/>
            </a:ln>
          </p:spPr>
          <p:txBody>
            <a:bodyPr wrap="none" anchor="t">
              <a:spAutoFit/>
            </a:bodyPr>
            <a:p>
              <a:pPr lvl="0" fontAlgn="base">
                <a:buClrTx/>
              </a:pPr>
              <a:r>
                <a:rPr lang="en-US" altLang="zh-CN" sz="1800" b="1" strike="noStrike" noProof="1">
                  <a:solidFill>
                    <a:srgbClr val="3333CC"/>
                  </a:solidFill>
                  <a:effectLst>
                    <a:outerShdw blurRad="38100" dist="38100" dir="2700000">
                      <a:srgbClr val="000000"/>
                    </a:outerShdw>
                  </a:effectLst>
                  <a:latin typeface="Arial" panose="020B0604020202090204" pitchFamily="34" charset="0"/>
                  <a:ea typeface="宋体" pitchFamily="2" charset="-122"/>
                  <a:cs typeface="宋体" pitchFamily="2" charset="-122"/>
                </a:rPr>
                <a:t>A</a:t>
              </a:r>
              <a:endParaRPr lang="en-US" altLang="zh-CN" sz="1800" b="1" strike="noStrike" noProof="1">
                <a:solidFill>
                  <a:srgbClr val="3333CC"/>
                </a:solidFill>
                <a:effectLst>
                  <a:outerShdw blurRad="38100" dist="38100" dir="2700000">
                    <a:srgbClr val="000000"/>
                  </a:outerShdw>
                </a:effectLst>
                <a:latin typeface="Arial" panose="020B0604020202090204" pitchFamily="34" charset="0"/>
                <a:ea typeface="宋体" pitchFamily="2" charset="-122"/>
              </a:endParaRPr>
            </a:p>
          </p:txBody>
        </p:sp>
        <p:sp>
          <p:nvSpPr>
            <p:cNvPr id="96310" name="直接连接符 50314"/>
            <p:cNvSpPr/>
            <p:nvPr/>
          </p:nvSpPr>
          <p:spPr>
            <a:xfrm>
              <a:off x="721" y="2115"/>
              <a:ext cx="390" cy="45"/>
            </a:xfrm>
            <a:prstGeom prst="line">
              <a:avLst/>
            </a:prstGeom>
            <a:ln w="9525">
              <a:noFill/>
            </a:ln>
          </p:spPr>
        </p:sp>
        <p:sp>
          <p:nvSpPr>
            <p:cNvPr id="96311" name="直接连接符 50315"/>
            <p:cNvSpPr/>
            <p:nvPr/>
          </p:nvSpPr>
          <p:spPr>
            <a:xfrm flipV="1">
              <a:off x="1610" y="1570"/>
              <a:ext cx="317" cy="590"/>
            </a:xfrm>
            <a:prstGeom prst="line">
              <a:avLst/>
            </a:prstGeom>
            <a:ln w="9525" cap="flat" cmpd="sng">
              <a:solidFill>
                <a:srgbClr val="FF3300"/>
              </a:solidFill>
              <a:prstDash val="solid"/>
              <a:miter/>
              <a:headEnd type="arrow" w="lg" len="lg"/>
              <a:tailEnd type="none" w="med" len="med"/>
            </a:ln>
          </p:spPr>
        </p:sp>
      </p:grpSp>
      <p:grpSp>
        <p:nvGrpSpPr>
          <p:cNvPr id="50369" name="组合 50368"/>
          <p:cNvGrpSpPr/>
          <p:nvPr/>
        </p:nvGrpSpPr>
        <p:grpSpPr>
          <a:xfrm>
            <a:off x="2801938" y="3686175"/>
            <a:ext cx="979487" cy="669925"/>
            <a:chOff x="3832" y="2691"/>
            <a:chExt cx="617" cy="422"/>
          </a:xfrm>
        </p:grpSpPr>
        <p:sp>
          <p:nvSpPr>
            <p:cNvPr id="50347" name="文本框 50346"/>
            <p:cNvSpPr txBox="1"/>
            <p:nvPr/>
          </p:nvSpPr>
          <p:spPr>
            <a:xfrm>
              <a:off x="4141" y="2691"/>
              <a:ext cx="308" cy="231"/>
            </a:xfrm>
            <a:prstGeom prst="rect">
              <a:avLst/>
            </a:prstGeom>
            <a:noFill/>
            <a:ln w="9525">
              <a:noFill/>
            </a:ln>
          </p:spPr>
          <p:txBody>
            <a:bodyPr wrap="none" anchor="t">
              <a:spAutoFit/>
            </a:bodyPr>
            <a:p>
              <a:pPr>
                <a:buClrTx/>
              </a:pPr>
              <a:r>
                <a:rPr lang="en-US" altLang="zh-CN" sz="1800" noProof="1" err="1">
                  <a:solidFill>
                    <a:srgbClr val="3333CC"/>
                  </a:solidFill>
                  <a:effectLst>
                    <a:outerShdw blurRad="38100" dist="38100" dir="2700000">
                      <a:srgbClr val="000000"/>
                    </a:outerShdw>
                  </a:effectLst>
                  <a:latin typeface="Arial" panose="020B0604020202090204" pitchFamily="34" charset="0"/>
                  <a:ea typeface="宋体" pitchFamily="2" charset="-122"/>
                  <a:cs typeface="宋体" pitchFamily="2" charset="-122"/>
                </a:rPr>
                <a:t>Rn</a:t>
              </a:r>
              <a:endParaRPr lang="en-US" altLang="zh-CN" sz="1800" noProof="1" err="1">
                <a:solidFill>
                  <a:srgbClr val="3333CC"/>
                </a:solidFill>
                <a:effectLst>
                  <a:outerShdw blurRad="38100" dist="38100" dir="2700000">
                    <a:srgbClr val="000000"/>
                  </a:outerShdw>
                </a:effectLst>
                <a:latin typeface="Arial" panose="020B0604020202090204" pitchFamily="34" charset="0"/>
                <a:ea typeface="宋体" pitchFamily="2" charset="-122"/>
              </a:endParaRPr>
            </a:p>
          </p:txBody>
        </p:sp>
        <p:sp>
          <p:nvSpPr>
            <p:cNvPr id="96314" name="直接连接符 50362"/>
            <p:cNvSpPr/>
            <p:nvPr/>
          </p:nvSpPr>
          <p:spPr>
            <a:xfrm flipV="1">
              <a:off x="3832" y="2831"/>
              <a:ext cx="327" cy="282"/>
            </a:xfrm>
            <a:prstGeom prst="line">
              <a:avLst/>
            </a:prstGeom>
            <a:ln w="9525" cap="flat" cmpd="sng">
              <a:solidFill>
                <a:srgbClr val="FF3300"/>
              </a:solidFill>
              <a:prstDash val="solid"/>
              <a:miter/>
              <a:headEnd type="arrow" w="lg" len="lg"/>
              <a:tailEnd type="none" w="med" len="med"/>
            </a:ln>
          </p:spPr>
        </p:sp>
      </p:grpSp>
      <p:grpSp>
        <p:nvGrpSpPr>
          <p:cNvPr id="50370" name="组合 50369"/>
          <p:cNvGrpSpPr/>
          <p:nvPr/>
        </p:nvGrpSpPr>
        <p:grpSpPr>
          <a:xfrm>
            <a:off x="2803525" y="4191000"/>
            <a:ext cx="1423988" cy="366713"/>
            <a:chOff x="3833" y="3009"/>
            <a:chExt cx="897" cy="231"/>
          </a:xfrm>
        </p:grpSpPr>
        <p:sp>
          <p:nvSpPr>
            <p:cNvPr id="50355" name="文本框 50354"/>
            <p:cNvSpPr txBox="1"/>
            <p:nvPr/>
          </p:nvSpPr>
          <p:spPr>
            <a:xfrm>
              <a:off x="4142" y="3009"/>
              <a:ext cx="588" cy="231"/>
            </a:xfrm>
            <a:prstGeom prst="rect">
              <a:avLst/>
            </a:prstGeom>
            <a:noFill/>
            <a:ln w="9525">
              <a:noFill/>
            </a:ln>
          </p:spPr>
          <p:txBody>
            <a:bodyPr wrap="none" anchor="t">
              <a:spAutoFit/>
            </a:bodyPr>
            <a:p>
              <a:pPr>
                <a:buClrTx/>
              </a:pPr>
              <a:r>
                <a:rPr lang="en-US" altLang="zh-CN" sz="1800" noProof="1">
                  <a:solidFill>
                    <a:srgbClr val="3333CC"/>
                  </a:solidFill>
                  <a:effectLst>
                    <a:outerShdw blurRad="38100" dist="38100" dir="2700000">
                      <a:srgbClr val="000000"/>
                    </a:outerShdw>
                  </a:effectLst>
                  <a:latin typeface="Arial" panose="020B0604020202090204" pitchFamily="34" charset="0"/>
                  <a:ea typeface="宋体" pitchFamily="2" charset="-122"/>
                  <a:cs typeface="宋体" pitchFamily="2" charset="-122"/>
                </a:rPr>
                <a:t>direct2</a:t>
              </a:r>
              <a:endParaRPr lang="en-US" altLang="zh-CN" sz="1800" noProof="1">
                <a:solidFill>
                  <a:srgbClr val="3333CC"/>
                </a:solidFill>
                <a:effectLst>
                  <a:outerShdw blurRad="38100" dist="38100" dir="2700000">
                    <a:srgbClr val="000000"/>
                  </a:outerShdw>
                </a:effectLst>
                <a:latin typeface="Arial" panose="020B0604020202090204" pitchFamily="34" charset="0"/>
                <a:ea typeface="宋体" pitchFamily="2" charset="-122"/>
              </a:endParaRPr>
            </a:p>
          </p:txBody>
        </p:sp>
        <p:sp>
          <p:nvSpPr>
            <p:cNvPr id="96317" name="直接连接符 50363"/>
            <p:cNvSpPr/>
            <p:nvPr/>
          </p:nvSpPr>
          <p:spPr>
            <a:xfrm>
              <a:off x="3833" y="3113"/>
              <a:ext cx="335" cy="17"/>
            </a:xfrm>
            <a:prstGeom prst="line">
              <a:avLst/>
            </a:prstGeom>
            <a:ln w="9525" cap="flat" cmpd="sng">
              <a:solidFill>
                <a:srgbClr val="FF3300"/>
              </a:solidFill>
              <a:prstDash val="solid"/>
              <a:miter/>
              <a:headEnd type="arrow" w="lg" len="lg"/>
              <a:tailEnd type="none" w="med" len="med"/>
            </a:ln>
          </p:spPr>
        </p:sp>
      </p:grpSp>
      <p:grpSp>
        <p:nvGrpSpPr>
          <p:cNvPr id="50371" name="组合 50370"/>
          <p:cNvGrpSpPr/>
          <p:nvPr/>
        </p:nvGrpSpPr>
        <p:grpSpPr>
          <a:xfrm>
            <a:off x="2803525" y="4356100"/>
            <a:ext cx="1122363" cy="725488"/>
            <a:chOff x="3833" y="3113"/>
            <a:chExt cx="707" cy="457"/>
          </a:xfrm>
        </p:grpSpPr>
        <p:sp>
          <p:nvSpPr>
            <p:cNvPr id="50350" name="矩形 50349"/>
            <p:cNvSpPr/>
            <p:nvPr/>
          </p:nvSpPr>
          <p:spPr>
            <a:xfrm>
              <a:off x="4140" y="3339"/>
              <a:ext cx="400" cy="231"/>
            </a:xfrm>
            <a:prstGeom prst="rect">
              <a:avLst/>
            </a:prstGeom>
            <a:noFill/>
            <a:ln w="9525">
              <a:noFill/>
            </a:ln>
          </p:spPr>
          <p:txBody>
            <a:bodyPr wrap="none" anchor="t">
              <a:spAutoFit/>
            </a:bodyPr>
            <a:p>
              <a:pPr lvl="0" fontAlgn="base">
                <a:buClrTx/>
              </a:pPr>
              <a:r>
                <a:rPr lang="en-US" altLang="zh-CN" sz="1800" b="1" strike="noStrike" noProof="1" err="1">
                  <a:solidFill>
                    <a:srgbClr val="3333CC"/>
                  </a:solidFill>
                  <a:effectLst>
                    <a:outerShdw blurRad="38100" dist="38100" dir="2700000">
                      <a:srgbClr val="000000"/>
                    </a:outerShdw>
                  </a:effectLst>
                  <a:latin typeface="Arial" panose="020B0604020202090204" pitchFamily="34" charset="0"/>
                  <a:ea typeface="宋体" pitchFamily="2" charset="-122"/>
                  <a:cs typeface="宋体" pitchFamily="2" charset="-122"/>
                </a:rPr>
                <a:t>@Ri</a:t>
              </a:r>
              <a:endParaRPr lang="en-US" altLang="zh-CN" sz="1800" b="1" strike="noStrike" noProof="1" err="1">
                <a:solidFill>
                  <a:srgbClr val="3333CC"/>
                </a:solidFill>
                <a:effectLst>
                  <a:outerShdw blurRad="38100" dist="38100" dir="2700000">
                    <a:srgbClr val="000000"/>
                  </a:outerShdw>
                </a:effectLst>
                <a:latin typeface="Arial" panose="020B0604020202090204" pitchFamily="34" charset="0"/>
                <a:ea typeface="宋体" pitchFamily="2" charset="-122"/>
              </a:endParaRPr>
            </a:p>
          </p:txBody>
        </p:sp>
        <p:sp>
          <p:nvSpPr>
            <p:cNvPr id="96320" name="直接连接符 50364"/>
            <p:cNvSpPr/>
            <p:nvPr/>
          </p:nvSpPr>
          <p:spPr>
            <a:xfrm>
              <a:off x="3833" y="3113"/>
              <a:ext cx="317" cy="317"/>
            </a:xfrm>
            <a:prstGeom prst="line">
              <a:avLst/>
            </a:prstGeom>
            <a:ln w="9525" cap="flat" cmpd="sng">
              <a:solidFill>
                <a:srgbClr val="FF3300"/>
              </a:solidFill>
              <a:prstDash val="solid"/>
              <a:miter/>
              <a:headEnd type="arrow" w="lg" len="lg"/>
              <a:tailEnd type="none" w="med" len="med"/>
            </a:ln>
          </p:spPr>
        </p:sp>
      </p:grpSp>
      <p:grpSp>
        <p:nvGrpSpPr>
          <p:cNvPr id="50372" name="组合 50371"/>
          <p:cNvGrpSpPr/>
          <p:nvPr/>
        </p:nvGrpSpPr>
        <p:grpSpPr>
          <a:xfrm>
            <a:off x="2803525" y="4356100"/>
            <a:ext cx="1257300" cy="1301750"/>
            <a:chOff x="3833" y="3113"/>
            <a:chExt cx="792" cy="820"/>
          </a:xfrm>
        </p:grpSpPr>
        <p:sp>
          <p:nvSpPr>
            <p:cNvPr id="50353" name="矩形 50352"/>
            <p:cNvSpPr/>
            <p:nvPr/>
          </p:nvSpPr>
          <p:spPr>
            <a:xfrm>
              <a:off x="4133" y="3702"/>
              <a:ext cx="492" cy="231"/>
            </a:xfrm>
            <a:prstGeom prst="rect">
              <a:avLst/>
            </a:prstGeom>
            <a:noFill/>
            <a:ln w="9525">
              <a:noFill/>
            </a:ln>
          </p:spPr>
          <p:txBody>
            <a:bodyPr wrap="none" anchor="t">
              <a:spAutoFit/>
            </a:bodyPr>
            <a:p>
              <a:pPr lvl="0" fontAlgn="base">
                <a:buClrTx/>
              </a:pPr>
              <a:r>
                <a:rPr lang="en-US" altLang="zh-CN" sz="1800" b="1" strike="noStrike" noProof="1">
                  <a:solidFill>
                    <a:srgbClr val="3333CC"/>
                  </a:solidFill>
                  <a:effectLst>
                    <a:outerShdw blurRad="38100" dist="38100" dir="2700000">
                      <a:srgbClr val="000000"/>
                    </a:outerShdw>
                  </a:effectLst>
                  <a:latin typeface="Arial" panose="020B0604020202090204" pitchFamily="34" charset="0"/>
                  <a:ea typeface="宋体" pitchFamily="2" charset="-122"/>
                  <a:cs typeface="宋体" pitchFamily="2" charset="-122"/>
                </a:rPr>
                <a:t>#data</a:t>
              </a:r>
              <a:endParaRPr lang="en-US" altLang="zh-CN" sz="1800" b="1" strike="noStrike" noProof="1">
                <a:solidFill>
                  <a:srgbClr val="3333CC"/>
                </a:solidFill>
                <a:effectLst>
                  <a:outerShdw blurRad="38100" dist="38100" dir="2700000">
                    <a:srgbClr val="000000"/>
                  </a:outerShdw>
                </a:effectLst>
                <a:latin typeface="Arial" panose="020B0604020202090204" pitchFamily="34" charset="0"/>
                <a:ea typeface="宋体" pitchFamily="2" charset="-122"/>
              </a:endParaRPr>
            </a:p>
          </p:txBody>
        </p:sp>
        <p:sp>
          <p:nvSpPr>
            <p:cNvPr id="96323" name="直接连接符 50367"/>
            <p:cNvSpPr/>
            <p:nvPr/>
          </p:nvSpPr>
          <p:spPr>
            <a:xfrm>
              <a:off x="3833" y="3113"/>
              <a:ext cx="317" cy="680"/>
            </a:xfrm>
            <a:prstGeom prst="line">
              <a:avLst/>
            </a:prstGeom>
            <a:ln w="9525" cap="flat" cmpd="sng">
              <a:solidFill>
                <a:srgbClr val="FF3300"/>
              </a:solidFill>
              <a:prstDash val="solid"/>
              <a:miter/>
              <a:headEnd type="arrow" w="lg" len="lg"/>
              <a:tailEnd type="none" w="med" len="med"/>
            </a:ln>
          </p:spPr>
        </p:sp>
      </p:grpSp>
      <p:grpSp>
        <p:nvGrpSpPr>
          <p:cNvPr id="50399" name="组合 50398"/>
          <p:cNvGrpSpPr/>
          <p:nvPr/>
        </p:nvGrpSpPr>
        <p:grpSpPr>
          <a:xfrm>
            <a:off x="1331913" y="3217863"/>
            <a:ext cx="2298700" cy="1865312"/>
            <a:chOff x="703" y="1439"/>
            <a:chExt cx="1448" cy="1175"/>
          </a:xfrm>
        </p:grpSpPr>
        <p:sp>
          <p:nvSpPr>
            <p:cNvPr id="50390" name="文本框 50389"/>
            <p:cNvSpPr txBox="1"/>
            <p:nvPr/>
          </p:nvSpPr>
          <p:spPr>
            <a:xfrm>
              <a:off x="1074" y="2383"/>
              <a:ext cx="400" cy="231"/>
            </a:xfrm>
            <a:prstGeom prst="rect">
              <a:avLst/>
            </a:prstGeom>
            <a:noFill/>
            <a:ln w="9525">
              <a:noFill/>
            </a:ln>
          </p:spPr>
          <p:txBody>
            <a:bodyPr wrap="none" anchor="t">
              <a:spAutoFit/>
            </a:bodyPr>
            <a:p>
              <a:pPr>
                <a:buClrTx/>
              </a:pPr>
              <a:r>
                <a:rPr lang="en-US" altLang="zh-CN" sz="1800" noProof="1" err="1">
                  <a:solidFill>
                    <a:srgbClr val="3333CC"/>
                  </a:solidFill>
                  <a:effectLst>
                    <a:outerShdw blurRad="38100" dist="38100" dir="2700000">
                      <a:srgbClr val="000000"/>
                    </a:outerShdw>
                  </a:effectLst>
                  <a:latin typeface="Arial" panose="020B0604020202090204" pitchFamily="34" charset="0"/>
                  <a:ea typeface="宋体" pitchFamily="2" charset="-122"/>
                  <a:cs typeface="宋体" pitchFamily="2" charset="-122"/>
                </a:rPr>
                <a:t>@Ri</a:t>
              </a:r>
              <a:endParaRPr lang="en-US" altLang="zh-CN" sz="1800" noProof="1" err="1">
                <a:solidFill>
                  <a:srgbClr val="3333CC"/>
                </a:solidFill>
                <a:effectLst>
                  <a:outerShdw blurRad="38100" dist="38100" dir="2700000">
                    <a:srgbClr val="000000"/>
                  </a:outerShdw>
                </a:effectLst>
                <a:latin typeface="Arial" panose="020B0604020202090204" pitchFamily="34" charset="0"/>
                <a:ea typeface="宋体" pitchFamily="2" charset="-122"/>
              </a:endParaRPr>
            </a:p>
          </p:txBody>
        </p:sp>
        <p:sp>
          <p:nvSpPr>
            <p:cNvPr id="96326" name="直接连接符 50390"/>
            <p:cNvSpPr/>
            <p:nvPr/>
          </p:nvSpPr>
          <p:spPr>
            <a:xfrm>
              <a:off x="703" y="2205"/>
              <a:ext cx="408" cy="318"/>
            </a:xfrm>
            <a:prstGeom prst="line">
              <a:avLst/>
            </a:prstGeom>
            <a:ln w="9525">
              <a:noFill/>
            </a:ln>
          </p:spPr>
        </p:sp>
        <p:grpSp>
          <p:nvGrpSpPr>
            <p:cNvPr id="96327" name="组合 50395"/>
            <p:cNvGrpSpPr/>
            <p:nvPr/>
          </p:nvGrpSpPr>
          <p:grpSpPr>
            <a:xfrm>
              <a:off x="1474" y="1439"/>
              <a:ext cx="677" cy="1039"/>
              <a:chOff x="1474" y="1439"/>
              <a:chExt cx="677" cy="1039"/>
            </a:xfrm>
          </p:grpSpPr>
          <p:sp>
            <p:nvSpPr>
              <p:cNvPr id="50375" name="矩形 50374"/>
              <p:cNvSpPr/>
              <p:nvPr/>
            </p:nvSpPr>
            <p:spPr>
              <a:xfrm>
                <a:off x="1931" y="1439"/>
                <a:ext cx="220" cy="231"/>
              </a:xfrm>
              <a:prstGeom prst="rect">
                <a:avLst/>
              </a:prstGeom>
              <a:noFill/>
              <a:ln w="9525">
                <a:noFill/>
              </a:ln>
            </p:spPr>
            <p:txBody>
              <a:bodyPr wrap="none" anchor="t">
                <a:spAutoFit/>
              </a:bodyPr>
              <a:p>
                <a:pPr lvl="0" fontAlgn="base">
                  <a:buClrTx/>
                </a:pPr>
                <a:r>
                  <a:rPr lang="en-US" altLang="zh-CN" sz="1800" b="1" strike="noStrike" noProof="1">
                    <a:solidFill>
                      <a:srgbClr val="3333CC"/>
                    </a:solidFill>
                    <a:effectLst>
                      <a:outerShdw blurRad="38100" dist="38100" dir="2700000">
                        <a:srgbClr val="000000"/>
                      </a:outerShdw>
                    </a:effectLst>
                    <a:latin typeface="Arial" panose="020B0604020202090204" pitchFamily="34" charset="0"/>
                    <a:ea typeface="宋体" pitchFamily="2" charset="-122"/>
                    <a:cs typeface="宋体" pitchFamily="2" charset="-122"/>
                  </a:rPr>
                  <a:t>A</a:t>
                </a:r>
                <a:endParaRPr lang="en-US" altLang="zh-CN" sz="1800" b="1" strike="noStrike" noProof="1">
                  <a:solidFill>
                    <a:srgbClr val="3333CC"/>
                  </a:solidFill>
                  <a:effectLst>
                    <a:outerShdw blurRad="38100" dist="38100" dir="2700000">
                      <a:srgbClr val="000000"/>
                    </a:outerShdw>
                  </a:effectLst>
                  <a:latin typeface="Arial" panose="020B0604020202090204" pitchFamily="34" charset="0"/>
                  <a:ea typeface="宋体" pitchFamily="2" charset="-122"/>
                </a:endParaRPr>
              </a:p>
            </p:txBody>
          </p:sp>
          <p:sp>
            <p:nvSpPr>
              <p:cNvPr id="96329" name="直接连接符 50391"/>
              <p:cNvSpPr/>
              <p:nvPr/>
            </p:nvSpPr>
            <p:spPr>
              <a:xfrm flipV="1">
                <a:off x="1474" y="1570"/>
                <a:ext cx="453" cy="908"/>
              </a:xfrm>
              <a:prstGeom prst="line">
                <a:avLst/>
              </a:prstGeom>
              <a:ln w="9525" cap="flat" cmpd="sng">
                <a:solidFill>
                  <a:srgbClr val="FF3300"/>
                </a:solidFill>
                <a:prstDash val="solid"/>
                <a:miter/>
                <a:headEnd type="arrow" w="lg" len="lg"/>
                <a:tailEnd type="none" w="med" len="med"/>
              </a:ln>
            </p:spPr>
          </p:sp>
        </p:grpSp>
      </p:grpSp>
      <p:grpSp>
        <p:nvGrpSpPr>
          <p:cNvPr id="50397" name="组合 50396"/>
          <p:cNvGrpSpPr/>
          <p:nvPr/>
        </p:nvGrpSpPr>
        <p:grpSpPr>
          <a:xfrm>
            <a:off x="2555875" y="4198938"/>
            <a:ext cx="1666875" cy="668337"/>
            <a:chOff x="1474" y="2057"/>
            <a:chExt cx="1050" cy="421"/>
          </a:xfrm>
        </p:grpSpPr>
        <p:sp>
          <p:nvSpPr>
            <p:cNvPr id="50382" name="文本框 50381"/>
            <p:cNvSpPr txBox="1"/>
            <p:nvPr/>
          </p:nvSpPr>
          <p:spPr>
            <a:xfrm>
              <a:off x="1936" y="2057"/>
              <a:ext cx="588" cy="231"/>
            </a:xfrm>
            <a:prstGeom prst="rect">
              <a:avLst/>
            </a:prstGeom>
            <a:noFill/>
            <a:ln w="9525">
              <a:noFill/>
            </a:ln>
          </p:spPr>
          <p:txBody>
            <a:bodyPr wrap="none" anchor="t">
              <a:spAutoFit/>
            </a:bodyPr>
            <a:p>
              <a:pPr>
                <a:buClrTx/>
              </a:pPr>
              <a:r>
                <a:rPr lang="en-US" altLang="zh-CN" sz="1800" noProof="1">
                  <a:solidFill>
                    <a:srgbClr val="3333CC"/>
                  </a:solidFill>
                  <a:effectLst>
                    <a:outerShdw blurRad="38100" dist="38100" dir="2700000">
                      <a:srgbClr val="000000"/>
                    </a:outerShdw>
                  </a:effectLst>
                  <a:latin typeface="Arial" panose="020B0604020202090204" pitchFamily="34" charset="0"/>
                  <a:ea typeface="宋体" pitchFamily="2" charset="-122"/>
                  <a:cs typeface="宋体" pitchFamily="2" charset="-122"/>
                </a:rPr>
                <a:t>direct2</a:t>
              </a:r>
              <a:endParaRPr lang="en-US" altLang="zh-CN" sz="1800" noProof="1">
                <a:solidFill>
                  <a:srgbClr val="3333CC"/>
                </a:solidFill>
                <a:effectLst>
                  <a:outerShdw blurRad="38100" dist="38100" dir="2700000">
                    <a:srgbClr val="000000"/>
                  </a:outerShdw>
                </a:effectLst>
                <a:latin typeface="Arial" panose="020B0604020202090204" pitchFamily="34" charset="0"/>
                <a:ea typeface="宋体" pitchFamily="2" charset="-122"/>
              </a:endParaRPr>
            </a:p>
          </p:txBody>
        </p:sp>
        <p:sp>
          <p:nvSpPr>
            <p:cNvPr id="96332" name="直接连接符 50393"/>
            <p:cNvSpPr/>
            <p:nvPr/>
          </p:nvSpPr>
          <p:spPr>
            <a:xfrm flipV="1">
              <a:off x="1474" y="2160"/>
              <a:ext cx="453" cy="318"/>
            </a:xfrm>
            <a:prstGeom prst="line">
              <a:avLst/>
            </a:prstGeom>
            <a:ln w="9525" cap="flat" cmpd="sng">
              <a:solidFill>
                <a:srgbClr val="FF3300"/>
              </a:solidFill>
              <a:prstDash val="solid"/>
              <a:miter/>
              <a:headEnd type="arrow" w="lg" len="lg"/>
              <a:tailEnd type="none" w="med" len="med"/>
            </a:ln>
          </p:spPr>
        </p:sp>
      </p:grpSp>
      <p:grpSp>
        <p:nvGrpSpPr>
          <p:cNvPr id="50398" name="组合 50397"/>
          <p:cNvGrpSpPr/>
          <p:nvPr/>
        </p:nvGrpSpPr>
        <p:grpSpPr>
          <a:xfrm>
            <a:off x="2555875" y="4867275"/>
            <a:ext cx="1500188" cy="798513"/>
            <a:chOff x="1474" y="2478"/>
            <a:chExt cx="945" cy="503"/>
          </a:xfrm>
        </p:grpSpPr>
        <p:sp>
          <p:nvSpPr>
            <p:cNvPr id="50388" name="矩形 50387"/>
            <p:cNvSpPr/>
            <p:nvPr/>
          </p:nvSpPr>
          <p:spPr>
            <a:xfrm>
              <a:off x="1927" y="2750"/>
              <a:ext cx="492" cy="231"/>
            </a:xfrm>
            <a:prstGeom prst="rect">
              <a:avLst/>
            </a:prstGeom>
            <a:noFill/>
            <a:ln w="9525">
              <a:noFill/>
            </a:ln>
          </p:spPr>
          <p:txBody>
            <a:bodyPr wrap="none" anchor="t">
              <a:spAutoFit/>
            </a:bodyPr>
            <a:p>
              <a:pPr lvl="0" fontAlgn="base">
                <a:buClrTx/>
              </a:pPr>
              <a:r>
                <a:rPr lang="en-US" altLang="zh-CN" sz="1800" b="1" strike="noStrike" noProof="1">
                  <a:solidFill>
                    <a:srgbClr val="3333CC"/>
                  </a:solidFill>
                  <a:effectLst>
                    <a:outerShdw blurRad="38100" dist="38100" dir="2700000">
                      <a:srgbClr val="000000"/>
                    </a:outerShdw>
                  </a:effectLst>
                  <a:latin typeface="Arial" panose="020B0604020202090204" pitchFamily="34" charset="0"/>
                  <a:ea typeface="宋体" pitchFamily="2" charset="-122"/>
                  <a:cs typeface="宋体" pitchFamily="2" charset="-122"/>
                </a:rPr>
                <a:t>#data</a:t>
              </a:r>
              <a:endParaRPr lang="en-US" altLang="zh-CN" sz="1800" b="1" strike="noStrike" noProof="1">
                <a:solidFill>
                  <a:srgbClr val="3333CC"/>
                </a:solidFill>
                <a:effectLst>
                  <a:outerShdw blurRad="38100" dist="38100" dir="2700000">
                    <a:srgbClr val="000000"/>
                  </a:outerShdw>
                </a:effectLst>
                <a:latin typeface="Arial" panose="020B0604020202090204" pitchFamily="34" charset="0"/>
                <a:ea typeface="宋体" pitchFamily="2" charset="-122"/>
              </a:endParaRPr>
            </a:p>
          </p:txBody>
        </p:sp>
        <p:sp>
          <p:nvSpPr>
            <p:cNvPr id="96335" name="直接连接符 50394"/>
            <p:cNvSpPr/>
            <p:nvPr/>
          </p:nvSpPr>
          <p:spPr>
            <a:xfrm>
              <a:off x="1474" y="2478"/>
              <a:ext cx="453" cy="362"/>
            </a:xfrm>
            <a:prstGeom prst="line">
              <a:avLst/>
            </a:prstGeom>
            <a:ln w="9525" cap="flat" cmpd="sng">
              <a:solidFill>
                <a:srgbClr val="FF3300"/>
              </a:solidFill>
              <a:prstDash val="solid"/>
              <a:miter/>
              <a:headEnd type="arrow" w="lg" len="lg"/>
              <a:tailEnd type="none" w="med" len="med"/>
            </a:ln>
          </p:spPr>
        </p:sp>
      </p:grpSp>
      <p:sp>
        <p:nvSpPr>
          <p:cNvPr id="50400" name="文本框 50399"/>
          <p:cNvSpPr txBox="1"/>
          <p:nvPr/>
        </p:nvSpPr>
        <p:spPr>
          <a:xfrm>
            <a:off x="7308850" y="3348038"/>
            <a:ext cx="603250" cy="366713"/>
          </a:xfrm>
          <a:prstGeom prst="rect">
            <a:avLst/>
          </a:prstGeom>
          <a:noFill/>
          <a:ln w="9525">
            <a:noFill/>
          </a:ln>
        </p:spPr>
        <p:txBody>
          <a:bodyPr wrap="none" anchor="t">
            <a:spAutoFit/>
          </a:bodyPr>
          <a:p>
            <a:pPr>
              <a:buClrTx/>
            </a:pPr>
            <a:r>
              <a:rPr lang="en-US" altLang="zh-CN" sz="1800" noProof="1">
                <a:effectLst>
                  <a:outerShdw blurRad="38100" dist="38100" dir="2700000">
                    <a:srgbClr val="FFFFFF"/>
                  </a:outerShdw>
                </a:effectLst>
                <a:latin typeface="Arial" panose="020B0604020202090204" pitchFamily="34" charset="0"/>
                <a:ea typeface="宋体" pitchFamily="2" charset="-122"/>
                <a:cs typeface="宋体" pitchFamily="2" charset="-122"/>
              </a:rPr>
              <a:t>20H</a:t>
            </a:r>
            <a:endParaRPr lang="en-US" altLang="zh-CN" sz="1800" noProof="1">
              <a:effectLst>
                <a:outerShdw blurRad="38100" dist="38100" dir="2700000">
                  <a:srgbClr val="FFFFFF"/>
                </a:outerShdw>
              </a:effectLst>
              <a:latin typeface="Arial" panose="020B0604020202090204" pitchFamily="34" charset="0"/>
              <a:ea typeface="宋体" pitchFamily="2" charset="-122"/>
            </a:endParaRPr>
          </a:p>
        </p:txBody>
      </p:sp>
      <p:sp>
        <p:nvSpPr>
          <p:cNvPr id="50401" name="文本框 50400"/>
          <p:cNvSpPr txBox="1"/>
          <p:nvPr/>
        </p:nvSpPr>
        <p:spPr>
          <a:xfrm>
            <a:off x="5292725" y="2994025"/>
            <a:ext cx="790575" cy="336550"/>
          </a:xfrm>
          <a:prstGeom prst="rect">
            <a:avLst/>
          </a:prstGeom>
          <a:noFill/>
          <a:ln w="9525">
            <a:noFill/>
          </a:ln>
        </p:spPr>
        <p:txBody>
          <a:bodyPr>
            <a:spAutoFit/>
          </a:bodyPr>
          <a:p>
            <a:pPr>
              <a:buClrTx/>
            </a:pPr>
            <a:r>
              <a:rPr lang="en-US" altLang="zh-CN" sz="1600" noProof="1">
                <a:solidFill>
                  <a:srgbClr val="6666FF"/>
                </a:solidFill>
                <a:effectLst>
                  <a:outerShdw blurRad="38100" dist="38100" dir="2700000">
                    <a:srgbClr val="000000"/>
                  </a:outerShdw>
                </a:effectLst>
                <a:latin typeface="Arial" panose="020B0604020202090204" pitchFamily="34" charset="0"/>
                <a:ea typeface="宋体" pitchFamily="2" charset="-122"/>
                <a:cs typeface="宋体" pitchFamily="2" charset="-122"/>
              </a:rPr>
              <a:t>A</a:t>
            </a:r>
            <a:endParaRPr lang="en-US" altLang="zh-CN" sz="1600" noProof="1">
              <a:solidFill>
                <a:srgbClr val="6666FF"/>
              </a:solidFill>
              <a:effectLst>
                <a:outerShdw blurRad="38100" dist="38100" dir="2700000">
                  <a:srgbClr val="000000"/>
                </a:outerShdw>
              </a:effectLst>
              <a:latin typeface="Arial" panose="020B0604020202090204" pitchFamily="34" charset="0"/>
              <a:ea typeface="宋体" pitchFamily="2" charset="-122"/>
            </a:endParaRPr>
          </a:p>
        </p:txBody>
      </p:sp>
      <p:sp>
        <p:nvSpPr>
          <p:cNvPr id="50403" name="标题 50402"/>
          <p:cNvSpPr>
            <a:spLocks noGrp="1" noRot="1"/>
          </p:cNvSpPr>
          <p:nvPr/>
        </p:nvSpPr>
        <p:spPr>
          <a:xfrm>
            <a:off x="539750" y="1389063"/>
            <a:ext cx="7777163" cy="758825"/>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3200" b="1" i="0" u="none" kern="1200" baseline="0">
                <a:solidFill>
                  <a:srgbClr val="000000"/>
                </a:solidFill>
                <a:latin typeface="Times New Roman" panose="02020503050405090304" pitchFamily="18" charset="0"/>
                <a:ea typeface="宋体" pitchFamily="2" charset="-122"/>
                <a:cs typeface="+mn-ea"/>
              </a:defRPr>
            </a:lvl1pPr>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2800" b="1" i="0" u="none" strike="noStrike" kern="1200" cap="none" spc="0" normalizeH="0" baseline="0" noProof="1" dirty="0">
                <a:solidFill>
                  <a:srgbClr val="000000"/>
                </a:solidFill>
                <a:effectLst>
                  <a:outerShdw blurRad="38100" dist="38100" dir="2700000">
                    <a:srgbClr val="C0C0C0"/>
                  </a:outerShdw>
                </a:effectLst>
                <a:latin typeface="楷体_GB2312" pitchFamily="49" charset="-122"/>
                <a:ea typeface="楷体_GB2312" pitchFamily="49" charset="-122"/>
                <a:cs typeface="+mn-ea"/>
              </a:rPr>
              <a:t>数据传送指令（</a:t>
            </a:r>
            <a:r>
              <a:rPr kumimoji="0" lang="en-US" altLang="zh-CN" sz="2800" b="1" i="0" u="none" strike="noStrike" kern="1200" cap="none" spc="0" normalizeH="0" baseline="0" noProof="1" dirty="0">
                <a:solidFill>
                  <a:srgbClr val="000000"/>
                </a:solidFill>
                <a:effectLst>
                  <a:outerShdw blurRad="38100" dist="38100" dir="2700000">
                    <a:srgbClr val="C0C0C0"/>
                  </a:outerShdw>
                </a:effectLst>
                <a:latin typeface="楷体_GB2312" pitchFamily="49" charset="-122"/>
                <a:ea typeface="楷体_GB2312" pitchFamily="49" charset="-122"/>
                <a:cs typeface="+mn-ea"/>
              </a:rPr>
              <a:t>29</a:t>
            </a:r>
            <a:r>
              <a:rPr kumimoji="0" lang="zh-CN" altLang="en-US" sz="2800" b="1" i="0" u="none" strike="noStrike" kern="1200" cap="none" spc="0" normalizeH="0" baseline="0" noProof="1" dirty="0">
                <a:solidFill>
                  <a:srgbClr val="000000"/>
                </a:solidFill>
                <a:effectLst>
                  <a:outerShdw blurRad="38100" dist="38100" dir="2700000">
                    <a:srgbClr val="C0C0C0"/>
                  </a:outerShdw>
                </a:effectLst>
                <a:latin typeface="楷体_GB2312" pitchFamily="49" charset="-122"/>
                <a:ea typeface="楷体_GB2312" pitchFamily="49" charset="-122"/>
                <a:cs typeface="+mn-ea"/>
              </a:rPr>
              <a:t>条）</a:t>
            </a:r>
            <a:r>
              <a:rPr kumimoji="0" lang="en-US" altLang="zh-CN" sz="2800" b="1" i="0" u="none" strike="noStrike" kern="1200" cap="none" spc="0" normalizeH="0" baseline="0" noProof="1" dirty="0">
                <a:solidFill>
                  <a:srgbClr val="000000"/>
                </a:solidFill>
                <a:effectLst>
                  <a:outerShdw blurRad="38100" dist="38100" dir="2700000">
                    <a:srgbClr val="C0C0C0"/>
                  </a:outerShdw>
                </a:effectLst>
                <a:latin typeface="楷体_GB2312" pitchFamily="49" charset="-122"/>
                <a:ea typeface="楷体_GB2312" pitchFamily="49" charset="-122"/>
                <a:cs typeface="+mn-ea"/>
              </a:rPr>
              <a:t>-</a:t>
            </a:r>
            <a:r>
              <a:rPr kumimoji="0" lang="zh-CN" altLang="en-US" sz="2800" b="1" i="0" u="none" strike="noStrike" kern="1200" cap="none" spc="0" normalizeH="0" baseline="0" noProof="1" dirty="0">
                <a:solidFill>
                  <a:srgbClr val="000000"/>
                </a:solidFill>
                <a:effectLst>
                  <a:outerShdw blurRad="38100" dist="38100" dir="2700000">
                    <a:srgbClr val="C0C0C0"/>
                  </a:outerShdw>
                </a:effectLst>
                <a:latin typeface="楷体_GB2312" pitchFamily="49" charset="-122"/>
                <a:ea typeface="楷体_GB2312" pitchFamily="49" charset="-122"/>
                <a:cs typeface="+mn-ea"/>
              </a:rPr>
              <a:t>总结</a:t>
            </a:r>
            <a:br>
              <a:rPr lang="zh-CN" altLang="en-US" sz="2800" dirty="0">
                <a:effectLst>
                  <a:outerShdw blurRad="38100" dist="38100" dir="2700000">
                    <a:srgbClr val="C0C0C0"/>
                  </a:outerShdw>
                </a:effectLst>
                <a:latin typeface="楷体_GB2312" pitchFamily="49" charset="-122"/>
                <a:ea typeface="楷体_GB2312" pitchFamily="49" charset="-122"/>
              </a:rPr>
            </a:br>
            <a:r>
              <a:rPr kumimoji="0" lang="zh-CN" altLang="en-US" sz="2800" b="1" i="0" u="none" strike="noStrike" kern="1200" cap="none" spc="0" normalizeH="0" baseline="0" noProof="1" dirty="0">
                <a:solidFill>
                  <a:srgbClr val="000000"/>
                </a:solidFill>
                <a:effectLst>
                  <a:outerShdw blurRad="38100" dist="38100" dir="2700000">
                    <a:srgbClr val="C0C0C0"/>
                  </a:outerShdw>
                </a:effectLst>
                <a:latin typeface="楷体_GB2312" pitchFamily="49" charset="-122"/>
                <a:ea typeface="楷体_GB2312" pitchFamily="49" charset="-122"/>
                <a:cs typeface="+mn-ea"/>
              </a:rPr>
              <a:t>   </a:t>
            </a:r>
            <a:r>
              <a:rPr kumimoji="0" lang="en-US" altLang="zh-CN" sz="2800" b="1" i="0" u="none" strike="noStrike" kern="1200" cap="none" spc="0" normalizeH="0" baseline="0" noProof="1">
                <a:solidFill>
                  <a:srgbClr val="000000"/>
                </a:solidFill>
                <a:effectLst>
                  <a:outerShdw blurRad="38100" dist="38100" dir="2700000">
                    <a:srgbClr val="C0C0C0"/>
                  </a:outerShdw>
                </a:effectLst>
                <a:latin typeface="楷体_GB2312" pitchFamily="49" charset="-122"/>
                <a:ea typeface="楷体_GB2312" pitchFamily="49" charset="-122"/>
                <a:cs typeface="+mn-ea"/>
              </a:rPr>
              <a:t>——</a:t>
            </a:r>
            <a:r>
              <a:rPr kumimoji="0" lang="en-US" altLang="zh-CN" sz="2400" b="1" i="0" u="none" strike="noStrike" kern="1200" cap="none" spc="0" normalizeH="0" baseline="0" noProof="1" dirty="0">
                <a:solidFill>
                  <a:srgbClr val="FF0000"/>
                </a:solidFill>
                <a:effectLst>
                  <a:outerShdw blurRad="38100" dist="38100" dir="2700000">
                    <a:srgbClr val="C0C0C0"/>
                  </a:outerShdw>
                </a:effectLst>
                <a:latin typeface="楷体_GB2312" pitchFamily="49" charset="-122"/>
                <a:ea typeface="楷体_GB2312" pitchFamily="49" charset="-122"/>
                <a:cs typeface="+mn-ea"/>
              </a:rPr>
              <a:t>8</a:t>
            </a:r>
            <a:r>
              <a:rPr kumimoji="0" lang="zh-CN" altLang="en-US" sz="2400" b="1" i="0" u="none" strike="noStrike" kern="1200" cap="none" spc="0" normalizeH="0" baseline="0" noProof="1" dirty="0">
                <a:solidFill>
                  <a:srgbClr val="FF0000"/>
                </a:solidFill>
                <a:effectLst>
                  <a:outerShdw blurRad="38100" dist="38100" dir="2700000">
                    <a:srgbClr val="C0C0C0"/>
                  </a:outerShdw>
                </a:effectLst>
                <a:latin typeface="楷体_GB2312" pitchFamily="49" charset="-122"/>
                <a:ea typeface="楷体_GB2312" pitchFamily="49" charset="-122"/>
                <a:cs typeface="+mn-ea"/>
              </a:rPr>
              <a:t>位</a:t>
            </a:r>
            <a:r>
              <a:rPr kumimoji="0" lang="zh-CN" altLang="en-US" sz="2400" b="1" i="0" u="none" strike="noStrike" kern="1200" cap="none" spc="0" normalizeH="0" baseline="0" noProof="1" dirty="0">
                <a:solidFill>
                  <a:srgbClr val="0000FF"/>
                </a:solidFill>
                <a:effectLst>
                  <a:outerShdw blurRad="38100" dist="38100" dir="2700000">
                    <a:srgbClr val="C0C0C0"/>
                  </a:outerShdw>
                </a:effectLst>
                <a:latin typeface="楷体_GB2312" pitchFamily="49" charset="-122"/>
                <a:ea typeface="楷体_GB2312" pitchFamily="49" charset="-122"/>
                <a:cs typeface="+mn-ea"/>
              </a:rPr>
              <a:t>数据传送指令</a:t>
            </a:r>
            <a:r>
              <a:rPr kumimoji="0" lang="en-US" altLang="zh-CN" sz="2400" b="1" i="0" u="none" strike="noStrike" kern="1200" cap="none" spc="0" normalizeH="0" baseline="0" noProof="1" dirty="0">
                <a:solidFill>
                  <a:srgbClr val="0000FF"/>
                </a:solidFill>
                <a:effectLst>
                  <a:outerShdw blurRad="38100" dist="38100" dir="2700000">
                    <a:srgbClr val="C0C0C0"/>
                  </a:outerShdw>
                </a:effectLst>
                <a:latin typeface="楷体_GB2312" pitchFamily="49" charset="-122"/>
                <a:ea typeface="楷体_GB2312" pitchFamily="49" charset="-122"/>
                <a:cs typeface="+mn-ea"/>
              </a:rPr>
              <a:t>(15</a:t>
            </a:r>
            <a:r>
              <a:rPr kumimoji="0" lang="zh-CN" altLang="en-US" sz="2400" b="1" i="0" u="none" strike="noStrike" kern="1200" cap="none" spc="0" normalizeH="0" baseline="0" noProof="1" dirty="0">
                <a:solidFill>
                  <a:srgbClr val="0000FF"/>
                </a:solidFill>
                <a:effectLst>
                  <a:outerShdw blurRad="38100" dist="38100" dir="2700000">
                    <a:srgbClr val="C0C0C0"/>
                  </a:outerShdw>
                </a:effectLst>
                <a:latin typeface="楷体_GB2312" pitchFamily="49" charset="-122"/>
                <a:ea typeface="楷体_GB2312" pitchFamily="49" charset="-122"/>
                <a:cs typeface="+mn-ea"/>
              </a:rPr>
              <a:t>条</a:t>
            </a:r>
            <a:r>
              <a:rPr kumimoji="0" lang="en-US" altLang="zh-CN" sz="2400" b="1" i="0" u="none" strike="noStrike" kern="1200" cap="none" spc="0" normalizeH="0" baseline="0" noProof="1">
                <a:solidFill>
                  <a:srgbClr val="0000FF"/>
                </a:solidFill>
                <a:effectLst>
                  <a:outerShdw blurRad="38100" dist="38100" dir="2700000">
                    <a:srgbClr val="C0C0C0"/>
                  </a:outerShdw>
                </a:effectLst>
                <a:latin typeface="楷体_GB2312" pitchFamily="49" charset="-122"/>
                <a:ea typeface="楷体_GB2312" pitchFamily="49" charset="-122"/>
                <a:cs typeface="+mn-ea"/>
              </a:rPr>
              <a:t>)</a:t>
            </a:r>
            <a:r>
              <a:rPr kumimoji="0" lang="en-US" altLang="zh-CN" sz="2800" b="1" i="0" u="none" strike="noStrike" kern="1200" cap="none" spc="0" normalizeH="0" baseline="0" noProof="1">
                <a:solidFill>
                  <a:srgbClr val="000000"/>
                </a:solidFill>
                <a:latin typeface="楷体_GB2312" pitchFamily="49" charset="-122"/>
                <a:ea typeface="楷体_GB2312" pitchFamily="49" charset="-122"/>
                <a:cs typeface="+mn-ea"/>
              </a:rPr>
              <a:t> </a:t>
            </a:r>
            <a:endParaRPr kumimoji="0" lang="en-US" altLang="zh-CN" sz="2800" b="1" i="0" u="none" strike="noStrike" kern="1200" cap="none" spc="0" normalizeH="0" baseline="0" noProof="1">
              <a:solidFill>
                <a:srgbClr val="000000"/>
              </a:solidFill>
              <a:latin typeface="楷体_GB2312" pitchFamily="49" charset="-122"/>
              <a:ea typeface="楷体_GB2312" pitchFamily="49" charset="-122"/>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grpId="0" nodeType="clickEffect">
                                  <p:stCondLst>
                                    <p:cond delay="0"/>
                                  </p:stCondLst>
                                  <p:childTnLst>
                                    <p:animMotion origin="layout" path="M -4.72222E-6 -8.09249E-7 L -0.23229 -0.00023 " pathEditMode="relative" rAng="0" ptsTypes="AA">
                                      <p:cBhvr>
                                        <p:cTn id="6" dur="2000" fill="hold"/>
                                        <p:tgtEl>
                                          <p:spTgt spid="50223"/>
                                        </p:tgtEl>
                                        <p:attrNameLst>
                                          <p:attrName>ppt_x</p:attrName>
                                          <p:attrName>ppt_y</p:attrName>
                                        </p:attrNameLst>
                                      </p:cBhvr>
                                      <p:rCtr x="-11600" y="0"/>
                                    </p:animMotion>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50400"/>
                                        </p:tgtEl>
                                        <p:attrNameLst>
                                          <p:attrName>style.visibility</p:attrName>
                                        </p:attrNameLst>
                                      </p:cBhvr>
                                      <p:to>
                                        <p:strVal val="visible"/>
                                      </p:to>
                                    </p:set>
                                    <p:animEffect transition="in" filter="wipe(up)">
                                      <p:cBhvr>
                                        <p:cTn id="11" dur="500"/>
                                        <p:tgtEl>
                                          <p:spTgt spid="50400"/>
                                        </p:tgtEl>
                                      </p:cBhvr>
                                    </p:animEffect>
                                  </p:childTnLst>
                                </p:cTn>
                              </p:par>
                            </p:childTnLst>
                          </p:cTn>
                        </p:par>
                        <p:par>
                          <p:cTn id="12" fill="hold">
                            <p:stCondLst>
                              <p:cond delay="500"/>
                            </p:stCondLst>
                            <p:childTnLst>
                              <p:par>
                                <p:cTn id="13" presetID="10" presetClass="exit" presetSubtype="0" fill="hold" grpId="1" nodeType="afterEffect">
                                  <p:stCondLst>
                                    <p:cond delay="0"/>
                                  </p:stCondLst>
                                  <p:childTnLst>
                                    <p:animEffect transition="out" filter="fade">
                                      <p:cBhvr>
                                        <p:cTn id="14" dur="1000"/>
                                        <p:tgtEl>
                                          <p:spTgt spid="50223"/>
                                        </p:tgtEl>
                                      </p:cBhvr>
                                    </p:animEffect>
                                    <p:set>
                                      <p:cBhvr>
                                        <p:cTn id="15" dur="1" fill="hold">
                                          <p:stCondLst>
                                            <p:cond delay="999"/>
                                          </p:stCondLst>
                                        </p:cTn>
                                        <p:tgtEl>
                                          <p:spTgt spid="50223"/>
                                        </p:tgtEl>
                                        <p:attrNameLst>
                                          <p:attrName>style.visibility</p:attrName>
                                        </p:attrNameLst>
                                      </p:cBhvr>
                                      <p:to>
                                        <p:strVal val="hidden"/>
                                      </p:to>
                                    </p:set>
                                  </p:childTnLst>
                                </p:cTn>
                              </p:par>
                              <p:par>
                                <p:cTn id="16" presetID="10" presetClass="entr" presetSubtype="0" fill="hold" grpId="0" nodeType="withEffect">
                                  <p:stCondLst>
                                    <p:cond delay="0"/>
                                  </p:stCondLst>
                                  <p:childTnLst>
                                    <p:set>
                                      <p:cBhvr>
                                        <p:cTn id="17" dur="1" fill="hold">
                                          <p:stCondLst>
                                            <p:cond delay="0"/>
                                          </p:stCondLst>
                                        </p:cTn>
                                        <p:tgtEl>
                                          <p:spTgt spid="50401"/>
                                        </p:tgtEl>
                                        <p:attrNameLst>
                                          <p:attrName>style.visibility</p:attrName>
                                        </p:attrNameLst>
                                      </p:cBhvr>
                                      <p:to>
                                        <p:strVal val="visible"/>
                                      </p:to>
                                    </p:set>
                                    <p:animEffect transition="in" filter="fade">
                                      <p:cBhvr>
                                        <p:cTn id="18" dur="1000"/>
                                        <p:tgtEl>
                                          <p:spTgt spid="50401"/>
                                        </p:tgtEl>
                                      </p:cBhvr>
                                    </p:animEffect>
                                  </p:childTnLst>
                                </p:cTn>
                              </p:par>
                            </p:childTnLst>
                          </p:cTn>
                        </p:par>
                      </p:childTnLst>
                    </p:cTn>
                  </p:par>
                  <p:par>
                    <p:cTn id="19" fill="hold">
                      <p:stCondLst>
                        <p:cond delay="indefinite"/>
                      </p:stCondLst>
                      <p:childTnLst>
                        <p:par>
                          <p:cTn id="20" fill="hold">
                            <p:stCondLst>
                              <p:cond delay="0"/>
                            </p:stCondLst>
                            <p:childTnLst>
                              <p:par>
                                <p:cTn id="21" presetID="35" presetClass="path" presetSubtype="0" accel="50000" decel="50000" fill="hold" grpId="1" nodeType="clickEffect">
                                  <p:stCondLst>
                                    <p:cond delay="0"/>
                                  </p:stCondLst>
                                  <p:childTnLst>
                                    <p:animMotion origin="layout" path="M -5.55556E-7 4.10405E-6 L -0.22986 -0.00463 " pathEditMode="relative" rAng="0" ptsTypes="AA">
                                      <p:cBhvr>
                                        <p:cTn id="22" dur="1000" fill="hold"/>
                                        <p:tgtEl>
                                          <p:spTgt spid="50400"/>
                                        </p:tgtEl>
                                        <p:attrNameLst>
                                          <p:attrName>ppt_x</p:attrName>
                                          <p:attrName>ppt_y</p:attrName>
                                        </p:attrNameLst>
                                      </p:cBhvr>
                                      <p:rCtr x="-11500" y="-200"/>
                                    </p:animMotion>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0226"/>
                                        </p:tgtEl>
                                        <p:attrNameLst>
                                          <p:attrName>style.visibility</p:attrName>
                                        </p:attrNameLst>
                                      </p:cBhvr>
                                      <p:to>
                                        <p:strVal val="visible"/>
                                      </p:to>
                                    </p:set>
                                    <p:animEffect transition="in" filter="fade">
                                      <p:cBhvr>
                                        <p:cTn id="27" dur="1000"/>
                                        <p:tgtEl>
                                          <p:spTgt spid="5022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0225"/>
                                        </p:tgtEl>
                                        <p:attrNameLst>
                                          <p:attrName>style.visibility</p:attrName>
                                        </p:attrNameLst>
                                      </p:cBhvr>
                                      <p:to>
                                        <p:strVal val="visible"/>
                                      </p:to>
                                    </p:set>
                                    <p:animEffect transition="in" filter="wipe(left)">
                                      <p:cBhvr>
                                        <p:cTn id="32" dur="1000"/>
                                        <p:tgtEl>
                                          <p:spTgt spid="5022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0269"/>
                                        </p:tgtEl>
                                        <p:attrNameLst>
                                          <p:attrName>style.visibility</p:attrName>
                                        </p:attrNameLst>
                                      </p:cBhvr>
                                      <p:to>
                                        <p:strVal val="visible"/>
                                      </p:to>
                                    </p:set>
                                    <p:animEffect transition="in" filter="wipe(left)">
                                      <p:cBhvr>
                                        <p:cTn id="37" dur="500"/>
                                        <p:tgtEl>
                                          <p:spTgt spid="50269"/>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50245"/>
                                        </p:tgtEl>
                                        <p:attrNameLst>
                                          <p:attrName>style.visibility</p:attrName>
                                        </p:attrNameLst>
                                      </p:cBhvr>
                                      <p:to>
                                        <p:strVal val="visible"/>
                                      </p:to>
                                    </p:set>
                                    <p:animEffect transition="in" filter="wipe(left)">
                                      <p:cBhvr>
                                        <p:cTn id="41" dur="500"/>
                                        <p:tgtEl>
                                          <p:spTgt spid="50245"/>
                                        </p:tgtEl>
                                      </p:cBhvr>
                                    </p:animEffect>
                                  </p:childTnLst>
                                </p:cTn>
                              </p:par>
                            </p:childTnLst>
                          </p:cTn>
                        </p:par>
                        <p:par>
                          <p:cTn id="42" fill="hold">
                            <p:stCondLst>
                              <p:cond delay="1000"/>
                            </p:stCondLst>
                            <p:childTnLst>
                              <p:par>
                                <p:cTn id="43" presetID="22" presetClass="entr" presetSubtype="8" fill="hold" grpId="0" nodeType="afterEffect">
                                  <p:stCondLst>
                                    <p:cond delay="0"/>
                                  </p:stCondLst>
                                  <p:childTnLst>
                                    <p:set>
                                      <p:cBhvr>
                                        <p:cTn id="44" dur="1" fill="hold">
                                          <p:stCondLst>
                                            <p:cond delay="0"/>
                                          </p:stCondLst>
                                        </p:cTn>
                                        <p:tgtEl>
                                          <p:spTgt spid="50240"/>
                                        </p:tgtEl>
                                        <p:attrNameLst>
                                          <p:attrName>style.visibility</p:attrName>
                                        </p:attrNameLst>
                                      </p:cBhvr>
                                      <p:to>
                                        <p:strVal val="visible"/>
                                      </p:to>
                                    </p:set>
                                    <p:animEffect transition="in" filter="wipe(left)">
                                      <p:cBhvr>
                                        <p:cTn id="45" dur="500"/>
                                        <p:tgtEl>
                                          <p:spTgt spid="50240"/>
                                        </p:tgtEl>
                                      </p:cBhvr>
                                    </p:animEffect>
                                  </p:childTnLst>
                                </p:cTn>
                              </p:par>
                            </p:childTnLst>
                          </p:cTn>
                        </p:par>
                        <p:par>
                          <p:cTn id="46" fill="hold">
                            <p:stCondLst>
                              <p:cond delay="1500"/>
                            </p:stCondLst>
                            <p:childTnLst>
                              <p:par>
                                <p:cTn id="47" presetID="22" presetClass="entr" presetSubtype="8" fill="hold" nodeType="afterEffect">
                                  <p:stCondLst>
                                    <p:cond delay="0"/>
                                  </p:stCondLst>
                                  <p:childTnLst>
                                    <p:set>
                                      <p:cBhvr>
                                        <p:cTn id="48" dur="1" fill="hold">
                                          <p:stCondLst>
                                            <p:cond delay="0"/>
                                          </p:stCondLst>
                                        </p:cTn>
                                        <p:tgtEl>
                                          <p:spTgt spid="50246"/>
                                        </p:tgtEl>
                                        <p:attrNameLst>
                                          <p:attrName>style.visibility</p:attrName>
                                        </p:attrNameLst>
                                      </p:cBhvr>
                                      <p:to>
                                        <p:strVal val="visible"/>
                                      </p:to>
                                    </p:set>
                                    <p:animEffect transition="in" filter="wipe(left)">
                                      <p:cBhvr>
                                        <p:cTn id="49" dur="500"/>
                                        <p:tgtEl>
                                          <p:spTgt spid="50246"/>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2" fill="hold" nodeType="clickEffect">
                                  <p:stCondLst>
                                    <p:cond delay="0"/>
                                  </p:stCondLst>
                                  <p:childTnLst>
                                    <p:set>
                                      <p:cBhvr>
                                        <p:cTn id="53" dur="1" fill="hold">
                                          <p:stCondLst>
                                            <p:cond delay="0"/>
                                          </p:stCondLst>
                                        </p:cTn>
                                        <p:tgtEl>
                                          <p:spTgt spid="50252"/>
                                        </p:tgtEl>
                                        <p:attrNameLst>
                                          <p:attrName>style.visibility</p:attrName>
                                        </p:attrNameLst>
                                      </p:cBhvr>
                                      <p:to>
                                        <p:strVal val="visible"/>
                                      </p:to>
                                    </p:set>
                                    <p:animEffect transition="in" filter="wipe(right)">
                                      <p:cBhvr>
                                        <p:cTn id="54" dur="1000"/>
                                        <p:tgtEl>
                                          <p:spTgt spid="50252"/>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2" fill="hold" nodeType="clickEffect">
                                  <p:stCondLst>
                                    <p:cond delay="0"/>
                                  </p:stCondLst>
                                  <p:childTnLst>
                                    <p:set>
                                      <p:cBhvr>
                                        <p:cTn id="58" dur="1" fill="hold">
                                          <p:stCondLst>
                                            <p:cond delay="0"/>
                                          </p:stCondLst>
                                        </p:cTn>
                                        <p:tgtEl>
                                          <p:spTgt spid="50261"/>
                                        </p:tgtEl>
                                        <p:attrNameLst>
                                          <p:attrName>style.visibility</p:attrName>
                                        </p:attrNameLst>
                                      </p:cBhvr>
                                      <p:to>
                                        <p:strVal val="visible"/>
                                      </p:to>
                                    </p:set>
                                    <p:animEffect transition="in" filter="wipe(right)">
                                      <p:cBhvr>
                                        <p:cTn id="59" dur="1000"/>
                                        <p:tgtEl>
                                          <p:spTgt spid="50261"/>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2" fill="hold" nodeType="clickEffect">
                                  <p:stCondLst>
                                    <p:cond delay="0"/>
                                  </p:stCondLst>
                                  <p:childTnLst>
                                    <p:set>
                                      <p:cBhvr>
                                        <p:cTn id="63" dur="1" fill="hold">
                                          <p:stCondLst>
                                            <p:cond delay="0"/>
                                          </p:stCondLst>
                                        </p:cTn>
                                        <p:tgtEl>
                                          <p:spTgt spid="50264"/>
                                        </p:tgtEl>
                                        <p:attrNameLst>
                                          <p:attrName>style.visibility</p:attrName>
                                        </p:attrNameLst>
                                      </p:cBhvr>
                                      <p:to>
                                        <p:strVal val="visible"/>
                                      </p:to>
                                    </p:set>
                                    <p:animEffect transition="in" filter="wipe(right)">
                                      <p:cBhvr>
                                        <p:cTn id="64" dur="1000"/>
                                        <p:tgtEl>
                                          <p:spTgt spid="50264"/>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2" fill="hold" nodeType="clickEffect">
                                  <p:stCondLst>
                                    <p:cond delay="0"/>
                                  </p:stCondLst>
                                  <p:childTnLst>
                                    <p:set>
                                      <p:cBhvr>
                                        <p:cTn id="68" dur="1" fill="hold">
                                          <p:stCondLst>
                                            <p:cond delay="0"/>
                                          </p:stCondLst>
                                        </p:cTn>
                                        <p:tgtEl>
                                          <p:spTgt spid="50267"/>
                                        </p:tgtEl>
                                        <p:attrNameLst>
                                          <p:attrName>style.visibility</p:attrName>
                                        </p:attrNameLst>
                                      </p:cBhvr>
                                      <p:to>
                                        <p:strVal val="visible"/>
                                      </p:to>
                                    </p:set>
                                    <p:animEffect transition="in" filter="wipe(right)">
                                      <p:cBhvr>
                                        <p:cTn id="69" dur="1000"/>
                                        <p:tgtEl>
                                          <p:spTgt spid="50267"/>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xit" presetSubtype="2" fill="hold" nodeType="clickEffect">
                                  <p:stCondLst>
                                    <p:cond delay="0"/>
                                  </p:stCondLst>
                                  <p:childTnLst>
                                    <p:animEffect transition="out" filter="wipe(right)">
                                      <p:cBhvr>
                                        <p:cTn id="73" dur="500"/>
                                        <p:tgtEl>
                                          <p:spTgt spid="50252"/>
                                        </p:tgtEl>
                                      </p:cBhvr>
                                    </p:animEffect>
                                    <p:set>
                                      <p:cBhvr>
                                        <p:cTn id="74" dur="1" fill="hold">
                                          <p:stCondLst>
                                            <p:cond delay="499"/>
                                          </p:stCondLst>
                                        </p:cTn>
                                        <p:tgtEl>
                                          <p:spTgt spid="50252"/>
                                        </p:tgtEl>
                                        <p:attrNameLst>
                                          <p:attrName>style.visibility</p:attrName>
                                        </p:attrNameLst>
                                      </p:cBhvr>
                                      <p:to>
                                        <p:strVal val="hidden"/>
                                      </p:to>
                                    </p:set>
                                  </p:childTnLst>
                                </p:cTn>
                              </p:par>
                              <p:par>
                                <p:cTn id="75" presetID="22" presetClass="exit" presetSubtype="2" fill="hold" nodeType="withEffect">
                                  <p:stCondLst>
                                    <p:cond delay="0"/>
                                  </p:stCondLst>
                                  <p:childTnLst>
                                    <p:animEffect transition="out" filter="wipe(right)">
                                      <p:cBhvr>
                                        <p:cTn id="76" dur="500"/>
                                        <p:tgtEl>
                                          <p:spTgt spid="50261"/>
                                        </p:tgtEl>
                                      </p:cBhvr>
                                    </p:animEffect>
                                    <p:set>
                                      <p:cBhvr>
                                        <p:cTn id="77" dur="1" fill="hold">
                                          <p:stCondLst>
                                            <p:cond delay="499"/>
                                          </p:stCondLst>
                                        </p:cTn>
                                        <p:tgtEl>
                                          <p:spTgt spid="50261"/>
                                        </p:tgtEl>
                                        <p:attrNameLst>
                                          <p:attrName>style.visibility</p:attrName>
                                        </p:attrNameLst>
                                      </p:cBhvr>
                                      <p:to>
                                        <p:strVal val="hidden"/>
                                      </p:to>
                                    </p:set>
                                  </p:childTnLst>
                                </p:cTn>
                              </p:par>
                              <p:par>
                                <p:cTn id="78" presetID="22" presetClass="exit" presetSubtype="2" fill="hold" nodeType="withEffect">
                                  <p:stCondLst>
                                    <p:cond delay="0"/>
                                  </p:stCondLst>
                                  <p:childTnLst>
                                    <p:animEffect transition="out" filter="wipe(right)">
                                      <p:cBhvr>
                                        <p:cTn id="79" dur="500"/>
                                        <p:tgtEl>
                                          <p:spTgt spid="50264"/>
                                        </p:tgtEl>
                                      </p:cBhvr>
                                    </p:animEffect>
                                    <p:set>
                                      <p:cBhvr>
                                        <p:cTn id="80" dur="1" fill="hold">
                                          <p:stCondLst>
                                            <p:cond delay="499"/>
                                          </p:stCondLst>
                                        </p:cTn>
                                        <p:tgtEl>
                                          <p:spTgt spid="50264"/>
                                        </p:tgtEl>
                                        <p:attrNameLst>
                                          <p:attrName>style.visibility</p:attrName>
                                        </p:attrNameLst>
                                      </p:cBhvr>
                                      <p:to>
                                        <p:strVal val="hidden"/>
                                      </p:to>
                                    </p:set>
                                  </p:childTnLst>
                                </p:cTn>
                              </p:par>
                              <p:par>
                                <p:cTn id="81" presetID="22" presetClass="exit" presetSubtype="2" fill="hold" nodeType="withEffect">
                                  <p:stCondLst>
                                    <p:cond delay="0"/>
                                  </p:stCondLst>
                                  <p:childTnLst>
                                    <p:animEffect transition="out" filter="wipe(right)">
                                      <p:cBhvr>
                                        <p:cTn id="82" dur="500"/>
                                        <p:tgtEl>
                                          <p:spTgt spid="50267"/>
                                        </p:tgtEl>
                                      </p:cBhvr>
                                    </p:animEffect>
                                    <p:set>
                                      <p:cBhvr>
                                        <p:cTn id="83" dur="1" fill="hold">
                                          <p:stCondLst>
                                            <p:cond delay="499"/>
                                          </p:stCondLst>
                                        </p:cTn>
                                        <p:tgtEl>
                                          <p:spTgt spid="50267"/>
                                        </p:tgtEl>
                                        <p:attrNameLst>
                                          <p:attrName>style.visibility</p:attrName>
                                        </p:attrNameLst>
                                      </p:cBhvr>
                                      <p:to>
                                        <p:strVal val="hidden"/>
                                      </p:to>
                                    </p:set>
                                  </p:childTnLst>
                                </p:cTn>
                              </p:par>
                            </p:childTnLst>
                          </p:cTn>
                        </p:par>
                      </p:childTnLst>
                    </p:cTn>
                  </p:par>
                  <p:par>
                    <p:cTn id="84" fill="hold">
                      <p:stCondLst>
                        <p:cond delay="indefinite"/>
                      </p:stCondLst>
                      <p:childTnLst>
                        <p:par>
                          <p:cTn id="85" fill="hold">
                            <p:stCondLst>
                              <p:cond delay="0"/>
                            </p:stCondLst>
                            <p:childTnLst>
                              <p:par>
                                <p:cTn id="86" presetID="18" presetClass="entr" presetSubtype="9" fill="hold" nodeType="clickEffect">
                                  <p:stCondLst>
                                    <p:cond delay="0"/>
                                  </p:stCondLst>
                                  <p:childTnLst>
                                    <p:set>
                                      <p:cBhvr>
                                        <p:cTn id="87" dur="1" fill="hold">
                                          <p:stCondLst>
                                            <p:cond delay="0"/>
                                          </p:stCondLst>
                                        </p:cTn>
                                        <p:tgtEl>
                                          <p:spTgt spid="50272"/>
                                        </p:tgtEl>
                                        <p:attrNameLst>
                                          <p:attrName>style.visibility</p:attrName>
                                        </p:attrNameLst>
                                      </p:cBhvr>
                                      <p:to>
                                        <p:strVal val="visible"/>
                                      </p:to>
                                    </p:set>
                                    <p:animEffect transition="in" filter="strips(upLeft)">
                                      <p:cBhvr>
                                        <p:cTn id="88" dur="500"/>
                                        <p:tgtEl>
                                          <p:spTgt spid="50272"/>
                                        </p:tgtEl>
                                      </p:cBhvr>
                                    </p:animEffect>
                                  </p:childTnLst>
                                </p:cTn>
                              </p:par>
                            </p:childTnLst>
                          </p:cTn>
                        </p:par>
                      </p:childTnLst>
                    </p:cTn>
                  </p:par>
                  <p:par>
                    <p:cTn id="89" fill="hold">
                      <p:stCondLst>
                        <p:cond delay="indefinite"/>
                      </p:stCondLst>
                      <p:childTnLst>
                        <p:par>
                          <p:cTn id="90" fill="hold">
                            <p:stCondLst>
                              <p:cond delay="0"/>
                            </p:stCondLst>
                            <p:childTnLst>
                              <p:par>
                                <p:cTn id="91" presetID="18" presetClass="entr" presetSubtype="9" fill="hold" nodeType="clickEffect">
                                  <p:stCondLst>
                                    <p:cond delay="0"/>
                                  </p:stCondLst>
                                  <p:childTnLst>
                                    <p:set>
                                      <p:cBhvr>
                                        <p:cTn id="92" dur="1" fill="hold">
                                          <p:stCondLst>
                                            <p:cond delay="0"/>
                                          </p:stCondLst>
                                        </p:cTn>
                                        <p:tgtEl>
                                          <p:spTgt spid="50295"/>
                                        </p:tgtEl>
                                        <p:attrNameLst>
                                          <p:attrName>style.visibility</p:attrName>
                                        </p:attrNameLst>
                                      </p:cBhvr>
                                      <p:to>
                                        <p:strVal val="visible"/>
                                      </p:to>
                                    </p:set>
                                    <p:animEffect transition="in" filter="strips(upLeft)">
                                      <p:cBhvr>
                                        <p:cTn id="93" dur="500"/>
                                        <p:tgtEl>
                                          <p:spTgt spid="50295"/>
                                        </p:tgtEl>
                                      </p:cBhvr>
                                    </p:animEffect>
                                  </p:childTnLst>
                                </p:cTn>
                              </p:par>
                            </p:childTnLst>
                          </p:cTn>
                        </p:par>
                      </p:childTnLst>
                    </p:cTn>
                  </p:par>
                  <p:par>
                    <p:cTn id="94" fill="hold">
                      <p:stCondLst>
                        <p:cond delay="indefinite"/>
                      </p:stCondLst>
                      <p:childTnLst>
                        <p:par>
                          <p:cTn id="95" fill="hold">
                            <p:stCondLst>
                              <p:cond delay="0"/>
                            </p:stCondLst>
                            <p:childTnLst>
                              <p:par>
                                <p:cTn id="96" presetID="18" presetClass="entr" presetSubtype="9" fill="hold" nodeType="clickEffect">
                                  <p:stCondLst>
                                    <p:cond delay="0"/>
                                  </p:stCondLst>
                                  <p:childTnLst>
                                    <p:set>
                                      <p:cBhvr>
                                        <p:cTn id="97" dur="1" fill="hold">
                                          <p:stCondLst>
                                            <p:cond delay="0"/>
                                          </p:stCondLst>
                                        </p:cTn>
                                        <p:tgtEl>
                                          <p:spTgt spid="50293"/>
                                        </p:tgtEl>
                                        <p:attrNameLst>
                                          <p:attrName>style.visibility</p:attrName>
                                        </p:attrNameLst>
                                      </p:cBhvr>
                                      <p:to>
                                        <p:strVal val="visible"/>
                                      </p:to>
                                    </p:set>
                                    <p:animEffect transition="in" filter="strips(upLeft)">
                                      <p:cBhvr>
                                        <p:cTn id="98" dur="500"/>
                                        <p:tgtEl>
                                          <p:spTgt spid="50293"/>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xit" presetSubtype="2" fill="hold" nodeType="clickEffect">
                                  <p:stCondLst>
                                    <p:cond delay="0"/>
                                  </p:stCondLst>
                                  <p:childTnLst>
                                    <p:animEffect transition="out" filter="wipe(right)">
                                      <p:cBhvr>
                                        <p:cTn id="102" dur="500"/>
                                        <p:tgtEl>
                                          <p:spTgt spid="50293"/>
                                        </p:tgtEl>
                                      </p:cBhvr>
                                    </p:animEffect>
                                    <p:set>
                                      <p:cBhvr>
                                        <p:cTn id="103" dur="1" fill="hold">
                                          <p:stCondLst>
                                            <p:cond delay="499"/>
                                          </p:stCondLst>
                                        </p:cTn>
                                        <p:tgtEl>
                                          <p:spTgt spid="50293"/>
                                        </p:tgtEl>
                                        <p:attrNameLst>
                                          <p:attrName>style.visibility</p:attrName>
                                        </p:attrNameLst>
                                      </p:cBhvr>
                                      <p:to>
                                        <p:strVal val="hidden"/>
                                      </p:to>
                                    </p:set>
                                  </p:childTnLst>
                                </p:cTn>
                              </p:par>
                              <p:par>
                                <p:cTn id="104" presetID="22" presetClass="exit" presetSubtype="2" fill="hold" nodeType="withEffect">
                                  <p:stCondLst>
                                    <p:cond delay="0"/>
                                  </p:stCondLst>
                                  <p:childTnLst>
                                    <p:animEffect transition="out" filter="wipe(right)">
                                      <p:cBhvr>
                                        <p:cTn id="105" dur="500"/>
                                        <p:tgtEl>
                                          <p:spTgt spid="50295"/>
                                        </p:tgtEl>
                                      </p:cBhvr>
                                    </p:animEffect>
                                    <p:set>
                                      <p:cBhvr>
                                        <p:cTn id="106" dur="1" fill="hold">
                                          <p:stCondLst>
                                            <p:cond delay="499"/>
                                          </p:stCondLst>
                                        </p:cTn>
                                        <p:tgtEl>
                                          <p:spTgt spid="50295"/>
                                        </p:tgtEl>
                                        <p:attrNameLst>
                                          <p:attrName>style.visibility</p:attrName>
                                        </p:attrNameLst>
                                      </p:cBhvr>
                                      <p:to>
                                        <p:strVal val="hidden"/>
                                      </p:to>
                                    </p:set>
                                  </p:childTnLst>
                                </p:cTn>
                              </p:par>
                              <p:par>
                                <p:cTn id="107" presetID="22" presetClass="exit" presetSubtype="2" fill="hold" nodeType="withEffect">
                                  <p:stCondLst>
                                    <p:cond delay="0"/>
                                  </p:stCondLst>
                                  <p:childTnLst>
                                    <p:animEffect transition="out" filter="wipe(right)">
                                      <p:cBhvr>
                                        <p:cTn id="108" dur="500"/>
                                        <p:tgtEl>
                                          <p:spTgt spid="50272"/>
                                        </p:tgtEl>
                                      </p:cBhvr>
                                    </p:animEffect>
                                    <p:set>
                                      <p:cBhvr>
                                        <p:cTn id="109" dur="1" fill="hold">
                                          <p:stCondLst>
                                            <p:cond delay="499"/>
                                          </p:stCondLst>
                                        </p:cTn>
                                        <p:tgtEl>
                                          <p:spTgt spid="50272"/>
                                        </p:tgtEl>
                                        <p:attrNameLst>
                                          <p:attrName>style.visibility</p:attrName>
                                        </p:attrNameLst>
                                      </p:cBhvr>
                                      <p:to>
                                        <p:strVal val="hidden"/>
                                      </p:to>
                                    </p:set>
                                  </p:childTnLst>
                                </p:cTn>
                              </p:par>
                            </p:childTnLst>
                          </p:cTn>
                        </p:par>
                      </p:childTnLst>
                    </p:cTn>
                  </p:par>
                  <p:par>
                    <p:cTn id="110" fill="hold">
                      <p:stCondLst>
                        <p:cond delay="indefinite"/>
                      </p:stCondLst>
                      <p:childTnLst>
                        <p:par>
                          <p:cTn id="111" fill="hold">
                            <p:stCondLst>
                              <p:cond delay="0"/>
                            </p:stCondLst>
                            <p:childTnLst>
                              <p:par>
                                <p:cTn id="112" presetID="18" presetClass="entr" presetSubtype="9" fill="hold" nodeType="clickEffect">
                                  <p:stCondLst>
                                    <p:cond delay="0"/>
                                  </p:stCondLst>
                                  <p:childTnLst>
                                    <p:set>
                                      <p:cBhvr>
                                        <p:cTn id="113" dur="1" fill="hold">
                                          <p:stCondLst>
                                            <p:cond delay="0"/>
                                          </p:stCondLst>
                                        </p:cTn>
                                        <p:tgtEl>
                                          <p:spTgt spid="50317"/>
                                        </p:tgtEl>
                                        <p:attrNameLst>
                                          <p:attrName>style.visibility</p:attrName>
                                        </p:attrNameLst>
                                      </p:cBhvr>
                                      <p:to>
                                        <p:strVal val="visible"/>
                                      </p:to>
                                    </p:set>
                                    <p:animEffect transition="in" filter="strips(upLeft)">
                                      <p:cBhvr>
                                        <p:cTn id="114" dur="1000"/>
                                        <p:tgtEl>
                                          <p:spTgt spid="50317"/>
                                        </p:tgtEl>
                                      </p:cBhvr>
                                    </p:animEffect>
                                  </p:childTnLst>
                                </p:cTn>
                              </p:par>
                            </p:childTnLst>
                          </p:cTn>
                        </p:par>
                      </p:childTnLst>
                    </p:cTn>
                  </p:par>
                  <p:par>
                    <p:cTn id="115" fill="hold">
                      <p:stCondLst>
                        <p:cond delay="indefinite"/>
                      </p:stCondLst>
                      <p:childTnLst>
                        <p:par>
                          <p:cTn id="116" fill="hold">
                            <p:stCondLst>
                              <p:cond delay="0"/>
                            </p:stCondLst>
                            <p:childTnLst>
                              <p:par>
                                <p:cTn id="117" presetID="18" presetClass="entr" presetSubtype="9" fill="hold" nodeType="clickEffect">
                                  <p:stCondLst>
                                    <p:cond delay="0"/>
                                  </p:stCondLst>
                                  <p:childTnLst>
                                    <p:set>
                                      <p:cBhvr>
                                        <p:cTn id="118" dur="1" fill="hold">
                                          <p:stCondLst>
                                            <p:cond delay="0"/>
                                          </p:stCondLst>
                                        </p:cTn>
                                        <p:tgtEl>
                                          <p:spTgt spid="50369"/>
                                        </p:tgtEl>
                                        <p:attrNameLst>
                                          <p:attrName>style.visibility</p:attrName>
                                        </p:attrNameLst>
                                      </p:cBhvr>
                                      <p:to>
                                        <p:strVal val="visible"/>
                                      </p:to>
                                    </p:set>
                                    <p:animEffect transition="in" filter="strips(upLeft)">
                                      <p:cBhvr>
                                        <p:cTn id="119" dur="500"/>
                                        <p:tgtEl>
                                          <p:spTgt spid="50369"/>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2" fill="hold" nodeType="clickEffect">
                                  <p:stCondLst>
                                    <p:cond delay="0"/>
                                  </p:stCondLst>
                                  <p:childTnLst>
                                    <p:set>
                                      <p:cBhvr>
                                        <p:cTn id="123" dur="1" fill="hold">
                                          <p:stCondLst>
                                            <p:cond delay="0"/>
                                          </p:stCondLst>
                                        </p:cTn>
                                        <p:tgtEl>
                                          <p:spTgt spid="50370"/>
                                        </p:tgtEl>
                                        <p:attrNameLst>
                                          <p:attrName>style.visibility</p:attrName>
                                        </p:attrNameLst>
                                      </p:cBhvr>
                                      <p:to>
                                        <p:strVal val="visible"/>
                                      </p:to>
                                    </p:set>
                                    <p:animEffect transition="in" filter="wipe(right)">
                                      <p:cBhvr>
                                        <p:cTn id="124" dur="1000"/>
                                        <p:tgtEl>
                                          <p:spTgt spid="50370"/>
                                        </p:tgtEl>
                                      </p:cBhvr>
                                    </p:animEffect>
                                  </p:childTnLst>
                                </p:cTn>
                              </p:par>
                            </p:childTnLst>
                          </p:cTn>
                        </p:par>
                      </p:childTnLst>
                    </p:cTn>
                  </p:par>
                  <p:par>
                    <p:cTn id="125" fill="hold">
                      <p:stCondLst>
                        <p:cond delay="indefinite"/>
                      </p:stCondLst>
                      <p:childTnLst>
                        <p:par>
                          <p:cTn id="126" fill="hold">
                            <p:stCondLst>
                              <p:cond delay="0"/>
                            </p:stCondLst>
                            <p:childTnLst>
                              <p:par>
                                <p:cTn id="127" presetID="18" presetClass="entr" presetSubtype="12" fill="hold" nodeType="clickEffect">
                                  <p:stCondLst>
                                    <p:cond delay="0"/>
                                  </p:stCondLst>
                                  <p:childTnLst>
                                    <p:set>
                                      <p:cBhvr>
                                        <p:cTn id="128" dur="1" fill="hold">
                                          <p:stCondLst>
                                            <p:cond delay="0"/>
                                          </p:stCondLst>
                                        </p:cTn>
                                        <p:tgtEl>
                                          <p:spTgt spid="50371"/>
                                        </p:tgtEl>
                                        <p:attrNameLst>
                                          <p:attrName>style.visibility</p:attrName>
                                        </p:attrNameLst>
                                      </p:cBhvr>
                                      <p:to>
                                        <p:strVal val="visible"/>
                                      </p:to>
                                    </p:set>
                                    <p:animEffect transition="in" filter="strips(downLeft)">
                                      <p:cBhvr>
                                        <p:cTn id="129" dur="1000"/>
                                        <p:tgtEl>
                                          <p:spTgt spid="50371"/>
                                        </p:tgtEl>
                                      </p:cBhvr>
                                    </p:animEffect>
                                  </p:childTnLst>
                                </p:cTn>
                              </p:par>
                            </p:childTnLst>
                          </p:cTn>
                        </p:par>
                      </p:childTnLst>
                    </p:cTn>
                  </p:par>
                  <p:par>
                    <p:cTn id="130" fill="hold">
                      <p:stCondLst>
                        <p:cond delay="indefinite"/>
                      </p:stCondLst>
                      <p:childTnLst>
                        <p:par>
                          <p:cTn id="131" fill="hold">
                            <p:stCondLst>
                              <p:cond delay="0"/>
                            </p:stCondLst>
                            <p:childTnLst>
                              <p:par>
                                <p:cTn id="132" presetID="18" presetClass="entr" presetSubtype="12" fill="hold" nodeType="clickEffect">
                                  <p:stCondLst>
                                    <p:cond delay="0"/>
                                  </p:stCondLst>
                                  <p:childTnLst>
                                    <p:set>
                                      <p:cBhvr>
                                        <p:cTn id="133" dur="1" fill="hold">
                                          <p:stCondLst>
                                            <p:cond delay="0"/>
                                          </p:stCondLst>
                                        </p:cTn>
                                        <p:tgtEl>
                                          <p:spTgt spid="50372"/>
                                        </p:tgtEl>
                                        <p:attrNameLst>
                                          <p:attrName>style.visibility</p:attrName>
                                        </p:attrNameLst>
                                      </p:cBhvr>
                                      <p:to>
                                        <p:strVal val="visible"/>
                                      </p:to>
                                    </p:set>
                                    <p:animEffect transition="in" filter="strips(downLeft)">
                                      <p:cBhvr>
                                        <p:cTn id="134" dur="1000"/>
                                        <p:tgtEl>
                                          <p:spTgt spid="50372"/>
                                        </p:tgtEl>
                                      </p:cBhvr>
                                    </p:animEffect>
                                  </p:childTnLst>
                                </p:cTn>
                              </p:par>
                            </p:childTnLst>
                          </p:cTn>
                        </p:par>
                      </p:childTnLst>
                    </p:cTn>
                  </p:par>
                  <p:par>
                    <p:cTn id="135" fill="hold">
                      <p:stCondLst>
                        <p:cond delay="indefinite"/>
                      </p:stCondLst>
                      <p:childTnLst>
                        <p:par>
                          <p:cTn id="136" fill="hold">
                            <p:stCondLst>
                              <p:cond delay="0"/>
                            </p:stCondLst>
                            <p:childTnLst>
                              <p:par>
                                <p:cTn id="137" presetID="22" presetClass="exit" presetSubtype="2" fill="hold" nodeType="clickEffect">
                                  <p:stCondLst>
                                    <p:cond delay="0"/>
                                  </p:stCondLst>
                                  <p:childTnLst>
                                    <p:animEffect transition="out" filter="wipe(right)">
                                      <p:cBhvr>
                                        <p:cTn id="138" dur="500"/>
                                        <p:tgtEl>
                                          <p:spTgt spid="50317"/>
                                        </p:tgtEl>
                                      </p:cBhvr>
                                    </p:animEffect>
                                    <p:set>
                                      <p:cBhvr>
                                        <p:cTn id="139" dur="1" fill="hold">
                                          <p:stCondLst>
                                            <p:cond delay="499"/>
                                          </p:stCondLst>
                                        </p:cTn>
                                        <p:tgtEl>
                                          <p:spTgt spid="50317"/>
                                        </p:tgtEl>
                                        <p:attrNameLst>
                                          <p:attrName>style.visibility</p:attrName>
                                        </p:attrNameLst>
                                      </p:cBhvr>
                                      <p:to>
                                        <p:strVal val="hidden"/>
                                      </p:to>
                                    </p:set>
                                  </p:childTnLst>
                                </p:cTn>
                              </p:par>
                              <p:par>
                                <p:cTn id="140" presetID="22" presetClass="exit" presetSubtype="2" fill="hold" nodeType="withEffect">
                                  <p:stCondLst>
                                    <p:cond delay="0"/>
                                  </p:stCondLst>
                                  <p:childTnLst>
                                    <p:animEffect transition="out" filter="wipe(right)">
                                      <p:cBhvr>
                                        <p:cTn id="141" dur="500"/>
                                        <p:tgtEl>
                                          <p:spTgt spid="50369"/>
                                        </p:tgtEl>
                                      </p:cBhvr>
                                    </p:animEffect>
                                    <p:set>
                                      <p:cBhvr>
                                        <p:cTn id="142" dur="1" fill="hold">
                                          <p:stCondLst>
                                            <p:cond delay="499"/>
                                          </p:stCondLst>
                                        </p:cTn>
                                        <p:tgtEl>
                                          <p:spTgt spid="50369"/>
                                        </p:tgtEl>
                                        <p:attrNameLst>
                                          <p:attrName>style.visibility</p:attrName>
                                        </p:attrNameLst>
                                      </p:cBhvr>
                                      <p:to>
                                        <p:strVal val="hidden"/>
                                      </p:to>
                                    </p:set>
                                  </p:childTnLst>
                                </p:cTn>
                              </p:par>
                              <p:par>
                                <p:cTn id="143" presetID="22" presetClass="exit" presetSubtype="2" fill="hold" nodeType="withEffect">
                                  <p:stCondLst>
                                    <p:cond delay="0"/>
                                  </p:stCondLst>
                                  <p:childTnLst>
                                    <p:animEffect transition="out" filter="wipe(right)">
                                      <p:cBhvr>
                                        <p:cTn id="144" dur="500"/>
                                        <p:tgtEl>
                                          <p:spTgt spid="50370"/>
                                        </p:tgtEl>
                                      </p:cBhvr>
                                    </p:animEffect>
                                    <p:set>
                                      <p:cBhvr>
                                        <p:cTn id="145" dur="1" fill="hold">
                                          <p:stCondLst>
                                            <p:cond delay="499"/>
                                          </p:stCondLst>
                                        </p:cTn>
                                        <p:tgtEl>
                                          <p:spTgt spid="50370"/>
                                        </p:tgtEl>
                                        <p:attrNameLst>
                                          <p:attrName>style.visibility</p:attrName>
                                        </p:attrNameLst>
                                      </p:cBhvr>
                                      <p:to>
                                        <p:strVal val="hidden"/>
                                      </p:to>
                                    </p:set>
                                  </p:childTnLst>
                                </p:cTn>
                              </p:par>
                              <p:par>
                                <p:cTn id="146" presetID="22" presetClass="exit" presetSubtype="2" fill="hold" nodeType="withEffect">
                                  <p:stCondLst>
                                    <p:cond delay="0"/>
                                  </p:stCondLst>
                                  <p:childTnLst>
                                    <p:animEffect transition="out" filter="wipe(right)">
                                      <p:cBhvr>
                                        <p:cTn id="147" dur="500"/>
                                        <p:tgtEl>
                                          <p:spTgt spid="50371"/>
                                        </p:tgtEl>
                                      </p:cBhvr>
                                    </p:animEffect>
                                    <p:set>
                                      <p:cBhvr>
                                        <p:cTn id="148" dur="1" fill="hold">
                                          <p:stCondLst>
                                            <p:cond delay="499"/>
                                          </p:stCondLst>
                                        </p:cTn>
                                        <p:tgtEl>
                                          <p:spTgt spid="50371"/>
                                        </p:tgtEl>
                                        <p:attrNameLst>
                                          <p:attrName>style.visibility</p:attrName>
                                        </p:attrNameLst>
                                      </p:cBhvr>
                                      <p:to>
                                        <p:strVal val="hidden"/>
                                      </p:to>
                                    </p:set>
                                  </p:childTnLst>
                                </p:cTn>
                              </p:par>
                              <p:par>
                                <p:cTn id="149" presetID="22" presetClass="exit" presetSubtype="2" fill="hold" nodeType="withEffect">
                                  <p:stCondLst>
                                    <p:cond delay="0"/>
                                  </p:stCondLst>
                                  <p:childTnLst>
                                    <p:animEffect transition="out" filter="wipe(right)">
                                      <p:cBhvr>
                                        <p:cTn id="150" dur="500"/>
                                        <p:tgtEl>
                                          <p:spTgt spid="50372"/>
                                        </p:tgtEl>
                                      </p:cBhvr>
                                    </p:animEffect>
                                    <p:set>
                                      <p:cBhvr>
                                        <p:cTn id="151" dur="1" fill="hold">
                                          <p:stCondLst>
                                            <p:cond delay="499"/>
                                          </p:stCondLst>
                                        </p:cTn>
                                        <p:tgtEl>
                                          <p:spTgt spid="50372"/>
                                        </p:tgtEl>
                                        <p:attrNameLst>
                                          <p:attrName>style.visibility</p:attrName>
                                        </p:attrNameLst>
                                      </p:cBhvr>
                                      <p:to>
                                        <p:strVal val="hidden"/>
                                      </p:to>
                                    </p:set>
                                  </p:childTnLst>
                                </p:cTn>
                              </p:par>
                            </p:childTnLst>
                          </p:cTn>
                        </p:par>
                      </p:childTnLst>
                    </p:cTn>
                  </p:par>
                  <p:par>
                    <p:cTn id="152" fill="hold">
                      <p:stCondLst>
                        <p:cond delay="indefinite"/>
                      </p:stCondLst>
                      <p:childTnLst>
                        <p:par>
                          <p:cTn id="153" fill="hold">
                            <p:stCondLst>
                              <p:cond delay="0"/>
                            </p:stCondLst>
                            <p:childTnLst>
                              <p:par>
                                <p:cTn id="154" presetID="22" presetClass="entr" presetSubtype="2" fill="hold" nodeType="clickEffect">
                                  <p:stCondLst>
                                    <p:cond delay="0"/>
                                  </p:stCondLst>
                                  <p:childTnLst>
                                    <p:set>
                                      <p:cBhvr>
                                        <p:cTn id="155" dur="1" fill="hold">
                                          <p:stCondLst>
                                            <p:cond delay="0"/>
                                          </p:stCondLst>
                                        </p:cTn>
                                        <p:tgtEl>
                                          <p:spTgt spid="50399"/>
                                        </p:tgtEl>
                                        <p:attrNameLst>
                                          <p:attrName>style.visibility</p:attrName>
                                        </p:attrNameLst>
                                      </p:cBhvr>
                                      <p:to>
                                        <p:strVal val="visible"/>
                                      </p:to>
                                    </p:set>
                                    <p:animEffect transition="in" filter="wipe(right)">
                                      <p:cBhvr>
                                        <p:cTn id="156" dur="1000"/>
                                        <p:tgtEl>
                                          <p:spTgt spid="50399"/>
                                        </p:tgtEl>
                                      </p:cBhvr>
                                    </p:animEffect>
                                  </p:childTnLst>
                                </p:cTn>
                              </p:par>
                            </p:childTnLst>
                          </p:cTn>
                        </p:par>
                      </p:childTnLst>
                    </p:cTn>
                  </p:par>
                  <p:par>
                    <p:cTn id="157" fill="hold">
                      <p:stCondLst>
                        <p:cond delay="indefinite"/>
                      </p:stCondLst>
                      <p:childTnLst>
                        <p:par>
                          <p:cTn id="158" fill="hold">
                            <p:stCondLst>
                              <p:cond delay="0"/>
                            </p:stCondLst>
                            <p:childTnLst>
                              <p:par>
                                <p:cTn id="159" presetID="18" presetClass="entr" presetSubtype="6" fill="hold" nodeType="clickEffect">
                                  <p:stCondLst>
                                    <p:cond delay="0"/>
                                  </p:stCondLst>
                                  <p:childTnLst>
                                    <p:set>
                                      <p:cBhvr>
                                        <p:cTn id="160" dur="1" fill="hold">
                                          <p:stCondLst>
                                            <p:cond delay="0"/>
                                          </p:stCondLst>
                                        </p:cTn>
                                        <p:tgtEl>
                                          <p:spTgt spid="50397"/>
                                        </p:tgtEl>
                                        <p:attrNameLst>
                                          <p:attrName>style.visibility</p:attrName>
                                        </p:attrNameLst>
                                      </p:cBhvr>
                                      <p:to>
                                        <p:strVal val="visible"/>
                                      </p:to>
                                    </p:set>
                                    <p:animEffect transition="in" filter="strips(downRight)">
                                      <p:cBhvr>
                                        <p:cTn id="161" dur="1000"/>
                                        <p:tgtEl>
                                          <p:spTgt spid="50397"/>
                                        </p:tgtEl>
                                      </p:cBhvr>
                                    </p:animEffect>
                                  </p:childTnLst>
                                </p:cTn>
                              </p:par>
                            </p:childTnLst>
                          </p:cTn>
                        </p:par>
                      </p:childTnLst>
                    </p:cTn>
                  </p:par>
                  <p:par>
                    <p:cTn id="162" fill="hold">
                      <p:stCondLst>
                        <p:cond delay="indefinite"/>
                      </p:stCondLst>
                      <p:childTnLst>
                        <p:par>
                          <p:cTn id="163" fill="hold">
                            <p:stCondLst>
                              <p:cond delay="0"/>
                            </p:stCondLst>
                            <p:childTnLst>
                              <p:par>
                                <p:cTn id="164" presetID="18" presetClass="entr" presetSubtype="9" fill="hold" nodeType="clickEffect">
                                  <p:stCondLst>
                                    <p:cond delay="0"/>
                                  </p:stCondLst>
                                  <p:childTnLst>
                                    <p:set>
                                      <p:cBhvr>
                                        <p:cTn id="165" dur="1" fill="hold">
                                          <p:stCondLst>
                                            <p:cond delay="0"/>
                                          </p:stCondLst>
                                        </p:cTn>
                                        <p:tgtEl>
                                          <p:spTgt spid="50398"/>
                                        </p:tgtEl>
                                        <p:attrNameLst>
                                          <p:attrName>style.visibility</p:attrName>
                                        </p:attrNameLst>
                                      </p:cBhvr>
                                      <p:to>
                                        <p:strVal val="visible"/>
                                      </p:to>
                                    </p:set>
                                    <p:animEffect transition="in" filter="strips(upLeft)">
                                      <p:cBhvr>
                                        <p:cTn id="166" dur="1000"/>
                                        <p:tgtEl>
                                          <p:spTgt spid="50398"/>
                                        </p:tgtEl>
                                      </p:cBhvr>
                                    </p:animEffect>
                                  </p:childTnLst>
                                </p:cTn>
                              </p:par>
                            </p:childTnLst>
                          </p:cTn>
                        </p:par>
                      </p:childTnLst>
                    </p:cTn>
                  </p:par>
                  <p:par>
                    <p:cTn id="167" fill="hold">
                      <p:stCondLst>
                        <p:cond delay="indefinite"/>
                      </p:stCondLst>
                      <p:childTnLst>
                        <p:par>
                          <p:cTn id="168" fill="hold">
                            <p:stCondLst>
                              <p:cond delay="0"/>
                            </p:stCondLst>
                            <p:childTnLst>
                              <p:par>
                                <p:cTn id="169" presetID="22" presetClass="exit" presetSubtype="2" fill="hold" nodeType="clickEffect">
                                  <p:stCondLst>
                                    <p:cond delay="0"/>
                                  </p:stCondLst>
                                  <p:childTnLst>
                                    <p:animEffect transition="out" filter="wipe(right)">
                                      <p:cBhvr>
                                        <p:cTn id="170" dur="500"/>
                                        <p:tgtEl>
                                          <p:spTgt spid="50398"/>
                                        </p:tgtEl>
                                      </p:cBhvr>
                                    </p:animEffect>
                                    <p:set>
                                      <p:cBhvr>
                                        <p:cTn id="171" dur="1" fill="hold">
                                          <p:stCondLst>
                                            <p:cond delay="499"/>
                                          </p:stCondLst>
                                        </p:cTn>
                                        <p:tgtEl>
                                          <p:spTgt spid="50398"/>
                                        </p:tgtEl>
                                        <p:attrNameLst>
                                          <p:attrName>style.visibility</p:attrName>
                                        </p:attrNameLst>
                                      </p:cBhvr>
                                      <p:to>
                                        <p:strVal val="hidden"/>
                                      </p:to>
                                    </p:set>
                                  </p:childTnLst>
                                </p:cTn>
                              </p:par>
                              <p:par>
                                <p:cTn id="172" presetID="22" presetClass="exit" presetSubtype="2" fill="hold" nodeType="withEffect">
                                  <p:stCondLst>
                                    <p:cond delay="0"/>
                                  </p:stCondLst>
                                  <p:childTnLst>
                                    <p:animEffect transition="out" filter="wipe(right)">
                                      <p:cBhvr>
                                        <p:cTn id="173" dur="500"/>
                                        <p:tgtEl>
                                          <p:spTgt spid="50397"/>
                                        </p:tgtEl>
                                      </p:cBhvr>
                                    </p:animEffect>
                                    <p:set>
                                      <p:cBhvr>
                                        <p:cTn id="174" dur="1" fill="hold">
                                          <p:stCondLst>
                                            <p:cond delay="499"/>
                                          </p:stCondLst>
                                        </p:cTn>
                                        <p:tgtEl>
                                          <p:spTgt spid="50397"/>
                                        </p:tgtEl>
                                        <p:attrNameLst>
                                          <p:attrName>style.visibility</p:attrName>
                                        </p:attrNameLst>
                                      </p:cBhvr>
                                      <p:to>
                                        <p:strVal val="hidden"/>
                                      </p:to>
                                    </p:set>
                                  </p:childTnLst>
                                </p:cTn>
                              </p:par>
                              <p:par>
                                <p:cTn id="175" presetID="22" presetClass="exit" presetSubtype="2" fill="hold" nodeType="withEffect">
                                  <p:stCondLst>
                                    <p:cond delay="0"/>
                                  </p:stCondLst>
                                  <p:childTnLst>
                                    <p:animEffect transition="out" filter="wipe(right)">
                                      <p:cBhvr>
                                        <p:cTn id="176" dur="500"/>
                                        <p:tgtEl>
                                          <p:spTgt spid="50399"/>
                                        </p:tgtEl>
                                      </p:cBhvr>
                                    </p:animEffect>
                                    <p:set>
                                      <p:cBhvr>
                                        <p:cTn id="177" dur="1" fill="hold">
                                          <p:stCondLst>
                                            <p:cond delay="499"/>
                                          </p:stCondLst>
                                        </p:cTn>
                                        <p:tgtEl>
                                          <p:spTgt spid="5039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23" grpId="0"/>
      <p:bldP spid="50223" grpId="1"/>
      <p:bldP spid="50225" grpId="0"/>
      <p:bldP spid="50226" grpId="0"/>
      <p:bldP spid="50240" grpId="0"/>
      <p:bldP spid="50269" grpId="0"/>
      <p:bldP spid="50400" grpId="0"/>
      <p:bldP spid="50400" grpId="1"/>
      <p:bldP spid="50401"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ChangeArrowheads="1"/>
          </p:cNvSpPr>
          <p:nvPr/>
        </p:nvSpPr>
        <p:spPr bwMode="auto">
          <a:xfrm>
            <a:off x="214313" y="214313"/>
            <a:ext cx="8763000" cy="609600"/>
          </a:xfrm>
          <a:prstGeom prst="rect">
            <a:avLst/>
          </a:prstGeom>
          <a:noFill/>
          <a:ln>
            <a:noFill/>
          </a:ln>
        </p:spPr>
        <p:txBody>
          <a:bodyPr anchor="ctr"/>
          <a:lstStyle>
            <a:lvl1pPr>
              <a:defRPr sz="3600">
                <a:solidFill>
                  <a:schemeClr val="tx2"/>
                </a:solidFill>
                <a:latin typeface="Times New Roman" panose="02020503050405090304" pitchFamily="18" charset="0"/>
                <a:ea typeface="宋体" pitchFamily="2" charset="-122"/>
              </a:defRPr>
            </a:lvl1pPr>
            <a:lvl2pPr>
              <a:defRPr sz="3600">
                <a:solidFill>
                  <a:schemeClr val="tx2"/>
                </a:solidFill>
                <a:latin typeface="Times New Roman" panose="02020503050405090304" pitchFamily="18" charset="0"/>
                <a:ea typeface="宋体" pitchFamily="2" charset="-122"/>
              </a:defRPr>
            </a:lvl2pPr>
            <a:lvl3pPr>
              <a:defRPr sz="3600">
                <a:solidFill>
                  <a:schemeClr val="tx2"/>
                </a:solidFill>
                <a:latin typeface="Times New Roman" panose="02020503050405090304" pitchFamily="18" charset="0"/>
                <a:ea typeface="宋体" pitchFamily="2" charset="-122"/>
              </a:defRPr>
            </a:lvl3pPr>
            <a:lvl4pPr>
              <a:defRPr sz="3600">
                <a:solidFill>
                  <a:schemeClr val="tx2"/>
                </a:solidFill>
                <a:latin typeface="Times New Roman" panose="02020503050405090304" pitchFamily="18" charset="0"/>
                <a:ea typeface="宋体" pitchFamily="2" charset="-122"/>
              </a:defRPr>
            </a:lvl4pPr>
            <a:lvl5pPr>
              <a:defRPr sz="3600">
                <a:solidFill>
                  <a:schemeClr val="tx2"/>
                </a:solidFill>
                <a:latin typeface="Times New Roman" panose="02020503050405090304" pitchFamily="18" charset="0"/>
                <a:ea typeface="宋体" pitchFamily="2" charset="-122"/>
              </a:defRPr>
            </a:lvl5pPr>
            <a:lvl6pPr marL="45720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fontAlgn="base">
              <a:spcBef>
                <a:spcPct val="0"/>
              </a:spcBef>
              <a:spcAft>
                <a:spcPct val="0"/>
              </a:spcAft>
              <a:defRPr sz="3600">
                <a:solidFill>
                  <a:schemeClr val="tx2"/>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第三章</a:t>
            </a:r>
            <a:r>
              <a:rPr kumimoji="0" lang="zh-CN" altLang="en-US" sz="28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zh-CN" altLang="en-US" sz="24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en-US" altLang="zh-CN"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MCS-51</a:t>
            </a: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指令系统</a:t>
            </a:r>
            <a:endParaRPr kumimoji="0" lang="zh-CN" altLang="en-US" sz="3600" b="0"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Times New Roman" panose="02020503050405090304" pitchFamily="18" charset="0"/>
              <a:ea typeface="宋体" pitchFamily="2" charset="-122"/>
              <a:cs typeface="+mn-cs"/>
            </a:endParaRPr>
          </a:p>
        </p:txBody>
      </p:sp>
      <p:sp>
        <p:nvSpPr>
          <p:cNvPr id="51255" name="标题 51254"/>
          <p:cNvSpPr>
            <a:spLocks noGrp="1" noRot="1"/>
          </p:cNvSpPr>
          <p:nvPr/>
        </p:nvSpPr>
        <p:spPr>
          <a:xfrm>
            <a:off x="611188" y="1300163"/>
            <a:ext cx="8569325" cy="758825"/>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3200" b="1" i="0" u="none" kern="1200" baseline="0">
                <a:solidFill>
                  <a:srgbClr val="000000"/>
                </a:solidFill>
                <a:latin typeface="Times New Roman" panose="02020503050405090304" pitchFamily="18" charset="0"/>
                <a:ea typeface="宋体" pitchFamily="2" charset="-122"/>
                <a:cs typeface="+mn-ea"/>
              </a:defRPr>
            </a:lvl1pPr>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2800" b="1" i="0" u="none" strike="noStrike" kern="1200" cap="none" spc="0" normalizeH="0" baseline="0" noProof="1" dirty="0">
                <a:solidFill>
                  <a:srgbClr val="000000"/>
                </a:solidFill>
                <a:effectLst>
                  <a:outerShdw blurRad="38100" dist="38100" dir="2700000">
                    <a:srgbClr val="C0C0C0"/>
                  </a:outerShdw>
                </a:effectLst>
                <a:latin typeface="楷体_GB2312" pitchFamily="49" charset="-122"/>
                <a:ea typeface="楷体_GB2312" pitchFamily="49" charset="-122"/>
                <a:cs typeface="+mn-ea"/>
              </a:rPr>
              <a:t>数据传送指令（</a:t>
            </a:r>
            <a:r>
              <a:rPr kumimoji="0" lang="en-US" altLang="zh-CN" sz="2800" b="1" i="0" u="none" strike="noStrike" kern="1200" cap="none" spc="0" normalizeH="0" baseline="0" noProof="1" dirty="0">
                <a:solidFill>
                  <a:srgbClr val="000000"/>
                </a:solidFill>
                <a:effectLst>
                  <a:outerShdw blurRad="38100" dist="38100" dir="2700000">
                    <a:srgbClr val="C0C0C0"/>
                  </a:outerShdw>
                </a:effectLst>
                <a:latin typeface="楷体_GB2312" pitchFamily="49" charset="-122"/>
                <a:ea typeface="楷体_GB2312" pitchFamily="49" charset="-122"/>
                <a:cs typeface="+mn-ea"/>
              </a:rPr>
              <a:t>29</a:t>
            </a:r>
            <a:r>
              <a:rPr kumimoji="0" lang="zh-CN" altLang="en-US" sz="2800" b="1" i="0" u="none" strike="noStrike" kern="1200" cap="none" spc="0" normalizeH="0" baseline="0" noProof="1" dirty="0">
                <a:solidFill>
                  <a:srgbClr val="000000"/>
                </a:solidFill>
                <a:effectLst>
                  <a:outerShdw blurRad="38100" dist="38100" dir="2700000">
                    <a:srgbClr val="C0C0C0"/>
                  </a:outerShdw>
                </a:effectLst>
                <a:latin typeface="楷体_GB2312" pitchFamily="49" charset="-122"/>
                <a:ea typeface="楷体_GB2312" pitchFamily="49" charset="-122"/>
                <a:cs typeface="+mn-ea"/>
              </a:rPr>
              <a:t>条）</a:t>
            </a:r>
            <a:r>
              <a:rPr lang="en-US" altLang="zh-CN" sz="2800" strike="noStrike" noProof="1" dirty="0">
                <a:effectLst>
                  <a:outerShdw blurRad="38100" dist="38100" dir="2700000">
                    <a:srgbClr val="C0C0C0"/>
                  </a:outerShdw>
                </a:effectLst>
                <a:latin typeface="楷体_GB2312" pitchFamily="49" charset="-122"/>
                <a:ea typeface="楷体_GB2312" pitchFamily="49" charset="-122"/>
                <a:cs typeface="+mn-ea"/>
                <a:sym typeface="+mn-ea"/>
              </a:rPr>
              <a:t>-</a:t>
            </a:r>
            <a:r>
              <a:rPr lang="zh-CN" altLang="en-US" sz="2800" strike="noStrike" noProof="1" dirty="0">
                <a:effectLst>
                  <a:outerShdw blurRad="38100" dist="38100" dir="2700000">
                    <a:srgbClr val="C0C0C0"/>
                  </a:outerShdw>
                </a:effectLst>
                <a:latin typeface="楷体_GB2312" pitchFamily="49" charset="-122"/>
                <a:ea typeface="楷体_GB2312" pitchFamily="49" charset="-122"/>
                <a:cs typeface="+mn-ea"/>
                <a:sym typeface="+mn-ea"/>
              </a:rPr>
              <a:t>总结</a:t>
            </a:r>
            <a:br>
              <a:rPr lang="zh-CN" altLang="en-US" sz="2800" dirty="0">
                <a:effectLst>
                  <a:outerShdw blurRad="38100" dist="38100" dir="2700000">
                    <a:srgbClr val="C0C0C0"/>
                  </a:outerShdw>
                </a:effectLst>
                <a:latin typeface="楷体_GB2312" pitchFamily="49" charset="-122"/>
                <a:ea typeface="楷体_GB2312" pitchFamily="49" charset="-122"/>
              </a:rPr>
            </a:br>
            <a:r>
              <a:rPr kumimoji="0" lang="zh-CN" altLang="en-US" sz="2800" b="1" i="0" u="none" strike="noStrike" kern="1200" cap="none" spc="0" normalizeH="0" baseline="0" noProof="1" dirty="0">
                <a:solidFill>
                  <a:srgbClr val="000000"/>
                </a:solidFill>
                <a:effectLst>
                  <a:outerShdw blurRad="38100" dist="38100" dir="2700000">
                    <a:srgbClr val="C0C0C0"/>
                  </a:outerShdw>
                </a:effectLst>
                <a:latin typeface="楷体_GB2312" pitchFamily="49" charset="-122"/>
                <a:ea typeface="楷体_GB2312" pitchFamily="49" charset="-122"/>
                <a:cs typeface="+mn-ea"/>
              </a:rPr>
              <a:t>   </a:t>
            </a:r>
            <a:r>
              <a:rPr kumimoji="0" lang="en-US" altLang="zh-CN" sz="2800" b="1" i="0" u="none" strike="noStrike" kern="1200" cap="none" spc="0" normalizeH="0" baseline="0" noProof="1">
                <a:solidFill>
                  <a:srgbClr val="000000"/>
                </a:solidFill>
                <a:effectLst>
                  <a:outerShdw blurRad="38100" dist="38100" dir="2700000">
                    <a:srgbClr val="C0C0C0"/>
                  </a:outerShdw>
                </a:effectLst>
                <a:latin typeface="楷体_GB2312" pitchFamily="49" charset="-122"/>
                <a:ea typeface="楷体_GB2312" pitchFamily="49" charset="-122"/>
                <a:cs typeface="+mn-ea"/>
              </a:rPr>
              <a:t>——</a:t>
            </a:r>
            <a:r>
              <a:rPr kumimoji="0" lang="en-US" altLang="zh-CN" sz="2400" b="1" i="0" u="none" strike="noStrike" kern="1200" cap="none" spc="0" normalizeH="0" baseline="0" noProof="1" dirty="0">
                <a:solidFill>
                  <a:srgbClr val="FF0000"/>
                </a:solidFill>
                <a:effectLst>
                  <a:outerShdw blurRad="38100" dist="38100" dir="2700000">
                    <a:srgbClr val="C0C0C0"/>
                  </a:outerShdw>
                </a:effectLst>
                <a:latin typeface="楷体_GB2312" pitchFamily="49" charset="-122"/>
                <a:ea typeface="楷体_GB2312" pitchFamily="49" charset="-122"/>
                <a:cs typeface="+mn-ea"/>
              </a:rPr>
              <a:t>16</a:t>
            </a:r>
            <a:r>
              <a:rPr kumimoji="0" lang="zh-CN" altLang="en-US" sz="2400" b="1" i="0" u="none" strike="noStrike" kern="1200" cap="none" spc="0" normalizeH="0" baseline="0" noProof="1" dirty="0">
                <a:solidFill>
                  <a:srgbClr val="FF0000"/>
                </a:solidFill>
                <a:effectLst>
                  <a:outerShdw blurRad="38100" dist="38100" dir="2700000">
                    <a:srgbClr val="C0C0C0"/>
                  </a:outerShdw>
                </a:effectLst>
                <a:latin typeface="楷体_GB2312" pitchFamily="49" charset="-122"/>
                <a:ea typeface="楷体_GB2312" pitchFamily="49" charset="-122"/>
                <a:cs typeface="+mn-ea"/>
              </a:rPr>
              <a:t>位</a:t>
            </a:r>
            <a:r>
              <a:rPr kumimoji="0" lang="zh-CN" altLang="en-US" sz="2400" b="1" i="0" u="none" strike="noStrike" kern="1200" cap="none" spc="0" normalizeH="0" baseline="0" noProof="1" dirty="0">
                <a:solidFill>
                  <a:srgbClr val="0000FF"/>
                </a:solidFill>
                <a:effectLst>
                  <a:outerShdw blurRad="38100" dist="38100" dir="2700000">
                    <a:srgbClr val="C0C0C0"/>
                  </a:outerShdw>
                </a:effectLst>
                <a:latin typeface="楷体_GB2312" pitchFamily="49" charset="-122"/>
                <a:ea typeface="楷体_GB2312" pitchFamily="49" charset="-122"/>
                <a:cs typeface="+mn-ea"/>
              </a:rPr>
              <a:t>数据传送指令（</a:t>
            </a:r>
            <a:r>
              <a:rPr kumimoji="0" lang="en-US" altLang="zh-CN" sz="2400" b="1" i="0" u="none" strike="noStrike" kern="1200" cap="none" spc="0" normalizeH="0" baseline="0" noProof="1" dirty="0">
                <a:solidFill>
                  <a:srgbClr val="0000FF"/>
                </a:solidFill>
                <a:effectLst>
                  <a:outerShdw blurRad="38100" dist="38100" dir="2700000">
                    <a:srgbClr val="C0C0C0"/>
                  </a:outerShdw>
                </a:effectLst>
                <a:latin typeface="楷体_GB2312" pitchFamily="49" charset="-122"/>
                <a:ea typeface="楷体_GB2312" pitchFamily="49" charset="-122"/>
                <a:cs typeface="+mn-ea"/>
              </a:rPr>
              <a:t>1</a:t>
            </a:r>
            <a:r>
              <a:rPr kumimoji="0" lang="zh-CN" altLang="en-US" sz="2400" b="1" i="0" u="none" strike="noStrike" kern="1200" cap="none" spc="0" normalizeH="0" baseline="0" noProof="1" dirty="0">
                <a:solidFill>
                  <a:srgbClr val="0000FF"/>
                </a:solidFill>
                <a:effectLst>
                  <a:outerShdw blurRad="38100" dist="38100" dir="2700000">
                    <a:srgbClr val="C0C0C0"/>
                  </a:outerShdw>
                </a:effectLst>
                <a:latin typeface="楷体_GB2312" pitchFamily="49" charset="-122"/>
                <a:ea typeface="楷体_GB2312" pitchFamily="49" charset="-122"/>
                <a:cs typeface="+mn-ea"/>
              </a:rPr>
              <a:t>条）</a:t>
            </a:r>
            <a:r>
              <a:rPr kumimoji="0" lang="zh-CN" altLang="en-US" sz="2800" b="1" i="0" u="none" strike="noStrike" kern="1200" cap="none" spc="0" normalizeH="0" baseline="0" noProof="1" dirty="0">
                <a:solidFill>
                  <a:srgbClr val="000000"/>
                </a:solidFill>
                <a:latin typeface="楷体_GB2312" pitchFamily="49" charset="-122"/>
                <a:ea typeface="楷体_GB2312" pitchFamily="49" charset="-122"/>
                <a:cs typeface="+mn-ea"/>
              </a:rPr>
              <a:t> </a:t>
            </a:r>
            <a:endParaRPr kumimoji="0" lang="zh-CN" altLang="en-US" sz="2800" b="1" i="0" u="none" strike="noStrike" kern="1200" cap="none" spc="0" normalizeH="0" baseline="0" noProof="1" dirty="0">
              <a:solidFill>
                <a:srgbClr val="000000"/>
              </a:solidFill>
              <a:latin typeface="楷体_GB2312" pitchFamily="49" charset="-122"/>
              <a:ea typeface="楷体_GB2312" pitchFamily="49" charset="-122"/>
              <a:cs typeface="+mn-ea"/>
            </a:endParaRPr>
          </a:p>
        </p:txBody>
      </p:sp>
      <p:sp>
        <p:nvSpPr>
          <p:cNvPr id="51256" name="矩形 51255"/>
          <p:cNvSpPr/>
          <p:nvPr/>
        </p:nvSpPr>
        <p:spPr>
          <a:xfrm>
            <a:off x="3563938" y="2203450"/>
            <a:ext cx="3527425" cy="396875"/>
          </a:xfrm>
          <a:prstGeom prst="rect">
            <a:avLst/>
          </a:prstGeom>
          <a:noFill/>
          <a:ln w="9525">
            <a:noFill/>
          </a:ln>
        </p:spPr>
        <p:txBody>
          <a:bodyPr anchor="t" anchorCtr="0">
            <a:spAutoFit/>
          </a:bodyPr>
          <a:p>
            <a:pPr>
              <a:spcBef>
                <a:spcPct val="50000"/>
              </a:spcBef>
            </a:pPr>
            <a:r>
              <a:rPr lang="en-US" altLang="zh-CN">
                <a:solidFill>
                  <a:srgbClr val="FF9933"/>
                </a:solidFill>
                <a:latin typeface="Arial" panose="020B0604020202090204" pitchFamily="34" charset="0"/>
                <a:ea typeface="黑体" panose="02010609060101010101" pitchFamily="49" charset="-122"/>
              </a:rPr>
              <a:t>MOV   </a:t>
            </a:r>
            <a:r>
              <a:rPr lang="en-US" altLang="zh-CN">
                <a:solidFill>
                  <a:srgbClr val="6666FF"/>
                </a:solidFill>
                <a:latin typeface="Arial" panose="020B0604020202090204" pitchFamily="34" charset="0"/>
                <a:ea typeface="黑体" panose="02010609060101010101" pitchFamily="49" charset="-122"/>
              </a:rPr>
              <a:t>DPTR</a:t>
            </a:r>
            <a:r>
              <a:rPr lang="zh-CN" altLang="en-US" dirty="0">
                <a:latin typeface="Arial" panose="020B0604020202090204" pitchFamily="34" charset="0"/>
                <a:ea typeface="黑体" panose="02010609060101010101" pitchFamily="49" charset="-122"/>
              </a:rPr>
              <a:t>，</a:t>
            </a:r>
            <a:r>
              <a:rPr lang="en-US" altLang="zh-CN">
                <a:solidFill>
                  <a:srgbClr val="FF9933"/>
                </a:solidFill>
                <a:latin typeface="Arial" panose="020B0604020202090204" pitchFamily="34" charset="0"/>
                <a:ea typeface="黑体" panose="02010609060101010101" pitchFamily="49" charset="-122"/>
              </a:rPr>
              <a:t>#</a:t>
            </a:r>
            <a:r>
              <a:rPr lang="en-US" altLang="zh-CN">
                <a:latin typeface="Arial" panose="020B0604020202090204" pitchFamily="34" charset="0"/>
                <a:ea typeface="黑体" panose="02010609060101010101" pitchFamily="49" charset="-122"/>
              </a:rPr>
              <a:t>data16</a:t>
            </a:r>
            <a:endParaRPr lang="en-US" altLang="zh-CN">
              <a:latin typeface="Arial" panose="020B0604020202090204" pitchFamily="34" charset="0"/>
              <a:ea typeface="黑体" panose="02010609060101010101" pitchFamily="49" charset="-122"/>
            </a:endParaRPr>
          </a:p>
        </p:txBody>
      </p:sp>
      <p:sp>
        <p:nvSpPr>
          <p:cNvPr id="51257" name="矩形 51256"/>
          <p:cNvSpPr>
            <a:spLocks noRot="1"/>
          </p:cNvSpPr>
          <p:nvPr/>
        </p:nvSpPr>
        <p:spPr>
          <a:xfrm>
            <a:off x="935038" y="2563813"/>
            <a:ext cx="6445250" cy="758825"/>
          </a:xfrm>
          <a:prstGeom prst="rect">
            <a:avLst/>
          </a:prstGeom>
          <a:noFill/>
          <a:ln w="9525">
            <a:noFill/>
          </a:ln>
        </p:spPr>
        <p:txBody>
          <a:bodyPr anchor="ctr"/>
          <a:p>
            <a:pPr fontAlgn="base"/>
            <a:r>
              <a:rPr lang="en-US" altLang="zh-CN" sz="2800" b="1" strike="noStrike" noProof="1" dirty="0">
                <a:solidFill>
                  <a:srgbClr val="000000"/>
                </a:solidFill>
                <a:effectLst>
                  <a:outerShdw blurRad="38100" dist="38100" dir="2700000">
                    <a:srgbClr val="C0C0C0"/>
                  </a:outerShdw>
                </a:effectLst>
                <a:latin typeface="楷体_GB2312" pitchFamily="49" charset="-122"/>
                <a:ea typeface="楷体_GB2312" pitchFamily="49" charset="-122"/>
                <a:cs typeface="+mn-ea"/>
              </a:rPr>
              <a:t> </a:t>
            </a:r>
            <a:r>
              <a:rPr lang="en-US" altLang="zh-CN" sz="2800" b="1" strike="noStrike" noProof="1">
                <a:solidFill>
                  <a:srgbClr val="000000"/>
                </a:solidFill>
                <a:effectLst>
                  <a:outerShdw blurRad="38100" dist="38100" dir="2700000">
                    <a:srgbClr val="C0C0C0"/>
                  </a:outerShdw>
                </a:effectLst>
                <a:latin typeface="楷体_GB2312" pitchFamily="49" charset="-122"/>
                <a:ea typeface="楷体_GB2312" pitchFamily="49" charset="-122"/>
                <a:cs typeface="+mn-ea"/>
              </a:rPr>
              <a:t>——</a:t>
            </a:r>
            <a:r>
              <a:rPr lang="zh-CN" altLang="en-US" sz="2400" b="1" strike="noStrike" noProof="1" dirty="0">
                <a:solidFill>
                  <a:srgbClr val="FF0000"/>
                </a:solidFill>
                <a:effectLst>
                  <a:outerShdw blurRad="38100" dist="38100" dir="2700000">
                    <a:srgbClr val="C0C0C0"/>
                  </a:outerShdw>
                </a:effectLst>
                <a:latin typeface="楷体_GB2312" pitchFamily="49" charset="-122"/>
                <a:ea typeface="楷体_GB2312" pitchFamily="49" charset="-122"/>
                <a:cs typeface="+mn-ea"/>
              </a:rPr>
              <a:t>外部</a:t>
            </a:r>
            <a:r>
              <a:rPr lang="zh-CN" altLang="en-US" sz="2400" b="1" strike="noStrike" noProof="1" dirty="0">
                <a:solidFill>
                  <a:srgbClr val="0000FF"/>
                </a:solidFill>
                <a:effectLst>
                  <a:outerShdw blurRad="38100" dist="38100" dir="2700000">
                    <a:srgbClr val="C0C0C0"/>
                  </a:outerShdw>
                </a:effectLst>
                <a:latin typeface="楷体_GB2312" pitchFamily="49" charset="-122"/>
                <a:ea typeface="楷体_GB2312" pitchFamily="49" charset="-122"/>
                <a:cs typeface="+mn-ea"/>
              </a:rPr>
              <a:t>数据传送指令</a:t>
            </a:r>
            <a:r>
              <a:rPr lang="en-US" altLang="zh-CN" sz="2400" b="1" strike="noStrike" noProof="1" dirty="0">
                <a:solidFill>
                  <a:srgbClr val="0000FF"/>
                </a:solidFill>
                <a:effectLst>
                  <a:outerShdw blurRad="38100" dist="38100" dir="2700000">
                    <a:srgbClr val="C0C0C0"/>
                  </a:outerShdw>
                </a:effectLst>
                <a:latin typeface="楷体_GB2312" pitchFamily="49" charset="-122"/>
                <a:ea typeface="楷体_GB2312" pitchFamily="49" charset="-122"/>
                <a:cs typeface="+mn-ea"/>
              </a:rPr>
              <a:t>(4</a:t>
            </a:r>
            <a:r>
              <a:rPr lang="zh-CN" altLang="en-US" sz="2400" b="1" strike="noStrike" noProof="1" dirty="0">
                <a:solidFill>
                  <a:srgbClr val="0000FF"/>
                </a:solidFill>
                <a:effectLst>
                  <a:outerShdw blurRad="38100" dist="38100" dir="2700000">
                    <a:srgbClr val="C0C0C0"/>
                  </a:outerShdw>
                </a:effectLst>
                <a:latin typeface="楷体_GB2312" pitchFamily="49" charset="-122"/>
                <a:ea typeface="楷体_GB2312" pitchFamily="49" charset="-122"/>
                <a:cs typeface="+mn-ea"/>
              </a:rPr>
              <a:t>条</a:t>
            </a:r>
            <a:r>
              <a:rPr lang="en-US" altLang="zh-CN" sz="2400" b="1" strike="noStrike" noProof="1">
                <a:solidFill>
                  <a:srgbClr val="0000FF"/>
                </a:solidFill>
                <a:effectLst>
                  <a:outerShdw blurRad="38100" dist="38100" dir="2700000">
                    <a:srgbClr val="C0C0C0"/>
                  </a:outerShdw>
                </a:effectLst>
                <a:latin typeface="楷体_GB2312" pitchFamily="49" charset="-122"/>
                <a:ea typeface="楷体_GB2312" pitchFamily="49" charset="-122"/>
                <a:cs typeface="+mn-ea"/>
              </a:rPr>
              <a:t>)</a:t>
            </a:r>
            <a:r>
              <a:rPr lang="en-US" altLang="zh-CN" sz="2800" strike="noStrike" noProof="1">
                <a:solidFill>
                  <a:srgbClr val="000000"/>
                </a:solidFill>
                <a:latin typeface="楷体_GB2312" pitchFamily="49" charset="-122"/>
                <a:ea typeface="楷体_GB2312" pitchFamily="49" charset="-122"/>
                <a:cs typeface="+mn-ea"/>
              </a:rPr>
              <a:t> </a:t>
            </a:r>
            <a:endParaRPr lang="en-US" altLang="zh-CN" sz="2800" strike="noStrike" noProof="1">
              <a:solidFill>
                <a:srgbClr val="000000"/>
              </a:solidFill>
              <a:latin typeface="楷体_GB2312" pitchFamily="49" charset="-122"/>
              <a:ea typeface="楷体_GB2312" pitchFamily="49" charset="-122"/>
            </a:endParaRPr>
          </a:p>
        </p:txBody>
      </p:sp>
      <p:sp>
        <p:nvSpPr>
          <p:cNvPr id="51258" name="矩形 51257"/>
          <p:cNvSpPr/>
          <p:nvPr/>
        </p:nvSpPr>
        <p:spPr>
          <a:xfrm>
            <a:off x="1979613" y="3460750"/>
            <a:ext cx="4105275" cy="366713"/>
          </a:xfrm>
          <a:prstGeom prst="rect">
            <a:avLst/>
          </a:prstGeom>
          <a:noFill/>
          <a:ln w="9525">
            <a:noFill/>
          </a:ln>
        </p:spPr>
        <p:txBody>
          <a:bodyPr anchor="t" anchorCtr="0">
            <a:spAutoFit/>
          </a:bodyPr>
          <a:p>
            <a:pPr>
              <a:spcBef>
                <a:spcPct val="50000"/>
              </a:spcBef>
            </a:pPr>
            <a:r>
              <a:rPr lang="en-US" altLang="zh-CN" sz="1800">
                <a:solidFill>
                  <a:srgbClr val="3333CC"/>
                </a:solidFill>
                <a:latin typeface="Arial" panose="020B0604020202090204" pitchFamily="34" charset="0"/>
                <a:ea typeface="黑体" panose="02010609060101010101" pitchFamily="49" charset="-122"/>
              </a:rPr>
              <a:t>MOVX  </a:t>
            </a:r>
            <a:r>
              <a:rPr lang="en-US" altLang="zh-CN" sz="1800">
                <a:solidFill>
                  <a:srgbClr val="3333CC"/>
                </a:solidFill>
                <a:latin typeface="黑体" panose="02010609060101010101" pitchFamily="49" charset="-122"/>
                <a:ea typeface="黑体" panose="02010609060101010101" pitchFamily="49" charset="-122"/>
              </a:rPr>
              <a:t>  &lt;</a:t>
            </a:r>
            <a:r>
              <a:rPr lang="zh-CN" altLang="en-US" sz="1800" dirty="0">
                <a:solidFill>
                  <a:srgbClr val="3333CC"/>
                </a:solidFill>
                <a:latin typeface="黑体" panose="02010609060101010101" pitchFamily="49" charset="-122"/>
                <a:ea typeface="黑体" panose="02010609060101010101" pitchFamily="49" charset="-122"/>
              </a:rPr>
              <a:t>目的操作数</a:t>
            </a:r>
            <a:r>
              <a:rPr lang="en-US" altLang="zh-CN" sz="1800">
                <a:solidFill>
                  <a:srgbClr val="3333CC"/>
                </a:solidFill>
                <a:latin typeface="黑体" panose="02010609060101010101" pitchFamily="49" charset="-122"/>
                <a:ea typeface="黑体" panose="02010609060101010101" pitchFamily="49" charset="-122"/>
              </a:rPr>
              <a:t>&gt;,&lt;</a:t>
            </a:r>
            <a:r>
              <a:rPr lang="zh-CN" altLang="en-US" sz="1800" dirty="0">
                <a:solidFill>
                  <a:srgbClr val="3333CC"/>
                </a:solidFill>
                <a:latin typeface="黑体" panose="02010609060101010101" pitchFamily="49" charset="-122"/>
                <a:ea typeface="黑体" panose="02010609060101010101" pitchFamily="49" charset="-122"/>
              </a:rPr>
              <a:t>源操作数</a:t>
            </a:r>
            <a:r>
              <a:rPr lang="en-US" altLang="zh-CN" sz="1800">
                <a:solidFill>
                  <a:srgbClr val="3333CC"/>
                </a:solidFill>
                <a:latin typeface="黑体" panose="02010609060101010101" pitchFamily="49" charset="-122"/>
                <a:ea typeface="黑体" panose="02010609060101010101" pitchFamily="49" charset="-122"/>
              </a:rPr>
              <a:t>&gt;</a:t>
            </a:r>
            <a:endParaRPr lang="en-US" altLang="zh-CN" sz="1800">
              <a:solidFill>
                <a:srgbClr val="3333CC"/>
              </a:solidFill>
              <a:latin typeface="黑体" panose="02010609060101010101" pitchFamily="49" charset="-122"/>
              <a:ea typeface="黑体" panose="02010609060101010101" pitchFamily="49" charset="-122"/>
            </a:endParaRPr>
          </a:p>
        </p:txBody>
      </p:sp>
      <p:sp>
        <p:nvSpPr>
          <p:cNvPr id="51259" name="文本框 51258"/>
          <p:cNvSpPr txBox="1"/>
          <p:nvPr/>
        </p:nvSpPr>
        <p:spPr>
          <a:xfrm>
            <a:off x="4243388" y="5024438"/>
            <a:ext cx="412750" cy="366713"/>
          </a:xfrm>
          <a:prstGeom prst="rect">
            <a:avLst/>
          </a:prstGeom>
          <a:noFill/>
          <a:ln w="9525">
            <a:noFill/>
          </a:ln>
        </p:spPr>
        <p:txBody>
          <a:bodyPr wrap="none" anchor="t">
            <a:spAutoFit/>
          </a:bodyPr>
          <a:p>
            <a:pPr>
              <a:buClrTx/>
            </a:pPr>
            <a:r>
              <a:rPr lang="zh-CN" altLang="en-US" sz="1800" noProof="1" dirty="0">
                <a:solidFill>
                  <a:srgbClr val="3333CC"/>
                </a:solidFill>
                <a:effectLst>
                  <a:outerShdw blurRad="38100" dist="38100" dir="2700000">
                    <a:srgbClr val="000000"/>
                  </a:outerShdw>
                </a:effectLst>
                <a:latin typeface="Arial" panose="020B0604020202090204" pitchFamily="34" charset="0"/>
                <a:ea typeface="黑体" panose="02010609060101010101" pitchFamily="49" charset="-122"/>
                <a:cs typeface="宋体" pitchFamily="2" charset="-122"/>
              </a:rPr>
              <a:t>，</a:t>
            </a:r>
            <a:endParaRPr lang="zh-CN" altLang="en-US" sz="1800" noProof="1" dirty="0">
              <a:solidFill>
                <a:srgbClr val="3333CC"/>
              </a:solidFill>
              <a:effectLst>
                <a:outerShdw blurRad="38100" dist="38100" dir="2700000">
                  <a:srgbClr val="000000"/>
                </a:outerShdw>
              </a:effectLst>
              <a:latin typeface="Arial" panose="020B0604020202090204" pitchFamily="34" charset="0"/>
              <a:ea typeface="黑体" panose="02010609060101010101" pitchFamily="49" charset="-122"/>
            </a:endParaRPr>
          </a:p>
        </p:txBody>
      </p:sp>
      <p:grpSp>
        <p:nvGrpSpPr>
          <p:cNvPr id="51330" name="组合 51329"/>
          <p:cNvGrpSpPr/>
          <p:nvPr/>
        </p:nvGrpSpPr>
        <p:grpSpPr>
          <a:xfrm>
            <a:off x="3203575" y="4435475"/>
            <a:ext cx="1028700" cy="1655763"/>
            <a:chOff x="2018" y="2523"/>
            <a:chExt cx="648" cy="1043"/>
          </a:xfrm>
        </p:grpSpPr>
        <p:sp>
          <p:nvSpPr>
            <p:cNvPr id="51262" name="文本框 51261"/>
            <p:cNvSpPr txBox="1"/>
            <p:nvPr/>
          </p:nvSpPr>
          <p:spPr>
            <a:xfrm>
              <a:off x="2018" y="2609"/>
              <a:ext cx="220" cy="231"/>
            </a:xfrm>
            <a:prstGeom prst="rect">
              <a:avLst/>
            </a:prstGeom>
            <a:noFill/>
            <a:ln w="9525">
              <a:noFill/>
            </a:ln>
          </p:spPr>
          <p:txBody>
            <a:bodyPr wrap="none" anchor="t">
              <a:spAutoFit/>
            </a:bodyPr>
            <a:p>
              <a:pPr>
                <a:buClrTx/>
              </a:pPr>
              <a:r>
                <a:rPr lang="en-US" altLang="zh-CN" sz="1800" noProof="1">
                  <a:solidFill>
                    <a:srgbClr val="3333CC"/>
                  </a:solidFill>
                  <a:effectLst>
                    <a:outerShdw blurRad="38100" dist="38100" dir="2700000">
                      <a:srgbClr val="FFFFFF"/>
                    </a:outerShdw>
                  </a:effectLst>
                  <a:latin typeface="Arial" panose="020B0604020202090204" pitchFamily="34" charset="0"/>
                  <a:ea typeface="MingLiU" pitchFamily="49" charset="-120"/>
                  <a:cs typeface="宋体" pitchFamily="2" charset="-122"/>
                </a:rPr>
                <a:t>A</a:t>
              </a:r>
              <a:endParaRPr lang="en-US" altLang="zh-CN" sz="1800" noProof="1">
                <a:solidFill>
                  <a:srgbClr val="3333CC"/>
                </a:solidFill>
                <a:effectLst>
                  <a:outerShdw blurRad="38100" dist="38100" dir="2700000">
                    <a:srgbClr val="FFFFFF"/>
                  </a:outerShdw>
                </a:effectLst>
                <a:latin typeface="Arial" panose="020B0604020202090204" pitchFamily="34" charset="0"/>
                <a:ea typeface="MingLiU" pitchFamily="49" charset="-120"/>
              </a:endParaRPr>
            </a:p>
          </p:txBody>
        </p:sp>
        <p:sp>
          <p:nvSpPr>
            <p:cNvPr id="51264" name="文本框 51263"/>
            <p:cNvSpPr txBox="1"/>
            <p:nvPr/>
          </p:nvSpPr>
          <p:spPr>
            <a:xfrm>
              <a:off x="2018" y="2919"/>
              <a:ext cx="648" cy="231"/>
            </a:xfrm>
            <a:prstGeom prst="rect">
              <a:avLst/>
            </a:prstGeom>
            <a:noFill/>
            <a:ln w="9525">
              <a:noFill/>
            </a:ln>
          </p:spPr>
          <p:txBody>
            <a:bodyPr wrap="none" anchor="t">
              <a:spAutoFit/>
            </a:bodyPr>
            <a:p>
              <a:pPr>
                <a:buClrTx/>
              </a:pPr>
              <a:r>
                <a:rPr lang="en-US" altLang="zh-CN" sz="1800" noProof="1">
                  <a:solidFill>
                    <a:srgbClr val="3333CC"/>
                  </a:solidFill>
                  <a:effectLst>
                    <a:outerShdw blurRad="38100" dist="38100" dir="2700000">
                      <a:srgbClr val="FFFFFF"/>
                    </a:outerShdw>
                  </a:effectLst>
                  <a:latin typeface="Arial" panose="020B0604020202090204" pitchFamily="34" charset="0"/>
                  <a:ea typeface="MingLiU" pitchFamily="49" charset="-120"/>
                  <a:cs typeface="宋体" pitchFamily="2" charset="-122"/>
                </a:rPr>
                <a:t>@DPTR</a:t>
              </a:r>
              <a:endParaRPr lang="en-US" altLang="zh-CN" sz="1800" noProof="1">
                <a:solidFill>
                  <a:srgbClr val="3333CC"/>
                </a:solidFill>
                <a:effectLst>
                  <a:outerShdw blurRad="38100" dist="38100" dir="2700000">
                    <a:srgbClr val="FFFFFF"/>
                  </a:outerShdw>
                </a:effectLst>
                <a:latin typeface="Arial" panose="020B0604020202090204" pitchFamily="34" charset="0"/>
                <a:ea typeface="MingLiU" pitchFamily="49" charset="-120"/>
              </a:endParaRPr>
            </a:p>
          </p:txBody>
        </p:sp>
        <p:sp>
          <p:nvSpPr>
            <p:cNvPr id="51265" name="文本框 51264"/>
            <p:cNvSpPr txBox="1"/>
            <p:nvPr/>
          </p:nvSpPr>
          <p:spPr>
            <a:xfrm>
              <a:off x="2018" y="3249"/>
              <a:ext cx="400" cy="231"/>
            </a:xfrm>
            <a:prstGeom prst="rect">
              <a:avLst/>
            </a:prstGeom>
            <a:noFill/>
            <a:ln w="9525">
              <a:noFill/>
            </a:ln>
          </p:spPr>
          <p:txBody>
            <a:bodyPr wrap="none" anchor="t">
              <a:spAutoFit/>
            </a:bodyPr>
            <a:p>
              <a:pPr>
                <a:buClrTx/>
              </a:pPr>
              <a:r>
                <a:rPr lang="en-US" altLang="zh-CN" sz="1800" noProof="1" err="1">
                  <a:solidFill>
                    <a:srgbClr val="3333CC"/>
                  </a:solidFill>
                  <a:effectLst>
                    <a:outerShdw blurRad="38100" dist="38100" dir="2700000">
                      <a:srgbClr val="FFFFFF"/>
                    </a:outerShdw>
                  </a:effectLst>
                  <a:latin typeface="Arial" panose="020B0604020202090204" pitchFamily="34" charset="0"/>
                  <a:ea typeface="MingLiU" pitchFamily="49" charset="-120"/>
                  <a:cs typeface="宋体" pitchFamily="2" charset="-122"/>
                </a:rPr>
                <a:t>@Ri</a:t>
              </a:r>
              <a:endParaRPr lang="en-US" altLang="zh-CN" sz="1800" noProof="1" err="1">
                <a:solidFill>
                  <a:srgbClr val="3333CC"/>
                </a:solidFill>
                <a:effectLst>
                  <a:outerShdw blurRad="38100" dist="38100" dir="2700000">
                    <a:srgbClr val="FFFFFF"/>
                  </a:outerShdw>
                </a:effectLst>
                <a:latin typeface="Arial" panose="020B0604020202090204" pitchFamily="34" charset="0"/>
                <a:ea typeface="MingLiU" pitchFamily="49" charset="-120"/>
              </a:endParaRPr>
            </a:p>
          </p:txBody>
        </p:sp>
        <p:sp>
          <p:nvSpPr>
            <p:cNvPr id="97291" name="双括号 51265"/>
            <p:cNvSpPr/>
            <p:nvPr/>
          </p:nvSpPr>
          <p:spPr>
            <a:xfrm>
              <a:off x="2019" y="2523"/>
              <a:ext cx="635" cy="1043"/>
            </a:xfrm>
            <a:prstGeom prst="bracketPair">
              <a:avLst>
                <a:gd name="adj" fmla="val 16667"/>
              </a:avLst>
            </a:prstGeom>
            <a:noFill/>
            <a:ln w="9525" cap="flat" cmpd="sng">
              <a:solidFill>
                <a:srgbClr val="000000"/>
              </a:solidFill>
              <a:prstDash val="solid"/>
              <a:miter/>
              <a:headEnd type="none" w="med" len="med"/>
              <a:tailEnd type="none" w="med" len="med"/>
            </a:ln>
          </p:spPr>
          <p:txBody>
            <a:bodyPr anchor="t" anchorCtr="0"/>
            <a:p>
              <a:endParaRPr lang="zh-CN" altLang="en-US">
                <a:solidFill>
                  <a:srgbClr val="3333CC"/>
                </a:solidFill>
                <a:latin typeface="Times New Roman" panose="02020503050405090304" pitchFamily="18" charset="0"/>
                <a:ea typeface="宋体" pitchFamily="2" charset="-122"/>
              </a:endParaRPr>
            </a:p>
          </p:txBody>
        </p:sp>
      </p:grpSp>
      <p:sp>
        <p:nvSpPr>
          <p:cNvPr id="51289" name="矩形 51288"/>
          <p:cNvSpPr/>
          <p:nvPr/>
        </p:nvSpPr>
        <p:spPr>
          <a:xfrm>
            <a:off x="1835150" y="5076825"/>
            <a:ext cx="1008063" cy="366713"/>
          </a:xfrm>
          <a:prstGeom prst="rect">
            <a:avLst/>
          </a:prstGeom>
          <a:noFill/>
          <a:ln w="9525">
            <a:noFill/>
          </a:ln>
        </p:spPr>
        <p:txBody>
          <a:bodyPr>
            <a:spAutoFit/>
          </a:bodyPr>
          <a:p>
            <a:pPr lvl="0" fontAlgn="base">
              <a:buClrTx/>
            </a:pPr>
            <a:r>
              <a:rPr lang="en-US" altLang="zh-CN" sz="1800" b="1" strike="noStrike" noProof="1">
                <a:solidFill>
                  <a:srgbClr val="3333CC"/>
                </a:solidFill>
                <a:effectLst>
                  <a:outerShdw blurRad="38100" dist="38100" dir="2700000">
                    <a:srgbClr val="000000"/>
                  </a:outerShdw>
                </a:effectLst>
                <a:latin typeface="Arial" panose="020B0604020202090204" pitchFamily="34" charset="0"/>
                <a:ea typeface="宋体" pitchFamily="2" charset="-122"/>
                <a:cs typeface="宋体" pitchFamily="2" charset="-122"/>
              </a:rPr>
              <a:t>MOVX</a:t>
            </a:r>
            <a:endParaRPr lang="en-US" altLang="zh-CN" sz="1800" b="1" strike="noStrike" noProof="1">
              <a:solidFill>
                <a:srgbClr val="3333CC"/>
              </a:solidFill>
              <a:effectLst>
                <a:outerShdw blurRad="38100" dist="38100" dir="2700000">
                  <a:srgbClr val="000000"/>
                </a:outerShdw>
              </a:effectLst>
              <a:latin typeface="Arial" panose="020B0604020202090204" pitchFamily="34" charset="0"/>
              <a:ea typeface="宋体" pitchFamily="2" charset="-122"/>
            </a:endParaRPr>
          </a:p>
        </p:txBody>
      </p:sp>
      <p:grpSp>
        <p:nvGrpSpPr>
          <p:cNvPr id="51331" name="组合 51330"/>
          <p:cNvGrpSpPr/>
          <p:nvPr/>
        </p:nvGrpSpPr>
        <p:grpSpPr>
          <a:xfrm>
            <a:off x="4643438" y="4435475"/>
            <a:ext cx="1028700" cy="1655763"/>
            <a:chOff x="2018" y="2523"/>
            <a:chExt cx="648" cy="1043"/>
          </a:xfrm>
        </p:grpSpPr>
        <p:sp>
          <p:nvSpPr>
            <p:cNvPr id="51332" name="文本框 51331"/>
            <p:cNvSpPr txBox="1"/>
            <p:nvPr/>
          </p:nvSpPr>
          <p:spPr>
            <a:xfrm>
              <a:off x="2018" y="2609"/>
              <a:ext cx="220" cy="231"/>
            </a:xfrm>
            <a:prstGeom prst="rect">
              <a:avLst/>
            </a:prstGeom>
            <a:noFill/>
            <a:ln w="9525">
              <a:noFill/>
            </a:ln>
          </p:spPr>
          <p:txBody>
            <a:bodyPr wrap="none" anchor="t">
              <a:spAutoFit/>
            </a:bodyPr>
            <a:p>
              <a:pPr>
                <a:buClrTx/>
              </a:pPr>
              <a:r>
                <a:rPr lang="en-US" altLang="zh-CN" sz="1800" noProof="1">
                  <a:solidFill>
                    <a:srgbClr val="3333CC"/>
                  </a:solidFill>
                  <a:effectLst>
                    <a:outerShdw blurRad="38100" dist="38100" dir="2700000">
                      <a:srgbClr val="FFFFFF"/>
                    </a:outerShdw>
                  </a:effectLst>
                  <a:latin typeface="Arial" panose="020B0604020202090204" pitchFamily="34" charset="0"/>
                  <a:ea typeface="MingLiU" pitchFamily="49" charset="-120"/>
                  <a:cs typeface="宋体" pitchFamily="2" charset="-122"/>
                </a:rPr>
                <a:t>A</a:t>
              </a:r>
              <a:endParaRPr lang="en-US" altLang="zh-CN" sz="1800" noProof="1">
                <a:solidFill>
                  <a:srgbClr val="3333CC"/>
                </a:solidFill>
                <a:effectLst>
                  <a:outerShdw blurRad="38100" dist="38100" dir="2700000">
                    <a:srgbClr val="FFFFFF"/>
                  </a:outerShdw>
                </a:effectLst>
                <a:latin typeface="Arial" panose="020B0604020202090204" pitchFamily="34" charset="0"/>
                <a:ea typeface="MingLiU" pitchFamily="49" charset="-120"/>
              </a:endParaRPr>
            </a:p>
          </p:txBody>
        </p:sp>
        <p:sp>
          <p:nvSpPr>
            <p:cNvPr id="51333" name="文本框 51332"/>
            <p:cNvSpPr txBox="1"/>
            <p:nvPr/>
          </p:nvSpPr>
          <p:spPr>
            <a:xfrm>
              <a:off x="2018" y="2919"/>
              <a:ext cx="648" cy="231"/>
            </a:xfrm>
            <a:prstGeom prst="rect">
              <a:avLst/>
            </a:prstGeom>
            <a:noFill/>
            <a:ln w="9525">
              <a:noFill/>
            </a:ln>
          </p:spPr>
          <p:txBody>
            <a:bodyPr wrap="none" anchor="t">
              <a:spAutoFit/>
            </a:bodyPr>
            <a:p>
              <a:pPr>
                <a:buClrTx/>
              </a:pPr>
              <a:r>
                <a:rPr lang="en-US" altLang="zh-CN" sz="1800" noProof="1">
                  <a:solidFill>
                    <a:srgbClr val="3333CC"/>
                  </a:solidFill>
                  <a:effectLst>
                    <a:outerShdw blurRad="38100" dist="38100" dir="2700000">
                      <a:srgbClr val="FFFFFF"/>
                    </a:outerShdw>
                  </a:effectLst>
                  <a:latin typeface="Arial" panose="020B0604020202090204" pitchFamily="34" charset="0"/>
                  <a:ea typeface="MingLiU" pitchFamily="49" charset="-120"/>
                  <a:cs typeface="宋体" pitchFamily="2" charset="-122"/>
                </a:rPr>
                <a:t>@DPTR</a:t>
              </a:r>
              <a:endParaRPr lang="en-US" altLang="zh-CN" sz="1800" noProof="1">
                <a:solidFill>
                  <a:srgbClr val="3333CC"/>
                </a:solidFill>
                <a:effectLst>
                  <a:outerShdw blurRad="38100" dist="38100" dir="2700000">
                    <a:srgbClr val="FFFFFF"/>
                  </a:outerShdw>
                </a:effectLst>
                <a:latin typeface="Arial" panose="020B0604020202090204" pitchFamily="34" charset="0"/>
                <a:ea typeface="MingLiU" pitchFamily="49" charset="-120"/>
              </a:endParaRPr>
            </a:p>
          </p:txBody>
        </p:sp>
        <p:sp>
          <p:nvSpPr>
            <p:cNvPr id="51334" name="文本框 51333"/>
            <p:cNvSpPr txBox="1"/>
            <p:nvPr/>
          </p:nvSpPr>
          <p:spPr>
            <a:xfrm>
              <a:off x="2018" y="3249"/>
              <a:ext cx="400" cy="231"/>
            </a:xfrm>
            <a:prstGeom prst="rect">
              <a:avLst/>
            </a:prstGeom>
            <a:noFill/>
            <a:ln w="9525">
              <a:noFill/>
            </a:ln>
          </p:spPr>
          <p:txBody>
            <a:bodyPr wrap="none" anchor="t">
              <a:spAutoFit/>
            </a:bodyPr>
            <a:p>
              <a:pPr>
                <a:buClrTx/>
              </a:pPr>
              <a:r>
                <a:rPr lang="en-US" altLang="zh-CN" sz="1800" noProof="1" err="1">
                  <a:solidFill>
                    <a:srgbClr val="3333CC"/>
                  </a:solidFill>
                  <a:effectLst>
                    <a:outerShdw blurRad="38100" dist="38100" dir="2700000">
                      <a:srgbClr val="FFFFFF"/>
                    </a:outerShdw>
                  </a:effectLst>
                  <a:latin typeface="Arial" panose="020B0604020202090204" pitchFamily="34" charset="0"/>
                  <a:ea typeface="MingLiU" pitchFamily="49" charset="-120"/>
                  <a:cs typeface="宋体" pitchFamily="2" charset="-122"/>
                </a:rPr>
                <a:t>@Ri</a:t>
              </a:r>
              <a:endParaRPr lang="en-US" altLang="zh-CN" sz="1800" noProof="1" err="1">
                <a:solidFill>
                  <a:srgbClr val="3333CC"/>
                </a:solidFill>
                <a:effectLst>
                  <a:outerShdw blurRad="38100" dist="38100" dir="2700000">
                    <a:srgbClr val="FFFFFF"/>
                  </a:outerShdw>
                </a:effectLst>
                <a:latin typeface="Arial" panose="020B0604020202090204" pitchFamily="34" charset="0"/>
                <a:ea typeface="MingLiU" pitchFamily="49" charset="-120"/>
              </a:endParaRPr>
            </a:p>
          </p:txBody>
        </p:sp>
        <p:sp>
          <p:nvSpPr>
            <p:cNvPr id="97297" name="双括号 51334"/>
            <p:cNvSpPr/>
            <p:nvPr/>
          </p:nvSpPr>
          <p:spPr>
            <a:xfrm>
              <a:off x="2019" y="2523"/>
              <a:ext cx="635" cy="1043"/>
            </a:xfrm>
            <a:prstGeom prst="bracketPair">
              <a:avLst>
                <a:gd name="adj" fmla="val 16667"/>
              </a:avLst>
            </a:prstGeom>
            <a:noFill/>
            <a:ln w="9525" cap="flat" cmpd="sng">
              <a:solidFill>
                <a:srgbClr val="000000"/>
              </a:solidFill>
              <a:prstDash val="solid"/>
              <a:miter/>
              <a:headEnd type="none" w="med" len="med"/>
              <a:tailEnd type="none" w="med" len="med"/>
            </a:ln>
          </p:spPr>
          <p:txBody>
            <a:bodyPr anchor="t" anchorCtr="0"/>
            <a:p>
              <a:endParaRPr lang="zh-CN" altLang="en-US">
                <a:solidFill>
                  <a:srgbClr val="3333CC"/>
                </a:solidFill>
                <a:latin typeface="Times New Roman" panose="02020503050405090304" pitchFamily="18" charset="0"/>
                <a:ea typeface="宋体" pitchFamily="2" charset="-122"/>
              </a:endParaRPr>
            </a:p>
          </p:txBody>
        </p:sp>
      </p:grpSp>
      <p:grpSp>
        <p:nvGrpSpPr>
          <p:cNvPr id="51339" name="组合 51338"/>
          <p:cNvGrpSpPr/>
          <p:nvPr/>
        </p:nvGrpSpPr>
        <p:grpSpPr>
          <a:xfrm>
            <a:off x="2700338" y="4572000"/>
            <a:ext cx="2971800" cy="857250"/>
            <a:chOff x="1701" y="2609"/>
            <a:chExt cx="1872" cy="540"/>
          </a:xfrm>
        </p:grpSpPr>
        <p:sp>
          <p:nvSpPr>
            <p:cNvPr id="97299" name="直接连接符 51275"/>
            <p:cNvSpPr/>
            <p:nvPr/>
          </p:nvSpPr>
          <p:spPr>
            <a:xfrm flipV="1">
              <a:off x="1701" y="2704"/>
              <a:ext cx="363" cy="318"/>
            </a:xfrm>
            <a:prstGeom prst="line">
              <a:avLst/>
            </a:prstGeom>
            <a:ln w="9525">
              <a:noFill/>
            </a:ln>
          </p:spPr>
        </p:sp>
        <p:sp>
          <p:nvSpPr>
            <p:cNvPr id="97300" name="直接连接符 51276"/>
            <p:cNvSpPr/>
            <p:nvPr/>
          </p:nvSpPr>
          <p:spPr>
            <a:xfrm>
              <a:off x="2336" y="2704"/>
              <a:ext cx="635" cy="317"/>
            </a:xfrm>
            <a:prstGeom prst="line">
              <a:avLst/>
            </a:prstGeom>
            <a:ln w="9525" cap="flat" cmpd="sng">
              <a:solidFill>
                <a:srgbClr val="FF3300"/>
              </a:solidFill>
              <a:prstDash val="solid"/>
              <a:miter/>
              <a:headEnd type="triangle" w="med" len="lg"/>
              <a:tailEnd type="none" w="med" len="med"/>
            </a:ln>
          </p:spPr>
        </p:sp>
        <p:sp>
          <p:nvSpPr>
            <p:cNvPr id="51336" name="矩形 51335"/>
            <p:cNvSpPr/>
            <p:nvPr/>
          </p:nvSpPr>
          <p:spPr>
            <a:xfrm>
              <a:off x="2925" y="2918"/>
              <a:ext cx="648" cy="231"/>
            </a:xfrm>
            <a:prstGeom prst="rect">
              <a:avLst/>
            </a:prstGeom>
            <a:noFill/>
            <a:ln w="9525">
              <a:noFill/>
            </a:ln>
          </p:spPr>
          <p:txBody>
            <a:bodyPr wrap="none" anchor="t">
              <a:spAutoFit/>
            </a:bodyPr>
            <a:p>
              <a:pPr lvl="0" fontAlgn="base">
                <a:buClrTx/>
              </a:pPr>
              <a:r>
                <a:rPr lang="en-US" altLang="zh-CN" sz="1800" b="1" strike="noStrike" noProof="1">
                  <a:solidFill>
                    <a:srgbClr val="3333CC"/>
                  </a:solidFill>
                  <a:effectLst>
                    <a:outerShdw blurRad="38100" dist="38100" dir="2700000">
                      <a:srgbClr val="000000"/>
                    </a:outerShdw>
                  </a:effectLst>
                  <a:latin typeface="Arial" panose="020B0604020202090204" pitchFamily="34" charset="0"/>
                  <a:ea typeface="宋体" pitchFamily="2" charset="-122"/>
                  <a:cs typeface="宋体" pitchFamily="2" charset="-122"/>
                </a:rPr>
                <a:t>@DPTR</a:t>
              </a:r>
              <a:endParaRPr lang="en-US" altLang="zh-CN" sz="1800" b="1" strike="noStrike" noProof="1">
                <a:solidFill>
                  <a:srgbClr val="3333CC"/>
                </a:solidFill>
                <a:effectLst>
                  <a:outerShdw blurRad="38100" dist="38100" dir="2700000">
                    <a:srgbClr val="000000"/>
                  </a:outerShdw>
                </a:effectLst>
                <a:latin typeface="Arial" panose="020B0604020202090204" pitchFamily="34" charset="0"/>
                <a:ea typeface="宋体" pitchFamily="2" charset="-122"/>
              </a:endParaRPr>
            </a:p>
          </p:txBody>
        </p:sp>
        <p:sp>
          <p:nvSpPr>
            <p:cNvPr id="51338" name="文本框 51337"/>
            <p:cNvSpPr txBox="1"/>
            <p:nvPr/>
          </p:nvSpPr>
          <p:spPr>
            <a:xfrm>
              <a:off x="2018" y="2609"/>
              <a:ext cx="220" cy="231"/>
            </a:xfrm>
            <a:prstGeom prst="rect">
              <a:avLst/>
            </a:prstGeom>
            <a:noFill/>
            <a:ln w="9525">
              <a:noFill/>
            </a:ln>
          </p:spPr>
          <p:txBody>
            <a:bodyPr wrap="none" anchor="t">
              <a:spAutoFit/>
            </a:bodyPr>
            <a:p>
              <a:pPr>
                <a:buClrTx/>
              </a:pPr>
              <a:r>
                <a:rPr lang="en-US" altLang="zh-CN" sz="1800" noProof="1">
                  <a:solidFill>
                    <a:srgbClr val="3333CC"/>
                  </a:solidFill>
                  <a:effectLst>
                    <a:outerShdw blurRad="38100" dist="38100" dir="2700000">
                      <a:srgbClr val="000000"/>
                    </a:outerShdw>
                  </a:effectLst>
                  <a:latin typeface="Arial" panose="020B0604020202090204" pitchFamily="34" charset="0"/>
                  <a:ea typeface="宋体" pitchFamily="2" charset="-122"/>
                  <a:cs typeface="宋体" pitchFamily="2" charset="-122"/>
                </a:rPr>
                <a:t>A</a:t>
              </a:r>
              <a:endParaRPr lang="en-US" altLang="zh-CN" sz="1800" noProof="1">
                <a:solidFill>
                  <a:srgbClr val="3333CC"/>
                </a:solidFill>
                <a:effectLst>
                  <a:outerShdw blurRad="38100" dist="38100" dir="2700000">
                    <a:srgbClr val="000000"/>
                  </a:outerShdw>
                </a:effectLst>
                <a:latin typeface="Arial" panose="020B0604020202090204" pitchFamily="34" charset="0"/>
                <a:ea typeface="宋体" pitchFamily="2" charset="-122"/>
              </a:endParaRPr>
            </a:p>
          </p:txBody>
        </p:sp>
      </p:grpSp>
      <p:grpSp>
        <p:nvGrpSpPr>
          <p:cNvPr id="51342" name="组合 51341"/>
          <p:cNvGrpSpPr/>
          <p:nvPr/>
        </p:nvGrpSpPr>
        <p:grpSpPr>
          <a:xfrm>
            <a:off x="3708400" y="4722813"/>
            <a:ext cx="1570038" cy="1231900"/>
            <a:chOff x="2336" y="2704"/>
            <a:chExt cx="989" cy="776"/>
          </a:xfrm>
        </p:grpSpPr>
        <p:sp>
          <p:nvSpPr>
            <p:cNvPr id="51340" name="矩形 51339"/>
            <p:cNvSpPr/>
            <p:nvPr/>
          </p:nvSpPr>
          <p:spPr>
            <a:xfrm>
              <a:off x="2925" y="3249"/>
              <a:ext cx="400" cy="231"/>
            </a:xfrm>
            <a:prstGeom prst="rect">
              <a:avLst/>
            </a:prstGeom>
            <a:noFill/>
            <a:ln w="9525">
              <a:noFill/>
            </a:ln>
          </p:spPr>
          <p:txBody>
            <a:bodyPr wrap="none" anchor="t">
              <a:spAutoFit/>
            </a:bodyPr>
            <a:p>
              <a:pPr lvl="0" fontAlgn="base">
                <a:buClrTx/>
              </a:pPr>
              <a:r>
                <a:rPr lang="en-US" altLang="zh-CN" sz="1800" b="1" strike="noStrike" noProof="1" err="1">
                  <a:solidFill>
                    <a:srgbClr val="3333CC"/>
                  </a:solidFill>
                  <a:effectLst>
                    <a:outerShdw blurRad="38100" dist="38100" dir="2700000">
                      <a:srgbClr val="000000"/>
                    </a:outerShdw>
                  </a:effectLst>
                  <a:latin typeface="Arial" panose="020B0604020202090204" pitchFamily="34" charset="0"/>
                  <a:ea typeface="宋体" pitchFamily="2" charset="-122"/>
                  <a:cs typeface="宋体" pitchFamily="2" charset="-122"/>
                </a:rPr>
                <a:t>@Ri</a:t>
              </a:r>
              <a:endParaRPr lang="en-US" altLang="zh-CN" sz="1800" b="1" strike="noStrike" noProof="1" err="1">
                <a:solidFill>
                  <a:srgbClr val="3333CC"/>
                </a:solidFill>
                <a:effectLst>
                  <a:outerShdw blurRad="38100" dist="38100" dir="2700000">
                    <a:srgbClr val="000000"/>
                  </a:outerShdw>
                </a:effectLst>
                <a:latin typeface="Arial" panose="020B0604020202090204" pitchFamily="34" charset="0"/>
                <a:ea typeface="宋体" pitchFamily="2" charset="-122"/>
              </a:endParaRPr>
            </a:p>
          </p:txBody>
        </p:sp>
        <p:sp>
          <p:nvSpPr>
            <p:cNvPr id="97305" name="直接连接符 51340"/>
            <p:cNvSpPr/>
            <p:nvPr/>
          </p:nvSpPr>
          <p:spPr>
            <a:xfrm>
              <a:off x="2336" y="2704"/>
              <a:ext cx="635" cy="635"/>
            </a:xfrm>
            <a:prstGeom prst="line">
              <a:avLst/>
            </a:prstGeom>
            <a:ln w="9525" cap="flat" cmpd="sng">
              <a:solidFill>
                <a:srgbClr val="FF0000"/>
              </a:solidFill>
              <a:prstDash val="solid"/>
              <a:miter/>
              <a:headEnd type="triangle" w="med" len="lg"/>
              <a:tailEnd type="none" w="med" len="med"/>
            </a:ln>
          </p:spPr>
        </p:sp>
      </p:grpSp>
      <p:grpSp>
        <p:nvGrpSpPr>
          <p:cNvPr id="51347" name="组合 51346"/>
          <p:cNvGrpSpPr/>
          <p:nvPr/>
        </p:nvGrpSpPr>
        <p:grpSpPr>
          <a:xfrm>
            <a:off x="2700338" y="4572000"/>
            <a:ext cx="2292350" cy="857250"/>
            <a:chOff x="1701" y="2609"/>
            <a:chExt cx="1444" cy="540"/>
          </a:xfrm>
        </p:grpSpPr>
        <p:sp>
          <p:nvSpPr>
            <p:cNvPr id="97307" name="直接连接符 51342"/>
            <p:cNvSpPr/>
            <p:nvPr/>
          </p:nvSpPr>
          <p:spPr>
            <a:xfrm>
              <a:off x="1701" y="3067"/>
              <a:ext cx="363" cy="0"/>
            </a:xfrm>
            <a:prstGeom prst="line">
              <a:avLst/>
            </a:prstGeom>
            <a:ln w="9525">
              <a:noFill/>
            </a:ln>
          </p:spPr>
        </p:sp>
        <p:sp>
          <p:nvSpPr>
            <p:cNvPr id="51344" name="矩形 51343"/>
            <p:cNvSpPr/>
            <p:nvPr/>
          </p:nvSpPr>
          <p:spPr>
            <a:xfrm>
              <a:off x="2014" y="2918"/>
              <a:ext cx="648" cy="231"/>
            </a:xfrm>
            <a:prstGeom prst="rect">
              <a:avLst/>
            </a:prstGeom>
            <a:noFill/>
            <a:ln w="9525">
              <a:noFill/>
            </a:ln>
          </p:spPr>
          <p:txBody>
            <a:bodyPr wrap="none" anchor="t">
              <a:spAutoFit/>
            </a:bodyPr>
            <a:p>
              <a:pPr lvl="0" fontAlgn="base">
                <a:buClrTx/>
              </a:pPr>
              <a:r>
                <a:rPr lang="en-US" altLang="zh-CN" sz="1800" b="1" strike="noStrike" noProof="1">
                  <a:solidFill>
                    <a:srgbClr val="3333CC"/>
                  </a:solidFill>
                  <a:effectLst>
                    <a:outerShdw blurRad="38100" dist="38100" dir="2700000">
                      <a:srgbClr val="000000"/>
                    </a:outerShdw>
                  </a:effectLst>
                  <a:latin typeface="Arial" panose="020B0604020202090204" pitchFamily="34" charset="0"/>
                  <a:ea typeface="宋体" pitchFamily="2" charset="-122"/>
                  <a:cs typeface="宋体" pitchFamily="2" charset="-122"/>
                </a:rPr>
                <a:t>@DPTR</a:t>
              </a:r>
              <a:endParaRPr lang="en-US" altLang="zh-CN" sz="1800" b="1" strike="noStrike" noProof="1">
                <a:solidFill>
                  <a:srgbClr val="3333CC"/>
                </a:solidFill>
                <a:effectLst>
                  <a:outerShdw blurRad="38100" dist="38100" dir="2700000">
                    <a:srgbClr val="000000"/>
                  </a:outerShdw>
                </a:effectLst>
                <a:latin typeface="Arial" panose="020B0604020202090204" pitchFamily="34" charset="0"/>
                <a:ea typeface="宋体" pitchFamily="2" charset="-122"/>
              </a:endParaRPr>
            </a:p>
          </p:txBody>
        </p:sp>
        <p:sp>
          <p:nvSpPr>
            <p:cNvPr id="97309" name="直接连接符 51344"/>
            <p:cNvSpPr/>
            <p:nvPr/>
          </p:nvSpPr>
          <p:spPr>
            <a:xfrm flipV="1">
              <a:off x="2653" y="2750"/>
              <a:ext cx="318" cy="272"/>
            </a:xfrm>
            <a:prstGeom prst="line">
              <a:avLst/>
            </a:prstGeom>
            <a:ln w="9525" cap="flat" cmpd="sng">
              <a:solidFill>
                <a:srgbClr val="FF0000"/>
              </a:solidFill>
              <a:prstDash val="solid"/>
              <a:miter/>
              <a:headEnd type="triangle" w="med" len="lg"/>
              <a:tailEnd type="none" w="med" len="med"/>
            </a:ln>
          </p:spPr>
        </p:sp>
        <p:sp>
          <p:nvSpPr>
            <p:cNvPr id="51346" name="文本框 51345"/>
            <p:cNvSpPr txBox="1"/>
            <p:nvPr/>
          </p:nvSpPr>
          <p:spPr>
            <a:xfrm>
              <a:off x="2925" y="2609"/>
              <a:ext cx="220" cy="231"/>
            </a:xfrm>
            <a:prstGeom prst="rect">
              <a:avLst/>
            </a:prstGeom>
            <a:noFill/>
            <a:ln w="9525">
              <a:noFill/>
            </a:ln>
          </p:spPr>
          <p:txBody>
            <a:bodyPr wrap="none" anchor="t">
              <a:spAutoFit/>
            </a:bodyPr>
            <a:p>
              <a:pPr>
                <a:buClrTx/>
              </a:pPr>
              <a:r>
                <a:rPr lang="en-US" altLang="zh-CN" sz="1800" noProof="1">
                  <a:solidFill>
                    <a:srgbClr val="3333CC"/>
                  </a:solidFill>
                  <a:effectLst>
                    <a:outerShdw blurRad="38100" dist="38100" dir="2700000">
                      <a:srgbClr val="000000"/>
                    </a:outerShdw>
                  </a:effectLst>
                  <a:latin typeface="Arial" panose="020B0604020202090204" pitchFamily="34" charset="0"/>
                  <a:ea typeface="宋体" pitchFamily="2" charset="-122"/>
                  <a:cs typeface="宋体" pitchFamily="2" charset="-122"/>
                </a:rPr>
                <a:t>A</a:t>
              </a:r>
              <a:endParaRPr lang="en-US" altLang="zh-CN" sz="1800" noProof="1">
                <a:solidFill>
                  <a:srgbClr val="3333CC"/>
                </a:solidFill>
                <a:effectLst>
                  <a:outerShdw blurRad="38100" dist="38100" dir="2700000">
                    <a:srgbClr val="000000"/>
                  </a:outerShdw>
                </a:effectLst>
                <a:latin typeface="Arial" panose="020B0604020202090204" pitchFamily="34" charset="0"/>
                <a:ea typeface="宋体" pitchFamily="2" charset="-122"/>
              </a:endParaRPr>
            </a:p>
          </p:txBody>
        </p:sp>
      </p:grpSp>
      <p:grpSp>
        <p:nvGrpSpPr>
          <p:cNvPr id="51357" name="组合 51356"/>
          <p:cNvGrpSpPr/>
          <p:nvPr/>
        </p:nvGrpSpPr>
        <p:grpSpPr>
          <a:xfrm>
            <a:off x="2700338" y="4579938"/>
            <a:ext cx="2292350" cy="1374775"/>
            <a:chOff x="1701" y="2614"/>
            <a:chExt cx="1444" cy="866"/>
          </a:xfrm>
        </p:grpSpPr>
        <p:sp>
          <p:nvSpPr>
            <p:cNvPr id="51352" name="矩形 51351"/>
            <p:cNvSpPr/>
            <p:nvPr/>
          </p:nvSpPr>
          <p:spPr>
            <a:xfrm>
              <a:off x="2018" y="3249"/>
              <a:ext cx="400" cy="231"/>
            </a:xfrm>
            <a:prstGeom prst="rect">
              <a:avLst/>
            </a:prstGeom>
            <a:noFill/>
            <a:ln w="9525">
              <a:noFill/>
            </a:ln>
          </p:spPr>
          <p:txBody>
            <a:bodyPr wrap="none" anchor="t">
              <a:spAutoFit/>
            </a:bodyPr>
            <a:p>
              <a:pPr lvl="0" fontAlgn="base">
                <a:buClrTx/>
              </a:pPr>
              <a:r>
                <a:rPr lang="en-US" altLang="zh-CN" sz="1800" b="1" strike="noStrike" noProof="1" err="1">
                  <a:solidFill>
                    <a:srgbClr val="3333CC"/>
                  </a:solidFill>
                  <a:effectLst>
                    <a:outerShdw blurRad="38100" dist="38100" dir="2700000">
                      <a:srgbClr val="000000"/>
                    </a:outerShdw>
                  </a:effectLst>
                  <a:latin typeface="Arial" panose="020B0604020202090204" pitchFamily="34" charset="0"/>
                  <a:ea typeface="宋体" pitchFamily="2" charset="-122"/>
                  <a:cs typeface="宋体" pitchFamily="2" charset="-122"/>
                </a:rPr>
                <a:t>@Ri</a:t>
              </a:r>
              <a:endParaRPr lang="en-US" altLang="zh-CN" sz="1800" b="1" strike="noStrike" noProof="1" err="1">
                <a:solidFill>
                  <a:srgbClr val="3333CC"/>
                </a:solidFill>
                <a:effectLst>
                  <a:outerShdw blurRad="38100" dist="38100" dir="2700000">
                    <a:srgbClr val="000000"/>
                  </a:outerShdw>
                </a:effectLst>
                <a:latin typeface="Arial" panose="020B0604020202090204" pitchFamily="34" charset="0"/>
                <a:ea typeface="宋体" pitchFamily="2" charset="-122"/>
              </a:endParaRPr>
            </a:p>
          </p:txBody>
        </p:sp>
        <p:sp>
          <p:nvSpPr>
            <p:cNvPr id="97313" name="直接连接符 51352"/>
            <p:cNvSpPr/>
            <p:nvPr/>
          </p:nvSpPr>
          <p:spPr>
            <a:xfrm>
              <a:off x="1701" y="3113"/>
              <a:ext cx="363" cy="272"/>
            </a:xfrm>
            <a:prstGeom prst="line">
              <a:avLst/>
            </a:prstGeom>
            <a:ln w="9525">
              <a:noFill/>
            </a:ln>
          </p:spPr>
        </p:sp>
        <p:sp>
          <p:nvSpPr>
            <p:cNvPr id="97314" name="直接连接符 51354"/>
            <p:cNvSpPr/>
            <p:nvPr/>
          </p:nvSpPr>
          <p:spPr>
            <a:xfrm flipV="1">
              <a:off x="2381" y="2750"/>
              <a:ext cx="590" cy="635"/>
            </a:xfrm>
            <a:prstGeom prst="line">
              <a:avLst/>
            </a:prstGeom>
            <a:ln w="9525" cap="flat" cmpd="sng">
              <a:solidFill>
                <a:srgbClr val="FF0000"/>
              </a:solidFill>
              <a:prstDash val="solid"/>
              <a:miter/>
              <a:headEnd type="triangle" w="med" len="lg"/>
              <a:tailEnd type="none" w="med" len="med"/>
            </a:ln>
          </p:spPr>
        </p:sp>
        <p:sp>
          <p:nvSpPr>
            <p:cNvPr id="51356" name="文本框 51355"/>
            <p:cNvSpPr txBox="1"/>
            <p:nvPr/>
          </p:nvSpPr>
          <p:spPr>
            <a:xfrm>
              <a:off x="2925" y="2614"/>
              <a:ext cx="220" cy="231"/>
            </a:xfrm>
            <a:prstGeom prst="rect">
              <a:avLst/>
            </a:prstGeom>
            <a:noFill/>
            <a:ln w="9525">
              <a:noFill/>
            </a:ln>
          </p:spPr>
          <p:txBody>
            <a:bodyPr wrap="none" anchor="t">
              <a:spAutoFit/>
            </a:bodyPr>
            <a:p>
              <a:pPr>
                <a:buClrTx/>
              </a:pPr>
              <a:r>
                <a:rPr lang="en-US" altLang="zh-CN" sz="1800" noProof="1">
                  <a:solidFill>
                    <a:srgbClr val="3333CC"/>
                  </a:solidFill>
                  <a:effectLst>
                    <a:outerShdw blurRad="38100" dist="38100" dir="2700000">
                      <a:srgbClr val="000000"/>
                    </a:outerShdw>
                  </a:effectLst>
                  <a:latin typeface="Arial" panose="020B0604020202090204" pitchFamily="34" charset="0"/>
                  <a:ea typeface="宋体" pitchFamily="2" charset="-122"/>
                  <a:cs typeface="宋体" pitchFamily="2" charset="-122"/>
                </a:rPr>
                <a:t>A</a:t>
              </a:r>
              <a:endParaRPr lang="en-US" altLang="zh-CN" sz="1800" noProof="1">
                <a:solidFill>
                  <a:srgbClr val="3333CC"/>
                </a:solidFill>
                <a:effectLst>
                  <a:outerShdw blurRad="38100" dist="38100" dir="2700000">
                    <a:srgbClr val="000000"/>
                  </a:outerShdw>
                </a:effectLst>
                <a:latin typeface="Arial" panose="020B0604020202090204" pitchFamily="34" charset="0"/>
                <a:ea typeface="宋体"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1256"/>
                                        </p:tgtEl>
                                        <p:attrNameLst>
                                          <p:attrName>style.visibility</p:attrName>
                                        </p:attrNameLst>
                                      </p:cBhvr>
                                      <p:to>
                                        <p:strVal val="visible"/>
                                      </p:to>
                                    </p:set>
                                    <p:animEffect transition="in" filter="fade">
                                      <p:cBhvr>
                                        <p:cTn id="7" dur="1000"/>
                                        <p:tgtEl>
                                          <p:spTgt spid="5125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257"/>
                                        </p:tgtEl>
                                        <p:attrNameLst>
                                          <p:attrName>style.visibility</p:attrName>
                                        </p:attrNameLst>
                                      </p:cBhvr>
                                      <p:to>
                                        <p:strVal val="visible"/>
                                      </p:to>
                                    </p:set>
                                    <p:animEffect transition="in" filter="wipe(left)">
                                      <p:cBhvr>
                                        <p:cTn id="12" dur="1000"/>
                                        <p:tgtEl>
                                          <p:spTgt spid="5125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1258"/>
                                        </p:tgtEl>
                                        <p:attrNameLst>
                                          <p:attrName>style.visibility</p:attrName>
                                        </p:attrNameLst>
                                      </p:cBhvr>
                                      <p:to>
                                        <p:strVal val="visible"/>
                                      </p:to>
                                    </p:set>
                                    <p:animEffect transition="in" filter="wipe(left)">
                                      <p:cBhvr>
                                        <p:cTn id="17" dur="1000"/>
                                        <p:tgtEl>
                                          <p:spTgt spid="5125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1289"/>
                                        </p:tgtEl>
                                        <p:attrNameLst>
                                          <p:attrName>style.visibility</p:attrName>
                                        </p:attrNameLst>
                                      </p:cBhvr>
                                      <p:to>
                                        <p:strVal val="visible"/>
                                      </p:to>
                                    </p:set>
                                    <p:animEffect transition="in" filter="wipe(left)">
                                      <p:cBhvr>
                                        <p:cTn id="22" dur="1000"/>
                                        <p:tgtEl>
                                          <p:spTgt spid="51289"/>
                                        </p:tgtEl>
                                      </p:cBhvr>
                                    </p:animEffect>
                                  </p:childTnLst>
                                </p:cTn>
                              </p:par>
                            </p:childTnLst>
                          </p:cTn>
                        </p:par>
                        <p:par>
                          <p:cTn id="23" fill="hold">
                            <p:stCondLst>
                              <p:cond delay="1000"/>
                            </p:stCondLst>
                            <p:childTnLst>
                              <p:par>
                                <p:cTn id="24" presetID="22" presetClass="entr" presetSubtype="8" fill="hold" nodeType="afterEffect">
                                  <p:stCondLst>
                                    <p:cond delay="0"/>
                                  </p:stCondLst>
                                  <p:childTnLst>
                                    <p:set>
                                      <p:cBhvr>
                                        <p:cTn id="25" dur="1" fill="hold">
                                          <p:stCondLst>
                                            <p:cond delay="0"/>
                                          </p:stCondLst>
                                        </p:cTn>
                                        <p:tgtEl>
                                          <p:spTgt spid="51330"/>
                                        </p:tgtEl>
                                        <p:attrNameLst>
                                          <p:attrName>style.visibility</p:attrName>
                                        </p:attrNameLst>
                                      </p:cBhvr>
                                      <p:to>
                                        <p:strVal val="visible"/>
                                      </p:to>
                                    </p:set>
                                    <p:animEffect transition="in" filter="wipe(left)">
                                      <p:cBhvr>
                                        <p:cTn id="26" dur="1000"/>
                                        <p:tgtEl>
                                          <p:spTgt spid="51330"/>
                                        </p:tgtEl>
                                      </p:cBhvr>
                                    </p:animEffect>
                                  </p:childTnLst>
                                </p:cTn>
                              </p:par>
                            </p:childTnLst>
                          </p:cTn>
                        </p:par>
                        <p:par>
                          <p:cTn id="27" fill="hold">
                            <p:stCondLst>
                              <p:cond delay="2000"/>
                            </p:stCondLst>
                            <p:childTnLst>
                              <p:par>
                                <p:cTn id="28" presetID="22" presetClass="entr" presetSubtype="8" fill="hold" grpId="0" nodeType="afterEffect">
                                  <p:stCondLst>
                                    <p:cond delay="0"/>
                                  </p:stCondLst>
                                  <p:childTnLst>
                                    <p:set>
                                      <p:cBhvr>
                                        <p:cTn id="29" dur="1" fill="hold">
                                          <p:stCondLst>
                                            <p:cond delay="0"/>
                                          </p:stCondLst>
                                        </p:cTn>
                                        <p:tgtEl>
                                          <p:spTgt spid="51259"/>
                                        </p:tgtEl>
                                        <p:attrNameLst>
                                          <p:attrName>style.visibility</p:attrName>
                                        </p:attrNameLst>
                                      </p:cBhvr>
                                      <p:to>
                                        <p:strVal val="visible"/>
                                      </p:to>
                                    </p:set>
                                    <p:animEffect transition="in" filter="wipe(left)">
                                      <p:cBhvr>
                                        <p:cTn id="30" dur="500"/>
                                        <p:tgtEl>
                                          <p:spTgt spid="51259"/>
                                        </p:tgtEl>
                                      </p:cBhvr>
                                    </p:animEffect>
                                  </p:childTnLst>
                                </p:cTn>
                              </p:par>
                            </p:childTnLst>
                          </p:cTn>
                        </p:par>
                        <p:par>
                          <p:cTn id="31" fill="hold">
                            <p:stCondLst>
                              <p:cond delay="2500"/>
                            </p:stCondLst>
                            <p:childTnLst>
                              <p:par>
                                <p:cTn id="32" presetID="22" presetClass="entr" presetSubtype="8" fill="hold" nodeType="afterEffect">
                                  <p:stCondLst>
                                    <p:cond delay="0"/>
                                  </p:stCondLst>
                                  <p:childTnLst>
                                    <p:set>
                                      <p:cBhvr>
                                        <p:cTn id="33" dur="1" fill="hold">
                                          <p:stCondLst>
                                            <p:cond delay="0"/>
                                          </p:stCondLst>
                                        </p:cTn>
                                        <p:tgtEl>
                                          <p:spTgt spid="51331"/>
                                        </p:tgtEl>
                                        <p:attrNameLst>
                                          <p:attrName>style.visibility</p:attrName>
                                        </p:attrNameLst>
                                      </p:cBhvr>
                                      <p:to>
                                        <p:strVal val="visible"/>
                                      </p:to>
                                    </p:set>
                                    <p:animEffect transition="in" filter="wipe(left)">
                                      <p:cBhvr>
                                        <p:cTn id="34" dur="1000"/>
                                        <p:tgtEl>
                                          <p:spTgt spid="51331"/>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51339"/>
                                        </p:tgtEl>
                                        <p:attrNameLst>
                                          <p:attrName>style.visibility</p:attrName>
                                        </p:attrNameLst>
                                      </p:cBhvr>
                                      <p:to>
                                        <p:strVal val="visible"/>
                                      </p:to>
                                    </p:set>
                                    <p:animEffect transition="in" filter="wipe(left)">
                                      <p:cBhvr>
                                        <p:cTn id="39" dur="1000"/>
                                        <p:tgtEl>
                                          <p:spTgt spid="51339"/>
                                        </p:tgtEl>
                                      </p:cBhvr>
                                    </p:animEffect>
                                  </p:childTnLst>
                                </p:cTn>
                              </p:par>
                            </p:childTnLst>
                          </p:cTn>
                        </p:par>
                      </p:childTnLst>
                    </p:cTn>
                  </p:par>
                  <p:par>
                    <p:cTn id="40" fill="hold">
                      <p:stCondLst>
                        <p:cond delay="indefinite"/>
                      </p:stCondLst>
                      <p:childTnLst>
                        <p:par>
                          <p:cTn id="41" fill="hold">
                            <p:stCondLst>
                              <p:cond delay="0"/>
                            </p:stCondLst>
                            <p:childTnLst>
                              <p:par>
                                <p:cTn id="42" presetID="18" presetClass="entr" presetSubtype="6" fill="hold" nodeType="clickEffect">
                                  <p:stCondLst>
                                    <p:cond delay="0"/>
                                  </p:stCondLst>
                                  <p:childTnLst>
                                    <p:set>
                                      <p:cBhvr>
                                        <p:cTn id="43" dur="1" fill="hold">
                                          <p:stCondLst>
                                            <p:cond delay="0"/>
                                          </p:stCondLst>
                                        </p:cTn>
                                        <p:tgtEl>
                                          <p:spTgt spid="51342"/>
                                        </p:tgtEl>
                                        <p:attrNameLst>
                                          <p:attrName>style.visibility</p:attrName>
                                        </p:attrNameLst>
                                      </p:cBhvr>
                                      <p:to>
                                        <p:strVal val="visible"/>
                                      </p:to>
                                    </p:set>
                                    <p:animEffect transition="in" filter="strips(downRight)">
                                      <p:cBhvr>
                                        <p:cTn id="44" dur="1000"/>
                                        <p:tgtEl>
                                          <p:spTgt spid="51342"/>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xit" presetSubtype="2" fill="hold" nodeType="clickEffect">
                                  <p:stCondLst>
                                    <p:cond delay="0"/>
                                  </p:stCondLst>
                                  <p:childTnLst>
                                    <p:animEffect transition="out" filter="wipe(right)">
                                      <p:cBhvr>
                                        <p:cTn id="48" dur="1000"/>
                                        <p:tgtEl>
                                          <p:spTgt spid="51342"/>
                                        </p:tgtEl>
                                      </p:cBhvr>
                                    </p:animEffect>
                                    <p:set>
                                      <p:cBhvr>
                                        <p:cTn id="49" dur="1" fill="hold">
                                          <p:stCondLst>
                                            <p:cond delay="999"/>
                                          </p:stCondLst>
                                        </p:cTn>
                                        <p:tgtEl>
                                          <p:spTgt spid="51342"/>
                                        </p:tgtEl>
                                        <p:attrNameLst>
                                          <p:attrName>style.visibility</p:attrName>
                                        </p:attrNameLst>
                                      </p:cBhvr>
                                      <p:to>
                                        <p:strVal val="hidden"/>
                                      </p:to>
                                    </p:set>
                                  </p:childTnLst>
                                </p:cTn>
                              </p:par>
                              <p:par>
                                <p:cTn id="50" presetID="22" presetClass="exit" presetSubtype="2" fill="hold" nodeType="withEffect">
                                  <p:stCondLst>
                                    <p:cond delay="0"/>
                                  </p:stCondLst>
                                  <p:childTnLst>
                                    <p:animEffect transition="out" filter="wipe(right)">
                                      <p:cBhvr>
                                        <p:cTn id="51" dur="1000"/>
                                        <p:tgtEl>
                                          <p:spTgt spid="51339"/>
                                        </p:tgtEl>
                                      </p:cBhvr>
                                    </p:animEffect>
                                    <p:set>
                                      <p:cBhvr>
                                        <p:cTn id="52" dur="1" fill="hold">
                                          <p:stCondLst>
                                            <p:cond delay="999"/>
                                          </p:stCondLst>
                                        </p:cTn>
                                        <p:tgtEl>
                                          <p:spTgt spid="51339"/>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51347"/>
                                        </p:tgtEl>
                                        <p:attrNameLst>
                                          <p:attrName>style.visibility</p:attrName>
                                        </p:attrNameLst>
                                      </p:cBhvr>
                                      <p:to>
                                        <p:strVal val="visible"/>
                                      </p:to>
                                    </p:set>
                                    <p:animEffect transition="in" filter="wipe(left)">
                                      <p:cBhvr>
                                        <p:cTn id="57" dur="1000"/>
                                        <p:tgtEl>
                                          <p:spTgt spid="5134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xit" presetSubtype="2" fill="hold" nodeType="clickEffect">
                                  <p:stCondLst>
                                    <p:cond delay="0"/>
                                  </p:stCondLst>
                                  <p:childTnLst>
                                    <p:animEffect transition="out" filter="wipe(right)">
                                      <p:cBhvr>
                                        <p:cTn id="61" dur="500"/>
                                        <p:tgtEl>
                                          <p:spTgt spid="51347"/>
                                        </p:tgtEl>
                                      </p:cBhvr>
                                    </p:animEffect>
                                    <p:set>
                                      <p:cBhvr>
                                        <p:cTn id="62" dur="1" fill="hold">
                                          <p:stCondLst>
                                            <p:cond delay="499"/>
                                          </p:stCondLst>
                                        </p:cTn>
                                        <p:tgtEl>
                                          <p:spTgt spid="51347"/>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51357"/>
                                        </p:tgtEl>
                                        <p:attrNameLst>
                                          <p:attrName>style.visibility</p:attrName>
                                        </p:attrNameLst>
                                      </p:cBhvr>
                                      <p:to>
                                        <p:strVal val="visible"/>
                                      </p:to>
                                    </p:set>
                                    <p:animEffect transition="in" filter="wipe(left)">
                                      <p:cBhvr>
                                        <p:cTn id="67" dur="1000"/>
                                        <p:tgtEl>
                                          <p:spTgt spid="513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56" grpId="0"/>
      <p:bldP spid="51257" grpId="0"/>
      <p:bldP spid="51258" grpId="0"/>
      <p:bldP spid="51259" grpId="0"/>
      <p:bldP spid="51289"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ChangeArrowheads="1"/>
          </p:cNvSpPr>
          <p:nvPr/>
        </p:nvSpPr>
        <p:spPr bwMode="auto">
          <a:xfrm>
            <a:off x="214313" y="214313"/>
            <a:ext cx="8763000" cy="609600"/>
          </a:xfrm>
          <a:prstGeom prst="rect">
            <a:avLst/>
          </a:prstGeom>
          <a:noFill/>
          <a:ln>
            <a:noFill/>
          </a:ln>
        </p:spPr>
        <p:txBody>
          <a:bodyPr anchor="ctr"/>
          <a:lstStyle>
            <a:lvl1pPr>
              <a:defRPr sz="3600">
                <a:solidFill>
                  <a:schemeClr val="tx2"/>
                </a:solidFill>
                <a:latin typeface="Times New Roman" panose="02020503050405090304" pitchFamily="18" charset="0"/>
                <a:ea typeface="宋体" pitchFamily="2" charset="-122"/>
              </a:defRPr>
            </a:lvl1pPr>
            <a:lvl2pPr>
              <a:defRPr sz="3600">
                <a:solidFill>
                  <a:schemeClr val="tx2"/>
                </a:solidFill>
                <a:latin typeface="Times New Roman" panose="02020503050405090304" pitchFamily="18" charset="0"/>
                <a:ea typeface="宋体" pitchFamily="2" charset="-122"/>
              </a:defRPr>
            </a:lvl2pPr>
            <a:lvl3pPr>
              <a:defRPr sz="3600">
                <a:solidFill>
                  <a:schemeClr val="tx2"/>
                </a:solidFill>
                <a:latin typeface="Times New Roman" panose="02020503050405090304" pitchFamily="18" charset="0"/>
                <a:ea typeface="宋体" pitchFamily="2" charset="-122"/>
              </a:defRPr>
            </a:lvl3pPr>
            <a:lvl4pPr>
              <a:defRPr sz="3600">
                <a:solidFill>
                  <a:schemeClr val="tx2"/>
                </a:solidFill>
                <a:latin typeface="Times New Roman" panose="02020503050405090304" pitchFamily="18" charset="0"/>
                <a:ea typeface="宋体" pitchFamily="2" charset="-122"/>
              </a:defRPr>
            </a:lvl4pPr>
            <a:lvl5pPr>
              <a:defRPr sz="3600">
                <a:solidFill>
                  <a:schemeClr val="tx2"/>
                </a:solidFill>
                <a:latin typeface="Times New Roman" panose="02020503050405090304" pitchFamily="18" charset="0"/>
                <a:ea typeface="宋体" pitchFamily="2" charset="-122"/>
              </a:defRPr>
            </a:lvl5pPr>
            <a:lvl6pPr marL="45720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fontAlgn="base">
              <a:spcBef>
                <a:spcPct val="0"/>
              </a:spcBef>
              <a:spcAft>
                <a:spcPct val="0"/>
              </a:spcAft>
              <a:defRPr sz="3600">
                <a:solidFill>
                  <a:schemeClr val="tx2"/>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第三章</a:t>
            </a:r>
            <a:r>
              <a:rPr kumimoji="0" lang="zh-CN" altLang="en-US" sz="28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zh-CN" altLang="en-US" sz="24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en-US" altLang="zh-CN"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MCS-51</a:t>
            </a: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指令系统</a:t>
            </a:r>
            <a:endParaRPr kumimoji="0" lang="zh-CN" altLang="en-US" sz="3600" b="0"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Times New Roman" panose="02020503050405090304" pitchFamily="18" charset="0"/>
              <a:ea typeface="宋体" pitchFamily="2" charset="-122"/>
              <a:cs typeface="+mn-cs"/>
            </a:endParaRPr>
          </a:p>
        </p:txBody>
      </p:sp>
      <p:sp>
        <p:nvSpPr>
          <p:cNvPr id="2" name="矩形 1"/>
          <p:cNvSpPr>
            <a:spLocks noRot="1"/>
          </p:cNvSpPr>
          <p:nvPr/>
        </p:nvSpPr>
        <p:spPr>
          <a:xfrm>
            <a:off x="1042988" y="1628775"/>
            <a:ext cx="3744913" cy="504825"/>
          </a:xfrm>
          <a:prstGeom prst="rect">
            <a:avLst/>
          </a:prstGeom>
          <a:noFill/>
          <a:ln w="9525">
            <a:noFill/>
          </a:ln>
        </p:spPr>
        <p:txBody>
          <a:bodyPr anchor="ctr"/>
          <a:p>
            <a:pPr fontAlgn="base"/>
            <a:r>
              <a:rPr lang="en-US" altLang="zh-CN" strike="noStrike" noProof="1" dirty="0">
                <a:solidFill>
                  <a:srgbClr val="3333CC"/>
                </a:solidFill>
                <a:effectLst>
                  <a:outerShdw blurRad="38100" dist="38100" dir="2700000">
                    <a:srgbClr val="C0C0C0"/>
                  </a:outerShdw>
                </a:effectLst>
                <a:latin typeface="楷体_GB2312" pitchFamily="49" charset="-122"/>
                <a:ea typeface="楷体_GB2312" pitchFamily="49" charset="-122"/>
                <a:cs typeface="+mn-ea"/>
              </a:rPr>
              <a:t>1)</a:t>
            </a:r>
            <a:r>
              <a:rPr lang="zh-CN" altLang="en-US" strike="noStrike" noProof="1" dirty="0">
                <a:solidFill>
                  <a:srgbClr val="3333CC"/>
                </a:solidFill>
                <a:effectLst>
                  <a:outerShdw blurRad="38100" dist="38100" dir="2700000">
                    <a:srgbClr val="C0C0C0"/>
                  </a:outerShdw>
                </a:effectLst>
                <a:latin typeface="楷体_GB2312" pitchFamily="49" charset="-122"/>
                <a:ea typeface="楷体_GB2312" pitchFamily="49" charset="-122"/>
                <a:cs typeface="+mn-ea"/>
              </a:rPr>
              <a:t>字节交换指令</a:t>
            </a:r>
            <a:r>
              <a:rPr lang="en-US" altLang="zh-CN" strike="noStrike" noProof="1" dirty="0">
                <a:solidFill>
                  <a:srgbClr val="3333CC"/>
                </a:solidFill>
                <a:effectLst>
                  <a:outerShdw blurRad="38100" dist="38100" dir="2700000">
                    <a:srgbClr val="C0C0C0"/>
                  </a:outerShdw>
                </a:effectLst>
                <a:latin typeface="楷体_GB2312" pitchFamily="49" charset="-122"/>
                <a:ea typeface="楷体_GB2312" pitchFamily="49" charset="-122"/>
                <a:cs typeface="+mn-ea"/>
              </a:rPr>
              <a:t>(3</a:t>
            </a:r>
            <a:r>
              <a:rPr lang="zh-CN" altLang="en-US" strike="noStrike" noProof="1" dirty="0">
                <a:solidFill>
                  <a:srgbClr val="3333CC"/>
                </a:solidFill>
                <a:effectLst>
                  <a:outerShdw blurRad="38100" dist="38100" dir="2700000">
                    <a:srgbClr val="C0C0C0"/>
                  </a:outerShdw>
                </a:effectLst>
                <a:latin typeface="楷体_GB2312" pitchFamily="49" charset="-122"/>
                <a:ea typeface="楷体_GB2312" pitchFamily="49" charset="-122"/>
                <a:cs typeface="+mn-ea"/>
              </a:rPr>
              <a:t>条</a:t>
            </a:r>
            <a:r>
              <a:rPr lang="en-US" altLang="zh-CN" strike="noStrike" noProof="1">
                <a:solidFill>
                  <a:srgbClr val="3333CC"/>
                </a:solidFill>
                <a:effectLst>
                  <a:outerShdw blurRad="38100" dist="38100" dir="2700000">
                    <a:srgbClr val="C0C0C0"/>
                  </a:outerShdw>
                </a:effectLst>
                <a:latin typeface="楷体_GB2312" pitchFamily="49" charset="-122"/>
                <a:ea typeface="楷体_GB2312" pitchFamily="49" charset="-122"/>
                <a:cs typeface="+mn-ea"/>
              </a:rPr>
              <a:t>)</a:t>
            </a:r>
            <a:r>
              <a:rPr lang="en-US" altLang="zh-CN" strike="noStrike" noProof="1">
                <a:solidFill>
                  <a:srgbClr val="3333CC"/>
                </a:solidFill>
                <a:latin typeface="Arial" panose="020B0604020202090204" pitchFamily="34" charset="0"/>
                <a:ea typeface="宋体" pitchFamily="2" charset="-122"/>
                <a:cs typeface="+mn-ea"/>
              </a:rPr>
              <a:t> </a:t>
            </a:r>
            <a:endParaRPr lang="en-US" altLang="zh-CN" strike="noStrike" noProof="1">
              <a:solidFill>
                <a:srgbClr val="3333CC"/>
              </a:solidFill>
              <a:latin typeface="Arial" panose="020B0604020202090204" pitchFamily="34" charset="0"/>
              <a:ea typeface="宋体" pitchFamily="2" charset="-122"/>
            </a:endParaRPr>
          </a:p>
        </p:txBody>
      </p:sp>
      <p:sp>
        <p:nvSpPr>
          <p:cNvPr id="3" name="标题 57391"/>
          <p:cNvSpPr>
            <a:spLocks noGrp="1" noRot="1"/>
          </p:cNvSpPr>
          <p:nvPr/>
        </p:nvSpPr>
        <p:spPr>
          <a:xfrm>
            <a:off x="827088" y="869950"/>
            <a:ext cx="4681538" cy="758825"/>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3200" b="1" i="0" u="none" kern="1200" baseline="0">
                <a:solidFill>
                  <a:srgbClr val="000000"/>
                </a:solidFill>
                <a:latin typeface="Times New Roman" panose="02020503050405090304" pitchFamily="18" charset="0"/>
                <a:ea typeface="宋体" pitchFamily="2" charset="-122"/>
                <a:cs typeface="+mn-ea"/>
              </a:defRPr>
            </a:lvl1p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800" b="1" i="0" u="none" strike="noStrike" kern="1200" cap="none" spc="0" normalizeH="0" baseline="0" noProof="1">
                <a:solidFill>
                  <a:srgbClr val="000000"/>
                </a:solidFill>
                <a:effectLst>
                  <a:outerShdw blurRad="38100" dist="38100" dir="2700000">
                    <a:srgbClr val="C0C0C0"/>
                  </a:outerShdw>
                </a:effectLst>
                <a:latin typeface="楷体_GB2312" pitchFamily="49" charset="-122"/>
                <a:ea typeface="楷体_GB2312" pitchFamily="49" charset="-122"/>
                <a:cs typeface="+mn-ea"/>
              </a:rPr>
              <a:t>——</a:t>
            </a:r>
            <a:r>
              <a:rPr kumimoji="0" lang="zh-CN" altLang="en-US" sz="2400" b="1" i="0" u="none" strike="noStrike" kern="1200" cap="none" spc="0" normalizeH="0" baseline="0" noProof="1" dirty="0">
                <a:solidFill>
                  <a:srgbClr val="FF0000"/>
                </a:solidFill>
                <a:effectLst>
                  <a:outerShdw blurRad="38100" dist="38100" dir="2700000">
                    <a:srgbClr val="C0C0C0"/>
                  </a:outerShdw>
                </a:effectLst>
                <a:latin typeface="楷体_GB2312" pitchFamily="49" charset="-122"/>
                <a:ea typeface="楷体_GB2312" pitchFamily="49" charset="-122"/>
                <a:cs typeface="+mn-ea"/>
              </a:rPr>
              <a:t>交换和查表类</a:t>
            </a:r>
            <a:r>
              <a:rPr kumimoji="0" lang="zh-CN" altLang="en-US" sz="2400" b="1" i="0" u="none" strike="noStrike" kern="1200" cap="none" spc="0" normalizeH="0" baseline="0" noProof="1" dirty="0">
                <a:solidFill>
                  <a:srgbClr val="0000FF"/>
                </a:solidFill>
                <a:effectLst>
                  <a:outerShdw blurRad="38100" dist="38100" dir="2700000">
                    <a:srgbClr val="C0C0C0"/>
                  </a:outerShdw>
                </a:effectLst>
                <a:latin typeface="楷体_GB2312" pitchFamily="49" charset="-122"/>
                <a:ea typeface="楷体_GB2312" pitchFamily="49" charset="-122"/>
                <a:cs typeface="+mn-ea"/>
              </a:rPr>
              <a:t>指令</a:t>
            </a:r>
            <a:r>
              <a:rPr kumimoji="0" lang="en-US" altLang="zh-CN" sz="2400" b="1" i="0" u="none" strike="noStrike" kern="1200" cap="none" spc="0" normalizeH="0" baseline="0" noProof="1" dirty="0">
                <a:solidFill>
                  <a:srgbClr val="0000FF"/>
                </a:solidFill>
                <a:effectLst>
                  <a:outerShdw blurRad="38100" dist="38100" dir="2700000">
                    <a:srgbClr val="C0C0C0"/>
                  </a:outerShdw>
                </a:effectLst>
                <a:latin typeface="楷体_GB2312" pitchFamily="49" charset="-122"/>
                <a:ea typeface="楷体_GB2312" pitchFamily="49" charset="-122"/>
                <a:cs typeface="+mn-ea"/>
              </a:rPr>
              <a:t>(9</a:t>
            </a:r>
            <a:r>
              <a:rPr kumimoji="0" lang="zh-CN" altLang="en-US" sz="2400" b="1" i="0" u="none" strike="noStrike" kern="1200" cap="none" spc="0" normalizeH="0" baseline="0" noProof="1" dirty="0">
                <a:solidFill>
                  <a:srgbClr val="0000FF"/>
                </a:solidFill>
                <a:effectLst>
                  <a:outerShdw blurRad="38100" dist="38100" dir="2700000">
                    <a:srgbClr val="C0C0C0"/>
                  </a:outerShdw>
                </a:effectLst>
                <a:latin typeface="楷体_GB2312" pitchFamily="49" charset="-122"/>
                <a:ea typeface="楷体_GB2312" pitchFamily="49" charset="-122"/>
                <a:cs typeface="+mn-ea"/>
              </a:rPr>
              <a:t>条</a:t>
            </a:r>
            <a:r>
              <a:rPr kumimoji="0" lang="en-US" altLang="zh-CN" sz="2400" b="1" i="0" u="none" strike="noStrike" kern="1200" cap="none" spc="0" normalizeH="0" baseline="0" noProof="1">
                <a:solidFill>
                  <a:srgbClr val="0000FF"/>
                </a:solidFill>
                <a:effectLst>
                  <a:outerShdw blurRad="38100" dist="38100" dir="2700000">
                    <a:srgbClr val="C0C0C0"/>
                  </a:outerShdw>
                </a:effectLst>
                <a:latin typeface="楷体_GB2312" pitchFamily="49" charset="-122"/>
                <a:ea typeface="楷体_GB2312" pitchFamily="49" charset="-122"/>
                <a:cs typeface="+mn-ea"/>
              </a:rPr>
              <a:t>)</a:t>
            </a:r>
            <a:r>
              <a:rPr kumimoji="0" lang="en-US" altLang="zh-CN" sz="4000" b="1" i="0" u="none" strike="noStrike" kern="1200" cap="none" spc="0" normalizeH="0" baseline="0" noProof="1">
                <a:solidFill>
                  <a:srgbClr val="000000"/>
                </a:solidFill>
                <a:latin typeface="Times New Roman" panose="02020503050405090304" pitchFamily="18" charset="0"/>
                <a:ea typeface="宋体" pitchFamily="2" charset="-122"/>
                <a:cs typeface="+mn-ea"/>
              </a:rPr>
              <a:t> </a:t>
            </a:r>
            <a:endParaRPr kumimoji="0" lang="en-US" altLang="zh-CN" sz="4000" b="1" i="0" u="none" strike="noStrike" kern="1200" cap="none" spc="0" normalizeH="0" baseline="0" noProof="1">
              <a:solidFill>
                <a:srgbClr val="000000"/>
              </a:solidFill>
              <a:latin typeface="Times New Roman" panose="02020503050405090304" pitchFamily="18" charset="0"/>
              <a:ea typeface="宋体" pitchFamily="2" charset="-122"/>
              <a:cs typeface="+mn-ea"/>
            </a:endParaRPr>
          </a:p>
        </p:txBody>
      </p:sp>
      <p:sp>
        <p:nvSpPr>
          <p:cNvPr id="4" name="文本框 3"/>
          <p:cNvSpPr txBox="1"/>
          <p:nvPr/>
        </p:nvSpPr>
        <p:spPr>
          <a:xfrm>
            <a:off x="2700338" y="2722563"/>
            <a:ext cx="411163" cy="365125"/>
          </a:xfrm>
          <a:prstGeom prst="rect">
            <a:avLst/>
          </a:prstGeom>
          <a:noFill/>
          <a:ln w="9525">
            <a:noFill/>
          </a:ln>
        </p:spPr>
        <p:txBody>
          <a:bodyPr wrap="none" anchor="t">
            <a:spAutoFit/>
          </a:bodyPr>
          <a:p>
            <a:pPr>
              <a:buClrTx/>
            </a:pPr>
            <a:r>
              <a:rPr lang="zh-CN" altLang="en-US" sz="1800" noProof="1" dirty="0">
                <a:solidFill>
                  <a:srgbClr val="3333CC"/>
                </a:solidFill>
                <a:effectLst>
                  <a:outerShdw blurRad="38100" dist="38100" dir="2700000">
                    <a:srgbClr val="000000"/>
                  </a:outerShdw>
                </a:effectLst>
                <a:latin typeface="Arial" panose="020B0604020202090204" pitchFamily="34" charset="0"/>
                <a:ea typeface="黑体" panose="02010609060101010101" pitchFamily="49" charset="-122"/>
                <a:cs typeface="宋体" pitchFamily="2" charset="-122"/>
              </a:rPr>
              <a:t>，</a:t>
            </a:r>
            <a:endParaRPr lang="zh-CN" altLang="en-US" sz="1800" noProof="1" dirty="0">
              <a:solidFill>
                <a:srgbClr val="3333CC"/>
              </a:solidFill>
              <a:effectLst>
                <a:outerShdw blurRad="38100" dist="38100" dir="2700000">
                  <a:srgbClr val="000000"/>
                </a:outerShdw>
              </a:effectLst>
              <a:latin typeface="Arial" panose="020B0604020202090204" pitchFamily="34" charset="0"/>
              <a:ea typeface="黑体" panose="02010609060101010101" pitchFamily="49" charset="-122"/>
            </a:endParaRPr>
          </a:p>
        </p:txBody>
      </p:sp>
      <p:sp>
        <p:nvSpPr>
          <p:cNvPr id="5" name="文本框 4"/>
          <p:cNvSpPr txBox="1"/>
          <p:nvPr/>
        </p:nvSpPr>
        <p:spPr>
          <a:xfrm>
            <a:off x="2266950" y="2795588"/>
            <a:ext cx="334963" cy="365125"/>
          </a:xfrm>
          <a:prstGeom prst="rect">
            <a:avLst/>
          </a:prstGeom>
          <a:noFill/>
          <a:ln w="9525">
            <a:noFill/>
          </a:ln>
        </p:spPr>
        <p:txBody>
          <a:bodyPr wrap="none" anchor="t">
            <a:spAutoFit/>
          </a:bodyPr>
          <a:p>
            <a:pPr>
              <a:buClrTx/>
            </a:pPr>
            <a:r>
              <a:rPr lang="en-US" altLang="zh-CN" sz="1800" noProof="1">
                <a:solidFill>
                  <a:srgbClr val="3333CC"/>
                </a:solidFill>
                <a:effectLst>
                  <a:outerShdw blurRad="38100" dist="38100" dir="2700000">
                    <a:srgbClr val="FFFFFF"/>
                  </a:outerShdw>
                </a:effectLst>
                <a:latin typeface="Arial" panose="020B0604020202090204" pitchFamily="34" charset="0"/>
                <a:ea typeface="MingLiU" pitchFamily="49" charset="-120"/>
                <a:cs typeface="宋体" pitchFamily="2" charset="-122"/>
              </a:rPr>
              <a:t>A</a:t>
            </a:r>
            <a:endParaRPr lang="en-US" altLang="zh-CN" sz="1800" noProof="1">
              <a:solidFill>
                <a:srgbClr val="3333CC"/>
              </a:solidFill>
              <a:effectLst>
                <a:outerShdw blurRad="38100" dist="38100" dir="2700000">
                  <a:srgbClr val="FFFFFF"/>
                </a:outerShdw>
              </a:effectLst>
              <a:latin typeface="Arial" panose="020B0604020202090204" pitchFamily="34" charset="0"/>
              <a:ea typeface="MingLiU" pitchFamily="49" charset="-120"/>
            </a:endParaRPr>
          </a:p>
        </p:txBody>
      </p:sp>
      <p:sp>
        <p:nvSpPr>
          <p:cNvPr id="6" name="矩形 5"/>
          <p:cNvSpPr/>
          <p:nvPr/>
        </p:nvSpPr>
        <p:spPr>
          <a:xfrm>
            <a:off x="1331913" y="2774950"/>
            <a:ext cx="1008063" cy="365125"/>
          </a:xfrm>
          <a:prstGeom prst="rect">
            <a:avLst/>
          </a:prstGeom>
          <a:noFill/>
          <a:ln w="9525">
            <a:noFill/>
          </a:ln>
        </p:spPr>
        <p:txBody>
          <a:bodyPr>
            <a:spAutoFit/>
          </a:bodyPr>
          <a:p>
            <a:pPr lvl="0" fontAlgn="base">
              <a:buClrTx/>
            </a:pPr>
            <a:r>
              <a:rPr lang="en-US" altLang="zh-CN" sz="1800" strike="noStrike" noProof="1">
                <a:solidFill>
                  <a:srgbClr val="3333CC"/>
                </a:solidFill>
                <a:effectLst>
                  <a:outerShdw blurRad="38100" dist="38100" dir="2700000">
                    <a:srgbClr val="000000"/>
                  </a:outerShdw>
                </a:effectLst>
                <a:latin typeface="Arial" panose="020B0604020202090204" pitchFamily="34" charset="0"/>
                <a:ea typeface="宋体" pitchFamily="2" charset="-122"/>
                <a:cs typeface="宋体" pitchFamily="2" charset="-122"/>
              </a:rPr>
              <a:t>XCH</a:t>
            </a:r>
            <a:endParaRPr lang="en-US" altLang="zh-CN" sz="1800" strike="noStrike" noProof="1">
              <a:solidFill>
                <a:srgbClr val="3333CC"/>
              </a:solidFill>
              <a:effectLst>
                <a:outerShdw blurRad="38100" dist="38100" dir="2700000">
                  <a:srgbClr val="000000"/>
                </a:outerShdw>
              </a:effectLst>
              <a:latin typeface="Arial" panose="020B0604020202090204" pitchFamily="34" charset="0"/>
              <a:ea typeface="宋体" pitchFamily="2" charset="-122"/>
            </a:endParaRPr>
          </a:p>
        </p:txBody>
      </p:sp>
      <p:grpSp>
        <p:nvGrpSpPr>
          <p:cNvPr id="7" name="组合 6"/>
          <p:cNvGrpSpPr/>
          <p:nvPr/>
        </p:nvGrpSpPr>
        <p:grpSpPr>
          <a:xfrm>
            <a:off x="3243263" y="2133600"/>
            <a:ext cx="1009650" cy="1655763"/>
            <a:chOff x="2018" y="2523"/>
            <a:chExt cx="636" cy="1043"/>
          </a:xfrm>
        </p:grpSpPr>
        <p:sp>
          <p:nvSpPr>
            <p:cNvPr id="8" name="文本框 7"/>
            <p:cNvSpPr txBox="1"/>
            <p:nvPr/>
          </p:nvSpPr>
          <p:spPr>
            <a:xfrm>
              <a:off x="2018" y="2609"/>
              <a:ext cx="467" cy="230"/>
            </a:xfrm>
            <a:prstGeom prst="rect">
              <a:avLst/>
            </a:prstGeom>
            <a:noFill/>
            <a:ln w="9525">
              <a:noFill/>
            </a:ln>
          </p:spPr>
          <p:txBody>
            <a:bodyPr wrap="none" anchor="t">
              <a:spAutoFit/>
            </a:bodyPr>
            <a:p>
              <a:pPr>
                <a:buClrTx/>
              </a:pPr>
              <a:r>
                <a:rPr lang="en-US" altLang="zh-CN" sz="1800" noProof="1">
                  <a:solidFill>
                    <a:srgbClr val="3333CC"/>
                  </a:solidFill>
                  <a:effectLst>
                    <a:outerShdw blurRad="38100" dist="38100" dir="2700000">
                      <a:srgbClr val="FFFFFF"/>
                    </a:outerShdw>
                  </a:effectLst>
                  <a:latin typeface="Arial" panose="020B0604020202090204" pitchFamily="34" charset="0"/>
                  <a:ea typeface="MingLiU" pitchFamily="49" charset="-120"/>
                  <a:cs typeface="宋体" pitchFamily="2" charset="-122"/>
                </a:rPr>
                <a:t>direct</a:t>
              </a:r>
              <a:endParaRPr lang="en-US" altLang="zh-CN" sz="1800" noProof="1">
                <a:solidFill>
                  <a:srgbClr val="3333CC"/>
                </a:solidFill>
                <a:effectLst>
                  <a:outerShdw blurRad="38100" dist="38100" dir="2700000">
                    <a:srgbClr val="FFFFFF"/>
                  </a:outerShdw>
                </a:effectLst>
                <a:latin typeface="Arial" panose="020B0604020202090204" pitchFamily="34" charset="0"/>
                <a:ea typeface="MingLiU" pitchFamily="49" charset="-120"/>
              </a:endParaRPr>
            </a:p>
          </p:txBody>
        </p:sp>
        <p:sp>
          <p:nvSpPr>
            <p:cNvPr id="9" name="文本框 8"/>
            <p:cNvSpPr txBox="1"/>
            <p:nvPr/>
          </p:nvSpPr>
          <p:spPr>
            <a:xfrm>
              <a:off x="2018" y="2919"/>
              <a:ext cx="339" cy="230"/>
            </a:xfrm>
            <a:prstGeom prst="rect">
              <a:avLst/>
            </a:prstGeom>
            <a:noFill/>
            <a:ln w="9525">
              <a:noFill/>
            </a:ln>
          </p:spPr>
          <p:txBody>
            <a:bodyPr wrap="none" anchor="t">
              <a:spAutoFit/>
            </a:bodyPr>
            <a:p>
              <a:pPr>
                <a:buClrTx/>
              </a:pPr>
              <a:r>
                <a:rPr lang="en-US" altLang="zh-CN" sz="1800" noProof="1" err="1">
                  <a:solidFill>
                    <a:srgbClr val="3333CC"/>
                  </a:solidFill>
                  <a:effectLst>
                    <a:outerShdw blurRad="38100" dist="38100" dir="2700000">
                      <a:srgbClr val="FFFFFF"/>
                    </a:outerShdw>
                  </a:effectLst>
                  <a:latin typeface="Arial" panose="020B0604020202090204" pitchFamily="34" charset="0"/>
                  <a:ea typeface="MingLiU" pitchFamily="49" charset="-120"/>
                  <a:cs typeface="宋体" pitchFamily="2" charset="-122"/>
                </a:rPr>
                <a:t> Rn</a:t>
              </a:r>
              <a:endParaRPr lang="en-US" altLang="zh-CN" sz="1800" noProof="1" err="1">
                <a:solidFill>
                  <a:srgbClr val="3333CC"/>
                </a:solidFill>
                <a:effectLst>
                  <a:outerShdw blurRad="38100" dist="38100" dir="2700000">
                    <a:srgbClr val="FFFFFF"/>
                  </a:outerShdw>
                </a:effectLst>
                <a:latin typeface="Arial" panose="020B0604020202090204" pitchFamily="34" charset="0"/>
                <a:ea typeface="MingLiU" pitchFamily="49" charset="-120"/>
              </a:endParaRPr>
            </a:p>
          </p:txBody>
        </p:sp>
        <p:sp>
          <p:nvSpPr>
            <p:cNvPr id="10" name="文本框 9"/>
            <p:cNvSpPr txBox="1"/>
            <p:nvPr/>
          </p:nvSpPr>
          <p:spPr>
            <a:xfrm>
              <a:off x="2018" y="3249"/>
              <a:ext cx="397" cy="230"/>
            </a:xfrm>
            <a:prstGeom prst="rect">
              <a:avLst/>
            </a:prstGeom>
            <a:noFill/>
            <a:ln w="9525">
              <a:noFill/>
            </a:ln>
          </p:spPr>
          <p:txBody>
            <a:bodyPr wrap="none" anchor="t">
              <a:spAutoFit/>
            </a:bodyPr>
            <a:p>
              <a:pPr>
                <a:buClrTx/>
              </a:pPr>
              <a:r>
                <a:rPr lang="en-US" altLang="zh-CN" sz="1800" noProof="1" err="1">
                  <a:solidFill>
                    <a:srgbClr val="3333CC"/>
                  </a:solidFill>
                  <a:effectLst>
                    <a:outerShdw blurRad="38100" dist="38100" dir="2700000">
                      <a:srgbClr val="FFFFFF"/>
                    </a:outerShdw>
                  </a:effectLst>
                  <a:latin typeface="Arial" panose="020B0604020202090204" pitchFamily="34" charset="0"/>
                  <a:ea typeface="MingLiU" pitchFamily="49" charset="-120"/>
                  <a:cs typeface="宋体" pitchFamily="2" charset="-122"/>
                </a:rPr>
                <a:t>@Ri</a:t>
              </a:r>
              <a:endParaRPr lang="en-US" altLang="zh-CN" sz="1800" noProof="1" err="1">
                <a:solidFill>
                  <a:srgbClr val="3333CC"/>
                </a:solidFill>
                <a:effectLst>
                  <a:outerShdw blurRad="38100" dist="38100" dir="2700000">
                    <a:srgbClr val="FFFFFF"/>
                  </a:outerShdw>
                </a:effectLst>
                <a:latin typeface="Arial" panose="020B0604020202090204" pitchFamily="34" charset="0"/>
                <a:ea typeface="MingLiU" pitchFamily="49" charset="-120"/>
              </a:endParaRPr>
            </a:p>
          </p:txBody>
        </p:sp>
        <p:sp>
          <p:nvSpPr>
            <p:cNvPr id="98315" name="双括号 57403"/>
            <p:cNvSpPr/>
            <p:nvPr/>
          </p:nvSpPr>
          <p:spPr>
            <a:xfrm>
              <a:off x="2019" y="2523"/>
              <a:ext cx="635" cy="1043"/>
            </a:xfrm>
            <a:prstGeom prst="bracketPair">
              <a:avLst>
                <a:gd name="adj" fmla="val 16667"/>
              </a:avLst>
            </a:prstGeom>
            <a:noFill/>
            <a:ln w="9525" cap="flat" cmpd="sng">
              <a:solidFill>
                <a:srgbClr val="000000"/>
              </a:solidFill>
              <a:prstDash val="solid"/>
              <a:miter/>
              <a:headEnd type="none" w="med" len="med"/>
              <a:tailEnd type="none" w="med" len="med"/>
            </a:ln>
          </p:spPr>
          <p:txBody>
            <a:bodyPr anchor="t" anchorCtr="0"/>
            <a:p>
              <a:endParaRPr lang="zh-CN" altLang="en-US">
                <a:solidFill>
                  <a:srgbClr val="3333CC"/>
                </a:solidFill>
                <a:latin typeface="Times New Roman" panose="02020503050405090304" pitchFamily="18" charset="0"/>
                <a:ea typeface="宋体" pitchFamily="2" charset="-122"/>
              </a:endParaRPr>
            </a:p>
          </p:txBody>
        </p:sp>
      </p:grpSp>
      <p:grpSp>
        <p:nvGrpSpPr>
          <p:cNvPr id="12" name="组合 11"/>
          <p:cNvGrpSpPr/>
          <p:nvPr/>
        </p:nvGrpSpPr>
        <p:grpSpPr>
          <a:xfrm>
            <a:off x="2266950" y="2262188"/>
            <a:ext cx="1728788" cy="884237"/>
            <a:chOff x="1156" y="1289"/>
            <a:chExt cx="1089" cy="557"/>
          </a:xfrm>
        </p:grpSpPr>
        <p:sp>
          <p:nvSpPr>
            <p:cNvPr id="13" name="文本框 12"/>
            <p:cNvSpPr txBox="1"/>
            <p:nvPr/>
          </p:nvSpPr>
          <p:spPr>
            <a:xfrm>
              <a:off x="1778" y="1289"/>
              <a:ext cx="467" cy="230"/>
            </a:xfrm>
            <a:prstGeom prst="rect">
              <a:avLst/>
            </a:prstGeom>
            <a:noFill/>
            <a:ln w="9525">
              <a:noFill/>
            </a:ln>
          </p:spPr>
          <p:txBody>
            <a:bodyPr wrap="none" anchor="t">
              <a:spAutoFit/>
            </a:bodyPr>
            <a:p>
              <a:pPr>
                <a:buClrTx/>
              </a:pPr>
              <a:r>
                <a:rPr lang="en-US" altLang="zh-CN" sz="1800" noProof="1">
                  <a:solidFill>
                    <a:srgbClr val="3333CC"/>
                  </a:solidFill>
                  <a:effectLst>
                    <a:outerShdw blurRad="38100" dist="38100" dir="2700000">
                      <a:srgbClr val="000000"/>
                    </a:outerShdw>
                  </a:effectLst>
                  <a:latin typeface="Arial" panose="020B0604020202090204" pitchFamily="34" charset="0"/>
                  <a:ea typeface="MingLiU" pitchFamily="49" charset="-120"/>
                  <a:cs typeface="宋体" pitchFamily="2" charset="-122"/>
                </a:rPr>
                <a:t>direct</a:t>
              </a:r>
              <a:endParaRPr lang="en-US" altLang="zh-CN" sz="1800" noProof="1">
                <a:solidFill>
                  <a:srgbClr val="3333CC"/>
                </a:solidFill>
                <a:effectLst>
                  <a:outerShdw blurRad="38100" dist="38100" dir="2700000">
                    <a:srgbClr val="000000"/>
                  </a:outerShdw>
                </a:effectLst>
                <a:latin typeface="Arial" panose="020B0604020202090204" pitchFamily="34" charset="0"/>
                <a:ea typeface="MingLiU" pitchFamily="49" charset="-120"/>
              </a:endParaRPr>
            </a:p>
          </p:txBody>
        </p:sp>
        <p:sp>
          <p:nvSpPr>
            <p:cNvPr id="14" name="文本框 13"/>
            <p:cNvSpPr txBox="1"/>
            <p:nvPr/>
          </p:nvSpPr>
          <p:spPr>
            <a:xfrm>
              <a:off x="1156" y="1616"/>
              <a:ext cx="211" cy="230"/>
            </a:xfrm>
            <a:prstGeom prst="rect">
              <a:avLst/>
            </a:prstGeom>
            <a:noFill/>
            <a:ln w="9525">
              <a:noFill/>
            </a:ln>
          </p:spPr>
          <p:txBody>
            <a:bodyPr wrap="none" anchor="t">
              <a:spAutoFit/>
            </a:bodyPr>
            <a:p>
              <a:pPr>
                <a:buClrTx/>
              </a:pPr>
              <a:r>
                <a:rPr lang="en-US" altLang="zh-CN" sz="1800" noProof="1">
                  <a:solidFill>
                    <a:srgbClr val="3333CC"/>
                  </a:solidFill>
                  <a:effectLst>
                    <a:outerShdw blurRad="38100" dist="38100" dir="2700000">
                      <a:srgbClr val="000000"/>
                    </a:outerShdw>
                  </a:effectLst>
                  <a:latin typeface="Arial" panose="020B0604020202090204" pitchFamily="34" charset="0"/>
                  <a:ea typeface="MingLiU" pitchFamily="49" charset="-120"/>
                  <a:cs typeface="宋体" pitchFamily="2" charset="-122"/>
                </a:rPr>
                <a:t>A</a:t>
              </a:r>
              <a:endParaRPr lang="en-US" altLang="zh-CN" sz="1800" noProof="1">
                <a:solidFill>
                  <a:srgbClr val="3333CC"/>
                </a:solidFill>
                <a:effectLst>
                  <a:outerShdw blurRad="38100" dist="38100" dir="2700000">
                    <a:srgbClr val="000000"/>
                  </a:outerShdw>
                </a:effectLst>
                <a:latin typeface="Arial" panose="020B0604020202090204" pitchFamily="34" charset="0"/>
                <a:ea typeface="MingLiU" pitchFamily="49" charset="-120"/>
              </a:endParaRPr>
            </a:p>
          </p:txBody>
        </p:sp>
        <p:sp>
          <p:nvSpPr>
            <p:cNvPr id="98319" name="直接连接符 57429"/>
            <p:cNvSpPr/>
            <p:nvPr/>
          </p:nvSpPr>
          <p:spPr>
            <a:xfrm flipV="1">
              <a:off x="1383" y="1434"/>
              <a:ext cx="454" cy="272"/>
            </a:xfrm>
            <a:prstGeom prst="line">
              <a:avLst/>
            </a:prstGeom>
            <a:ln w="9525" cap="flat" cmpd="sng">
              <a:solidFill>
                <a:srgbClr val="FF0000"/>
              </a:solidFill>
              <a:prstDash val="solid"/>
              <a:miter/>
              <a:headEnd type="arrow" w="lg" len="lg"/>
              <a:tailEnd type="arrow" w="lg" len="lg"/>
            </a:ln>
          </p:spPr>
        </p:sp>
      </p:grpSp>
      <p:grpSp>
        <p:nvGrpSpPr>
          <p:cNvPr id="16" name="组合 15"/>
          <p:cNvGrpSpPr/>
          <p:nvPr/>
        </p:nvGrpSpPr>
        <p:grpSpPr>
          <a:xfrm>
            <a:off x="2671763" y="2767013"/>
            <a:ext cx="1101725" cy="365125"/>
            <a:chOff x="1383" y="1599"/>
            <a:chExt cx="694" cy="230"/>
          </a:xfrm>
        </p:grpSpPr>
        <p:sp>
          <p:nvSpPr>
            <p:cNvPr id="17" name="文本框 16"/>
            <p:cNvSpPr txBox="1"/>
            <p:nvPr/>
          </p:nvSpPr>
          <p:spPr>
            <a:xfrm>
              <a:off x="1778" y="1599"/>
              <a:ext cx="299" cy="230"/>
            </a:xfrm>
            <a:prstGeom prst="rect">
              <a:avLst/>
            </a:prstGeom>
            <a:noFill/>
            <a:ln w="9525">
              <a:noFill/>
            </a:ln>
          </p:spPr>
          <p:txBody>
            <a:bodyPr wrap="none" anchor="t">
              <a:spAutoFit/>
            </a:bodyPr>
            <a:p>
              <a:pPr>
                <a:buClrTx/>
              </a:pPr>
              <a:r>
                <a:rPr lang="en-US" altLang="zh-CN" sz="1800" noProof="1" err="1">
                  <a:solidFill>
                    <a:srgbClr val="3333CC"/>
                  </a:solidFill>
                  <a:effectLst>
                    <a:outerShdw blurRad="38100" dist="38100" dir="2700000">
                      <a:srgbClr val="000000"/>
                    </a:outerShdw>
                  </a:effectLst>
                  <a:latin typeface="Arial" panose="020B0604020202090204" pitchFamily="34" charset="0"/>
                  <a:ea typeface="MingLiU" pitchFamily="49" charset="-120"/>
                  <a:cs typeface="宋体" pitchFamily="2" charset="-122"/>
                </a:rPr>
                <a:t>Rn</a:t>
              </a:r>
              <a:endParaRPr lang="en-US" altLang="zh-CN" sz="1800" noProof="1" err="1">
                <a:solidFill>
                  <a:srgbClr val="3333CC"/>
                </a:solidFill>
                <a:effectLst>
                  <a:outerShdw blurRad="38100" dist="38100" dir="2700000">
                    <a:srgbClr val="000000"/>
                  </a:outerShdw>
                </a:effectLst>
                <a:latin typeface="Arial" panose="020B0604020202090204" pitchFamily="34" charset="0"/>
                <a:ea typeface="MingLiU" pitchFamily="49" charset="-120"/>
              </a:endParaRPr>
            </a:p>
          </p:txBody>
        </p:sp>
        <p:sp>
          <p:nvSpPr>
            <p:cNvPr id="98322" name="直接连接符 57430"/>
            <p:cNvSpPr/>
            <p:nvPr/>
          </p:nvSpPr>
          <p:spPr>
            <a:xfrm>
              <a:off x="1383" y="1706"/>
              <a:ext cx="454" cy="0"/>
            </a:xfrm>
            <a:prstGeom prst="line">
              <a:avLst/>
            </a:prstGeom>
            <a:ln w="9525" cap="flat" cmpd="sng">
              <a:solidFill>
                <a:srgbClr val="FF0000"/>
              </a:solidFill>
              <a:prstDash val="solid"/>
              <a:miter/>
              <a:headEnd type="arrow" w="lg" len="lg"/>
              <a:tailEnd type="arrow" w="lg" len="lg"/>
            </a:ln>
          </p:spPr>
        </p:sp>
      </p:grpSp>
      <p:grpSp>
        <p:nvGrpSpPr>
          <p:cNvPr id="19" name="组合 18"/>
          <p:cNvGrpSpPr/>
          <p:nvPr/>
        </p:nvGrpSpPr>
        <p:grpSpPr>
          <a:xfrm>
            <a:off x="2627313" y="2924175"/>
            <a:ext cx="1257300" cy="719138"/>
            <a:chOff x="1383" y="1706"/>
            <a:chExt cx="792" cy="453"/>
          </a:xfrm>
        </p:grpSpPr>
        <p:sp>
          <p:nvSpPr>
            <p:cNvPr id="20" name="文本框 19"/>
            <p:cNvSpPr txBox="1"/>
            <p:nvPr/>
          </p:nvSpPr>
          <p:spPr>
            <a:xfrm>
              <a:off x="1778" y="1929"/>
              <a:ext cx="397" cy="230"/>
            </a:xfrm>
            <a:prstGeom prst="rect">
              <a:avLst/>
            </a:prstGeom>
            <a:noFill/>
            <a:ln w="9525">
              <a:noFill/>
            </a:ln>
          </p:spPr>
          <p:txBody>
            <a:bodyPr wrap="none" anchor="t">
              <a:spAutoFit/>
            </a:bodyPr>
            <a:p>
              <a:pPr>
                <a:buClrTx/>
              </a:pPr>
              <a:r>
                <a:rPr lang="en-US" altLang="zh-CN" sz="1800" noProof="1" err="1">
                  <a:solidFill>
                    <a:srgbClr val="3333CC"/>
                  </a:solidFill>
                  <a:effectLst>
                    <a:outerShdw blurRad="38100" dist="38100" dir="2700000">
                      <a:srgbClr val="000000"/>
                    </a:outerShdw>
                  </a:effectLst>
                  <a:latin typeface="Arial" panose="020B0604020202090204" pitchFamily="34" charset="0"/>
                  <a:ea typeface="MingLiU" pitchFamily="49" charset="-120"/>
                  <a:cs typeface="宋体" pitchFamily="2" charset="-122"/>
                </a:rPr>
                <a:t>@Ri</a:t>
              </a:r>
              <a:endParaRPr lang="en-US" altLang="zh-CN" sz="1800" noProof="1" err="1">
                <a:solidFill>
                  <a:srgbClr val="3333CC"/>
                </a:solidFill>
                <a:effectLst>
                  <a:outerShdw blurRad="38100" dist="38100" dir="2700000">
                    <a:srgbClr val="000000"/>
                  </a:outerShdw>
                </a:effectLst>
                <a:latin typeface="Arial" panose="020B0604020202090204" pitchFamily="34" charset="0"/>
                <a:ea typeface="MingLiU" pitchFamily="49" charset="-120"/>
              </a:endParaRPr>
            </a:p>
          </p:txBody>
        </p:sp>
        <p:sp>
          <p:nvSpPr>
            <p:cNvPr id="98325" name="直接连接符 57431"/>
            <p:cNvSpPr/>
            <p:nvPr/>
          </p:nvSpPr>
          <p:spPr>
            <a:xfrm>
              <a:off x="1383" y="1706"/>
              <a:ext cx="454" cy="363"/>
            </a:xfrm>
            <a:prstGeom prst="line">
              <a:avLst/>
            </a:prstGeom>
            <a:ln w="9525" cap="flat" cmpd="sng">
              <a:solidFill>
                <a:srgbClr val="FF0000"/>
              </a:solidFill>
              <a:prstDash val="solid"/>
              <a:miter/>
              <a:headEnd type="arrow" w="lg" len="lg"/>
              <a:tailEnd type="arrow" w="lg" len="lg"/>
            </a:ln>
          </p:spPr>
        </p:sp>
      </p:grpSp>
      <p:sp>
        <p:nvSpPr>
          <p:cNvPr id="22" name="矩形 21"/>
          <p:cNvSpPr>
            <a:spLocks noRot="1"/>
          </p:cNvSpPr>
          <p:nvPr/>
        </p:nvSpPr>
        <p:spPr>
          <a:xfrm>
            <a:off x="1042988" y="4005263"/>
            <a:ext cx="3744913" cy="504825"/>
          </a:xfrm>
          <a:prstGeom prst="rect">
            <a:avLst/>
          </a:prstGeom>
          <a:noFill/>
          <a:ln w="9525">
            <a:noFill/>
          </a:ln>
        </p:spPr>
        <p:txBody>
          <a:bodyPr anchor="ctr"/>
          <a:p>
            <a:pPr fontAlgn="base"/>
            <a:r>
              <a:rPr lang="en-US" altLang="zh-CN" strike="noStrike" noProof="1" dirty="0">
                <a:solidFill>
                  <a:srgbClr val="3333CC"/>
                </a:solidFill>
                <a:effectLst>
                  <a:outerShdw blurRad="38100" dist="38100" dir="2700000">
                    <a:srgbClr val="C0C0C0"/>
                  </a:outerShdw>
                </a:effectLst>
                <a:latin typeface="楷体_GB2312" pitchFamily="49" charset="-122"/>
                <a:ea typeface="楷体_GB2312" pitchFamily="49" charset="-122"/>
                <a:cs typeface="+mn-ea"/>
              </a:rPr>
              <a:t>2)</a:t>
            </a:r>
            <a:r>
              <a:rPr lang="zh-CN" altLang="en-US" strike="noStrike" noProof="1" dirty="0">
                <a:solidFill>
                  <a:srgbClr val="3333CC"/>
                </a:solidFill>
                <a:effectLst>
                  <a:outerShdw blurRad="38100" dist="38100" dir="2700000">
                    <a:srgbClr val="C0C0C0"/>
                  </a:outerShdw>
                </a:effectLst>
                <a:latin typeface="楷体_GB2312" pitchFamily="49" charset="-122"/>
                <a:ea typeface="楷体_GB2312" pitchFamily="49" charset="-122"/>
                <a:cs typeface="+mn-ea"/>
              </a:rPr>
              <a:t>低半字节交换指令</a:t>
            </a:r>
            <a:r>
              <a:rPr lang="en-US" altLang="zh-CN" strike="noStrike" noProof="1" dirty="0">
                <a:solidFill>
                  <a:srgbClr val="3333CC"/>
                </a:solidFill>
                <a:effectLst>
                  <a:outerShdw blurRad="38100" dist="38100" dir="2700000">
                    <a:srgbClr val="C0C0C0"/>
                  </a:outerShdw>
                </a:effectLst>
                <a:latin typeface="楷体_GB2312" pitchFamily="49" charset="-122"/>
                <a:ea typeface="楷体_GB2312" pitchFamily="49" charset="-122"/>
                <a:cs typeface="+mn-ea"/>
              </a:rPr>
              <a:t>(1</a:t>
            </a:r>
            <a:r>
              <a:rPr lang="zh-CN" altLang="en-US" strike="noStrike" noProof="1" dirty="0">
                <a:solidFill>
                  <a:srgbClr val="3333CC"/>
                </a:solidFill>
                <a:effectLst>
                  <a:outerShdw blurRad="38100" dist="38100" dir="2700000">
                    <a:srgbClr val="C0C0C0"/>
                  </a:outerShdw>
                </a:effectLst>
                <a:latin typeface="楷体_GB2312" pitchFamily="49" charset="-122"/>
                <a:ea typeface="楷体_GB2312" pitchFamily="49" charset="-122"/>
                <a:cs typeface="+mn-ea"/>
              </a:rPr>
              <a:t>条</a:t>
            </a:r>
            <a:r>
              <a:rPr lang="en-US" altLang="zh-CN" strike="noStrike" noProof="1">
                <a:solidFill>
                  <a:srgbClr val="3333CC"/>
                </a:solidFill>
                <a:effectLst>
                  <a:outerShdw blurRad="38100" dist="38100" dir="2700000">
                    <a:srgbClr val="C0C0C0"/>
                  </a:outerShdw>
                </a:effectLst>
                <a:latin typeface="楷体_GB2312" pitchFamily="49" charset="-122"/>
                <a:ea typeface="楷体_GB2312" pitchFamily="49" charset="-122"/>
                <a:cs typeface="+mn-ea"/>
              </a:rPr>
              <a:t>)</a:t>
            </a:r>
            <a:r>
              <a:rPr lang="en-US" altLang="zh-CN" strike="noStrike" noProof="1">
                <a:solidFill>
                  <a:srgbClr val="3333CC"/>
                </a:solidFill>
                <a:latin typeface="Arial" panose="020B0604020202090204" pitchFamily="34" charset="0"/>
                <a:ea typeface="宋体" pitchFamily="2" charset="-122"/>
                <a:cs typeface="+mn-ea"/>
              </a:rPr>
              <a:t> </a:t>
            </a:r>
            <a:endParaRPr lang="en-US" altLang="zh-CN" strike="noStrike" noProof="1">
              <a:solidFill>
                <a:srgbClr val="3333CC"/>
              </a:solidFill>
              <a:latin typeface="Arial" panose="020B0604020202090204" pitchFamily="34" charset="0"/>
              <a:ea typeface="宋体" pitchFamily="2" charset="-122"/>
            </a:endParaRPr>
          </a:p>
        </p:txBody>
      </p:sp>
      <p:sp>
        <p:nvSpPr>
          <p:cNvPr id="23" name="矩形 22"/>
          <p:cNvSpPr/>
          <p:nvPr/>
        </p:nvSpPr>
        <p:spPr>
          <a:xfrm>
            <a:off x="1547813" y="4652963"/>
            <a:ext cx="3816350" cy="365125"/>
          </a:xfrm>
          <a:prstGeom prst="rect">
            <a:avLst/>
          </a:prstGeom>
          <a:noFill/>
          <a:ln w="9525">
            <a:noFill/>
          </a:ln>
        </p:spPr>
        <p:txBody>
          <a:bodyPr>
            <a:spAutoFit/>
          </a:bodyPr>
          <a:p>
            <a:pPr lvl="0" fontAlgn="base">
              <a:buClrTx/>
            </a:pPr>
            <a:r>
              <a:rPr lang="en-US" altLang="zh-CN" sz="1800" strike="noStrike" noProof="1" err="1">
                <a:solidFill>
                  <a:srgbClr val="3333CC"/>
                </a:solidFill>
                <a:effectLst>
                  <a:outerShdw blurRad="38100" dist="38100" dir="2700000">
                    <a:srgbClr val="000000"/>
                  </a:outerShdw>
                </a:effectLst>
                <a:latin typeface="Arial" panose="020B0604020202090204" pitchFamily="34" charset="0"/>
                <a:ea typeface="宋体" pitchFamily="2" charset="-122"/>
                <a:cs typeface="宋体" pitchFamily="2" charset="-122"/>
              </a:rPr>
              <a:t>XCHD   A ,  @Ri</a:t>
            </a:r>
            <a:endParaRPr lang="en-US" altLang="zh-CN" sz="1800" strike="noStrike" noProof="1" err="1">
              <a:solidFill>
                <a:srgbClr val="3333CC"/>
              </a:solidFill>
              <a:effectLst>
                <a:outerShdw blurRad="38100" dist="38100" dir="2700000">
                  <a:srgbClr val="000000"/>
                </a:outerShdw>
              </a:effectLst>
              <a:latin typeface="Arial" panose="020B0604020202090204" pitchFamily="34" charset="0"/>
              <a:ea typeface="宋体" pitchFamily="2" charset="-122"/>
            </a:endParaRPr>
          </a:p>
        </p:txBody>
      </p:sp>
      <p:sp>
        <p:nvSpPr>
          <p:cNvPr id="24" name="矩形 23"/>
          <p:cNvSpPr>
            <a:spLocks noRot="1"/>
          </p:cNvSpPr>
          <p:nvPr/>
        </p:nvSpPr>
        <p:spPr>
          <a:xfrm>
            <a:off x="971550" y="5157788"/>
            <a:ext cx="4392613" cy="504825"/>
          </a:xfrm>
          <a:prstGeom prst="rect">
            <a:avLst/>
          </a:prstGeom>
          <a:noFill/>
          <a:ln w="9525">
            <a:noFill/>
          </a:ln>
        </p:spPr>
        <p:txBody>
          <a:bodyPr anchor="ctr"/>
          <a:p>
            <a:pPr fontAlgn="base"/>
            <a:r>
              <a:rPr lang="en-US" altLang="zh-CN" strike="noStrike" noProof="1" dirty="0">
                <a:solidFill>
                  <a:srgbClr val="3333CC"/>
                </a:solidFill>
                <a:effectLst>
                  <a:outerShdw blurRad="38100" dist="38100" dir="2700000">
                    <a:srgbClr val="C0C0C0"/>
                  </a:outerShdw>
                </a:effectLst>
                <a:latin typeface="楷体_GB2312" pitchFamily="49" charset="-122"/>
                <a:ea typeface="楷体_GB2312" pitchFamily="49" charset="-122"/>
                <a:cs typeface="+mn-ea"/>
              </a:rPr>
              <a:t>3)</a:t>
            </a:r>
            <a:r>
              <a:rPr lang="zh-CN" altLang="en-US" strike="noStrike" noProof="1" dirty="0">
                <a:solidFill>
                  <a:srgbClr val="3333CC"/>
                </a:solidFill>
                <a:effectLst>
                  <a:outerShdw blurRad="38100" dist="38100" dir="2700000">
                    <a:srgbClr val="C0C0C0"/>
                  </a:outerShdw>
                </a:effectLst>
                <a:latin typeface="楷体_GB2312" pitchFamily="49" charset="-122"/>
                <a:ea typeface="楷体_GB2312" pitchFamily="49" charset="-122"/>
                <a:cs typeface="+mn-ea"/>
              </a:rPr>
              <a:t>累加器</a:t>
            </a:r>
            <a:r>
              <a:rPr lang="en-US" altLang="zh-CN" strike="noStrike" noProof="1" dirty="0">
                <a:solidFill>
                  <a:srgbClr val="3333CC"/>
                </a:solidFill>
                <a:effectLst>
                  <a:outerShdw blurRad="38100" dist="38100" dir="2700000">
                    <a:srgbClr val="C0C0C0"/>
                  </a:outerShdw>
                </a:effectLst>
                <a:latin typeface="楷体_GB2312" pitchFamily="49" charset="-122"/>
                <a:ea typeface="楷体_GB2312" pitchFamily="49" charset="-122"/>
                <a:cs typeface="+mn-ea"/>
              </a:rPr>
              <a:t>A</a:t>
            </a:r>
            <a:r>
              <a:rPr lang="zh-CN" altLang="en-US" strike="noStrike" noProof="1" dirty="0">
                <a:solidFill>
                  <a:srgbClr val="3333CC"/>
                </a:solidFill>
                <a:effectLst>
                  <a:outerShdw blurRad="38100" dist="38100" dir="2700000">
                    <a:srgbClr val="C0C0C0"/>
                  </a:outerShdw>
                </a:effectLst>
                <a:latin typeface="楷体_GB2312" pitchFamily="49" charset="-122"/>
                <a:ea typeface="楷体_GB2312" pitchFamily="49" charset="-122"/>
                <a:cs typeface="+mn-ea"/>
              </a:rPr>
              <a:t>中高</a:t>
            </a:r>
            <a:r>
              <a:rPr lang="en-US" altLang="zh-CN" strike="noStrike" noProof="1" dirty="0">
                <a:solidFill>
                  <a:srgbClr val="3333CC"/>
                </a:solidFill>
                <a:effectLst>
                  <a:outerShdw blurRad="38100" dist="38100" dir="2700000">
                    <a:srgbClr val="C0C0C0"/>
                  </a:outerShdw>
                </a:effectLst>
                <a:latin typeface="楷体_GB2312" pitchFamily="49" charset="-122"/>
                <a:ea typeface="楷体_GB2312" pitchFamily="49" charset="-122"/>
                <a:cs typeface="+mn-ea"/>
              </a:rPr>
              <a:t>4</a:t>
            </a:r>
            <a:r>
              <a:rPr lang="zh-CN" altLang="en-US" strike="noStrike" noProof="1" dirty="0">
                <a:solidFill>
                  <a:srgbClr val="3333CC"/>
                </a:solidFill>
                <a:effectLst>
                  <a:outerShdw blurRad="38100" dist="38100" dir="2700000">
                    <a:srgbClr val="C0C0C0"/>
                  </a:outerShdw>
                </a:effectLst>
                <a:latin typeface="楷体_GB2312" pitchFamily="49" charset="-122"/>
                <a:ea typeface="楷体_GB2312" pitchFamily="49" charset="-122"/>
                <a:cs typeface="+mn-ea"/>
              </a:rPr>
              <a:t>位和低</a:t>
            </a:r>
            <a:r>
              <a:rPr lang="en-US" altLang="zh-CN" strike="noStrike" noProof="1" dirty="0">
                <a:solidFill>
                  <a:srgbClr val="3333CC"/>
                </a:solidFill>
                <a:effectLst>
                  <a:outerShdw blurRad="38100" dist="38100" dir="2700000">
                    <a:srgbClr val="C0C0C0"/>
                  </a:outerShdw>
                </a:effectLst>
                <a:latin typeface="楷体_GB2312" pitchFamily="49" charset="-122"/>
                <a:ea typeface="楷体_GB2312" pitchFamily="49" charset="-122"/>
                <a:cs typeface="+mn-ea"/>
              </a:rPr>
              <a:t>4</a:t>
            </a:r>
            <a:r>
              <a:rPr lang="zh-CN" altLang="en-US" strike="noStrike" noProof="1" dirty="0">
                <a:solidFill>
                  <a:srgbClr val="3333CC"/>
                </a:solidFill>
                <a:effectLst>
                  <a:outerShdw blurRad="38100" dist="38100" dir="2700000">
                    <a:srgbClr val="C0C0C0"/>
                  </a:outerShdw>
                </a:effectLst>
                <a:latin typeface="楷体_GB2312" pitchFamily="49" charset="-122"/>
                <a:ea typeface="楷体_GB2312" pitchFamily="49" charset="-122"/>
                <a:cs typeface="+mn-ea"/>
              </a:rPr>
              <a:t>位交换</a:t>
            </a:r>
            <a:r>
              <a:rPr lang="en-US" altLang="zh-CN" strike="noStrike" noProof="1" dirty="0">
                <a:solidFill>
                  <a:srgbClr val="3333CC"/>
                </a:solidFill>
                <a:effectLst>
                  <a:outerShdw blurRad="38100" dist="38100" dir="2700000">
                    <a:srgbClr val="C0C0C0"/>
                  </a:outerShdw>
                </a:effectLst>
                <a:latin typeface="楷体_GB2312" pitchFamily="49" charset="-122"/>
                <a:ea typeface="楷体_GB2312" pitchFamily="49" charset="-122"/>
                <a:cs typeface="+mn-ea"/>
              </a:rPr>
              <a:t>(1</a:t>
            </a:r>
            <a:r>
              <a:rPr lang="zh-CN" altLang="en-US" strike="noStrike" noProof="1" dirty="0">
                <a:solidFill>
                  <a:srgbClr val="3333CC"/>
                </a:solidFill>
                <a:effectLst>
                  <a:outerShdw blurRad="38100" dist="38100" dir="2700000">
                    <a:srgbClr val="C0C0C0"/>
                  </a:outerShdw>
                </a:effectLst>
                <a:latin typeface="楷体_GB2312" pitchFamily="49" charset="-122"/>
                <a:ea typeface="楷体_GB2312" pitchFamily="49" charset="-122"/>
                <a:cs typeface="+mn-ea"/>
              </a:rPr>
              <a:t>条</a:t>
            </a:r>
            <a:r>
              <a:rPr lang="en-US" altLang="zh-CN" strike="noStrike" noProof="1">
                <a:solidFill>
                  <a:srgbClr val="3333CC"/>
                </a:solidFill>
                <a:effectLst>
                  <a:outerShdw blurRad="38100" dist="38100" dir="2700000">
                    <a:srgbClr val="C0C0C0"/>
                  </a:outerShdw>
                </a:effectLst>
                <a:latin typeface="楷体_GB2312" pitchFamily="49" charset="-122"/>
                <a:ea typeface="楷体_GB2312" pitchFamily="49" charset="-122"/>
                <a:cs typeface="+mn-ea"/>
              </a:rPr>
              <a:t>)</a:t>
            </a:r>
            <a:r>
              <a:rPr lang="en-US" altLang="zh-CN" strike="noStrike" noProof="1">
                <a:solidFill>
                  <a:srgbClr val="3333CC"/>
                </a:solidFill>
                <a:latin typeface="Arial" panose="020B0604020202090204" pitchFamily="34" charset="0"/>
                <a:ea typeface="宋体" pitchFamily="2" charset="-122"/>
                <a:cs typeface="+mn-ea"/>
              </a:rPr>
              <a:t> </a:t>
            </a:r>
            <a:endParaRPr lang="en-US" altLang="zh-CN" strike="noStrike" noProof="1">
              <a:solidFill>
                <a:srgbClr val="3333CC"/>
              </a:solidFill>
              <a:latin typeface="Arial" panose="020B0604020202090204" pitchFamily="34" charset="0"/>
              <a:ea typeface="宋体" pitchFamily="2" charset="-122"/>
            </a:endParaRPr>
          </a:p>
        </p:txBody>
      </p:sp>
      <p:sp>
        <p:nvSpPr>
          <p:cNvPr id="25" name="矩形 24"/>
          <p:cNvSpPr/>
          <p:nvPr/>
        </p:nvSpPr>
        <p:spPr>
          <a:xfrm>
            <a:off x="1547813" y="5661025"/>
            <a:ext cx="1584325" cy="365125"/>
          </a:xfrm>
          <a:prstGeom prst="rect">
            <a:avLst/>
          </a:prstGeom>
          <a:noFill/>
          <a:ln w="9525">
            <a:noFill/>
          </a:ln>
        </p:spPr>
        <p:txBody>
          <a:bodyPr>
            <a:spAutoFit/>
          </a:bodyPr>
          <a:p>
            <a:pPr lvl="0" fontAlgn="base">
              <a:buClrTx/>
            </a:pPr>
            <a:r>
              <a:rPr lang="en-US" altLang="zh-CN" sz="1800" strike="noStrike" noProof="1">
                <a:solidFill>
                  <a:srgbClr val="3333CC"/>
                </a:solidFill>
                <a:effectLst>
                  <a:outerShdw blurRad="38100" dist="38100" dir="2700000">
                    <a:srgbClr val="000000"/>
                  </a:outerShdw>
                </a:effectLst>
                <a:latin typeface="Arial" panose="020B0604020202090204" pitchFamily="34" charset="0"/>
                <a:ea typeface="宋体" pitchFamily="2" charset="-122"/>
                <a:cs typeface="宋体" pitchFamily="2" charset="-122"/>
              </a:rPr>
              <a:t>SWAP  A </a:t>
            </a:r>
            <a:endParaRPr lang="en-US" altLang="zh-CN" sz="1800" strike="noStrike" noProof="1">
              <a:solidFill>
                <a:srgbClr val="3333CC"/>
              </a:solidFill>
              <a:effectLst>
                <a:outerShdw blurRad="38100" dist="38100" dir="2700000">
                  <a:srgbClr val="000000"/>
                </a:outerShdw>
              </a:effectLst>
              <a:latin typeface="Arial" panose="020B0604020202090204" pitchFamily="34" charset="0"/>
              <a:ea typeface="宋体" pitchFamily="2" charset="-122"/>
            </a:endParaRPr>
          </a:p>
        </p:txBody>
      </p:sp>
      <p:sp>
        <p:nvSpPr>
          <p:cNvPr id="26" name="矩形 25"/>
          <p:cNvSpPr>
            <a:spLocks noRot="1"/>
          </p:cNvSpPr>
          <p:nvPr/>
        </p:nvSpPr>
        <p:spPr>
          <a:xfrm>
            <a:off x="4500563" y="1628775"/>
            <a:ext cx="4392613" cy="504825"/>
          </a:xfrm>
          <a:prstGeom prst="rect">
            <a:avLst/>
          </a:prstGeom>
          <a:noFill/>
          <a:ln w="9525">
            <a:noFill/>
          </a:ln>
        </p:spPr>
        <p:txBody>
          <a:bodyPr anchor="ctr"/>
          <a:p>
            <a:pPr fontAlgn="base"/>
            <a:r>
              <a:rPr lang="en-US" altLang="zh-CN" b="1" strike="noStrike" noProof="1" dirty="0">
                <a:solidFill>
                  <a:srgbClr val="FF9933"/>
                </a:solidFill>
                <a:effectLst>
                  <a:outerShdw blurRad="38100" dist="38100" dir="2700000">
                    <a:srgbClr val="C0C0C0"/>
                  </a:outerShdw>
                </a:effectLst>
                <a:latin typeface="楷体_GB2312" pitchFamily="49" charset="-122"/>
                <a:ea typeface="楷体_GB2312" pitchFamily="49" charset="-122"/>
                <a:cs typeface="+mn-ea"/>
              </a:rPr>
              <a:t>4)</a:t>
            </a:r>
            <a:r>
              <a:rPr lang="zh-CN" altLang="en-US" b="1" strike="noStrike" noProof="1" dirty="0">
                <a:solidFill>
                  <a:srgbClr val="FF9933"/>
                </a:solidFill>
                <a:effectLst>
                  <a:outerShdw blurRad="38100" dist="38100" dir="2700000">
                    <a:srgbClr val="C0C0C0"/>
                  </a:outerShdw>
                </a:effectLst>
                <a:latin typeface="楷体_GB2312" pitchFamily="49" charset="-122"/>
                <a:ea typeface="楷体_GB2312" pitchFamily="49" charset="-122"/>
                <a:cs typeface="+mn-ea"/>
              </a:rPr>
              <a:t>查表指令</a:t>
            </a:r>
            <a:r>
              <a:rPr lang="en-US" altLang="zh-CN" b="1" strike="noStrike" noProof="1" dirty="0">
                <a:solidFill>
                  <a:srgbClr val="FF9933"/>
                </a:solidFill>
                <a:effectLst>
                  <a:outerShdw blurRad="38100" dist="38100" dir="2700000">
                    <a:srgbClr val="C0C0C0"/>
                  </a:outerShdw>
                </a:effectLst>
                <a:latin typeface="楷体_GB2312" pitchFamily="49" charset="-122"/>
                <a:ea typeface="楷体_GB2312" pitchFamily="49" charset="-122"/>
                <a:cs typeface="+mn-ea"/>
              </a:rPr>
              <a:t>(2</a:t>
            </a:r>
            <a:r>
              <a:rPr lang="zh-CN" altLang="en-US" b="1" strike="noStrike" noProof="1" dirty="0">
                <a:solidFill>
                  <a:srgbClr val="FF9933"/>
                </a:solidFill>
                <a:effectLst>
                  <a:outerShdw blurRad="38100" dist="38100" dir="2700000">
                    <a:srgbClr val="C0C0C0"/>
                  </a:outerShdw>
                </a:effectLst>
                <a:latin typeface="楷体_GB2312" pitchFamily="49" charset="-122"/>
                <a:ea typeface="楷体_GB2312" pitchFamily="49" charset="-122"/>
                <a:cs typeface="+mn-ea"/>
              </a:rPr>
              <a:t>条</a:t>
            </a:r>
            <a:r>
              <a:rPr lang="en-US" altLang="zh-CN" b="1" strike="noStrike" noProof="1">
                <a:solidFill>
                  <a:srgbClr val="FF9933"/>
                </a:solidFill>
                <a:effectLst>
                  <a:outerShdw blurRad="38100" dist="38100" dir="2700000">
                    <a:srgbClr val="C0C0C0"/>
                  </a:outerShdw>
                </a:effectLst>
                <a:latin typeface="楷体_GB2312" pitchFamily="49" charset="-122"/>
                <a:ea typeface="楷体_GB2312" pitchFamily="49" charset="-122"/>
                <a:cs typeface="+mn-ea"/>
              </a:rPr>
              <a:t>)</a:t>
            </a:r>
            <a:r>
              <a:rPr lang="en-US" altLang="zh-CN" strike="noStrike" noProof="1">
                <a:solidFill>
                  <a:srgbClr val="FF9933"/>
                </a:solidFill>
                <a:latin typeface="Arial" panose="020B0604020202090204" pitchFamily="34" charset="0"/>
                <a:ea typeface="宋体" pitchFamily="2" charset="-122"/>
                <a:cs typeface="+mn-ea"/>
              </a:rPr>
              <a:t> </a:t>
            </a:r>
            <a:endParaRPr lang="en-US" altLang="zh-CN" strike="noStrike" noProof="1">
              <a:solidFill>
                <a:srgbClr val="FF9933"/>
              </a:solidFill>
              <a:latin typeface="Arial" panose="020B0604020202090204" pitchFamily="34" charset="0"/>
              <a:ea typeface="宋体" pitchFamily="2" charset="-122"/>
            </a:endParaRPr>
          </a:p>
        </p:txBody>
      </p:sp>
      <p:sp>
        <p:nvSpPr>
          <p:cNvPr id="27" name="矩形 26"/>
          <p:cNvSpPr/>
          <p:nvPr/>
        </p:nvSpPr>
        <p:spPr>
          <a:xfrm>
            <a:off x="4932363" y="2276475"/>
            <a:ext cx="3816350" cy="365125"/>
          </a:xfrm>
          <a:prstGeom prst="rect">
            <a:avLst/>
          </a:prstGeom>
          <a:noFill/>
          <a:ln w="9525">
            <a:noFill/>
          </a:ln>
        </p:spPr>
        <p:txBody>
          <a:bodyPr>
            <a:spAutoFit/>
          </a:bodyPr>
          <a:p>
            <a:pPr lvl="0" fontAlgn="base">
              <a:buClrTx/>
            </a:pPr>
            <a:r>
              <a:rPr lang="en-US" altLang="zh-CN" sz="1800" strike="noStrike" noProof="1">
                <a:solidFill>
                  <a:srgbClr val="3333CC"/>
                </a:solidFill>
                <a:effectLst>
                  <a:outerShdw blurRad="38100" dist="38100" dir="2700000">
                    <a:srgbClr val="000000"/>
                  </a:outerShdw>
                </a:effectLst>
                <a:latin typeface="Arial" panose="020B0604020202090204" pitchFamily="34" charset="0"/>
                <a:ea typeface="宋体" pitchFamily="2" charset="-122"/>
                <a:cs typeface="宋体" pitchFamily="2" charset="-122"/>
              </a:rPr>
              <a:t>MOVC   A ,  @A+PC</a:t>
            </a:r>
            <a:endParaRPr lang="en-US" altLang="zh-CN" sz="1800" strike="noStrike" noProof="1">
              <a:solidFill>
                <a:srgbClr val="3333CC"/>
              </a:solidFill>
              <a:effectLst>
                <a:outerShdw blurRad="38100" dist="38100" dir="2700000">
                  <a:srgbClr val="000000"/>
                </a:outerShdw>
              </a:effectLst>
              <a:latin typeface="Arial" panose="020B0604020202090204" pitchFamily="34" charset="0"/>
              <a:ea typeface="宋体" pitchFamily="2" charset="-122"/>
            </a:endParaRPr>
          </a:p>
        </p:txBody>
      </p:sp>
      <p:sp>
        <p:nvSpPr>
          <p:cNvPr id="28" name="矩形 27"/>
          <p:cNvSpPr/>
          <p:nvPr/>
        </p:nvSpPr>
        <p:spPr>
          <a:xfrm>
            <a:off x="4932363" y="2852738"/>
            <a:ext cx="3816350" cy="365125"/>
          </a:xfrm>
          <a:prstGeom prst="rect">
            <a:avLst/>
          </a:prstGeom>
          <a:noFill/>
          <a:ln w="9525">
            <a:noFill/>
          </a:ln>
        </p:spPr>
        <p:txBody>
          <a:bodyPr>
            <a:spAutoFit/>
          </a:bodyPr>
          <a:p>
            <a:pPr lvl="0" fontAlgn="base">
              <a:buClrTx/>
            </a:pPr>
            <a:r>
              <a:rPr lang="en-US" altLang="zh-CN" sz="1800" strike="noStrike" noProof="1">
                <a:solidFill>
                  <a:srgbClr val="3333CC"/>
                </a:solidFill>
                <a:effectLst>
                  <a:outerShdw blurRad="38100" dist="38100" dir="2700000">
                    <a:srgbClr val="000000"/>
                  </a:outerShdw>
                </a:effectLst>
                <a:latin typeface="Arial" panose="020B0604020202090204" pitchFamily="34" charset="0"/>
                <a:ea typeface="宋体" pitchFamily="2" charset="-122"/>
                <a:cs typeface="宋体" pitchFamily="2" charset="-122"/>
              </a:rPr>
              <a:t>MOVC   A ,  @A+DPTR</a:t>
            </a:r>
            <a:endParaRPr lang="en-US" altLang="zh-CN" sz="1800" strike="noStrike" noProof="1">
              <a:solidFill>
                <a:srgbClr val="3333CC"/>
              </a:solidFill>
              <a:effectLst>
                <a:outerShdw blurRad="38100" dist="38100" dir="2700000">
                  <a:srgbClr val="000000"/>
                </a:outerShdw>
              </a:effectLst>
              <a:latin typeface="Arial" panose="020B0604020202090204" pitchFamily="34" charset="0"/>
              <a:ea typeface="宋体" pitchFamily="2" charset="-122"/>
            </a:endParaRPr>
          </a:p>
        </p:txBody>
      </p:sp>
      <p:sp>
        <p:nvSpPr>
          <p:cNvPr id="29" name="矩形 28"/>
          <p:cNvSpPr>
            <a:spLocks noRot="1"/>
          </p:cNvSpPr>
          <p:nvPr/>
        </p:nvSpPr>
        <p:spPr>
          <a:xfrm>
            <a:off x="4427538" y="3357563"/>
            <a:ext cx="4392613" cy="504825"/>
          </a:xfrm>
          <a:prstGeom prst="rect">
            <a:avLst/>
          </a:prstGeom>
          <a:noFill/>
          <a:ln w="9525">
            <a:noFill/>
          </a:ln>
        </p:spPr>
        <p:txBody>
          <a:bodyPr anchor="ctr"/>
          <a:p>
            <a:pPr fontAlgn="base"/>
            <a:r>
              <a:rPr lang="en-US" altLang="zh-CN" b="1" strike="noStrike" noProof="1" dirty="0">
                <a:solidFill>
                  <a:srgbClr val="FF9933"/>
                </a:solidFill>
                <a:effectLst>
                  <a:outerShdw blurRad="38100" dist="38100" dir="2700000">
                    <a:srgbClr val="C0C0C0"/>
                  </a:outerShdw>
                </a:effectLst>
                <a:latin typeface="楷体_GB2312" pitchFamily="49" charset="-122"/>
                <a:ea typeface="楷体_GB2312" pitchFamily="49" charset="-122"/>
                <a:cs typeface="+mn-ea"/>
              </a:rPr>
              <a:t>5)</a:t>
            </a:r>
            <a:r>
              <a:rPr lang="zh-CN" altLang="en-US" b="1" strike="noStrike" noProof="1" dirty="0">
                <a:solidFill>
                  <a:srgbClr val="FF9933"/>
                </a:solidFill>
                <a:effectLst>
                  <a:outerShdw blurRad="38100" dist="38100" dir="2700000">
                    <a:srgbClr val="C0C0C0"/>
                  </a:outerShdw>
                </a:effectLst>
                <a:latin typeface="楷体_GB2312" pitchFamily="49" charset="-122"/>
                <a:ea typeface="楷体_GB2312" pitchFamily="49" charset="-122"/>
                <a:cs typeface="+mn-ea"/>
              </a:rPr>
              <a:t>堆栈操作指令</a:t>
            </a:r>
            <a:r>
              <a:rPr lang="en-US" altLang="zh-CN" b="1" strike="noStrike" noProof="1" dirty="0">
                <a:solidFill>
                  <a:srgbClr val="FF9933"/>
                </a:solidFill>
                <a:effectLst>
                  <a:outerShdw blurRad="38100" dist="38100" dir="2700000">
                    <a:srgbClr val="C0C0C0"/>
                  </a:outerShdw>
                </a:effectLst>
                <a:latin typeface="楷体_GB2312" pitchFamily="49" charset="-122"/>
                <a:ea typeface="楷体_GB2312" pitchFamily="49" charset="-122"/>
                <a:cs typeface="+mn-ea"/>
              </a:rPr>
              <a:t>(2</a:t>
            </a:r>
            <a:r>
              <a:rPr lang="zh-CN" altLang="en-US" b="1" strike="noStrike" noProof="1" dirty="0">
                <a:solidFill>
                  <a:srgbClr val="FF9933"/>
                </a:solidFill>
                <a:effectLst>
                  <a:outerShdw blurRad="38100" dist="38100" dir="2700000">
                    <a:srgbClr val="C0C0C0"/>
                  </a:outerShdw>
                </a:effectLst>
                <a:latin typeface="楷体_GB2312" pitchFamily="49" charset="-122"/>
                <a:ea typeface="楷体_GB2312" pitchFamily="49" charset="-122"/>
                <a:cs typeface="+mn-ea"/>
              </a:rPr>
              <a:t>条</a:t>
            </a:r>
            <a:r>
              <a:rPr lang="en-US" altLang="zh-CN" b="1" strike="noStrike" noProof="1">
                <a:solidFill>
                  <a:srgbClr val="FF9933"/>
                </a:solidFill>
                <a:effectLst>
                  <a:outerShdw blurRad="38100" dist="38100" dir="2700000">
                    <a:srgbClr val="C0C0C0"/>
                  </a:outerShdw>
                </a:effectLst>
                <a:latin typeface="楷体_GB2312" pitchFamily="49" charset="-122"/>
                <a:ea typeface="楷体_GB2312" pitchFamily="49" charset="-122"/>
                <a:cs typeface="+mn-ea"/>
              </a:rPr>
              <a:t>)</a:t>
            </a:r>
            <a:r>
              <a:rPr lang="en-US" altLang="zh-CN" strike="noStrike" noProof="1">
                <a:solidFill>
                  <a:srgbClr val="FF9933"/>
                </a:solidFill>
                <a:latin typeface="Arial" panose="020B0604020202090204" pitchFamily="34" charset="0"/>
                <a:ea typeface="宋体" pitchFamily="2" charset="-122"/>
                <a:cs typeface="+mn-ea"/>
              </a:rPr>
              <a:t> </a:t>
            </a:r>
            <a:endParaRPr lang="en-US" altLang="zh-CN" strike="noStrike" noProof="1">
              <a:solidFill>
                <a:srgbClr val="FF9933"/>
              </a:solidFill>
              <a:latin typeface="Arial" panose="020B0604020202090204" pitchFamily="34" charset="0"/>
              <a:ea typeface="宋体" pitchFamily="2" charset="-122"/>
            </a:endParaRPr>
          </a:p>
        </p:txBody>
      </p:sp>
      <p:sp>
        <p:nvSpPr>
          <p:cNvPr id="30" name="矩形 29"/>
          <p:cNvSpPr/>
          <p:nvPr/>
        </p:nvSpPr>
        <p:spPr>
          <a:xfrm>
            <a:off x="4859338" y="3860800"/>
            <a:ext cx="3816350" cy="365125"/>
          </a:xfrm>
          <a:prstGeom prst="rect">
            <a:avLst/>
          </a:prstGeom>
          <a:noFill/>
          <a:ln w="9525">
            <a:noFill/>
          </a:ln>
        </p:spPr>
        <p:txBody>
          <a:bodyPr>
            <a:spAutoFit/>
          </a:bodyPr>
          <a:p>
            <a:pPr lvl="0" fontAlgn="base">
              <a:buClrTx/>
            </a:pPr>
            <a:r>
              <a:rPr lang="en-US" altLang="zh-CN" sz="1800" strike="noStrike" noProof="1">
                <a:solidFill>
                  <a:srgbClr val="3333CC"/>
                </a:solidFill>
                <a:effectLst>
                  <a:outerShdw blurRad="38100" dist="38100" dir="2700000">
                    <a:srgbClr val="000000"/>
                  </a:outerShdw>
                </a:effectLst>
                <a:latin typeface="Arial" panose="020B0604020202090204" pitchFamily="34" charset="0"/>
                <a:ea typeface="宋体" pitchFamily="2" charset="-122"/>
                <a:cs typeface="宋体" pitchFamily="2" charset="-122"/>
              </a:rPr>
              <a:t>PUSH   direct</a:t>
            </a:r>
            <a:endParaRPr lang="en-US" altLang="zh-CN" sz="1800" strike="noStrike" noProof="1">
              <a:solidFill>
                <a:srgbClr val="3333CC"/>
              </a:solidFill>
              <a:effectLst>
                <a:outerShdw blurRad="38100" dist="38100" dir="2700000">
                  <a:srgbClr val="000000"/>
                </a:outerShdw>
              </a:effectLst>
              <a:latin typeface="Arial" panose="020B0604020202090204" pitchFamily="34" charset="0"/>
              <a:ea typeface="宋体" pitchFamily="2" charset="-122"/>
            </a:endParaRPr>
          </a:p>
        </p:txBody>
      </p:sp>
      <p:sp>
        <p:nvSpPr>
          <p:cNvPr id="31" name="矩形 30"/>
          <p:cNvSpPr/>
          <p:nvPr/>
        </p:nvSpPr>
        <p:spPr>
          <a:xfrm>
            <a:off x="4859338" y="4437063"/>
            <a:ext cx="3816350" cy="365125"/>
          </a:xfrm>
          <a:prstGeom prst="rect">
            <a:avLst/>
          </a:prstGeom>
          <a:noFill/>
          <a:ln w="9525">
            <a:noFill/>
          </a:ln>
        </p:spPr>
        <p:txBody>
          <a:bodyPr>
            <a:spAutoFit/>
          </a:bodyPr>
          <a:p>
            <a:pPr lvl="0" fontAlgn="base">
              <a:buClrTx/>
            </a:pPr>
            <a:r>
              <a:rPr lang="en-US" altLang="zh-CN" sz="1800" strike="noStrike" noProof="1">
                <a:solidFill>
                  <a:srgbClr val="3333CC"/>
                </a:solidFill>
                <a:effectLst>
                  <a:outerShdw blurRad="38100" dist="38100" dir="2700000">
                    <a:srgbClr val="000000"/>
                  </a:outerShdw>
                </a:effectLst>
                <a:latin typeface="Arial" panose="020B0604020202090204" pitchFamily="34" charset="0"/>
                <a:ea typeface="宋体" pitchFamily="2" charset="-122"/>
                <a:cs typeface="宋体" pitchFamily="2" charset="-122"/>
              </a:rPr>
              <a:t>POP   direct</a:t>
            </a:r>
            <a:endParaRPr lang="en-US" altLang="zh-CN" sz="1800" strike="noStrike" noProof="1">
              <a:solidFill>
                <a:srgbClr val="3333CC"/>
              </a:solidFill>
              <a:effectLst>
                <a:outerShdw blurRad="38100" dist="38100" dir="2700000">
                  <a:srgbClr val="000000"/>
                </a:outerShdw>
              </a:effectLst>
              <a:latin typeface="Arial" panose="020B0604020202090204" pitchFamily="34"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left)">
                                      <p:cBhvr>
                                        <p:cTn id="18" dur="500"/>
                                        <p:tgtEl>
                                          <p:spTgt spid="4"/>
                                        </p:tgtEl>
                                      </p:cBhvr>
                                    </p:animEffect>
                                  </p:childTnLst>
                                </p:cTn>
                              </p:par>
                              <p:par>
                                <p:cTn id="19" presetID="22" presetClass="entr" presetSubtype="8"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left)">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wipe(left)">
                                      <p:cBhvr>
                                        <p:cTn id="31" dur="50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wipe(left)">
                                      <p:cBhvr>
                                        <p:cTn id="36" dur="500"/>
                                        <p:tgtEl>
                                          <p:spTgt spid="1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wipe(left)">
                                      <p:cBhvr>
                                        <p:cTn id="41" dur="500"/>
                                        <p:tgtEl>
                                          <p:spTgt spid="2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wipe(left)">
                                      <p:cBhvr>
                                        <p:cTn id="46" dur="500"/>
                                        <p:tgtEl>
                                          <p:spTgt spid="23"/>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wipe(left)">
                                      <p:cBhvr>
                                        <p:cTn id="51" dur="500"/>
                                        <p:tgtEl>
                                          <p:spTgt spid="24"/>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wipe(left)">
                                      <p:cBhvr>
                                        <p:cTn id="56" dur="500"/>
                                        <p:tgtEl>
                                          <p:spTgt spid="25"/>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wipe(left)">
                                      <p:cBhvr>
                                        <p:cTn id="61" dur="500"/>
                                        <p:tgtEl>
                                          <p:spTgt spid="26"/>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wipe(left)">
                                      <p:cBhvr>
                                        <p:cTn id="66" dur="500"/>
                                        <p:tgtEl>
                                          <p:spTgt spid="27"/>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wipe(left)">
                                      <p:cBhvr>
                                        <p:cTn id="71" dur="500"/>
                                        <p:tgtEl>
                                          <p:spTgt spid="28"/>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wipe(left)">
                                      <p:cBhvr>
                                        <p:cTn id="76" dur="500"/>
                                        <p:tgtEl>
                                          <p:spTgt spid="29"/>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wipe(left)">
                                      <p:cBhvr>
                                        <p:cTn id="81" dur="500"/>
                                        <p:tgtEl>
                                          <p:spTgt spid="30"/>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wipe(left)">
                                      <p:cBhvr>
                                        <p:cTn id="86"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P spid="22" grpId="0"/>
      <p:bldP spid="23" grpId="0"/>
      <p:bldP spid="24" grpId="0"/>
      <p:bldP spid="25" grpId="0"/>
      <p:bldP spid="26" grpId="0"/>
      <p:bldP spid="27" grpId="0"/>
      <p:bldP spid="28" grpId="0"/>
      <p:bldP spid="29" grpId="0"/>
      <p:bldP spid="30" grpId="0"/>
      <p:bldP spid="31"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ChangeArrowheads="1"/>
          </p:cNvSpPr>
          <p:nvPr/>
        </p:nvSpPr>
        <p:spPr bwMode="auto">
          <a:xfrm>
            <a:off x="214313" y="214313"/>
            <a:ext cx="8763000" cy="609600"/>
          </a:xfrm>
          <a:prstGeom prst="rect">
            <a:avLst/>
          </a:prstGeom>
          <a:noFill/>
          <a:ln>
            <a:noFill/>
          </a:ln>
        </p:spPr>
        <p:txBody>
          <a:bodyPr anchor="ctr"/>
          <a:lstStyle>
            <a:lvl1pPr>
              <a:defRPr sz="3600">
                <a:solidFill>
                  <a:schemeClr val="tx2"/>
                </a:solidFill>
                <a:latin typeface="Times New Roman" panose="02020503050405090304" pitchFamily="18" charset="0"/>
                <a:ea typeface="宋体" pitchFamily="2" charset="-122"/>
              </a:defRPr>
            </a:lvl1pPr>
            <a:lvl2pPr>
              <a:defRPr sz="3600">
                <a:solidFill>
                  <a:schemeClr val="tx2"/>
                </a:solidFill>
                <a:latin typeface="Times New Roman" panose="02020503050405090304" pitchFamily="18" charset="0"/>
                <a:ea typeface="宋体" pitchFamily="2" charset="-122"/>
              </a:defRPr>
            </a:lvl2pPr>
            <a:lvl3pPr>
              <a:defRPr sz="3600">
                <a:solidFill>
                  <a:schemeClr val="tx2"/>
                </a:solidFill>
                <a:latin typeface="Times New Roman" panose="02020503050405090304" pitchFamily="18" charset="0"/>
                <a:ea typeface="宋体" pitchFamily="2" charset="-122"/>
              </a:defRPr>
            </a:lvl3pPr>
            <a:lvl4pPr>
              <a:defRPr sz="3600">
                <a:solidFill>
                  <a:schemeClr val="tx2"/>
                </a:solidFill>
                <a:latin typeface="Times New Roman" panose="02020503050405090304" pitchFamily="18" charset="0"/>
                <a:ea typeface="宋体" pitchFamily="2" charset="-122"/>
              </a:defRPr>
            </a:lvl4pPr>
            <a:lvl5pPr>
              <a:defRPr sz="3600">
                <a:solidFill>
                  <a:schemeClr val="tx2"/>
                </a:solidFill>
                <a:latin typeface="Times New Roman" panose="02020503050405090304" pitchFamily="18" charset="0"/>
                <a:ea typeface="宋体" pitchFamily="2" charset="-122"/>
              </a:defRPr>
            </a:lvl5pPr>
            <a:lvl6pPr marL="45720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fontAlgn="base">
              <a:spcBef>
                <a:spcPct val="0"/>
              </a:spcBef>
              <a:spcAft>
                <a:spcPct val="0"/>
              </a:spcAft>
              <a:defRPr sz="3600">
                <a:solidFill>
                  <a:schemeClr val="tx2"/>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第三章</a:t>
            </a:r>
            <a:r>
              <a:rPr kumimoji="0" lang="zh-CN" altLang="en-US" sz="28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zh-CN" altLang="en-US" sz="24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en-US" altLang="zh-CN"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MCS-51</a:t>
            </a: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指令系统</a:t>
            </a:r>
            <a:endParaRPr kumimoji="0" lang="zh-CN" altLang="en-US" sz="3600" b="0"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Times New Roman" panose="02020503050405090304" pitchFamily="18" charset="0"/>
              <a:ea typeface="宋体" pitchFamily="2" charset="-122"/>
              <a:cs typeface="+mn-cs"/>
            </a:endParaRPr>
          </a:p>
        </p:txBody>
      </p:sp>
      <p:sp>
        <p:nvSpPr>
          <p:cNvPr id="99330" name="矩形 924673"/>
          <p:cNvSpPr/>
          <p:nvPr/>
        </p:nvSpPr>
        <p:spPr>
          <a:xfrm>
            <a:off x="609600" y="838200"/>
            <a:ext cx="8077200" cy="822325"/>
          </a:xfrm>
          <a:prstGeom prst="rect">
            <a:avLst/>
          </a:prstGeom>
          <a:noFill/>
          <a:ln w="9525">
            <a:noFill/>
          </a:ln>
        </p:spPr>
        <p:txBody>
          <a:bodyPr anchor="ctr" anchorCtr="0">
            <a:spAutoFit/>
          </a:bodyPr>
          <a:p>
            <a:r>
              <a:rPr lang="en-US" altLang="zh-CN">
                <a:latin typeface="Times New Roman" panose="02020503050405090304" pitchFamily="18" charset="0"/>
                <a:ea typeface="仿宋_GB2312" pitchFamily="49" charset="-122"/>
              </a:rPr>
              <a:t>【</a:t>
            </a:r>
            <a:r>
              <a:rPr lang="zh-CN" altLang="en-US" dirty="0">
                <a:latin typeface="Times New Roman" panose="02020503050405090304" pitchFamily="18" charset="0"/>
                <a:ea typeface="仿宋_GB2312" pitchFamily="49" charset="-122"/>
              </a:rPr>
              <a:t>例</a:t>
            </a:r>
            <a:r>
              <a:rPr lang="en-US" altLang="zh-CN">
                <a:latin typeface="Times New Roman" panose="02020503050405090304" pitchFamily="18" charset="0"/>
                <a:ea typeface="仿宋_GB2312" pitchFamily="49" charset="-122"/>
              </a:rPr>
              <a:t>】</a:t>
            </a:r>
            <a:r>
              <a:rPr lang="zh-CN" altLang="en-US" dirty="0">
                <a:latin typeface="Times New Roman" panose="02020503050405090304" pitchFamily="18" charset="0"/>
                <a:ea typeface="仿宋_GB2312" pitchFamily="49" charset="-122"/>
              </a:rPr>
              <a:t>试用不同方法将片内</a:t>
            </a:r>
            <a:r>
              <a:rPr lang="en-US" altLang="zh-CN">
                <a:latin typeface="Times New Roman" panose="02020503050405090304" pitchFamily="18" charset="0"/>
                <a:ea typeface="仿宋_GB2312" pitchFamily="49" charset="-122"/>
              </a:rPr>
              <a:t>RAM 30H</a:t>
            </a:r>
            <a:r>
              <a:rPr lang="zh-CN" altLang="en-US" dirty="0">
                <a:latin typeface="Times New Roman" panose="02020503050405090304" pitchFamily="18" charset="0"/>
                <a:ea typeface="仿宋_GB2312" pitchFamily="49" charset="-122"/>
              </a:rPr>
              <a:t>单元与</a:t>
            </a:r>
            <a:r>
              <a:rPr lang="en-US" altLang="zh-CN">
                <a:latin typeface="Times New Roman" panose="02020503050405090304" pitchFamily="18" charset="0"/>
                <a:ea typeface="仿宋_GB2312" pitchFamily="49" charset="-122"/>
              </a:rPr>
              <a:t>40H</a:t>
            </a:r>
            <a:r>
              <a:rPr lang="zh-CN" altLang="en-US" dirty="0">
                <a:latin typeface="Times New Roman" panose="02020503050405090304" pitchFamily="18" charset="0"/>
                <a:ea typeface="仿宋_GB2312" pitchFamily="49" charset="-122"/>
              </a:rPr>
              <a:t>单元中的内容进行互换。 </a:t>
            </a:r>
            <a:endParaRPr lang="zh-CN" altLang="en-US" dirty="0">
              <a:latin typeface="Times New Roman" panose="02020503050405090304" pitchFamily="18" charset="0"/>
              <a:ea typeface="仿宋_GB2312" pitchFamily="49" charset="-122"/>
            </a:endParaRPr>
          </a:p>
        </p:txBody>
      </p:sp>
      <p:sp>
        <p:nvSpPr>
          <p:cNvPr id="924675" name="矩形 924674"/>
          <p:cNvSpPr/>
          <p:nvPr/>
        </p:nvSpPr>
        <p:spPr>
          <a:xfrm>
            <a:off x="0" y="1804988"/>
            <a:ext cx="4859338" cy="1552575"/>
          </a:xfrm>
          <a:prstGeom prst="rect">
            <a:avLst/>
          </a:prstGeom>
          <a:noFill/>
          <a:ln w="9525">
            <a:noFill/>
          </a:ln>
        </p:spPr>
        <p:txBody>
          <a:bodyPr anchor="ctr" anchorCtr="0">
            <a:spAutoFit/>
          </a:bodyPr>
          <a:p>
            <a:pPr indent="685800"/>
            <a:r>
              <a:rPr lang="zh-CN" altLang="en-US" dirty="0">
                <a:solidFill>
                  <a:srgbClr val="1209BD"/>
                </a:solidFill>
                <a:latin typeface="Times New Roman" panose="02020503050405090304" pitchFamily="18" charset="0"/>
                <a:ea typeface="仿宋_GB2312" pitchFamily="49" charset="-122"/>
              </a:rPr>
              <a:t>方法</a:t>
            </a:r>
            <a:r>
              <a:rPr lang="en-US" altLang="zh-CN">
                <a:solidFill>
                  <a:srgbClr val="1209BD"/>
                </a:solidFill>
                <a:latin typeface="Times New Roman" panose="02020503050405090304" pitchFamily="18" charset="0"/>
                <a:ea typeface="仿宋_GB2312" pitchFamily="49" charset="-122"/>
              </a:rPr>
              <a:t>1</a:t>
            </a:r>
            <a:r>
              <a:rPr lang="zh-CN" altLang="en-US" dirty="0">
                <a:solidFill>
                  <a:srgbClr val="1209BD"/>
                </a:solidFill>
                <a:latin typeface="Times New Roman" panose="02020503050405090304" pitchFamily="18" charset="0"/>
                <a:ea typeface="仿宋_GB2312" pitchFamily="49" charset="-122"/>
              </a:rPr>
              <a:t>（直接地址传送法）：</a:t>
            </a:r>
            <a:endParaRPr lang="zh-CN" altLang="en-US" dirty="0">
              <a:solidFill>
                <a:srgbClr val="1209BD"/>
              </a:solidFill>
              <a:latin typeface="Times New Roman" panose="02020503050405090304" pitchFamily="18" charset="0"/>
              <a:ea typeface="仿宋_GB2312" pitchFamily="49" charset="-122"/>
            </a:endParaRPr>
          </a:p>
          <a:p>
            <a:pPr indent="685800"/>
            <a:r>
              <a:rPr lang="zh-CN" altLang="en-US" dirty="0">
                <a:latin typeface="Times New Roman" panose="02020503050405090304" pitchFamily="18" charset="0"/>
                <a:ea typeface="仿宋_GB2312" pitchFamily="49" charset="-122"/>
              </a:rPr>
              <a:t>   </a:t>
            </a:r>
            <a:r>
              <a:rPr lang="en-US" altLang="zh-CN">
                <a:latin typeface="Times New Roman" panose="02020503050405090304" pitchFamily="18" charset="0"/>
                <a:ea typeface="仿宋_GB2312" pitchFamily="49" charset="-122"/>
              </a:rPr>
              <a:t>MOV	31H</a:t>
            </a:r>
            <a:r>
              <a:rPr lang="zh-CN" altLang="en-US" dirty="0">
                <a:latin typeface="Times New Roman" panose="02020503050405090304" pitchFamily="18" charset="0"/>
                <a:ea typeface="仿宋_GB2312" pitchFamily="49" charset="-122"/>
              </a:rPr>
              <a:t>，</a:t>
            </a:r>
            <a:r>
              <a:rPr lang="en-US" altLang="zh-CN">
                <a:latin typeface="Times New Roman" panose="02020503050405090304" pitchFamily="18" charset="0"/>
                <a:ea typeface="仿宋_GB2312" pitchFamily="49" charset="-122"/>
              </a:rPr>
              <a:t>30H</a:t>
            </a:r>
            <a:endParaRPr lang="en-US" altLang="zh-CN">
              <a:latin typeface="Times New Roman" panose="02020503050405090304" pitchFamily="18" charset="0"/>
              <a:ea typeface="仿宋_GB2312" pitchFamily="49" charset="-122"/>
            </a:endParaRPr>
          </a:p>
          <a:p>
            <a:pPr indent="685800"/>
            <a:r>
              <a:rPr lang="en-US" altLang="zh-CN">
                <a:latin typeface="Times New Roman" panose="02020503050405090304" pitchFamily="18" charset="0"/>
                <a:ea typeface="仿宋_GB2312" pitchFamily="49" charset="-122"/>
              </a:rPr>
              <a:t>   MOV	30H</a:t>
            </a:r>
            <a:r>
              <a:rPr lang="zh-CN" altLang="en-US" dirty="0">
                <a:latin typeface="Times New Roman" panose="02020503050405090304" pitchFamily="18" charset="0"/>
                <a:ea typeface="仿宋_GB2312" pitchFamily="49" charset="-122"/>
              </a:rPr>
              <a:t>，</a:t>
            </a:r>
            <a:r>
              <a:rPr lang="en-US" altLang="zh-CN">
                <a:latin typeface="Times New Roman" panose="02020503050405090304" pitchFamily="18" charset="0"/>
                <a:ea typeface="仿宋_GB2312" pitchFamily="49" charset="-122"/>
              </a:rPr>
              <a:t>40H</a:t>
            </a:r>
            <a:endParaRPr lang="en-US" altLang="zh-CN">
              <a:latin typeface="Times New Roman" panose="02020503050405090304" pitchFamily="18" charset="0"/>
              <a:ea typeface="仿宋_GB2312" pitchFamily="49" charset="-122"/>
            </a:endParaRPr>
          </a:p>
          <a:p>
            <a:pPr indent="685800"/>
            <a:r>
              <a:rPr lang="en-US" altLang="zh-CN">
                <a:latin typeface="Times New Roman" panose="02020503050405090304" pitchFamily="18" charset="0"/>
                <a:ea typeface="仿宋_GB2312" pitchFamily="49" charset="-122"/>
              </a:rPr>
              <a:t>   MOV	40H</a:t>
            </a:r>
            <a:r>
              <a:rPr lang="zh-CN" altLang="en-US" dirty="0">
                <a:latin typeface="Times New Roman" panose="02020503050405090304" pitchFamily="18" charset="0"/>
                <a:ea typeface="仿宋_GB2312" pitchFamily="49" charset="-122"/>
              </a:rPr>
              <a:t>，</a:t>
            </a:r>
            <a:r>
              <a:rPr lang="en-US" altLang="zh-CN">
                <a:latin typeface="Times New Roman" panose="02020503050405090304" pitchFamily="18" charset="0"/>
                <a:ea typeface="仿宋_GB2312" pitchFamily="49" charset="-122"/>
              </a:rPr>
              <a:t>31H</a:t>
            </a:r>
            <a:endParaRPr lang="en-US" altLang="zh-CN">
              <a:latin typeface="Times New Roman" panose="02020503050405090304" pitchFamily="18" charset="0"/>
              <a:ea typeface="仿宋_GB2312" pitchFamily="49" charset="-122"/>
            </a:endParaRPr>
          </a:p>
        </p:txBody>
      </p:sp>
      <p:sp>
        <p:nvSpPr>
          <p:cNvPr id="924677" name="矩形 924676"/>
          <p:cNvSpPr/>
          <p:nvPr/>
        </p:nvSpPr>
        <p:spPr>
          <a:xfrm>
            <a:off x="4289425" y="1804988"/>
            <a:ext cx="4787900" cy="1938337"/>
          </a:xfrm>
          <a:prstGeom prst="rect">
            <a:avLst/>
          </a:prstGeom>
          <a:noFill/>
          <a:ln w="9525">
            <a:noFill/>
          </a:ln>
        </p:spPr>
        <p:txBody>
          <a:bodyPr anchor="ctr" anchorCtr="0">
            <a:spAutoFit/>
          </a:bodyPr>
          <a:p>
            <a:pPr indent="685800"/>
            <a:r>
              <a:rPr lang="zh-CN" altLang="en-US" dirty="0">
                <a:solidFill>
                  <a:srgbClr val="1209BD"/>
                </a:solidFill>
                <a:latin typeface="Times New Roman" panose="02020503050405090304" pitchFamily="18" charset="0"/>
                <a:ea typeface="仿宋_GB2312" pitchFamily="49" charset="-122"/>
              </a:rPr>
              <a:t>方法</a:t>
            </a:r>
            <a:r>
              <a:rPr lang="en-US" altLang="zh-CN">
                <a:solidFill>
                  <a:srgbClr val="1209BD"/>
                </a:solidFill>
                <a:latin typeface="Times New Roman" panose="02020503050405090304" pitchFamily="18" charset="0"/>
                <a:ea typeface="仿宋_GB2312" pitchFamily="49" charset="-122"/>
              </a:rPr>
              <a:t>3</a:t>
            </a:r>
            <a:r>
              <a:rPr lang="zh-CN" altLang="en-US" dirty="0">
                <a:solidFill>
                  <a:srgbClr val="1209BD"/>
                </a:solidFill>
                <a:latin typeface="Times New Roman" panose="02020503050405090304" pitchFamily="18" charset="0"/>
                <a:ea typeface="仿宋_GB2312" pitchFamily="49" charset="-122"/>
              </a:rPr>
              <a:t>（字节交换传送法）：</a:t>
            </a:r>
            <a:endParaRPr lang="zh-CN" altLang="en-US" dirty="0">
              <a:solidFill>
                <a:srgbClr val="1209BD"/>
              </a:solidFill>
              <a:latin typeface="Times New Roman" panose="02020503050405090304" pitchFamily="18" charset="0"/>
              <a:ea typeface="仿宋_GB2312" pitchFamily="49" charset="-122"/>
            </a:endParaRPr>
          </a:p>
          <a:p>
            <a:pPr indent="685800"/>
            <a:r>
              <a:rPr lang="zh-CN" altLang="en-US" dirty="0">
                <a:latin typeface="Times New Roman" panose="02020503050405090304" pitchFamily="18" charset="0"/>
                <a:ea typeface="仿宋_GB2312" pitchFamily="49" charset="-122"/>
              </a:rPr>
              <a:t>   </a:t>
            </a:r>
            <a:r>
              <a:rPr lang="en-US" altLang="zh-CN">
                <a:latin typeface="Times New Roman" panose="02020503050405090304" pitchFamily="18" charset="0"/>
                <a:ea typeface="仿宋_GB2312" pitchFamily="49" charset="-122"/>
              </a:rPr>
              <a:t>MOV	A</a:t>
            </a:r>
            <a:r>
              <a:rPr lang="zh-CN" altLang="en-US" dirty="0">
                <a:latin typeface="Times New Roman" panose="02020503050405090304" pitchFamily="18" charset="0"/>
                <a:ea typeface="仿宋_GB2312" pitchFamily="49" charset="-122"/>
              </a:rPr>
              <a:t>，</a:t>
            </a:r>
            <a:r>
              <a:rPr lang="en-US" altLang="zh-CN">
                <a:latin typeface="Times New Roman" panose="02020503050405090304" pitchFamily="18" charset="0"/>
                <a:ea typeface="仿宋_GB2312" pitchFamily="49" charset="-122"/>
              </a:rPr>
              <a:t>30H</a:t>
            </a:r>
            <a:endParaRPr lang="en-US" altLang="zh-CN">
              <a:latin typeface="Times New Roman" panose="02020503050405090304" pitchFamily="18" charset="0"/>
              <a:ea typeface="仿宋_GB2312" pitchFamily="49" charset="-122"/>
            </a:endParaRPr>
          </a:p>
          <a:p>
            <a:pPr indent="685800"/>
            <a:r>
              <a:rPr lang="en-US" altLang="zh-CN">
                <a:latin typeface="Times New Roman" panose="02020503050405090304" pitchFamily="18" charset="0"/>
                <a:ea typeface="仿宋_GB2312" pitchFamily="49" charset="-122"/>
              </a:rPr>
              <a:t>   XCH	A</a:t>
            </a:r>
            <a:r>
              <a:rPr lang="zh-CN" altLang="en-US" dirty="0">
                <a:latin typeface="Times New Roman" panose="02020503050405090304" pitchFamily="18" charset="0"/>
                <a:ea typeface="仿宋_GB2312" pitchFamily="49" charset="-122"/>
              </a:rPr>
              <a:t>，</a:t>
            </a:r>
            <a:r>
              <a:rPr lang="en-US" altLang="zh-CN">
                <a:latin typeface="Times New Roman" panose="02020503050405090304" pitchFamily="18" charset="0"/>
                <a:ea typeface="仿宋_GB2312" pitchFamily="49" charset="-122"/>
              </a:rPr>
              <a:t>40H</a:t>
            </a:r>
            <a:endParaRPr lang="en-US" altLang="zh-CN">
              <a:latin typeface="Times New Roman" panose="02020503050405090304" pitchFamily="18" charset="0"/>
              <a:ea typeface="仿宋_GB2312" pitchFamily="49" charset="-122"/>
            </a:endParaRPr>
          </a:p>
          <a:p>
            <a:pPr indent="685800"/>
            <a:r>
              <a:rPr lang="en-US" altLang="zh-CN">
                <a:latin typeface="Times New Roman" panose="02020503050405090304" pitchFamily="18" charset="0"/>
                <a:ea typeface="仿宋_GB2312" pitchFamily="49" charset="-122"/>
              </a:rPr>
              <a:t>   MOV	30H</a:t>
            </a:r>
            <a:r>
              <a:rPr lang="zh-CN" altLang="en-US" dirty="0">
                <a:latin typeface="Times New Roman" panose="02020503050405090304" pitchFamily="18" charset="0"/>
                <a:ea typeface="仿宋_GB2312" pitchFamily="49" charset="-122"/>
              </a:rPr>
              <a:t>，</a:t>
            </a:r>
            <a:r>
              <a:rPr lang="en-US" altLang="zh-CN">
                <a:latin typeface="Times New Roman" panose="02020503050405090304" pitchFamily="18" charset="0"/>
                <a:ea typeface="仿宋_GB2312" pitchFamily="49" charset="-122"/>
              </a:rPr>
              <a:t>A</a:t>
            </a:r>
            <a:endParaRPr lang="en-US" altLang="zh-CN">
              <a:latin typeface="Times New Roman" panose="02020503050405090304" pitchFamily="18" charset="0"/>
              <a:ea typeface="仿宋_GB2312" pitchFamily="49" charset="-122"/>
            </a:endParaRPr>
          </a:p>
          <a:p>
            <a:pPr indent="685800"/>
            <a:endParaRPr lang="en-US" altLang="zh-CN">
              <a:latin typeface="Times New Roman" panose="02020503050405090304" pitchFamily="18" charset="0"/>
              <a:ea typeface="仿宋_GB2312" pitchFamily="49" charset="-122"/>
            </a:endParaRPr>
          </a:p>
        </p:txBody>
      </p:sp>
      <p:sp>
        <p:nvSpPr>
          <p:cNvPr id="924676" name="矩形 924675"/>
          <p:cNvSpPr/>
          <p:nvPr/>
        </p:nvSpPr>
        <p:spPr>
          <a:xfrm>
            <a:off x="-61912" y="3575050"/>
            <a:ext cx="4699000" cy="2647950"/>
          </a:xfrm>
          <a:prstGeom prst="rect">
            <a:avLst/>
          </a:prstGeom>
          <a:noFill/>
          <a:ln w="9525">
            <a:noFill/>
          </a:ln>
        </p:spPr>
        <p:txBody>
          <a:bodyPr wrap="none" anchor="ctr" anchorCtr="0">
            <a:spAutoFit/>
          </a:bodyPr>
          <a:p>
            <a:pPr indent="685800"/>
            <a:r>
              <a:rPr lang="zh-CN" altLang="en-US" dirty="0">
                <a:solidFill>
                  <a:srgbClr val="1209BD"/>
                </a:solidFill>
                <a:latin typeface="Times New Roman" panose="02020503050405090304" pitchFamily="18" charset="0"/>
                <a:ea typeface="仿宋_GB2312" pitchFamily="49" charset="-122"/>
              </a:rPr>
              <a:t>方法</a:t>
            </a:r>
            <a:r>
              <a:rPr lang="en-US" altLang="zh-CN">
                <a:solidFill>
                  <a:srgbClr val="1209BD"/>
                </a:solidFill>
                <a:latin typeface="Times New Roman" panose="02020503050405090304" pitchFamily="18" charset="0"/>
                <a:ea typeface="仿宋_GB2312" pitchFamily="49" charset="-122"/>
              </a:rPr>
              <a:t>2</a:t>
            </a:r>
            <a:r>
              <a:rPr lang="zh-CN" altLang="en-US" dirty="0">
                <a:solidFill>
                  <a:srgbClr val="1209BD"/>
                </a:solidFill>
                <a:latin typeface="Times New Roman" panose="02020503050405090304" pitchFamily="18" charset="0"/>
                <a:ea typeface="仿宋_GB2312" pitchFamily="49" charset="-122"/>
              </a:rPr>
              <a:t>（间接地址传送法）：</a:t>
            </a:r>
            <a:endParaRPr lang="zh-CN" altLang="en-US" dirty="0">
              <a:solidFill>
                <a:srgbClr val="1209BD"/>
              </a:solidFill>
              <a:latin typeface="Times New Roman" panose="02020503050405090304" pitchFamily="18" charset="0"/>
              <a:ea typeface="仿宋_GB2312" pitchFamily="49" charset="-122"/>
            </a:endParaRPr>
          </a:p>
          <a:p>
            <a:pPr indent="685800"/>
            <a:r>
              <a:rPr lang="zh-CN" altLang="en-US" dirty="0">
                <a:latin typeface="Times New Roman" panose="02020503050405090304" pitchFamily="18" charset="0"/>
                <a:ea typeface="仿宋_GB2312" pitchFamily="49" charset="-122"/>
              </a:rPr>
              <a:t>   </a:t>
            </a:r>
            <a:r>
              <a:rPr lang="en-US" altLang="zh-CN">
                <a:latin typeface="Times New Roman" panose="02020503050405090304" pitchFamily="18" charset="0"/>
                <a:ea typeface="仿宋_GB2312" pitchFamily="49" charset="-122"/>
              </a:rPr>
              <a:t>MOV	R0</a:t>
            </a:r>
            <a:r>
              <a:rPr lang="zh-CN" altLang="en-US" dirty="0">
                <a:latin typeface="Times New Roman" panose="02020503050405090304" pitchFamily="18" charset="0"/>
                <a:ea typeface="仿宋_GB2312" pitchFamily="49" charset="-122"/>
              </a:rPr>
              <a:t>，</a:t>
            </a:r>
            <a:r>
              <a:rPr lang="en-US" altLang="zh-CN">
                <a:latin typeface="Times New Roman" panose="02020503050405090304" pitchFamily="18" charset="0"/>
                <a:ea typeface="仿宋_GB2312" pitchFamily="49" charset="-122"/>
              </a:rPr>
              <a:t>#40H</a:t>
            </a:r>
            <a:endParaRPr lang="en-US" altLang="zh-CN">
              <a:latin typeface="Times New Roman" panose="02020503050405090304" pitchFamily="18" charset="0"/>
              <a:ea typeface="仿宋_GB2312" pitchFamily="49" charset="-122"/>
            </a:endParaRPr>
          </a:p>
          <a:p>
            <a:pPr indent="685800"/>
            <a:r>
              <a:rPr lang="en-US" altLang="zh-CN">
                <a:latin typeface="Times New Roman" panose="02020503050405090304" pitchFamily="18" charset="0"/>
                <a:ea typeface="仿宋_GB2312" pitchFamily="49" charset="-122"/>
              </a:rPr>
              <a:t>   MOV	R1</a:t>
            </a:r>
            <a:r>
              <a:rPr lang="zh-CN" altLang="en-US" dirty="0">
                <a:latin typeface="Times New Roman" panose="02020503050405090304" pitchFamily="18" charset="0"/>
                <a:ea typeface="仿宋_GB2312" pitchFamily="49" charset="-122"/>
              </a:rPr>
              <a:t>，</a:t>
            </a:r>
            <a:r>
              <a:rPr lang="en-US" altLang="zh-CN">
                <a:latin typeface="Times New Roman" panose="02020503050405090304" pitchFamily="18" charset="0"/>
                <a:ea typeface="仿宋_GB2312" pitchFamily="49" charset="-122"/>
              </a:rPr>
              <a:t>#30H</a:t>
            </a:r>
            <a:endParaRPr lang="en-US" altLang="zh-CN">
              <a:latin typeface="Times New Roman" panose="02020503050405090304" pitchFamily="18" charset="0"/>
              <a:ea typeface="仿宋_GB2312" pitchFamily="49" charset="-122"/>
            </a:endParaRPr>
          </a:p>
          <a:p>
            <a:pPr indent="685800"/>
            <a:r>
              <a:rPr lang="en-US" altLang="zh-CN">
                <a:latin typeface="Times New Roman" panose="02020503050405090304" pitchFamily="18" charset="0"/>
                <a:ea typeface="仿宋_GB2312" pitchFamily="49" charset="-122"/>
              </a:rPr>
              <a:t>   MOV	A</a:t>
            </a:r>
            <a:r>
              <a:rPr lang="zh-CN" altLang="en-US" dirty="0">
                <a:latin typeface="Times New Roman" panose="02020503050405090304" pitchFamily="18" charset="0"/>
                <a:ea typeface="仿宋_GB2312" pitchFamily="49" charset="-122"/>
              </a:rPr>
              <a:t>，</a:t>
            </a:r>
            <a:r>
              <a:rPr lang="en-US" altLang="zh-CN">
                <a:latin typeface="Times New Roman" panose="02020503050405090304" pitchFamily="18" charset="0"/>
                <a:ea typeface="仿宋_GB2312" pitchFamily="49" charset="-122"/>
              </a:rPr>
              <a:t>@R0</a:t>
            </a:r>
            <a:endParaRPr lang="en-US" altLang="zh-CN">
              <a:latin typeface="Times New Roman" panose="02020503050405090304" pitchFamily="18" charset="0"/>
              <a:ea typeface="仿宋_GB2312" pitchFamily="49" charset="-122"/>
            </a:endParaRPr>
          </a:p>
          <a:p>
            <a:pPr indent="685800"/>
            <a:r>
              <a:rPr lang="en-US" altLang="zh-CN">
                <a:latin typeface="Times New Roman" panose="02020503050405090304" pitchFamily="18" charset="0"/>
                <a:ea typeface="仿宋_GB2312" pitchFamily="49" charset="-122"/>
              </a:rPr>
              <a:t>   MOV	B</a:t>
            </a:r>
            <a:r>
              <a:rPr lang="zh-CN" altLang="en-US" dirty="0">
                <a:latin typeface="Times New Roman" panose="02020503050405090304" pitchFamily="18" charset="0"/>
                <a:ea typeface="仿宋_GB2312" pitchFamily="49" charset="-122"/>
              </a:rPr>
              <a:t>，</a:t>
            </a:r>
            <a:r>
              <a:rPr lang="en-US" altLang="zh-CN">
                <a:latin typeface="Times New Roman" panose="02020503050405090304" pitchFamily="18" charset="0"/>
                <a:ea typeface="仿宋_GB2312" pitchFamily="49" charset="-122"/>
              </a:rPr>
              <a:t>@R1</a:t>
            </a:r>
            <a:endParaRPr lang="en-US" altLang="zh-CN">
              <a:latin typeface="Times New Roman" panose="02020503050405090304" pitchFamily="18" charset="0"/>
              <a:ea typeface="仿宋_GB2312" pitchFamily="49" charset="-122"/>
            </a:endParaRPr>
          </a:p>
          <a:p>
            <a:pPr indent="685800"/>
            <a:r>
              <a:rPr lang="en-US" altLang="zh-CN">
                <a:latin typeface="Times New Roman" panose="02020503050405090304" pitchFamily="18" charset="0"/>
                <a:ea typeface="仿宋_GB2312" pitchFamily="49" charset="-122"/>
              </a:rPr>
              <a:t>   MOV	@R1</a:t>
            </a:r>
            <a:r>
              <a:rPr lang="zh-CN" altLang="en-US" dirty="0">
                <a:latin typeface="Times New Roman" panose="02020503050405090304" pitchFamily="18" charset="0"/>
                <a:ea typeface="仿宋_GB2312" pitchFamily="49" charset="-122"/>
              </a:rPr>
              <a:t>，</a:t>
            </a:r>
            <a:r>
              <a:rPr lang="en-US" altLang="zh-CN">
                <a:latin typeface="Times New Roman" panose="02020503050405090304" pitchFamily="18" charset="0"/>
                <a:ea typeface="仿宋_GB2312" pitchFamily="49" charset="-122"/>
              </a:rPr>
              <a:t>A</a:t>
            </a:r>
            <a:endParaRPr lang="en-US" altLang="zh-CN">
              <a:latin typeface="Times New Roman" panose="02020503050405090304" pitchFamily="18" charset="0"/>
              <a:ea typeface="仿宋_GB2312" pitchFamily="49" charset="-122"/>
            </a:endParaRPr>
          </a:p>
          <a:p>
            <a:pPr indent="685800"/>
            <a:r>
              <a:rPr lang="en-US" altLang="zh-CN">
                <a:latin typeface="Times New Roman" panose="02020503050405090304" pitchFamily="18" charset="0"/>
                <a:ea typeface="仿宋_GB2312" pitchFamily="49" charset="-122"/>
              </a:rPr>
              <a:t>   MOV	@R0</a:t>
            </a:r>
            <a:r>
              <a:rPr lang="zh-CN" altLang="en-US" dirty="0">
                <a:latin typeface="Times New Roman" panose="02020503050405090304" pitchFamily="18" charset="0"/>
                <a:ea typeface="仿宋_GB2312" pitchFamily="49" charset="-122"/>
              </a:rPr>
              <a:t>，</a:t>
            </a:r>
            <a:r>
              <a:rPr lang="en-US" altLang="zh-CN">
                <a:latin typeface="Times New Roman" panose="02020503050405090304" pitchFamily="18" charset="0"/>
                <a:ea typeface="仿宋_GB2312" pitchFamily="49" charset="-122"/>
              </a:rPr>
              <a:t>B</a:t>
            </a:r>
            <a:endParaRPr lang="en-US" altLang="zh-CN">
              <a:latin typeface="Times New Roman" panose="02020503050405090304" pitchFamily="18" charset="0"/>
              <a:ea typeface="仿宋_GB2312" pitchFamily="49" charset="-122"/>
            </a:endParaRPr>
          </a:p>
        </p:txBody>
      </p:sp>
      <p:sp>
        <p:nvSpPr>
          <p:cNvPr id="2" name="矩形 1"/>
          <p:cNvSpPr/>
          <p:nvPr/>
        </p:nvSpPr>
        <p:spPr>
          <a:xfrm>
            <a:off x="4421188" y="3617913"/>
            <a:ext cx="4081462" cy="2308225"/>
          </a:xfrm>
          <a:prstGeom prst="rect">
            <a:avLst/>
          </a:prstGeom>
          <a:noFill/>
          <a:ln w="9525">
            <a:noFill/>
          </a:ln>
        </p:spPr>
        <p:txBody>
          <a:bodyPr wrap="none" anchor="ctr" anchorCtr="0">
            <a:spAutoFit/>
          </a:bodyPr>
          <a:p>
            <a:pPr indent="685800"/>
            <a:r>
              <a:rPr lang="zh-CN" altLang="en-US" dirty="0">
                <a:solidFill>
                  <a:srgbClr val="1209BD"/>
                </a:solidFill>
                <a:latin typeface="Times New Roman" panose="02020503050405090304" pitchFamily="18" charset="0"/>
                <a:ea typeface="仿宋_GB2312" pitchFamily="49" charset="-122"/>
              </a:rPr>
              <a:t>方法</a:t>
            </a:r>
            <a:r>
              <a:rPr lang="en-US" altLang="zh-CN">
                <a:solidFill>
                  <a:srgbClr val="1209BD"/>
                </a:solidFill>
                <a:latin typeface="Times New Roman" panose="02020503050405090304" pitchFamily="18" charset="0"/>
                <a:ea typeface="仿宋_GB2312" pitchFamily="49" charset="-122"/>
              </a:rPr>
              <a:t>4</a:t>
            </a:r>
            <a:r>
              <a:rPr lang="zh-CN" altLang="en-US" dirty="0">
                <a:solidFill>
                  <a:srgbClr val="1209BD"/>
                </a:solidFill>
                <a:latin typeface="Times New Roman" panose="02020503050405090304" pitchFamily="18" charset="0"/>
                <a:ea typeface="仿宋_GB2312" pitchFamily="49" charset="-122"/>
              </a:rPr>
              <a:t>（堆栈传送法）：</a:t>
            </a:r>
            <a:endParaRPr lang="zh-CN" altLang="en-US" dirty="0">
              <a:solidFill>
                <a:srgbClr val="1209BD"/>
              </a:solidFill>
              <a:latin typeface="Times New Roman" panose="02020503050405090304" pitchFamily="18" charset="0"/>
              <a:ea typeface="仿宋_GB2312" pitchFamily="49" charset="-122"/>
            </a:endParaRPr>
          </a:p>
          <a:p>
            <a:pPr indent="685800"/>
            <a:r>
              <a:rPr lang="zh-CN" altLang="en-US" dirty="0">
                <a:latin typeface="Times New Roman" panose="02020503050405090304" pitchFamily="18" charset="0"/>
                <a:ea typeface="仿宋_GB2312" pitchFamily="49" charset="-122"/>
              </a:rPr>
              <a:t>   </a:t>
            </a:r>
            <a:r>
              <a:rPr lang="en-US" altLang="zh-CN">
                <a:latin typeface="Times New Roman" panose="02020503050405090304" pitchFamily="18" charset="0"/>
                <a:ea typeface="仿宋_GB2312" pitchFamily="49" charset="-122"/>
              </a:rPr>
              <a:t>PUSH	30H</a:t>
            </a:r>
            <a:endParaRPr lang="en-US" altLang="zh-CN">
              <a:latin typeface="Times New Roman" panose="02020503050405090304" pitchFamily="18" charset="0"/>
              <a:ea typeface="仿宋_GB2312" pitchFamily="49" charset="-122"/>
            </a:endParaRPr>
          </a:p>
          <a:p>
            <a:pPr indent="685800"/>
            <a:r>
              <a:rPr lang="en-US" altLang="zh-CN">
                <a:latin typeface="Times New Roman" panose="02020503050405090304" pitchFamily="18" charset="0"/>
                <a:ea typeface="仿宋_GB2312" pitchFamily="49" charset="-122"/>
              </a:rPr>
              <a:t>   PUSH	40H</a:t>
            </a:r>
            <a:endParaRPr lang="en-US" altLang="zh-CN">
              <a:latin typeface="Times New Roman" panose="02020503050405090304" pitchFamily="18" charset="0"/>
              <a:ea typeface="仿宋_GB2312" pitchFamily="49" charset="-122"/>
            </a:endParaRPr>
          </a:p>
          <a:p>
            <a:pPr indent="685800"/>
            <a:r>
              <a:rPr lang="en-US" altLang="zh-CN">
                <a:latin typeface="Times New Roman" panose="02020503050405090304" pitchFamily="18" charset="0"/>
                <a:ea typeface="仿宋_GB2312" pitchFamily="49" charset="-122"/>
              </a:rPr>
              <a:t>   POP	30H</a:t>
            </a:r>
            <a:endParaRPr lang="en-US" altLang="zh-CN">
              <a:latin typeface="Times New Roman" panose="02020503050405090304" pitchFamily="18" charset="0"/>
              <a:ea typeface="仿宋_GB2312" pitchFamily="49" charset="-122"/>
            </a:endParaRPr>
          </a:p>
          <a:p>
            <a:pPr indent="685800"/>
            <a:r>
              <a:rPr lang="en-US" altLang="zh-CN">
                <a:latin typeface="Times New Roman" panose="02020503050405090304" pitchFamily="18" charset="0"/>
                <a:ea typeface="仿宋_GB2312" pitchFamily="49" charset="-122"/>
              </a:rPr>
              <a:t>   POP	40H</a:t>
            </a:r>
            <a:endParaRPr lang="en-US" altLang="zh-CN">
              <a:latin typeface="Times New Roman" panose="02020503050405090304" pitchFamily="18" charset="0"/>
              <a:ea typeface="仿宋_GB2312" pitchFamily="49" charset="-122"/>
            </a:endParaRPr>
          </a:p>
          <a:p>
            <a:pPr indent="685800"/>
            <a:r>
              <a:rPr lang="en-US" altLang="zh-CN">
                <a:latin typeface="Times New Roman" panose="02020503050405090304" pitchFamily="18" charset="0"/>
                <a:ea typeface="仿宋_GB2312" pitchFamily="49" charset="-122"/>
              </a:rPr>
              <a:t>   MOV	@R0</a:t>
            </a:r>
            <a:r>
              <a:rPr lang="zh-CN" altLang="en-US" dirty="0">
                <a:latin typeface="Times New Roman" panose="02020503050405090304" pitchFamily="18" charset="0"/>
                <a:ea typeface="仿宋_GB2312" pitchFamily="49" charset="-122"/>
              </a:rPr>
              <a:t>，</a:t>
            </a:r>
            <a:r>
              <a:rPr lang="en-US" altLang="zh-CN">
                <a:latin typeface="Times New Roman" panose="02020503050405090304" pitchFamily="18" charset="0"/>
                <a:ea typeface="仿宋_GB2312" pitchFamily="49" charset="-122"/>
              </a:rPr>
              <a:t>B</a:t>
            </a:r>
            <a:endParaRPr lang="en-US" altLang="zh-CN">
              <a:latin typeface="Times New Roman" panose="02020503050405090304" pitchFamily="18" charset="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24675"/>
                                        </p:tgtEl>
                                        <p:attrNameLst>
                                          <p:attrName>style.visibility</p:attrName>
                                        </p:attrNameLst>
                                      </p:cBhvr>
                                      <p:to>
                                        <p:strVal val="visible"/>
                                      </p:to>
                                    </p:set>
                                    <p:anim calcmode="lin" valueType="num">
                                      <p:cBhvr additive="base">
                                        <p:cTn id="7" dur="500" fill="hold"/>
                                        <p:tgtEl>
                                          <p:spTgt spid="924675"/>
                                        </p:tgtEl>
                                        <p:attrNameLst>
                                          <p:attrName>ppt_x</p:attrName>
                                        </p:attrNameLst>
                                      </p:cBhvr>
                                      <p:tavLst>
                                        <p:tav tm="0">
                                          <p:val>
                                            <p:strVal val="#ppt_x"/>
                                          </p:val>
                                        </p:tav>
                                        <p:tav tm="100000">
                                          <p:val>
                                            <p:strVal val="#ppt_x"/>
                                          </p:val>
                                        </p:tav>
                                      </p:tavLst>
                                    </p:anim>
                                    <p:anim calcmode="lin" valueType="num">
                                      <p:cBhvr additive="base">
                                        <p:cTn id="8" dur="500" fill="hold"/>
                                        <p:tgtEl>
                                          <p:spTgt spid="92467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24677"/>
                                        </p:tgtEl>
                                        <p:attrNameLst>
                                          <p:attrName>style.visibility</p:attrName>
                                        </p:attrNameLst>
                                      </p:cBhvr>
                                      <p:to>
                                        <p:strVal val="visible"/>
                                      </p:to>
                                    </p:set>
                                    <p:anim calcmode="lin" valueType="num">
                                      <p:cBhvr additive="base">
                                        <p:cTn id="13" dur="500" fill="hold"/>
                                        <p:tgtEl>
                                          <p:spTgt spid="924677"/>
                                        </p:tgtEl>
                                        <p:attrNameLst>
                                          <p:attrName>ppt_x</p:attrName>
                                        </p:attrNameLst>
                                      </p:cBhvr>
                                      <p:tavLst>
                                        <p:tav tm="0">
                                          <p:val>
                                            <p:strVal val="#ppt_x"/>
                                          </p:val>
                                        </p:tav>
                                        <p:tav tm="100000">
                                          <p:val>
                                            <p:strVal val="#ppt_x"/>
                                          </p:val>
                                        </p:tav>
                                      </p:tavLst>
                                    </p:anim>
                                    <p:anim calcmode="lin" valueType="num">
                                      <p:cBhvr additive="base">
                                        <p:cTn id="14" dur="500" fill="hold"/>
                                        <p:tgtEl>
                                          <p:spTgt spid="92467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24676"/>
                                        </p:tgtEl>
                                        <p:attrNameLst>
                                          <p:attrName>style.visibility</p:attrName>
                                        </p:attrNameLst>
                                      </p:cBhvr>
                                      <p:to>
                                        <p:strVal val="visible"/>
                                      </p:to>
                                    </p:set>
                                    <p:anim calcmode="lin" valueType="num">
                                      <p:cBhvr additive="base">
                                        <p:cTn id="19" dur="500" fill="hold"/>
                                        <p:tgtEl>
                                          <p:spTgt spid="924676"/>
                                        </p:tgtEl>
                                        <p:attrNameLst>
                                          <p:attrName>ppt_x</p:attrName>
                                        </p:attrNameLst>
                                      </p:cBhvr>
                                      <p:tavLst>
                                        <p:tav tm="0">
                                          <p:val>
                                            <p:strVal val="#ppt_x"/>
                                          </p:val>
                                        </p:tav>
                                        <p:tav tm="100000">
                                          <p:val>
                                            <p:strVal val="#ppt_x"/>
                                          </p:val>
                                        </p:tav>
                                      </p:tavLst>
                                    </p:anim>
                                    <p:anim calcmode="lin" valueType="num">
                                      <p:cBhvr additive="base">
                                        <p:cTn id="20" dur="500" fill="hold"/>
                                        <p:tgtEl>
                                          <p:spTgt spid="92467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4675" grpId="0"/>
      <p:bldP spid="924677" grpId="0"/>
      <p:bldP spid="924676" grpId="0"/>
      <p:bldP spid="2"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ChangeArrowheads="1"/>
          </p:cNvSpPr>
          <p:nvPr/>
        </p:nvSpPr>
        <p:spPr bwMode="auto">
          <a:xfrm>
            <a:off x="214313" y="214313"/>
            <a:ext cx="8763000" cy="609600"/>
          </a:xfrm>
          <a:prstGeom prst="rect">
            <a:avLst/>
          </a:prstGeom>
          <a:noFill/>
          <a:ln>
            <a:noFill/>
          </a:ln>
        </p:spPr>
        <p:txBody>
          <a:bodyPr anchor="ctr"/>
          <a:lstStyle>
            <a:lvl1pPr>
              <a:defRPr sz="3600">
                <a:solidFill>
                  <a:schemeClr val="tx2"/>
                </a:solidFill>
                <a:latin typeface="Times New Roman" panose="02020503050405090304" pitchFamily="18" charset="0"/>
                <a:ea typeface="宋体" pitchFamily="2" charset="-122"/>
              </a:defRPr>
            </a:lvl1pPr>
            <a:lvl2pPr>
              <a:defRPr sz="3600">
                <a:solidFill>
                  <a:schemeClr val="tx2"/>
                </a:solidFill>
                <a:latin typeface="Times New Roman" panose="02020503050405090304" pitchFamily="18" charset="0"/>
                <a:ea typeface="宋体" pitchFamily="2" charset="-122"/>
              </a:defRPr>
            </a:lvl2pPr>
            <a:lvl3pPr>
              <a:defRPr sz="3600">
                <a:solidFill>
                  <a:schemeClr val="tx2"/>
                </a:solidFill>
                <a:latin typeface="Times New Roman" panose="02020503050405090304" pitchFamily="18" charset="0"/>
                <a:ea typeface="宋体" pitchFamily="2" charset="-122"/>
              </a:defRPr>
            </a:lvl3pPr>
            <a:lvl4pPr>
              <a:defRPr sz="3600">
                <a:solidFill>
                  <a:schemeClr val="tx2"/>
                </a:solidFill>
                <a:latin typeface="Times New Roman" panose="02020503050405090304" pitchFamily="18" charset="0"/>
                <a:ea typeface="宋体" pitchFamily="2" charset="-122"/>
              </a:defRPr>
            </a:lvl4pPr>
            <a:lvl5pPr>
              <a:defRPr sz="3600">
                <a:solidFill>
                  <a:schemeClr val="tx2"/>
                </a:solidFill>
                <a:latin typeface="Times New Roman" panose="02020503050405090304" pitchFamily="18" charset="0"/>
                <a:ea typeface="宋体" pitchFamily="2" charset="-122"/>
              </a:defRPr>
            </a:lvl5pPr>
            <a:lvl6pPr marL="45720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fontAlgn="base">
              <a:spcBef>
                <a:spcPct val="0"/>
              </a:spcBef>
              <a:spcAft>
                <a:spcPct val="0"/>
              </a:spcAft>
              <a:defRPr sz="3600">
                <a:solidFill>
                  <a:schemeClr val="tx2"/>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第三章</a:t>
            </a:r>
            <a:r>
              <a:rPr kumimoji="0" lang="zh-CN" altLang="en-US" sz="28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zh-CN" altLang="en-US" sz="24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en-US" altLang="zh-CN"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MCS-51</a:t>
            </a: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指令系统</a:t>
            </a:r>
            <a:endParaRPr kumimoji="0" lang="zh-CN" altLang="en-US" sz="3600" b="0"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Times New Roman" panose="02020503050405090304" pitchFamily="18" charset="0"/>
              <a:ea typeface="宋体" pitchFamily="2" charset="-122"/>
              <a:cs typeface="+mn-cs"/>
            </a:endParaRPr>
          </a:p>
        </p:txBody>
      </p:sp>
      <p:sp>
        <p:nvSpPr>
          <p:cNvPr id="100354" name="矩形 924673"/>
          <p:cNvSpPr/>
          <p:nvPr/>
        </p:nvSpPr>
        <p:spPr>
          <a:xfrm>
            <a:off x="557213" y="1190625"/>
            <a:ext cx="8077200" cy="1568450"/>
          </a:xfrm>
          <a:prstGeom prst="rect">
            <a:avLst/>
          </a:prstGeom>
          <a:noFill/>
          <a:ln w="9525">
            <a:noFill/>
          </a:ln>
        </p:spPr>
        <p:txBody>
          <a:bodyPr anchor="ctr" anchorCtr="0">
            <a:spAutoFit/>
          </a:bodyPr>
          <a:p>
            <a:r>
              <a:rPr lang="en-US" altLang="zh-CN">
                <a:latin typeface="Times New Roman" panose="02020503050405090304" pitchFamily="18" charset="0"/>
                <a:ea typeface="仿宋_GB2312" pitchFamily="49" charset="-122"/>
              </a:rPr>
              <a:t>【</a:t>
            </a:r>
            <a:r>
              <a:rPr lang="zh-CN" altLang="en-US" dirty="0">
                <a:latin typeface="Times New Roman" panose="02020503050405090304" pitchFamily="18" charset="0"/>
                <a:ea typeface="仿宋_GB2312" pitchFamily="49" charset="-122"/>
              </a:rPr>
              <a:t>例</a:t>
            </a:r>
            <a:r>
              <a:rPr lang="en-US" altLang="zh-CN">
                <a:latin typeface="Times New Roman" panose="02020503050405090304" pitchFamily="18" charset="0"/>
                <a:ea typeface="仿宋_GB2312" pitchFamily="49" charset="-122"/>
              </a:rPr>
              <a:t>】</a:t>
            </a:r>
            <a:r>
              <a:rPr lang="zh-CN" altLang="en-US" dirty="0">
                <a:latin typeface="Times New Roman" panose="02020503050405090304" pitchFamily="18" charset="0"/>
                <a:ea typeface="仿宋_GB2312" pitchFamily="49" charset="-122"/>
              </a:rPr>
              <a:t>设内部</a:t>
            </a:r>
            <a:r>
              <a:rPr lang="en-US" altLang="zh-CN">
                <a:latin typeface="Times New Roman" panose="02020503050405090304" pitchFamily="18" charset="0"/>
                <a:ea typeface="仿宋_GB2312" pitchFamily="49" charset="-122"/>
              </a:rPr>
              <a:t>RAM 41H </a:t>
            </a:r>
            <a:r>
              <a:rPr lang="zh-CN" altLang="en-US" dirty="0">
                <a:latin typeface="Times New Roman" panose="02020503050405090304" pitchFamily="18" charset="0"/>
                <a:ea typeface="仿宋_GB2312" pitchFamily="49" charset="-122"/>
              </a:rPr>
              <a:t>、</a:t>
            </a:r>
            <a:r>
              <a:rPr lang="en-US" altLang="zh-CN">
                <a:latin typeface="Times New Roman" panose="02020503050405090304" pitchFamily="18" charset="0"/>
                <a:ea typeface="仿宋_GB2312" pitchFamily="49" charset="-122"/>
              </a:rPr>
              <a:t> 40H</a:t>
            </a:r>
            <a:r>
              <a:rPr lang="zh-CN" altLang="en-US" dirty="0">
                <a:latin typeface="Times New Roman" panose="02020503050405090304" pitchFamily="18" charset="0"/>
                <a:ea typeface="仿宋_GB2312" pitchFamily="49" charset="-122"/>
              </a:rPr>
              <a:t>单元中连续存放有</a:t>
            </a:r>
            <a:r>
              <a:rPr lang="en-US" altLang="zh-CN">
                <a:latin typeface="Times New Roman" panose="02020503050405090304" pitchFamily="18" charset="0"/>
                <a:ea typeface="仿宋_GB2312" pitchFamily="49" charset="-122"/>
              </a:rPr>
              <a:t>4</a:t>
            </a:r>
            <a:r>
              <a:rPr lang="zh-CN" altLang="en-US" dirty="0">
                <a:latin typeface="Times New Roman" panose="02020503050405090304" pitchFamily="18" charset="0"/>
                <a:ea typeface="仿宋_GB2312" pitchFamily="49" charset="-122"/>
              </a:rPr>
              <a:t>个压缩的</a:t>
            </a:r>
            <a:r>
              <a:rPr lang="en-US" altLang="zh-CN">
                <a:latin typeface="Times New Roman" panose="02020503050405090304" pitchFamily="18" charset="0"/>
                <a:ea typeface="仿宋_GB2312" pitchFamily="49" charset="-122"/>
              </a:rPr>
              <a:t>BCD</a:t>
            </a:r>
            <a:r>
              <a:rPr lang="zh-CN" altLang="en-US" dirty="0">
                <a:latin typeface="Times New Roman" panose="02020503050405090304" pitchFamily="18" charset="0"/>
                <a:ea typeface="仿宋_GB2312" pitchFamily="49" charset="-122"/>
              </a:rPr>
              <a:t>码数据</a:t>
            </a:r>
            <a:r>
              <a:rPr lang="en-US" altLang="zh-CN">
                <a:latin typeface="Times New Roman" panose="02020503050405090304" pitchFamily="18" charset="0"/>
                <a:ea typeface="仿宋_GB2312" pitchFamily="49" charset="-122"/>
              </a:rPr>
              <a:t>(12 34) ,</a:t>
            </a:r>
            <a:r>
              <a:rPr lang="zh-CN" altLang="en-US" dirty="0">
                <a:latin typeface="Times New Roman" panose="02020503050405090304" pitchFamily="18" charset="0"/>
                <a:ea typeface="仿宋_GB2312" pitchFamily="49" charset="-122"/>
              </a:rPr>
              <a:t>试编写程序将这</a:t>
            </a:r>
            <a:r>
              <a:rPr lang="en-US" altLang="zh-CN">
                <a:latin typeface="Times New Roman" panose="02020503050405090304" pitchFamily="18" charset="0"/>
                <a:ea typeface="仿宋_GB2312" pitchFamily="49" charset="-122"/>
              </a:rPr>
              <a:t>4</a:t>
            </a:r>
            <a:r>
              <a:rPr lang="zh-CN" altLang="en-US" dirty="0">
                <a:latin typeface="Times New Roman" panose="02020503050405090304" pitchFamily="18" charset="0"/>
                <a:ea typeface="仿宋_GB2312" pitchFamily="49" charset="-122"/>
              </a:rPr>
              <a:t>个</a:t>
            </a:r>
            <a:r>
              <a:rPr lang="en-US" altLang="zh-CN">
                <a:latin typeface="Times New Roman" panose="02020503050405090304" pitchFamily="18" charset="0"/>
                <a:ea typeface="仿宋_GB2312" pitchFamily="49" charset="-122"/>
              </a:rPr>
              <a:t>BCD</a:t>
            </a:r>
            <a:r>
              <a:rPr lang="zh-CN" altLang="en-US" dirty="0">
                <a:latin typeface="Times New Roman" panose="02020503050405090304" pitchFamily="18" charset="0"/>
                <a:ea typeface="仿宋_GB2312" pitchFamily="49" charset="-122"/>
              </a:rPr>
              <a:t>码倒序排列</a:t>
            </a:r>
            <a:r>
              <a:rPr lang="en-US" altLang="zh-CN">
                <a:latin typeface="Times New Roman" panose="02020503050405090304" pitchFamily="18" charset="0"/>
                <a:ea typeface="仿宋_GB2312" pitchFamily="49" charset="-122"/>
              </a:rPr>
              <a:t>(43 21)</a:t>
            </a:r>
            <a:r>
              <a:rPr lang="zh-CN" altLang="en-US" dirty="0">
                <a:latin typeface="Times New Roman" panose="02020503050405090304" pitchFamily="18" charset="0"/>
                <a:ea typeface="仿宋_GB2312" pitchFamily="49" charset="-122"/>
              </a:rPr>
              <a:t>，如图所示。</a:t>
            </a:r>
            <a:endParaRPr lang="zh-CN" altLang="en-US" dirty="0">
              <a:latin typeface="Times New Roman" panose="02020503050405090304" pitchFamily="18" charset="0"/>
              <a:ea typeface="仿宋_GB2312" pitchFamily="49" charset="-122"/>
            </a:endParaRPr>
          </a:p>
          <a:p>
            <a:r>
              <a:rPr lang="zh-CN" altLang="en-US" dirty="0">
                <a:latin typeface="Times New Roman" panose="02020503050405090304" pitchFamily="18" charset="0"/>
                <a:ea typeface="仿宋_GB2312" pitchFamily="49" charset="-122"/>
              </a:rPr>
              <a:t> </a:t>
            </a:r>
            <a:endParaRPr lang="zh-CN" altLang="en-US" dirty="0">
              <a:latin typeface="Times New Roman" panose="02020503050405090304" pitchFamily="18" charset="0"/>
              <a:ea typeface="仿宋_GB2312" pitchFamily="49" charset="-122"/>
            </a:endParaRPr>
          </a:p>
        </p:txBody>
      </p:sp>
      <p:pic>
        <p:nvPicPr>
          <p:cNvPr id="100355" name="图片 922633"/>
          <p:cNvPicPr>
            <a:picLocks noChangeAspect="1"/>
          </p:cNvPicPr>
          <p:nvPr/>
        </p:nvPicPr>
        <p:blipFill>
          <a:blip r:embed="rId1">
            <a:clrChange>
              <a:clrFrom>
                <a:srgbClr val="FFFFFF"/>
              </a:clrFrom>
              <a:clrTo>
                <a:srgbClr val="FFFFFF">
                  <a:alpha val="0"/>
                </a:srgbClr>
              </a:clrTo>
            </a:clrChange>
          </a:blip>
          <a:stretch>
            <a:fillRect/>
          </a:stretch>
        </p:blipFill>
        <p:spPr>
          <a:xfrm>
            <a:off x="1816100" y="2576513"/>
            <a:ext cx="5113338" cy="2463800"/>
          </a:xfrm>
          <a:prstGeom prst="rect">
            <a:avLst/>
          </a:prstGeom>
          <a:noFill/>
          <a:ln w="9525">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ChangeArrowheads="1"/>
          </p:cNvSpPr>
          <p:nvPr/>
        </p:nvSpPr>
        <p:spPr bwMode="auto">
          <a:xfrm>
            <a:off x="214313" y="214313"/>
            <a:ext cx="8763000" cy="609600"/>
          </a:xfrm>
          <a:prstGeom prst="rect">
            <a:avLst/>
          </a:prstGeom>
          <a:noFill/>
          <a:ln>
            <a:noFill/>
          </a:ln>
        </p:spPr>
        <p:txBody>
          <a:bodyPr anchor="ctr"/>
          <a:lstStyle>
            <a:lvl1pPr>
              <a:defRPr sz="3600">
                <a:solidFill>
                  <a:schemeClr val="tx2"/>
                </a:solidFill>
                <a:latin typeface="Times New Roman" panose="02020503050405090304" pitchFamily="18" charset="0"/>
                <a:ea typeface="宋体" pitchFamily="2" charset="-122"/>
              </a:defRPr>
            </a:lvl1pPr>
            <a:lvl2pPr>
              <a:defRPr sz="3600">
                <a:solidFill>
                  <a:schemeClr val="tx2"/>
                </a:solidFill>
                <a:latin typeface="Times New Roman" panose="02020503050405090304" pitchFamily="18" charset="0"/>
                <a:ea typeface="宋体" pitchFamily="2" charset="-122"/>
              </a:defRPr>
            </a:lvl2pPr>
            <a:lvl3pPr>
              <a:defRPr sz="3600">
                <a:solidFill>
                  <a:schemeClr val="tx2"/>
                </a:solidFill>
                <a:latin typeface="Times New Roman" panose="02020503050405090304" pitchFamily="18" charset="0"/>
                <a:ea typeface="宋体" pitchFamily="2" charset="-122"/>
              </a:defRPr>
            </a:lvl3pPr>
            <a:lvl4pPr>
              <a:defRPr sz="3600">
                <a:solidFill>
                  <a:schemeClr val="tx2"/>
                </a:solidFill>
                <a:latin typeface="Times New Roman" panose="02020503050405090304" pitchFamily="18" charset="0"/>
                <a:ea typeface="宋体" pitchFamily="2" charset="-122"/>
              </a:defRPr>
            </a:lvl4pPr>
            <a:lvl5pPr>
              <a:defRPr sz="3600">
                <a:solidFill>
                  <a:schemeClr val="tx2"/>
                </a:solidFill>
                <a:latin typeface="Times New Roman" panose="02020503050405090304" pitchFamily="18" charset="0"/>
                <a:ea typeface="宋体" pitchFamily="2" charset="-122"/>
              </a:defRPr>
            </a:lvl5pPr>
            <a:lvl6pPr marL="45720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fontAlgn="base">
              <a:spcBef>
                <a:spcPct val="0"/>
              </a:spcBef>
              <a:spcAft>
                <a:spcPct val="0"/>
              </a:spcAft>
              <a:defRPr sz="3600">
                <a:solidFill>
                  <a:schemeClr val="tx2"/>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第三章</a:t>
            </a:r>
            <a:r>
              <a:rPr kumimoji="0" lang="zh-CN" altLang="en-US" sz="28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zh-CN" altLang="en-US" sz="24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en-US" altLang="zh-CN"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MCS-51</a:t>
            </a: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指令系统</a:t>
            </a:r>
            <a:endParaRPr kumimoji="0" lang="zh-CN" altLang="en-US" sz="3600" b="0"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Times New Roman" panose="02020503050405090304" pitchFamily="18" charset="0"/>
              <a:ea typeface="宋体" pitchFamily="2" charset="-122"/>
              <a:cs typeface="+mn-cs"/>
            </a:endParaRPr>
          </a:p>
        </p:txBody>
      </p:sp>
      <p:sp>
        <p:nvSpPr>
          <p:cNvPr id="101378" name="矩形 924673"/>
          <p:cNvSpPr/>
          <p:nvPr/>
        </p:nvSpPr>
        <p:spPr>
          <a:xfrm>
            <a:off x="557213" y="1190625"/>
            <a:ext cx="8077200" cy="1568450"/>
          </a:xfrm>
          <a:prstGeom prst="rect">
            <a:avLst/>
          </a:prstGeom>
          <a:noFill/>
          <a:ln w="9525">
            <a:noFill/>
          </a:ln>
        </p:spPr>
        <p:txBody>
          <a:bodyPr anchor="ctr" anchorCtr="0">
            <a:spAutoFit/>
          </a:bodyPr>
          <a:p>
            <a:r>
              <a:rPr lang="en-US" altLang="zh-CN">
                <a:latin typeface="Times New Roman" panose="02020503050405090304" pitchFamily="18" charset="0"/>
                <a:ea typeface="仿宋_GB2312" pitchFamily="49" charset="-122"/>
              </a:rPr>
              <a:t>【</a:t>
            </a:r>
            <a:r>
              <a:rPr lang="zh-CN" altLang="en-US" dirty="0">
                <a:latin typeface="Times New Roman" panose="02020503050405090304" pitchFamily="18" charset="0"/>
                <a:ea typeface="仿宋_GB2312" pitchFamily="49" charset="-122"/>
              </a:rPr>
              <a:t>例</a:t>
            </a:r>
            <a:r>
              <a:rPr lang="en-US" altLang="zh-CN">
                <a:latin typeface="Times New Roman" panose="02020503050405090304" pitchFamily="18" charset="0"/>
                <a:ea typeface="仿宋_GB2312" pitchFamily="49" charset="-122"/>
              </a:rPr>
              <a:t>】</a:t>
            </a:r>
            <a:r>
              <a:rPr lang="zh-CN" altLang="en-US" dirty="0">
                <a:latin typeface="Times New Roman" panose="02020503050405090304" pitchFamily="18" charset="0"/>
                <a:ea typeface="仿宋_GB2312" pitchFamily="49" charset="-122"/>
                <a:sym typeface="宋体" pitchFamily="2" charset="-122"/>
              </a:rPr>
              <a:t>设内部</a:t>
            </a:r>
            <a:r>
              <a:rPr lang="en-US" altLang="zh-CN">
                <a:latin typeface="Times New Roman" panose="02020503050405090304" pitchFamily="18" charset="0"/>
                <a:ea typeface="仿宋_GB2312" pitchFamily="49" charset="-122"/>
                <a:sym typeface="宋体" pitchFamily="2" charset="-122"/>
              </a:rPr>
              <a:t>RAM 41H </a:t>
            </a:r>
            <a:r>
              <a:rPr lang="zh-CN" altLang="en-US" dirty="0">
                <a:latin typeface="Times New Roman" panose="02020503050405090304" pitchFamily="18" charset="0"/>
                <a:ea typeface="仿宋_GB2312" pitchFamily="49" charset="-122"/>
                <a:sym typeface="宋体" pitchFamily="2" charset="-122"/>
              </a:rPr>
              <a:t>、</a:t>
            </a:r>
            <a:r>
              <a:rPr lang="en-US" altLang="zh-CN">
                <a:latin typeface="Times New Roman" panose="02020503050405090304" pitchFamily="18" charset="0"/>
                <a:ea typeface="仿宋_GB2312" pitchFamily="49" charset="-122"/>
                <a:sym typeface="宋体" pitchFamily="2" charset="-122"/>
              </a:rPr>
              <a:t> 40H</a:t>
            </a:r>
            <a:r>
              <a:rPr lang="zh-CN" altLang="en-US" dirty="0">
                <a:latin typeface="Times New Roman" panose="02020503050405090304" pitchFamily="18" charset="0"/>
                <a:ea typeface="仿宋_GB2312" pitchFamily="49" charset="-122"/>
                <a:sym typeface="宋体" pitchFamily="2" charset="-122"/>
              </a:rPr>
              <a:t>单元中连续存放有</a:t>
            </a:r>
            <a:r>
              <a:rPr lang="en-US" altLang="zh-CN">
                <a:latin typeface="Times New Roman" panose="02020503050405090304" pitchFamily="18" charset="0"/>
                <a:ea typeface="仿宋_GB2312" pitchFamily="49" charset="-122"/>
                <a:sym typeface="宋体" pitchFamily="2" charset="-122"/>
              </a:rPr>
              <a:t>4</a:t>
            </a:r>
            <a:r>
              <a:rPr lang="zh-CN" altLang="en-US" dirty="0">
                <a:latin typeface="Times New Roman" panose="02020503050405090304" pitchFamily="18" charset="0"/>
                <a:ea typeface="仿宋_GB2312" pitchFamily="49" charset="-122"/>
                <a:sym typeface="宋体" pitchFamily="2" charset="-122"/>
              </a:rPr>
              <a:t>个压缩的</a:t>
            </a:r>
            <a:r>
              <a:rPr lang="en-US" altLang="zh-CN">
                <a:latin typeface="Times New Roman" panose="02020503050405090304" pitchFamily="18" charset="0"/>
                <a:ea typeface="仿宋_GB2312" pitchFamily="49" charset="-122"/>
                <a:sym typeface="宋体" pitchFamily="2" charset="-122"/>
              </a:rPr>
              <a:t>BCD</a:t>
            </a:r>
            <a:r>
              <a:rPr lang="zh-CN" altLang="en-US" dirty="0">
                <a:latin typeface="Times New Roman" panose="02020503050405090304" pitchFamily="18" charset="0"/>
                <a:ea typeface="仿宋_GB2312" pitchFamily="49" charset="-122"/>
                <a:sym typeface="宋体" pitchFamily="2" charset="-122"/>
              </a:rPr>
              <a:t>码数据</a:t>
            </a:r>
            <a:r>
              <a:rPr lang="en-US" altLang="zh-CN">
                <a:latin typeface="Times New Roman" panose="02020503050405090304" pitchFamily="18" charset="0"/>
                <a:ea typeface="仿宋_GB2312" pitchFamily="49" charset="-122"/>
                <a:sym typeface="宋体" pitchFamily="2" charset="-122"/>
              </a:rPr>
              <a:t>(12 34) ,</a:t>
            </a:r>
            <a:r>
              <a:rPr lang="zh-CN" altLang="en-US" dirty="0">
                <a:latin typeface="Times New Roman" panose="02020503050405090304" pitchFamily="18" charset="0"/>
                <a:ea typeface="仿宋_GB2312" pitchFamily="49" charset="-122"/>
                <a:sym typeface="宋体" pitchFamily="2" charset="-122"/>
              </a:rPr>
              <a:t>试编写程序将这</a:t>
            </a:r>
            <a:r>
              <a:rPr lang="en-US" altLang="zh-CN">
                <a:latin typeface="Times New Roman" panose="02020503050405090304" pitchFamily="18" charset="0"/>
                <a:ea typeface="仿宋_GB2312" pitchFamily="49" charset="-122"/>
                <a:sym typeface="宋体" pitchFamily="2" charset="-122"/>
              </a:rPr>
              <a:t>4</a:t>
            </a:r>
            <a:r>
              <a:rPr lang="zh-CN" altLang="en-US" dirty="0">
                <a:latin typeface="Times New Roman" panose="02020503050405090304" pitchFamily="18" charset="0"/>
                <a:ea typeface="仿宋_GB2312" pitchFamily="49" charset="-122"/>
                <a:sym typeface="宋体" pitchFamily="2" charset="-122"/>
              </a:rPr>
              <a:t>个</a:t>
            </a:r>
            <a:r>
              <a:rPr lang="en-US" altLang="zh-CN">
                <a:latin typeface="Times New Roman" panose="02020503050405090304" pitchFamily="18" charset="0"/>
                <a:ea typeface="仿宋_GB2312" pitchFamily="49" charset="-122"/>
                <a:sym typeface="宋体" pitchFamily="2" charset="-122"/>
              </a:rPr>
              <a:t>BCD</a:t>
            </a:r>
            <a:r>
              <a:rPr lang="zh-CN" altLang="en-US" dirty="0">
                <a:latin typeface="Times New Roman" panose="02020503050405090304" pitchFamily="18" charset="0"/>
                <a:ea typeface="仿宋_GB2312" pitchFamily="49" charset="-122"/>
                <a:sym typeface="宋体" pitchFamily="2" charset="-122"/>
              </a:rPr>
              <a:t>码倒序排列</a:t>
            </a:r>
            <a:r>
              <a:rPr lang="en-US" altLang="zh-CN">
                <a:latin typeface="Times New Roman" panose="02020503050405090304" pitchFamily="18" charset="0"/>
                <a:ea typeface="仿宋_GB2312" pitchFamily="49" charset="-122"/>
                <a:sym typeface="宋体" pitchFamily="2" charset="-122"/>
              </a:rPr>
              <a:t>(43 21)</a:t>
            </a:r>
            <a:r>
              <a:rPr lang="zh-CN" altLang="en-US" dirty="0">
                <a:latin typeface="Times New Roman" panose="02020503050405090304" pitchFamily="18" charset="0"/>
                <a:ea typeface="仿宋_GB2312" pitchFamily="49" charset="-122"/>
                <a:sym typeface="宋体" pitchFamily="2" charset="-122"/>
              </a:rPr>
              <a:t>，如图所示。</a:t>
            </a:r>
            <a:endParaRPr lang="zh-CN" altLang="en-US" dirty="0">
              <a:latin typeface="Times New Roman" panose="02020503050405090304" pitchFamily="18" charset="0"/>
              <a:ea typeface="仿宋_GB2312" pitchFamily="49" charset="-122"/>
            </a:endParaRPr>
          </a:p>
          <a:p>
            <a:r>
              <a:rPr lang="zh-CN" altLang="en-US" dirty="0">
                <a:latin typeface="Times New Roman" panose="02020503050405090304" pitchFamily="18" charset="0"/>
                <a:ea typeface="仿宋_GB2312" pitchFamily="49" charset="-122"/>
              </a:rPr>
              <a:t> </a:t>
            </a:r>
            <a:endParaRPr lang="zh-CN" altLang="en-US" dirty="0">
              <a:latin typeface="Times New Roman" panose="02020503050405090304" pitchFamily="18" charset="0"/>
              <a:ea typeface="仿宋_GB2312" pitchFamily="49" charset="-122"/>
            </a:endParaRPr>
          </a:p>
        </p:txBody>
      </p:sp>
      <p:sp>
        <p:nvSpPr>
          <p:cNvPr id="924676" name="矩形 924675"/>
          <p:cNvSpPr/>
          <p:nvPr/>
        </p:nvSpPr>
        <p:spPr>
          <a:xfrm>
            <a:off x="3222625" y="2513013"/>
            <a:ext cx="2513013" cy="460375"/>
          </a:xfrm>
          <a:prstGeom prst="rect">
            <a:avLst/>
          </a:prstGeom>
          <a:noFill/>
          <a:ln w="9525">
            <a:noFill/>
          </a:ln>
        </p:spPr>
        <p:txBody>
          <a:bodyPr wrap="square" anchor="ctr" anchorCtr="0">
            <a:spAutoFit/>
          </a:bodyPr>
          <a:p>
            <a:r>
              <a:rPr lang="en-US" altLang="zh-CN">
                <a:latin typeface="Times New Roman" panose="02020503050405090304" pitchFamily="18" charset="0"/>
                <a:ea typeface="仿宋_GB2312" pitchFamily="49" charset="-122"/>
              </a:rPr>
              <a:t>MOV   A</a:t>
            </a:r>
            <a:r>
              <a:rPr lang="zh-CN" altLang="en-US">
                <a:latin typeface="Times New Roman" panose="02020503050405090304" pitchFamily="18" charset="0"/>
                <a:ea typeface="仿宋_GB2312" pitchFamily="49" charset="-122"/>
              </a:rPr>
              <a:t>，</a:t>
            </a:r>
            <a:r>
              <a:rPr lang="en-US" altLang="zh-CN">
                <a:latin typeface="Times New Roman" panose="02020503050405090304" pitchFamily="18" charset="0"/>
                <a:ea typeface="仿宋_GB2312" pitchFamily="49" charset="-122"/>
              </a:rPr>
              <a:t>41H</a:t>
            </a:r>
            <a:endParaRPr lang="en-US" altLang="zh-CN">
              <a:latin typeface="Times New Roman" panose="02020503050405090304" pitchFamily="18" charset="0"/>
              <a:ea typeface="仿宋_GB2312" pitchFamily="49" charset="-122"/>
            </a:endParaRPr>
          </a:p>
        </p:txBody>
      </p:sp>
      <p:pic>
        <p:nvPicPr>
          <p:cNvPr id="101380" name="图片 922633"/>
          <p:cNvPicPr>
            <a:picLocks noChangeAspect="1"/>
          </p:cNvPicPr>
          <p:nvPr/>
        </p:nvPicPr>
        <p:blipFill>
          <a:blip r:embed="rId1">
            <a:clrChange>
              <a:clrFrom>
                <a:srgbClr val="FFFFFF"/>
              </a:clrFrom>
              <a:clrTo>
                <a:srgbClr val="FFFFFF">
                  <a:alpha val="0"/>
                </a:srgbClr>
              </a:clrTo>
            </a:clrChange>
          </a:blip>
          <a:srcRect t="25273" b="18082"/>
          <a:stretch>
            <a:fillRect/>
          </a:stretch>
        </p:blipFill>
        <p:spPr>
          <a:xfrm>
            <a:off x="5394325" y="214313"/>
            <a:ext cx="3394075" cy="927100"/>
          </a:xfrm>
          <a:prstGeom prst="rect">
            <a:avLst/>
          </a:prstGeom>
          <a:noFill/>
          <a:ln w="9525">
            <a:noFill/>
          </a:ln>
        </p:spPr>
      </p:pic>
      <p:sp>
        <p:nvSpPr>
          <p:cNvPr id="78850" name="矩形 923650"/>
          <p:cNvSpPr/>
          <p:nvPr/>
        </p:nvSpPr>
        <p:spPr>
          <a:xfrm>
            <a:off x="158750" y="2336800"/>
            <a:ext cx="1100138" cy="460375"/>
          </a:xfrm>
          <a:prstGeom prst="rect">
            <a:avLst/>
          </a:prstGeom>
          <a:noFill/>
          <a:ln w="9525">
            <a:noFill/>
          </a:ln>
        </p:spPr>
        <p:txBody>
          <a:bodyPr wrap="none" anchor="ctr" anchorCtr="0">
            <a:spAutoFit/>
          </a:bodyPr>
          <a:p>
            <a:r>
              <a:rPr lang="zh-CN" altLang="en-US" dirty="0">
                <a:solidFill>
                  <a:srgbClr val="1209BD"/>
                </a:solidFill>
                <a:latin typeface="Times New Roman" panose="02020503050405090304" pitchFamily="18" charset="0"/>
                <a:ea typeface="仿宋_GB2312" pitchFamily="49" charset="-122"/>
              </a:rPr>
              <a:t>分析：</a:t>
            </a:r>
            <a:r>
              <a:rPr lang="zh-CN" altLang="en-US" dirty="0">
                <a:latin typeface="Times New Roman" panose="02020503050405090304" pitchFamily="18" charset="0"/>
                <a:ea typeface="仿宋_GB2312" pitchFamily="49" charset="-122"/>
              </a:rPr>
              <a:t> </a:t>
            </a:r>
            <a:endParaRPr lang="zh-CN" altLang="en-US" dirty="0">
              <a:latin typeface="Times New Roman" panose="02020503050405090304" pitchFamily="18" charset="0"/>
              <a:ea typeface="仿宋_GB2312" pitchFamily="49" charset="-122"/>
            </a:endParaRPr>
          </a:p>
        </p:txBody>
      </p:sp>
      <p:pic>
        <p:nvPicPr>
          <p:cNvPr id="78854" name="图片 923659"/>
          <p:cNvPicPr>
            <a:picLocks noChangeAspect="1"/>
          </p:cNvPicPr>
          <p:nvPr/>
        </p:nvPicPr>
        <p:blipFill>
          <a:blip r:embed="rId2">
            <a:clrChange>
              <a:clrFrom>
                <a:srgbClr val="FFFFFF"/>
              </a:clrFrom>
              <a:clrTo>
                <a:srgbClr val="FFFFFF">
                  <a:alpha val="0"/>
                </a:srgbClr>
              </a:clrTo>
            </a:clrChange>
          </a:blip>
          <a:stretch>
            <a:fillRect/>
          </a:stretch>
        </p:blipFill>
        <p:spPr>
          <a:xfrm>
            <a:off x="766763" y="2441575"/>
            <a:ext cx="2405062" cy="4321175"/>
          </a:xfrm>
          <a:prstGeom prst="rect">
            <a:avLst/>
          </a:prstGeom>
          <a:noFill/>
          <a:ln w="9525">
            <a:noFill/>
          </a:ln>
        </p:spPr>
      </p:pic>
      <p:sp>
        <p:nvSpPr>
          <p:cNvPr id="923672" name="直接连接符 923671"/>
          <p:cNvSpPr/>
          <p:nvPr/>
        </p:nvSpPr>
        <p:spPr>
          <a:xfrm>
            <a:off x="3171825" y="2439988"/>
            <a:ext cx="0" cy="4824412"/>
          </a:xfrm>
          <a:prstGeom prst="line">
            <a:avLst/>
          </a:prstGeom>
          <a:ln w="28575" cap="flat" cmpd="sng">
            <a:solidFill>
              <a:srgbClr val="000000"/>
            </a:solidFill>
            <a:prstDash val="dashDot"/>
            <a:miter/>
            <a:headEnd type="none" w="med" len="med"/>
            <a:tailEnd type="none" w="med" len="med"/>
          </a:ln>
        </p:spPr>
      </p:sp>
      <p:sp>
        <p:nvSpPr>
          <p:cNvPr id="4" name="矩形 3"/>
          <p:cNvSpPr/>
          <p:nvPr/>
        </p:nvSpPr>
        <p:spPr>
          <a:xfrm>
            <a:off x="3222625" y="3432175"/>
            <a:ext cx="2513013" cy="460375"/>
          </a:xfrm>
          <a:prstGeom prst="rect">
            <a:avLst/>
          </a:prstGeom>
          <a:noFill/>
          <a:ln w="9525">
            <a:noFill/>
          </a:ln>
        </p:spPr>
        <p:txBody>
          <a:bodyPr wrap="square" anchor="ctr" anchorCtr="0">
            <a:spAutoFit/>
          </a:bodyPr>
          <a:p>
            <a:r>
              <a:rPr lang="en-US" altLang="zh-CN">
                <a:latin typeface="Times New Roman" panose="02020503050405090304" pitchFamily="18" charset="0"/>
                <a:ea typeface="仿宋_GB2312" pitchFamily="49" charset="-122"/>
              </a:rPr>
              <a:t>SWAP  A</a:t>
            </a:r>
            <a:endParaRPr lang="en-US" altLang="zh-CN">
              <a:latin typeface="Times New Roman" panose="02020503050405090304" pitchFamily="18" charset="0"/>
              <a:ea typeface="仿宋_GB2312" pitchFamily="49" charset="-122"/>
            </a:endParaRPr>
          </a:p>
        </p:txBody>
      </p:sp>
      <p:sp>
        <p:nvSpPr>
          <p:cNvPr id="5" name="矩形 4"/>
          <p:cNvSpPr/>
          <p:nvPr/>
        </p:nvSpPr>
        <p:spPr>
          <a:xfrm>
            <a:off x="3222625" y="4303713"/>
            <a:ext cx="2513013" cy="460375"/>
          </a:xfrm>
          <a:prstGeom prst="rect">
            <a:avLst/>
          </a:prstGeom>
          <a:noFill/>
          <a:ln w="9525">
            <a:noFill/>
          </a:ln>
        </p:spPr>
        <p:txBody>
          <a:bodyPr wrap="square" anchor="ctr" anchorCtr="0">
            <a:spAutoFit/>
          </a:bodyPr>
          <a:p>
            <a:r>
              <a:rPr lang="en-US" altLang="zh-CN">
                <a:latin typeface="Times New Roman" panose="02020503050405090304" pitchFamily="18" charset="0"/>
                <a:ea typeface="仿宋_GB2312" pitchFamily="49" charset="-122"/>
              </a:rPr>
              <a:t>XCH  A</a:t>
            </a:r>
            <a:r>
              <a:rPr lang="zh-CN" altLang="en-US" dirty="0">
                <a:latin typeface="Times New Roman" panose="02020503050405090304" pitchFamily="18" charset="0"/>
                <a:ea typeface="仿宋_GB2312" pitchFamily="49" charset="-122"/>
              </a:rPr>
              <a:t>，</a:t>
            </a:r>
            <a:r>
              <a:rPr lang="en-US" altLang="zh-CN">
                <a:latin typeface="Times New Roman" panose="02020503050405090304" pitchFamily="18" charset="0"/>
                <a:ea typeface="仿宋_GB2312" pitchFamily="49" charset="-122"/>
              </a:rPr>
              <a:t>40H</a:t>
            </a:r>
            <a:endParaRPr lang="en-US" altLang="zh-CN">
              <a:latin typeface="Times New Roman" panose="02020503050405090304" pitchFamily="18" charset="0"/>
              <a:ea typeface="仿宋_GB2312" pitchFamily="49" charset="-122"/>
            </a:endParaRPr>
          </a:p>
        </p:txBody>
      </p:sp>
      <p:sp>
        <p:nvSpPr>
          <p:cNvPr id="6" name="矩形 5"/>
          <p:cNvSpPr/>
          <p:nvPr/>
        </p:nvSpPr>
        <p:spPr>
          <a:xfrm>
            <a:off x="3197225" y="5156200"/>
            <a:ext cx="2513013" cy="460375"/>
          </a:xfrm>
          <a:prstGeom prst="rect">
            <a:avLst/>
          </a:prstGeom>
          <a:noFill/>
          <a:ln w="9525">
            <a:noFill/>
          </a:ln>
        </p:spPr>
        <p:txBody>
          <a:bodyPr wrap="square" anchor="ctr" anchorCtr="0">
            <a:spAutoFit/>
          </a:bodyPr>
          <a:p>
            <a:r>
              <a:rPr lang="en-US" altLang="zh-CN">
                <a:latin typeface="Times New Roman" panose="02020503050405090304" pitchFamily="18" charset="0"/>
                <a:ea typeface="仿宋_GB2312" pitchFamily="49" charset="-122"/>
              </a:rPr>
              <a:t>SWAP  A</a:t>
            </a:r>
            <a:endParaRPr lang="en-US" altLang="zh-CN">
              <a:latin typeface="Times New Roman" panose="02020503050405090304" pitchFamily="18" charset="0"/>
              <a:ea typeface="仿宋_GB2312" pitchFamily="49" charset="-122"/>
            </a:endParaRPr>
          </a:p>
        </p:txBody>
      </p:sp>
      <p:sp>
        <p:nvSpPr>
          <p:cNvPr id="7" name="矩形 6"/>
          <p:cNvSpPr/>
          <p:nvPr/>
        </p:nvSpPr>
        <p:spPr>
          <a:xfrm>
            <a:off x="3222625" y="6022975"/>
            <a:ext cx="2513013" cy="460375"/>
          </a:xfrm>
          <a:prstGeom prst="rect">
            <a:avLst/>
          </a:prstGeom>
          <a:noFill/>
          <a:ln w="9525">
            <a:noFill/>
          </a:ln>
        </p:spPr>
        <p:txBody>
          <a:bodyPr wrap="square" anchor="ctr" anchorCtr="0">
            <a:spAutoFit/>
          </a:bodyPr>
          <a:p>
            <a:r>
              <a:rPr lang="en-US" altLang="zh-CN">
                <a:latin typeface="Times New Roman" panose="02020503050405090304" pitchFamily="18" charset="0"/>
                <a:ea typeface="仿宋_GB2312" pitchFamily="49" charset="-122"/>
              </a:rPr>
              <a:t>MOV  41H</a:t>
            </a:r>
            <a:r>
              <a:rPr lang="zh-CN" altLang="en-US" dirty="0">
                <a:latin typeface="Times New Roman" panose="02020503050405090304" pitchFamily="18" charset="0"/>
                <a:ea typeface="仿宋_GB2312" pitchFamily="49" charset="-122"/>
              </a:rPr>
              <a:t>，</a:t>
            </a:r>
            <a:r>
              <a:rPr lang="en-US" altLang="zh-CN">
                <a:latin typeface="Times New Roman" panose="02020503050405090304" pitchFamily="18" charset="0"/>
                <a:ea typeface="仿宋_GB2312" pitchFamily="49" charset="-122"/>
              </a:rPr>
              <a:t>A</a:t>
            </a:r>
            <a:endParaRPr lang="en-US" altLang="zh-CN">
              <a:latin typeface="Times New Roman" panose="02020503050405090304" pitchFamily="18" charset="0"/>
              <a:ea typeface="仿宋_GB2312" pitchFamily="49" charset="-122"/>
            </a:endParaRPr>
          </a:p>
        </p:txBody>
      </p:sp>
      <p:sp>
        <p:nvSpPr>
          <p:cNvPr id="8" name="直接连接符 7"/>
          <p:cNvSpPr/>
          <p:nvPr/>
        </p:nvSpPr>
        <p:spPr>
          <a:xfrm>
            <a:off x="5826125" y="2120900"/>
            <a:ext cx="0" cy="4824413"/>
          </a:xfrm>
          <a:prstGeom prst="line">
            <a:avLst/>
          </a:prstGeom>
          <a:ln w="28575" cap="flat" cmpd="sng">
            <a:solidFill>
              <a:srgbClr val="000000"/>
            </a:solidFill>
            <a:prstDash val="dashDot"/>
            <a:miter/>
            <a:headEnd type="none" w="med" len="med"/>
            <a:tailEnd type="none" w="med" len="med"/>
          </a:ln>
        </p:spPr>
      </p:sp>
      <p:sp>
        <p:nvSpPr>
          <p:cNvPr id="9" name="矩形 923650"/>
          <p:cNvSpPr/>
          <p:nvPr/>
        </p:nvSpPr>
        <p:spPr>
          <a:xfrm>
            <a:off x="3902075" y="2049463"/>
            <a:ext cx="1101725" cy="460375"/>
          </a:xfrm>
          <a:prstGeom prst="rect">
            <a:avLst/>
          </a:prstGeom>
          <a:noFill/>
          <a:ln w="9525">
            <a:noFill/>
          </a:ln>
        </p:spPr>
        <p:txBody>
          <a:bodyPr wrap="none" anchor="ctr" anchorCtr="0">
            <a:spAutoFit/>
          </a:bodyPr>
          <a:p>
            <a:r>
              <a:rPr lang="zh-CN" altLang="en-US" dirty="0">
                <a:solidFill>
                  <a:srgbClr val="1209BD"/>
                </a:solidFill>
                <a:latin typeface="Times New Roman" panose="02020503050405090304" pitchFamily="18" charset="0"/>
                <a:ea typeface="仿宋_GB2312" pitchFamily="49" charset="-122"/>
              </a:rPr>
              <a:t>程序：</a:t>
            </a:r>
            <a:r>
              <a:rPr lang="zh-CN" altLang="en-US" dirty="0">
                <a:latin typeface="Times New Roman" panose="02020503050405090304" pitchFamily="18" charset="0"/>
                <a:ea typeface="仿宋_GB2312" pitchFamily="49" charset="-122"/>
              </a:rPr>
              <a:t> </a:t>
            </a:r>
            <a:endParaRPr lang="zh-CN" altLang="en-US" dirty="0">
              <a:latin typeface="Times New Roman" panose="02020503050405090304" pitchFamily="18" charset="0"/>
              <a:ea typeface="仿宋_GB2312" pitchFamily="49" charset="-122"/>
            </a:endParaRPr>
          </a:p>
        </p:txBody>
      </p:sp>
      <p:sp>
        <p:nvSpPr>
          <p:cNvPr id="10" name="矩形 923650"/>
          <p:cNvSpPr/>
          <p:nvPr/>
        </p:nvSpPr>
        <p:spPr>
          <a:xfrm>
            <a:off x="6234113" y="2039938"/>
            <a:ext cx="1714500" cy="460375"/>
          </a:xfrm>
          <a:prstGeom prst="rect">
            <a:avLst/>
          </a:prstGeom>
          <a:noFill/>
          <a:ln w="9525">
            <a:noFill/>
          </a:ln>
        </p:spPr>
        <p:txBody>
          <a:bodyPr wrap="none" anchor="ctr" anchorCtr="0">
            <a:spAutoFit/>
          </a:bodyPr>
          <a:p>
            <a:r>
              <a:rPr lang="zh-CN" altLang="en-US" dirty="0">
                <a:solidFill>
                  <a:srgbClr val="1209BD"/>
                </a:solidFill>
                <a:latin typeface="Times New Roman" panose="02020503050405090304" pitchFamily="18" charset="0"/>
                <a:ea typeface="仿宋_GB2312" pitchFamily="49" charset="-122"/>
              </a:rPr>
              <a:t>执行结果：</a:t>
            </a:r>
            <a:r>
              <a:rPr lang="zh-CN" altLang="en-US" dirty="0">
                <a:latin typeface="Times New Roman" panose="02020503050405090304" pitchFamily="18" charset="0"/>
                <a:ea typeface="仿宋_GB2312" pitchFamily="49" charset="-122"/>
              </a:rPr>
              <a:t> </a:t>
            </a:r>
            <a:endParaRPr lang="zh-CN" altLang="en-US" dirty="0">
              <a:latin typeface="Times New Roman" panose="02020503050405090304" pitchFamily="18" charset="0"/>
              <a:ea typeface="仿宋_GB2312" pitchFamily="49" charset="-122"/>
            </a:endParaRPr>
          </a:p>
        </p:txBody>
      </p:sp>
      <p:sp>
        <p:nvSpPr>
          <p:cNvPr id="11" name="矩形 10" descr="1"/>
          <p:cNvSpPr/>
          <p:nvPr/>
        </p:nvSpPr>
        <p:spPr>
          <a:xfrm>
            <a:off x="6637338" y="2549525"/>
            <a:ext cx="360362" cy="360363"/>
          </a:xfrm>
          <a:prstGeom prst="rect">
            <a:avLst/>
          </a:prstGeom>
          <a:noFill/>
          <a:ln w="9525" cap="flat" cmpd="sng">
            <a:solidFill>
              <a:schemeClr val="tx1"/>
            </a:solidFill>
            <a:prstDash val="solid"/>
            <a:miter/>
            <a:headEnd type="none" w="med" len="med"/>
            <a:tailEnd type="none" w="med" len="med"/>
          </a:ln>
        </p:spPr>
        <p:txBody>
          <a:bodyPr wrap="none" anchor="ctr" anchorCtr="0"/>
          <a:p>
            <a:pPr algn="ctr"/>
            <a:r>
              <a:rPr lang="en-US" altLang="zh-CN">
                <a:latin typeface="Times New Roman" panose="02020503050405090304" pitchFamily="18" charset="0"/>
                <a:ea typeface="仿宋_GB2312" pitchFamily="49" charset="-122"/>
              </a:rPr>
              <a:t>1</a:t>
            </a:r>
            <a:endParaRPr lang="en-US" altLang="zh-CN">
              <a:latin typeface="Times New Roman" panose="02020503050405090304" pitchFamily="18" charset="0"/>
              <a:ea typeface="仿宋_GB2312" pitchFamily="49" charset="-122"/>
            </a:endParaRPr>
          </a:p>
        </p:txBody>
      </p:sp>
      <p:sp>
        <p:nvSpPr>
          <p:cNvPr id="12" name="矩形 11"/>
          <p:cNvSpPr/>
          <p:nvPr/>
        </p:nvSpPr>
        <p:spPr>
          <a:xfrm>
            <a:off x="6997700" y="2549525"/>
            <a:ext cx="360363" cy="360363"/>
          </a:xfrm>
          <a:prstGeom prst="rect">
            <a:avLst/>
          </a:prstGeom>
          <a:noFill/>
          <a:ln w="9525" cap="flat" cmpd="sng">
            <a:solidFill>
              <a:schemeClr val="tx1"/>
            </a:solidFill>
            <a:prstDash val="solid"/>
            <a:miter/>
            <a:headEnd type="none" w="med" len="med"/>
            <a:tailEnd type="none" w="med" len="med"/>
          </a:ln>
        </p:spPr>
        <p:txBody>
          <a:bodyPr wrap="none" anchor="ctr" anchorCtr="0"/>
          <a:p>
            <a:pPr algn="ctr"/>
            <a:r>
              <a:rPr lang="en-US" altLang="zh-CN">
                <a:latin typeface="Times New Roman" panose="02020503050405090304" pitchFamily="18" charset="0"/>
                <a:ea typeface="仿宋_GB2312" pitchFamily="49" charset="-122"/>
              </a:rPr>
              <a:t>2</a:t>
            </a:r>
            <a:endParaRPr lang="en-US" altLang="zh-CN">
              <a:latin typeface="Times New Roman" panose="02020503050405090304" pitchFamily="18" charset="0"/>
              <a:ea typeface="仿宋_GB2312" pitchFamily="49" charset="-122"/>
            </a:endParaRPr>
          </a:p>
        </p:txBody>
      </p:sp>
      <p:sp>
        <p:nvSpPr>
          <p:cNvPr id="13" name="矩形 12"/>
          <p:cNvSpPr/>
          <p:nvPr/>
        </p:nvSpPr>
        <p:spPr>
          <a:xfrm>
            <a:off x="6164263" y="2500313"/>
            <a:ext cx="404812" cy="457200"/>
          </a:xfrm>
          <a:prstGeom prst="rect">
            <a:avLst/>
          </a:prstGeom>
          <a:noFill/>
          <a:ln w="9525">
            <a:noFill/>
          </a:ln>
        </p:spPr>
        <p:txBody>
          <a:bodyPr wrap="none" anchor="t" anchorCtr="0">
            <a:spAutoFit/>
          </a:bodyPr>
          <a:p>
            <a:r>
              <a:rPr lang="en-US" altLang="zh-CN">
                <a:solidFill>
                  <a:srgbClr val="001C92"/>
                </a:solidFill>
                <a:latin typeface="Times New Roman" panose="02020503050405090304" pitchFamily="18" charset="0"/>
                <a:ea typeface="仿宋_GB2312" pitchFamily="49" charset="-122"/>
              </a:rPr>
              <a:t>A</a:t>
            </a:r>
            <a:endParaRPr lang="zh-CN" altLang="en-US" dirty="0">
              <a:solidFill>
                <a:srgbClr val="001C92"/>
              </a:solidFill>
              <a:latin typeface="Times New Roman" panose="02020503050405090304" pitchFamily="18" charset="0"/>
              <a:ea typeface="仿宋_GB2312" pitchFamily="49" charset="-122"/>
            </a:endParaRPr>
          </a:p>
        </p:txBody>
      </p:sp>
      <p:sp>
        <p:nvSpPr>
          <p:cNvPr id="14" name="矩形 13" descr="1"/>
          <p:cNvSpPr/>
          <p:nvPr/>
        </p:nvSpPr>
        <p:spPr>
          <a:xfrm>
            <a:off x="6296025" y="3498850"/>
            <a:ext cx="360363" cy="360363"/>
          </a:xfrm>
          <a:prstGeom prst="rect">
            <a:avLst/>
          </a:prstGeom>
          <a:noFill/>
          <a:ln w="9525" cap="flat" cmpd="sng">
            <a:solidFill>
              <a:schemeClr val="tx1"/>
            </a:solidFill>
            <a:prstDash val="solid"/>
            <a:miter/>
            <a:headEnd type="none" w="med" len="med"/>
            <a:tailEnd type="none" w="med" len="med"/>
          </a:ln>
        </p:spPr>
        <p:txBody>
          <a:bodyPr wrap="none" anchor="ctr" anchorCtr="0"/>
          <a:p>
            <a:pPr algn="ctr"/>
            <a:r>
              <a:rPr lang="en-US" altLang="zh-CN">
                <a:latin typeface="Times New Roman" panose="02020503050405090304" pitchFamily="18" charset="0"/>
                <a:ea typeface="仿宋_GB2312" pitchFamily="49" charset="-122"/>
              </a:rPr>
              <a:t>1</a:t>
            </a:r>
            <a:endParaRPr lang="en-US" altLang="zh-CN">
              <a:latin typeface="Times New Roman" panose="02020503050405090304" pitchFamily="18" charset="0"/>
              <a:ea typeface="仿宋_GB2312" pitchFamily="49" charset="-122"/>
            </a:endParaRPr>
          </a:p>
        </p:txBody>
      </p:sp>
      <p:sp>
        <p:nvSpPr>
          <p:cNvPr id="15" name="矩形 14"/>
          <p:cNvSpPr/>
          <p:nvPr/>
        </p:nvSpPr>
        <p:spPr>
          <a:xfrm>
            <a:off x="6656388" y="3498850"/>
            <a:ext cx="360362" cy="360363"/>
          </a:xfrm>
          <a:prstGeom prst="rect">
            <a:avLst/>
          </a:prstGeom>
          <a:noFill/>
          <a:ln w="9525" cap="flat" cmpd="sng">
            <a:solidFill>
              <a:schemeClr val="tx1"/>
            </a:solidFill>
            <a:prstDash val="solid"/>
            <a:miter/>
            <a:headEnd type="none" w="med" len="med"/>
            <a:tailEnd type="none" w="med" len="med"/>
          </a:ln>
        </p:spPr>
        <p:txBody>
          <a:bodyPr wrap="none" anchor="ctr" anchorCtr="0"/>
          <a:p>
            <a:pPr algn="ctr"/>
            <a:r>
              <a:rPr lang="en-US" altLang="zh-CN">
                <a:latin typeface="Times New Roman" panose="02020503050405090304" pitchFamily="18" charset="0"/>
                <a:ea typeface="仿宋_GB2312" pitchFamily="49" charset="-122"/>
              </a:rPr>
              <a:t>2</a:t>
            </a:r>
            <a:endParaRPr lang="en-US" altLang="zh-CN">
              <a:latin typeface="Times New Roman" panose="02020503050405090304" pitchFamily="18" charset="0"/>
              <a:ea typeface="仿宋_GB2312" pitchFamily="49" charset="-122"/>
            </a:endParaRPr>
          </a:p>
        </p:txBody>
      </p:sp>
      <p:sp>
        <p:nvSpPr>
          <p:cNvPr id="16" name="矩形 15"/>
          <p:cNvSpPr/>
          <p:nvPr/>
        </p:nvSpPr>
        <p:spPr>
          <a:xfrm>
            <a:off x="7593013" y="3498850"/>
            <a:ext cx="360362" cy="360363"/>
          </a:xfrm>
          <a:prstGeom prst="rect">
            <a:avLst/>
          </a:prstGeom>
          <a:noFill/>
          <a:ln w="9525" cap="flat" cmpd="sng">
            <a:solidFill>
              <a:schemeClr val="tx1"/>
            </a:solidFill>
            <a:prstDash val="solid"/>
            <a:miter/>
            <a:headEnd type="none" w="med" len="med"/>
            <a:tailEnd type="none" w="med" len="med"/>
          </a:ln>
        </p:spPr>
        <p:txBody>
          <a:bodyPr wrap="none" anchor="ctr" anchorCtr="0"/>
          <a:p>
            <a:pPr algn="ctr"/>
            <a:r>
              <a:rPr lang="en-US" altLang="zh-CN">
                <a:latin typeface="Times New Roman" panose="02020503050405090304" pitchFamily="18" charset="0"/>
                <a:ea typeface="仿宋_GB2312" pitchFamily="49" charset="-122"/>
              </a:rPr>
              <a:t>2</a:t>
            </a:r>
            <a:endParaRPr lang="en-US" altLang="zh-CN">
              <a:latin typeface="Times New Roman" panose="02020503050405090304" pitchFamily="18" charset="0"/>
              <a:ea typeface="仿宋_GB2312" pitchFamily="49" charset="-122"/>
            </a:endParaRPr>
          </a:p>
        </p:txBody>
      </p:sp>
      <p:sp>
        <p:nvSpPr>
          <p:cNvPr id="17" name="矩形 16"/>
          <p:cNvSpPr/>
          <p:nvPr/>
        </p:nvSpPr>
        <p:spPr>
          <a:xfrm>
            <a:off x="7953375" y="3498850"/>
            <a:ext cx="360363" cy="360363"/>
          </a:xfrm>
          <a:prstGeom prst="rect">
            <a:avLst/>
          </a:prstGeom>
          <a:noFill/>
          <a:ln w="9525" cap="flat" cmpd="sng">
            <a:solidFill>
              <a:schemeClr val="tx1"/>
            </a:solidFill>
            <a:prstDash val="solid"/>
            <a:miter/>
            <a:headEnd type="none" w="med" len="med"/>
            <a:tailEnd type="none" w="med" len="med"/>
          </a:ln>
        </p:spPr>
        <p:txBody>
          <a:bodyPr wrap="none" anchor="ctr" anchorCtr="0"/>
          <a:p>
            <a:pPr algn="ctr"/>
            <a:r>
              <a:rPr lang="en-US" altLang="zh-CN">
                <a:latin typeface="Times New Roman" panose="02020503050405090304" pitchFamily="18" charset="0"/>
                <a:ea typeface="仿宋_GB2312" pitchFamily="49" charset="-122"/>
              </a:rPr>
              <a:t>1</a:t>
            </a:r>
            <a:endParaRPr lang="en-US" altLang="zh-CN">
              <a:latin typeface="Times New Roman" panose="02020503050405090304" pitchFamily="18" charset="0"/>
              <a:ea typeface="仿宋_GB2312" pitchFamily="49" charset="-122"/>
            </a:endParaRPr>
          </a:p>
        </p:txBody>
      </p:sp>
      <p:sp>
        <p:nvSpPr>
          <p:cNvPr id="18" name="右箭头 17"/>
          <p:cNvSpPr/>
          <p:nvPr/>
        </p:nvSpPr>
        <p:spPr>
          <a:xfrm>
            <a:off x="7161213" y="3500438"/>
            <a:ext cx="360362" cy="287337"/>
          </a:xfrm>
          <a:prstGeom prst="rightArrow">
            <a:avLst>
              <a:gd name="adj1" fmla="val 50000"/>
              <a:gd name="adj2" fmla="val 31307"/>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a:latin typeface="Times New Roman" panose="02020503050405090304" pitchFamily="18" charset="0"/>
              <a:ea typeface="仿宋_GB2312" pitchFamily="49" charset="-122"/>
            </a:endParaRPr>
          </a:p>
        </p:txBody>
      </p:sp>
      <p:sp>
        <p:nvSpPr>
          <p:cNvPr id="19" name="矩形 18"/>
          <p:cNvSpPr/>
          <p:nvPr/>
        </p:nvSpPr>
        <p:spPr>
          <a:xfrm>
            <a:off x="6467475" y="3067050"/>
            <a:ext cx="404813" cy="457200"/>
          </a:xfrm>
          <a:prstGeom prst="rect">
            <a:avLst/>
          </a:prstGeom>
          <a:noFill/>
          <a:ln w="9525">
            <a:noFill/>
          </a:ln>
        </p:spPr>
        <p:txBody>
          <a:bodyPr wrap="none" anchor="t" anchorCtr="0">
            <a:spAutoFit/>
          </a:bodyPr>
          <a:p>
            <a:r>
              <a:rPr lang="en-US" altLang="zh-CN">
                <a:solidFill>
                  <a:srgbClr val="001C92"/>
                </a:solidFill>
                <a:latin typeface="Times New Roman" panose="02020503050405090304" pitchFamily="18" charset="0"/>
                <a:ea typeface="仿宋_GB2312" pitchFamily="49" charset="-122"/>
              </a:rPr>
              <a:t>A</a:t>
            </a:r>
            <a:endParaRPr lang="zh-CN" altLang="en-US" dirty="0">
              <a:solidFill>
                <a:srgbClr val="001C92"/>
              </a:solidFill>
              <a:latin typeface="Times New Roman" panose="02020503050405090304" pitchFamily="18" charset="0"/>
              <a:ea typeface="仿宋_GB2312" pitchFamily="49" charset="-122"/>
            </a:endParaRPr>
          </a:p>
        </p:txBody>
      </p:sp>
      <p:sp>
        <p:nvSpPr>
          <p:cNvPr id="20" name="矩形 19"/>
          <p:cNvSpPr/>
          <p:nvPr/>
        </p:nvSpPr>
        <p:spPr>
          <a:xfrm>
            <a:off x="7737475" y="3067050"/>
            <a:ext cx="404813" cy="457200"/>
          </a:xfrm>
          <a:prstGeom prst="rect">
            <a:avLst/>
          </a:prstGeom>
          <a:noFill/>
          <a:ln w="9525">
            <a:noFill/>
          </a:ln>
        </p:spPr>
        <p:txBody>
          <a:bodyPr wrap="none" anchor="t" anchorCtr="0">
            <a:spAutoFit/>
          </a:bodyPr>
          <a:p>
            <a:r>
              <a:rPr lang="en-US" altLang="zh-CN">
                <a:solidFill>
                  <a:srgbClr val="001C92"/>
                </a:solidFill>
                <a:latin typeface="Times New Roman" panose="02020503050405090304" pitchFamily="18" charset="0"/>
                <a:ea typeface="仿宋_GB2312" pitchFamily="49" charset="-122"/>
              </a:rPr>
              <a:t>A</a:t>
            </a:r>
            <a:endParaRPr lang="zh-CN" altLang="en-US" dirty="0">
              <a:solidFill>
                <a:srgbClr val="001C92"/>
              </a:solidFill>
              <a:latin typeface="Times New Roman" panose="02020503050405090304" pitchFamily="18" charset="0"/>
              <a:ea typeface="仿宋_GB2312" pitchFamily="49" charset="-122"/>
            </a:endParaRPr>
          </a:p>
        </p:txBody>
      </p:sp>
      <p:sp>
        <p:nvSpPr>
          <p:cNvPr id="21" name="矩形 20" descr="1"/>
          <p:cNvSpPr/>
          <p:nvPr/>
        </p:nvSpPr>
        <p:spPr>
          <a:xfrm>
            <a:off x="6297613" y="4433888"/>
            <a:ext cx="360362" cy="360362"/>
          </a:xfrm>
          <a:prstGeom prst="rect">
            <a:avLst/>
          </a:prstGeom>
          <a:noFill/>
          <a:ln w="9525" cap="flat" cmpd="sng">
            <a:solidFill>
              <a:schemeClr val="tx1"/>
            </a:solidFill>
            <a:prstDash val="solid"/>
            <a:miter/>
            <a:headEnd type="none" w="med" len="med"/>
            <a:tailEnd type="none" w="med" len="med"/>
          </a:ln>
        </p:spPr>
        <p:txBody>
          <a:bodyPr wrap="none" anchor="ctr" anchorCtr="0"/>
          <a:p>
            <a:pPr algn="ctr"/>
            <a:r>
              <a:rPr lang="en-US" altLang="zh-CN">
                <a:latin typeface="Times New Roman" panose="02020503050405090304" pitchFamily="18" charset="0"/>
                <a:ea typeface="仿宋_GB2312" pitchFamily="49" charset="-122"/>
              </a:rPr>
              <a:t>3</a:t>
            </a:r>
            <a:endParaRPr lang="en-US" altLang="zh-CN">
              <a:latin typeface="Times New Roman" panose="02020503050405090304" pitchFamily="18" charset="0"/>
              <a:ea typeface="仿宋_GB2312" pitchFamily="49" charset="-122"/>
            </a:endParaRPr>
          </a:p>
        </p:txBody>
      </p:sp>
      <p:sp>
        <p:nvSpPr>
          <p:cNvPr id="22" name="矩形 21"/>
          <p:cNvSpPr/>
          <p:nvPr/>
        </p:nvSpPr>
        <p:spPr>
          <a:xfrm>
            <a:off x="6657975" y="4433888"/>
            <a:ext cx="360363" cy="360362"/>
          </a:xfrm>
          <a:prstGeom prst="rect">
            <a:avLst/>
          </a:prstGeom>
          <a:noFill/>
          <a:ln w="9525" cap="flat" cmpd="sng">
            <a:solidFill>
              <a:schemeClr val="tx1"/>
            </a:solidFill>
            <a:prstDash val="solid"/>
            <a:miter/>
            <a:headEnd type="none" w="med" len="med"/>
            <a:tailEnd type="none" w="med" len="med"/>
          </a:ln>
        </p:spPr>
        <p:txBody>
          <a:bodyPr wrap="none" anchor="ctr" anchorCtr="0"/>
          <a:p>
            <a:pPr algn="ctr"/>
            <a:r>
              <a:rPr lang="en-US" altLang="zh-CN">
                <a:latin typeface="Times New Roman" panose="02020503050405090304" pitchFamily="18" charset="0"/>
                <a:ea typeface="仿宋_GB2312" pitchFamily="49" charset="-122"/>
              </a:rPr>
              <a:t>4</a:t>
            </a:r>
            <a:endParaRPr lang="en-US" altLang="zh-CN">
              <a:latin typeface="Times New Roman" panose="02020503050405090304" pitchFamily="18" charset="0"/>
              <a:ea typeface="仿宋_GB2312" pitchFamily="49" charset="-122"/>
            </a:endParaRPr>
          </a:p>
        </p:txBody>
      </p:sp>
      <p:sp>
        <p:nvSpPr>
          <p:cNvPr id="923671" name="矩形 923670"/>
          <p:cNvSpPr/>
          <p:nvPr/>
        </p:nvSpPr>
        <p:spPr>
          <a:xfrm>
            <a:off x="6469063" y="4002088"/>
            <a:ext cx="404812" cy="457200"/>
          </a:xfrm>
          <a:prstGeom prst="rect">
            <a:avLst/>
          </a:prstGeom>
          <a:noFill/>
          <a:ln w="9525">
            <a:noFill/>
          </a:ln>
        </p:spPr>
        <p:txBody>
          <a:bodyPr wrap="none" anchor="t" anchorCtr="0">
            <a:spAutoFit/>
          </a:bodyPr>
          <a:p>
            <a:r>
              <a:rPr lang="en-US" altLang="zh-CN">
                <a:solidFill>
                  <a:srgbClr val="001C92"/>
                </a:solidFill>
                <a:latin typeface="Times New Roman" panose="02020503050405090304" pitchFamily="18" charset="0"/>
                <a:ea typeface="仿宋_GB2312" pitchFamily="49" charset="-122"/>
              </a:rPr>
              <a:t>A</a:t>
            </a:r>
            <a:endParaRPr lang="zh-CN" altLang="en-US" dirty="0">
              <a:solidFill>
                <a:srgbClr val="001C92"/>
              </a:solidFill>
              <a:latin typeface="Times New Roman" panose="02020503050405090304" pitchFamily="18" charset="0"/>
              <a:ea typeface="仿宋_GB2312" pitchFamily="49" charset="-122"/>
            </a:endParaRPr>
          </a:p>
        </p:txBody>
      </p:sp>
      <p:sp>
        <p:nvSpPr>
          <p:cNvPr id="23" name="矩形 22"/>
          <p:cNvSpPr/>
          <p:nvPr/>
        </p:nvSpPr>
        <p:spPr>
          <a:xfrm>
            <a:off x="7593013" y="4433888"/>
            <a:ext cx="360362" cy="360362"/>
          </a:xfrm>
          <a:prstGeom prst="rect">
            <a:avLst/>
          </a:prstGeom>
          <a:noFill/>
          <a:ln w="9525" cap="flat" cmpd="sng">
            <a:solidFill>
              <a:schemeClr val="tx1"/>
            </a:solidFill>
            <a:prstDash val="solid"/>
            <a:miter/>
            <a:headEnd type="none" w="med" len="med"/>
            <a:tailEnd type="none" w="med" len="med"/>
          </a:ln>
        </p:spPr>
        <p:txBody>
          <a:bodyPr wrap="none" anchor="ctr" anchorCtr="0"/>
          <a:p>
            <a:pPr algn="ctr"/>
            <a:r>
              <a:rPr lang="en-US" altLang="zh-CN">
                <a:solidFill>
                  <a:srgbClr val="001C92"/>
                </a:solidFill>
                <a:latin typeface="Times New Roman" panose="02020503050405090304" pitchFamily="18" charset="0"/>
                <a:ea typeface="仿宋_GB2312" pitchFamily="49" charset="-122"/>
              </a:rPr>
              <a:t>2</a:t>
            </a:r>
            <a:endParaRPr lang="en-US" altLang="zh-CN">
              <a:solidFill>
                <a:srgbClr val="001C92"/>
              </a:solidFill>
              <a:latin typeface="Times New Roman" panose="02020503050405090304" pitchFamily="18" charset="0"/>
              <a:ea typeface="仿宋_GB2312" pitchFamily="49" charset="-122"/>
            </a:endParaRPr>
          </a:p>
        </p:txBody>
      </p:sp>
      <p:sp>
        <p:nvSpPr>
          <p:cNvPr id="24" name="矩形 23"/>
          <p:cNvSpPr/>
          <p:nvPr/>
        </p:nvSpPr>
        <p:spPr>
          <a:xfrm>
            <a:off x="7953375" y="4433888"/>
            <a:ext cx="360363" cy="360362"/>
          </a:xfrm>
          <a:prstGeom prst="rect">
            <a:avLst/>
          </a:prstGeom>
          <a:noFill/>
          <a:ln w="9525" cap="flat" cmpd="sng">
            <a:solidFill>
              <a:schemeClr val="tx1"/>
            </a:solidFill>
            <a:prstDash val="solid"/>
            <a:miter/>
            <a:headEnd type="none" w="med" len="med"/>
            <a:tailEnd type="none" w="med" len="med"/>
          </a:ln>
        </p:spPr>
        <p:txBody>
          <a:bodyPr wrap="none" anchor="ctr" anchorCtr="0"/>
          <a:p>
            <a:pPr algn="ctr"/>
            <a:r>
              <a:rPr lang="en-US" altLang="zh-CN">
                <a:solidFill>
                  <a:srgbClr val="001C92"/>
                </a:solidFill>
                <a:latin typeface="Times New Roman" panose="02020503050405090304" pitchFamily="18" charset="0"/>
                <a:ea typeface="仿宋_GB2312" pitchFamily="49" charset="-122"/>
              </a:rPr>
              <a:t>1</a:t>
            </a:r>
            <a:endParaRPr lang="en-US" altLang="zh-CN">
              <a:solidFill>
                <a:srgbClr val="001C92"/>
              </a:solidFill>
              <a:latin typeface="Times New Roman" panose="02020503050405090304" pitchFamily="18" charset="0"/>
              <a:ea typeface="仿宋_GB2312" pitchFamily="49" charset="-122"/>
            </a:endParaRPr>
          </a:p>
        </p:txBody>
      </p:sp>
      <p:sp>
        <p:nvSpPr>
          <p:cNvPr id="923679" name="矩形 923678"/>
          <p:cNvSpPr/>
          <p:nvPr/>
        </p:nvSpPr>
        <p:spPr>
          <a:xfrm>
            <a:off x="7593013" y="4002088"/>
            <a:ext cx="725487" cy="457200"/>
          </a:xfrm>
          <a:prstGeom prst="rect">
            <a:avLst/>
          </a:prstGeom>
          <a:noFill/>
          <a:ln w="9525">
            <a:noFill/>
          </a:ln>
        </p:spPr>
        <p:txBody>
          <a:bodyPr wrap="none" anchor="t" anchorCtr="0">
            <a:spAutoFit/>
          </a:bodyPr>
          <a:p>
            <a:r>
              <a:rPr lang="en-US" altLang="zh-CN">
                <a:solidFill>
                  <a:srgbClr val="C40702"/>
                </a:solidFill>
                <a:latin typeface="Times New Roman" panose="02020503050405090304" pitchFamily="18" charset="0"/>
                <a:ea typeface="仿宋_GB2312" pitchFamily="49" charset="-122"/>
              </a:rPr>
              <a:t>40H</a:t>
            </a:r>
            <a:endParaRPr lang="zh-CN" altLang="en-US" dirty="0">
              <a:solidFill>
                <a:srgbClr val="C40702"/>
              </a:solidFill>
              <a:latin typeface="Times New Roman" panose="02020503050405090304" pitchFamily="18" charset="0"/>
              <a:ea typeface="仿宋_GB2312" pitchFamily="49" charset="-122"/>
            </a:endParaRPr>
          </a:p>
        </p:txBody>
      </p:sp>
      <p:sp>
        <p:nvSpPr>
          <p:cNvPr id="923680" name="矩形 923679" descr="1"/>
          <p:cNvSpPr/>
          <p:nvPr/>
        </p:nvSpPr>
        <p:spPr>
          <a:xfrm>
            <a:off x="6296025" y="5299075"/>
            <a:ext cx="360363" cy="360363"/>
          </a:xfrm>
          <a:prstGeom prst="rect">
            <a:avLst/>
          </a:prstGeom>
          <a:noFill/>
          <a:ln w="9525" cap="flat" cmpd="sng">
            <a:solidFill>
              <a:schemeClr val="tx1"/>
            </a:solidFill>
            <a:prstDash val="solid"/>
            <a:miter/>
            <a:headEnd type="none" w="med" len="med"/>
            <a:tailEnd type="none" w="med" len="med"/>
          </a:ln>
        </p:spPr>
        <p:txBody>
          <a:bodyPr wrap="none" anchor="ctr" anchorCtr="0"/>
          <a:p>
            <a:pPr algn="ctr"/>
            <a:r>
              <a:rPr lang="en-US" altLang="zh-CN">
                <a:latin typeface="Times New Roman" panose="02020503050405090304" pitchFamily="18" charset="0"/>
                <a:ea typeface="仿宋_GB2312" pitchFamily="49" charset="-122"/>
              </a:rPr>
              <a:t>3</a:t>
            </a:r>
            <a:endParaRPr lang="en-US" altLang="zh-CN">
              <a:latin typeface="Times New Roman" panose="02020503050405090304" pitchFamily="18" charset="0"/>
              <a:ea typeface="仿宋_GB2312" pitchFamily="49" charset="-122"/>
            </a:endParaRPr>
          </a:p>
        </p:txBody>
      </p:sp>
      <p:sp>
        <p:nvSpPr>
          <p:cNvPr id="923681" name="矩形 923680"/>
          <p:cNvSpPr/>
          <p:nvPr/>
        </p:nvSpPr>
        <p:spPr>
          <a:xfrm>
            <a:off x="6656388" y="5299075"/>
            <a:ext cx="360362" cy="360363"/>
          </a:xfrm>
          <a:prstGeom prst="rect">
            <a:avLst/>
          </a:prstGeom>
          <a:noFill/>
          <a:ln w="9525" cap="flat" cmpd="sng">
            <a:solidFill>
              <a:schemeClr val="tx1"/>
            </a:solidFill>
            <a:prstDash val="solid"/>
            <a:miter/>
            <a:headEnd type="none" w="med" len="med"/>
            <a:tailEnd type="none" w="med" len="med"/>
          </a:ln>
        </p:spPr>
        <p:txBody>
          <a:bodyPr wrap="none" anchor="ctr" anchorCtr="0"/>
          <a:p>
            <a:pPr algn="ctr"/>
            <a:r>
              <a:rPr lang="en-US" altLang="zh-CN">
                <a:latin typeface="Times New Roman" panose="02020503050405090304" pitchFamily="18" charset="0"/>
                <a:ea typeface="仿宋_GB2312" pitchFamily="49" charset="-122"/>
              </a:rPr>
              <a:t>4</a:t>
            </a:r>
            <a:endParaRPr lang="en-US" altLang="zh-CN">
              <a:latin typeface="Times New Roman" panose="02020503050405090304" pitchFamily="18" charset="0"/>
              <a:ea typeface="仿宋_GB2312" pitchFamily="49" charset="-122"/>
            </a:endParaRPr>
          </a:p>
        </p:txBody>
      </p:sp>
      <p:sp>
        <p:nvSpPr>
          <p:cNvPr id="923682" name="矩形 923681"/>
          <p:cNvSpPr/>
          <p:nvPr/>
        </p:nvSpPr>
        <p:spPr>
          <a:xfrm>
            <a:off x="7593013" y="5299075"/>
            <a:ext cx="360362" cy="360363"/>
          </a:xfrm>
          <a:prstGeom prst="rect">
            <a:avLst/>
          </a:prstGeom>
          <a:noFill/>
          <a:ln w="9525" cap="flat" cmpd="sng">
            <a:solidFill>
              <a:schemeClr val="tx1"/>
            </a:solidFill>
            <a:prstDash val="solid"/>
            <a:miter/>
            <a:headEnd type="none" w="med" len="med"/>
            <a:tailEnd type="none" w="med" len="med"/>
          </a:ln>
        </p:spPr>
        <p:txBody>
          <a:bodyPr wrap="none" anchor="ctr" anchorCtr="0"/>
          <a:p>
            <a:pPr algn="ctr"/>
            <a:r>
              <a:rPr lang="en-US" altLang="zh-CN">
                <a:latin typeface="Times New Roman" panose="02020503050405090304" pitchFamily="18" charset="0"/>
                <a:ea typeface="仿宋_GB2312" pitchFamily="49" charset="-122"/>
              </a:rPr>
              <a:t>4</a:t>
            </a:r>
            <a:endParaRPr lang="en-US" altLang="zh-CN">
              <a:latin typeface="Times New Roman" panose="02020503050405090304" pitchFamily="18" charset="0"/>
              <a:ea typeface="仿宋_GB2312" pitchFamily="49" charset="-122"/>
            </a:endParaRPr>
          </a:p>
        </p:txBody>
      </p:sp>
      <p:sp>
        <p:nvSpPr>
          <p:cNvPr id="923683" name="矩形 923682"/>
          <p:cNvSpPr/>
          <p:nvPr/>
        </p:nvSpPr>
        <p:spPr>
          <a:xfrm>
            <a:off x="7953375" y="5299075"/>
            <a:ext cx="360363" cy="360363"/>
          </a:xfrm>
          <a:prstGeom prst="rect">
            <a:avLst/>
          </a:prstGeom>
          <a:noFill/>
          <a:ln w="9525" cap="flat" cmpd="sng">
            <a:solidFill>
              <a:schemeClr val="tx1"/>
            </a:solidFill>
            <a:prstDash val="solid"/>
            <a:miter/>
            <a:headEnd type="none" w="med" len="med"/>
            <a:tailEnd type="none" w="med" len="med"/>
          </a:ln>
        </p:spPr>
        <p:txBody>
          <a:bodyPr wrap="none" anchor="ctr" anchorCtr="0"/>
          <a:p>
            <a:pPr algn="ctr"/>
            <a:r>
              <a:rPr lang="en-US" altLang="zh-CN">
                <a:latin typeface="Times New Roman" panose="02020503050405090304" pitchFamily="18" charset="0"/>
                <a:ea typeface="仿宋_GB2312" pitchFamily="49" charset="-122"/>
              </a:rPr>
              <a:t>3</a:t>
            </a:r>
            <a:endParaRPr lang="en-US" altLang="zh-CN">
              <a:latin typeface="Times New Roman" panose="02020503050405090304" pitchFamily="18" charset="0"/>
              <a:ea typeface="仿宋_GB2312" pitchFamily="49" charset="-122"/>
            </a:endParaRPr>
          </a:p>
        </p:txBody>
      </p:sp>
      <p:sp>
        <p:nvSpPr>
          <p:cNvPr id="923684" name="右箭头 923683"/>
          <p:cNvSpPr/>
          <p:nvPr/>
        </p:nvSpPr>
        <p:spPr>
          <a:xfrm>
            <a:off x="7161213" y="5300663"/>
            <a:ext cx="360362" cy="287337"/>
          </a:xfrm>
          <a:prstGeom prst="rightArrow">
            <a:avLst>
              <a:gd name="adj1" fmla="val 50000"/>
              <a:gd name="adj2" fmla="val 31307"/>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a:latin typeface="Times New Roman" panose="02020503050405090304" pitchFamily="18" charset="0"/>
              <a:ea typeface="仿宋_GB2312" pitchFamily="49" charset="-122"/>
            </a:endParaRPr>
          </a:p>
        </p:txBody>
      </p:sp>
      <p:sp>
        <p:nvSpPr>
          <p:cNvPr id="923685" name="矩形 923684"/>
          <p:cNvSpPr/>
          <p:nvPr/>
        </p:nvSpPr>
        <p:spPr>
          <a:xfrm>
            <a:off x="6467475" y="4867275"/>
            <a:ext cx="404813" cy="457200"/>
          </a:xfrm>
          <a:prstGeom prst="rect">
            <a:avLst/>
          </a:prstGeom>
          <a:noFill/>
          <a:ln w="9525">
            <a:noFill/>
          </a:ln>
        </p:spPr>
        <p:txBody>
          <a:bodyPr wrap="none" anchor="t" anchorCtr="0">
            <a:spAutoFit/>
          </a:bodyPr>
          <a:p>
            <a:r>
              <a:rPr lang="en-US" altLang="zh-CN">
                <a:solidFill>
                  <a:srgbClr val="001C92"/>
                </a:solidFill>
                <a:latin typeface="Times New Roman" panose="02020503050405090304" pitchFamily="18" charset="0"/>
                <a:ea typeface="仿宋_GB2312" pitchFamily="49" charset="-122"/>
              </a:rPr>
              <a:t>A</a:t>
            </a:r>
            <a:endParaRPr lang="zh-CN" altLang="en-US" dirty="0">
              <a:solidFill>
                <a:srgbClr val="001C92"/>
              </a:solidFill>
              <a:latin typeface="Times New Roman" panose="02020503050405090304" pitchFamily="18" charset="0"/>
              <a:ea typeface="仿宋_GB2312" pitchFamily="49" charset="-122"/>
            </a:endParaRPr>
          </a:p>
        </p:txBody>
      </p:sp>
      <p:sp>
        <p:nvSpPr>
          <p:cNvPr id="923686" name="矩形 923685"/>
          <p:cNvSpPr/>
          <p:nvPr/>
        </p:nvSpPr>
        <p:spPr>
          <a:xfrm>
            <a:off x="7737475" y="4867275"/>
            <a:ext cx="404813" cy="457200"/>
          </a:xfrm>
          <a:prstGeom prst="rect">
            <a:avLst/>
          </a:prstGeom>
          <a:noFill/>
          <a:ln w="9525">
            <a:noFill/>
          </a:ln>
        </p:spPr>
        <p:txBody>
          <a:bodyPr wrap="none" anchor="t" anchorCtr="0">
            <a:spAutoFit/>
          </a:bodyPr>
          <a:p>
            <a:r>
              <a:rPr lang="en-US" altLang="zh-CN">
                <a:solidFill>
                  <a:srgbClr val="001C92"/>
                </a:solidFill>
                <a:latin typeface="Times New Roman" panose="02020503050405090304" pitchFamily="18" charset="0"/>
                <a:ea typeface="仿宋_GB2312" pitchFamily="49" charset="-122"/>
              </a:rPr>
              <a:t>A</a:t>
            </a:r>
            <a:endParaRPr lang="zh-CN" altLang="en-US" dirty="0">
              <a:solidFill>
                <a:srgbClr val="001C92"/>
              </a:solidFill>
              <a:latin typeface="Times New Roman" panose="02020503050405090304" pitchFamily="18" charset="0"/>
              <a:ea typeface="仿宋_GB2312" pitchFamily="49" charset="-122"/>
            </a:endParaRPr>
          </a:p>
        </p:txBody>
      </p:sp>
      <p:sp>
        <p:nvSpPr>
          <p:cNvPr id="923687" name="矩形 923686"/>
          <p:cNvSpPr/>
          <p:nvPr/>
        </p:nvSpPr>
        <p:spPr>
          <a:xfrm>
            <a:off x="6797675" y="6092825"/>
            <a:ext cx="360363" cy="360363"/>
          </a:xfrm>
          <a:prstGeom prst="rect">
            <a:avLst/>
          </a:prstGeom>
          <a:noFill/>
          <a:ln w="9525" cap="flat" cmpd="sng">
            <a:solidFill>
              <a:schemeClr val="tx1"/>
            </a:solidFill>
            <a:prstDash val="solid"/>
            <a:miter/>
            <a:headEnd type="none" w="med" len="med"/>
            <a:tailEnd type="none" w="med" len="med"/>
          </a:ln>
        </p:spPr>
        <p:txBody>
          <a:bodyPr wrap="none" anchor="ctr" anchorCtr="0"/>
          <a:p>
            <a:pPr algn="ctr"/>
            <a:r>
              <a:rPr lang="en-US" altLang="zh-CN">
                <a:solidFill>
                  <a:srgbClr val="001C92"/>
                </a:solidFill>
                <a:latin typeface="Times New Roman" panose="02020503050405090304" pitchFamily="18" charset="0"/>
                <a:ea typeface="仿宋_GB2312" pitchFamily="49" charset="-122"/>
              </a:rPr>
              <a:t>4</a:t>
            </a:r>
            <a:endParaRPr lang="en-US" altLang="zh-CN">
              <a:solidFill>
                <a:srgbClr val="001C92"/>
              </a:solidFill>
              <a:latin typeface="Times New Roman" panose="02020503050405090304" pitchFamily="18" charset="0"/>
              <a:ea typeface="仿宋_GB2312" pitchFamily="49" charset="-122"/>
            </a:endParaRPr>
          </a:p>
        </p:txBody>
      </p:sp>
      <p:sp>
        <p:nvSpPr>
          <p:cNvPr id="923688" name="矩形 923687"/>
          <p:cNvSpPr/>
          <p:nvPr/>
        </p:nvSpPr>
        <p:spPr>
          <a:xfrm>
            <a:off x="7158038" y="6092825"/>
            <a:ext cx="360362" cy="360363"/>
          </a:xfrm>
          <a:prstGeom prst="rect">
            <a:avLst/>
          </a:prstGeom>
          <a:noFill/>
          <a:ln w="9525" cap="flat" cmpd="sng">
            <a:solidFill>
              <a:schemeClr val="tx1"/>
            </a:solidFill>
            <a:prstDash val="solid"/>
            <a:miter/>
            <a:headEnd type="none" w="med" len="med"/>
            <a:tailEnd type="none" w="med" len="med"/>
          </a:ln>
        </p:spPr>
        <p:txBody>
          <a:bodyPr wrap="none" anchor="ctr" anchorCtr="0"/>
          <a:p>
            <a:pPr algn="ctr"/>
            <a:r>
              <a:rPr lang="en-US" altLang="zh-CN">
                <a:solidFill>
                  <a:srgbClr val="001C92"/>
                </a:solidFill>
                <a:latin typeface="Times New Roman" panose="02020503050405090304" pitchFamily="18" charset="0"/>
                <a:ea typeface="仿宋_GB2312" pitchFamily="49" charset="-122"/>
              </a:rPr>
              <a:t>3</a:t>
            </a:r>
            <a:endParaRPr lang="en-US" altLang="zh-CN">
              <a:solidFill>
                <a:srgbClr val="001C92"/>
              </a:solidFill>
              <a:latin typeface="Times New Roman" panose="02020503050405090304" pitchFamily="18" charset="0"/>
              <a:ea typeface="仿宋_GB2312" pitchFamily="49" charset="-122"/>
            </a:endParaRPr>
          </a:p>
        </p:txBody>
      </p:sp>
      <p:sp>
        <p:nvSpPr>
          <p:cNvPr id="923689" name="矩形 923688"/>
          <p:cNvSpPr/>
          <p:nvPr/>
        </p:nvSpPr>
        <p:spPr>
          <a:xfrm>
            <a:off x="6115050" y="6043613"/>
            <a:ext cx="725488" cy="457200"/>
          </a:xfrm>
          <a:prstGeom prst="rect">
            <a:avLst/>
          </a:prstGeom>
          <a:noFill/>
          <a:ln w="9525">
            <a:noFill/>
          </a:ln>
        </p:spPr>
        <p:txBody>
          <a:bodyPr wrap="none" anchor="t" anchorCtr="0">
            <a:spAutoFit/>
          </a:bodyPr>
          <a:p>
            <a:r>
              <a:rPr lang="en-US" altLang="zh-CN">
                <a:solidFill>
                  <a:srgbClr val="C40702"/>
                </a:solidFill>
                <a:latin typeface="Times New Roman" panose="02020503050405090304" pitchFamily="18" charset="0"/>
                <a:ea typeface="仿宋_GB2312" pitchFamily="49" charset="-122"/>
              </a:rPr>
              <a:t>41H</a:t>
            </a:r>
            <a:endParaRPr lang="zh-CN" altLang="en-US" dirty="0">
              <a:solidFill>
                <a:srgbClr val="C40702"/>
              </a:solidFill>
              <a:latin typeface="Times New Roman" panose="02020503050405090304" pitchFamily="18" charset="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8850"/>
                                        </p:tgtEl>
                                        <p:attrNameLst>
                                          <p:attrName>style.visibility</p:attrName>
                                        </p:attrNameLst>
                                      </p:cBhvr>
                                      <p:to>
                                        <p:strVal val="visible"/>
                                      </p:to>
                                    </p:set>
                                    <p:anim calcmode="lin" valueType="num">
                                      <p:cBhvr additive="base">
                                        <p:cTn id="7" dur="500" fill="hold"/>
                                        <p:tgtEl>
                                          <p:spTgt spid="78850"/>
                                        </p:tgtEl>
                                        <p:attrNameLst>
                                          <p:attrName>ppt_x</p:attrName>
                                        </p:attrNameLst>
                                      </p:cBhvr>
                                      <p:tavLst>
                                        <p:tav tm="0">
                                          <p:val>
                                            <p:strVal val="#ppt_x"/>
                                          </p:val>
                                        </p:tav>
                                        <p:tav tm="100000">
                                          <p:val>
                                            <p:strVal val="#ppt_x"/>
                                          </p:val>
                                        </p:tav>
                                      </p:tavLst>
                                    </p:anim>
                                    <p:anim calcmode="lin" valueType="num">
                                      <p:cBhvr additive="base">
                                        <p:cTn id="8" dur="500" fill="hold"/>
                                        <p:tgtEl>
                                          <p:spTgt spid="7885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78854"/>
                                        </p:tgtEl>
                                        <p:attrNameLst>
                                          <p:attrName>style.visibility</p:attrName>
                                        </p:attrNameLst>
                                      </p:cBhvr>
                                      <p:to>
                                        <p:strVal val="visible"/>
                                      </p:to>
                                    </p:set>
                                    <p:animEffect transition="in" filter="wipe(up)">
                                      <p:cBhvr>
                                        <p:cTn id="13" dur="500"/>
                                        <p:tgtEl>
                                          <p:spTgt spid="78854"/>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923672"/>
                                        </p:tgtEl>
                                        <p:attrNameLst>
                                          <p:attrName>style.visibility</p:attrName>
                                        </p:attrNameLst>
                                      </p:cBhvr>
                                      <p:to>
                                        <p:strVal val="visible"/>
                                      </p:to>
                                    </p:set>
                                  </p:childTnLst>
                                </p:cTn>
                              </p:par>
                            </p:childTnLst>
                          </p:cTn>
                        </p:par>
                        <p:par>
                          <p:cTn id="18" fill="hold">
                            <p:stCondLst>
                              <p:cond delay="0"/>
                            </p:stCondLst>
                            <p:childTnLst>
                              <p:par>
                                <p:cTn id="19" presetID="2" presetClass="entr" presetSubtype="4" fill="hold" grpId="0" nodeType="after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500" fill="hold"/>
                                        <p:tgtEl>
                                          <p:spTgt spid="9"/>
                                        </p:tgtEl>
                                        <p:attrNameLst>
                                          <p:attrName>ppt_x</p:attrName>
                                        </p:attrNameLst>
                                      </p:cBhvr>
                                      <p:tavLst>
                                        <p:tav tm="0">
                                          <p:val>
                                            <p:strVal val="#ppt_x"/>
                                          </p:val>
                                        </p:tav>
                                        <p:tav tm="100000">
                                          <p:val>
                                            <p:strVal val="#ppt_x"/>
                                          </p:val>
                                        </p:tav>
                                      </p:tavLst>
                                    </p:anim>
                                    <p:anim calcmode="lin" valueType="num">
                                      <p:cBhvr>
                                        <p:cTn id="22" dur="500" fill="hold"/>
                                        <p:tgtEl>
                                          <p:spTgt spid="9"/>
                                        </p:tgtEl>
                                        <p:attrNameLst>
                                          <p:attrName>ppt_y</p:attrName>
                                        </p:attrNameLst>
                                      </p:cBhvr>
                                      <p:tavLst>
                                        <p:tav tm="0">
                                          <p:val>
                                            <p:strVal val="1+#ppt_h/2"/>
                                          </p:val>
                                        </p:tav>
                                        <p:tav tm="100000">
                                          <p:val>
                                            <p:strVal val="#ppt_y"/>
                                          </p:val>
                                        </p:tav>
                                      </p:tavLst>
                                    </p:anim>
                                  </p:childTnLst>
                                </p:cTn>
                              </p:par>
                            </p:childTnLst>
                          </p:cTn>
                        </p:par>
                        <p:par>
                          <p:cTn id="23" fill="hold">
                            <p:stCondLst>
                              <p:cond delay="500"/>
                            </p:stCondLst>
                            <p:childTnLst>
                              <p:par>
                                <p:cTn id="24" presetID="1" presetClass="entr" presetSubtype="0"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childTnLst>
                                </p:cTn>
                              </p:par>
                            </p:childTnLst>
                          </p:cTn>
                        </p:par>
                        <p:par>
                          <p:cTn id="26" fill="hold">
                            <p:stCondLst>
                              <p:cond delay="500"/>
                            </p:stCondLst>
                            <p:childTnLst>
                              <p:par>
                                <p:cTn id="27" presetID="2" presetClass="entr" presetSubtype="4" fill="hold" grpId="0" nodeType="after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p:cTn id="29" dur="500" fill="hold"/>
                                        <p:tgtEl>
                                          <p:spTgt spid="10"/>
                                        </p:tgtEl>
                                        <p:attrNameLst>
                                          <p:attrName>ppt_x</p:attrName>
                                        </p:attrNameLst>
                                      </p:cBhvr>
                                      <p:tavLst>
                                        <p:tav tm="0">
                                          <p:val>
                                            <p:strVal val="#ppt_x"/>
                                          </p:val>
                                        </p:tav>
                                        <p:tav tm="100000">
                                          <p:val>
                                            <p:strVal val="#ppt_x"/>
                                          </p:val>
                                        </p:tav>
                                      </p:tavLst>
                                    </p:anim>
                                    <p:anim calcmode="lin" valueType="num">
                                      <p:cBhvr>
                                        <p:cTn id="3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924676"/>
                                        </p:tgtEl>
                                        <p:attrNameLst>
                                          <p:attrName>style.visibility</p:attrName>
                                        </p:attrNameLst>
                                      </p:cBhvr>
                                      <p:to>
                                        <p:strVal val="visible"/>
                                      </p:to>
                                    </p:set>
                                    <p:anim calcmode="lin" valueType="num">
                                      <p:cBhvr>
                                        <p:cTn id="35" dur="500" fill="hold"/>
                                        <p:tgtEl>
                                          <p:spTgt spid="924676"/>
                                        </p:tgtEl>
                                        <p:attrNameLst>
                                          <p:attrName>ppt_x</p:attrName>
                                        </p:attrNameLst>
                                      </p:cBhvr>
                                      <p:tavLst>
                                        <p:tav tm="0">
                                          <p:val>
                                            <p:strVal val="#ppt_x"/>
                                          </p:val>
                                        </p:tav>
                                        <p:tav tm="100000">
                                          <p:val>
                                            <p:strVal val="#ppt_x"/>
                                          </p:val>
                                        </p:tav>
                                      </p:tavLst>
                                    </p:anim>
                                    <p:anim calcmode="lin" valueType="num">
                                      <p:cBhvr>
                                        <p:cTn id="36" dur="500" fill="hold"/>
                                        <p:tgtEl>
                                          <p:spTgt spid="924676"/>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
                                        </p:tgtEl>
                                        <p:attrNameLst>
                                          <p:attrName>style.visibility</p:attrName>
                                        </p:attrNameLst>
                                      </p:cBhvr>
                                      <p:to>
                                        <p:strVal val="visible"/>
                                      </p:to>
                                    </p:set>
                                    <p:anim calcmode="lin" valueType="num">
                                      <p:cBhvr additive="base">
                                        <p:cTn id="49" dur="500" fill="hold"/>
                                        <p:tgtEl>
                                          <p:spTgt spid="4"/>
                                        </p:tgtEl>
                                        <p:attrNameLst>
                                          <p:attrName>ppt_x</p:attrName>
                                        </p:attrNameLst>
                                      </p:cBhvr>
                                      <p:tavLst>
                                        <p:tav tm="0">
                                          <p:val>
                                            <p:strVal val="#ppt_x"/>
                                          </p:val>
                                        </p:tav>
                                        <p:tav tm="100000">
                                          <p:val>
                                            <p:strVal val="#ppt_x"/>
                                          </p:val>
                                        </p:tav>
                                      </p:tavLst>
                                    </p:anim>
                                    <p:anim calcmode="lin" valueType="num">
                                      <p:cBhvr additive="base">
                                        <p:cTn id="5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7"/>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5"/>
                                        </p:tgtEl>
                                        <p:attrNameLst>
                                          <p:attrName>style.visibility</p:attrName>
                                        </p:attrNameLst>
                                      </p:cBhvr>
                                      <p:to>
                                        <p:strVal val="visible"/>
                                      </p:to>
                                    </p:set>
                                    <p:anim calcmode="lin" valueType="num">
                                      <p:cBhvr additive="base">
                                        <p:cTn id="71" dur="500" fill="hold"/>
                                        <p:tgtEl>
                                          <p:spTgt spid="5"/>
                                        </p:tgtEl>
                                        <p:attrNameLst>
                                          <p:attrName>ppt_x</p:attrName>
                                        </p:attrNameLst>
                                      </p:cBhvr>
                                      <p:tavLst>
                                        <p:tav tm="0">
                                          <p:val>
                                            <p:strVal val="#ppt_x"/>
                                          </p:val>
                                        </p:tav>
                                        <p:tav tm="100000">
                                          <p:val>
                                            <p:strVal val="#ppt_x"/>
                                          </p:val>
                                        </p:tav>
                                      </p:tavLst>
                                    </p:anim>
                                    <p:anim calcmode="lin" valueType="num">
                                      <p:cBhvr additive="base">
                                        <p:cTn id="7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2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2"/>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923671"/>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3"/>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4"/>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923679"/>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6"/>
                                        </p:tgtEl>
                                        <p:attrNameLst>
                                          <p:attrName>style.visibility</p:attrName>
                                        </p:attrNameLst>
                                      </p:cBhvr>
                                      <p:to>
                                        <p:strVal val="visible"/>
                                      </p:to>
                                    </p:set>
                                    <p:anim calcmode="lin" valueType="num">
                                      <p:cBhvr additive="base">
                                        <p:cTn id="91" dur="500" fill="hold"/>
                                        <p:tgtEl>
                                          <p:spTgt spid="6"/>
                                        </p:tgtEl>
                                        <p:attrNameLst>
                                          <p:attrName>ppt_x</p:attrName>
                                        </p:attrNameLst>
                                      </p:cBhvr>
                                      <p:tavLst>
                                        <p:tav tm="0">
                                          <p:val>
                                            <p:strVal val="#ppt_x"/>
                                          </p:val>
                                        </p:tav>
                                        <p:tav tm="100000">
                                          <p:val>
                                            <p:strVal val="#ppt_x"/>
                                          </p:val>
                                        </p:tav>
                                      </p:tavLst>
                                    </p:anim>
                                    <p:anim calcmode="lin" valueType="num">
                                      <p:cBhvr additive="base">
                                        <p:cTn id="9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923680"/>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923681"/>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923682"/>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923683"/>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923684"/>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923685"/>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923686"/>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2" presetClass="entr" presetSubtype="4" fill="hold" grpId="0" nodeType="clickEffect">
                                  <p:stCondLst>
                                    <p:cond delay="0"/>
                                  </p:stCondLst>
                                  <p:childTnLst>
                                    <p:set>
                                      <p:cBhvr>
                                        <p:cTn id="112" dur="1" fill="hold">
                                          <p:stCondLst>
                                            <p:cond delay="0"/>
                                          </p:stCondLst>
                                        </p:cTn>
                                        <p:tgtEl>
                                          <p:spTgt spid="7"/>
                                        </p:tgtEl>
                                        <p:attrNameLst>
                                          <p:attrName>style.visibility</p:attrName>
                                        </p:attrNameLst>
                                      </p:cBhvr>
                                      <p:to>
                                        <p:strVal val="visible"/>
                                      </p:to>
                                    </p:set>
                                    <p:anim calcmode="lin" valueType="num">
                                      <p:cBhvr additive="base">
                                        <p:cTn id="113" dur="500" fill="hold"/>
                                        <p:tgtEl>
                                          <p:spTgt spid="7"/>
                                        </p:tgtEl>
                                        <p:attrNameLst>
                                          <p:attrName>ppt_x</p:attrName>
                                        </p:attrNameLst>
                                      </p:cBhvr>
                                      <p:tavLst>
                                        <p:tav tm="0">
                                          <p:val>
                                            <p:strVal val="#ppt_x"/>
                                          </p:val>
                                        </p:tav>
                                        <p:tav tm="100000">
                                          <p:val>
                                            <p:strVal val="#ppt_x"/>
                                          </p:val>
                                        </p:tav>
                                      </p:tavLst>
                                    </p:anim>
                                    <p:anim calcmode="lin" valueType="num">
                                      <p:cBhvr additive="base">
                                        <p:cTn id="1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923687"/>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923688"/>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9236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4676" grpId="0"/>
      <p:bldP spid="78850" grpId="0"/>
      <p:bldP spid="9" grpId="0"/>
      <p:bldP spid="10" grpId="0"/>
      <p:bldP spid="11" grpId="0" bldLvl="0" animBg="1"/>
      <p:bldP spid="12" grpId="0" bldLvl="0" animBg="1"/>
      <p:bldP spid="13" grpId="0"/>
      <p:bldP spid="4" grpId="0"/>
      <p:bldP spid="14" grpId="0" bldLvl="0" animBg="1"/>
      <p:bldP spid="15" grpId="0" bldLvl="0" animBg="1"/>
      <p:bldP spid="16" grpId="0" bldLvl="0" animBg="1"/>
      <p:bldP spid="17" grpId="0" bldLvl="0" animBg="1"/>
      <p:bldP spid="19" grpId="0"/>
      <p:bldP spid="20" grpId="0"/>
      <p:bldP spid="5" grpId="0"/>
      <p:bldP spid="21" grpId="0" bldLvl="0" animBg="1"/>
      <p:bldP spid="22" grpId="0" bldLvl="0" animBg="1"/>
      <p:bldP spid="923671" grpId="0"/>
      <p:bldP spid="23" grpId="0" bldLvl="0" animBg="1"/>
      <p:bldP spid="24" grpId="0" bldLvl="0" animBg="1"/>
      <p:bldP spid="923679" grpId="0"/>
      <p:bldP spid="6" grpId="0"/>
      <p:bldP spid="923680" grpId="0" bldLvl="0" animBg="1"/>
      <p:bldP spid="923681" grpId="0" bldLvl="0" animBg="1"/>
      <p:bldP spid="923682" grpId="0" bldLvl="0" animBg="1"/>
      <p:bldP spid="923683" grpId="0" bldLvl="0" animBg="1"/>
      <p:bldP spid="923685" grpId="0"/>
      <p:bldP spid="923686" grpId="0"/>
      <p:bldP spid="7" grpId="0"/>
      <p:bldP spid="923687" grpId="0" bldLvl="0" animBg="1"/>
      <p:bldP spid="923688" grpId="0" bldLvl="0" animBg="1"/>
      <p:bldP spid="923689"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28675" name="Rectangle 3"/>
          <p:cNvSpPr>
            <a:spLocks noGrp="1" noChangeArrowheads="1"/>
          </p:cNvSpPr>
          <p:nvPr>
            <p:ph type="body" idx="1"/>
          </p:nvPr>
        </p:nvSpPr>
        <p:spPr>
          <a:xfrm>
            <a:off x="395288" y="1628775"/>
            <a:ext cx="8748713" cy="3214688"/>
          </a:xfrm>
        </p:spPr>
        <p:txBody>
          <a:bodyPr vert="horz" wrap="square" lIns="91440" tIns="45720" rIns="91440" bIns="45720" numCol="1" anchor="t" anchorCtr="0" compatLnSpc="1"/>
          <a:lstStyle/>
          <a:p>
            <a:pPr marL="0" marR="0" lvl="0" indent="457200" algn="l" defTabSz="425450" rtl="0" eaLnBrk="0" fontAlgn="base" latinLnBrk="0" hangingPunct="0">
              <a:lnSpc>
                <a:spcPct val="130000"/>
              </a:lnSpc>
              <a:spcBef>
                <a:spcPct val="0"/>
              </a:spcBef>
              <a:spcAft>
                <a:spcPct val="0"/>
              </a:spcAft>
              <a:buClr>
                <a:schemeClr val="folHlink"/>
              </a:buClr>
              <a:buSzTx/>
              <a:buFont typeface="Wingdings" panose="05000000000000000000" pitchFamily="2" charset="2"/>
              <a:buNone/>
              <a:defRPr/>
            </a:pPr>
            <a:r>
              <a:rPr kumimoji="0" lang="zh-CN" altLang="en-US" sz="2000" b="1" i="0" u="none" strike="noStrike" kern="0" cap="none" spc="0" normalizeH="0" baseline="0" noProof="0" dirty="0" smtClean="0">
                <a:ln>
                  <a:noFill/>
                </a:ln>
                <a:solidFill>
                  <a:schemeClr val="tx1"/>
                </a:solidFill>
                <a:effectLst/>
                <a:uLnTx/>
                <a:uFillTx/>
                <a:latin typeface="宋体" pitchFamily="2" charset="-122"/>
                <a:ea typeface="+mn-ea"/>
                <a:cs typeface="+mn-cs"/>
              </a:rPr>
              <a:t>与数据传送指令不同，多数算术运算指令会</a:t>
            </a:r>
            <a:r>
              <a:rPr kumimoji="0" lang="zh-CN" altLang="en-US" sz="2000" b="1" i="0" u="none" strike="noStrike" kern="0" cap="none" spc="0" normalizeH="0" baseline="0" noProof="0" dirty="0" smtClean="0">
                <a:ln>
                  <a:noFill/>
                </a:ln>
                <a:solidFill>
                  <a:srgbClr val="FF3300"/>
                </a:solidFill>
                <a:effectLst/>
                <a:uLnTx/>
                <a:uFillTx/>
                <a:latin typeface="宋体" pitchFamily="2" charset="-122"/>
                <a:ea typeface="黑体" panose="02010609060101010101" pitchFamily="49" charset="-122"/>
                <a:cs typeface="+mn-cs"/>
              </a:rPr>
              <a:t>影响标志位的状态</a:t>
            </a:r>
            <a:r>
              <a:rPr kumimoji="0" lang="zh-CN" altLang="en-US" sz="2000" b="1" i="0" u="none" strike="noStrike" kern="0" cap="none" spc="0" normalizeH="0" baseline="0" noProof="0" dirty="0" smtClean="0">
                <a:ln>
                  <a:noFill/>
                </a:ln>
                <a:solidFill>
                  <a:schemeClr val="tx1"/>
                </a:solidFill>
                <a:effectLst/>
                <a:uLnTx/>
                <a:uFillTx/>
                <a:latin typeface="宋体" pitchFamily="2" charset="-122"/>
                <a:ea typeface="+mn-ea"/>
                <a:cs typeface="+mn-cs"/>
              </a:rPr>
              <a:t>，即</a:t>
            </a:r>
            <a:r>
              <a:rPr kumimoji="0" lang="en-US" altLang="zh-CN" sz="2000" b="1" i="0" u="none" strike="noStrike" kern="0" cap="none" spc="0" normalizeH="0" baseline="0" noProof="0" dirty="0" smtClean="0">
                <a:ln>
                  <a:noFill/>
                </a:ln>
                <a:solidFill>
                  <a:schemeClr val="tx1"/>
                </a:solidFill>
                <a:effectLst/>
                <a:uLnTx/>
                <a:uFillTx/>
                <a:latin typeface="宋体" pitchFamily="2" charset="-122"/>
                <a:ea typeface="+mn-ea"/>
                <a:cs typeface="+mn-cs"/>
              </a:rPr>
              <a:t>CPU</a:t>
            </a:r>
            <a:r>
              <a:rPr kumimoji="0" lang="zh-CN" altLang="en-US" sz="2000" b="1" i="0" u="none" strike="noStrike" kern="0" cap="none" spc="0" normalizeH="0" baseline="0" noProof="0" dirty="0" smtClean="0">
                <a:ln>
                  <a:noFill/>
                </a:ln>
                <a:solidFill>
                  <a:schemeClr val="tx1"/>
                </a:solidFill>
                <a:effectLst/>
                <a:uLnTx/>
                <a:uFillTx/>
                <a:latin typeface="宋体" pitchFamily="2" charset="-122"/>
                <a:ea typeface="+mn-ea"/>
                <a:cs typeface="+mn-cs"/>
              </a:rPr>
              <a:t>执行算术运算指令后，根据数据操作情况自动设置标志位的状态。</a:t>
            </a:r>
            <a:endParaRPr kumimoji="0" lang="zh-CN" altLang="en-US" sz="20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0" marR="0" lvl="0" indent="-342900" algn="l" defTabSz="425450" rtl="0" eaLnBrk="0" fontAlgn="base" latinLnBrk="0" hangingPunct="0">
              <a:lnSpc>
                <a:spcPct val="150000"/>
              </a:lnSpc>
              <a:spcBef>
                <a:spcPct val="0"/>
              </a:spcBef>
              <a:spcAft>
                <a:spcPct val="0"/>
              </a:spcAft>
              <a:buClr>
                <a:schemeClr val="folHlink"/>
              </a:buClr>
              <a:buSzTx/>
              <a:buFont typeface="Wingdings" panose="05000000000000000000" pitchFamily="2" charset="2"/>
              <a:buNone/>
              <a:defRPr/>
            </a:pPr>
            <a:r>
              <a:rPr kumimoji="1" lang="zh-CN" altLang="en-US" sz="2200" b="0" i="0" u="none" strike="noStrike" kern="0" cap="none" spc="0" normalizeH="0" baseline="0" noProof="0" dirty="0" smtClean="0">
                <a:ln>
                  <a:noFill/>
                </a:ln>
                <a:solidFill>
                  <a:schemeClr val="tx2"/>
                </a:solidFill>
                <a:effectLst/>
                <a:uLnTx/>
                <a:uFillTx/>
                <a:latin typeface="黑体" panose="02010609060101010101" pitchFamily="49" charset="-122"/>
                <a:ea typeface="黑体" panose="02010609060101010101" pitchFamily="49" charset="-122"/>
                <a:cs typeface="+mn-cs"/>
              </a:rPr>
              <a:t>   </a:t>
            </a:r>
            <a:r>
              <a:rPr kumimoji="1" lang="en-US" altLang="zh-CN" sz="2200" b="0" i="0" u="none" strike="noStrike" kern="0" cap="none" spc="0" normalizeH="0" baseline="0" noProof="0" dirty="0" smtClean="0">
                <a:ln>
                  <a:noFill/>
                </a:ln>
                <a:solidFill>
                  <a:schemeClr val="tx2"/>
                </a:solidFill>
                <a:effectLst/>
                <a:uLnTx/>
                <a:uFillTx/>
                <a:latin typeface="黑体" panose="02010609060101010101" pitchFamily="49" charset="-122"/>
                <a:ea typeface="黑体" panose="02010609060101010101" pitchFamily="49" charset="-122"/>
                <a:cs typeface="+mn-cs"/>
              </a:rPr>
              <a:t>1</a:t>
            </a:r>
            <a:r>
              <a:rPr kumimoji="1" lang="zh-CN" altLang="en-US" sz="2200" b="0" i="0" u="none" strike="noStrike" kern="0" cap="none" spc="0" normalizeH="0" baseline="0" noProof="0" dirty="0" smtClean="0">
                <a:ln>
                  <a:noFill/>
                </a:ln>
                <a:solidFill>
                  <a:schemeClr val="tx2"/>
                </a:solidFill>
                <a:effectLst/>
                <a:uLnTx/>
                <a:uFillTx/>
                <a:latin typeface="黑体" panose="02010609060101010101" pitchFamily="49" charset="-122"/>
                <a:ea typeface="黑体" panose="02010609060101010101" pitchFamily="49" charset="-122"/>
                <a:cs typeface="+mn-cs"/>
              </a:rPr>
              <a:t>）单字节的加、减、乘、除法指令，都是针对</a:t>
            </a:r>
            <a:r>
              <a:rPr kumimoji="1" lang="en-US" altLang="zh-CN" sz="2200" b="0" i="0" u="none" strike="noStrike" kern="0" cap="none" spc="0" normalizeH="0" baseline="0" noProof="0" dirty="0" smtClean="0">
                <a:ln>
                  <a:noFill/>
                </a:ln>
                <a:solidFill>
                  <a:schemeClr val="tx2"/>
                </a:solidFill>
                <a:effectLst/>
                <a:uLnTx/>
                <a:uFillTx/>
                <a:latin typeface="黑体" panose="02010609060101010101" pitchFamily="49" charset="-122"/>
                <a:ea typeface="黑体" panose="02010609060101010101" pitchFamily="49" charset="-122"/>
                <a:cs typeface="+mn-cs"/>
              </a:rPr>
              <a:t>8</a:t>
            </a:r>
            <a:r>
              <a:rPr kumimoji="1" lang="zh-CN" altLang="en-US" sz="2200" b="0" i="0" u="none" strike="noStrike" kern="0" cap="none" spc="0" normalizeH="0" baseline="0" noProof="0" dirty="0" smtClean="0">
                <a:ln>
                  <a:noFill/>
                </a:ln>
                <a:solidFill>
                  <a:schemeClr val="tx2"/>
                </a:solidFill>
                <a:effectLst/>
                <a:uLnTx/>
                <a:uFillTx/>
                <a:latin typeface="黑体" panose="02010609060101010101" pitchFamily="49" charset="-122"/>
                <a:ea typeface="黑体" panose="02010609060101010101" pitchFamily="49" charset="-122"/>
                <a:cs typeface="+mn-cs"/>
              </a:rPr>
              <a:t>位二进制无符号数</a:t>
            </a:r>
            <a:endParaRPr kumimoji="1" lang="zh-CN" altLang="en-US" sz="2200" b="0" i="0" u="none" strike="noStrike" kern="0" cap="none" spc="0" normalizeH="0" baseline="0" noProof="0" dirty="0" smtClean="0">
              <a:ln>
                <a:noFill/>
              </a:ln>
              <a:solidFill>
                <a:schemeClr val="tx2"/>
              </a:solidFill>
              <a:effectLst/>
              <a:uLnTx/>
              <a:uFillTx/>
              <a:latin typeface="黑体" panose="02010609060101010101" pitchFamily="49" charset="-122"/>
              <a:ea typeface="黑体" panose="02010609060101010101" pitchFamily="49" charset="-122"/>
              <a:cs typeface="+mn-cs"/>
            </a:endParaRPr>
          </a:p>
          <a:p>
            <a:pPr marL="0" marR="0" lvl="0" indent="-342900" algn="l" defTabSz="425450" rtl="0" eaLnBrk="0" fontAlgn="base" latinLnBrk="0" hangingPunct="0">
              <a:lnSpc>
                <a:spcPct val="150000"/>
              </a:lnSpc>
              <a:spcBef>
                <a:spcPct val="0"/>
              </a:spcBef>
              <a:spcAft>
                <a:spcPct val="0"/>
              </a:spcAft>
              <a:buClr>
                <a:schemeClr val="folHlink"/>
              </a:buClr>
              <a:buSzTx/>
              <a:buFont typeface="Wingdings" panose="05000000000000000000" pitchFamily="2" charset="2"/>
              <a:buNone/>
              <a:defRPr/>
            </a:pPr>
            <a:r>
              <a:rPr kumimoji="1" lang="zh-CN" altLang="en-US" sz="2200" b="0" i="0" u="none" strike="noStrike" kern="0" cap="none" spc="0" normalizeH="0" baseline="0" noProof="0" dirty="0" smtClean="0">
                <a:ln>
                  <a:noFill/>
                </a:ln>
                <a:solidFill>
                  <a:schemeClr val="tx2"/>
                </a:solidFill>
                <a:effectLst/>
                <a:uLnTx/>
                <a:uFillTx/>
                <a:latin typeface="黑体" panose="02010609060101010101" pitchFamily="49" charset="-122"/>
                <a:ea typeface="黑体" panose="02010609060101010101" pitchFamily="49" charset="-122"/>
                <a:cs typeface="+mn-cs"/>
                <a:sym typeface="+mn-ea"/>
              </a:rPr>
              <a:t>   </a:t>
            </a:r>
            <a:r>
              <a:rPr kumimoji="1" lang="en-US" altLang="zh-CN" sz="2200" b="0" i="0" u="none" strike="noStrike" kern="0" cap="none" spc="0" normalizeH="0" baseline="0" noProof="0" dirty="0" smtClean="0">
                <a:ln>
                  <a:noFill/>
                </a:ln>
                <a:solidFill>
                  <a:schemeClr val="tx2"/>
                </a:solidFill>
                <a:effectLst/>
                <a:uLnTx/>
                <a:uFillTx/>
                <a:latin typeface="黑体" panose="02010609060101010101" pitchFamily="49" charset="-122"/>
                <a:ea typeface="黑体" panose="02010609060101010101" pitchFamily="49" charset="-122"/>
                <a:cs typeface="+mn-cs"/>
              </a:rPr>
              <a:t>2</a:t>
            </a:r>
            <a:r>
              <a:rPr kumimoji="1" lang="zh-CN" altLang="en-US" sz="2200" b="0" i="0" u="none" strike="noStrike" kern="0" cap="none" spc="0" normalizeH="0" baseline="0" noProof="0" dirty="0" smtClean="0">
                <a:ln>
                  <a:noFill/>
                </a:ln>
                <a:solidFill>
                  <a:schemeClr val="tx2"/>
                </a:solidFill>
                <a:effectLst/>
                <a:uLnTx/>
                <a:uFillTx/>
                <a:latin typeface="黑体" panose="02010609060101010101" pitchFamily="49" charset="-122"/>
                <a:ea typeface="黑体" panose="02010609060101010101" pitchFamily="49" charset="-122"/>
                <a:cs typeface="+mn-cs"/>
              </a:rPr>
              <a:t>）执行的结果对</a:t>
            </a:r>
            <a:r>
              <a:rPr kumimoji="1" lang="en-US" altLang="zh-CN" sz="2200" b="0" i="0" u="none" strike="noStrike" kern="0" cap="none" spc="0" normalizeH="0" baseline="0" noProof="0" dirty="0" smtClean="0">
                <a:ln>
                  <a:noFill/>
                </a:ln>
                <a:solidFill>
                  <a:schemeClr val="hlink"/>
                </a:solidFill>
                <a:effectLst/>
                <a:uLnTx/>
                <a:uFillTx/>
                <a:latin typeface="黑体" panose="02010609060101010101" pitchFamily="49" charset="-122"/>
                <a:ea typeface="黑体" panose="02010609060101010101" pitchFamily="49" charset="-122"/>
                <a:cs typeface="+mn-cs"/>
                <a:sym typeface="+mn-ea"/>
              </a:rPr>
              <a:t>进位</a:t>
            </a:r>
            <a:r>
              <a:rPr kumimoji="1" lang="en-US" altLang="zh-CN" sz="2200" b="0" i="0" u="none" strike="noStrike" kern="0" cap="none" spc="0" normalizeH="0" baseline="0" noProof="0" dirty="0" smtClean="0">
                <a:ln>
                  <a:noFill/>
                </a:ln>
                <a:solidFill>
                  <a:schemeClr val="hlink"/>
                </a:solidFill>
                <a:effectLst/>
                <a:uLnTx/>
                <a:uFillTx/>
                <a:latin typeface="黑体" panose="02010609060101010101" pitchFamily="49" charset="-122"/>
                <a:ea typeface="黑体" panose="02010609060101010101" pitchFamily="49" charset="-122"/>
                <a:cs typeface="+mn-cs"/>
              </a:rPr>
              <a:t>Cy</a:t>
            </a:r>
            <a:r>
              <a:rPr kumimoji="1" lang="zh-CN" altLang="en-US" sz="2200" b="0" i="0" u="none" strike="noStrike" kern="0" cap="none" spc="0" normalizeH="0" baseline="0" noProof="0" dirty="0" smtClean="0">
                <a:ln>
                  <a:noFill/>
                </a:ln>
                <a:solidFill>
                  <a:schemeClr val="hlink"/>
                </a:solidFill>
                <a:effectLst/>
                <a:uLnTx/>
                <a:uFillTx/>
                <a:latin typeface="黑体" panose="02010609060101010101" pitchFamily="49" charset="-122"/>
                <a:ea typeface="黑体" panose="02010609060101010101" pitchFamily="49" charset="-122"/>
                <a:cs typeface="+mn-cs"/>
              </a:rPr>
              <a:t>、半进位</a:t>
            </a:r>
            <a:r>
              <a:rPr kumimoji="1" lang="en-US" altLang="zh-CN" sz="2200" b="0" i="0" u="none" strike="noStrike" kern="0" cap="none" spc="0" normalizeH="0" baseline="0" noProof="0" dirty="0" smtClean="0">
                <a:ln>
                  <a:noFill/>
                </a:ln>
                <a:solidFill>
                  <a:schemeClr val="hlink"/>
                </a:solidFill>
                <a:effectLst/>
                <a:uLnTx/>
                <a:uFillTx/>
                <a:latin typeface="黑体" panose="02010609060101010101" pitchFamily="49" charset="-122"/>
                <a:ea typeface="黑体" panose="02010609060101010101" pitchFamily="49" charset="-122"/>
                <a:cs typeface="+mn-cs"/>
              </a:rPr>
              <a:t>Ac</a:t>
            </a:r>
            <a:r>
              <a:rPr kumimoji="1" lang="zh-CN" altLang="en-US" sz="2200" b="0" i="0" u="none" strike="noStrike" kern="0" cap="none" spc="0" normalizeH="0" baseline="0" noProof="0" dirty="0" smtClean="0">
                <a:ln>
                  <a:noFill/>
                </a:ln>
                <a:solidFill>
                  <a:schemeClr val="hlink"/>
                </a:solidFill>
                <a:effectLst/>
                <a:uLnTx/>
                <a:uFillTx/>
                <a:latin typeface="黑体" panose="02010609060101010101" pitchFamily="49" charset="-122"/>
                <a:ea typeface="黑体" panose="02010609060101010101" pitchFamily="49" charset="-122"/>
                <a:cs typeface="+mn-cs"/>
              </a:rPr>
              <a:t>、溢出位</a:t>
            </a:r>
            <a:r>
              <a:rPr kumimoji="1" lang="en-US" altLang="zh-CN" sz="2200" b="0" i="0" u="none" strike="noStrike" kern="0" cap="none" spc="0" normalizeH="0" baseline="0" noProof="0" dirty="0" smtClean="0">
                <a:ln>
                  <a:noFill/>
                </a:ln>
                <a:solidFill>
                  <a:schemeClr val="hlink"/>
                </a:solidFill>
                <a:effectLst/>
                <a:uLnTx/>
                <a:uFillTx/>
                <a:latin typeface="黑体" panose="02010609060101010101" pitchFamily="49" charset="-122"/>
                <a:ea typeface="黑体" panose="02010609060101010101" pitchFamily="49" charset="-122"/>
                <a:cs typeface="+mn-cs"/>
              </a:rPr>
              <a:t>OV</a:t>
            </a:r>
            <a:r>
              <a:rPr kumimoji="1" lang="en-US" altLang="zh-CN" sz="2200" b="0" i="0" u="none" strike="noStrike" kern="0" cap="none" spc="0" normalizeH="0" baseline="0" noProof="0" dirty="0" smtClean="0">
                <a:ln>
                  <a:noFill/>
                </a:ln>
                <a:solidFill>
                  <a:schemeClr val="tx2"/>
                </a:solidFill>
                <a:effectLst/>
                <a:uLnTx/>
                <a:uFillTx/>
                <a:latin typeface="黑体" panose="02010609060101010101" pitchFamily="49" charset="-122"/>
                <a:ea typeface="黑体" panose="02010609060101010101" pitchFamily="49" charset="-122"/>
                <a:cs typeface="+mn-cs"/>
              </a:rPr>
              <a:t> </a:t>
            </a:r>
            <a:r>
              <a:rPr kumimoji="1" lang="zh-CN" altLang="en-US" sz="2200" b="0" i="0" u="none" strike="noStrike" kern="0" cap="none" spc="0" normalizeH="0" baseline="0" noProof="0" dirty="0" smtClean="0">
                <a:ln>
                  <a:noFill/>
                </a:ln>
                <a:solidFill>
                  <a:schemeClr val="tx2"/>
                </a:solidFill>
                <a:effectLst/>
                <a:uLnTx/>
                <a:uFillTx/>
                <a:latin typeface="黑体" panose="02010609060101010101" pitchFamily="49" charset="-122"/>
                <a:ea typeface="黑体" panose="02010609060101010101" pitchFamily="49" charset="-122"/>
                <a:cs typeface="+mn-cs"/>
              </a:rPr>
              <a:t>标志位有影响。 </a:t>
            </a:r>
            <a:endParaRPr kumimoji="0" lang="zh-CN" altLang="en-US" sz="22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0" marR="0" lvl="0" indent="-342900" algn="l" defTabSz="425450" rtl="0" eaLnBrk="0" fontAlgn="base" latinLnBrk="0" hangingPunct="0">
              <a:lnSpc>
                <a:spcPct val="150000"/>
              </a:lnSpc>
              <a:spcBef>
                <a:spcPct val="0"/>
              </a:spcBef>
              <a:spcAft>
                <a:spcPct val="0"/>
              </a:spcAft>
              <a:buClr>
                <a:schemeClr val="folHlink"/>
              </a:buClr>
              <a:buSzTx/>
              <a:buFont typeface="Wingdings" panose="05000000000000000000" pitchFamily="2" charset="2"/>
              <a:buNone/>
              <a:defRPr/>
            </a:pPr>
            <a:r>
              <a:rPr kumimoji="1" lang="zh-CN" altLang="en-US" sz="2200" b="0" i="0" u="none" strike="noStrike" kern="0" cap="none" spc="0" normalizeH="0" baseline="0" noProof="0" dirty="0" smtClean="0">
                <a:ln>
                  <a:noFill/>
                </a:ln>
                <a:solidFill>
                  <a:schemeClr val="tx2"/>
                </a:solidFill>
                <a:effectLst/>
                <a:uLnTx/>
                <a:uFillTx/>
                <a:latin typeface="黑体" panose="02010609060101010101" pitchFamily="49" charset="-122"/>
                <a:ea typeface="黑体" panose="02010609060101010101" pitchFamily="49" charset="-122"/>
                <a:cs typeface="+mn-cs"/>
                <a:sym typeface="+mn-ea"/>
              </a:rPr>
              <a:t>   </a:t>
            </a:r>
            <a:r>
              <a:rPr kumimoji="1" lang="en-US" altLang="zh-CN" sz="2200" b="0" i="0" u="none" strike="noStrike" kern="0" cap="none" spc="0" normalizeH="0" baseline="0" noProof="0" dirty="0" smtClean="0">
                <a:ln>
                  <a:noFill/>
                </a:ln>
                <a:solidFill>
                  <a:schemeClr val="tx2"/>
                </a:solidFill>
                <a:effectLst/>
                <a:uLnTx/>
                <a:uFillTx/>
                <a:latin typeface="黑体" panose="02010609060101010101" pitchFamily="49" charset="-122"/>
                <a:ea typeface="黑体" panose="02010609060101010101" pitchFamily="49" charset="-122"/>
                <a:cs typeface="+mn-cs"/>
              </a:rPr>
              <a:t>3</a:t>
            </a:r>
            <a:r>
              <a:rPr kumimoji="1" lang="zh-CN" altLang="en-US" sz="2200" b="0" i="0" u="none" strike="noStrike" kern="0" cap="none" spc="0" normalizeH="0" baseline="0" noProof="0" dirty="0" smtClean="0">
                <a:ln>
                  <a:noFill/>
                </a:ln>
                <a:solidFill>
                  <a:schemeClr val="tx2"/>
                </a:solidFill>
                <a:effectLst/>
                <a:uLnTx/>
                <a:uFillTx/>
                <a:latin typeface="黑体" panose="02010609060101010101" pitchFamily="49" charset="-122"/>
                <a:ea typeface="黑体" panose="02010609060101010101" pitchFamily="49" charset="-122"/>
                <a:cs typeface="+mn-cs"/>
              </a:rPr>
              <a:t>）</a:t>
            </a:r>
            <a:r>
              <a:rPr kumimoji="1" lang="zh-CN" altLang="en-US" sz="2200" b="0" i="0" u="none" strike="noStrike" kern="0" cap="none" spc="0" normalizeH="0" baseline="0" noProof="0" dirty="0" smtClean="0">
                <a:ln>
                  <a:noFill/>
                </a:ln>
                <a:solidFill>
                  <a:schemeClr val="accent2"/>
                </a:solidFill>
                <a:effectLst/>
                <a:uLnTx/>
                <a:uFillTx/>
                <a:latin typeface="黑体" panose="02010609060101010101" pitchFamily="49" charset="-122"/>
                <a:ea typeface="黑体" panose="02010609060101010101" pitchFamily="49" charset="-122"/>
                <a:cs typeface="+mn-cs"/>
              </a:rPr>
              <a:t>但</a:t>
            </a:r>
            <a:r>
              <a:rPr kumimoji="1" lang="zh-CN" altLang="en-US" sz="2200" b="0" i="0" u="none" strike="noStrike" kern="0" cap="none" spc="0" normalizeH="0" baseline="0" noProof="0" dirty="0" smtClean="0">
                <a:ln>
                  <a:noFill/>
                </a:ln>
                <a:solidFill>
                  <a:schemeClr val="tx2"/>
                </a:solidFill>
                <a:effectLst/>
                <a:uLnTx/>
                <a:uFillTx/>
                <a:latin typeface="黑体" panose="02010609060101010101" pitchFamily="49" charset="-122"/>
                <a:ea typeface="黑体" panose="02010609060101010101" pitchFamily="49" charset="-122"/>
                <a:cs typeface="+mn-cs"/>
              </a:rPr>
              <a:t>增</a:t>
            </a:r>
            <a:r>
              <a:rPr kumimoji="1" lang="en-US" altLang="zh-CN" sz="2200" b="0" i="0" u="none" strike="noStrike" kern="0" cap="none" spc="0" normalizeH="0" baseline="0" noProof="0" dirty="0" smtClean="0">
                <a:ln>
                  <a:noFill/>
                </a:ln>
                <a:solidFill>
                  <a:schemeClr val="tx2"/>
                </a:solidFill>
                <a:effectLst/>
                <a:uLnTx/>
                <a:uFillTx/>
                <a:latin typeface="黑体" panose="02010609060101010101" pitchFamily="49" charset="-122"/>
                <a:ea typeface="黑体" panose="02010609060101010101" pitchFamily="49" charset="-122"/>
                <a:cs typeface="+mn-cs"/>
              </a:rPr>
              <a:t>1</a:t>
            </a:r>
            <a:r>
              <a:rPr kumimoji="1" lang="zh-CN" altLang="en-US" sz="2200" b="0" i="0" u="none" strike="noStrike" kern="0" cap="none" spc="0" normalizeH="0" baseline="0" noProof="0" dirty="0" smtClean="0">
                <a:ln>
                  <a:noFill/>
                </a:ln>
                <a:solidFill>
                  <a:schemeClr val="tx2"/>
                </a:solidFill>
                <a:effectLst/>
                <a:uLnTx/>
                <a:uFillTx/>
                <a:latin typeface="黑体" panose="02010609060101010101" pitchFamily="49" charset="-122"/>
                <a:ea typeface="黑体" panose="02010609060101010101" pitchFamily="49" charset="-122"/>
                <a:cs typeface="+mn-cs"/>
              </a:rPr>
              <a:t>和减</a:t>
            </a:r>
            <a:r>
              <a:rPr kumimoji="1" lang="en-US" altLang="zh-CN" sz="2200" b="0" i="0" u="none" strike="noStrike" kern="0" cap="none" spc="0" normalizeH="0" baseline="0" noProof="0" dirty="0" smtClean="0">
                <a:ln>
                  <a:noFill/>
                </a:ln>
                <a:solidFill>
                  <a:schemeClr val="tx2"/>
                </a:solidFill>
                <a:effectLst/>
                <a:uLnTx/>
                <a:uFillTx/>
                <a:latin typeface="黑体" panose="02010609060101010101" pitchFamily="49" charset="-122"/>
                <a:ea typeface="黑体" panose="02010609060101010101" pitchFamily="49" charset="-122"/>
                <a:cs typeface="+mn-cs"/>
              </a:rPr>
              <a:t>1</a:t>
            </a:r>
            <a:r>
              <a:rPr kumimoji="1" lang="zh-CN" altLang="en-US" sz="2200" b="0" i="0" u="none" strike="noStrike" kern="0" cap="none" spc="0" normalizeH="0" baseline="0" noProof="0" dirty="0" smtClean="0">
                <a:ln>
                  <a:noFill/>
                </a:ln>
                <a:solidFill>
                  <a:schemeClr val="tx2"/>
                </a:solidFill>
                <a:effectLst/>
                <a:uLnTx/>
                <a:uFillTx/>
                <a:latin typeface="黑体" panose="02010609060101010101" pitchFamily="49" charset="-122"/>
                <a:ea typeface="黑体" panose="02010609060101010101" pitchFamily="49" charset="-122"/>
                <a:cs typeface="+mn-cs"/>
              </a:rPr>
              <a:t>指令</a:t>
            </a:r>
            <a:r>
              <a:rPr kumimoji="1" lang="zh-CN" altLang="en-US" sz="2200" b="0" i="0" u="none" strike="noStrike" kern="0" cap="none" spc="0" normalizeH="0" baseline="0" noProof="0" dirty="0" smtClean="0">
                <a:ln>
                  <a:noFill/>
                </a:ln>
                <a:solidFill>
                  <a:schemeClr val="accent2"/>
                </a:solidFill>
                <a:effectLst/>
                <a:uLnTx/>
                <a:uFillTx/>
                <a:latin typeface="黑体" panose="02010609060101010101" pitchFamily="49" charset="-122"/>
                <a:ea typeface="黑体" panose="02010609060101010101" pitchFamily="49" charset="-122"/>
                <a:cs typeface="+mn-cs"/>
              </a:rPr>
              <a:t>不影响</a:t>
            </a:r>
            <a:r>
              <a:rPr kumimoji="1" lang="zh-CN" altLang="en-US" sz="2200" b="0" i="0" u="none" strike="noStrike" kern="0" cap="none" spc="0" normalizeH="0" baseline="0" noProof="0" dirty="0" smtClean="0">
                <a:ln>
                  <a:noFill/>
                </a:ln>
                <a:solidFill>
                  <a:schemeClr val="tx2"/>
                </a:solidFill>
                <a:effectLst/>
                <a:uLnTx/>
                <a:uFillTx/>
                <a:latin typeface="黑体" panose="02010609060101010101" pitchFamily="49" charset="-122"/>
                <a:ea typeface="黑体" panose="02010609060101010101" pitchFamily="49" charset="-122"/>
                <a:cs typeface="+mn-cs"/>
              </a:rPr>
              <a:t>上述标志。</a:t>
            </a:r>
            <a:endParaRPr kumimoji="0" lang="zh-CN" altLang="en-US" sz="22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0" marR="0" lvl="0" indent="0" algn="just" defTabSz="425450" rtl="0" eaLnBrk="0" fontAlgn="base" latinLnBrk="0" hangingPunct="0">
              <a:lnSpc>
                <a:spcPct val="150000"/>
              </a:lnSpc>
              <a:spcBef>
                <a:spcPct val="0"/>
              </a:spcBef>
              <a:spcAft>
                <a:spcPct val="0"/>
              </a:spcAft>
              <a:buClr>
                <a:schemeClr val="folHlink"/>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rgbClr val="FF3300"/>
                </a:solidFill>
                <a:effectLst>
                  <a:outerShdw blurRad="38100" dist="38100" dir="2700000" algn="tl">
                    <a:srgbClr val="C0C0C0"/>
                  </a:outerShdw>
                </a:effectLst>
                <a:uLnTx/>
                <a:uFillTx/>
                <a:latin typeface="宋体" pitchFamily="2" charset="-122"/>
                <a:ea typeface="+mn-ea"/>
                <a:cs typeface="+mn-cs"/>
              </a:rPr>
              <a:t>状态标志</a:t>
            </a:r>
            <a:r>
              <a:rPr kumimoji="0" lang="en-US" altLang="zh-CN" sz="2400" b="1" i="0" u="none" strike="noStrike" kern="0" cap="none" spc="0" normalizeH="0" baseline="0" noProof="0" dirty="0" smtClean="0">
                <a:ln>
                  <a:noFill/>
                </a:ln>
                <a:solidFill>
                  <a:srgbClr val="FF3300"/>
                </a:solidFill>
                <a:effectLst>
                  <a:outerShdw blurRad="38100" dist="38100" dir="2700000" algn="tl">
                    <a:srgbClr val="C0C0C0"/>
                  </a:outerShdw>
                </a:effectLst>
                <a:uLnTx/>
                <a:uFillTx/>
                <a:latin typeface="宋体" pitchFamily="2" charset="-122"/>
                <a:ea typeface="+mn-ea"/>
                <a:cs typeface="+mn-cs"/>
              </a:rPr>
              <a:t>:</a:t>
            </a:r>
            <a:r>
              <a:rPr kumimoji="0" lang="en-US" altLang="zh-CN" sz="2400" b="1" i="0" u="none" strike="noStrike" kern="0" cap="none" spc="0" normalizeH="0" baseline="0" noProof="0" dirty="0" smtClean="0">
                <a:ln>
                  <a:noFill/>
                </a:ln>
                <a:solidFill>
                  <a:schemeClr val="tx1"/>
                </a:solidFill>
                <a:effectLst/>
                <a:uLnTx/>
                <a:uFillTx/>
                <a:latin typeface="宋体" pitchFamily="2" charset="-122"/>
                <a:ea typeface="+mn-ea"/>
                <a:cs typeface="+mn-cs"/>
              </a:rPr>
              <a:t> </a:t>
            </a:r>
            <a:r>
              <a:rPr kumimoji="0" lang="en-US" altLang="zh-CN" sz="2000" b="1" i="0" u="none" strike="noStrike" kern="0" cap="none" spc="0" normalizeH="0" baseline="0" noProof="0" dirty="0" smtClean="0">
                <a:ln>
                  <a:noFill/>
                </a:ln>
                <a:solidFill>
                  <a:schemeClr val="tx1"/>
                </a:solidFill>
                <a:effectLst/>
                <a:uLnTx/>
                <a:uFillTx/>
                <a:latin typeface="宋体" pitchFamily="2" charset="-122"/>
                <a:ea typeface="+mn-ea"/>
                <a:cs typeface="+mn-cs"/>
              </a:rPr>
              <a:t>MCS-51 </a:t>
            </a:r>
            <a:r>
              <a:rPr kumimoji="0" lang="zh-CN" altLang="en-US" sz="2000" b="1" i="0" u="none" strike="noStrike" kern="0" cap="none" spc="0" normalizeH="0" baseline="0" noProof="0" dirty="0" smtClean="0">
                <a:ln>
                  <a:noFill/>
                </a:ln>
                <a:solidFill>
                  <a:schemeClr val="tx1"/>
                </a:solidFill>
                <a:effectLst/>
                <a:uLnTx/>
                <a:uFillTx/>
                <a:latin typeface="宋体" pitchFamily="2" charset="-122"/>
                <a:ea typeface="+mn-ea"/>
                <a:cs typeface="+mn-cs"/>
              </a:rPr>
              <a:t>的程序状态字寄存器</a:t>
            </a:r>
            <a:r>
              <a:rPr kumimoji="0" lang="zh-CN" altLang="en-US" sz="2000" b="1" i="0" u="none" strike="noStrike" kern="0" cap="none" spc="0" normalizeH="0" baseline="0" noProof="0" dirty="0" smtClean="0">
                <a:ln>
                  <a:noFill/>
                </a:ln>
                <a:solidFill>
                  <a:srgbClr val="A40079"/>
                </a:solidFill>
                <a:effectLst/>
                <a:uLnTx/>
                <a:uFillTx/>
                <a:latin typeface="宋体" pitchFamily="2" charset="-122"/>
                <a:ea typeface="+mn-ea"/>
                <a:cs typeface="+mn-cs"/>
              </a:rPr>
              <a:t> </a:t>
            </a:r>
            <a:r>
              <a:rPr kumimoji="0" lang="en-US" altLang="zh-CN" sz="2000" b="1" i="0" u="none" strike="noStrike" kern="0" cap="none" spc="0" normalizeH="0" baseline="0" noProof="0" dirty="0" smtClean="0">
                <a:ln>
                  <a:noFill/>
                </a:ln>
                <a:solidFill>
                  <a:schemeClr val="tx2"/>
                </a:solidFill>
                <a:effectLst/>
                <a:uLnTx/>
                <a:uFillTx/>
                <a:latin typeface="宋体" pitchFamily="2" charset="-122"/>
                <a:ea typeface="+mn-ea"/>
                <a:cs typeface="+mn-cs"/>
              </a:rPr>
              <a:t>PSW</a:t>
            </a:r>
            <a:r>
              <a:rPr kumimoji="0" lang="en-US" altLang="zh-CN" sz="2000" b="1" i="0" u="none" strike="noStrike" kern="0" cap="none" spc="0" normalizeH="0" baseline="0" noProof="0" dirty="0" smtClean="0">
                <a:ln>
                  <a:noFill/>
                </a:ln>
                <a:solidFill>
                  <a:srgbClr val="A40079"/>
                </a:solidFill>
                <a:effectLst/>
                <a:uLnTx/>
                <a:uFillTx/>
                <a:latin typeface="宋体" pitchFamily="2" charset="-122"/>
                <a:ea typeface="+mn-ea"/>
                <a:cs typeface="+mn-cs"/>
              </a:rPr>
              <a:t> </a:t>
            </a:r>
            <a:r>
              <a:rPr kumimoji="0" lang="zh-CN" altLang="en-US" sz="2000" b="1" i="0" u="none" strike="noStrike" kern="0" cap="none" spc="0" normalizeH="0" baseline="0" noProof="0" dirty="0" smtClean="0">
                <a:ln>
                  <a:noFill/>
                </a:ln>
                <a:solidFill>
                  <a:schemeClr val="tx1"/>
                </a:solidFill>
                <a:effectLst/>
                <a:uLnTx/>
                <a:uFillTx/>
                <a:latin typeface="宋体" pitchFamily="2" charset="-122"/>
                <a:ea typeface="+mn-ea"/>
                <a:cs typeface="+mn-cs"/>
              </a:rPr>
              <a:t>为标志寄存器。</a:t>
            </a:r>
            <a:endParaRPr kumimoji="0" lang="zh-CN" altLang="en-US" sz="20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0" marR="0" lvl="0" indent="-342900" algn="just" defTabSz="425450" rtl="0" eaLnBrk="0" fontAlgn="base" latinLnBrk="0" hangingPunct="0">
              <a:lnSpc>
                <a:spcPct val="150000"/>
              </a:lnSpc>
              <a:spcBef>
                <a:spcPct val="0"/>
              </a:spcBef>
              <a:spcAft>
                <a:spcPct val="0"/>
              </a:spcAft>
              <a:buClr>
                <a:schemeClr val="folHlink"/>
              </a:buClr>
              <a:buSzTx/>
              <a:buFont typeface="Wingdings" panose="05000000000000000000" pitchFamily="2" charset="2"/>
              <a:buNone/>
              <a:defRPr/>
            </a:pPr>
            <a:r>
              <a:rPr kumimoji="0" lang="zh-CN" altLang="en-US" sz="2000" b="1" i="0" u="none" strike="noStrike" kern="0" cap="none" spc="0" normalizeH="0" baseline="0" noProof="0" dirty="0" smtClean="0">
                <a:ln>
                  <a:noFill/>
                </a:ln>
                <a:solidFill>
                  <a:schemeClr val="tx1"/>
                </a:solidFill>
                <a:effectLst/>
                <a:uLnTx/>
                <a:uFillTx/>
                <a:latin typeface="宋体" pitchFamily="2" charset="-122"/>
                <a:ea typeface="+mn-ea"/>
                <a:cs typeface="+mn-cs"/>
              </a:rPr>
              <a:t>         其格式如下：</a:t>
            </a:r>
            <a:endParaRPr kumimoji="0" lang="zh-CN" altLang="en-US" sz="20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0" marR="0" lvl="0" indent="-342900" algn="just" defTabSz="42545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zh-CN" sz="2000" b="1" i="0" u="none" strike="noStrike" kern="0" cap="none" spc="0" normalizeH="0" baseline="0" noProof="0" dirty="0" smtClean="0">
              <a:ln>
                <a:noFill/>
              </a:ln>
              <a:solidFill>
                <a:srgbClr val="FFC000"/>
              </a:solidFill>
              <a:effectLst/>
              <a:uLnTx/>
              <a:uFillTx/>
              <a:latin typeface="宋体" pitchFamily="2" charset="-122"/>
              <a:ea typeface="+mn-ea"/>
              <a:cs typeface="+mn-cs"/>
            </a:endParaRPr>
          </a:p>
        </p:txBody>
      </p:sp>
      <p:sp>
        <p:nvSpPr>
          <p:cNvPr id="102403" name="Rectangle 6"/>
          <p:cNvSpPr/>
          <p:nvPr/>
        </p:nvSpPr>
        <p:spPr>
          <a:xfrm>
            <a:off x="179388" y="981075"/>
            <a:ext cx="4321175" cy="584200"/>
          </a:xfrm>
          <a:prstGeom prst="rect">
            <a:avLst/>
          </a:prstGeom>
          <a:noFill/>
          <a:ln w="9525">
            <a:noFill/>
          </a:ln>
        </p:spPr>
        <p:txBody>
          <a:bodyPr anchor="t" anchorCtr="0">
            <a:spAutoFit/>
          </a:bodyPr>
          <a:p>
            <a:pPr eaLnBrk="0" hangingPunct="0"/>
            <a:r>
              <a:rPr lang="zh-CN" altLang="en-US" sz="3200" dirty="0">
                <a:latin typeface="楷体_GB2312" pitchFamily="49" charset="-122"/>
                <a:ea typeface="楷体_GB2312" pitchFamily="49" charset="-122"/>
              </a:rPr>
              <a:t>3-</a:t>
            </a:r>
            <a:r>
              <a:rPr lang="en-US" altLang="zh-CN" sz="3200" dirty="0">
                <a:latin typeface="楷体_GB2312" pitchFamily="49" charset="-122"/>
                <a:ea typeface="楷体_GB2312" pitchFamily="49" charset="-122"/>
              </a:rPr>
              <a:t>4</a:t>
            </a:r>
            <a:r>
              <a:rPr lang="zh-CN" altLang="en-US" sz="3200" dirty="0">
                <a:latin typeface="楷体_GB2312" pitchFamily="49" charset="-122"/>
                <a:ea typeface="楷体_GB2312" pitchFamily="49" charset="-122"/>
              </a:rPr>
              <a:t>	</a:t>
            </a:r>
            <a:r>
              <a:rPr lang="zh-CN" altLang="en-US" sz="3200" dirty="0">
                <a:solidFill>
                  <a:srgbClr val="FF3300"/>
                </a:solidFill>
                <a:latin typeface="楷体_GB2312" pitchFamily="49" charset="-122"/>
                <a:ea typeface="楷体_GB2312" pitchFamily="49" charset="-122"/>
              </a:rPr>
              <a:t>算术运算指令</a:t>
            </a:r>
            <a:endParaRPr lang="en-US" altLang="zh-CN" sz="3200" dirty="0">
              <a:solidFill>
                <a:srgbClr val="FF3300"/>
              </a:solidFill>
              <a:latin typeface="楷体_GB2312" pitchFamily="49" charset="-122"/>
              <a:ea typeface="楷体_GB2312" pitchFamily="49" charset="-122"/>
            </a:endParaRPr>
          </a:p>
        </p:txBody>
      </p:sp>
      <p:grpSp>
        <p:nvGrpSpPr>
          <p:cNvPr id="102404" name="Group 7"/>
          <p:cNvGrpSpPr/>
          <p:nvPr/>
        </p:nvGrpSpPr>
        <p:grpSpPr>
          <a:xfrm>
            <a:off x="1011238" y="5175250"/>
            <a:ext cx="7121525" cy="936625"/>
            <a:chOff x="-3" y="-3"/>
            <a:chExt cx="4078" cy="754"/>
          </a:xfrm>
        </p:grpSpPr>
        <p:grpSp>
          <p:nvGrpSpPr>
            <p:cNvPr id="102405" name="Group 8"/>
            <p:cNvGrpSpPr/>
            <p:nvPr/>
          </p:nvGrpSpPr>
          <p:grpSpPr>
            <a:xfrm>
              <a:off x="0" y="0"/>
              <a:ext cx="4072" cy="748"/>
              <a:chOff x="0" y="0"/>
              <a:chExt cx="4072" cy="748"/>
            </a:xfrm>
          </p:grpSpPr>
          <p:grpSp>
            <p:nvGrpSpPr>
              <p:cNvPr id="102406" name="Group 9"/>
              <p:cNvGrpSpPr/>
              <p:nvPr/>
            </p:nvGrpSpPr>
            <p:grpSpPr>
              <a:xfrm>
                <a:off x="0" y="0"/>
                <a:ext cx="509" cy="748"/>
                <a:chOff x="0" y="0"/>
                <a:chExt cx="509" cy="748"/>
              </a:xfrm>
            </p:grpSpPr>
            <p:sp>
              <p:nvSpPr>
                <p:cNvPr id="102407" name="Rectangle 10"/>
                <p:cNvSpPr/>
                <p:nvPr/>
              </p:nvSpPr>
              <p:spPr>
                <a:xfrm>
                  <a:off x="43" y="0"/>
                  <a:ext cx="423" cy="748"/>
                </a:xfrm>
                <a:prstGeom prst="rect">
                  <a:avLst/>
                </a:prstGeom>
                <a:noFill/>
                <a:ln w="9525">
                  <a:noFill/>
                </a:ln>
              </p:spPr>
              <p:txBody>
                <a:bodyPr anchor="ctr" anchorCtr="0"/>
                <a:p>
                  <a:pPr algn="ctr" eaLnBrk="0" hangingPunct="0">
                    <a:buClrTx/>
                    <a:buFontTx/>
                  </a:pPr>
                  <a:r>
                    <a:rPr lang="en-US" altLang="zh-CN" dirty="0">
                      <a:latin typeface="Times New Roman" panose="02020503050405090304" pitchFamily="18" charset="0"/>
                      <a:ea typeface="宋体" pitchFamily="2" charset="-122"/>
                    </a:rPr>
                    <a:t>Cy</a:t>
                  </a:r>
                  <a:endParaRPr lang="en-US" altLang="zh-CN" sz="1000" dirty="0">
                    <a:latin typeface="Times New Roman" panose="02020503050405090304" pitchFamily="18" charset="0"/>
                    <a:ea typeface="宋体" pitchFamily="2" charset="-122"/>
                  </a:endParaRPr>
                </a:p>
                <a:p>
                  <a:pPr algn="ctr" eaLnBrk="0" hangingPunct="0">
                    <a:buClrTx/>
                    <a:buFontTx/>
                  </a:pPr>
                  <a:endParaRPr lang="en-US" altLang="zh-CN" b="0" dirty="0">
                    <a:latin typeface="Times New Roman" panose="02020503050405090304" pitchFamily="18" charset="0"/>
                    <a:ea typeface="宋体" pitchFamily="2" charset="-122"/>
                  </a:endParaRPr>
                </a:p>
              </p:txBody>
            </p:sp>
            <p:sp>
              <p:nvSpPr>
                <p:cNvPr id="102408" name="Rectangle 11"/>
                <p:cNvSpPr/>
                <p:nvPr/>
              </p:nvSpPr>
              <p:spPr>
                <a:xfrm>
                  <a:off x="0" y="0"/>
                  <a:ext cx="509" cy="748"/>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102409" name="Group 12"/>
              <p:cNvGrpSpPr/>
              <p:nvPr/>
            </p:nvGrpSpPr>
            <p:grpSpPr>
              <a:xfrm>
                <a:off x="509" y="0"/>
                <a:ext cx="509" cy="748"/>
                <a:chOff x="509" y="0"/>
                <a:chExt cx="509" cy="748"/>
              </a:xfrm>
            </p:grpSpPr>
            <p:sp>
              <p:nvSpPr>
                <p:cNvPr id="102410" name="Rectangle 13"/>
                <p:cNvSpPr/>
                <p:nvPr/>
              </p:nvSpPr>
              <p:spPr>
                <a:xfrm>
                  <a:off x="552" y="0"/>
                  <a:ext cx="423" cy="748"/>
                </a:xfrm>
                <a:prstGeom prst="rect">
                  <a:avLst/>
                </a:prstGeom>
                <a:noFill/>
                <a:ln w="9525">
                  <a:noFill/>
                </a:ln>
              </p:spPr>
              <p:txBody>
                <a:bodyPr anchor="ctr" anchorCtr="0"/>
                <a:p>
                  <a:pPr algn="ctr" eaLnBrk="0" hangingPunct="0">
                    <a:buClrTx/>
                    <a:buFontTx/>
                  </a:pPr>
                  <a:r>
                    <a:rPr lang="en-US" altLang="zh-CN" dirty="0">
                      <a:latin typeface="Times New Roman" panose="02020503050405090304" pitchFamily="18" charset="0"/>
                      <a:ea typeface="宋体" pitchFamily="2" charset="-122"/>
                    </a:rPr>
                    <a:t>AC</a:t>
                  </a:r>
                  <a:endParaRPr lang="en-US" altLang="zh-CN" sz="1000" dirty="0">
                    <a:latin typeface="Times New Roman" panose="02020503050405090304" pitchFamily="18" charset="0"/>
                    <a:ea typeface="宋体" pitchFamily="2" charset="-122"/>
                  </a:endParaRPr>
                </a:p>
                <a:p>
                  <a:pPr algn="ctr" eaLnBrk="0" hangingPunct="0">
                    <a:buClrTx/>
                    <a:buFontTx/>
                  </a:pPr>
                  <a:endParaRPr lang="en-US" altLang="zh-CN" b="0" dirty="0">
                    <a:latin typeface="Times New Roman" panose="02020503050405090304" pitchFamily="18" charset="0"/>
                    <a:ea typeface="宋体" pitchFamily="2" charset="-122"/>
                  </a:endParaRPr>
                </a:p>
              </p:txBody>
            </p:sp>
            <p:sp>
              <p:nvSpPr>
                <p:cNvPr id="102411" name="Rectangle 14"/>
                <p:cNvSpPr/>
                <p:nvPr/>
              </p:nvSpPr>
              <p:spPr>
                <a:xfrm>
                  <a:off x="509" y="0"/>
                  <a:ext cx="509" cy="748"/>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102412" name="Group 15"/>
              <p:cNvGrpSpPr/>
              <p:nvPr/>
            </p:nvGrpSpPr>
            <p:grpSpPr>
              <a:xfrm>
                <a:off x="1018" y="0"/>
                <a:ext cx="509" cy="748"/>
                <a:chOff x="1018" y="0"/>
                <a:chExt cx="509" cy="748"/>
              </a:xfrm>
            </p:grpSpPr>
            <p:sp>
              <p:nvSpPr>
                <p:cNvPr id="102413" name="Rectangle 16"/>
                <p:cNvSpPr/>
                <p:nvPr/>
              </p:nvSpPr>
              <p:spPr>
                <a:xfrm>
                  <a:off x="1061" y="0"/>
                  <a:ext cx="423" cy="748"/>
                </a:xfrm>
                <a:prstGeom prst="rect">
                  <a:avLst/>
                </a:prstGeom>
                <a:noFill/>
                <a:ln w="9525">
                  <a:noFill/>
                </a:ln>
              </p:spPr>
              <p:txBody>
                <a:bodyPr bIns="0" anchor="ctr" anchorCtr="0"/>
                <a:p>
                  <a:pPr algn="ctr" eaLnBrk="0" hangingPunct="0">
                    <a:buClrTx/>
                    <a:buFontTx/>
                  </a:pPr>
                  <a:r>
                    <a:rPr lang="en-US" altLang="zh-CN" dirty="0">
                      <a:latin typeface="Times New Roman" panose="02020503050405090304" pitchFamily="18" charset="0"/>
                      <a:ea typeface="宋体" pitchFamily="2" charset="-122"/>
                    </a:rPr>
                    <a:t>F0</a:t>
                  </a:r>
                  <a:endParaRPr lang="en-US" altLang="zh-CN" sz="2600" dirty="0">
                    <a:latin typeface="Times New Roman" panose="02020503050405090304" pitchFamily="18" charset="0"/>
                    <a:ea typeface="宋体" pitchFamily="2" charset="-122"/>
                  </a:endParaRPr>
                </a:p>
                <a:p>
                  <a:pPr algn="ctr" eaLnBrk="0" hangingPunct="0">
                    <a:buClrTx/>
                    <a:buFontTx/>
                  </a:pPr>
                  <a:endParaRPr lang="en-US" altLang="zh-CN" b="0" dirty="0">
                    <a:latin typeface="Times New Roman" panose="02020503050405090304" pitchFamily="18" charset="0"/>
                    <a:ea typeface="宋体" pitchFamily="2" charset="-122"/>
                  </a:endParaRPr>
                </a:p>
              </p:txBody>
            </p:sp>
            <p:sp>
              <p:nvSpPr>
                <p:cNvPr id="102414" name="Rectangle 17"/>
                <p:cNvSpPr/>
                <p:nvPr/>
              </p:nvSpPr>
              <p:spPr>
                <a:xfrm>
                  <a:off x="1018" y="0"/>
                  <a:ext cx="509" cy="748"/>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102415" name="Group 18"/>
              <p:cNvGrpSpPr/>
              <p:nvPr/>
            </p:nvGrpSpPr>
            <p:grpSpPr>
              <a:xfrm>
                <a:off x="1527" y="0"/>
                <a:ext cx="509" cy="748"/>
                <a:chOff x="1527" y="0"/>
                <a:chExt cx="509" cy="748"/>
              </a:xfrm>
            </p:grpSpPr>
            <p:sp>
              <p:nvSpPr>
                <p:cNvPr id="102416" name="Rectangle 19"/>
                <p:cNvSpPr/>
                <p:nvPr/>
              </p:nvSpPr>
              <p:spPr>
                <a:xfrm>
                  <a:off x="1570" y="0"/>
                  <a:ext cx="423" cy="748"/>
                </a:xfrm>
                <a:prstGeom prst="rect">
                  <a:avLst/>
                </a:prstGeom>
                <a:noFill/>
                <a:ln w="9525">
                  <a:noFill/>
                </a:ln>
              </p:spPr>
              <p:txBody>
                <a:bodyPr anchor="ctr" anchorCtr="0"/>
                <a:p>
                  <a:pPr algn="ctr" eaLnBrk="0" hangingPunct="0">
                    <a:buClrTx/>
                    <a:buFontTx/>
                  </a:pPr>
                  <a:r>
                    <a:rPr lang="en-US" altLang="zh-CN" dirty="0">
                      <a:latin typeface="Times New Roman" panose="02020503050405090304" pitchFamily="18" charset="0"/>
                      <a:ea typeface="宋体" pitchFamily="2" charset="-122"/>
                    </a:rPr>
                    <a:t>RS1</a:t>
                  </a:r>
                  <a:endParaRPr lang="en-US" altLang="zh-CN" sz="1000" dirty="0">
                    <a:latin typeface="Times New Roman" panose="02020503050405090304" pitchFamily="18" charset="0"/>
                    <a:ea typeface="宋体" pitchFamily="2" charset="-122"/>
                  </a:endParaRPr>
                </a:p>
                <a:p>
                  <a:pPr algn="ctr" eaLnBrk="0" hangingPunct="0">
                    <a:buClrTx/>
                    <a:buFontTx/>
                  </a:pPr>
                  <a:endParaRPr lang="en-US" altLang="zh-CN" b="0" dirty="0">
                    <a:latin typeface="Times New Roman" panose="02020503050405090304" pitchFamily="18" charset="0"/>
                    <a:ea typeface="宋体" pitchFamily="2" charset="-122"/>
                  </a:endParaRPr>
                </a:p>
              </p:txBody>
            </p:sp>
            <p:sp>
              <p:nvSpPr>
                <p:cNvPr id="102417" name="Rectangle 20"/>
                <p:cNvSpPr/>
                <p:nvPr/>
              </p:nvSpPr>
              <p:spPr>
                <a:xfrm>
                  <a:off x="1527" y="0"/>
                  <a:ext cx="509" cy="748"/>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102418" name="Group 21"/>
              <p:cNvGrpSpPr/>
              <p:nvPr/>
            </p:nvGrpSpPr>
            <p:grpSpPr>
              <a:xfrm>
                <a:off x="2036" y="0"/>
                <a:ext cx="509" cy="748"/>
                <a:chOff x="2036" y="0"/>
                <a:chExt cx="509" cy="748"/>
              </a:xfrm>
            </p:grpSpPr>
            <p:sp>
              <p:nvSpPr>
                <p:cNvPr id="102419" name="Rectangle 22"/>
                <p:cNvSpPr/>
                <p:nvPr/>
              </p:nvSpPr>
              <p:spPr>
                <a:xfrm>
                  <a:off x="2079" y="0"/>
                  <a:ext cx="423" cy="748"/>
                </a:xfrm>
                <a:prstGeom prst="rect">
                  <a:avLst/>
                </a:prstGeom>
                <a:noFill/>
                <a:ln w="9525">
                  <a:noFill/>
                </a:ln>
              </p:spPr>
              <p:txBody>
                <a:bodyPr anchor="ctr" anchorCtr="0"/>
                <a:p>
                  <a:pPr algn="ctr" eaLnBrk="0" hangingPunct="0">
                    <a:buClrTx/>
                    <a:buFontTx/>
                  </a:pPr>
                  <a:r>
                    <a:rPr lang="en-US" altLang="zh-CN" dirty="0">
                      <a:latin typeface="Times New Roman" panose="02020503050405090304" pitchFamily="18" charset="0"/>
                      <a:ea typeface="宋体" pitchFamily="2" charset="-122"/>
                    </a:rPr>
                    <a:t>RS0</a:t>
                  </a:r>
                  <a:endParaRPr lang="en-US" altLang="zh-CN" sz="1000" dirty="0">
                    <a:latin typeface="Times New Roman" panose="02020503050405090304" pitchFamily="18" charset="0"/>
                    <a:ea typeface="宋体" pitchFamily="2" charset="-122"/>
                  </a:endParaRPr>
                </a:p>
                <a:p>
                  <a:pPr algn="ctr" eaLnBrk="0" hangingPunct="0">
                    <a:buClrTx/>
                    <a:buFontTx/>
                  </a:pPr>
                  <a:endParaRPr lang="en-US" altLang="zh-CN" b="0" dirty="0">
                    <a:latin typeface="Times New Roman" panose="02020503050405090304" pitchFamily="18" charset="0"/>
                    <a:ea typeface="宋体" pitchFamily="2" charset="-122"/>
                  </a:endParaRPr>
                </a:p>
              </p:txBody>
            </p:sp>
            <p:sp>
              <p:nvSpPr>
                <p:cNvPr id="102420" name="Rectangle 23"/>
                <p:cNvSpPr/>
                <p:nvPr/>
              </p:nvSpPr>
              <p:spPr>
                <a:xfrm>
                  <a:off x="2036" y="0"/>
                  <a:ext cx="509" cy="748"/>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102421" name="Group 24"/>
              <p:cNvGrpSpPr/>
              <p:nvPr/>
            </p:nvGrpSpPr>
            <p:grpSpPr>
              <a:xfrm>
                <a:off x="2545" y="0"/>
                <a:ext cx="509" cy="748"/>
                <a:chOff x="2545" y="0"/>
                <a:chExt cx="509" cy="748"/>
              </a:xfrm>
            </p:grpSpPr>
            <p:sp>
              <p:nvSpPr>
                <p:cNvPr id="102422" name="Rectangle 25"/>
                <p:cNvSpPr/>
                <p:nvPr/>
              </p:nvSpPr>
              <p:spPr>
                <a:xfrm>
                  <a:off x="2588" y="0"/>
                  <a:ext cx="423" cy="748"/>
                </a:xfrm>
                <a:prstGeom prst="rect">
                  <a:avLst/>
                </a:prstGeom>
                <a:noFill/>
                <a:ln w="9525">
                  <a:noFill/>
                </a:ln>
              </p:spPr>
              <p:txBody>
                <a:bodyPr anchor="ctr" anchorCtr="0"/>
                <a:p>
                  <a:pPr algn="ctr" eaLnBrk="0" hangingPunct="0">
                    <a:buClrTx/>
                    <a:buFontTx/>
                  </a:pPr>
                  <a:r>
                    <a:rPr lang="en-US" altLang="zh-CN" dirty="0">
                      <a:latin typeface="Times New Roman" panose="02020503050405090304" pitchFamily="18" charset="0"/>
                      <a:ea typeface="宋体" pitchFamily="2" charset="-122"/>
                    </a:rPr>
                    <a:t>OV</a:t>
                  </a:r>
                  <a:endParaRPr lang="en-US" altLang="zh-CN" sz="1000" dirty="0">
                    <a:latin typeface="Times New Roman" panose="02020503050405090304" pitchFamily="18" charset="0"/>
                    <a:ea typeface="宋体" pitchFamily="2" charset="-122"/>
                  </a:endParaRPr>
                </a:p>
                <a:p>
                  <a:pPr algn="ctr" eaLnBrk="0" hangingPunct="0">
                    <a:buClrTx/>
                    <a:buFontTx/>
                  </a:pPr>
                  <a:endParaRPr lang="en-US" altLang="zh-CN" b="0" dirty="0">
                    <a:latin typeface="Times New Roman" panose="02020503050405090304" pitchFamily="18" charset="0"/>
                    <a:ea typeface="宋体" pitchFamily="2" charset="-122"/>
                  </a:endParaRPr>
                </a:p>
              </p:txBody>
            </p:sp>
            <p:sp>
              <p:nvSpPr>
                <p:cNvPr id="102423" name="Rectangle 26"/>
                <p:cNvSpPr/>
                <p:nvPr/>
              </p:nvSpPr>
              <p:spPr>
                <a:xfrm>
                  <a:off x="2545" y="0"/>
                  <a:ext cx="509" cy="748"/>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102424" name="Group 27"/>
              <p:cNvGrpSpPr/>
              <p:nvPr/>
            </p:nvGrpSpPr>
            <p:grpSpPr>
              <a:xfrm>
                <a:off x="3054" y="0"/>
                <a:ext cx="509" cy="748"/>
                <a:chOff x="3054" y="0"/>
                <a:chExt cx="509" cy="748"/>
              </a:xfrm>
            </p:grpSpPr>
            <p:sp>
              <p:nvSpPr>
                <p:cNvPr id="102425" name="Rectangle 28"/>
                <p:cNvSpPr/>
                <p:nvPr/>
              </p:nvSpPr>
              <p:spPr>
                <a:xfrm>
                  <a:off x="3097" y="0"/>
                  <a:ext cx="423" cy="748"/>
                </a:xfrm>
                <a:prstGeom prst="rect">
                  <a:avLst/>
                </a:prstGeom>
                <a:noFill/>
                <a:ln w="9525">
                  <a:noFill/>
                </a:ln>
              </p:spPr>
              <p:txBody>
                <a:bodyPr anchor="ctr" anchorCtr="0"/>
                <a:p>
                  <a:pPr algn="ctr" eaLnBrk="0" hangingPunct="0">
                    <a:buClrTx/>
                    <a:buFontTx/>
                  </a:pPr>
                  <a:r>
                    <a:rPr lang="zh-CN" altLang="en-US" dirty="0">
                      <a:latin typeface="Times New Roman" panose="02020503050405090304" pitchFamily="18" charset="0"/>
                      <a:ea typeface="宋体" pitchFamily="2" charset="-122"/>
                    </a:rPr>
                    <a:t>—</a:t>
                  </a:r>
                  <a:endParaRPr lang="zh-CN" altLang="en-US" sz="1000" dirty="0">
                    <a:latin typeface="Times New Roman" panose="02020503050405090304" pitchFamily="18" charset="0"/>
                    <a:ea typeface="宋体" pitchFamily="2" charset="-122"/>
                  </a:endParaRPr>
                </a:p>
                <a:p>
                  <a:pPr algn="ctr" eaLnBrk="0" hangingPunct="0">
                    <a:buClrTx/>
                    <a:buFontTx/>
                  </a:pPr>
                  <a:endParaRPr lang="zh-CN" altLang="en-US" b="0" dirty="0">
                    <a:latin typeface="Times New Roman" panose="02020503050405090304" pitchFamily="18" charset="0"/>
                    <a:ea typeface="宋体" pitchFamily="2" charset="-122"/>
                  </a:endParaRPr>
                </a:p>
              </p:txBody>
            </p:sp>
            <p:sp>
              <p:nvSpPr>
                <p:cNvPr id="102426" name="Rectangle 29"/>
                <p:cNvSpPr/>
                <p:nvPr/>
              </p:nvSpPr>
              <p:spPr>
                <a:xfrm>
                  <a:off x="3054" y="0"/>
                  <a:ext cx="509" cy="748"/>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102427" name="Group 30"/>
              <p:cNvGrpSpPr/>
              <p:nvPr/>
            </p:nvGrpSpPr>
            <p:grpSpPr>
              <a:xfrm>
                <a:off x="3563" y="0"/>
                <a:ext cx="509" cy="748"/>
                <a:chOff x="3563" y="0"/>
                <a:chExt cx="509" cy="748"/>
              </a:xfrm>
            </p:grpSpPr>
            <p:sp>
              <p:nvSpPr>
                <p:cNvPr id="102428" name="Rectangle 31"/>
                <p:cNvSpPr/>
                <p:nvPr/>
              </p:nvSpPr>
              <p:spPr>
                <a:xfrm>
                  <a:off x="3606" y="0"/>
                  <a:ext cx="423" cy="748"/>
                </a:xfrm>
                <a:prstGeom prst="rect">
                  <a:avLst/>
                </a:prstGeom>
                <a:noFill/>
                <a:ln w="9525">
                  <a:noFill/>
                </a:ln>
              </p:spPr>
              <p:txBody>
                <a:bodyPr anchor="ctr" anchorCtr="0"/>
                <a:p>
                  <a:pPr algn="ctr" eaLnBrk="0" hangingPunct="0">
                    <a:buClrTx/>
                    <a:buFontTx/>
                  </a:pPr>
                  <a:r>
                    <a:rPr lang="en-US" altLang="zh-CN" dirty="0">
                      <a:latin typeface="Times New Roman" panose="02020503050405090304" pitchFamily="18" charset="0"/>
                      <a:ea typeface="宋体" pitchFamily="2" charset="-122"/>
                    </a:rPr>
                    <a:t>P</a:t>
                  </a:r>
                  <a:endParaRPr lang="en-US" altLang="zh-CN" sz="1000" dirty="0">
                    <a:latin typeface="Times New Roman" panose="02020503050405090304" pitchFamily="18" charset="0"/>
                    <a:ea typeface="宋体" pitchFamily="2" charset="-122"/>
                  </a:endParaRPr>
                </a:p>
                <a:p>
                  <a:pPr algn="ctr" eaLnBrk="0" hangingPunct="0">
                    <a:buClrTx/>
                    <a:buFontTx/>
                  </a:pPr>
                  <a:endParaRPr lang="en-US" altLang="zh-CN" b="0" dirty="0">
                    <a:latin typeface="Times New Roman" panose="02020503050405090304" pitchFamily="18" charset="0"/>
                    <a:ea typeface="宋体" pitchFamily="2" charset="-122"/>
                  </a:endParaRPr>
                </a:p>
              </p:txBody>
            </p:sp>
            <p:sp>
              <p:nvSpPr>
                <p:cNvPr id="102429" name="Rectangle 32"/>
                <p:cNvSpPr/>
                <p:nvPr/>
              </p:nvSpPr>
              <p:spPr>
                <a:xfrm>
                  <a:off x="3563" y="0"/>
                  <a:ext cx="509" cy="748"/>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sp>
          <p:nvSpPr>
            <p:cNvPr id="102430" name="Rectangle 33"/>
            <p:cNvSpPr/>
            <p:nvPr/>
          </p:nvSpPr>
          <p:spPr>
            <a:xfrm>
              <a:off x="-3" y="-3"/>
              <a:ext cx="4078" cy="754"/>
            </a:xfrm>
            <a:prstGeom prst="rect">
              <a:avLst/>
            </a:prstGeom>
            <a:noFill/>
            <a:ln w="11112"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65539" name="Rectangle 3"/>
          <p:cNvSpPr>
            <a:spLocks noGrp="1"/>
          </p:cNvSpPr>
          <p:nvPr>
            <p:ph type="body" idx="4294967295"/>
          </p:nvPr>
        </p:nvSpPr>
        <p:spPr>
          <a:xfrm>
            <a:off x="179388" y="981075"/>
            <a:ext cx="8785225" cy="5427663"/>
          </a:xfrm>
        </p:spPr>
        <p:txBody>
          <a:bodyPr vert="horz" wrap="square" lIns="360000" tIns="45720" rIns="180000" bIns="45720" anchor="t" anchorCtr="0"/>
          <a:p>
            <a:pPr marL="0">
              <a:lnSpc>
                <a:spcPct val="90000"/>
              </a:lnSpc>
              <a:spcBef>
                <a:spcPct val="0"/>
              </a:spcBef>
              <a:buNone/>
            </a:pPr>
            <a:r>
              <a:rPr lang="zh-CN" altLang="en-US" dirty="0">
                <a:solidFill>
                  <a:srgbClr val="FF3300"/>
                </a:solidFill>
                <a:latin typeface="黑体" panose="02010609060101010101" pitchFamily="49" charset="-122"/>
                <a:ea typeface="黑体" panose="02010609060101010101" pitchFamily="49" charset="-122"/>
              </a:rPr>
              <a:t>  1．标志位</a:t>
            </a:r>
            <a:r>
              <a:rPr lang="zh-CN" altLang="en-US" dirty="0">
                <a:latin typeface="黑体" panose="02010609060101010101" pitchFamily="49" charset="-122"/>
                <a:ea typeface="黑体" panose="02010609060101010101" pitchFamily="49" charset="-122"/>
              </a:rPr>
              <a:t>(自动设置状态)</a:t>
            </a:r>
            <a:endParaRPr lang="en-US" altLang="zh-CN" dirty="0">
              <a:latin typeface="黑体" panose="02010609060101010101" pitchFamily="49" charset="-122"/>
              <a:ea typeface="黑体" panose="02010609060101010101" pitchFamily="49" charset="-122"/>
            </a:endParaRPr>
          </a:p>
          <a:p>
            <a:pPr marL="0">
              <a:lnSpc>
                <a:spcPct val="90000"/>
              </a:lnSpc>
              <a:spcBef>
                <a:spcPct val="0"/>
              </a:spcBef>
              <a:buNone/>
            </a:pPr>
            <a:r>
              <a:rPr lang="zh-CN" altLang="en-US" sz="2400" dirty="0">
                <a:solidFill>
                  <a:schemeClr val="accent2"/>
                </a:solidFill>
                <a:latin typeface="宋体" pitchFamily="2" charset="-122"/>
              </a:rPr>
              <a:t>    1）</a:t>
            </a:r>
            <a:r>
              <a:rPr lang="en-US" altLang="zh-CN" sz="2400" dirty="0">
                <a:solidFill>
                  <a:schemeClr val="accent2"/>
                </a:solidFill>
                <a:latin typeface="宋体" pitchFamily="2" charset="-122"/>
              </a:rPr>
              <a:t>Cy</a:t>
            </a:r>
            <a:r>
              <a:rPr lang="zh-CN" altLang="en-US" sz="2400" dirty="0">
                <a:solidFill>
                  <a:schemeClr val="accent2"/>
                </a:solidFill>
                <a:latin typeface="宋体" pitchFamily="2" charset="-122"/>
              </a:rPr>
              <a:t>：进位标志位</a:t>
            </a:r>
            <a:endParaRPr lang="zh-CN" altLang="en-US" sz="2400" dirty="0">
              <a:solidFill>
                <a:schemeClr val="accent2"/>
              </a:solidFill>
              <a:latin typeface="宋体" pitchFamily="2" charset="-122"/>
            </a:endParaRPr>
          </a:p>
          <a:p>
            <a:pPr marL="0">
              <a:lnSpc>
                <a:spcPct val="90000"/>
              </a:lnSpc>
              <a:spcBef>
                <a:spcPct val="0"/>
              </a:spcBef>
              <a:buNone/>
            </a:pPr>
            <a:r>
              <a:rPr lang="zh-CN" altLang="en-US" sz="2400" dirty="0">
                <a:latin typeface="宋体" pitchFamily="2" charset="-122"/>
              </a:rPr>
              <a:t>	   保存运算后最高位的进位/借位状态，当有进位/借位，</a:t>
            </a:r>
            <a:r>
              <a:rPr lang="en-US" altLang="zh-CN" sz="2400" dirty="0">
                <a:latin typeface="宋体" pitchFamily="2" charset="-122"/>
              </a:rPr>
              <a:t>Cy=1，</a:t>
            </a:r>
            <a:r>
              <a:rPr lang="zh-CN" altLang="en-US" sz="2400" dirty="0">
                <a:latin typeface="宋体" pitchFamily="2" charset="-122"/>
              </a:rPr>
              <a:t>否则</a:t>
            </a:r>
            <a:r>
              <a:rPr lang="en-US" altLang="zh-CN" sz="2400" dirty="0">
                <a:latin typeface="宋体" pitchFamily="2" charset="-122"/>
              </a:rPr>
              <a:t>Cy=0。</a:t>
            </a:r>
            <a:endParaRPr lang="en-US" altLang="zh-CN" sz="2400" dirty="0">
              <a:latin typeface="宋体" pitchFamily="2" charset="-122"/>
            </a:endParaRPr>
          </a:p>
          <a:p>
            <a:pPr marL="0" fontAlgn="t">
              <a:lnSpc>
                <a:spcPct val="90000"/>
              </a:lnSpc>
              <a:spcBef>
                <a:spcPct val="0"/>
              </a:spcBef>
              <a:buNone/>
            </a:pPr>
            <a:r>
              <a:rPr lang="zh-CN" altLang="en-US" sz="2400" dirty="0">
                <a:solidFill>
                  <a:schemeClr val="accent2"/>
                </a:solidFill>
                <a:latin typeface="宋体" pitchFamily="2" charset="-122"/>
              </a:rPr>
              <a:t>    2）</a:t>
            </a:r>
            <a:r>
              <a:rPr lang="en-US" altLang="zh-CN" sz="2400" dirty="0">
                <a:solidFill>
                  <a:schemeClr val="accent2"/>
                </a:solidFill>
                <a:latin typeface="宋体" pitchFamily="2" charset="-122"/>
              </a:rPr>
              <a:t>AC</a:t>
            </a:r>
            <a:r>
              <a:rPr lang="zh-CN" altLang="en-US" sz="2400" dirty="0">
                <a:solidFill>
                  <a:schemeClr val="accent2"/>
                </a:solidFill>
                <a:latin typeface="宋体" pitchFamily="2" charset="-122"/>
              </a:rPr>
              <a:t>：辅助进位标志位</a:t>
            </a:r>
            <a:endParaRPr lang="zh-CN" altLang="en-US" sz="2400" dirty="0">
              <a:solidFill>
                <a:schemeClr val="accent2"/>
              </a:solidFill>
              <a:latin typeface="宋体" pitchFamily="2" charset="-122"/>
            </a:endParaRPr>
          </a:p>
          <a:p>
            <a:pPr marL="0">
              <a:lnSpc>
                <a:spcPct val="90000"/>
              </a:lnSpc>
              <a:spcBef>
                <a:spcPct val="0"/>
              </a:spcBef>
              <a:buNone/>
            </a:pPr>
            <a:r>
              <a:rPr lang="zh-CN" altLang="en-US" sz="2400" dirty="0">
                <a:latin typeface="宋体" pitchFamily="2" charset="-122"/>
              </a:rPr>
              <a:t>	   保存低半字节的进位/借位状态，当</a:t>
            </a:r>
            <a:r>
              <a:rPr lang="en-US" altLang="zh-CN" sz="2400" dirty="0">
                <a:latin typeface="宋体" pitchFamily="2" charset="-122"/>
              </a:rPr>
              <a:t>D</a:t>
            </a:r>
            <a:r>
              <a:rPr lang="en-US" altLang="zh-CN" sz="2400" baseline="-25000" dirty="0">
                <a:latin typeface="宋体" pitchFamily="2" charset="-122"/>
              </a:rPr>
              <a:t>3</a:t>
            </a:r>
            <a:r>
              <a:rPr lang="zh-CN" altLang="en-US" sz="2400" dirty="0">
                <a:latin typeface="宋体" pitchFamily="2" charset="-122"/>
              </a:rPr>
              <a:t>产生进位/借位，</a:t>
            </a:r>
            <a:r>
              <a:rPr lang="en-US" altLang="zh-CN" sz="2400" dirty="0">
                <a:latin typeface="宋体" pitchFamily="2" charset="-122"/>
              </a:rPr>
              <a:t>AC=1，</a:t>
            </a:r>
            <a:r>
              <a:rPr lang="zh-CN" altLang="en-US" sz="2400" dirty="0">
                <a:latin typeface="宋体" pitchFamily="2" charset="-122"/>
              </a:rPr>
              <a:t>否则</a:t>
            </a:r>
            <a:r>
              <a:rPr lang="en-US" altLang="zh-CN" sz="2400" dirty="0">
                <a:latin typeface="宋体" pitchFamily="2" charset="-122"/>
              </a:rPr>
              <a:t>AC=0。</a:t>
            </a:r>
            <a:r>
              <a:rPr lang="zh-CN" altLang="en-US" sz="2400" dirty="0">
                <a:latin typeface="宋体" pitchFamily="2" charset="-122"/>
              </a:rPr>
              <a:t>用于十进制调整。</a:t>
            </a:r>
            <a:endParaRPr lang="zh-CN" altLang="en-US" sz="2400" dirty="0">
              <a:latin typeface="宋体" pitchFamily="2" charset="-122"/>
            </a:endParaRPr>
          </a:p>
          <a:p>
            <a:pPr marL="0">
              <a:lnSpc>
                <a:spcPct val="90000"/>
              </a:lnSpc>
              <a:spcBef>
                <a:spcPct val="0"/>
              </a:spcBef>
              <a:buNone/>
            </a:pPr>
            <a:r>
              <a:rPr lang="zh-CN" altLang="en-US" sz="2400" dirty="0">
                <a:solidFill>
                  <a:schemeClr val="accent2"/>
                </a:solidFill>
                <a:latin typeface="宋体" pitchFamily="2" charset="-122"/>
              </a:rPr>
              <a:t>    3）</a:t>
            </a:r>
            <a:r>
              <a:rPr lang="en-US" altLang="zh-CN" sz="2400" dirty="0">
                <a:solidFill>
                  <a:schemeClr val="accent2"/>
                </a:solidFill>
                <a:latin typeface="宋体" pitchFamily="2" charset="-122"/>
              </a:rPr>
              <a:t>OV</a:t>
            </a:r>
            <a:r>
              <a:rPr lang="zh-CN" altLang="en-US" sz="2400" dirty="0">
                <a:solidFill>
                  <a:schemeClr val="accent2"/>
                </a:solidFill>
                <a:latin typeface="宋体" pitchFamily="2" charset="-122"/>
              </a:rPr>
              <a:t>：溢出标志位</a:t>
            </a:r>
            <a:endParaRPr lang="zh-CN" altLang="en-US" sz="2400" dirty="0">
              <a:solidFill>
                <a:schemeClr val="accent2"/>
              </a:solidFill>
              <a:latin typeface="宋体" pitchFamily="2" charset="-122"/>
            </a:endParaRPr>
          </a:p>
          <a:p>
            <a:pPr marL="0">
              <a:lnSpc>
                <a:spcPct val="90000"/>
              </a:lnSpc>
              <a:spcBef>
                <a:spcPct val="0"/>
              </a:spcBef>
              <a:buNone/>
            </a:pPr>
            <a:r>
              <a:rPr lang="zh-CN" altLang="en-US" sz="2400" dirty="0">
                <a:latin typeface="宋体" pitchFamily="2" charset="-122"/>
              </a:rPr>
              <a:t>	    如果位</a:t>
            </a:r>
            <a:r>
              <a:rPr lang="en-US" altLang="zh-CN" sz="2400" dirty="0">
                <a:latin typeface="宋体" pitchFamily="2" charset="-122"/>
              </a:rPr>
              <a:t>6</a:t>
            </a:r>
            <a:r>
              <a:rPr lang="zh-CN" altLang="en-US" sz="2400" dirty="0">
                <a:latin typeface="宋体" pitchFamily="2" charset="-122"/>
              </a:rPr>
              <a:t>有进位、位</a:t>
            </a:r>
            <a:r>
              <a:rPr lang="en-US" altLang="zh-CN" sz="2400" dirty="0">
                <a:latin typeface="宋体" pitchFamily="2" charset="-122"/>
              </a:rPr>
              <a:t>7</a:t>
            </a:r>
            <a:r>
              <a:rPr lang="zh-CN" altLang="en-US" sz="2400" dirty="0">
                <a:latin typeface="宋体" pitchFamily="2" charset="-122"/>
              </a:rPr>
              <a:t>没有，或位</a:t>
            </a:r>
            <a:r>
              <a:rPr lang="en-US" altLang="zh-CN" sz="2400" dirty="0">
                <a:latin typeface="宋体" pitchFamily="2" charset="-122"/>
              </a:rPr>
              <a:t>7</a:t>
            </a:r>
            <a:r>
              <a:rPr lang="zh-CN" altLang="en-US" sz="2400" dirty="0">
                <a:latin typeface="宋体" pitchFamily="2" charset="-122"/>
              </a:rPr>
              <a:t>有进位、位</a:t>
            </a:r>
            <a:r>
              <a:rPr lang="en-US" altLang="zh-CN" sz="2400" dirty="0">
                <a:latin typeface="宋体" pitchFamily="2" charset="-122"/>
              </a:rPr>
              <a:t>6</a:t>
            </a:r>
            <a:r>
              <a:rPr lang="zh-CN" altLang="en-US" sz="2400" dirty="0">
                <a:latin typeface="宋体" pitchFamily="2" charset="-122"/>
              </a:rPr>
              <a:t>没有，则溢出标志位</a:t>
            </a:r>
            <a:r>
              <a:rPr lang="en-US" altLang="zh-CN" sz="2400" dirty="0">
                <a:latin typeface="宋体" pitchFamily="2" charset="-122"/>
              </a:rPr>
              <a:t>OV</a:t>
            </a:r>
            <a:r>
              <a:rPr lang="zh-CN" altLang="en-US" sz="2400" dirty="0">
                <a:latin typeface="宋体" pitchFamily="2" charset="-122"/>
              </a:rPr>
              <a:t>置“</a:t>
            </a:r>
            <a:r>
              <a:rPr lang="en-US" altLang="zh-CN" sz="2400" dirty="0">
                <a:latin typeface="宋体" pitchFamily="2" charset="-122"/>
              </a:rPr>
              <a:t>1”</a:t>
            </a:r>
            <a:r>
              <a:rPr lang="zh-CN" altLang="en-US" sz="2400" dirty="0">
                <a:latin typeface="宋体" pitchFamily="2" charset="-122"/>
              </a:rPr>
              <a:t>，否则清“</a:t>
            </a:r>
            <a:r>
              <a:rPr lang="en-US" altLang="zh-CN" sz="2400" dirty="0">
                <a:latin typeface="宋体" pitchFamily="2" charset="-122"/>
              </a:rPr>
              <a:t>0”OV</a:t>
            </a:r>
            <a:r>
              <a:rPr lang="zh-CN" altLang="en-US" sz="2400" dirty="0">
                <a:latin typeface="宋体" pitchFamily="2" charset="-122"/>
              </a:rPr>
              <a:t>。</a:t>
            </a:r>
            <a:endParaRPr lang="zh-CN" altLang="en-US" sz="2400" dirty="0">
              <a:latin typeface="宋体" pitchFamily="2" charset="-122"/>
            </a:endParaRPr>
          </a:p>
          <a:p>
            <a:pPr marL="0">
              <a:lnSpc>
                <a:spcPct val="90000"/>
              </a:lnSpc>
              <a:spcBef>
                <a:spcPct val="0"/>
              </a:spcBef>
              <a:buNone/>
            </a:pPr>
            <a:r>
              <a:rPr lang="zh-CN" altLang="en-US" sz="2400" dirty="0">
                <a:latin typeface="宋体" pitchFamily="2" charset="-122"/>
              </a:rPr>
              <a:t>       溢出标志位</a:t>
            </a:r>
            <a:r>
              <a:rPr lang="en-US" altLang="zh-CN" sz="2400" dirty="0">
                <a:latin typeface="宋体" pitchFamily="2" charset="-122"/>
              </a:rPr>
              <a:t>OV</a:t>
            </a:r>
            <a:r>
              <a:rPr lang="zh-CN" altLang="en-US" sz="2400" dirty="0">
                <a:latin typeface="宋体" pitchFamily="2" charset="-122"/>
              </a:rPr>
              <a:t>的状态，</a:t>
            </a:r>
            <a:r>
              <a:rPr lang="zh-CN" altLang="en-US" sz="2400" dirty="0">
                <a:solidFill>
                  <a:srgbClr val="FF3300"/>
                </a:solidFill>
                <a:latin typeface="宋体" pitchFamily="2" charset="-122"/>
              </a:rPr>
              <a:t>只有</a:t>
            </a:r>
            <a:r>
              <a:rPr lang="zh-CN" altLang="en-US" sz="2400" dirty="0">
                <a:latin typeface="宋体" pitchFamily="2" charset="-122"/>
              </a:rPr>
              <a:t>在</a:t>
            </a:r>
            <a:r>
              <a:rPr lang="zh-CN" altLang="en-US" sz="2400" dirty="0">
                <a:solidFill>
                  <a:srgbClr val="FF3300"/>
                </a:solidFill>
                <a:latin typeface="宋体" pitchFamily="2" charset="-122"/>
              </a:rPr>
              <a:t>带符号数加法</a:t>
            </a:r>
            <a:r>
              <a:rPr lang="zh-CN" altLang="en-US" sz="2400" dirty="0">
                <a:latin typeface="宋体" pitchFamily="2" charset="-122"/>
              </a:rPr>
              <a:t>运算时才有意义。当两个带符号数相加时，</a:t>
            </a:r>
            <a:r>
              <a:rPr lang="en-US" altLang="zh-CN" sz="2400" dirty="0">
                <a:solidFill>
                  <a:srgbClr val="FF3300"/>
                </a:solidFill>
                <a:latin typeface="宋体" pitchFamily="2" charset="-122"/>
              </a:rPr>
              <a:t>OV=1</a:t>
            </a:r>
            <a:r>
              <a:rPr lang="zh-CN" altLang="en-US" sz="2400" dirty="0">
                <a:latin typeface="宋体" pitchFamily="2" charset="-122"/>
              </a:rPr>
              <a:t>，表示加法运算</a:t>
            </a:r>
            <a:r>
              <a:rPr lang="zh-CN" altLang="en-US" sz="2400" dirty="0">
                <a:solidFill>
                  <a:srgbClr val="FF3300"/>
                </a:solidFill>
                <a:latin typeface="宋体" pitchFamily="2" charset="-122"/>
              </a:rPr>
              <a:t>超出</a:t>
            </a:r>
            <a:r>
              <a:rPr lang="zh-CN" altLang="en-US" sz="2400" dirty="0">
                <a:latin typeface="宋体" pitchFamily="2" charset="-122"/>
              </a:rPr>
              <a:t>了累加器</a:t>
            </a:r>
            <a:r>
              <a:rPr lang="en-US" altLang="zh-CN" sz="2400" dirty="0">
                <a:latin typeface="宋体" pitchFamily="2" charset="-122"/>
              </a:rPr>
              <a:t>A</a:t>
            </a:r>
            <a:r>
              <a:rPr lang="zh-CN" altLang="en-US" sz="2400" dirty="0">
                <a:latin typeface="宋体" pitchFamily="2" charset="-122"/>
              </a:rPr>
              <a:t>所能表示的带符号数的有效范围。 </a:t>
            </a:r>
            <a:endParaRPr lang="zh-CN" altLang="en-US" sz="2400" dirty="0">
              <a:latin typeface="宋体" pitchFamily="2" charset="-122"/>
            </a:endParaRPr>
          </a:p>
          <a:p>
            <a:pPr marL="0">
              <a:lnSpc>
                <a:spcPct val="90000"/>
              </a:lnSpc>
              <a:spcBef>
                <a:spcPct val="0"/>
              </a:spcBef>
              <a:buNone/>
            </a:pPr>
            <a:r>
              <a:rPr lang="en-US" altLang="zh-CN" sz="2400" dirty="0">
                <a:solidFill>
                  <a:schemeClr val="accent2"/>
                </a:solidFill>
                <a:latin typeface="宋体" pitchFamily="2" charset="-122"/>
              </a:rPr>
              <a:t>    4）P</a:t>
            </a:r>
            <a:r>
              <a:rPr lang="zh-CN" altLang="en-US" sz="2400" dirty="0">
                <a:solidFill>
                  <a:schemeClr val="accent2"/>
                </a:solidFill>
                <a:latin typeface="宋体" pitchFamily="2" charset="-122"/>
              </a:rPr>
              <a:t>：奇偶标志位</a:t>
            </a:r>
            <a:endParaRPr lang="zh-CN" altLang="en-US" sz="2400" dirty="0">
              <a:solidFill>
                <a:schemeClr val="accent2"/>
              </a:solidFill>
              <a:latin typeface="宋体" pitchFamily="2" charset="-122"/>
            </a:endParaRPr>
          </a:p>
          <a:p>
            <a:pPr marL="0">
              <a:lnSpc>
                <a:spcPct val="90000"/>
              </a:lnSpc>
              <a:spcBef>
                <a:spcPct val="0"/>
              </a:spcBef>
              <a:buNone/>
            </a:pPr>
            <a:r>
              <a:rPr lang="zh-CN" altLang="en-US" sz="2400" dirty="0">
                <a:latin typeface="宋体" pitchFamily="2" charset="-122"/>
              </a:rPr>
              <a:t>	   反映累加器</a:t>
            </a:r>
            <a:r>
              <a:rPr lang="en-US" altLang="zh-CN" sz="2400" dirty="0">
                <a:latin typeface="宋体" pitchFamily="2" charset="-122"/>
              </a:rPr>
              <a:t>A</a:t>
            </a:r>
            <a:r>
              <a:rPr lang="zh-CN" altLang="en-US" sz="2400" dirty="0">
                <a:latin typeface="宋体" pitchFamily="2" charset="-122"/>
              </a:rPr>
              <a:t>中数据的奇偶性。当1的个数为奇数，</a:t>
            </a:r>
            <a:r>
              <a:rPr lang="en-US" altLang="zh-CN" sz="2400" dirty="0">
                <a:latin typeface="宋体" pitchFamily="2" charset="-122"/>
              </a:rPr>
              <a:t>P=1，</a:t>
            </a:r>
            <a:r>
              <a:rPr lang="zh-CN" altLang="en-US" sz="2400" dirty="0">
                <a:latin typeface="宋体" pitchFamily="2" charset="-122"/>
              </a:rPr>
              <a:t>否则</a:t>
            </a:r>
            <a:r>
              <a:rPr lang="en-US" altLang="zh-CN" sz="2400" dirty="0">
                <a:latin typeface="宋体" pitchFamily="2" charset="-122"/>
              </a:rPr>
              <a:t>P=0。</a:t>
            </a:r>
            <a:endParaRPr lang="en-US" altLang="zh-CN" sz="2400" dirty="0">
              <a:latin typeface="宋体" pitchFamily="2" charset="-122"/>
            </a:endParaRPr>
          </a:p>
          <a:p>
            <a:pPr marL="0" algn="just">
              <a:lnSpc>
                <a:spcPct val="100000"/>
              </a:lnSpc>
              <a:spcBef>
                <a:spcPct val="0"/>
              </a:spcBef>
              <a:buNone/>
            </a:pPr>
            <a:endParaRPr lang="zh-CN" altLang="zh-CN" sz="2400" dirty="0">
              <a:solidFill>
                <a:srgbClr val="FFC000"/>
              </a:solidFill>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5539">
                                            <p:txEl>
                                              <p:charRg st="73" end="90"/>
                                            </p:txEl>
                                          </p:spTgt>
                                        </p:tgtEl>
                                        <p:attrNameLst>
                                          <p:attrName>style.visibility</p:attrName>
                                        </p:attrNameLst>
                                      </p:cBhvr>
                                      <p:to>
                                        <p:strVal val="visible"/>
                                      </p:to>
                                    </p:set>
                                    <p:animEffect transition="in" filter="blinds(horizontal)">
                                      <p:cBhvr>
                                        <p:cTn id="7" dur="500"/>
                                        <p:tgtEl>
                                          <p:spTgt spid="65539">
                                            <p:txEl>
                                              <p:charRg st="73" end="9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5539">
                                            <p:txEl>
                                              <p:charRg st="90" end="141"/>
                                            </p:txEl>
                                          </p:spTgt>
                                        </p:tgtEl>
                                        <p:attrNameLst>
                                          <p:attrName>style.visibility</p:attrName>
                                        </p:attrNameLst>
                                      </p:cBhvr>
                                      <p:to>
                                        <p:strVal val="visible"/>
                                      </p:to>
                                    </p:set>
                                    <p:animEffect transition="in" filter="blinds(horizontal)">
                                      <p:cBhvr>
                                        <p:cTn id="12" dur="500"/>
                                        <p:tgtEl>
                                          <p:spTgt spid="65539">
                                            <p:txEl>
                                              <p:charRg st="90" end="14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5539">
                                            <p:txEl>
                                              <p:charRg st="141" end="156"/>
                                            </p:txEl>
                                          </p:spTgt>
                                        </p:tgtEl>
                                        <p:attrNameLst>
                                          <p:attrName>style.visibility</p:attrName>
                                        </p:attrNameLst>
                                      </p:cBhvr>
                                      <p:to>
                                        <p:strVal val="visible"/>
                                      </p:to>
                                    </p:set>
                                    <p:animEffect transition="in" filter="blinds(horizontal)">
                                      <p:cBhvr>
                                        <p:cTn id="17" dur="500"/>
                                        <p:tgtEl>
                                          <p:spTgt spid="65539">
                                            <p:txEl>
                                              <p:charRg st="141" end="15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5539">
                                            <p:txEl>
                                              <p:charRg st="156" end="214"/>
                                            </p:txEl>
                                          </p:spTgt>
                                        </p:tgtEl>
                                        <p:attrNameLst>
                                          <p:attrName>style.visibility</p:attrName>
                                        </p:attrNameLst>
                                      </p:cBhvr>
                                      <p:to>
                                        <p:strVal val="visible"/>
                                      </p:to>
                                    </p:set>
                                    <p:animEffect transition="in" filter="blinds(horizontal)">
                                      <p:cBhvr>
                                        <p:cTn id="22" dur="500"/>
                                        <p:tgtEl>
                                          <p:spTgt spid="65539">
                                            <p:txEl>
                                              <p:charRg st="156" end="21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5539">
                                            <p:txEl>
                                              <p:charRg st="214" end="295"/>
                                            </p:txEl>
                                          </p:spTgt>
                                        </p:tgtEl>
                                        <p:attrNameLst>
                                          <p:attrName>style.visibility</p:attrName>
                                        </p:attrNameLst>
                                      </p:cBhvr>
                                      <p:to>
                                        <p:strVal val="visible"/>
                                      </p:to>
                                    </p:set>
                                    <p:animEffect transition="in" filter="blinds(horizontal)">
                                      <p:cBhvr>
                                        <p:cTn id="27" dur="500"/>
                                        <p:tgtEl>
                                          <p:spTgt spid="65539">
                                            <p:txEl>
                                              <p:charRg st="214" end="29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5539">
                                            <p:txEl>
                                              <p:charRg st="295" end="309"/>
                                            </p:txEl>
                                          </p:spTgt>
                                        </p:tgtEl>
                                        <p:attrNameLst>
                                          <p:attrName>style.visibility</p:attrName>
                                        </p:attrNameLst>
                                      </p:cBhvr>
                                      <p:to>
                                        <p:strVal val="visible"/>
                                      </p:to>
                                    </p:set>
                                    <p:animEffect transition="in" filter="blinds(horizontal)">
                                      <p:cBhvr>
                                        <p:cTn id="32" dur="500"/>
                                        <p:tgtEl>
                                          <p:spTgt spid="65539">
                                            <p:txEl>
                                              <p:charRg st="295" end="30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65539">
                                            <p:txEl>
                                              <p:charRg st="309" end="347"/>
                                            </p:txEl>
                                          </p:spTgt>
                                        </p:tgtEl>
                                        <p:attrNameLst>
                                          <p:attrName>style.visibility</p:attrName>
                                        </p:attrNameLst>
                                      </p:cBhvr>
                                      <p:to>
                                        <p:strVal val="visible"/>
                                      </p:to>
                                    </p:set>
                                    <p:animEffect transition="in" filter="blinds(horizontal)">
                                      <p:cBhvr>
                                        <p:cTn id="37" dur="500"/>
                                        <p:tgtEl>
                                          <p:spTgt spid="65539">
                                            <p:txEl>
                                              <p:charRg st="309" end="34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uiExpand="1"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67587" name="Rectangle 3"/>
          <p:cNvSpPr>
            <a:spLocks noGrp="1" noChangeArrowheads="1"/>
          </p:cNvSpPr>
          <p:nvPr>
            <p:ph type="body" idx="1"/>
          </p:nvPr>
        </p:nvSpPr>
        <p:spPr>
          <a:xfrm>
            <a:off x="500063" y="1125538"/>
            <a:ext cx="8643938" cy="5572125"/>
          </a:xfrm>
        </p:spPr>
        <p:txBody>
          <a:bodyPr vert="horz" wrap="square" lIns="91440" tIns="45720" rIns="91440" bIns="45720" numCol="1" anchor="t" anchorCtr="0" compatLnSpc="1"/>
          <a:lstStyle/>
          <a:p>
            <a:pPr marL="723900" marR="0" lvl="0" indent="-723900" algn="l" defTabSz="425450" rtl="0" eaLnBrk="0" fontAlgn="base" latinLnBrk="0" hangingPunct="0">
              <a:lnSpc>
                <a:spcPct val="130000"/>
              </a:lnSpc>
              <a:spcBef>
                <a:spcPct val="0"/>
              </a:spcBef>
              <a:spcAft>
                <a:spcPct val="0"/>
              </a:spcAft>
              <a:buClr>
                <a:schemeClr val="folHlink"/>
              </a:buClr>
              <a:buSzTx/>
              <a:buFont typeface="Wingdings" panose="05000000000000000000" pitchFamily="2" charset="2"/>
              <a:buNone/>
              <a:defRPr/>
            </a:pPr>
            <a:r>
              <a:rPr kumimoji="1" lang="zh-CN" altLang="en-US" sz="2800" b="1" i="0" u="none" strike="noStrike" kern="0" cap="none" spc="0" normalizeH="0" baseline="0" noProof="0" dirty="0" smtClean="0">
                <a:ln>
                  <a:noFill/>
                </a:ln>
                <a:solidFill>
                  <a:srgbClr val="FF0000"/>
                </a:solidFill>
                <a:effectLst/>
                <a:uLnTx/>
                <a:uFillTx/>
                <a:latin typeface="宋体" pitchFamily="2" charset="-122"/>
                <a:ea typeface="+mn-ea"/>
                <a:cs typeface="+mn-cs"/>
              </a:rPr>
              <a:t>3-</a:t>
            </a:r>
            <a:r>
              <a:rPr kumimoji="1" lang="en-US" altLang="zh-CN" sz="2800" b="1" i="0" u="none" strike="noStrike" kern="0" cap="none" spc="0" normalizeH="0" baseline="0" noProof="0" dirty="0" smtClean="0">
                <a:ln>
                  <a:noFill/>
                </a:ln>
                <a:solidFill>
                  <a:srgbClr val="FF0000"/>
                </a:solidFill>
                <a:effectLst/>
                <a:uLnTx/>
                <a:uFillTx/>
                <a:latin typeface="宋体" pitchFamily="2" charset="-122"/>
                <a:ea typeface="+mn-ea"/>
                <a:cs typeface="+mn-cs"/>
              </a:rPr>
              <a:t>4</a:t>
            </a:r>
            <a:r>
              <a:rPr kumimoji="1" lang="zh-CN" altLang="en-US" sz="2800" b="1" i="0" u="none" strike="noStrike" kern="0" cap="none" spc="0" normalizeH="0" baseline="0" noProof="0" dirty="0" smtClean="0">
                <a:ln>
                  <a:noFill/>
                </a:ln>
                <a:solidFill>
                  <a:srgbClr val="FF0000"/>
                </a:solidFill>
                <a:effectLst/>
                <a:uLnTx/>
                <a:uFillTx/>
                <a:latin typeface="宋体" pitchFamily="2" charset="-122"/>
                <a:ea typeface="+mn-ea"/>
                <a:cs typeface="+mn-cs"/>
              </a:rPr>
              <a:t>-1 加法指令</a:t>
            </a:r>
            <a:br>
              <a:rPr kumimoji="1" lang="en-US" altLang="zh-CN" sz="2800" b="1" i="0" u="none" strike="noStrike" kern="0" cap="none" spc="0" normalizeH="0" baseline="0" noProof="0" dirty="0" smtClean="0">
                <a:ln>
                  <a:noFill/>
                </a:ln>
                <a:solidFill>
                  <a:schemeClr val="accent1"/>
                </a:solidFill>
                <a:effectLst/>
                <a:uLnTx/>
                <a:uFillTx/>
                <a:latin typeface="宋体" pitchFamily="2" charset="-122"/>
                <a:ea typeface="+mn-ea"/>
                <a:cs typeface="+mn-cs"/>
              </a:rPr>
            </a:br>
            <a:r>
              <a:rPr kumimoji="1" lang="zh-CN" altLang="en-US" sz="2800" b="1" i="0" u="none" strike="noStrike" kern="0" cap="none" spc="0" normalizeH="0" baseline="0" noProof="0" dirty="0" smtClean="0">
                <a:ln>
                  <a:noFill/>
                </a:ln>
                <a:solidFill>
                  <a:schemeClr val="tx1"/>
                </a:solidFill>
                <a:effectLst/>
                <a:uLnTx/>
                <a:uFillTx/>
                <a:latin typeface="宋体" pitchFamily="2" charset="-122"/>
                <a:ea typeface="+mn-ea"/>
                <a:cs typeface="+mn-cs"/>
              </a:rPr>
              <a:t>完成片内 </a:t>
            </a:r>
            <a:r>
              <a:rPr kumimoji="1"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RAM </a:t>
            </a:r>
            <a:r>
              <a:rPr kumimoji="1" lang="zh-CN" altLang="en-US" sz="2800" b="1" i="0" u="none" strike="noStrike" kern="0" cap="none" spc="0" normalizeH="0" baseline="0" noProof="0" dirty="0" smtClean="0">
                <a:ln>
                  <a:noFill/>
                </a:ln>
                <a:solidFill>
                  <a:schemeClr val="tx1"/>
                </a:solidFill>
                <a:effectLst/>
                <a:uLnTx/>
                <a:uFillTx/>
                <a:latin typeface="宋体" pitchFamily="2" charset="-122"/>
                <a:ea typeface="+mn-ea"/>
                <a:cs typeface="+mn-cs"/>
              </a:rPr>
              <a:t>和 </a:t>
            </a:r>
            <a:r>
              <a:rPr kumimoji="1"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A </a:t>
            </a:r>
            <a:r>
              <a:rPr kumimoji="1" lang="zh-CN" altLang="en-US" sz="2800" b="1" i="0" u="none" strike="noStrike" kern="0" cap="none" spc="0" normalizeH="0" baseline="0" noProof="0" dirty="0" smtClean="0">
                <a:ln>
                  <a:noFill/>
                </a:ln>
                <a:solidFill>
                  <a:schemeClr val="tx1"/>
                </a:solidFill>
                <a:effectLst/>
                <a:uLnTx/>
                <a:uFillTx/>
                <a:latin typeface="宋体" pitchFamily="2" charset="-122"/>
                <a:ea typeface="+mn-ea"/>
                <a:cs typeface="+mn-cs"/>
              </a:rPr>
              <a:t>中数据的加法</a:t>
            </a:r>
            <a:r>
              <a:rPr kumimoji="1" lang="zh-CN" altLang="en-US" sz="2800" b="1" i="0" u="none" strike="noStrike" kern="0" cap="none" spc="0" normalizeH="0" baseline="0" noProof="0" dirty="0" smtClean="0">
                <a:ln>
                  <a:noFill/>
                </a:ln>
                <a:solidFill>
                  <a:schemeClr val="tx1"/>
                </a:solidFill>
                <a:effectLst/>
                <a:uLnTx/>
                <a:uFillTx/>
                <a:latin typeface="宋体" pitchFamily="2" charset="-122"/>
                <a:ea typeface="+mn-ea"/>
                <a:cs typeface="+mn-cs"/>
              </a:rPr>
              <a:t>运算</a:t>
            </a:r>
            <a:r>
              <a:rPr kumimoji="1" lang="zh-CN" altLang="en-US" sz="2400" b="1" i="0" u="none" strike="noStrike" kern="0" cap="none" spc="0" normalizeH="0" baseline="0" noProof="0" dirty="0" smtClean="0">
                <a:ln>
                  <a:noFill/>
                </a:ln>
                <a:solidFill>
                  <a:schemeClr val="tx1"/>
                </a:solidFill>
                <a:effectLst/>
                <a:uLnTx/>
                <a:uFillTx/>
                <a:latin typeface="宋体" pitchFamily="2" charset="-122"/>
                <a:ea typeface="+mn-ea"/>
                <a:cs typeface="+mn-cs"/>
              </a:rPr>
              <a:t>。</a:t>
            </a:r>
            <a:endParaRPr kumimoji="1" lang="zh-CN" altLang="en-US" sz="24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0" marR="0" lvl="0" indent="-342900" algn="l" defTabSz="425450" rtl="0" eaLnBrk="0" fontAlgn="base" latinLnBrk="0" hangingPunct="0">
              <a:lnSpc>
                <a:spcPct val="130000"/>
              </a:lnSpc>
              <a:spcBef>
                <a:spcPct val="0"/>
              </a:spcBef>
              <a:spcAft>
                <a:spcPct val="0"/>
              </a:spcAft>
              <a:buClr>
                <a:schemeClr val="folHlink"/>
              </a:buClr>
              <a:buSzTx/>
              <a:buFont typeface="Wingdings" panose="05000000000000000000" pitchFamily="2" charset="2"/>
              <a:buNone/>
              <a:defRPr/>
            </a:pPr>
            <a:r>
              <a:rPr kumimoji="1" lang="zh-CN" altLang="en-US" sz="2800" b="1" i="0" u="none" strike="noStrike" kern="0" cap="none" spc="0" normalizeH="0" baseline="0" noProof="0" dirty="0" smtClean="0">
                <a:ln>
                  <a:noFill/>
                </a:ln>
                <a:solidFill>
                  <a:schemeClr val="tx1"/>
                </a:solidFill>
                <a:effectLst/>
                <a:uLnTx/>
                <a:uFillTx/>
                <a:latin typeface="宋体" pitchFamily="2" charset="-122"/>
                <a:ea typeface="+mn-ea"/>
                <a:cs typeface="+mn-cs"/>
              </a:rPr>
              <a:t>  1.加法指令</a:t>
            </a:r>
            <a:endParaRPr kumimoji="1" lang="zh-CN" altLang="zh-CN" sz="28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0" marR="0" lvl="0" indent="-342900" algn="l" defTabSz="425450" rtl="0" eaLnBrk="0" fontAlgn="base" latinLnBrk="0" hangingPunct="0">
              <a:lnSpc>
                <a:spcPct val="130000"/>
              </a:lnSpc>
              <a:spcBef>
                <a:spcPct val="0"/>
              </a:spcBef>
              <a:spcAft>
                <a:spcPct val="0"/>
              </a:spcAft>
              <a:buClr>
                <a:schemeClr val="folHlink"/>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accent1"/>
                </a:solidFill>
                <a:effectLst/>
                <a:uLnTx/>
                <a:uFillTx/>
                <a:latin typeface="宋体" pitchFamily="2" charset="-122"/>
                <a:ea typeface="+mn-ea"/>
                <a:cs typeface="+mn-cs"/>
              </a:rPr>
              <a:t>  </a:t>
            </a:r>
            <a:r>
              <a:rPr kumimoji="0" lang="zh-CN" altLang="en-US" sz="2800" b="1" i="0" u="none" strike="noStrike" kern="0" cap="none" spc="0" normalizeH="0" baseline="0" noProof="0" dirty="0" smtClean="0">
                <a:ln>
                  <a:noFill/>
                </a:ln>
                <a:solidFill>
                  <a:srgbClr val="FF0000"/>
                </a:solidFill>
                <a:effectLst/>
                <a:uLnTx/>
                <a:uFillTx/>
                <a:latin typeface="宋体" pitchFamily="2" charset="-122"/>
                <a:ea typeface="+mn-ea"/>
                <a:cs typeface="+mn-cs"/>
              </a:rPr>
              <a:t>1）不带进位加法：</a:t>
            </a: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ADD  A，</a:t>
            </a:r>
            <a:r>
              <a:rPr kumimoji="0" lang="zh-CN" altLang="en-US" sz="2800" b="1" i="0" u="none" strike="noStrike" kern="0" cap="none" spc="0" normalizeH="0" baseline="0" noProof="0" dirty="0" smtClean="0">
                <a:ln>
                  <a:noFill/>
                </a:ln>
                <a:solidFill>
                  <a:schemeClr val="tx1"/>
                </a:solidFill>
                <a:effectLst/>
                <a:uLnTx/>
                <a:uFillTx/>
                <a:latin typeface="宋体" pitchFamily="2" charset="-122"/>
                <a:ea typeface="+mn-ea"/>
                <a:cs typeface="+mn-cs"/>
              </a:rPr>
              <a:t>源操作数</a:t>
            </a:r>
            <a:endParaRPr kumimoji="0" lang="zh-CN" altLang="en-US" sz="28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0" marR="0" lvl="0" indent="-342900" algn="l" defTabSz="425450" rtl="0" eaLnBrk="0" fontAlgn="base" latinLnBrk="0" hangingPunct="0">
              <a:lnSpc>
                <a:spcPct val="130000"/>
              </a:lnSpc>
              <a:spcBef>
                <a:spcPct val="0"/>
              </a:spcBef>
              <a:spcAft>
                <a:spcPct val="0"/>
              </a:spcAft>
              <a:buClr>
                <a:schemeClr val="folHlink"/>
              </a:buClr>
              <a:buSzTx/>
              <a:buFont typeface="Wingdings" panose="05000000000000000000" pitchFamily="2" charset="2"/>
              <a:buNone/>
              <a:defRPr/>
            </a:pPr>
            <a:r>
              <a:rPr kumimoji="0" lang="zh-CN"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  	</a:t>
            </a: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  ADD  </a:t>
            </a:r>
            <a:r>
              <a:rPr kumimoji="0" lang="en-US" altLang="zh-CN" sz="2800" b="1" i="0" u="none" strike="noStrike" kern="0" cap="none" spc="0" normalizeH="0" baseline="0" noProof="0" dirty="0" err="1" smtClean="0">
                <a:ln>
                  <a:noFill/>
                </a:ln>
                <a:solidFill>
                  <a:schemeClr val="tx1"/>
                </a:solidFill>
                <a:effectLst/>
                <a:uLnTx/>
                <a:uFillTx/>
                <a:latin typeface="宋体" pitchFamily="2" charset="-122"/>
                <a:ea typeface="+mn-ea"/>
                <a:cs typeface="+mn-cs"/>
              </a:rPr>
              <a:t>A，Rn</a:t>
            </a: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           ;(A)+(</a:t>
            </a:r>
            <a:r>
              <a:rPr kumimoji="0" lang="en-US" altLang="zh-CN" sz="2800" b="1" i="0" u="none" strike="noStrike" kern="0" cap="none" spc="0" normalizeH="0" baseline="0" noProof="0" dirty="0" err="1" smtClean="0">
                <a:ln>
                  <a:noFill/>
                </a:ln>
                <a:solidFill>
                  <a:schemeClr val="tx1"/>
                </a:solidFill>
                <a:effectLst/>
                <a:uLnTx/>
                <a:uFillTx/>
                <a:latin typeface="宋体" pitchFamily="2" charset="-122"/>
                <a:ea typeface="+mn-ea"/>
                <a:cs typeface="+mn-cs"/>
              </a:rPr>
              <a:t>Rn</a:t>
            </a: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a:t>
            </a:r>
            <a:r>
              <a:rPr kumimoji="0" lang="zh-CN" altLang="en-US" sz="2800" b="1" i="0" u="none" strike="noStrike" kern="0" cap="none" spc="0" normalizeH="0" baseline="0" noProof="0" dirty="0" smtClean="0">
                <a:ln>
                  <a:noFill/>
                </a:ln>
                <a:solidFill>
                  <a:schemeClr val="tx1"/>
                </a:solidFill>
                <a:effectLst/>
                <a:uLnTx/>
                <a:uFillTx/>
                <a:latin typeface="宋体" pitchFamily="2" charset="-122"/>
                <a:ea typeface="+mn-ea"/>
                <a:cs typeface="+mn-cs"/>
              </a:rPr>
              <a:t>→</a:t>
            </a: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A</a:t>
            </a:r>
            <a:endPar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0" marR="0" lvl="0" indent="-342900" algn="l" defTabSz="425450" rtl="0" eaLnBrk="0" fontAlgn="base" latinLnBrk="0" hangingPunct="0">
              <a:lnSpc>
                <a:spcPct val="130000"/>
              </a:lnSpc>
              <a:spcBef>
                <a:spcPct val="0"/>
              </a:spcBef>
              <a:spcAft>
                <a:spcPct val="0"/>
              </a:spcAft>
              <a:buClr>
                <a:schemeClr val="folHlink"/>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    ADD  </a:t>
            </a:r>
            <a:r>
              <a:rPr kumimoji="0" lang="en-US" altLang="zh-CN" sz="2800" b="1" i="0" u="none" strike="noStrike" kern="0" cap="none" spc="0" normalizeH="0" baseline="0" noProof="0" dirty="0" err="1" smtClean="0">
                <a:ln>
                  <a:noFill/>
                </a:ln>
                <a:solidFill>
                  <a:schemeClr val="tx1"/>
                </a:solidFill>
                <a:effectLst/>
                <a:uLnTx/>
                <a:uFillTx/>
                <a:latin typeface="宋体" pitchFamily="2" charset="-122"/>
                <a:ea typeface="+mn-ea"/>
                <a:cs typeface="+mn-cs"/>
              </a:rPr>
              <a:t>A，direct</a:t>
            </a: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        ;(A)+(direct)</a:t>
            </a:r>
            <a:r>
              <a:rPr kumimoji="0" lang="zh-CN" altLang="en-US" sz="2800" b="1" i="0" u="none" strike="noStrike" kern="0" cap="none" spc="0" normalizeH="0" baseline="0" noProof="0" dirty="0" smtClean="0">
                <a:ln>
                  <a:noFill/>
                </a:ln>
                <a:solidFill>
                  <a:schemeClr val="tx1"/>
                </a:solidFill>
                <a:effectLst/>
                <a:uLnTx/>
                <a:uFillTx/>
                <a:latin typeface="宋体" pitchFamily="2" charset="-122"/>
                <a:ea typeface="+mn-ea"/>
                <a:cs typeface="+mn-cs"/>
              </a:rPr>
              <a:t>→</a:t>
            </a: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A</a:t>
            </a:r>
            <a:endPar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0" marR="0" lvl="0" indent="-342900" algn="l" defTabSz="425450" rtl="0" eaLnBrk="0" fontAlgn="base" latinLnBrk="0" hangingPunct="0">
              <a:lnSpc>
                <a:spcPct val="130000"/>
              </a:lnSpc>
              <a:spcBef>
                <a:spcPct val="0"/>
              </a:spcBef>
              <a:spcAft>
                <a:spcPct val="0"/>
              </a:spcAft>
              <a:buClr>
                <a:schemeClr val="folHlink"/>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    ADD  A，@</a:t>
            </a:r>
            <a:r>
              <a:rPr kumimoji="0" lang="en-US" altLang="zh-CN" sz="2800" b="1" i="0" u="none" strike="noStrike" kern="0" cap="none" spc="0" normalizeH="0" baseline="0" noProof="0" dirty="0" err="1" smtClean="0">
                <a:ln>
                  <a:noFill/>
                </a:ln>
                <a:solidFill>
                  <a:schemeClr val="tx1"/>
                </a:solidFill>
                <a:effectLst/>
                <a:uLnTx/>
                <a:uFillTx/>
                <a:latin typeface="宋体" pitchFamily="2" charset="-122"/>
                <a:ea typeface="+mn-ea"/>
                <a:cs typeface="+mn-cs"/>
              </a:rPr>
              <a:t>Ri</a:t>
            </a: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           ;(A)+((</a:t>
            </a:r>
            <a:r>
              <a:rPr kumimoji="0" lang="en-US" altLang="zh-CN" sz="2800" b="1" i="0" u="none" strike="noStrike" kern="0" cap="none" spc="0" normalizeH="0" baseline="0" noProof="0" dirty="0" err="1" smtClean="0">
                <a:ln>
                  <a:noFill/>
                </a:ln>
                <a:solidFill>
                  <a:schemeClr val="tx1"/>
                </a:solidFill>
                <a:effectLst/>
                <a:uLnTx/>
                <a:uFillTx/>
                <a:latin typeface="宋体" pitchFamily="2" charset="-122"/>
                <a:ea typeface="+mn-ea"/>
                <a:cs typeface="+mn-cs"/>
              </a:rPr>
              <a:t>Ri</a:t>
            </a: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a:t>
            </a:r>
            <a:r>
              <a:rPr kumimoji="0" lang="zh-CN" altLang="en-US" sz="2800" b="1" i="0" u="none" strike="noStrike" kern="0" cap="none" spc="0" normalizeH="0" baseline="0" noProof="0" dirty="0" smtClean="0">
                <a:ln>
                  <a:noFill/>
                </a:ln>
                <a:solidFill>
                  <a:schemeClr val="tx1"/>
                </a:solidFill>
                <a:effectLst/>
                <a:uLnTx/>
                <a:uFillTx/>
                <a:latin typeface="宋体" pitchFamily="2" charset="-122"/>
                <a:ea typeface="+mn-ea"/>
                <a:cs typeface="+mn-cs"/>
              </a:rPr>
              <a:t>→</a:t>
            </a: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A</a:t>
            </a:r>
            <a:endPar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0" marR="0" lvl="0" indent="-342900" algn="l" defTabSz="425450" rtl="0" eaLnBrk="0" fontAlgn="base" latinLnBrk="0" hangingPunct="0">
              <a:lnSpc>
                <a:spcPct val="130000"/>
              </a:lnSpc>
              <a:spcBef>
                <a:spcPct val="0"/>
              </a:spcBef>
              <a:spcAft>
                <a:spcPct val="0"/>
              </a:spcAft>
              <a:buClr>
                <a:schemeClr val="folHlink"/>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    ADD  A，#data         ;(A)+</a:t>
            </a: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sym typeface="+mn-ea"/>
              </a:rPr>
              <a:t>data</a:t>
            </a:r>
            <a:r>
              <a:rPr kumimoji="0" lang="zh-CN" altLang="en-US" sz="2800" b="1" i="0" u="none" strike="noStrike" kern="0" cap="none" spc="0" normalizeH="0" baseline="0" noProof="0" dirty="0" smtClean="0">
                <a:ln>
                  <a:noFill/>
                </a:ln>
                <a:solidFill>
                  <a:schemeClr val="tx1"/>
                </a:solidFill>
                <a:effectLst/>
                <a:uLnTx/>
                <a:uFillTx/>
                <a:latin typeface="宋体" pitchFamily="2" charset="-122"/>
                <a:ea typeface="+mn-ea"/>
                <a:cs typeface="+mn-cs"/>
              </a:rPr>
              <a:t>→</a:t>
            </a: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A</a:t>
            </a:r>
            <a:endPar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0" marR="0" lvl="0" indent="-342900" algn="l" defTabSz="425450" rtl="0" eaLnBrk="0" fontAlgn="base" latinLnBrk="0" hangingPunct="0">
              <a:lnSpc>
                <a:spcPct val="130000"/>
              </a:lnSpc>
              <a:spcBef>
                <a:spcPct val="0"/>
              </a:spcBef>
              <a:spcAft>
                <a:spcPct val="0"/>
              </a:spcAft>
              <a:buClr>
                <a:schemeClr val="folHlink"/>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宋体" pitchFamily="2" charset="-122"/>
                <a:ea typeface="+mn-ea"/>
                <a:cs typeface="+mn-cs"/>
              </a:rPr>
              <a:t>   影响</a:t>
            </a:r>
            <a:r>
              <a:rPr kumimoji="1" lang="en-US" altLang="zh-CN" sz="2800" b="0" i="0" u="none" strike="noStrike" kern="0" cap="none" spc="0" normalizeH="0" baseline="0" noProof="0" dirty="0" smtClean="0">
                <a:ln>
                  <a:noFill/>
                </a:ln>
                <a:solidFill>
                  <a:schemeClr val="hlink"/>
                </a:solidFill>
                <a:effectLst/>
                <a:uLnTx/>
                <a:uFillTx/>
                <a:latin typeface="黑体" panose="02010609060101010101" pitchFamily="49" charset="-122"/>
                <a:ea typeface="黑体" panose="02010609060101010101" pitchFamily="49" charset="-122"/>
                <a:cs typeface="+mn-cs"/>
                <a:sym typeface="+mn-ea"/>
              </a:rPr>
              <a:t>进位Cy</a:t>
            </a:r>
            <a:r>
              <a:rPr kumimoji="1" lang="zh-CN" altLang="en-US" sz="2800" b="0" i="0" u="none" strike="noStrike" kern="0" cap="none" spc="0" normalizeH="0" baseline="0" noProof="0" dirty="0" smtClean="0">
                <a:ln>
                  <a:noFill/>
                </a:ln>
                <a:solidFill>
                  <a:schemeClr val="hlink"/>
                </a:solidFill>
                <a:effectLst/>
                <a:uLnTx/>
                <a:uFillTx/>
                <a:latin typeface="黑体" panose="02010609060101010101" pitchFamily="49" charset="-122"/>
                <a:ea typeface="黑体" panose="02010609060101010101" pitchFamily="49" charset="-122"/>
                <a:cs typeface="+mn-cs"/>
                <a:sym typeface="+mn-ea"/>
              </a:rPr>
              <a:t>、半进位</a:t>
            </a:r>
            <a:r>
              <a:rPr kumimoji="1" lang="en-US" altLang="zh-CN" sz="2800" b="0" i="0" u="none" strike="noStrike" kern="0" cap="none" spc="0" normalizeH="0" baseline="0" noProof="0" dirty="0" smtClean="0">
                <a:ln>
                  <a:noFill/>
                </a:ln>
                <a:solidFill>
                  <a:schemeClr val="hlink"/>
                </a:solidFill>
                <a:effectLst/>
                <a:uLnTx/>
                <a:uFillTx/>
                <a:latin typeface="黑体" panose="02010609060101010101" pitchFamily="49" charset="-122"/>
                <a:ea typeface="黑体" panose="02010609060101010101" pitchFamily="49" charset="-122"/>
                <a:cs typeface="+mn-cs"/>
                <a:sym typeface="+mn-ea"/>
              </a:rPr>
              <a:t>Ac</a:t>
            </a:r>
            <a:r>
              <a:rPr kumimoji="1" lang="zh-CN" altLang="en-US" sz="2800" b="0" i="0" u="none" strike="noStrike" kern="0" cap="none" spc="0" normalizeH="0" baseline="0" noProof="0" dirty="0" smtClean="0">
                <a:ln>
                  <a:noFill/>
                </a:ln>
                <a:solidFill>
                  <a:schemeClr val="hlink"/>
                </a:solidFill>
                <a:effectLst/>
                <a:uLnTx/>
                <a:uFillTx/>
                <a:latin typeface="黑体" panose="02010609060101010101" pitchFamily="49" charset="-122"/>
                <a:ea typeface="黑体" panose="02010609060101010101" pitchFamily="49" charset="-122"/>
                <a:cs typeface="+mn-cs"/>
                <a:sym typeface="+mn-ea"/>
              </a:rPr>
              <a:t>、溢出位</a:t>
            </a:r>
            <a:r>
              <a:rPr kumimoji="1" lang="en-US" altLang="zh-CN" sz="2800" b="0" i="0" u="none" strike="noStrike" kern="0" cap="none" spc="0" normalizeH="0" baseline="0" noProof="0" dirty="0" smtClean="0">
                <a:ln>
                  <a:noFill/>
                </a:ln>
                <a:solidFill>
                  <a:schemeClr val="hlink"/>
                </a:solidFill>
                <a:effectLst/>
                <a:uLnTx/>
                <a:uFillTx/>
                <a:latin typeface="黑体" panose="02010609060101010101" pitchFamily="49" charset="-122"/>
                <a:ea typeface="黑体" panose="02010609060101010101" pitchFamily="49" charset="-122"/>
                <a:cs typeface="+mn-cs"/>
                <a:sym typeface="+mn-ea"/>
              </a:rPr>
              <a:t>OV</a:t>
            </a:r>
            <a:r>
              <a:rPr kumimoji="0" lang="zh-CN" altLang="en-US" sz="2800" b="1" i="0" u="none" strike="noStrike" kern="0" cap="none" spc="0" normalizeH="0" baseline="0" noProof="0" dirty="0" err="1" smtClean="0">
                <a:ln>
                  <a:noFill/>
                </a:ln>
                <a:solidFill>
                  <a:schemeClr val="tx2"/>
                </a:solidFill>
                <a:effectLst/>
                <a:uLnTx/>
                <a:uFillTx/>
                <a:latin typeface="宋体" pitchFamily="2" charset="-122"/>
                <a:ea typeface="+mn-ea"/>
                <a:cs typeface="+mn-cs"/>
              </a:rPr>
              <a:t>、</a:t>
            </a:r>
            <a:r>
              <a:rPr kumimoji="1" lang="zh-CN" altLang="en-US" sz="2800" b="0" i="0" u="none" strike="noStrike" kern="0" cap="none" spc="0" normalizeH="0" baseline="0" noProof="0" dirty="0" smtClean="0">
                <a:ln>
                  <a:noFill/>
                </a:ln>
                <a:solidFill>
                  <a:schemeClr val="hlink"/>
                </a:solidFill>
                <a:effectLst/>
                <a:uLnTx/>
                <a:uFillTx/>
                <a:latin typeface="黑体" panose="02010609060101010101" pitchFamily="49" charset="-122"/>
                <a:ea typeface="黑体" panose="02010609060101010101" pitchFamily="49" charset="-122"/>
                <a:cs typeface="+mn-cs"/>
                <a:sym typeface="+mn-ea"/>
              </a:rPr>
              <a:t>奇偶标志</a:t>
            </a:r>
            <a:r>
              <a:rPr kumimoji="1" lang="zh-CN" altLang="en-US" sz="2800" b="0" i="0" u="none" strike="noStrike" kern="0" cap="none" spc="0" normalizeH="0" baseline="0" noProof="0" dirty="0" smtClean="0">
                <a:ln>
                  <a:noFill/>
                </a:ln>
                <a:solidFill>
                  <a:schemeClr val="hlink"/>
                </a:solidFill>
                <a:effectLst/>
                <a:uLnTx/>
                <a:uFillTx/>
                <a:latin typeface="黑体" panose="02010609060101010101" pitchFamily="49" charset="-122"/>
                <a:ea typeface="黑体" panose="02010609060101010101" pitchFamily="49" charset="-122"/>
                <a:cs typeface="+mn-cs"/>
              </a:rPr>
              <a:t>P</a:t>
            </a:r>
            <a:endParaRPr kumimoji="0" lang="en-US" altLang="zh-CN" sz="2800" b="1" i="0" u="none" strike="noStrike" kern="0" cap="none" spc="0" normalizeH="0" baseline="0" noProof="0" dirty="0" smtClean="0">
              <a:ln>
                <a:noFill/>
              </a:ln>
              <a:solidFill>
                <a:schemeClr val="tx2"/>
              </a:solidFill>
              <a:effectLst/>
              <a:uLnTx/>
              <a:uFillTx/>
              <a:latin typeface="宋体" pitchFamily="2" charset="-122"/>
              <a:ea typeface="+mn-ea"/>
              <a:cs typeface="+mn-cs"/>
            </a:endParaRPr>
          </a:p>
          <a:p>
            <a:pPr marL="0" marR="0" lvl="0" indent="-342900" algn="l" defTabSz="42545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zh-CN" sz="2800" b="1" i="0" u="none" strike="noStrike" kern="0" cap="none" spc="0" normalizeH="0" baseline="0" noProof="0" dirty="0" smtClean="0">
              <a:ln>
                <a:noFill/>
              </a:ln>
              <a:solidFill>
                <a:srgbClr val="FFC000"/>
              </a:solidFill>
              <a:effectLst/>
              <a:uLnTx/>
              <a:uFillTx/>
              <a:latin typeface="宋体" pitchFamily="2" charset="-122"/>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7587">
                                            <p:txEl>
                                              <p:charRg st="66" end="103"/>
                                            </p:txEl>
                                          </p:spTgt>
                                        </p:tgtEl>
                                        <p:attrNameLst>
                                          <p:attrName>style.visibility</p:attrName>
                                        </p:attrNameLst>
                                      </p:cBhvr>
                                      <p:to>
                                        <p:strVal val="visible"/>
                                      </p:to>
                                    </p:set>
                                    <p:anim calcmode="lin" valueType="num">
                                      <p:cBhvr additive="base">
                                        <p:cTn id="7" dur="500" fill="hold"/>
                                        <p:tgtEl>
                                          <p:spTgt spid="67587">
                                            <p:txEl>
                                              <p:charRg st="66" end="10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7587">
                                            <p:txEl>
                                              <p:charRg st="66" end="10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7587">
                                            <p:txEl>
                                              <p:charRg st="103" end="144"/>
                                            </p:txEl>
                                          </p:spTgt>
                                        </p:tgtEl>
                                        <p:attrNameLst>
                                          <p:attrName>style.visibility</p:attrName>
                                        </p:attrNameLst>
                                      </p:cBhvr>
                                      <p:to>
                                        <p:strVal val="visible"/>
                                      </p:to>
                                    </p:set>
                                    <p:anim calcmode="lin" valueType="num">
                                      <p:cBhvr additive="base">
                                        <p:cTn id="13" dur="500" fill="hold"/>
                                        <p:tgtEl>
                                          <p:spTgt spid="67587">
                                            <p:txEl>
                                              <p:charRg st="103" end="14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7587">
                                            <p:txEl>
                                              <p:charRg st="103" end="14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7587">
                                            <p:txEl>
                                              <p:charRg st="144" end="183"/>
                                            </p:txEl>
                                          </p:spTgt>
                                        </p:tgtEl>
                                        <p:attrNameLst>
                                          <p:attrName>style.visibility</p:attrName>
                                        </p:attrNameLst>
                                      </p:cBhvr>
                                      <p:to>
                                        <p:strVal val="visible"/>
                                      </p:to>
                                    </p:set>
                                    <p:anim calcmode="lin" valueType="num">
                                      <p:cBhvr additive="base">
                                        <p:cTn id="19" dur="500" fill="hold"/>
                                        <p:tgtEl>
                                          <p:spTgt spid="67587">
                                            <p:txEl>
                                              <p:charRg st="144" end="18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7587">
                                            <p:txEl>
                                              <p:charRg st="144" end="18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7587">
                                            <p:txEl>
                                              <p:charRg st="183" end="220"/>
                                            </p:txEl>
                                          </p:spTgt>
                                        </p:tgtEl>
                                        <p:attrNameLst>
                                          <p:attrName>style.visibility</p:attrName>
                                        </p:attrNameLst>
                                      </p:cBhvr>
                                      <p:to>
                                        <p:strVal val="visible"/>
                                      </p:to>
                                    </p:set>
                                    <p:anim calcmode="lin" valueType="num">
                                      <p:cBhvr additive="base">
                                        <p:cTn id="25" dur="500" fill="hold"/>
                                        <p:tgtEl>
                                          <p:spTgt spid="67587">
                                            <p:txEl>
                                              <p:charRg st="183" end="22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7587">
                                            <p:txEl>
                                              <p:charRg st="183" end="22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7587">
                                            <p:txEl>
                                              <p:charRg st="220" end="248"/>
                                            </p:txEl>
                                          </p:spTgt>
                                        </p:tgtEl>
                                        <p:attrNameLst>
                                          <p:attrName>style.visibility</p:attrName>
                                        </p:attrNameLst>
                                      </p:cBhvr>
                                      <p:to>
                                        <p:strVal val="visible"/>
                                      </p:to>
                                    </p:set>
                                    <p:anim calcmode="lin" valueType="num">
                                      <p:cBhvr additive="base">
                                        <p:cTn id="31" dur="500" fill="hold"/>
                                        <p:tgtEl>
                                          <p:spTgt spid="67587">
                                            <p:txEl>
                                              <p:charRg st="220" end="24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7587">
                                            <p:txEl>
                                              <p:charRg st="220" end="24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4" name="Rectangle 2"/>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8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4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105474" name="Rectangle 3"/>
          <p:cNvSpPr>
            <a:spLocks noGrp="1"/>
          </p:cNvSpPr>
          <p:nvPr>
            <p:ph type="body" idx="4294967295"/>
          </p:nvPr>
        </p:nvSpPr>
        <p:spPr>
          <a:xfrm>
            <a:off x="228600" y="996950"/>
            <a:ext cx="8763000" cy="503238"/>
          </a:xfrm>
        </p:spPr>
        <p:txBody>
          <a:bodyPr vert="horz" wrap="square" lIns="91440" tIns="45720" rIns="91440" bIns="45720" anchor="t" anchorCtr="0"/>
          <a:p>
            <a:pPr lvl="1" indent="4445">
              <a:lnSpc>
                <a:spcPct val="90000"/>
              </a:lnSpc>
              <a:buFont typeface="Wingdings" panose="05000000000000000000" pitchFamily="2" charset="2"/>
              <a:buChar char="Ø"/>
            </a:pPr>
            <a:r>
              <a:rPr lang="zh-CN" altLang="en-US" dirty="0">
                <a:solidFill>
                  <a:schemeClr val="accent2"/>
                </a:solidFill>
              </a:rPr>
              <a:t>加法指令</a:t>
            </a:r>
            <a:r>
              <a:rPr lang="zh-CN" altLang="en-US" dirty="0"/>
              <a:t>执行过程与</a:t>
            </a:r>
            <a:r>
              <a:rPr lang="zh-CN" altLang="en-US" dirty="0">
                <a:solidFill>
                  <a:schemeClr val="accent2"/>
                </a:solidFill>
              </a:rPr>
              <a:t>标志位</a:t>
            </a:r>
            <a:r>
              <a:rPr lang="zh-CN" altLang="en-US" dirty="0"/>
              <a:t>之间的</a:t>
            </a:r>
            <a:r>
              <a:rPr lang="zh-CN" altLang="en-US" dirty="0">
                <a:solidFill>
                  <a:schemeClr val="accent2"/>
                </a:solidFill>
              </a:rPr>
              <a:t>关系</a:t>
            </a:r>
            <a:endParaRPr lang="zh-CN" altLang="en-US" dirty="0">
              <a:solidFill>
                <a:schemeClr val="accent2"/>
              </a:solidFill>
            </a:endParaRPr>
          </a:p>
        </p:txBody>
      </p:sp>
      <p:grpSp>
        <p:nvGrpSpPr>
          <p:cNvPr id="105475" name="Group 4"/>
          <p:cNvGrpSpPr/>
          <p:nvPr/>
        </p:nvGrpSpPr>
        <p:grpSpPr>
          <a:xfrm>
            <a:off x="1663700" y="1638300"/>
            <a:ext cx="5791200" cy="2986088"/>
            <a:chOff x="1368" y="1528"/>
            <a:chExt cx="3648" cy="1881"/>
          </a:xfrm>
        </p:grpSpPr>
        <p:grpSp>
          <p:nvGrpSpPr>
            <p:cNvPr id="105476" name="Group 5"/>
            <p:cNvGrpSpPr/>
            <p:nvPr/>
          </p:nvGrpSpPr>
          <p:grpSpPr>
            <a:xfrm>
              <a:off x="2421" y="1799"/>
              <a:ext cx="733" cy="265"/>
              <a:chOff x="1549" y="2047"/>
              <a:chExt cx="733" cy="265"/>
            </a:xfrm>
          </p:grpSpPr>
          <p:sp>
            <p:nvSpPr>
              <p:cNvPr id="105477" name="Rectangle 6"/>
              <p:cNvSpPr/>
              <p:nvPr/>
            </p:nvSpPr>
            <p:spPr>
              <a:xfrm>
                <a:off x="1549" y="20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05478" name="Rectangle 7"/>
              <p:cNvSpPr/>
              <p:nvPr/>
            </p:nvSpPr>
            <p:spPr>
              <a:xfrm>
                <a:off x="1732" y="20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05479" name="Rectangle 8"/>
              <p:cNvSpPr/>
              <p:nvPr/>
            </p:nvSpPr>
            <p:spPr>
              <a:xfrm>
                <a:off x="1915" y="20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05480" name="Rectangle 9"/>
              <p:cNvSpPr/>
              <p:nvPr/>
            </p:nvSpPr>
            <p:spPr>
              <a:xfrm>
                <a:off x="2098" y="20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grpSp>
        <p:grpSp>
          <p:nvGrpSpPr>
            <p:cNvPr id="105481" name="Group 10"/>
            <p:cNvGrpSpPr/>
            <p:nvPr/>
          </p:nvGrpSpPr>
          <p:grpSpPr>
            <a:xfrm>
              <a:off x="3153" y="1799"/>
              <a:ext cx="733" cy="265"/>
              <a:chOff x="2281" y="2047"/>
              <a:chExt cx="733" cy="265"/>
            </a:xfrm>
          </p:grpSpPr>
          <p:sp>
            <p:nvSpPr>
              <p:cNvPr id="105482" name="Rectangle 11"/>
              <p:cNvSpPr/>
              <p:nvPr/>
            </p:nvSpPr>
            <p:spPr>
              <a:xfrm>
                <a:off x="2281" y="20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05483" name="Rectangle 12"/>
              <p:cNvSpPr/>
              <p:nvPr/>
            </p:nvSpPr>
            <p:spPr>
              <a:xfrm>
                <a:off x="2464" y="20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05484" name="Rectangle 13"/>
              <p:cNvSpPr/>
              <p:nvPr/>
            </p:nvSpPr>
            <p:spPr>
              <a:xfrm>
                <a:off x="2647" y="20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05485" name="Rectangle 14"/>
              <p:cNvSpPr/>
              <p:nvPr/>
            </p:nvSpPr>
            <p:spPr>
              <a:xfrm>
                <a:off x="2830" y="20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grpSp>
        <p:grpSp>
          <p:nvGrpSpPr>
            <p:cNvPr id="105486" name="Group 15"/>
            <p:cNvGrpSpPr/>
            <p:nvPr/>
          </p:nvGrpSpPr>
          <p:grpSpPr>
            <a:xfrm>
              <a:off x="2386" y="1607"/>
              <a:ext cx="1549" cy="192"/>
              <a:chOff x="1514" y="1855"/>
              <a:chExt cx="1549" cy="192"/>
            </a:xfrm>
          </p:grpSpPr>
          <p:sp>
            <p:nvSpPr>
              <p:cNvPr id="105487" name="Text Box 16"/>
              <p:cNvSpPr txBox="1"/>
              <p:nvPr/>
            </p:nvSpPr>
            <p:spPr>
              <a:xfrm>
                <a:off x="2810"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D0</a:t>
                </a:r>
                <a:endParaRPr lang="en-US" altLang="zh-CN" sz="1400" b="0" dirty="0">
                  <a:latin typeface="Times New Roman" panose="02020503050405090304" pitchFamily="18" charset="0"/>
                  <a:ea typeface="宋体" pitchFamily="2" charset="-122"/>
                </a:endParaRPr>
              </a:p>
            </p:txBody>
          </p:sp>
          <p:sp>
            <p:nvSpPr>
              <p:cNvPr id="105488" name="Text Box 17"/>
              <p:cNvSpPr txBox="1"/>
              <p:nvPr/>
            </p:nvSpPr>
            <p:spPr>
              <a:xfrm>
                <a:off x="2626"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D1</a:t>
                </a:r>
                <a:endParaRPr lang="en-US" altLang="zh-CN" sz="1400" b="0" dirty="0">
                  <a:latin typeface="Times New Roman" panose="02020503050405090304" pitchFamily="18" charset="0"/>
                  <a:ea typeface="宋体" pitchFamily="2" charset="-122"/>
                </a:endParaRPr>
              </a:p>
            </p:txBody>
          </p:sp>
          <p:sp>
            <p:nvSpPr>
              <p:cNvPr id="105489" name="Text Box 18"/>
              <p:cNvSpPr txBox="1"/>
              <p:nvPr/>
            </p:nvSpPr>
            <p:spPr>
              <a:xfrm>
                <a:off x="2434"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D2</a:t>
                </a:r>
                <a:endParaRPr lang="en-US" altLang="zh-CN" sz="1400" b="0" dirty="0">
                  <a:latin typeface="Times New Roman" panose="02020503050405090304" pitchFamily="18" charset="0"/>
                  <a:ea typeface="宋体" pitchFamily="2" charset="-122"/>
                </a:endParaRPr>
              </a:p>
            </p:txBody>
          </p:sp>
          <p:sp>
            <p:nvSpPr>
              <p:cNvPr id="105490" name="Text Box 19"/>
              <p:cNvSpPr txBox="1"/>
              <p:nvPr/>
            </p:nvSpPr>
            <p:spPr>
              <a:xfrm>
                <a:off x="2250"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D3</a:t>
                </a:r>
                <a:endParaRPr lang="en-US" altLang="zh-CN" sz="1400" b="0" dirty="0">
                  <a:latin typeface="Times New Roman" panose="02020503050405090304" pitchFamily="18" charset="0"/>
                  <a:ea typeface="宋体" pitchFamily="2" charset="-122"/>
                </a:endParaRPr>
              </a:p>
            </p:txBody>
          </p:sp>
          <p:sp>
            <p:nvSpPr>
              <p:cNvPr id="105491" name="Text Box 20"/>
              <p:cNvSpPr txBox="1"/>
              <p:nvPr/>
            </p:nvSpPr>
            <p:spPr>
              <a:xfrm>
                <a:off x="2074"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D4</a:t>
                </a:r>
                <a:endParaRPr lang="en-US" altLang="zh-CN" sz="1400" b="0" dirty="0">
                  <a:latin typeface="Times New Roman" panose="02020503050405090304" pitchFamily="18" charset="0"/>
                  <a:ea typeface="宋体" pitchFamily="2" charset="-122"/>
                </a:endParaRPr>
              </a:p>
            </p:txBody>
          </p:sp>
          <p:sp>
            <p:nvSpPr>
              <p:cNvPr id="105492" name="Text Box 21"/>
              <p:cNvSpPr txBox="1"/>
              <p:nvPr/>
            </p:nvSpPr>
            <p:spPr>
              <a:xfrm>
                <a:off x="1890"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D5</a:t>
                </a:r>
                <a:endParaRPr lang="en-US" altLang="zh-CN" sz="1400" b="0" dirty="0">
                  <a:latin typeface="Times New Roman" panose="02020503050405090304" pitchFamily="18" charset="0"/>
                  <a:ea typeface="宋体" pitchFamily="2" charset="-122"/>
                </a:endParaRPr>
              </a:p>
            </p:txBody>
          </p:sp>
          <p:sp>
            <p:nvSpPr>
              <p:cNvPr id="105493" name="Text Box 22"/>
              <p:cNvSpPr txBox="1"/>
              <p:nvPr/>
            </p:nvSpPr>
            <p:spPr>
              <a:xfrm>
                <a:off x="1698"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D6</a:t>
                </a:r>
                <a:endParaRPr lang="en-US" altLang="zh-CN" sz="1400" b="0" dirty="0">
                  <a:latin typeface="Times New Roman" panose="02020503050405090304" pitchFamily="18" charset="0"/>
                  <a:ea typeface="宋体" pitchFamily="2" charset="-122"/>
                </a:endParaRPr>
              </a:p>
            </p:txBody>
          </p:sp>
          <p:sp>
            <p:nvSpPr>
              <p:cNvPr id="105494" name="Text Box 23"/>
              <p:cNvSpPr txBox="1"/>
              <p:nvPr/>
            </p:nvSpPr>
            <p:spPr>
              <a:xfrm>
                <a:off x="1514"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D7</a:t>
                </a:r>
                <a:endParaRPr lang="en-US" altLang="zh-CN" sz="1400" b="0" dirty="0">
                  <a:latin typeface="Times New Roman" panose="02020503050405090304" pitchFamily="18" charset="0"/>
                  <a:ea typeface="宋体" pitchFamily="2" charset="-122"/>
                </a:endParaRPr>
              </a:p>
            </p:txBody>
          </p:sp>
        </p:grpSp>
        <p:sp>
          <p:nvSpPr>
            <p:cNvPr id="105495" name="Rectangle 24"/>
            <p:cNvSpPr/>
            <p:nvPr/>
          </p:nvSpPr>
          <p:spPr>
            <a:xfrm>
              <a:off x="4015" y="1807"/>
              <a:ext cx="338" cy="250"/>
            </a:xfrm>
            <a:prstGeom prst="rect">
              <a:avLst/>
            </a:prstGeom>
            <a:noFill/>
            <a:ln w="9525">
              <a:noFill/>
            </a:ln>
          </p:spPr>
          <p:txBody>
            <a:bodyPr wrap="none" anchor="t" anchorCtr="0">
              <a:spAutoFit/>
            </a:bodyPr>
            <a:p>
              <a:pPr algn="ctr">
                <a:buClrTx/>
                <a:buFontTx/>
              </a:pPr>
              <a:r>
                <a:rPr lang="en-US" altLang="zh-CN" sz="2000" b="0" dirty="0">
                  <a:latin typeface="Times New Roman" panose="02020503050405090304" pitchFamily="18" charset="0"/>
                  <a:ea typeface="黑体" panose="02010609060101010101" pitchFamily="49" charset="-122"/>
                </a:rPr>
                <a:t>(A)</a:t>
              </a:r>
              <a:endParaRPr lang="en-US" altLang="zh-CN" sz="2000" b="0" dirty="0">
                <a:latin typeface="Times New Roman" panose="02020503050405090304" pitchFamily="18" charset="0"/>
                <a:ea typeface="黑体" panose="02010609060101010101" pitchFamily="49" charset="-122"/>
              </a:endParaRPr>
            </a:p>
          </p:txBody>
        </p:sp>
        <p:grpSp>
          <p:nvGrpSpPr>
            <p:cNvPr id="105496" name="Group 25"/>
            <p:cNvGrpSpPr/>
            <p:nvPr/>
          </p:nvGrpSpPr>
          <p:grpSpPr>
            <a:xfrm>
              <a:off x="2413" y="2151"/>
              <a:ext cx="733" cy="265"/>
              <a:chOff x="1549" y="2047"/>
              <a:chExt cx="733" cy="265"/>
            </a:xfrm>
          </p:grpSpPr>
          <p:sp>
            <p:nvSpPr>
              <p:cNvPr id="105497" name="Rectangle 26"/>
              <p:cNvSpPr/>
              <p:nvPr/>
            </p:nvSpPr>
            <p:spPr>
              <a:xfrm>
                <a:off x="1549" y="20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05498" name="Rectangle 27"/>
              <p:cNvSpPr/>
              <p:nvPr/>
            </p:nvSpPr>
            <p:spPr>
              <a:xfrm>
                <a:off x="1732" y="20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05499" name="Rectangle 28"/>
              <p:cNvSpPr/>
              <p:nvPr/>
            </p:nvSpPr>
            <p:spPr>
              <a:xfrm>
                <a:off x="1915" y="20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05500" name="Rectangle 29"/>
              <p:cNvSpPr/>
              <p:nvPr/>
            </p:nvSpPr>
            <p:spPr>
              <a:xfrm>
                <a:off x="2098" y="20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grpSp>
        <p:grpSp>
          <p:nvGrpSpPr>
            <p:cNvPr id="105501" name="Group 30"/>
            <p:cNvGrpSpPr/>
            <p:nvPr/>
          </p:nvGrpSpPr>
          <p:grpSpPr>
            <a:xfrm>
              <a:off x="3145" y="2151"/>
              <a:ext cx="733" cy="265"/>
              <a:chOff x="2281" y="2047"/>
              <a:chExt cx="733" cy="265"/>
            </a:xfrm>
          </p:grpSpPr>
          <p:sp>
            <p:nvSpPr>
              <p:cNvPr id="105502" name="Rectangle 31"/>
              <p:cNvSpPr/>
              <p:nvPr/>
            </p:nvSpPr>
            <p:spPr>
              <a:xfrm>
                <a:off x="2281" y="20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05503" name="Rectangle 32"/>
              <p:cNvSpPr/>
              <p:nvPr/>
            </p:nvSpPr>
            <p:spPr>
              <a:xfrm>
                <a:off x="2464" y="20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05504" name="Rectangle 33"/>
              <p:cNvSpPr/>
              <p:nvPr/>
            </p:nvSpPr>
            <p:spPr>
              <a:xfrm>
                <a:off x="2647" y="20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05505" name="Rectangle 34"/>
              <p:cNvSpPr/>
              <p:nvPr/>
            </p:nvSpPr>
            <p:spPr>
              <a:xfrm>
                <a:off x="2830" y="20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grpSp>
        <p:sp>
          <p:nvSpPr>
            <p:cNvPr id="105506" name="Rectangle 35"/>
            <p:cNvSpPr/>
            <p:nvPr/>
          </p:nvSpPr>
          <p:spPr>
            <a:xfrm>
              <a:off x="4038" y="2147"/>
              <a:ext cx="308" cy="250"/>
            </a:xfrm>
            <a:prstGeom prst="rect">
              <a:avLst/>
            </a:prstGeom>
            <a:noFill/>
            <a:ln w="9525">
              <a:noFill/>
            </a:ln>
          </p:spPr>
          <p:txBody>
            <a:bodyPr anchor="t" anchorCtr="0">
              <a:spAutoFit/>
            </a:bodyPr>
            <a:p>
              <a:pPr algn="ctr">
                <a:buClrTx/>
                <a:buFontTx/>
              </a:pPr>
              <a:r>
                <a:rPr lang="zh-CN" altLang="en-US" sz="2000" b="0" dirty="0">
                  <a:latin typeface="Times New Roman" panose="02020503050405090304" pitchFamily="18" charset="0"/>
                  <a:ea typeface="黑体" panose="02010609060101010101" pitchFamily="49" charset="-122"/>
                </a:rPr>
                <a:t>源</a:t>
              </a:r>
              <a:endParaRPr lang="zh-CN" altLang="en-US" sz="2000" b="0" dirty="0">
                <a:latin typeface="Times New Roman" panose="02020503050405090304" pitchFamily="18" charset="0"/>
                <a:ea typeface="黑体" panose="02010609060101010101" pitchFamily="49" charset="-122"/>
              </a:endParaRPr>
            </a:p>
          </p:txBody>
        </p:sp>
        <p:sp>
          <p:nvSpPr>
            <p:cNvPr id="105507" name="Line 36"/>
            <p:cNvSpPr/>
            <p:nvPr/>
          </p:nvSpPr>
          <p:spPr>
            <a:xfrm>
              <a:off x="1368" y="2528"/>
              <a:ext cx="2968" cy="0"/>
            </a:xfrm>
            <a:prstGeom prst="line">
              <a:avLst/>
            </a:prstGeom>
            <a:ln w="9525" cap="flat" cmpd="sng">
              <a:solidFill>
                <a:schemeClr val="tx1"/>
              </a:solidFill>
              <a:prstDash val="solid"/>
              <a:round/>
              <a:headEnd type="none" w="med" len="med"/>
              <a:tailEnd type="none" w="med" len="med"/>
            </a:ln>
          </p:spPr>
        </p:sp>
        <p:grpSp>
          <p:nvGrpSpPr>
            <p:cNvPr id="105508" name="Group 37"/>
            <p:cNvGrpSpPr/>
            <p:nvPr/>
          </p:nvGrpSpPr>
          <p:grpSpPr>
            <a:xfrm>
              <a:off x="2413" y="2591"/>
              <a:ext cx="733" cy="265"/>
              <a:chOff x="2413" y="2591"/>
              <a:chExt cx="733" cy="265"/>
            </a:xfrm>
          </p:grpSpPr>
          <p:sp>
            <p:nvSpPr>
              <p:cNvPr id="105509" name="Rectangle 38"/>
              <p:cNvSpPr/>
              <p:nvPr/>
            </p:nvSpPr>
            <p:spPr>
              <a:xfrm>
                <a:off x="2413" y="2591"/>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05510" name="Rectangle 39"/>
              <p:cNvSpPr/>
              <p:nvPr/>
            </p:nvSpPr>
            <p:spPr>
              <a:xfrm>
                <a:off x="2596" y="2591"/>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05511" name="Rectangle 40"/>
              <p:cNvSpPr/>
              <p:nvPr/>
            </p:nvSpPr>
            <p:spPr>
              <a:xfrm>
                <a:off x="2779" y="2591"/>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05512" name="Rectangle 41"/>
              <p:cNvSpPr/>
              <p:nvPr/>
            </p:nvSpPr>
            <p:spPr>
              <a:xfrm>
                <a:off x="2962" y="2591"/>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grpSp>
        <p:grpSp>
          <p:nvGrpSpPr>
            <p:cNvPr id="105513" name="Group 42"/>
            <p:cNvGrpSpPr/>
            <p:nvPr/>
          </p:nvGrpSpPr>
          <p:grpSpPr>
            <a:xfrm>
              <a:off x="3145" y="2591"/>
              <a:ext cx="733" cy="265"/>
              <a:chOff x="2281" y="2047"/>
              <a:chExt cx="733" cy="265"/>
            </a:xfrm>
          </p:grpSpPr>
          <p:sp>
            <p:nvSpPr>
              <p:cNvPr id="105514" name="Rectangle 43"/>
              <p:cNvSpPr/>
              <p:nvPr/>
            </p:nvSpPr>
            <p:spPr>
              <a:xfrm>
                <a:off x="2281" y="20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05515" name="Rectangle 44"/>
              <p:cNvSpPr/>
              <p:nvPr/>
            </p:nvSpPr>
            <p:spPr>
              <a:xfrm>
                <a:off x="2464" y="20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05516" name="Rectangle 45"/>
              <p:cNvSpPr/>
              <p:nvPr/>
            </p:nvSpPr>
            <p:spPr>
              <a:xfrm>
                <a:off x="2647" y="20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05517" name="Rectangle 46"/>
              <p:cNvSpPr/>
              <p:nvPr/>
            </p:nvSpPr>
            <p:spPr>
              <a:xfrm>
                <a:off x="2830" y="20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grpSp>
        <p:sp>
          <p:nvSpPr>
            <p:cNvPr id="105518" name="Rectangle 47"/>
            <p:cNvSpPr/>
            <p:nvPr/>
          </p:nvSpPr>
          <p:spPr>
            <a:xfrm>
              <a:off x="4071" y="2639"/>
              <a:ext cx="338" cy="250"/>
            </a:xfrm>
            <a:prstGeom prst="rect">
              <a:avLst/>
            </a:prstGeom>
            <a:noFill/>
            <a:ln w="9525">
              <a:noFill/>
            </a:ln>
          </p:spPr>
          <p:txBody>
            <a:bodyPr wrap="none" anchor="t" anchorCtr="0">
              <a:spAutoFit/>
            </a:bodyPr>
            <a:p>
              <a:pPr algn="ctr">
                <a:buClrTx/>
                <a:buFontTx/>
              </a:pPr>
              <a:r>
                <a:rPr lang="en-US" altLang="zh-CN" sz="2000" b="0" dirty="0">
                  <a:latin typeface="Times New Roman" panose="02020503050405090304" pitchFamily="18" charset="0"/>
                  <a:ea typeface="黑体" panose="02010609060101010101" pitchFamily="49" charset="-122"/>
                </a:rPr>
                <a:t>(A)</a:t>
              </a:r>
              <a:endParaRPr lang="en-US" altLang="zh-CN" sz="2000" b="0" dirty="0">
                <a:latin typeface="Times New Roman" panose="02020503050405090304" pitchFamily="18" charset="0"/>
                <a:ea typeface="黑体" panose="02010609060101010101" pitchFamily="49" charset="-122"/>
              </a:endParaRPr>
            </a:p>
          </p:txBody>
        </p:sp>
        <p:sp>
          <p:nvSpPr>
            <p:cNvPr id="105519" name="Rectangle 48"/>
            <p:cNvSpPr/>
            <p:nvPr/>
          </p:nvSpPr>
          <p:spPr>
            <a:xfrm>
              <a:off x="1462" y="2224"/>
              <a:ext cx="372" cy="288"/>
            </a:xfrm>
            <a:prstGeom prst="rect">
              <a:avLst/>
            </a:prstGeom>
            <a:noFill/>
            <a:ln w="9525">
              <a:noFill/>
            </a:ln>
          </p:spPr>
          <p:txBody>
            <a:bodyPr wrap="none" anchor="t" anchorCtr="0">
              <a:spAutoFit/>
            </a:bodyPr>
            <a:p>
              <a:pPr algn="ctr">
                <a:buClrTx/>
                <a:buFontTx/>
              </a:pPr>
              <a:r>
                <a:rPr lang="zh-CN" altLang="en-US" b="0" dirty="0">
                  <a:latin typeface="Times New Roman" panose="02020503050405090304" pitchFamily="18" charset="0"/>
                  <a:ea typeface="黑体" panose="02010609060101010101" pitchFamily="49" charset="-122"/>
                </a:rPr>
                <a:t>＋</a:t>
              </a:r>
              <a:r>
                <a:rPr lang="en-US" altLang="zh-CN" b="0" dirty="0">
                  <a:latin typeface="Times New Roman" panose="02020503050405090304" pitchFamily="18" charset="0"/>
                  <a:ea typeface="黑体" panose="02010609060101010101" pitchFamily="49" charset="-122"/>
                </a:rPr>
                <a:t>)</a:t>
              </a:r>
              <a:endParaRPr lang="en-US" altLang="zh-CN" b="0" dirty="0">
                <a:latin typeface="Times New Roman" panose="02020503050405090304" pitchFamily="18" charset="0"/>
                <a:ea typeface="黑体" panose="02010609060101010101" pitchFamily="49" charset="-122"/>
              </a:endParaRPr>
            </a:p>
          </p:txBody>
        </p:sp>
        <p:sp>
          <p:nvSpPr>
            <p:cNvPr id="105520" name="Text Box 49"/>
            <p:cNvSpPr txBox="1"/>
            <p:nvPr/>
          </p:nvSpPr>
          <p:spPr>
            <a:xfrm>
              <a:off x="4580" y="2632"/>
              <a:ext cx="436" cy="250"/>
            </a:xfrm>
            <a:prstGeom prst="rect">
              <a:avLst/>
            </a:prstGeom>
            <a:noFill/>
            <a:ln w="9525">
              <a:noFill/>
            </a:ln>
          </p:spPr>
          <p:txBody>
            <a:bodyPr anchor="t" anchorCtr="0">
              <a:spAutoFit/>
            </a:bodyPr>
            <a:p>
              <a:pPr algn="ctr">
                <a:buClrTx/>
                <a:buFontTx/>
              </a:pPr>
              <a:r>
                <a:rPr lang="zh-CN" altLang="en-US" sz="2000" b="0" dirty="0">
                  <a:latin typeface="Times New Roman" panose="02020503050405090304" pitchFamily="18" charset="0"/>
                  <a:ea typeface="华文细黑" pitchFamily="2" charset="-122"/>
                </a:rPr>
                <a:t>结果</a:t>
              </a:r>
              <a:endParaRPr lang="zh-CN" altLang="en-US" sz="2000" b="0" dirty="0">
                <a:latin typeface="Times New Roman" panose="02020503050405090304" pitchFamily="18" charset="0"/>
                <a:ea typeface="华文细黑" pitchFamily="2" charset="-122"/>
              </a:endParaRPr>
            </a:p>
          </p:txBody>
        </p:sp>
        <p:sp>
          <p:nvSpPr>
            <p:cNvPr id="105521" name="AutoShape 51"/>
            <p:cNvSpPr/>
            <p:nvPr/>
          </p:nvSpPr>
          <p:spPr>
            <a:xfrm flipH="1" flipV="1">
              <a:off x="2968" y="3024"/>
              <a:ext cx="328" cy="128"/>
            </a:xfrm>
            <a:prstGeom prst="curvedUpArrow">
              <a:avLst>
                <a:gd name="adj1" fmla="val 51250"/>
                <a:gd name="adj2" fmla="val 102500"/>
                <a:gd name="adj3" fmla="val 33273"/>
              </a:avLst>
            </a:prstGeom>
            <a:solidFill>
              <a:schemeClr val="hlink"/>
            </a:solidFill>
            <a:ln w="9525" cap="flat" cmpd="sng">
              <a:solidFill>
                <a:schemeClr val="hlink"/>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05522" name="Line 52"/>
            <p:cNvSpPr/>
            <p:nvPr/>
          </p:nvSpPr>
          <p:spPr>
            <a:xfrm>
              <a:off x="3152" y="1544"/>
              <a:ext cx="0" cy="1632"/>
            </a:xfrm>
            <a:prstGeom prst="line">
              <a:avLst/>
            </a:prstGeom>
            <a:ln w="28575" cap="flat" cmpd="sng">
              <a:solidFill>
                <a:schemeClr val="tx2"/>
              </a:solidFill>
              <a:prstDash val="dash"/>
              <a:round/>
              <a:headEnd type="none" w="med" len="med"/>
              <a:tailEnd type="none" w="med" len="med"/>
            </a:ln>
          </p:spPr>
        </p:sp>
        <p:sp>
          <p:nvSpPr>
            <p:cNvPr id="105523" name="Text Box 53"/>
            <p:cNvSpPr txBox="1"/>
            <p:nvPr/>
          </p:nvSpPr>
          <p:spPr>
            <a:xfrm>
              <a:off x="2932" y="2805"/>
              <a:ext cx="436" cy="250"/>
            </a:xfrm>
            <a:prstGeom prst="rect">
              <a:avLst/>
            </a:prstGeom>
            <a:noFill/>
            <a:ln w="9525">
              <a:noFill/>
            </a:ln>
          </p:spPr>
          <p:txBody>
            <a:bodyPr wrap="none" anchor="t" anchorCtr="0">
              <a:spAutoFit/>
            </a:bodyPr>
            <a:p>
              <a:pPr algn="ctr">
                <a:buClrTx/>
                <a:buFontTx/>
              </a:pPr>
              <a:r>
                <a:rPr lang="zh-CN" altLang="en-US" sz="2000" b="0" dirty="0">
                  <a:solidFill>
                    <a:schemeClr val="hlink"/>
                  </a:solidFill>
                  <a:latin typeface="Times New Roman" panose="02020503050405090304" pitchFamily="18" charset="0"/>
                  <a:ea typeface="方正舒体" pitchFamily="2" charset="-122"/>
                </a:rPr>
                <a:t>进位</a:t>
              </a:r>
              <a:endParaRPr lang="zh-CN" altLang="en-US" sz="2000" b="0" dirty="0">
                <a:solidFill>
                  <a:schemeClr val="hlink"/>
                </a:solidFill>
                <a:latin typeface="Times New Roman" panose="02020503050405090304" pitchFamily="18" charset="0"/>
                <a:ea typeface="方正舒体" pitchFamily="2" charset="-122"/>
              </a:endParaRPr>
            </a:p>
          </p:txBody>
        </p:sp>
        <p:sp>
          <p:nvSpPr>
            <p:cNvPr id="105524" name="Rectangle 54"/>
            <p:cNvSpPr/>
            <p:nvPr/>
          </p:nvSpPr>
          <p:spPr>
            <a:xfrm>
              <a:off x="2827" y="3159"/>
              <a:ext cx="637" cy="250"/>
            </a:xfrm>
            <a:prstGeom prst="rect">
              <a:avLst/>
            </a:prstGeom>
            <a:noFill/>
            <a:ln w="9525">
              <a:noFill/>
            </a:ln>
          </p:spPr>
          <p:txBody>
            <a:bodyPr anchor="t" anchorCtr="0">
              <a:spAutoFit/>
            </a:bodyPr>
            <a:p>
              <a:pPr algn="ctr">
                <a:buClrTx/>
                <a:buFontTx/>
              </a:pPr>
              <a:r>
                <a:rPr lang="en-US" altLang="zh-CN" sz="2000" b="0" dirty="0">
                  <a:solidFill>
                    <a:schemeClr val="hlink"/>
                  </a:solidFill>
                  <a:latin typeface="Times New Roman" panose="02020503050405090304" pitchFamily="18" charset="0"/>
                  <a:ea typeface="黑体" panose="02010609060101010101" pitchFamily="49" charset="-122"/>
                </a:rPr>
                <a:t>(AC)=1</a:t>
              </a:r>
              <a:endParaRPr lang="en-US" altLang="zh-CN" sz="2000" b="0" dirty="0">
                <a:solidFill>
                  <a:schemeClr val="hlink"/>
                </a:solidFill>
                <a:latin typeface="Times New Roman" panose="02020503050405090304" pitchFamily="18" charset="0"/>
                <a:ea typeface="黑体" panose="02010609060101010101" pitchFamily="49" charset="-122"/>
              </a:endParaRPr>
            </a:p>
          </p:txBody>
        </p:sp>
        <p:sp>
          <p:nvSpPr>
            <p:cNvPr id="105525" name="AutoShape 55"/>
            <p:cNvSpPr/>
            <p:nvPr/>
          </p:nvSpPr>
          <p:spPr>
            <a:xfrm flipH="1" flipV="1">
              <a:off x="2120" y="3008"/>
              <a:ext cx="328" cy="128"/>
            </a:xfrm>
            <a:prstGeom prst="curvedUpArrow">
              <a:avLst>
                <a:gd name="adj1" fmla="val 51250"/>
                <a:gd name="adj2" fmla="val 102500"/>
                <a:gd name="adj3" fmla="val 33273"/>
              </a:avLst>
            </a:prstGeom>
            <a:solidFill>
              <a:schemeClr val="hlink"/>
            </a:solidFill>
            <a:ln w="9525" cap="flat" cmpd="sng">
              <a:solidFill>
                <a:schemeClr val="hlink"/>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05526" name="Line 56"/>
            <p:cNvSpPr/>
            <p:nvPr/>
          </p:nvSpPr>
          <p:spPr>
            <a:xfrm>
              <a:off x="2304" y="1528"/>
              <a:ext cx="0" cy="1632"/>
            </a:xfrm>
            <a:prstGeom prst="line">
              <a:avLst/>
            </a:prstGeom>
            <a:ln w="28575" cap="flat" cmpd="sng">
              <a:solidFill>
                <a:schemeClr val="tx2"/>
              </a:solidFill>
              <a:prstDash val="dash"/>
              <a:round/>
              <a:headEnd type="none" w="med" len="med"/>
              <a:tailEnd type="none" w="med" len="med"/>
            </a:ln>
          </p:spPr>
        </p:sp>
        <p:sp>
          <p:nvSpPr>
            <p:cNvPr id="105527" name="Text Box 57"/>
            <p:cNvSpPr txBox="1"/>
            <p:nvPr/>
          </p:nvSpPr>
          <p:spPr>
            <a:xfrm>
              <a:off x="2084" y="2789"/>
              <a:ext cx="436" cy="250"/>
            </a:xfrm>
            <a:prstGeom prst="rect">
              <a:avLst/>
            </a:prstGeom>
            <a:noFill/>
            <a:ln w="9525">
              <a:noFill/>
            </a:ln>
          </p:spPr>
          <p:txBody>
            <a:bodyPr wrap="none" anchor="t" anchorCtr="0">
              <a:spAutoFit/>
            </a:bodyPr>
            <a:p>
              <a:pPr algn="ctr">
                <a:buClrTx/>
                <a:buFontTx/>
              </a:pPr>
              <a:r>
                <a:rPr lang="zh-CN" altLang="en-US" sz="2000" b="0" dirty="0">
                  <a:solidFill>
                    <a:schemeClr val="hlink"/>
                  </a:solidFill>
                  <a:latin typeface="Times New Roman" panose="02020503050405090304" pitchFamily="18" charset="0"/>
                  <a:ea typeface="方正舒体" pitchFamily="2" charset="-122"/>
                </a:rPr>
                <a:t>进位</a:t>
              </a:r>
              <a:endParaRPr lang="zh-CN" altLang="en-US" sz="2000" b="0" dirty="0">
                <a:solidFill>
                  <a:schemeClr val="hlink"/>
                </a:solidFill>
                <a:latin typeface="Times New Roman" panose="02020503050405090304" pitchFamily="18" charset="0"/>
                <a:ea typeface="方正舒体" pitchFamily="2" charset="-122"/>
              </a:endParaRPr>
            </a:p>
          </p:txBody>
        </p:sp>
        <p:sp>
          <p:nvSpPr>
            <p:cNvPr id="105528" name="Rectangle 58"/>
            <p:cNvSpPr/>
            <p:nvPr/>
          </p:nvSpPr>
          <p:spPr>
            <a:xfrm>
              <a:off x="1979" y="3143"/>
              <a:ext cx="637" cy="250"/>
            </a:xfrm>
            <a:prstGeom prst="rect">
              <a:avLst/>
            </a:prstGeom>
            <a:noFill/>
            <a:ln w="9525">
              <a:noFill/>
            </a:ln>
          </p:spPr>
          <p:txBody>
            <a:bodyPr anchor="t" anchorCtr="0">
              <a:spAutoFit/>
            </a:bodyPr>
            <a:p>
              <a:pPr algn="ctr">
                <a:buClrTx/>
                <a:buFontTx/>
              </a:pPr>
              <a:r>
                <a:rPr lang="en-US" altLang="zh-CN" sz="2000" b="0" dirty="0">
                  <a:solidFill>
                    <a:schemeClr val="tx2"/>
                  </a:solidFill>
                  <a:latin typeface="Times New Roman" panose="02020503050405090304" pitchFamily="18" charset="0"/>
                  <a:ea typeface="黑体" panose="02010609060101010101" pitchFamily="49" charset="-122"/>
                </a:rPr>
                <a:t>(Cy)=1</a:t>
              </a:r>
              <a:endParaRPr lang="en-US" altLang="zh-CN" sz="2000" b="0" dirty="0">
                <a:solidFill>
                  <a:schemeClr val="tx2"/>
                </a:solidFill>
                <a:latin typeface="Times New Roman" panose="02020503050405090304" pitchFamily="18" charset="0"/>
                <a:ea typeface="黑体" panose="02010609060101010101" pitchFamily="49" charset="-122"/>
              </a:endParaRPr>
            </a:p>
          </p:txBody>
        </p:sp>
        <p:sp>
          <p:nvSpPr>
            <p:cNvPr id="105530" name="AutoShape 59"/>
            <p:cNvSpPr/>
            <p:nvPr/>
          </p:nvSpPr>
          <p:spPr>
            <a:xfrm flipH="1" flipV="1">
              <a:off x="2448" y="1749"/>
              <a:ext cx="328" cy="128"/>
            </a:xfrm>
            <a:prstGeom prst="curvedUpArrow">
              <a:avLst>
                <a:gd name="adj1" fmla="val 51250"/>
                <a:gd name="adj2" fmla="val 102500"/>
                <a:gd name="adj3" fmla="val 33277"/>
              </a:avLst>
            </a:prstGeom>
            <a:gradFill>
              <a:gsLst>
                <a:gs pos="0">
                  <a:srgbClr val="61D8DC"/>
                </a:gs>
                <a:gs pos="100000">
                  <a:srgbClr val="E840F7"/>
                </a:gs>
              </a:gsLst>
              <a:lin ang="5400000" scaled="1"/>
            </a:gradFill>
            <a:ln w="9525" cap="flat" cmpd="sng">
              <a:solidFill>
                <a:schemeClr val="tx1">
                  <a:lumMod val="75000"/>
                  <a:lumOff val="25000"/>
                </a:schemeClr>
              </a:solidFill>
              <a:prstDash val="solid"/>
              <a:miter/>
              <a:headEnd type="none" w="med" len="med"/>
              <a:tailEnd type="none" w="med" len="med"/>
            </a:ln>
          </p:spPr>
          <p:txBody>
            <a:bodyPr wrap="none" anchor="ctr" anchorCtr="0"/>
            <a:p>
              <a:pPr eaLnBrk="0" fontAlgn="base" hangingPunct="0"/>
              <a:endParaRPr lang="zh-CN" altLang="en-US" strike="noStrike" noProof="1" dirty="0">
                <a:ln>
                  <a:solidFill>
                    <a:schemeClr val="tx2">
                      <a:lumMod val="20000"/>
                      <a:lumOff val="80000"/>
                    </a:schemeClr>
                  </a:solidFill>
                </a:ln>
                <a:latin typeface="Times New Roman" panose="02020503050405090304" pitchFamily="18" charset="0"/>
                <a:ea typeface="仿宋_GB2312" pitchFamily="49" charset="-122"/>
              </a:endParaRPr>
            </a:p>
          </p:txBody>
        </p:sp>
      </p:grpSp>
      <p:sp>
        <p:nvSpPr>
          <p:cNvPr id="172093" name="Text Box 61"/>
          <p:cNvSpPr txBox="1"/>
          <p:nvPr/>
        </p:nvSpPr>
        <p:spPr>
          <a:xfrm>
            <a:off x="377825" y="4595813"/>
            <a:ext cx="8613775" cy="830262"/>
          </a:xfrm>
          <a:prstGeom prst="rect">
            <a:avLst/>
          </a:prstGeom>
          <a:noFill/>
          <a:ln w="9525">
            <a:noFill/>
          </a:ln>
        </p:spPr>
        <p:txBody>
          <a:bodyPr wrap="square" anchor="t" anchorCtr="0">
            <a:spAutoFit/>
          </a:bodyPr>
          <a:p>
            <a:pPr>
              <a:buClrTx/>
              <a:buFontTx/>
            </a:pPr>
            <a:r>
              <a:rPr lang="en-US" altLang="zh-CN" b="0" dirty="0">
                <a:solidFill>
                  <a:srgbClr val="FF0000"/>
                </a:solidFill>
                <a:latin typeface="Times New Roman" panose="02020503050405090304" pitchFamily="18" charset="0"/>
                <a:ea typeface="黑体" panose="02010609060101010101" pitchFamily="49" charset="-122"/>
              </a:rPr>
              <a:t>D6</a:t>
            </a:r>
            <a:r>
              <a:rPr lang="zh-CN" altLang="en-US" b="0" dirty="0">
                <a:solidFill>
                  <a:srgbClr val="FF0000"/>
                </a:solidFill>
                <a:latin typeface="Times New Roman" panose="02020503050405090304" pitchFamily="18" charset="0"/>
                <a:ea typeface="黑体" panose="02010609060101010101" pitchFamily="49" charset="-122"/>
              </a:rPr>
              <a:t>与</a:t>
            </a:r>
            <a:r>
              <a:rPr lang="en-US" altLang="zh-CN" b="0" dirty="0">
                <a:solidFill>
                  <a:srgbClr val="FF0000"/>
                </a:solidFill>
                <a:latin typeface="Times New Roman" panose="02020503050405090304" pitchFamily="18" charset="0"/>
                <a:ea typeface="黑体" panose="02010609060101010101" pitchFamily="49" charset="-122"/>
              </a:rPr>
              <a:t>D7</a:t>
            </a:r>
            <a:r>
              <a:rPr lang="zh-CN" altLang="en-US" b="0" dirty="0">
                <a:solidFill>
                  <a:srgbClr val="FF0000"/>
                </a:solidFill>
                <a:latin typeface="Times New Roman" panose="02020503050405090304" pitchFamily="18" charset="0"/>
                <a:ea typeface="黑体" panose="02010609060101010101" pitchFamily="49" charset="-122"/>
              </a:rPr>
              <a:t>（异或）：</a:t>
            </a:r>
            <a:r>
              <a:rPr lang="zh-CN" altLang="en-US" b="0" dirty="0">
                <a:latin typeface="Times New Roman" panose="02020503050405090304" pitchFamily="18" charset="0"/>
                <a:ea typeface="黑体" panose="02010609060101010101" pitchFamily="49" charset="-122"/>
              </a:rPr>
              <a:t>两位其中一位在运算中有进位，而另一位没有，则</a:t>
            </a:r>
            <a:r>
              <a:rPr lang="zh-CN" altLang="en-US" b="0" dirty="0">
                <a:solidFill>
                  <a:srgbClr val="FF0000"/>
                </a:solidFill>
                <a:latin typeface="Times New Roman" panose="02020503050405090304" pitchFamily="18" charset="0"/>
                <a:ea typeface="黑体" panose="02010609060101010101" pitchFamily="49" charset="-122"/>
              </a:rPr>
              <a:t>溢出标志位</a:t>
            </a:r>
            <a:r>
              <a:rPr lang="en-US" altLang="zh-CN" b="0" dirty="0">
                <a:solidFill>
                  <a:srgbClr val="FF0000"/>
                </a:solidFill>
                <a:latin typeface="Times New Roman" panose="02020503050405090304" pitchFamily="18" charset="0"/>
                <a:ea typeface="黑体" panose="02010609060101010101" pitchFamily="49" charset="-122"/>
              </a:rPr>
              <a:t>(OV)</a:t>
            </a:r>
            <a:r>
              <a:rPr lang="en-US" altLang="zh-CN" b="0" dirty="0">
                <a:latin typeface="Times New Roman" panose="02020503050405090304" pitchFamily="18" charset="0"/>
                <a:ea typeface="黑体" panose="02010609060101010101" pitchFamily="49" charset="-122"/>
              </a:rPr>
              <a:t>=1</a:t>
            </a:r>
            <a:r>
              <a:rPr lang="zh-CN" altLang="en-US" b="0" dirty="0">
                <a:latin typeface="Times New Roman" panose="02020503050405090304" pitchFamily="18" charset="0"/>
                <a:ea typeface="黑体" panose="02010609060101010101" pitchFamily="49" charset="-122"/>
              </a:rPr>
              <a:t>，否则，</a:t>
            </a:r>
            <a:r>
              <a:rPr lang="en-US" altLang="zh-CN" b="0" dirty="0">
                <a:latin typeface="Times New Roman" panose="02020503050405090304" pitchFamily="18" charset="0"/>
                <a:ea typeface="黑体" panose="02010609060101010101" pitchFamily="49" charset="-122"/>
              </a:rPr>
              <a:t>(OV)=0.</a:t>
            </a:r>
            <a:endParaRPr lang="en-US" altLang="zh-CN" b="0" dirty="0">
              <a:latin typeface="Times New Roman" panose="02020503050405090304" pitchFamily="18" charset="0"/>
              <a:ea typeface="黑体" panose="02010609060101010101" pitchFamily="49" charset="-122"/>
            </a:endParaRPr>
          </a:p>
        </p:txBody>
      </p:sp>
      <p:sp>
        <p:nvSpPr>
          <p:cNvPr id="172094" name="Text Box 62"/>
          <p:cNvSpPr txBox="1"/>
          <p:nvPr/>
        </p:nvSpPr>
        <p:spPr>
          <a:xfrm>
            <a:off x="357188" y="5499100"/>
            <a:ext cx="8553450" cy="460375"/>
          </a:xfrm>
          <a:prstGeom prst="rect">
            <a:avLst/>
          </a:prstGeom>
          <a:noFill/>
          <a:ln w="9525">
            <a:noFill/>
          </a:ln>
        </p:spPr>
        <p:txBody>
          <a:bodyPr wrap="none" anchor="t" anchorCtr="0">
            <a:spAutoFit/>
          </a:bodyPr>
          <a:p>
            <a:pPr>
              <a:buClrTx/>
              <a:buFontTx/>
            </a:pPr>
            <a:r>
              <a:rPr lang="zh-CN" altLang="en-US" b="0" dirty="0">
                <a:latin typeface="Times New Roman" panose="02020503050405090304" pitchFamily="18" charset="0"/>
                <a:ea typeface="黑体" panose="02010609060101010101" pitchFamily="49" charset="-122"/>
              </a:rPr>
              <a:t>运算结果</a:t>
            </a:r>
            <a:r>
              <a:rPr lang="en-US" altLang="zh-CN" b="0" dirty="0">
                <a:latin typeface="Times New Roman" panose="02020503050405090304" pitchFamily="18" charset="0"/>
                <a:ea typeface="黑体" panose="02010609060101010101" pitchFamily="49" charset="-122"/>
              </a:rPr>
              <a:t>(A)</a:t>
            </a:r>
            <a:r>
              <a:rPr lang="zh-CN" altLang="en-US" b="0" dirty="0">
                <a:latin typeface="Times New Roman" panose="02020503050405090304" pitchFamily="18" charset="0"/>
                <a:ea typeface="黑体" panose="02010609060101010101" pitchFamily="49" charset="-122"/>
              </a:rPr>
              <a:t>中</a:t>
            </a:r>
            <a:r>
              <a:rPr lang="en-US" altLang="zh-CN" b="0" dirty="0">
                <a:latin typeface="Times New Roman" panose="02020503050405090304" pitchFamily="18" charset="0"/>
                <a:ea typeface="黑体" panose="02010609060101010101" pitchFamily="49" charset="-122"/>
              </a:rPr>
              <a:t>1</a:t>
            </a:r>
            <a:r>
              <a:rPr lang="zh-CN" altLang="en-US" b="0" dirty="0">
                <a:latin typeface="Times New Roman" panose="02020503050405090304" pitchFamily="18" charset="0"/>
                <a:ea typeface="黑体" panose="02010609060101010101" pitchFamily="49" charset="-122"/>
              </a:rPr>
              <a:t>的个数为偶数，</a:t>
            </a:r>
            <a:r>
              <a:rPr lang="zh-CN" altLang="en-US" b="0" dirty="0">
                <a:solidFill>
                  <a:srgbClr val="FF0000"/>
                </a:solidFill>
                <a:latin typeface="Times New Roman" panose="02020503050405090304" pitchFamily="18" charset="0"/>
                <a:ea typeface="黑体" panose="02010609060101010101" pitchFamily="49" charset="-122"/>
              </a:rPr>
              <a:t>奇偶标志位</a:t>
            </a:r>
            <a:r>
              <a:rPr lang="en-US" altLang="zh-CN" b="0" dirty="0">
                <a:solidFill>
                  <a:srgbClr val="FF0000"/>
                </a:solidFill>
                <a:latin typeface="Times New Roman" panose="02020503050405090304" pitchFamily="18" charset="0"/>
                <a:ea typeface="黑体" panose="02010609060101010101" pitchFamily="49" charset="-122"/>
              </a:rPr>
              <a:t>(P)</a:t>
            </a:r>
            <a:r>
              <a:rPr lang="en-US" altLang="zh-CN" b="0" dirty="0">
                <a:latin typeface="Times New Roman" panose="02020503050405090304" pitchFamily="18" charset="0"/>
                <a:ea typeface="黑体" panose="02010609060101010101" pitchFamily="49" charset="-122"/>
              </a:rPr>
              <a:t>=0</a:t>
            </a:r>
            <a:r>
              <a:rPr lang="zh-CN" altLang="en-US" b="0" dirty="0">
                <a:latin typeface="Times New Roman" panose="02020503050405090304" pitchFamily="18" charset="0"/>
                <a:ea typeface="黑体" panose="02010609060101010101" pitchFamily="49" charset="-122"/>
              </a:rPr>
              <a:t>，否则，</a:t>
            </a:r>
            <a:r>
              <a:rPr lang="en-US" altLang="zh-CN" b="0" dirty="0">
                <a:latin typeface="Times New Roman" panose="02020503050405090304" pitchFamily="18" charset="0"/>
                <a:ea typeface="黑体" panose="02010609060101010101" pitchFamily="49" charset="-122"/>
              </a:rPr>
              <a:t>(P)=1</a:t>
            </a:r>
            <a:endParaRPr lang="en-US" altLang="zh-CN" b="0" dirty="0">
              <a:latin typeface="Times New Roman" panose="02020503050405090304" pitchFamily="18"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2093"/>
                                        </p:tgtEl>
                                        <p:attrNameLst>
                                          <p:attrName>style.visibility</p:attrName>
                                        </p:attrNameLst>
                                      </p:cBhvr>
                                      <p:to>
                                        <p:strVal val="visible"/>
                                      </p:to>
                                    </p:set>
                                    <p:anim calcmode="lin" valueType="num">
                                      <p:cBhvr additive="base">
                                        <p:cTn id="7" dur="500" fill="hold"/>
                                        <p:tgtEl>
                                          <p:spTgt spid="172093"/>
                                        </p:tgtEl>
                                        <p:attrNameLst>
                                          <p:attrName>ppt_x</p:attrName>
                                        </p:attrNameLst>
                                      </p:cBhvr>
                                      <p:tavLst>
                                        <p:tav tm="0">
                                          <p:val>
                                            <p:strVal val="0-#ppt_w/2"/>
                                          </p:val>
                                        </p:tav>
                                        <p:tav tm="100000">
                                          <p:val>
                                            <p:strVal val="#ppt_x"/>
                                          </p:val>
                                        </p:tav>
                                      </p:tavLst>
                                    </p:anim>
                                    <p:anim calcmode="lin" valueType="num">
                                      <p:cBhvr additive="base">
                                        <p:cTn id="8" dur="500" fill="hold"/>
                                        <p:tgtEl>
                                          <p:spTgt spid="17209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2094"/>
                                        </p:tgtEl>
                                        <p:attrNameLst>
                                          <p:attrName>style.visibility</p:attrName>
                                        </p:attrNameLst>
                                      </p:cBhvr>
                                      <p:to>
                                        <p:strVal val="visible"/>
                                      </p:to>
                                    </p:set>
                                    <p:anim calcmode="lin" valueType="num">
                                      <p:cBhvr additive="base">
                                        <p:cTn id="13" dur="500" fill="hold"/>
                                        <p:tgtEl>
                                          <p:spTgt spid="172094"/>
                                        </p:tgtEl>
                                        <p:attrNameLst>
                                          <p:attrName>ppt_x</p:attrName>
                                        </p:attrNameLst>
                                      </p:cBhvr>
                                      <p:tavLst>
                                        <p:tav tm="0">
                                          <p:val>
                                            <p:strVal val="0-#ppt_w/2"/>
                                          </p:val>
                                        </p:tav>
                                        <p:tav tm="100000">
                                          <p:val>
                                            <p:strVal val="#ppt_x"/>
                                          </p:val>
                                        </p:tav>
                                      </p:tavLst>
                                    </p:anim>
                                    <p:anim calcmode="lin" valueType="num">
                                      <p:cBhvr additive="base">
                                        <p:cTn id="14" dur="500" fill="hold"/>
                                        <p:tgtEl>
                                          <p:spTgt spid="17209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93" grpId="0"/>
      <p:bldP spid="172094"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106498" name="Rectangle 3"/>
          <p:cNvSpPr>
            <a:spLocks noGrp="1"/>
          </p:cNvSpPr>
          <p:nvPr>
            <p:ph type="body" idx="4294967295"/>
          </p:nvPr>
        </p:nvSpPr>
        <p:spPr>
          <a:xfrm>
            <a:off x="500063" y="1147763"/>
            <a:ext cx="8643937" cy="684212"/>
          </a:xfrm>
        </p:spPr>
        <p:txBody>
          <a:bodyPr vert="horz" wrap="square" lIns="91440" tIns="45720" rIns="91440" bIns="45720" anchor="t" anchorCtr="0"/>
          <a:p>
            <a:pPr marL="190500" indent="-190500">
              <a:lnSpc>
                <a:spcPct val="100000"/>
              </a:lnSpc>
              <a:spcBef>
                <a:spcPct val="0"/>
              </a:spcBef>
              <a:buNone/>
            </a:pPr>
            <a:r>
              <a:rPr lang="zh-CN" altLang="en-US" dirty="0">
                <a:solidFill>
                  <a:schemeClr val="folHlink"/>
                </a:solidFill>
                <a:latin typeface="宋体" pitchFamily="2" charset="-122"/>
              </a:rPr>
              <a:t>例：</a:t>
            </a:r>
            <a:r>
              <a:rPr lang="zh-CN" altLang="en-US" dirty="0">
                <a:latin typeface="宋体" pitchFamily="2" charset="-122"/>
              </a:rPr>
              <a:t>（</a:t>
            </a:r>
            <a:r>
              <a:rPr lang="en-US" altLang="zh-CN" dirty="0">
                <a:latin typeface="宋体" pitchFamily="2" charset="-122"/>
              </a:rPr>
              <a:t>A</a:t>
            </a:r>
            <a:r>
              <a:rPr lang="zh-CN" altLang="en-US" dirty="0">
                <a:latin typeface="宋体" pitchFamily="2" charset="-122"/>
              </a:rPr>
              <a:t>）</a:t>
            </a:r>
            <a:r>
              <a:rPr lang="en-US" altLang="zh-CN" dirty="0">
                <a:latin typeface="宋体" pitchFamily="2" charset="-122"/>
              </a:rPr>
              <a:t>=3BH，PSW=0，</a:t>
            </a:r>
            <a:r>
              <a:rPr lang="zh-CN" altLang="en-US" dirty="0">
                <a:latin typeface="宋体" pitchFamily="2" charset="-122"/>
              </a:rPr>
              <a:t>执行指令   </a:t>
            </a:r>
            <a:r>
              <a:rPr lang="en-US" altLang="zh-CN" dirty="0">
                <a:solidFill>
                  <a:schemeClr val="tx2"/>
                </a:solidFill>
                <a:latin typeface="宋体" pitchFamily="2" charset="-122"/>
              </a:rPr>
              <a:t>ADD  A，#3BH</a:t>
            </a:r>
            <a:endParaRPr lang="en-US" altLang="zh-CN" dirty="0">
              <a:solidFill>
                <a:schemeClr val="tx2"/>
              </a:solidFill>
              <a:latin typeface="宋体" pitchFamily="2" charset="-122"/>
            </a:endParaRPr>
          </a:p>
        </p:txBody>
      </p:sp>
      <p:sp>
        <p:nvSpPr>
          <p:cNvPr id="4" name="Text Box 22"/>
          <p:cNvSpPr txBox="1"/>
          <p:nvPr/>
        </p:nvSpPr>
        <p:spPr>
          <a:xfrm>
            <a:off x="5143500" y="3714750"/>
            <a:ext cx="2508250" cy="473075"/>
          </a:xfrm>
          <a:prstGeom prst="rect">
            <a:avLst/>
          </a:prstGeom>
          <a:solidFill>
            <a:srgbClr val="F4D8E3"/>
          </a:solidFill>
          <a:ln w="9525">
            <a:noFill/>
          </a:ln>
        </p:spPr>
        <p:txBody>
          <a:bodyPr wrap="none" tIns="0" anchor="ctr" anchorCtr="0">
            <a:spAutoFit/>
          </a:bodyPr>
          <a:p>
            <a:pPr algn="ctr">
              <a:spcBef>
                <a:spcPct val="50000"/>
              </a:spcBef>
              <a:buClrTx/>
              <a:buFontTx/>
            </a:pPr>
            <a:r>
              <a:rPr lang="zh-CN" altLang="en-US" sz="2800" dirty="0">
                <a:solidFill>
                  <a:srgbClr val="F59A21"/>
                </a:solidFill>
                <a:latin typeface="Times New Roman" panose="02020503050405090304" pitchFamily="18" charset="0"/>
                <a:ea typeface="仿宋_GB2312" pitchFamily="49" charset="-122"/>
              </a:rPr>
              <a:t>01000001= 41</a:t>
            </a:r>
            <a:r>
              <a:rPr lang="en-US" altLang="zh-CN" sz="2800" dirty="0">
                <a:solidFill>
                  <a:srgbClr val="F59A21"/>
                </a:solidFill>
                <a:latin typeface="Times New Roman" panose="02020503050405090304" pitchFamily="18" charset="0"/>
                <a:ea typeface="仿宋_GB2312" pitchFamily="49" charset="-122"/>
              </a:rPr>
              <a:t>H</a:t>
            </a:r>
            <a:endParaRPr lang="en-US" altLang="zh-CN" sz="2800" dirty="0">
              <a:solidFill>
                <a:srgbClr val="F59A21"/>
              </a:solidFill>
              <a:latin typeface="Times New Roman" panose="02020503050405090304" pitchFamily="18" charset="0"/>
              <a:ea typeface="仿宋_GB2312" pitchFamily="49" charset="-122"/>
            </a:endParaRPr>
          </a:p>
        </p:txBody>
      </p:sp>
      <p:sp>
        <p:nvSpPr>
          <p:cNvPr id="69637" name="TextBox 6"/>
          <p:cNvSpPr txBox="1"/>
          <p:nvPr/>
        </p:nvSpPr>
        <p:spPr>
          <a:xfrm>
            <a:off x="1428750" y="2027238"/>
            <a:ext cx="2857500" cy="1570037"/>
          </a:xfrm>
          <a:prstGeom prst="rect">
            <a:avLst/>
          </a:prstGeom>
          <a:noFill/>
          <a:ln w="9525">
            <a:noFill/>
          </a:ln>
        </p:spPr>
        <p:txBody>
          <a:bodyPr anchor="t" anchorCtr="0">
            <a:spAutoFit/>
          </a:bodyPr>
          <a:p>
            <a:pPr eaLnBrk="0" hangingPunct="0">
              <a:spcBef>
                <a:spcPct val="50000"/>
              </a:spcBef>
              <a:buClrTx/>
              <a:buFontTx/>
            </a:pPr>
            <a:r>
              <a:rPr lang="zh-CN" altLang="en-US" dirty="0">
                <a:latin typeface="宋体" pitchFamily="2" charset="-122"/>
                <a:ea typeface="仿宋_GB2312" pitchFamily="49" charset="-122"/>
              </a:rPr>
              <a:t>  </a:t>
            </a:r>
            <a:r>
              <a:rPr lang="zh-CN" altLang="en-US" dirty="0">
                <a:solidFill>
                  <a:schemeClr val="tx2"/>
                </a:solidFill>
                <a:latin typeface="宋体" pitchFamily="2" charset="-122"/>
                <a:ea typeface="仿宋_GB2312" pitchFamily="49" charset="-122"/>
              </a:rPr>
              <a:t>0011 1011 </a:t>
            </a:r>
            <a:endParaRPr lang="zh-CN" altLang="en-US" dirty="0">
              <a:solidFill>
                <a:schemeClr val="tx2"/>
              </a:solidFill>
              <a:latin typeface="宋体" pitchFamily="2" charset="-122"/>
              <a:ea typeface="仿宋_GB2312" pitchFamily="49" charset="-122"/>
            </a:endParaRPr>
          </a:p>
          <a:p>
            <a:pPr eaLnBrk="0" hangingPunct="0">
              <a:spcBef>
                <a:spcPct val="50000"/>
              </a:spcBef>
              <a:buClrTx/>
              <a:buFontTx/>
            </a:pPr>
            <a:r>
              <a:rPr lang="zh-CN" altLang="en-US" u="sng" dirty="0">
                <a:solidFill>
                  <a:schemeClr val="tx2"/>
                </a:solidFill>
                <a:latin typeface="宋体" pitchFamily="2" charset="-122"/>
                <a:ea typeface="仿宋_GB2312" pitchFamily="49" charset="-122"/>
              </a:rPr>
              <a:t>+ 0011 1011</a:t>
            </a:r>
            <a:r>
              <a:rPr lang="zh-CN" altLang="en-US" dirty="0">
                <a:solidFill>
                  <a:schemeClr val="tx2"/>
                </a:solidFill>
                <a:latin typeface="宋体" pitchFamily="2" charset="-122"/>
                <a:ea typeface="仿宋_GB2312" pitchFamily="49" charset="-122"/>
              </a:rPr>
              <a:t> </a:t>
            </a:r>
            <a:endParaRPr lang="zh-CN" altLang="en-US" dirty="0">
              <a:solidFill>
                <a:schemeClr val="tx2"/>
              </a:solidFill>
              <a:latin typeface="宋体" pitchFamily="2" charset="-122"/>
              <a:ea typeface="仿宋_GB2312" pitchFamily="49" charset="-122"/>
            </a:endParaRPr>
          </a:p>
          <a:p>
            <a:pPr eaLnBrk="0" hangingPunct="0">
              <a:spcBef>
                <a:spcPct val="50000"/>
              </a:spcBef>
              <a:buClrTx/>
              <a:buFontTx/>
            </a:pPr>
            <a:r>
              <a:rPr lang="zh-CN" altLang="en-US" dirty="0">
                <a:solidFill>
                  <a:schemeClr val="tx2"/>
                </a:solidFill>
                <a:latin typeface="宋体" pitchFamily="2" charset="-122"/>
                <a:ea typeface="仿宋_GB2312" pitchFamily="49" charset="-122"/>
              </a:rPr>
              <a:t>  0111 0110</a:t>
            </a:r>
            <a:endParaRPr lang="zh-CN" altLang="en-US" dirty="0">
              <a:latin typeface="Times New Roman" panose="02020503050405090304" pitchFamily="18" charset="0"/>
              <a:ea typeface="仿宋_GB2312" pitchFamily="49" charset="-122"/>
            </a:endParaRPr>
          </a:p>
        </p:txBody>
      </p:sp>
      <p:grpSp>
        <p:nvGrpSpPr>
          <p:cNvPr id="83973" name="Group 8"/>
          <p:cNvGrpSpPr/>
          <p:nvPr/>
        </p:nvGrpSpPr>
        <p:grpSpPr>
          <a:xfrm>
            <a:off x="858838" y="4849813"/>
            <a:ext cx="7121525" cy="884237"/>
            <a:chOff x="-3" y="-3"/>
            <a:chExt cx="4078" cy="754"/>
          </a:xfrm>
        </p:grpSpPr>
        <p:grpSp>
          <p:nvGrpSpPr>
            <p:cNvPr id="106502" name="Group 9"/>
            <p:cNvGrpSpPr/>
            <p:nvPr/>
          </p:nvGrpSpPr>
          <p:grpSpPr>
            <a:xfrm>
              <a:off x="0" y="0"/>
              <a:ext cx="4072" cy="748"/>
              <a:chOff x="0" y="0"/>
              <a:chExt cx="4072" cy="748"/>
            </a:xfrm>
          </p:grpSpPr>
          <p:grpSp>
            <p:nvGrpSpPr>
              <p:cNvPr id="106503" name="Group 10"/>
              <p:cNvGrpSpPr/>
              <p:nvPr/>
            </p:nvGrpSpPr>
            <p:grpSpPr>
              <a:xfrm>
                <a:off x="0" y="0"/>
                <a:ext cx="509" cy="748"/>
                <a:chOff x="0" y="0"/>
                <a:chExt cx="509" cy="748"/>
              </a:xfrm>
            </p:grpSpPr>
            <p:sp>
              <p:nvSpPr>
                <p:cNvPr id="106504" name="Rectangle 11"/>
                <p:cNvSpPr/>
                <p:nvPr/>
              </p:nvSpPr>
              <p:spPr>
                <a:xfrm>
                  <a:off x="43" y="0"/>
                  <a:ext cx="423" cy="748"/>
                </a:xfrm>
                <a:prstGeom prst="rect">
                  <a:avLst/>
                </a:prstGeom>
                <a:noFill/>
                <a:ln w="9525">
                  <a:noFill/>
                </a:ln>
              </p:spPr>
              <p:txBody>
                <a:bodyPr anchor="ctr" anchorCtr="0"/>
                <a:p>
                  <a:pPr algn="ctr" eaLnBrk="0" hangingPunct="0">
                    <a:buClrTx/>
                    <a:buFontTx/>
                  </a:pPr>
                  <a:r>
                    <a:rPr lang="en-US" altLang="zh-CN" dirty="0">
                      <a:latin typeface="Times New Roman" panose="02020503050405090304" pitchFamily="18" charset="0"/>
                      <a:ea typeface="宋体" pitchFamily="2" charset="-122"/>
                    </a:rPr>
                    <a:t>Cy</a:t>
                  </a:r>
                  <a:endParaRPr lang="en-US" altLang="zh-CN" sz="1000" dirty="0">
                    <a:latin typeface="Times New Roman" panose="02020503050405090304" pitchFamily="18" charset="0"/>
                    <a:ea typeface="宋体" pitchFamily="2" charset="-122"/>
                  </a:endParaRPr>
                </a:p>
                <a:p>
                  <a:pPr algn="ctr" eaLnBrk="0" hangingPunct="0">
                    <a:buClrTx/>
                    <a:buFontTx/>
                  </a:pPr>
                  <a:endParaRPr lang="en-US" altLang="zh-CN" b="0" dirty="0">
                    <a:latin typeface="Times New Roman" panose="02020503050405090304" pitchFamily="18" charset="0"/>
                    <a:ea typeface="宋体" pitchFamily="2" charset="-122"/>
                  </a:endParaRPr>
                </a:p>
              </p:txBody>
            </p:sp>
            <p:sp>
              <p:nvSpPr>
                <p:cNvPr id="106505" name="Rectangle 12"/>
                <p:cNvSpPr/>
                <p:nvPr/>
              </p:nvSpPr>
              <p:spPr>
                <a:xfrm>
                  <a:off x="0" y="0"/>
                  <a:ext cx="509" cy="748"/>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106506" name="Group 13"/>
              <p:cNvGrpSpPr/>
              <p:nvPr/>
            </p:nvGrpSpPr>
            <p:grpSpPr>
              <a:xfrm>
                <a:off x="509" y="0"/>
                <a:ext cx="509" cy="748"/>
                <a:chOff x="509" y="0"/>
                <a:chExt cx="509" cy="748"/>
              </a:xfrm>
            </p:grpSpPr>
            <p:sp>
              <p:nvSpPr>
                <p:cNvPr id="106507" name="Rectangle 14"/>
                <p:cNvSpPr/>
                <p:nvPr/>
              </p:nvSpPr>
              <p:spPr>
                <a:xfrm>
                  <a:off x="552" y="0"/>
                  <a:ext cx="423" cy="748"/>
                </a:xfrm>
                <a:prstGeom prst="rect">
                  <a:avLst/>
                </a:prstGeom>
                <a:noFill/>
                <a:ln w="9525">
                  <a:noFill/>
                </a:ln>
              </p:spPr>
              <p:txBody>
                <a:bodyPr anchor="ctr" anchorCtr="0"/>
                <a:p>
                  <a:pPr algn="ctr" eaLnBrk="0" hangingPunct="0">
                    <a:buClrTx/>
                    <a:buFontTx/>
                  </a:pPr>
                  <a:r>
                    <a:rPr lang="en-US" altLang="zh-CN" dirty="0">
                      <a:latin typeface="Times New Roman" panose="02020503050405090304" pitchFamily="18" charset="0"/>
                      <a:ea typeface="宋体" pitchFamily="2" charset="-122"/>
                    </a:rPr>
                    <a:t>AC</a:t>
                  </a:r>
                  <a:endParaRPr lang="en-US" altLang="zh-CN" sz="1000" dirty="0">
                    <a:latin typeface="Times New Roman" panose="02020503050405090304" pitchFamily="18" charset="0"/>
                    <a:ea typeface="宋体" pitchFamily="2" charset="-122"/>
                  </a:endParaRPr>
                </a:p>
                <a:p>
                  <a:pPr algn="ctr" eaLnBrk="0" hangingPunct="0">
                    <a:buClrTx/>
                    <a:buFontTx/>
                  </a:pPr>
                  <a:endParaRPr lang="en-US" altLang="zh-CN" b="0" dirty="0">
                    <a:latin typeface="Times New Roman" panose="02020503050405090304" pitchFamily="18" charset="0"/>
                    <a:ea typeface="宋体" pitchFamily="2" charset="-122"/>
                  </a:endParaRPr>
                </a:p>
              </p:txBody>
            </p:sp>
            <p:sp>
              <p:nvSpPr>
                <p:cNvPr id="106508" name="Rectangle 15"/>
                <p:cNvSpPr/>
                <p:nvPr/>
              </p:nvSpPr>
              <p:spPr>
                <a:xfrm>
                  <a:off x="509" y="0"/>
                  <a:ext cx="509" cy="748"/>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106509" name="Group 16"/>
              <p:cNvGrpSpPr/>
              <p:nvPr/>
            </p:nvGrpSpPr>
            <p:grpSpPr>
              <a:xfrm>
                <a:off x="1018" y="0"/>
                <a:ext cx="509" cy="748"/>
                <a:chOff x="1018" y="0"/>
                <a:chExt cx="509" cy="748"/>
              </a:xfrm>
            </p:grpSpPr>
            <p:sp>
              <p:nvSpPr>
                <p:cNvPr id="106510" name="Rectangle 17"/>
                <p:cNvSpPr/>
                <p:nvPr/>
              </p:nvSpPr>
              <p:spPr>
                <a:xfrm>
                  <a:off x="1061" y="0"/>
                  <a:ext cx="423" cy="748"/>
                </a:xfrm>
                <a:prstGeom prst="rect">
                  <a:avLst/>
                </a:prstGeom>
                <a:noFill/>
                <a:ln w="9525">
                  <a:noFill/>
                </a:ln>
              </p:spPr>
              <p:txBody>
                <a:bodyPr bIns="0" anchor="ctr" anchorCtr="0"/>
                <a:p>
                  <a:pPr algn="ctr" eaLnBrk="0" hangingPunct="0">
                    <a:buClrTx/>
                    <a:buFontTx/>
                  </a:pPr>
                  <a:r>
                    <a:rPr lang="en-US" altLang="zh-CN" dirty="0">
                      <a:latin typeface="Times New Roman" panose="02020503050405090304" pitchFamily="18" charset="0"/>
                      <a:ea typeface="宋体" pitchFamily="2" charset="-122"/>
                    </a:rPr>
                    <a:t>F0</a:t>
                  </a:r>
                  <a:endParaRPr lang="en-US" altLang="zh-CN" sz="2600" dirty="0">
                    <a:latin typeface="Times New Roman" panose="02020503050405090304" pitchFamily="18" charset="0"/>
                    <a:ea typeface="宋体" pitchFamily="2" charset="-122"/>
                  </a:endParaRPr>
                </a:p>
                <a:p>
                  <a:pPr algn="ctr" eaLnBrk="0" hangingPunct="0">
                    <a:buClrTx/>
                    <a:buFontTx/>
                  </a:pPr>
                  <a:endParaRPr lang="en-US" altLang="zh-CN" b="0" dirty="0">
                    <a:latin typeface="Times New Roman" panose="02020503050405090304" pitchFamily="18" charset="0"/>
                    <a:ea typeface="宋体" pitchFamily="2" charset="-122"/>
                  </a:endParaRPr>
                </a:p>
              </p:txBody>
            </p:sp>
            <p:sp>
              <p:nvSpPr>
                <p:cNvPr id="106511" name="Rectangle 18"/>
                <p:cNvSpPr/>
                <p:nvPr/>
              </p:nvSpPr>
              <p:spPr>
                <a:xfrm>
                  <a:off x="1018" y="0"/>
                  <a:ext cx="509" cy="748"/>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106512" name="Group 19"/>
              <p:cNvGrpSpPr/>
              <p:nvPr/>
            </p:nvGrpSpPr>
            <p:grpSpPr>
              <a:xfrm>
                <a:off x="1527" y="0"/>
                <a:ext cx="509" cy="748"/>
                <a:chOff x="1527" y="0"/>
                <a:chExt cx="509" cy="748"/>
              </a:xfrm>
            </p:grpSpPr>
            <p:sp>
              <p:nvSpPr>
                <p:cNvPr id="106513" name="Rectangle 20"/>
                <p:cNvSpPr/>
                <p:nvPr/>
              </p:nvSpPr>
              <p:spPr>
                <a:xfrm>
                  <a:off x="1570" y="0"/>
                  <a:ext cx="423" cy="748"/>
                </a:xfrm>
                <a:prstGeom prst="rect">
                  <a:avLst/>
                </a:prstGeom>
                <a:noFill/>
                <a:ln w="9525">
                  <a:noFill/>
                </a:ln>
              </p:spPr>
              <p:txBody>
                <a:bodyPr anchor="ctr" anchorCtr="0"/>
                <a:p>
                  <a:pPr algn="ctr" eaLnBrk="0" hangingPunct="0">
                    <a:buClrTx/>
                    <a:buFontTx/>
                  </a:pPr>
                  <a:r>
                    <a:rPr lang="en-US" altLang="zh-CN" dirty="0">
                      <a:latin typeface="Times New Roman" panose="02020503050405090304" pitchFamily="18" charset="0"/>
                      <a:ea typeface="宋体" pitchFamily="2" charset="-122"/>
                    </a:rPr>
                    <a:t>RS1</a:t>
                  </a:r>
                  <a:endParaRPr lang="en-US" altLang="zh-CN" sz="1000" dirty="0">
                    <a:latin typeface="Times New Roman" panose="02020503050405090304" pitchFamily="18" charset="0"/>
                    <a:ea typeface="宋体" pitchFamily="2" charset="-122"/>
                  </a:endParaRPr>
                </a:p>
                <a:p>
                  <a:pPr algn="ctr" eaLnBrk="0" hangingPunct="0">
                    <a:buClrTx/>
                    <a:buFontTx/>
                  </a:pPr>
                  <a:endParaRPr lang="en-US" altLang="zh-CN" b="0" dirty="0">
                    <a:latin typeface="Times New Roman" panose="02020503050405090304" pitchFamily="18" charset="0"/>
                    <a:ea typeface="宋体" pitchFamily="2" charset="-122"/>
                  </a:endParaRPr>
                </a:p>
              </p:txBody>
            </p:sp>
            <p:sp>
              <p:nvSpPr>
                <p:cNvPr id="106514" name="Rectangle 21"/>
                <p:cNvSpPr/>
                <p:nvPr/>
              </p:nvSpPr>
              <p:spPr>
                <a:xfrm>
                  <a:off x="1527" y="0"/>
                  <a:ext cx="509" cy="748"/>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106515" name="Group 22"/>
              <p:cNvGrpSpPr/>
              <p:nvPr/>
            </p:nvGrpSpPr>
            <p:grpSpPr>
              <a:xfrm>
                <a:off x="2036" y="0"/>
                <a:ext cx="509" cy="748"/>
                <a:chOff x="2036" y="0"/>
                <a:chExt cx="509" cy="748"/>
              </a:xfrm>
            </p:grpSpPr>
            <p:sp>
              <p:nvSpPr>
                <p:cNvPr id="106516" name="Rectangle 23"/>
                <p:cNvSpPr/>
                <p:nvPr/>
              </p:nvSpPr>
              <p:spPr>
                <a:xfrm>
                  <a:off x="2079" y="0"/>
                  <a:ext cx="423" cy="748"/>
                </a:xfrm>
                <a:prstGeom prst="rect">
                  <a:avLst/>
                </a:prstGeom>
                <a:noFill/>
                <a:ln w="9525">
                  <a:noFill/>
                </a:ln>
              </p:spPr>
              <p:txBody>
                <a:bodyPr anchor="ctr" anchorCtr="0"/>
                <a:p>
                  <a:pPr algn="ctr" eaLnBrk="0" hangingPunct="0">
                    <a:buClrTx/>
                    <a:buFontTx/>
                  </a:pPr>
                  <a:r>
                    <a:rPr lang="en-US" altLang="zh-CN" dirty="0">
                      <a:latin typeface="Times New Roman" panose="02020503050405090304" pitchFamily="18" charset="0"/>
                      <a:ea typeface="宋体" pitchFamily="2" charset="-122"/>
                    </a:rPr>
                    <a:t>RS0</a:t>
                  </a:r>
                  <a:endParaRPr lang="en-US" altLang="zh-CN" sz="1000" dirty="0">
                    <a:latin typeface="Times New Roman" panose="02020503050405090304" pitchFamily="18" charset="0"/>
                    <a:ea typeface="宋体" pitchFamily="2" charset="-122"/>
                  </a:endParaRPr>
                </a:p>
                <a:p>
                  <a:pPr algn="ctr" eaLnBrk="0" hangingPunct="0">
                    <a:buClrTx/>
                    <a:buFontTx/>
                  </a:pPr>
                  <a:endParaRPr lang="en-US" altLang="zh-CN" b="0" dirty="0">
                    <a:latin typeface="Times New Roman" panose="02020503050405090304" pitchFamily="18" charset="0"/>
                    <a:ea typeface="宋体" pitchFamily="2" charset="-122"/>
                  </a:endParaRPr>
                </a:p>
              </p:txBody>
            </p:sp>
            <p:sp>
              <p:nvSpPr>
                <p:cNvPr id="106517" name="Rectangle 24"/>
                <p:cNvSpPr/>
                <p:nvPr/>
              </p:nvSpPr>
              <p:spPr>
                <a:xfrm>
                  <a:off x="2036" y="0"/>
                  <a:ext cx="509" cy="748"/>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106518" name="Group 25"/>
              <p:cNvGrpSpPr/>
              <p:nvPr/>
            </p:nvGrpSpPr>
            <p:grpSpPr>
              <a:xfrm>
                <a:off x="2545" y="0"/>
                <a:ext cx="509" cy="748"/>
                <a:chOff x="2545" y="0"/>
                <a:chExt cx="509" cy="748"/>
              </a:xfrm>
            </p:grpSpPr>
            <p:sp>
              <p:nvSpPr>
                <p:cNvPr id="106519" name="Rectangle 26"/>
                <p:cNvSpPr/>
                <p:nvPr/>
              </p:nvSpPr>
              <p:spPr>
                <a:xfrm>
                  <a:off x="2588" y="0"/>
                  <a:ext cx="423" cy="748"/>
                </a:xfrm>
                <a:prstGeom prst="rect">
                  <a:avLst/>
                </a:prstGeom>
                <a:noFill/>
                <a:ln w="9525">
                  <a:noFill/>
                </a:ln>
              </p:spPr>
              <p:txBody>
                <a:bodyPr anchor="ctr" anchorCtr="0"/>
                <a:p>
                  <a:pPr algn="ctr" eaLnBrk="0" hangingPunct="0">
                    <a:buClrTx/>
                    <a:buFontTx/>
                  </a:pPr>
                  <a:r>
                    <a:rPr lang="en-US" altLang="zh-CN" dirty="0">
                      <a:latin typeface="Times New Roman" panose="02020503050405090304" pitchFamily="18" charset="0"/>
                      <a:ea typeface="宋体" pitchFamily="2" charset="-122"/>
                    </a:rPr>
                    <a:t>OV</a:t>
                  </a:r>
                  <a:endParaRPr lang="en-US" altLang="zh-CN" sz="1000" dirty="0">
                    <a:latin typeface="Times New Roman" panose="02020503050405090304" pitchFamily="18" charset="0"/>
                    <a:ea typeface="宋体" pitchFamily="2" charset="-122"/>
                  </a:endParaRPr>
                </a:p>
                <a:p>
                  <a:pPr algn="ctr" eaLnBrk="0" hangingPunct="0">
                    <a:buClrTx/>
                    <a:buFontTx/>
                  </a:pPr>
                  <a:endParaRPr lang="en-US" altLang="zh-CN" b="0" dirty="0">
                    <a:latin typeface="Times New Roman" panose="02020503050405090304" pitchFamily="18" charset="0"/>
                    <a:ea typeface="宋体" pitchFamily="2" charset="-122"/>
                  </a:endParaRPr>
                </a:p>
              </p:txBody>
            </p:sp>
            <p:sp>
              <p:nvSpPr>
                <p:cNvPr id="106520" name="Rectangle 27"/>
                <p:cNvSpPr/>
                <p:nvPr/>
              </p:nvSpPr>
              <p:spPr>
                <a:xfrm>
                  <a:off x="2545" y="0"/>
                  <a:ext cx="509" cy="748"/>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106521" name="Group 28"/>
              <p:cNvGrpSpPr/>
              <p:nvPr/>
            </p:nvGrpSpPr>
            <p:grpSpPr>
              <a:xfrm>
                <a:off x="3054" y="0"/>
                <a:ext cx="509" cy="748"/>
                <a:chOff x="3054" y="0"/>
                <a:chExt cx="509" cy="748"/>
              </a:xfrm>
            </p:grpSpPr>
            <p:sp>
              <p:nvSpPr>
                <p:cNvPr id="106522" name="Rectangle 29"/>
                <p:cNvSpPr/>
                <p:nvPr/>
              </p:nvSpPr>
              <p:spPr>
                <a:xfrm>
                  <a:off x="3097" y="0"/>
                  <a:ext cx="423" cy="748"/>
                </a:xfrm>
                <a:prstGeom prst="rect">
                  <a:avLst/>
                </a:prstGeom>
                <a:noFill/>
                <a:ln w="9525">
                  <a:noFill/>
                </a:ln>
              </p:spPr>
              <p:txBody>
                <a:bodyPr anchor="ctr" anchorCtr="0"/>
                <a:p>
                  <a:pPr algn="ctr" eaLnBrk="0" hangingPunct="0">
                    <a:buClrTx/>
                    <a:buFontTx/>
                  </a:pPr>
                  <a:r>
                    <a:rPr lang="zh-CN" altLang="en-US" dirty="0">
                      <a:latin typeface="Times New Roman" panose="02020503050405090304" pitchFamily="18" charset="0"/>
                      <a:ea typeface="宋体" pitchFamily="2" charset="-122"/>
                    </a:rPr>
                    <a:t>—</a:t>
                  </a:r>
                  <a:endParaRPr lang="zh-CN" altLang="en-US" sz="1000" dirty="0">
                    <a:latin typeface="Times New Roman" panose="02020503050405090304" pitchFamily="18" charset="0"/>
                    <a:ea typeface="宋体" pitchFamily="2" charset="-122"/>
                  </a:endParaRPr>
                </a:p>
                <a:p>
                  <a:pPr algn="ctr" eaLnBrk="0" hangingPunct="0">
                    <a:buClrTx/>
                    <a:buFontTx/>
                  </a:pPr>
                  <a:endParaRPr lang="zh-CN" altLang="en-US" b="0" dirty="0">
                    <a:latin typeface="Times New Roman" panose="02020503050405090304" pitchFamily="18" charset="0"/>
                    <a:ea typeface="宋体" pitchFamily="2" charset="-122"/>
                  </a:endParaRPr>
                </a:p>
              </p:txBody>
            </p:sp>
            <p:sp>
              <p:nvSpPr>
                <p:cNvPr id="106523" name="Rectangle 30"/>
                <p:cNvSpPr/>
                <p:nvPr/>
              </p:nvSpPr>
              <p:spPr>
                <a:xfrm>
                  <a:off x="3054" y="0"/>
                  <a:ext cx="509" cy="748"/>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106524" name="Group 31"/>
              <p:cNvGrpSpPr/>
              <p:nvPr/>
            </p:nvGrpSpPr>
            <p:grpSpPr>
              <a:xfrm>
                <a:off x="3563" y="0"/>
                <a:ext cx="509" cy="748"/>
                <a:chOff x="3563" y="0"/>
                <a:chExt cx="509" cy="748"/>
              </a:xfrm>
            </p:grpSpPr>
            <p:sp>
              <p:nvSpPr>
                <p:cNvPr id="106525" name="Rectangle 32"/>
                <p:cNvSpPr/>
                <p:nvPr/>
              </p:nvSpPr>
              <p:spPr>
                <a:xfrm>
                  <a:off x="3606" y="0"/>
                  <a:ext cx="423" cy="748"/>
                </a:xfrm>
                <a:prstGeom prst="rect">
                  <a:avLst/>
                </a:prstGeom>
                <a:noFill/>
                <a:ln w="9525">
                  <a:noFill/>
                </a:ln>
              </p:spPr>
              <p:txBody>
                <a:bodyPr anchor="ctr" anchorCtr="0"/>
                <a:p>
                  <a:pPr algn="ctr" eaLnBrk="0" hangingPunct="0">
                    <a:buClrTx/>
                    <a:buFontTx/>
                  </a:pPr>
                  <a:r>
                    <a:rPr lang="en-US" altLang="zh-CN" dirty="0">
                      <a:latin typeface="Times New Roman" panose="02020503050405090304" pitchFamily="18" charset="0"/>
                      <a:ea typeface="宋体" pitchFamily="2" charset="-122"/>
                    </a:rPr>
                    <a:t>P</a:t>
                  </a:r>
                  <a:endParaRPr lang="en-US" altLang="zh-CN" sz="1000" dirty="0">
                    <a:latin typeface="Times New Roman" panose="02020503050405090304" pitchFamily="18" charset="0"/>
                    <a:ea typeface="宋体" pitchFamily="2" charset="-122"/>
                  </a:endParaRPr>
                </a:p>
                <a:p>
                  <a:pPr algn="ctr" eaLnBrk="0" hangingPunct="0">
                    <a:buClrTx/>
                    <a:buFontTx/>
                  </a:pPr>
                  <a:endParaRPr lang="en-US" altLang="zh-CN" b="0" dirty="0">
                    <a:latin typeface="Times New Roman" panose="02020503050405090304" pitchFamily="18" charset="0"/>
                    <a:ea typeface="宋体" pitchFamily="2" charset="-122"/>
                  </a:endParaRPr>
                </a:p>
              </p:txBody>
            </p:sp>
            <p:sp>
              <p:nvSpPr>
                <p:cNvPr id="106526" name="Rectangle 33"/>
                <p:cNvSpPr/>
                <p:nvPr/>
              </p:nvSpPr>
              <p:spPr>
                <a:xfrm>
                  <a:off x="3563" y="0"/>
                  <a:ext cx="509" cy="748"/>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sp>
          <p:nvSpPr>
            <p:cNvPr id="106527" name="Rectangle 34"/>
            <p:cNvSpPr/>
            <p:nvPr/>
          </p:nvSpPr>
          <p:spPr>
            <a:xfrm>
              <a:off x="-3" y="-3"/>
              <a:ext cx="4078" cy="754"/>
            </a:xfrm>
            <a:prstGeom prst="rect">
              <a:avLst/>
            </a:prstGeom>
            <a:noFill/>
            <a:ln w="11112"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sp>
        <p:nvSpPr>
          <p:cNvPr id="33" name="TextBox 32"/>
          <p:cNvSpPr txBox="1"/>
          <p:nvPr/>
        </p:nvSpPr>
        <p:spPr>
          <a:xfrm>
            <a:off x="4286250" y="1928813"/>
            <a:ext cx="4857750" cy="2678113"/>
          </a:xfrm>
          <a:prstGeom prst="rect">
            <a:avLst/>
          </a:prstGeom>
          <a:noFill/>
        </p:spPr>
        <p:txBody>
          <a:bodyPr>
            <a:spAutoFit/>
          </a:bodyPr>
          <a:lstStyle/>
          <a:p>
            <a:pPr marL="190500" marR="0" indent="-190500" defTabSz="914400" eaLnBrk="0" hangingPunct="0">
              <a:spcBef>
                <a:spcPts val="0"/>
              </a:spcBef>
              <a:buSzTx/>
              <a:defRPr/>
            </a:pPr>
            <a:r>
              <a:rPr kumimoji="0" lang="zh-CN" altLang="en-US" kern="1200" cap="none" spc="0" normalizeH="0" baseline="0" noProof="0" dirty="0">
                <a:latin typeface="宋体" pitchFamily="2" charset="-122"/>
                <a:ea typeface="仿宋_GB2312" pitchFamily="49" charset="-122"/>
                <a:cs typeface="+mn-cs"/>
              </a:rPr>
              <a:t>求：</a:t>
            </a:r>
            <a:r>
              <a:rPr kumimoji="0" lang="en-US" altLang="zh-CN" kern="1200" cap="none" spc="0" normalizeH="0" baseline="0" noProof="0" dirty="0">
                <a:latin typeface="宋体" pitchFamily="2" charset="-122"/>
                <a:ea typeface="仿宋_GB2312" pitchFamily="49" charset="-122"/>
                <a:cs typeface="+mn-cs"/>
              </a:rPr>
              <a:t>A=76H</a:t>
            </a:r>
            <a:endParaRPr kumimoji="0" lang="en-US" altLang="zh-CN" kern="1200" cap="none" spc="0" normalizeH="0" baseline="0" noProof="0" dirty="0">
              <a:latin typeface="宋体" pitchFamily="2" charset="-122"/>
              <a:ea typeface="仿宋_GB2312" pitchFamily="49" charset="-122"/>
              <a:cs typeface="+mn-cs"/>
            </a:endParaRPr>
          </a:p>
          <a:p>
            <a:pPr marL="190500" marR="0" indent="-190500" defTabSz="914400" eaLnBrk="0" hangingPunct="0">
              <a:spcBef>
                <a:spcPts val="0"/>
              </a:spcBef>
              <a:buSzTx/>
              <a:defRPr/>
            </a:pPr>
            <a:r>
              <a:rPr kumimoji="0" lang="en-US" altLang="zh-CN" kern="1200" cap="none" spc="0" normalizeH="0" baseline="0" noProof="0" dirty="0">
                <a:latin typeface="宋体" pitchFamily="2" charset="-122"/>
                <a:ea typeface="仿宋_GB2312" pitchFamily="49" charset="-122"/>
                <a:cs typeface="+mn-cs"/>
              </a:rPr>
              <a:t>Cy= 0</a:t>
            </a:r>
            <a:endParaRPr kumimoji="0" lang="en-US" altLang="zh-CN" kern="1200" cap="none" spc="0" normalizeH="0" baseline="0" noProof="0" dirty="0">
              <a:latin typeface="宋体" pitchFamily="2" charset="-122"/>
              <a:ea typeface="仿宋_GB2312" pitchFamily="49" charset="-122"/>
              <a:cs typeface="+mn-cs"/>
            </a:endParaRPr>
          </a:p>
          <a:p>
            <a:pPr marL="190500" marR="0" indent="-190500" defTabSz="914400" eaLnBrk="0" hangingPunct="0">
              <a:spcBef>
                <a:spcPts val="0"/>
              </a:spcBef>
              <a:buSzTx/>
              <a:defRPr/>
            </a:pPr>
            <a:r>
              <a:rPr kumimoji="0" lang="en-US" altLang="zh-CN" kern="1200" cap="none" spc="0" normalizeH="0" baseline="0" noProof="0" dirty="0">
                <a:latin typeface="宋体" pitchFamily="2" charset="-122"/>
                <a:ea typeface="仿宋_GB2312" pitchFamily="49" charset="-122"/>
                <a:cs typeface="+mn-cs"/>
              </a:rPr>
              <a:t>OV= 0</a:t>
            </a:r>
            <a:endParaRPr kumimoji="0" lang="en-US" altLang="zh-CN" kern="1200" cap="none" spc="0" normalizeH="0" baseline="0" noProof="0" dirty="0">
              <a:latin typeface="宋体" pitchFamily="2" charset="-122"/>
              <a:ea typeface="仿宋_GB2312" pitchFamily="49" charset="-122"/>
              <a:cs typeface="+mn-cs"/>
            </a:endParaRPr>
          </a:p>
          <a:p>
            <a:pPr marL="190500" marR="0" indent="-190500" defTabSz="914400" eaLnBrk="0" hangingPunct="0">
              <a:spcBef>
                <a:spcPts val="0"/>
              </a:spcBef>
              <a:buSzTx/>
              <a:defRPr/>
            </a:pPr>
            <a:r>
              <a:rPr kumimoji="0" lang="en-US" altLang="zh-CN" kern="1200" cap="none" spc="0" normalizeH="0" baseline="0" noProof="0" dirty="0">
                <a:latin typeface="宋体" pitchFamily="2" charset="-122"/>
                <a:ea typeface="仿宋_GB2312" pitchFamily="49" charset="-122"/>
                <a:cs typeface="+mn-cs"/>
              </a:rPr>
              <a:t>AC= 1  </a:t>
            </a:r>
            <a:endParaRPr kumimoji="0" lang="en-US" altLang="zh-CN" kern="1200" cap="none" spc="0" normalizeH="0" baseline="0" noProof="0" dirty="0">
              <a:latin typeface="宋体" pitchFamily="2" charset="-122"/>
              <a:ea typeface="仿宋_GB2312" pitchFamily="49" charset="-122"/>
              <a:cs typeface="+mn-cs"/>
            </a:endParaRPr>
          </a:p>
          <a:p>
            <a:pPr marL="190500" marR="0" indent="-190500" defTabSz="914400" eaLnBrk="0" hangingPunct="0">
              <a:spcBef>
                <a:spcPts val="0"/>
              </a:spcBef>
              <a:buSzTx/>
              <a:defRPr/>
            </a:pPr>
            <a:r>
              <a:rPr kumimoji="0" lang="en-US" altLang="zh-CN" kern="1200" cap="none" spc="0" normalizeH="0" baseline="0" noProof="0" dirty="0">
                <a:latin typeface="宋体" pitchFamily="2" charset="-122"/>
                <a:ea typeface="仿宋_GB2312" pitchFamily="49" charset="-122"/>
                <a:cs typeface="+mn-cs"/>
              </a:rPr>
              <a:t>P= 1  </a:t>
            </a:r>
            <a:endParaRPr kumimoji="0" lang="en-US" altLang="zh-CN" kern="1200" cap="none" spc="0" normalizeH="0" baseline="0" noProof="0" dirty="0">
              <a:latin typeface="宋体" pitchFamily="2" charset="-122"/>
              <a:ea typeface="仿宋_GB2312" pitchFamily="49" charset="-122"/>
              <a:cs typeface="+mn-cs"/>
            </a:endParaRPr>
          </a:p>
          <a:p>
            <a:pPr marR="0" defTabSz="914400" eaLnBrk="0" hangingPunct="0">
              <a:buSzTx/>
              <a:defRPr/>
            </a:pPr>
            <a:r>
              <a:rPr kumimoji="0" lang="en-US" altLang="zh-CN" kern="1200" cap="none" spc="0" normalizeH="0" baseline="0" noProof="0" dirty="0">
                <a:latin typeface="宋体" pitchFamily="2" charset="-122"/>
                <a:ea typeface="仿宋_GB2312" pitchFamily="49" charset="-122"/>
                <a:cs typeface="+mn-cs"/>
              </a:rPr>
              <a:t>PSW= </a:t>
            </a:r>
            <a:endParaRPr kumimoji="1" lang="zh-CN" altLang="zh-CN" kern="1200" cap="none" spc="0" normalizeH="0" baseline="0" noProof="0" dirty="0">
              <a:solidFill>
                <a:srgbClr val="FFC000"/>
              </a:solidFill>
              <a:latin typeface="宋体" pitchFamily="2" charset="-122"/>
              <a:ea typeface="仿宋_GB2312" pitchFamily="49" charset="-122"/>
              <a:cs typeface="+mn-cs"/>
            </a:endParaRPr>
          </a:p>
          <a:p>
            <a:pPr marR="0" defTabSz="914400" eaLnBrk="0" hangingPunct="0">
              <a:buSzTx/>
              <a:defRPr/>
            </a:pPr>
            <a:endParaRPr kumimoji="1" lang="zh-CN" altLang="en-US" kern="1200" cap="none" spc="0" normalizeH="0" baseline="0" noProof="0" dirty="0">
              <a:latin typeface="Times New Roman" panose="02020503050405090304" pitchFamily="18" charset="0"/>
              <a:ea typeface="仿宋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9637"/>
                                        </p:tgtEl>
                                        <p:attrNameLst>
                                          <p:attrName>style.visibility</p:attrName>
                                        </p:attrNameLst>
                                      </p:cBhvr>
                                      <p:to>
                                        <p:strVal val="visible"/>
                                      </p:to>
                                    </p:set>
                                    <p:anim calcmode="lin" valueType="num">
                                      <p:cBhvr additive="base">
                                        <p:cTn id="7" dur="500" fill="hold"/>
                                        <p:tgtEl>
                                          <p:spTgt spid="69637"/>
                                        </p:tgtEl>
                                        <p:attrNameLst>
                                          <p:attrName>ppt_x</p:attrName>
                                        </p:attrNameLst>
                                      </p:cBhvr>
                                      <p:tavLst>
                                        <p:tav tm="0">
                                          <p:val>
                                            <p:strVal val="#ppt_x"/>
                                          </p:val>
                                        </p:tav>
                                        <p:tav tm="100000">
                                          <p:val>
                                            <p:strVal val="#ppt_x"/>
                                          </p:val>
                                        </p:tav>
                                      </p:tavLst>
                                    </p:anim>
                                    <p:anim calcmode="lin" valueType="num">
                                      <p:cBhvr additive="base">
                                        <p:cTn id="8" dur="500" fill="hold"/>
                                        <p:tgtEl>
                                          <p:spTgt spid="6963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83973"/>
                                        </p:tgtEl>
                                        <p:attrNameLst>
                                          <p:attrName>style.visibility</p:attrName>
                                        </p:attrNameLst>
                                      </p:cBhvr>
                                      <p:to>
                                        <p:strVal val="visible"/>
                                      </p:to>
                                    </p:set>
                                    <p:anim calcmode="lin" valueType="num">
                                      <p:cBhvr additive="base">
                                        <p:cTn id="17" dur="500" fill="hold"/>
                                        <p:tgtEl>
                                          <p:spTgt spid="83973"/>
                                        </p:tgtEl>
                                        <p:attrNameLst>
                                          <p:attrName>ppt_x</p:attrName>
                                        </p:attrNameLst>
                                      </p:cBhvr>
                                      <p:tavLst>
                                        <p:tav tm="0">
                                          <p:val>
                                            <p:strVal val="#ppt_x"/>
                                          </p:val>
                                        </p:tav>
                                        <p:tav tm="100000">
                                          <p:val>
                                            <p:strVal val="#ppt_x"/>
                                          </p:val>
                                        </p:tav>
                                      </p:tavLst>
                                    </p:anim>
                                    <p:anim calcmode="lin" valueType="num">
                                      <p:cBhvr additive="base">
                                        <p:cTn id="18" dur="500" fill="hold"/>
                                        <p:tgtEl>
                                          <p:spTgt spid="8397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9637" grpId="0"/>
      <p:bldP spid="33"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107522" name="Rectangle 3"/>
          <p:cNvSpPr>
            <a:spLocks noGrp="1"/>
          </p:cNvSpPr>
          <p:nvPr>
            <p:ph type="body" idx="4294967295"/>
          </p:nvPr>
        </p:nvSpPr>
        <p:spPr>
          <a:xfrm>
            <a:off x="428625" y="1136650"/>
            <a:ext cx="7858125" cy="2857500"/>
          </a:xfrm>
        </p:spPr>
        <p:txBody>
          <a:bodyPr vert="horz" wrap="square" lIns="91440" tIns="45720" rIns="91440" bIns="45720" anchor="t" anchorCtr="0"/>
          <a:p>
            <a:pPr marL="0" latinLnBrk="0">
              <a:lnSpc>
                <a:spcPct val="100000"/>
              </a:lnSpc>
              <a:spcBef>
                <a:spcPct val="0"/>
              </a:spcBef>
              <a:spcAft>
                <a:spcPts val="600"/>
              </a:spcAft>
              <a:buNone/>
            </a:pPr>
            <a:r>
              <a:rPr lang="en-US" altLang="zh-CN" dirty="0">
                <a:solidFill>
                  <a:srgbClr val="FF0000"/>
                </a:solidFill>
                <a:latin typeface="宋体" pitchFamily="2" charset="-122"/>
              </a:rPr>
              <a:t>  </a:t>
            </a:r>
            <a:r>
              <a:rPr lang="zh-CN" altLang="zh-CN" dirty="0">
                <a:solidFill>
                  <a:srgbClr val="FF0000"/>
                </a:solidFill>
                <a:latin typeface="宋体" pitchFamily="2" charset="-122"/>
              </a:rPr>
              <a:t>2）</a:t>
            </a:r>
            <a:r>
              <a:rPr lang="zh-CN" altLang="en-US" dirty="0">
                <a:solidFill>
                  <a:srgbClr val="FF0000"/>
                </a:solidFill>
                <a:latin typeface="宋体" pitchFamily="2" charset="-122"/>
              </a:rPr>
              <a:t>带进位加法：</a:t>
            </a:r>
            <a:r>
              <a:rPr lang="zh-CN" altLang="en-US" sz="2400" dirty="0">
                <a:solidFill>
                  <a:srgbClr val="FF0000"/>
                </a:solidFill>
                <a:latin typeface="宋体" pitchFamily="2" charset="-122"/>
              </a:rPr>
              <a:t>  </a:t>
            </a:r>
            <a:endParaRPr lang="en-US" altLang="zh-CN" sz="2400" dirty="0">
              <a:latin typeface="宋体" pitchFamily="2" charset="-122"/>
            </a:endParaRPr>
          </a:p>
          <a:p>
            <a:pPr marL="0">
              <a:lnSpc>
                <a:spcPct val="100000"/>
              </a:lnSpc>
              <a:buNone/>
            </a:pPr>
            <a:r>
              <a:rPr lang="zh-CN" altLang="en-US" sz="2400" dirty="0">
                <a:latin typeface="宋体" pitchFamily="2" charset="-122"/>
              </a:rPr>
              <a:t>	  		</a:t>
            </a:r>
            <a:r>
              <a:rPr lang="en-US" altLang="zh-CN" sz="2400" dirty="0">
                <a:latin typeface="宋体" pitchFamily="2" charset="-122"/>
              </a:rPr>
              <a:t>ADDC  A，Rn      ;(A)+(Rn)+Cy</a:t>
            </a:r>
            <a:r>
              <a:rPr lang="zh-CN" altLang="en-US" sz="2400" dirty="0">
                <a:latin typeface="宋体" pitchFamily="2" charset="-122"/>
              </a:rPr>
              <a:t>→</a:t>
            </a:r>
            <a:r>
              <a:rPr lang="en-US" altLang="zh-CN" sz="2400" dirty="0">
                <a:latin typeface="宋体" pitchFamily="2" charset="-122"/>
              </a:rPr>
              <a:t>A   </a:t>
            </a:r>
            <a:endParaRPr lang="en-US" altLang="zh-CN" sz="2400" dirty="0">
              <a:latin typeface="宋体" pitchFamily="2" charset="-122"/>
            </a:endParaRPr>
          </a:p>
          <a:p>
            <a:pPr marL="0">
              <a:lnSpc>
                <a:spcPct val="100000"/>
              </a:lnSpc>
              <a:spcBef>
                <a:spcPct val="15000"/>
              </a:spcBef>
              <a:buNone/>
            </a:pPr>
            <a:r>
              <a:rPr lang="en-US" altLang="zh-CN" sz="2400" dirty="0">
                <a:latin typeface="宋体" pitchFamily="2" charset="-122"/>
              </a:rPr>
              <a:t>    		ADDC  A，direct  ;(A)+(direct)+Cy</a:t>
            </a:r>
            <a:r>
              <a:rPr lang="zh-CN" altLang="en-US" sz="2400" dirty="0">
                <a:latin typeface="宋体" pitchFamily="2" charset="-122"/>
              </a:rPr>
              <a:t>→</a:t>
            </a:r>
            <a:r>
              <a:rPr lang="en-US" altLang="zh-CN" sz="2400" dirty="0">
                <a:latin typeface="宋体" pitchFamily="2" charset="-122"/>
              </a:rPr>
              <a:t>A </a:t>
            </a:r>
            <a:endParaRPr lang="en-US" altLang="zh-CN" sz="2400" dirty="0">
              <a:latin typeface="宋体" pitchFamily="2" charset="-122"/>
            </a:endParaRPr>
          </a:p>
          <a:p>
            <a:pPr marL="0">
              <a:lnSpc>
                <a:spcPct val="100000"/>
              </a:lnSpc>
              <a:spcBef>
                <a:spcPct val="0"/>
              </a:spcBef>
              <a:buNone/>
            </a:pPr>
            <a:r>
              <a:rPr lang="en-US" altLang="zh-CN" sz="2400" dirty="0">
                <a:latin typeface="宋体" pitchFamily="2" charset="-122"/>
              </a:rPr>
              <a:t>    		ADDC  A，@Ri     ;(A)+((Ri))+Cy</a:t>
            </a:r>
            <a:r>
              <a:rPr lang="zh-CN" altLang="en-US" sz="2400" dirty="0">
                <a:latin typeface="宋体" pitchFamily="2" charset="-122"/>
              </a:rPr>
              <a:t>→</a:t>
            </a:r>
            <a:r>
              <a:rPr lang="en-US" altLang="zh-CN" sz="2400" dirty="0">
                <a:latin typeface="宋体" pitchFamily="2" charset="-122"/>
              </a:rPr>
              <a:t>A </a:t>
            </a:r>
            <a:endParaRPr lang="en-US" altLang="zh-CN" sz="2400" dirty="0">
              <a:latin typeface="宋体" pitchFamily="2" charset="-122"/>
            </a:endParaRPr>
          </a:p>
          <a:p>
            <a:pPr marL="0">
              <a:lnSpc>
                <a:spcPct val="100000"/>
              </a:lnSpc>
              <a:spcBef>
                <a:spcPct val="0"/>
              </a:spcBef>
              <a:buNone/>
            </a:pPr>
            <a:r>
              <a:rPr lang="en-US" altLang="zh-CN" sz="2400" dirty="0">
                <a:latin typeface="宋体" pitchFamily="2" charset="-122"/>
              </a:rPr>
              <a:t>    		ADDC  A，#data   ;(A)+data+Cy</a:t>
            </a:r>
            <a:r>
              <a:rPr lang="zh-CN" altLang="en-US" sz="2400" dirty="0">
                <a:latin typeface="宋体" pitchFamily="2" charset="-122"/>
              </a:rPr>
              <a:t>→</a:t>
            </a:r>
            <a:r>
              <a:rPr lang="en-US" altLang="zh-CN" sz="2400" dirty="0">
                <a:latin typeface="宋体" pitchFamily="2" charset="-122"/>
              </a:rPr>
              <a:t>A </a:t>
            </a:r>
            <a:endParaRPr lang="en-US" altLang="zh-CN" sz="2400" dirty="0">
              <a:latin typeface="宋体" pitchFamily="2" charset="-122"/>
            </a:endParaRPr>
          </a:p>
          <a:p>
            <a:pPr marL="0">
              <a:lnSpc>
                <a:spcPct val="100000"/>
              </a:lnSpc>
              <a:spcBef>
                <a:spcPct val="0"/>
              </a:spcBef>
              <a:buNone/>
            </a:pPr>
            <a:r>
              <a:rPr lang="zh-CN" altLang="en-US" sz="2400" dirty="0">
                <a:latin typeface="宋体" pitchFamily="2" charset="-122"/>
              </a:rPr>
              <a:t>    	影响</a:t>
            </a:r>
            <a:r>
              <a:rPr lang="en-US" altLang="zh-CN" sz="2400" dirty="0">
                <a:solidFill>
                  <a:schemeClr val="tx2"/>
                </a:solidFill>
                <a:latin typeface="宋体" pitchFamily="2" charset="-122"/>
              </a:rPr>
              <a:t>Cy、OV、AC、P</a:t>
            </a:r>
            <a:endParaRPr lang="en-US" altLang="zh-CN" sz="2400" dirty="0">
              <a:solidFill>
                <a:schemeClr val="tx2"/>
              </a:solidFill>
              <a:latin typeface="宋体" pitchFamily="2" charset="-122"/>
            </a:endParaRPr>
          </a:p>
          <a:p>
            <a:pPr marL="0" algn="just">
              <a:lnSpc>
                <a:spcPct val="100000"/>
              </a:lnSpc>
              <a:spcBef>
                <a:spcPct val="0"/>
              </a:spcBef>
              <a:buNone/>
            </a:pPr>
            <a:endParaRPr lang="zh-CN" altLang="zh-CN" dirty="0">
              <a:solidFill>
                <a:srgbClr val="FFC000"/>
              </a:solidFill>
              <a:latin typeface="宋体" pitchFamily="2" charset="-122"/>
            </a:endParaRPr>
          </a:p>
        </p:txBody>
      </p:sp>
      <p:sp>
        <p:nvSpPr>
          <p:cNvPr id="84995" name="TextBox 4"/>
          <p:cNvSpPr txBox="1"/>
          <p:nvPr/>
        </p:nvSpPr>
        <p:spPr>
          <a:xfrm>
            <a:off x="500063" y="3643313"/>
            <a:ext cx="7715250" cy="1200150"/>
          </a:xfrm>
          <a:prstGeom prst="rect">
            <a:avLst/>
          </a:prstGeom>
          <a:noFill/>
          <a:ln w="9525">
            <a:noFill/>
          </a:ln>
        </p:spPr>
        <p:txBody>
          <a:bodyPr anchor="t" anchorCtr="0">
            <a:spAutoFit/>
          </a:bodyPr>
          <a:p>
            <a:pPr algn="just" eaLnBrk="0" hangingPunct="0">
              <a:buClrTx/>
              <a:buFontTx/>
            </a:pPr>
            <a:r>
              <a:rPr lang="zh-CN" altLang="en-US" dirty="0">
                <a:solidFill>
                  <a:schemeClr val="tx2"/>
                </a:solidFill>
                <a:latin typeface="宋体" pitchFamily="2" charset="-122"/>
                <a:ea typeface="仿宋_GB2312" pitchFamily="49" charset="-122"/>
              </a:rPr>
              <a:t>例：</a:t>
            </a:r>
            <a:r>
              <a:rPr lang="en-US" altLang="zh-CN" dirty="0">
                <a:latin typeface="宋体" pitchFamily="2" charset="-122"/>
                <a:ea typeface="仿宋_GB2312" pitchFamily="49" charset="-122"/>
              </a:rPr>
              <a:t>A= 9AH，R2= E3H，PSW= 0，</a:t>
            </a:r>
            <a:r>
              <a:rPr lang="zh-CN" altLang="en-US" dirty="0">
                <a:latin typeface="宋体" pitchFamily="2" charset="-122"/>
                <a:ea typeface="仿宋_GB2312" pitchFamily="49" charset="-122"/>
              </a:rPr>
              <a:t>执行指令</a:t>
            </a:r>
            <a:endParaRPr lang="zh-CN" altLang="en-US" dirty="0">
              <a:latin typeface="宋体" pitchFamily="2" charset="-122"/>
              <a:ea typeface="仿宋_GB2312" pitchFamily="49" charset="-122"/>
            </a:endParaRPr>
          </a:p>
          <a:p>
            <a:pPr algn="just" eaLnBrk="0" hangingPunct="0">
              <a:buClrTx/>
              <a:buFontTx/>
            </a:pPr>
            <a:r>
              <a:rPr lang="zh-CN" altLang="en-US" dirty="0">
                <a:latin typeface="宋体" pitchFamily="2" charset="-122"/>
                <a:ea typeface="仿宋_GB2312" pitchFamily="49" charset="-122"/>
              </a:rPr>
              <a:t>		</a:t>
            </a:r>
            <a:r>
              <a:rPr lang="en-US" altLang="zh-CN" dirty="0">
                <a:solidFill>
                  <a:schemeClr val="tx2"/>
                </a:solidFill>
                <a:latin typeface="宋体" pitchFamily="2" charset="-122"/>
                <a:ea typeface="仿宋_GB2312" pitchFamily="49" charset="-122"/>
              </a:rPr>
              <a:t>ADDC  A，R2</a:t>
            </a:r>
            <a:endParaRPr lang="zh-CN" altLang="en-US" dirty="0">
              <a:latin typeface="宋体" pitchFamily="2" charset="-122"/>
              <a:ea typeface="仿宋_GB2312" pitchFamily="49" charset="-122"/>
            </a:endParaRPr>
          </a:p>
          <a:p>
            <a:pPr algn="just" eaLnBrk="0" hangingPunct="0">
              <a:buClrTx/>
              <a:buFontTx/>
            </a:pPr>
            <a:r>
              <a:rPr lang="zh-CN" altLang="zh-CN" dirty="0">
                <a:latin typeface="宋体" pitchFamily="2" charset="-122"/>
                <a:ea typeface="仿宋_GB2312" pitchFamily="49" charset="-122"/>
              </a:rPr>
              <a:t>	</a:t>
            </a:r>
            <a:endParaRPr lang="zh-CN" altLang="en-US" dirty="0">
              <a:latin typeface="Times New Roman" panose="02020503050405090304" pitchFamily="18" charset="0"/>
              <a:ea typeface="仿宋_GB2312" pitchFamily="49" charset="-122"/>
            </a:endParaRPr>
          </a:p>
        </p:txBody>
      </p:sp>
      <p:sp>
        <p:nvSpPr>
          <p:cNvPr id="7" name="Text Box 11"/>
          <p:cNvSpPr txBox="1"/>
          <p:nvPr/>
        </p:nvSpPr>
        <p:spPr>
          <a:xfrm>
            <a:off x="2571750" y="4884738"/>
            <a:ext cx="2597150" cy="473075"/>
          </a:xfrm>
          <a:prstGeom prst="rect">
            <a:avLst/>
          </a:prstGeom>
          <a:solidFill>
            <a:srgbClr val="F4D8E3"/>
          </a:solidFill>
          <a:ln w="9525">
            <a:noFill/>
          </a:ln>
        </p:spPr>
        <p:txBody>
          <a:bodyPr wrap="none" tIns="0" anchor="ctr" anchorCtr="0">
            <a:spAutoFit/>
          </a:bodyPr>
          <a:p>
            <a:pPr algn="ctr">
              <a:spcBef>
                <a:spcPct val="50000"/>
              </a:spcBef>
              <a:buClrTx/>
              <a:buFontTx/>
            </a:pPr>
            <a:r>
              <a:rPr lang="zh-CN" altLang="en-US" sz="2800" dirty="0">
                <a:solidFill>
                  <a:schemeClr val="hlink"/>
                </a:solidFill>
                <a:latin typeface="Times New Roman" panose="02020503050405090304" pitchFamily="18" charset="0"/>
                <a:ea typeface="仿宋_GB2312" pitchFamily="49" charset="-122"/>
              </a:rPr>
              <a:t>10000100 = 84</a:t>
            </a:r>
            <a:r>
              <a:rPr lang="en-US" altLang="zh-CN" sz="2800" dirty="0">
                <a:solidFill>
                  <a:schemeClr val="hlink"/>
                </a:solidFill>
                <a:latin typeface="Times New Roman" panose="02020503050405090304" pitchFamily="18" charset="0"/>
                <a:ea typeface="仿宋_GB2312" pitchFamily="49" charset="-122"/>
              </a:rPr>
              <a:t>H</a:t>
            </a:r>
            <a:endParaRPr lang="en-US" altLang="zh-CN" sz="2800" dirty="0">
              <a:solidFill>
                <a:schemeClr val="hlink"/>
              </a:solidFill>
              <a:latin typeface="Times New Roman" panose="02020503050405090304" pitchFamily="18" charset="0"/>
              <a:ea typeface="仿宋_GB2312" pitchFamily="49" charset="-122"/>
            </a:endParaRPr>
          </a:p>
        </p:txBody>
      </p:sp>
      <p:sp>
        <p:nvSpPr>
          <p:cNvPr id="70662" name="TextBox 7"/>
          <p:cNvSpPr txBox="1"/>
          <p:nvPr/>
        </p:nvSpPr>
        <p:spPr>
          <a:xfrm>
            <a:off x="6715125" y="3214688"/>
            <a:ext cx="2786063" cy="2105025"/>
          </a:xfrm>
          <a:prstGeom prst="rect">
            <a:avLst/>
          </a:prstGeom>
          <a:noFill/>
          <a:ln w="9525">
            <a:noFill/>
          </a:ln>
        </p:spPr>
        <p:txBody>
          <a:bodyPr anchor="t" anchorCtr="0">
            <a:spAutoFit/>
          </a:bodyPr>
          <a:p>
            <a:pPr eaLnBrk="0" hangingPunct="0">
              <a:lnSpc>
                <a:spcPct val="90000"/>
              </a:lnSpc>
              <a:spcBef>
                <a:spcPct val="50000"/>
              </a:spcBef>
              <a:buClrTx/>
              <a:buFontTx/>
            </a:pPr>
            <a:r>
              <a:rPr lang="zh-CN" altLang="en-US" sz="2000" dirty="0">
                <a:solidFill>
                  <a:schemeClr val="tx2"/>
                </a:solidFill>
                <a:latin typeface="宋体" pitchFamily="2" charset="-122"/>
                <a:ea typeface="仿宋_GB2312" pitchFamily="49" charset="-122"/>
              </a:rPr>
              <a:t>    1001 1010 </a:t>
            </a:r>
            <a:endParaRPr lang="zh-CN" altLang="en-US" sz="2000" dirty="0">
              <a:solidFill>
                <a:schemeClr val="tx2"/>
              </a:solidFill>
              <a:latin typeface="宋体" pitchFamily="2" charset="-122"/>
              <a:ea typeface="仿宋_GB2312" pitchFamily="49" charset="-122"/>
            </a:endParaRPr>
          </a:p>
          <a:p>
            <a:pPr eaLnBrk="0" hangingPunct="0">
              <a:lnSpc>
                <a:spcPct val="90000"/>
              </a:lnSpc>
              <a:spcBef>
                <a:spcPct val="50000"/>
              </a:spcBef>
              <a:buClrTx/>
              <a:buFontTx/>
            </a:pPr>
            <a:r>
              <a:rPr lang="zh-CN" altLang="en-US" sz="2000" dirty="0">
                <a:solidFill>
                  <a:schemeClr val="tx2"/>
                </a:solidFill>
                <a:latin typeface="宋体" pitchFamily="2" charset="-122"/>
                <a:ea typeface="仿宋_GB2312" pitchFamily="49" charset="-122"/>
              </a:rPr>
              <a:t>    </a:t>
            </a:r>
            <a:r>
              <a:rPr lang="zh-CN" altLang="zh-CN" sz="2000" dirty="0">
                <a:solidFill>
                  <a:schemeClr val="tx2"/>
                </a:solidFill>
                <a:latin typeface="宋体" pitchFamily="2" charset="-122"/>
                <a:ea typeface="仿宋_GB2312" pitchFamily="49" charset="-122"/>
              </a:rPr>
              <a:t>1110 0011</a:t>
            </a:r>
            <a:endParaRPr lang="zh-CN" altLang="zh-CN" sz="2000" dirty="0">
              <a:solidFill>
                <a:schemeClr val="tx2"/>
              </a:solidFill>
              <a:latin typeface="宋体" pitchFamily="2" charset="-122"/>
              <a:ea typeface="仿宋_GB2312" pitchFamily="49" charset="-122"/>
            </a:endParaRPr>
          </a:p>
          <a:p>
            <a:pPr eaLnBrk="0" hangingPunct="0">
              <a:lnSpc>
                <a:spcPct val="90000"/>
              </a:lnSpc>
              <a:spcBef>
                <a:spcPct val="50000"/>
              </a:spcBef>
              <a:buClrTx/>
              <a:buFontTx/>
            </a:pPr>
            <a:r>
              <a:rPr lang="zh-CN" altLang="zh-CN" sz="2000" dirty="0">
                <a:solidFill>
                  <a:schemeClr val="tx2"/>
                </a:solidFill>
                <a:latin typeface="宋体" pitchFamily="2" charset="-122"/>
                <a:ea typeface="仿宋_GB2312" pitchFamily="49" charset="-122"/>
              </a:rPr>
              <a:t> </a:t>
            </a:r>
            <a:r>
              <a:rPr lang="zh-CN" altLang="zh-CN" sz="2000" u="sng" dirty="0">
                <a:solidFill>
                  <a:schemeClr val="tx2"/>
                </a:solidFill>
                <a:latin typeface="宋体" pitchFamily="2" charset="-122"/>
                <a:ea typeface="仿宋_GB2312" pitchFamily="49" charset="-122"/>
              </a:rPr>
              <a:t>+          0 </a:t>
            </a:r>
            <a:endParaRPr lang="zh-CN" altLang="zh-CN" sz="2000" u="sng" dirty="0">
              <a:solidFill>
                <a:schemeClr val="tx2"/>
              </a:solidFill>
              <a:latin typeface="宋体" pitchFamily="2" charset="-122"/>
              <a:ea typeface="仿宋_GB2312" pitchFamily="49" charset="-122"/>
            </a:endParaRPr>
          </a:p>
          <a:p>
            <a:pPr eaLnBrk="0" hangingPunct="0">
              <a:lnSpc>
                <a:spcPct val="90000"/>
              </a:lnSpc>
              <a:spcBef>
                <a:spcPct val="50000"/>
              </a:spcBef>
              <a:buClrTx/>
              <a:buFontTx/>
            </a:pPr>
            <a:r>
              <a:rPr lang="zh-CN" altLang="en-US" sz="2000" dirty="0">
                <a:solidFill>
                  <a:schemeClr val="tx2"/>
                </a:solidFill>
                <a:latin typeface="宋体" pitchFamily="2" charset="-122"/>
                <a:ea typeface="仿宋_GB2312" pitchFamily="49" charset="-122"/>
              </a:rPr>
              <a:t> 1  0111 1101</a:t>
            </a:r>
            <a:endParaRPr lang="zh-CN" altLang="zh-CN" sz="2000" dirty="0">
              <a:solidFill>
                <a:schemeClr val="tx2"/>
              </a:solidFill>
              <a:latin typeface="宋体" pitchFamily="2" charset="-122"/>
              <a:ea typeface="仿宋_GB2312" pitchFamily="49" charset="-122"/>
            </a:endParaRPr>
          </a:p>
          <a:p>
            <a:pPr>
              <a:spcBef>
                <a:spcPct val="50000"/>
              </a:spcBef>
              <a:buClrTx/>
              <a:buFontTx/>
            </a:pPr>
            <a:endParaRPr lang="zh-CN" altLang="en-US" sz="2000" dirty="0">
              <a:latin typeface="Times New Roman" panose="02020503050405090304" pitchFamily="18" charset="0"/>
              <a:ea typeface="仿宋_GB2312" pitchFamily="49" charset="-122"/>
            </a:endParaRPr>
          </a:p>
        </p:txBody>
      </p:sp>
      <p:grpSp>
        <p:nvGrpSpPr>
          <p:cNvPr id="84998" name="Group 9"/>
          <p:cNvGrpSpPr/>
          <p:nvPr/>
        </p:nvGrpSpPr>
        <p:grpSpPr>
          <a:xfrm>
            <a:off x="827088" y="5373688"/>
            <a:ext cx="7121525" cy="719137"/>
            <a:chOff x="-3" y="-3"/>
            <a:chExt cx="4078" cy="754"/>
          </a:xfrm>
        </p:grpSpPr>
        <p:grpSp>
          <p:nvGrpSpPr>
            <p:cNvPr id="107527" name="Group 10"/>
            <p:cNvGrpSpPr/>
            <p:nvPr/>
          </p:nvGrpSpPr>
          <p:grpSpPr>
            <a:xfrm>
              <a:off x="0" y="0"/>
              <a:ext cx="4072" cy="748"/>
              <a:chOff x="0" y="0"/>
              <a:chExt cx="4072" cy="748"/>
            </a:xfrm>
          </p:grpSpPr>
          <p:grpSp>
            <p:nvGrpSpPr>
              <p:cNvPr id="107528" name="Group 11"/>
              <p:cNvGrpSpPr/>
              <p:nvPr/>
            </p:nvGrpSpPr>
            <p:grpSpPr>
              <a:xfrm>
                <a:off x="0" y="0"/>
                <a:ext cx="509" cy="748"/>
                <a:chOff x="0" y="0"/>
                <a:chExt cx="509" cy="748"/>
              </a:xfrm>
            </p:grpSpPr>
            <p:sp>
              <p:nvSpPr>
                <p:cNvPr id="107529" name="Rectangle 12"/>
                <p:cNvSpPr/>
                <p:nvPr/>
              </p:nvSpPr>
              <p:spPr>
                <a:xfrm>
                  <a:off x="43" y="0"/>
                  <a:ext cx="423" cy="748"/>
                </a:xfrm>
                <a:prstGeom prst="rect">
                  <a:avLst/>
                </a:prstGeom>
                <a:noFill/>
                <a:ln w="9525">
                  <a:noFill/>
                </a:ln>
              </p:spPr>
              <p:txBody>
                <a:bodyPr anchor="ctr" anchorCtr="0"/>
                <a:p>
                  <a:pPr algn="ctr" eaLnBrk="0" hangingPunct="0">
                    <a:buClrTx/>
                    <a:buFontTx/>
                  </a:pPr>
                  <a:r>
                    <a:rPr lang="en-US" altLang="zh-CN" dirty="0">
                      <a:latin typeface="Times New Roman" panose="02020503050405090304" pitchFamily="18" charset="0"/>
                      <a:ea typeface="宋体" pitchFamily="2" charset="-122"/>
                    </a:rPr>
                    <a:t>Cy</a:t>
                  </a:r>
                  <a:endParaRPr lang="en-US" altLang="zh-CN" sz="1000" dirty="0">
                    <a:latin typeface="Times New Roman" panose="02020503050405090304" pitchFamily="18" charset="0"/>
                    <a:ea typeface="宋体" pitchFamily="2" charset="-122"/>
                  </a:endParaRPr>
                </a:p>
                <a:p>
                  <a:pPr algn="ctr" eaLnBrk="0" hangingPunct="0">
                    <a:buClrTx/>
                    <a:buFontTx/>
                  </a:pPr>
                  <a:endParaRPr lang="en-US" altLang="zh-CN" b="0" dirty="0">
                    <a:latin typeface="Times New Roman" panose="02020503050405090304" pitchFamily="18" charset="0"/>
                    <a:ea typeface="宋体" pitchFamily="2" charset="-122"/>
                  </a:endParaRPr>
                </a:p>
              </p:txBody>
            </p:sp>
            <p:sp>
              <p:nvSpPr>
                <p:cNvPr id="107530" name="Rectangle 13"/>
                <p:cNvSpPr/>
                <p:nvPr/>
              </p:nvSpPr>
              <p:spPr>
                <a:xfrm>
                  <a:off x="0" y="0"/>
                  <a:ext cx="509" cy="748"/>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107531" name="Group 14"/>
              <p:cNvGrpSpPr/>
              <p:nvPr/>
            </p:nvGrpSpPr>
            <p:grpSpPr>
              <a:xfrm>
                <a:off x="509" y="0"/>
                <a:ext cx="509" cy="748"/>
                <a:chOff x="509" y="0"/>
                <a:chExt cx="509" cy="748"/>
              </a:xfrm>
            </p:grpSpPr>
            <p:sp>
              <p:nvSpPr>
                <p:cNvPr id="107532" name="Rectangle 15"/>
                <p:cNvSpPr/>
                <p:nvPr/>
              </p:nvSpPr>
              <p:spPr>
                <a:xfrm>
                  <a:off x="552" y="0"/>
                  <a:ext cx="423" cy="748"/>
                </a:xfrm>
                <a:prstGeom prst="rect">
                  <a:avLst/>
                </a:prstGeom>
                <a:noFill/>
                <a:ln w="9525">
                  <a:noFill/>
                </a:ln>
              </p:spPr>
              <p:txBody>
                <a:bodyPr anchor="ctr" anchorCtr="0"/>
                <a:p>
                  <a:pPr algn="ctr" eaLnBrk="0" hangingPunct="0">
                    <a:buClrTx/>
                    <a:buFontTx/>
                  </a:pPr>
                  <a:r>
                    <a:rPr lang="en-US" altLang="zh-CN" dirty="0">
                      <a:latin typeface="Times New Roman" panose="02020503050405090304" pitchFamily="18" charset="0"/>
                      <a:ea typeface="宋体" pitchFamily="2" charset="-122"/>
                    </a:rPr>
                    <a:t>AC</a:t>
                  </a:r>
                  <a:endParaRPr lang="en-US" altLang="zh-CN" sz="1000" dirty="0">
                    <a:latin typeface="Times New Roman" panose="02020503050405090304" pitchFamily="18" charset="0"/>
                    <a:ea typeface="宋体" pitchFamily="2" charset="-122"/>
                  </a:endParaRPr>
                </a:p>
                <a:p>
                  <a:pPr algn="ctr" eaLnBrk="0" hangingPunct="0">
                    <a:buClrTx/>
                    <a:buFontTx/>
                  </a:pPr>
                  <a:endParaRPr lang="en-US" altLang="zh-CN" b="0" dirty="0">
                    <a:latin typeface="Times New Roman" panose="02020503050405090304" pitchFamily="18" charset="0"/>
                    <a:ea typeface="宋体" pitchFamily="2" charset="-122"/>
                  </a:endParaRPr>
                </a:p>
              </p:txBody>
            </p:sp>
            <p:sp>
              <p:nvSpPr>
                <p:cNvPr id="107533" name="Rectangle 16"/>
                <p:cNvSpPr/>
                <p:nvPr/>
              </p:nvSpPr>
              <p:spPr>
                <a:xfrm>
                  <a:off x="509" y="0"/>
                  <a:ext cx="509" cy="748"/>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107534" name="Group 17"/>
              <p:cNvGrpSpPr/>
              <p:nvPr/>
            </p:nvGrpSpPr>
            <p:grpSpPr>
              <a:xfrm>
                <a:off x="1018" y="0"/>
                <a:ext cx="509" cy="748"/>
                <a:chOff x="1018" y="0"/>
                <a:chExt cx="509" cy="748"/>
              </a:xfrm>
            </p:grpSpPr>
            <p:sp>
              <p:nvSpPr>
                <p:cNvPr id="107535" name="Rectangle 18"/>
                <p:cNvSpPr/>
                <p:nvPr/>
              </p:nvSpPr>
              <p:spPr>
                <a:xfrm>
                  <a:off x="1061" y="0"/>
                  <a:ext cx="423" cy="748"/>
                </a:xfrm>
                <a:prstGeom prst="rect">
                  <a:avLst/>
                </a:prstGeom>
                <a:noFill/>
                <a:ln w="9525">
                  <a:noFill/>
                </a:ln>
              </p:spPr>
              <p:txBody>
                <a:bodyPr bIns="0" anchor="ctr" anchorCtr="0"/>
                <a:p>
                  <a:pPr algn="ctr" eaLnBrk="0" hangingPunct="0">
                    <a:buClrTx/>
                    <a:buFontTx/>
                  </a:pPr>
                  <a:r>
                    <a:rPr lang="en-US" altLang="zh-CN" dirty="0">
                      <a:latin typeface="Times New Roman" panose="02020503050405090304" pitchFamily="18" charset="0"/>
                      <a:ea typeface="宋体" pitchFamily="2" charset="-122"/>
                    </a:rPr>
                    <a:t>F0</a:t>
                  </a:r>
                  <a:endParaRPr lang="en-US" altLang="zh-CN" sz="2600" dirty="0">
                    <a:latin typeface="Times New Roman" panose="02020503050405090304" pitchFamily="18" charset="0"/>
                    <a:ea typeface="宋体" pitchFamily="2" charset="-122"/>
                  </a:endParaRPr>
                </a:p>
                <a:p>
                  <a:pPr algn="ctr" eaLnBrk="0" hangingPunct="0">
                    <a:buClrTx/>
                    <a:buFontTx/>
                  </a:pPr>
                  <a:endParaRPr lang="en-US" altLang="zh-CN" b="0" dirty="0">
                    <a:latin typeface="Times New Roman" panose="02020503050405090304" pitchFamily="18" charset="0"/>
                    <a:ea typeface="宋体" pitchFamily="2" charset="-122"/>
                  </a:endParaRPr>
                </a:p>
              </p:txBody>
            </p:sp>
            <p:sp>
              <p:nvSpPr>
                <p:cNvPr id="107536" name="Rectangle 19"/>
                <p:cNvSpPr/>
                <p:nvPr/>
              </p:nvSpPr>
              <p:spPr>
                <a:xfrm>
                  <a:off x="1018" y="0"/>
                  <a:ext cx="509" cy="748"/>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107537" name="Group 20"/>
              <p:cNvGrpSpPr/>
              <p:nvPr/>
            </p:nvGrpSpPr>
            <p:grpSpPr>
              <a:xfrm>
                <a:off x="1527" y="0"/>
                <a:ext cx="509" cy="748"/>
                <a:chOff x="1527" y="0"/>
                <a:chExt cx="509" cy="748"/>
              </a:xfrm>
            </p:grpSpPr>
            <p:sp>
              <p:nvSpPr>
                <p:cNvPr id="107538" name="Rectangle 21"/>
                <p:cNvSpPr/>
                <p:nvPr/>
              </p:nvSpPr>
              <p:spPr>
                <a:xfrm>
                  <a:off x="1570" y="0"/>
                  <a:ext cx="423" cy="748"/>
                </a:xfrm>
                <a:prstGeom prst="rect">
                  <a:avLst/>
                </a:prstGeom>
                <a:noFill/>
                <a:ln w="9525">
                  <a:noFill/>
                </a:ln>
              </p:spPr>
              <p:txBody>
                <a:bodyPr anchor="ctr" anchorCtr="0"/>
                <a:p>
                  <a:pPr algn="ctr" eaLnBrk="0" hangingPunct="0">
                    <a:buClrTx/>
                    <a:buFontTx/>
                  </a:pPr>
                  <a:r>
                    <a:rPr lang="en-US" altLang="zh-CN" dirty="0">
                      <a:latin typeface="Times New Roman" panose="02020503050405090304" pitchFamily="18" charset="0"/>
                      <a:ea typeface="宋体" pitchFamily="2" charset="-122"/>
                    </a:rPr>
                    <a:t>RS1</a:t>
                  </a:r>
                  <a:endParaRPr lang="en-US" altLang="zh-CN" sz="1000" dirty="0">
                    <a:latin typeface="Times New Roman" panose="02020503050405090304" pitchFamily="18" charset="0"/>
                    <a:ea typeface="宋体" pitchFamily="2" charset="-122"/>
                  </a:endParaRPr>
                </a:p>
                <a:p>
                  <a:pPr algn="ctr" eaLnBrk="0" hangingPunct="0">
                    <a:buClrTx/>
                    <a:buFontTx/>
                  </a:pPr>
                  <a:endParaRPr lang="en-US" altLang="zh-CN" b="0" dirty="0">
                    <a:latin typeface="Times New Roman" panose="02020503050405090304" pitchFamily="18" charset="0"/>
                    <a:ea typeface="宋体" pitchFamily="2" charset="-122"/>
                  </a:endParaRPr>
                </a:p>
              </p:txBody>
            </p:sp>
            <p:sp>
              <p:nvSpPr>
                <p:cNvPr id="107539" name="Rectangle 22"/>
                <p:cNvSpPr/>
                <p:nvPr/>
              </p:nvSpPr>
              <p:spPr>
                <a:xfrm>
                  <a:off x="1527" y="0"/>
                  <a:ext cx="509" cy="748"/>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107540" name="Group 23"/>
              <p:cNvGrpSpPr/>
              <p:nvPr/>
            </p:nvGrpSpPr>
            <p:grpSpPr>
              <a:xfrm>
                <a:off x="2036" y="0"/>
                <a:ext cx="509" cy="748"/>
                <a:chOff x="2036" y="0"/>
                <a:chExt cx="509" cy="748"/>
              </a:xfrm>
            </p:grpSpPr>
            <p:sp>
              <p:nvSpPr>
                <p:cNvPr id="107541" name="Rectangle 24"/>
                <p:cNvSpPr/>
                <p:nvPr/>
              </p:nvSpPr>
              <p:spPr>
                <a:xfrm>
                  <a:off x="2079" y="0"/>
                  <a:ext cx="423" cy="748"/>
                </a:xfrm>
                <a:prstGeom prst="rect">
                  <a:avLst/>
                </a:prstGeom>
                <a:noFill/>
                <a:ln w="9525">
                  <a:noFill/>
                </a:ln>
              </p:spPr>
              <p:txBody>
                <a:bodyPr anchor="ctr" anchorCtr="0"/>
                <a:p>
                  <a:pPr algn="ctr" eaLnBrk="0" hangingPunct="0">
                    <a:buClrTx/>
                    <a:buFontTx/>
                  </a:pPr>
                  <a:r>
                    <a:rPr lang="en-US" altLang="zh-CN" dirty="0">
                      <a:latin typeface="Times New Roman" panose="02020503050405090304" pitchFamily="18" charset="0"/>
                      <a:ea typeface="宋体" pitchFamily="2" charset="-122"/>
                    </a:rPr>
                    <a:t>RS0</a:t>
                  </a:r>
                  <a:endParaRPr lang="en-US" altLang="zh-CN" sz="1000" dirty="0">
                    <a:latin typeface="Times New Roman" panose="02020503050405090304" pitchFamily="18" charset="0"/>
                    <a:ea typeface="宋体" pitchFamily="2" charset="-122"/>
                  </a:endParaRPr>
                </a:p>
                <a:p>
                  <a:pPr algn="ctr" eaLnBrk="0" hangingPunct="0">
                    <a:buClrTx/>
                    <a:buFontTx/>
                  </a:pPr>
                  <a:endParaRPr lang="en-US" altLang="zh-CN" b="0" dirty="0">
                    <a:latin typeface="Times New Roman" panose="02020503050405090304" pitchFamily="18" charset="0"/>
                    <a:ea typeface="宋体" pitchFamily="2" charset="-122"/>
                  </a:endParaRPr>
                </a:p>
              </p:txBody>
            </p:sp>
            <p:sp>
              <p:nvSpPr>
                <p:cNvPr id="107542" name="Rectangle 25"/>
                <p:cNvSpPr/>
                <p:nvPr/>
              </p:nvSpPr>
              <p:spPr>
                <a:xfrm>
                  <a:off x="2036" y="0"/>
                  <a:ext cx="509" cy="748"/>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107543" name="Group 26"/>
              <p:cNvGrpSpPr/>
              <p:nvPr/>
            </p:nvGrpSpPr>
            <p:grpSpPr>
              <a:xfrm>
                <a:off x="2545" y="0"/>
                <a:ext cx="509" cy="748"/>
                <a:chOff x="2545" y="0"/>
                <a:chExt cx="509" cy="748"/>
              </a:xfrm>
            </p:grpSpPr>
            <p:sp>
              <p:nvSpPr>
                <p:cNvPr id="107544" name="Rectangle 27"/>
                <p:cNvSpPr/>
                <p:nvPr/>
              </p:nvSpPr>
              <p:spPr>
                <a:xfrm>
                  <a:off x="2588" y="0"/>
                  <a:ext cx="423" cy="748"/>
                </a:xfrm>
                <a:prstGeom prst="rect">
                  <a:avLst/>
                </a:prstGeom>
                <a:noFill/>
                <a:ln w="9525">
                  <a:noFill/>
                </a:ln>
              </p:spPr>
              <p:txBody>
                <a:bodyPr anchor="ctr" anchorCtr="0"/>
                <a:p>
                  <a:pPr algn="ctr" eaLnBrk="0" hangingPunct="0">
                    <a:buClrTx/>
                    <a:buFontTx/>
                  </a:pPr>
                  <a:r>
                    <a:rPr lang="en-US" altLang="zh-CN" dirty="0">
                      <a:latin typeface="Times New Roman" panose="02020503050405090304" pitchFamily="18" charset="0"/>
                      <a:ea typeface="宋体" pitchFamily="2" charset="-122"/>
                    </a:rPr>
                    <a:t>OV</a:t>
                  </a:r>
                  <a:endParaRPr lang="en-US" altLang="zh-CN" sz="1000" dirty="0">
                    <a:latin typeface="Times New Roman" panose="02020503050405090304" pitchFamily="18" charset="0"/>
                    <a:ea typeface="宋体" pitchFamily="2" charset="-122"/>
                  </a:endParaRPr>
                </a:p>
                <a:p>
                  <a:pPr algn="ctr" eaLnBrk="0" hangingPunct="0">
                    <a:buClrTx/>
                    <a:buFontTx/>
                  </a:pPr>
                  <a:endParaRPr lang="en-US" altLang="zh-CN" b="0" dirty="0">
                    <a:latin typeface="Times New Roman" panose="02020503050405090304" pitchFamily="18" charset="0"/>
                    <a:ea typeface="宋体" pitchFamily="2" charset="-122"/>
                  </a:endParaRPr>
                </a:p>
              </p:txBody>
            </p:sp>
            <p:sp>
              <p:nvSpPr>
                <p:cNvPr id="107545" name="Rectangle 28"/>
                <p:cNvSpPr/>
                <p:nvPr/>
              </p:nvSpPr>
              <p:spPr>
                <a:xfrm>
                  <a:off x="2545" y="0"/>
                  <a:ext cx="509" cy="748"/>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107546" name="Group 29"/>
              <p:cNvGrpSpPr/>
              <p:nvPr/>
            </p:nvGrpSpPr>
            <p:grpSpPr>
              <a:xfrm>
                <a:off x="3054" y="0"/>
                <a:ext cx="509" cy="748"/>
                <a:chOff x="3054" y="0"/>
                <a:chExt cx="509" cy="748"/>
              </a:xfrm>
            </p:grpSpPr>
            <p:sp>
              <p:nvSpPr>
                <p:cNvPr id="107547" name="Rectangle 30"/>
                <p:cNvSpPr/>
                <p:nvPr/>
              </p:nvSpPr>
              <p:spPr>
                <a:xfrm>
                  <a:off x="3097" y="0"/>
                  <a:ext cx="423" cy="748"/>
                </a:xfrm>
                <a:prstGeom prst="rect">
                  <a:avLst/>
                </a:prstGeom>
                <a:noFill/>
                <a:ln w="9525">
                  <a:noFill/>
                </a:ln>
              </p:spPr>
              <p:txBody>
                <a:bodyPr anchor="ctr" anchorCtr="0"/>
                <a:p>
                  <a:pPr algn="ctr" eaLnBrk="0" hangingPunct="0">
                    <a:buClrTx/>
                    <a:buFontTx/>
                  </a:pPr>
                  <a:r>
                    <a:rPr lang="zh-CN" altLang="en-US" dirty="0">
                      <a:latin typeface="Times New Roman" panose="02020503050405090304" pitchFamily="18" charset="0"/>
                      <a:ea typeface="宋体" pitchFamily="2" charset="-122"/>
                    </a:rPr>
                    <a:t>—</a:t>
                  </a:r>
                  <a:endParaRPr lang="zh-CN" altLang="en-US" sz="1000" dirty="0">
                    <a:latin typeface="Times New Roman" panose="02020503050405090304" pitchFamily="18" charset="0"/>
                    <a:ea typeface="宋体" pitchFamily="2" charset="-122"/>
                  </a:endParaRPr>
                </a:p>
                <a:p>
                  <a:pPr algn="ctr" eaLnBrk="0" hangingPunct="0">
                    <a:buClrTx/>
                    <a:buFontTx/>
                  </a:pPr>
                  <a:endParaRPr lang="zh-CN" altLang="en-US" b="0" dirty="0">
                    <a:latin typeface="Times New Roman" panose="02020503050405090304" pitchFamily="18" charset="0"/>
                    <a:ea typeface="宋体" pitchFamily="2" charset="-122"/>
                  </a:endParaRPr>
                </a:p>
              </p:txBody>
            </p:sp>
            <p:sp>
              <p:nvSpPr>
                <p:cNvPr id="107548" name="Rectangle 31"/>
                <p:cNvSpPr/>
                <p:nvPr/>
              </p:nvSpPr>
              <p:spPr>
                <a:xfrm>
                  <a:off x="3054" y="0"/>
                  <a:ext cx="509" cy="748"/>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nvGrpSpPr>
              <p:cNvPr id="107549" name="Group 32"/>
              <p:cNvGrpSpPr/>
              <p:nvPr/>
            </p:nvGrpSpPr>
            <p:grpSpPr>
              <a:xfrm>
                <a:off x="3563" y="0"/>
                <a:ext cx="509" cy="748"/>
                <a:chOff x="3563" y="0"/>
                <a:chExt cx="509" cy="748"/>
              </a:xfrm>
            </p:grpSpPr>
            <p:sp>
              <p:nvSpPr>
                <p:cNvPr id="107550" name="Rectangle 33"/>
                <p:cNvSpPr/>
                <p:nvPr/>
              </p:nvSpPr>
              <p:spPr>
                <a:xfrm>
                  <a:off x="3606" y="0"/>
                  <a:ext cx="423" cy="748"/>
                </a:xfrm>
                <a:prstGeom prst="rect">
                  <a:avLst/>
                </a:prstGeom>
                <a:noFill/>
                <a:ln w="9525">
                  <a:noFill/>
                </a:ln>
              </p:spPr>
              <p:txBody>
                <a:bodyPr anchor="ctr" anchorCtr="0"/>
                <a:p>
                  <a:pPr algn="ctr" eaLnBrk="0" hangingPunct="0">
                    <a:buClrTx/>
                    <a:buFontTx/>
                  </a:pPr>
                  <a:r>
                    <a:rPr lang="en-US" altLang="zh-CN" dirty="0">
                      <a:latin typeface="Times New Roman" panose="02020503050405090304" pitchFamily="18" charset="0"/>
                      <a:ea typeface="宋体" pitchFamily="2" charset="-122"/>
                    </a:rPr>
                    <a:t>P</a:t>
                  </a:r>
                  <a:endParaRPr lang="en-US" altLang="zh-CN" sz="1000" dirty="0">
                    <a:latin typeface="Times New Roman" panose="02020503050405090304" pitchFamily="18" charset="0"/>
                    <a:ea typeface="宋体" pitchFamily="2" charset="-122"/>
                  </a:endParaRPr>
                </a:p>
                <a:p>
                  <a:pPr algn="ctr" eaLnBrk="0" hangingPunct="0">
                    <a:buClrTx/>
                    <a:buFontTx/>
                  </a:pPr>
                  <a:endParaRPr lang="en-US" altLang="zh-CN" b="0" dirty="0">
                    <a:latin typeface="Times New Roman" panose="02020503050405090304" pitchFamily="18" charset="0"/>
                    <a:ea typeface="宋体" pitchFamily="2" charset="-122"/>
                  </a:endParaRPr>
                </a:p>
              </p:txBody>
            </p:sp>
            <p:sp>
              <p:nvSpPr>
                <p:cNvPr id="107551" name="Rectangle 34"/>
                <p:cNvSpPr/>
                <p:nvPr/>
              </p:nvSpPr>
              <p:spPr>
                <a:xfrm>
                  <a:off x="3563" y="0"/>
                  <a:ext cx="509" cy="748"/>
                </a:xfrm>
                <a:prstGeom prst="rect">
                  <a:avLst/>
                </a:prstGeom>
                <a:noFill/>
                <a:ln w="7"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grpSp>
        <p:sp>
          <p:nvSpPr>
            <p:cNvPr id="107552" name="Rectangle 35"/>
            <p:cNvSpPr/>
            <p:nvPr/>
          </p:nvSpPr>
          <p:spPr>
            <a:xfrm>
              <a:off x="-3" y="-3"/>
              <a:ext cx="4078" cy="754"/>
            </a:xfrm>
            <a:prstGeom prst="rect">
              <a:avLst/>
            </a:prstGeom>
            <a:noFill/>
            <a:ln w="11112" cap="flat" cmpd="sng">
              <a:solidFill>
                <a:srgbClr val="A0A0A0"/>
              </a:solidFill>
              <a:prstDash val="solid"/>
              <a:miter/>
              <a:headEnd type="none" w="med" len="med"/>
              <a:tailEnd type="none" w="med" len="med"/>
            </a:ln>
          </p:spPr>
          <p:txBody>
            <a:bodyPr wrap="none" anchor="t" anchorCtr="0"/>
            <a:p>
              <a:pPr eaLnBrk="0" hangingPunct="0"/>
              <a:endParaRPr lang="zh-CN" altLang="en-US" dirty="0">
                <a:latin typeface="Times New Roman" panose="02020503050405090304" pitchFamily="18" charset="0"/>
                <a:ea typeface="仿宋_GB2312" pitchFamily="49" charset="-122"/>
              </a:endParaRPr>
            </a:p>
          </p:txBody>
        </p:sp>
      </p:grpSp>
      <p:sp>
        <p:nvSpPr>
          <p:cNvPr id="34" name="TextBox 33"/>
          <p:cNvSpPr txBox="1"/>
          <p:nvPr/>
        </p:nvSpPr>
        <p:spPr>
          <a:xfrm>
            <a:off x="857250" y="4429125"/>
            <a:ext cx="8072438" cy="936625"/>
          </a:xfrm>
          <a:prstGeom prst="rect">
            <a:avLst/>
          </a:prstGeom>
          <a:noFill/>
          <a:ln w="9525">
            <a:noFill/>
          </a:ln>
        </p:spPr>
        <p:txBody>
          <a:bodyPr anchor="t" anchorCtr="0">
            <a:spAutoFit/>
          </a:bodyPr>
          <a:p>
            <a:pPr algn="just" eaLnBrk="0" hangingPunct="0">
              <a:lnSpc>
                <a:spcPct val="120000"/>
              </a:lnSpc>
              <a:buClrTx/>
              <a:buFontTx/>
            </a:pPr>
            <a:r>
              <a:rPr lang="en-US" altLang="zh-CN" dirty="0">
                <a:latin typeface="宋体" pitchFamily="2" charset="-122"/>
                <a:ea typeface="仿宋_GB2312" pitchFamily="49" charset="-122"/>
              </a:rPr>
              <a:t>A= 7DH ，Cy= 1 ，OV= 1，AC= 0，P= 0，</a:t>
            </a:r>
            <a:endParaRPr lang="en-US" altLang="zh-CN" dirty="0">
              <a:latin typeface="宋体" pitchFamily="2" charset="-122"/>
              <a:ea typeface="仿宋_GB2312" pitchFamily="49" charset="-122"/>
            </a:endParaRPr>
          </a:p>
          <a:p>
            <a:pPr algn="just" eaLnBrk="0" hangingPunct="0">
              <a:lnSpc>
                <a:spcPct val="120000"/>
              </a:lnSpc>
              <a:buClrTx/>
              <a:buFontTx/>
            </a:pPr>
            <a:r>
              <a:rPr lang="en-US" altLang="zh-CN" dirty="0">
                <a:latin typeface="宋体" pitchFamily="2" charset="-122"/>
                <a:ea typeface="仿宋_GB2312" pitchFamily="49" charset="-122"/>
              </a:rPr>
              <a:t>	PSW=</a:t>
            </a:r>
            <a:endParaRPr lang="zh-CN" altLang="en-US" dirty="0">
              <a:latin typeface="Times New Roman" panose="02020503050405090304" pitchFamily="18" charset="0"/>
              <a:ea typeface="仿宋_GB2312" pitchFamily="49" charset="-122"/>
            </a:endParaRPr>
          </a:p>
        </p:txBody>
      </p:sp>
      <p:sp>
        <p:nvSpPr>
          <p:cNvPr id="107554" name="Text Box 11"/>
          <p:cNvSpPr txBox="1"/>
          <p:nvPr/>
        </p:nvSpPr>
        <p:spPr>
          <a:xfrm>
            <a:off x="3638550" y="1136650"/>
            <a:ext cx="3409950" cy="476250"/>
          </a:xfrm>
          <a:prstGeom prst="rect">
            <a:avLst/>
          </a:prstGeom>
          <a:solidFill>
            <a:srgbClr val="F4D8E3"/>
          </a:solidFill>
          <a:ln w="9525">
            <a:noFill/>
          </a:ln>
        </p:spPr>
        <p:txBody>
          <a:bodyPr wrap="none" tIns="0" anchor="ctr" anchorCtr="0">
            <a:spAutoFit/>
          </a:bodyPr>
          <a:p>
            <a:pPr algn="ctr">
              <a:spcBef>
                <a:spcPct val="50000"/>
              </a:spcBef>
              <a:buClrTx/>
              <a:buFontTx/>
            </a:pPr>
            <a:r>
              <a:rPr lang="zh-CN" altLang="zh-CN" sz="2800" dirty="0">
                <a:solidFill>
                  <a:schemeClr val="hlink"/>
                </a:solidFill>
                <a:latin typeface="Times New Roman" panose="02020503050405090304" pitchFamily="18" charset="0"/>
                <a:ea typeface="仿宋_GB2312" pitchFamily="49" charset="-122"/>
              </a:rPr>
              <a:t>ADDC  A，源操作数</a:t>
            </a:r>
            <a:endParaRPr lang="zh-CN" altLang="zh-CN" sz="2800" dirty="0">
              <a:solidFill>
                <a:schemeClr val="hlink"/>
              </a:solidFill>
              <a:latin typeface="Times New Roman" panose="02020503050405090304" pitchFamily="18" charset="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4995">
                                            <p:txEl>
                                              <p:charRg st="0" end="29"/>
                                            </p:txEl>
                                          </p:spTgt>
                                        </p:tgtEl>
                                        <p:attrNameLst>
                                          <p:attrName>style.visibility</p:attrName>
                                        </p:attrNameLst>
                                      </p:cBhvr>
                                      <p:to>
                                        <p:strVal val="visible"/>
                                      </p:to>
                                    </p:set>
                                    <p:anim calcmode="lin" valueType="num">
                                      <p:cBhvr additive="base">
                                        <p:cTn id="7" dur="500" fill="hold"/>
                                        <p:tgtEl>
                                          <p:spTgt spid="84995">
                                            <p:txEl>
                                              <p:charRg st="0" end="2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4995">
                                            <p:txEl>
                                              <p:charRg st="0" end="29"/>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4995">
                                            <p:txEl>
                                              <p:charRg st="29" end="42"/>
                                            </p:txEl>
                                          </p:spTgt>
                                        </p:tgtEl>
                                        <p:attrNameLst>
                                          <p:attrName>style.visibility</p:attrName>
                                        </p:attrNameLst>
                                      </p:cBhvr>
                                      <p:to>
                                        <p:strVal val="visible"/>
                                      </p:to>
                                    </p:set>
                                    <p:anim calcmode="lin" valueType="num">
                                      <p:cBhvr additive="base">
                                        <p:cTn id="11" dur="500" fill="hold"/>
                                        <p:tgtEl>
                                          <p:spTgt spid="84995">
                                            <p:txEl>
                                              <p:charRg st="29" end="4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4995">
                                            <p:txEl>
                                              <p:charRg st="29" end="4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066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4"/>
                                        </p:tgtEl>
                                        <p:attrNameLst>
                                          <p:attrName>style.visibility</p:attrName>
                                        </p:attrNameLst>
                                      </p:cBhvr>
                                      <p:to>
                                        <p:strVal val="visible"/>
                                      </p:to>
                                    </p:set>
                                    <p:anim calcmode="lin" valueType="num">
                                      <p:cBhvr additive="base">
                                        <p:cTn id="21" dur="500" fill="hold"/>
                                        <p:tgtEl>
                                          <p:spTgt spid="34"/>
                                        </p:tgtEl>
                                        <p:attrNameLst>
                                          <p:attrName>ppt_x</p:attrName>
                                        </p:attrNameLst>
                                      </p:cBhvr>
                                      <p:tavLst>
                                        <p:tav tm="0">
                                          <p:val>
                                            <p:strVal val="#ppt_x"/>
                                          </p:val>
                                        </p:tav>
                                        <p:tav tm="100000">
                                          <p:val>
                                            <p:strVal val="#ppt_x"/>
                                          </p:val>
                                        </p:tav>
                                      </p:tavLst>
                                    </p:anim>
                                    <p:anim calcmode="lin" valueType="num">
                                      <p:cBhvr additive="base">
                                        <p:cTn id="22"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84998"/>
                                        </p:tgtEl>
                                        <p:attrNameLst>
                                          <p:attrName>style.visibility</p:attrName>
                                        </p:attrNameLst>
                                      </p:cBhvr>
                                      <p:to>
                                        <p:strVal val="visible"/>
                                      </p:to>
                                    </p:set>
                                    <p:anim calcmode="lin" valueType="num">
                                      <p:cBhvr additive="base">
                                        <p:cTn id="27" dur="500" fill="hold"/>
                                        <p:tgtEl>
                                          <p:spTgt spid="84998"/>
                                        </p:tgtEl>
                                        <p:attrNameLst>
                                          <p:attrName>ppt_x</p:attrName>
                                        </p:attrNameLst>
                                      </p:cBhvr>
                                      <p:tavLst>
                                        <p:tav tm="0">
                                          <p:val>
                                            <p:strVal val="#ppt_x"/>
                                          </p:val>
                                        </p:tav>
                                        <p:tav tm="100000">
                                          <p:val>
                                            <p:strVal val="#ppt_x"/>
                                          </p:val>
                                        </p:tav>
                                      </p:tavLst>
                                    </p:anim>
                                    <p:anim calcmode="lin" valueType="num">
                                      <p:cBhvr additive="base">
                                        <p:cTn id="28" dur="500" fill="hold"/>
                                        <p:tgtEl>
                                          <p:spTgt spid="84998"/>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500" fill="hold"/>
                                        <p:tgtEl>
                                          <p:spTgt spid="7"/>
                                        </p:tgtEl>
                                        <p:attrNameLst>
                                          <p:attrName>ppt_x</p:attrName>
                                        </p:attrNameLst>
                                      </p:cBhvr>
                                      <p:tavLst>
                                        <p:tav tm="0">
                                          <p:val>
                                            <p:strVal val="#ppt_x"/>
                                          </p:val>
                                        </p:tav>
                                        <p:tav tm="100000">
                                          <p:val>
                                            <p:strVal val="#ppt_x"/>
                                          </p:val>
                                        </p:tav>
                                      </p:tavLst>
                                    </p:anim>
                                    <p:anim calcmode="lin" valueType="num">
                                      <p:cBhvr additive="base">
                                        <p:cTn id="3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0662" grpId="0"/>
      <p:bldP spid="34"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08545" name="Object 1"/>
          <p:cNvGraphicFramePr>
            <a:graphicFrameLocks noChangeAspect="1"/>
          </p:cNvGraphicFramePr>
          <p:nvPr/>
        </p:nvGraphicFramePr>
        <p:xfrm>
          <a:off x="7092950" y="2997200"/>
          <a:ext cx="1611313" cy="2592388"/>
        </p:xfrm>
        <a:graphic>
          <a:graphicData uri="http://schemas.openxmlformats.org/presentationml/2006/ole">
            <mc:AlternateContent xmlns:mc="http://schemas.openxmlformats.org/markup-compatibility/2006">
              <mc:Choice xmlns:v="urn:schemas-microsoft-com:vml" Requires="v">
                <p:oleObj spid="_x0000_s3088" name="" r:id="rId1" imgW="9089390" imgH="4568825" progId="Word.Document.8">
                  <p:embed/>
                </p:oleObj>
              </mc:Choice>
              <mc:Fallback>
                <p:oleObj name="" r:id="rId1" imgW="9089390" imgH="4568825" progId="Word.Document.8">
                  <p:embed/>
                  <p:pic>
                    <p:nvPicPr>
                      <p:cNvPr id="0" name="Picture 3087"/>
                      <p:cNvPicPr/>
                      <p:nvPr/>
                    </p:nvPicPr>
                    <p:blipFill>
                      <a:blip r:embed="rId2"/>
                      <a:srcRect l="82004" b="42662"/>
                      <a:stretch>
                        <a:fillRect/>
                      </a:stretch>
                    </p:blipFill>
                    <p:spPr>
                      <a:xfrm>
                        <a:off x="7092950" y="2997200"/>
                        <a:ext cx="1611313" cy="2592388"/>
                      </a:xfrm>
                      <a:prstGeom prst="rect">
                        <a:avLst/>
                      </a:prstGeom>
                      <a:noFill/>
                      <a:ln w="38100">
                        <a:noFill/>
                        <a:miter/>
                      </a:ln>
                    </p:spPr>
                  </p:pic>
                </p:oleObj>
              </mc:Fallback>
            </mc:AlternateContent>
          </a:graphicData>
        </a:graphic>
      </p:graphicFrame>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108547" name="Rectangle 3"/>
          <p:cNvSpPr>
            <a:spLocks noGrp="1"/>
          </p:cNvSpPr>
          <p:nvPr>
            <p:ph type="body" idx="4294967295"/>
          </p:nvPr>
        </p:nvSpPr>
        <p:spPr>
          <a:xfrm>
            <a:off x="428625" y="990600"/>
            <a:ext cx="8715375" cy="652463"/>
          </a:xfrm>
        </p:spPr>
        <p:txBody>
          <a:bodyPr vert="horz" wrap="square" lIns="91440" tIns="45720" rIns="91440" bIns="45720" anchor="t" anchorCtr="0"/>
          <a:p>
            <a:pPr marL="0" algn="just">
              <a:lnSpc>
                <a:spcPct val="100000"/>
              </a:lnSpc>
              <a:spcBef>
                <a:spcPct val="0"/>
              </a:spcBef>
              <a:buNone/>
            </a:pPr>
            <a:r>
              <a:rPr lang="zh-CN" altLang="en-US" sz="2400" dirty="0">
                <a:latin typeface="宋体" pitchFamily="2" charset="-122"/>
              </a:rPr>
              <a:t>  带进位加法指令</a:t>
            </a:r>
            <a:r>
              <a:rPr lang="en-US" altLang="zh-CN" sz="2400" dirty="0">
                <a:latin typeface="宋体" pitchFamily="2" charset="-122"/>
              </a:rPr>
              <a:t>ADDC</a:t>
            </a:r>
            <a:r>
              <a:rPr lang="zh-CN" altLang="en-US" sz="2400" dirty="0">
                <a:latin typeface="宋体" pitchFamily="2" charset="-122"/>
              </a:rPr>
              <a:t>用于多字节运算</a:t>
            </a:r>
            <a:endParaRPr lang="en-US" altLang="zh-CN" sz="2400" dirty="0">
              <a:latin typeface="宋体" pitchFamily="2" charset="-122"/>
            </a:endParaRPr>
          </a:p>
          <a:p>
            <a:pPr marL="0" algn="just">
              <a:lnSpc>
                <a:spcPct val="100000"/>
              </a:lnSpc>
              <a:spcBef>
                <a:spcPct val="0"/>
              </a:spcBef>
              <a:buNone/>
            </a:pPr>
            <a:r>
              <a:rPr lang="zh-CN" altLang="en-US" sz="2400" dirty="0">
                <a:solidFill>
                  <a:srgbClr val="A40079"/>
                </a:solidFill>
                <a:latin typeface="宋体" pitchFamily="2" charset="-122"/>
              </a:rPr>
              <a:t>例：</a:t>
            </a:r>
            <a:r>
              <a:rPr lang="zh-CN" altLang="en-US" sz="2400" dirty="0">
                <a:latin typeface="宋体" pitchFamily="2" charset="-122"/>
              </a:rPr>
              <a:t>设双字节数 </a:t>
            </a:r>
            <a:r>
              <a:rPr lang="en-US" altLang="zh-CN" sz="2400" dirty="0">
                <a:latin typeface="宋体" pitchFamily="2" charset="-122"/>
              </a:rPr>
              <a:t>X </a:t>
            </a:r>
            <a:r>
              <a:rPr lang="zh-CN" altLang="en-US" sz="2400" dirty="0">
                <a:latin typeface="宋体" pitchFamily="2" charset="-122"/>
              </a:rPr>
              <a:t>存在片内</a:t>
            </a:r>
            <a:r>
              <a:rPr lang="en-US" altLang="zh-CN" sz="2400" dirty="0">
                <a:latin typeface="宋体" pitchFamily="2" charset="-122"/>
              </a:rPr>
              <a:t>RAM</a:t>
            </a:r>
            <a:r>
              <a:rPr lang="zh-CN" altLang="en-US" sz="2400" dirty="0">
                <a:latin typeface="宋体" pitchFamily="2" charset="-122"/>
              </a:rPr>
              <a:t> 41</a:t>
            </a:r>
            <a:r>
              <a:rPr lang="en-US" altLang="zh-CN" sz="2400" dirty="0">
                <a:latin typeface="宋体" pitchFamily="2" charset="-122"/>
              </a:rPr>
              <a:t>H、40H</a:t>
            </a:r>
            <a:r>
              <a:rPr lang="zh-CN" altLang="en-US" sz="2400" dirty="0">
                <a:latin typeface="宋体" pitchFamily="2" charset="-122"/>
              </a:rPr>
              <a:t>单元，</a:t>
            </a:r>
            <a:r>
              <a:rPr lang="en-US" altLang="zh-CN" sz="2400" dirty="0">
                <a:latin typeface="宋体" pitchFamily="2" charset="-122"/>
              </a:rPr>
              <a:t>Y</a:t>
            </a:r>
            <a:r>
              <a:rPr lang="zh-CN" altLang="en-US" sz="2400" dirty="0">
                <a:latin typeface="宋体" pitchFamily="2" charset="-122"/>
              </a:rPr>
              <a:t>存在4</a:t>
            </a:r>
            <a:r>
              <a:rPr lang="en-US" altLang="zh-CN" sz="2400" dirty="0">
                <a:latin typeface="宋体" pitchFamily="2" charset="-122"/>
              </a:rPr>
              <a:t>3H、42H</a:t>
            </a:r>
            <a:r>
              <a:rPr lang="zh-CN" altLang="en-US" sz="2400" dirty="0">
                <a:latin typeface="宋体" pitchFamily="2" charset="-122"/>
              </a:rPr>
              <a:t>单元，编程求 </a:t>
            </a:r>
            <a:r>
              <a:rPr lang="en-US" altLang="zh-CN" sz="2400" dirty="0">
                <a:latin typeface="宋体" pitchFamily="2" charset="-122"/>
              </a:rPr>
              <a:t>Z=X+Y，</a:t>
            </a:r>
            <a:r>
              <a:rPr lang="zh-CN" altLang="en-US" sz="2400" dirty="0">
                <a:latin typeface="宋体" pitchFamily="2" charset="-122"/>
              </a:rPr>
              <a:t>并存入片内</a:t>
            </a:r>
            <a:r>
              <a:rPr lang="en-US" altLang="zh-CN" sz="2400" dirty="0">
                <a:latin typeface="宋体" pitchFamily="2" charset="-122"/>
              </a:rPr>
              <a:t>RAM</a:t>
            </a:r>
            <a:r>
              <a:rPr lang="zh-CN" altLang="en-US" sz="2400" dirty="0">
                <a:latin typeface="宋体" pitchFamily="2" charset="-122"/>
              </a:rPr>
              <a:t>单元4</a:t>
            </a:r>
            <a:r>
              <a:rPr lang="en-US" altLang="zh-CN" sz="2400" dirty="0">
                <a:latin typeface="宋体" pitchFamily="2" charset="-122"/>
              </a:rPr>
              <a:t>6H、45H、44H</a:t>
            </a:r>
            <a:r>
              <a:rPr lang="zh-CN" altLang="en-US" sz="2400" dirty="0">
                <a:latin typeface="宋体" pitchFamily="2" charset="-122"/>
              </a:rPr>
              <a:t>。</a:t>
            </a:r>
            <a:endParaRPr lang="zh-CN" altLang="en-US" sz="2400" dirty="0">
              <a:latin typeface="宋体" pitchFamily="2" charset="-122"/>
            </a:endParaRPr>
          </a:p>
          <a:p>
            <a:pPr marL="0" algn="just">
              <a:lnSpc>
                <a:spcPct val="100000"/>
              </a:lnSpc>
              <a:spcBef>
                <a:spcPct val="0"/>
              </a:spcBef>
              <a:buNone/>
            </a:pPr>
            <a:endParaRPr lang="en-US" altLang="zh-CN" sz="2400" dirty="0">
              <a:latin typeface="宋体" pitchFamily="2" charset="-122"/>
            </a:endParaRPr>
          </a:p>
          <a:p>
            <a:pPr marL="0" algn="just">
              <a:lnSpc>
                <a:spcPct val="100000"/>
              </a:lnSpc>
              <a:spcBef>
                <a:spcPct val="0"/>
              </a:spcBef>
              <a:buNone/>
            </a:pPr>
            <a:endParaRPr lang="zh-CN" altLang="zh-CN" dirty="0">
              <a:solidFill>
                <a:srgbClr val="FFC000"/>
              </a:solidFill>
              <a:latin typeface="宋体" pitchFamily="2" charset="-122"/>
            </a:endParaRPr>
          </a:p>
        </p:txBody>
      </p:sp>
      <p:sp>
        <p:nvSpPr>
          <p:cNvPr id="86020" name="TextBox 3"/>
          <p:cNvSpPr txBox="1"/>
          <p:nvPr/>
        </p:nvSpPr>
        <p:spPr>
          <a:xfrm>
            <a:off x="592138" y="2506663"/>
            <a:ext cx="3643312" cy="4708525"/>
          </a:xfrm>
          <a:prstGeom prst="rect">
            <a:avLst/>
          </a:prstGeom>
          <a:noFill/>
          <a:ln w="9525">
            <a:noFill/>
          </a:ln>
        </p:spPr>
        <p:txBody>
          <a:bodyPr anchor="t" anchorCtr="0">
            <a:spAutoFit/>
          </a:bodyPr>
          <a:p>
            <a:pPr eaLnBrk="0" hangingPunct="0">
              <a:buClrTx/>
              <a:buFontTx/>
            </a:pPr>
            <a:r>
              <a:rPr lang="en-US" altLang="zh-CN" dirty="0">
                <a:latin typeface="宋体" pitchFamily="2" charset="-122"/>
                <a:ea typeface="仿宋_GB2312" pitchFamily="49" charset="-122"/>
              </a:rPr>
              <a:t>ADDS：CLR  C</a:t>
            </a:r>
            <a:endParaRPr lang="en-US" altLang="zh-CN" dirty="0">
              <a:latin typeface="宋体" pitchFamily="2" charset="-122"/>
              <a:ea typeface="仿宋_GB2312" pitchFamily="49" charset="-122"/>
            </a:endParaRPr>
          </a:p>
          <a:p>
            <a:pPr eaLnBrk="0" hangingPunct="0">
              <a:buClrTx/>
              <a:buFontTx/>
            </a:pPr>
            <a:r>
              <a:rPr lang="en-US" altLang="zh-CN" dirty="0">
                <a:latin typeface="宋体" pitchFamily="2" charset="-122"/>
                <a:ea typeface="仿宋_GB2312" pitchFamily="49" charset="-122"/>
              </a:rPr>
              <a:t>      MOV  A，40H</a:t>
            </a:r>
            <a:endParaRPr lang="en-US" altLang="zh-CN" dirty="0">
              <a:latin typeface="宋体" pitchFamily="2" charset="-122"/>
              <a:ea typeface="仿宋_GB2312" pitchFamily="49" charset="-122"/>
            </a:endParaRPr>
          </a:p>
          <a:p>
            <a:pPr eaLnBrk="0" hangingPunct="0">
              <a:buClrTx/>
              <a:buFontTx/>
            </a:pPr>
            <a:r>
              <a:rPr lang="en-US" altLang="zh-CN" dirty="0">
                <a:latin typeface="宋体" pitchFamily="2" charset="-122"/>
                <a:ea typeface="仿宋_GB2312" pitchFamily="49" charset="-122"/>
              </a:rPr>
              <a:t>	ADD  A，42H</a:t>
            </a:r>
            <a:endParaRPr lang="en-US" altLang="zh-CN" dirty="0">
              <a:latin typeface="宋体" pitchFamily="2" charset="-122"/>
              <a:ea typeface="仿宋_GB2312" pitchFamily="49" charset="-122"/>
            </a:endParaRPr>
          </a:p>
          <a:p>
            <a:pPr eaLnBrk="0" hangingPunct="0">
              <a:buClrTx/>
              <a:buFontTx/>
            </a:pPr>
            <a:r>
              <a:rPr lang="en-US" altLang="zh-CN" dirty="0">
                <a:latin typeface="宋体" pitchFamily="2" charset="-122"/>
                <a:ea typeface="仿宋_GB2312" pitchFamily="49" charset="-122"/>
              </a:rPr>
              <a:t>	MOV  44H，A</a:t>
            </a:r>
            <a:endParaRPr lang="en-US" altLang="zh-CN" dirty="0">
              <a:latin typeface="宋体" pitchFamily="2" charset="-122"/>
              <a:ea typeface="仿宋_GB2312" pitchFamily="49" charset="-122"/>
            </a:endParaRPr>
          </a:p>
          <a:p>
            <a:pPr eaLnBrk="0" hangingPunct="0">
              <a:buClrTx/>
              <a:buFontTx/>
            </a:pPr>
            <a:r>
              <a:rPr lang="en-US" altLang="zh-CN" dirty="0">
                <a:latin typeface="宋体" pitchFamily="2" charset="-122"/>
                <a:ea typeface="仿宋_GB2312" pitchFamily="49" charset="-122"/>
              </a:rPr>
              <a:t>	MOV  A，41H</a:t>
            </a:r>
            <a:endParaRPr lang="en-US" altLang="zh-CN" dirty="0">
              <a:latin typeface="宋体" pitchFamily="2" charset="-122"/>
              <a:ea typeface="仿宋_GB2312" pitchFamily="49" charset="-122"/>
            </a:endParaRPr>
          </a:p>
          <a:p>
            <a:pPr eaLnBrk="0" hangingPunct="0">
              <a:buClrTx/>
              <a:buFontTx/>
            </a:pPr>
            <a:r>
              <a:rPr lang="en-US" altLang="zh-CN" dirty="0">
                <a:latin typeface="宋体" pitchFamily="2" charset="-122"/>
                <a:ea typeface="仿宋_GB2312" pitchFamily="49" charset="-122"/>
              </a:rPr>
              <a:t>	ADDC A，43H</a:t>
            </a:r>
            <a:endParaRPr lang="en-US" altLang="zh-CN" dirty="0">
              <a:latin typeface="宋体" pitchFamily="2" charset="-122"/>
              <a:ea typeface="仿宋_GB2312" pitchFamily="49" charset="-122"/>
            </a:endParaRPr>
          </a:p>
          <a:p>
            <a:pPr eaLnBrk="0" hangingPunct="0">
              <a:buClrTx/>
              <a:buFontTx/>
            </a:pPr>
            <a:r>
              <a:rPr lang="en-US" altLang="zh-CN" dirty="0">
                <a:latin typeface="宋体" pitchFamily="2" charset="-122"/>
                <a:ea typeface="仿宋_GB2312" pitchFamily="49" charset="-122"/>
              </a:rPr>
              <a:t>	MOV  45H，A</a:t>
            </a:r>
            <a:endParaRPr lang="en-US" altLang="zh-CN" dirty="0">
              <a:latin typeface="宋体" pitchFamily="2" charset="-122"/>
              <a:ea typeface="仿宋_GB2312" pitchFamily="49" charset="-122"/>
            </a:endParaRPr>
          </a:p>
          <a:p>
            <a:pPr eaLnBrk="0" hangingPunct="0">
              <a:buClrTx/>
              <a:buFontTx/>
            </a:pPr>
            <a:r>
              <a:rPr lang="en-US" altLang="zh-CN" dirty="0">
                <a:latin typeface="宋体" pitchFamily="2" charset="-122"/>
                <a:ea typeface="仿宋_GB2312" pitchFamily="49" charset="-122"/>
              </a:rPr>
              <a:t>	MOV  A，#</a:t>
            </a:r>
            <a:r>
              <a:rPr lang="en-US" altLang="zh-CN">
                <a:latin typeface="Times New Roman" panose="02020503050405090304" pitchFamily="18" charset="0"/>
                <a:ea typeface="仿宋_GB2312" pitchFamily="49" charset="-122"/>
              </a:rPr>
              <a:t>00H</a:t>
            </a:r>
            <a:endParaRPr lang="en-US" altLang="zh-CN" dirty="0">
              <a:latin typeface="宋体" pitchFamily="2" charset="-122"/>
              <a:ea typeface="仿宋_GB2312" pitchFamily="49" charset="-122"/>
            </a:endParaRPr>
          </a:p>
          <a:p>
            <a:pPr eaLnBrk="0" hangingPunct="0">
              <a:buClrTx/>
              <a:buFontTx/>
            </a:pPr>
            <a:r>
              <a:rPr lang="en-US" altLang="zh-CN" dirty="0">
                <a:latin typeface="宋体" pitchFamily="2" charset="-122"/>
                <a:ea typeface="仿宋_GB2312" pitchFamily="49" charset="-122"/>
              </a:rPr>
              <a:t>	ADDC A，#</a:t>
            </a:r>
            <a:r>
              <a:rPr lang="en-US" altLang="zh-CN">
                <a:latin typeface="Times New Roman" panose="02020503050405090304" pitchFamily="18" charset="0"/>
                <a:ea typeface="仿宋_GB2312" pitchFamily="49" charset="-122"/>
              </a:rPr>
              <a:t>00H</a:t>
            </a:r>
            <a:endParaRPr lang="en-US" altLang="zh-CN" dirty="0">
              <a:latin typeface="宋体" pitchFamily="2" charset="-122"/>
              <a:ea typeface="仿宋_GB2312" pitchFamily="49" charset="-122"/>
            </a:endParaRPr>
          </a:p>
          <a:p>
            <a:pPr eaLnBrk="0" hangingPunct="0">
              <a:buClrTx/>
              <a:buFontTx/>
            </a:pPr>
            <a:r>
              <a:rPr lang="en-US" altLang="zh-CN" dirty="0">
                <a:latin typeface="宋体" pitchFamily="2" charset="-122"/>
                <a:ea typeface="仿宋_GB2312" pitchFamily="49" charset="-122"/>
              </a:rPr>
              <a:t>	MOV  46H，A</a:t>
            </a:r>
            <a:endParaRPr lang="en-US" altLang="zh-CN" dirty="0">
              <a:latin typeface="宋体" pitchFamily="2" charset="-122"/>
              <a:ea typeface="仿宋_GB2312" pitchFamily="49" charset="-122"/>
            </a:endParaRPr>
          </a:p>
          <a:p>
            <a:pPr eaLnBrk="0" hangingPunct="0">
              <a:buClrTx/>
              <a:buFontTx/>
            </a:pPr>
            <a:r>
              <a:rPr lang="en-US" altLang="zh-CN" dirty="0">
                <a:latin typeface="宋体" pitchFamily="2" charset="-122"/>
                <a:ea typeface="仿宋_GB2312" pitchFamily="49" charset="-122"/>
              </a:rPr>
              <a:t>	RET</a:t>
            </a:r>
            <a:endParaRPr lang="zh-CN" altLang="en-US" dirty="0">
              <a:latin typeface="宋体" pitchFamily="2" charset="-122"/>
              <a:ea typeface="仿宋_GB2312" pitchFamily="49" charset="-122"/>
            </a:endParaRPr>
          </a:p>
          <a:p>
            <a:pPr>
              <a:spcBef>
                <a:spcPct val="50000"/>
              </a:spcBef>
              <a:buClrTx/>
              <a:buFontTx/>
            </a:pPr>
            <a:endParaRPr lang="zh-CN" altLang="en-US" dirty="0">
              <a:latin typeface="Times New Roman" panose="02020503050405090304" pitchFamily="18" charset="0"/>
              <a:ea typeface="仿宋_GB2312" pitchFamily="49" charset="-122"/>
            </a:endParaRPr>
          </a:p>
        </p:txBody>
      </p:sp>
      <p:sp>
        <p:nvSpPr>
          <p:cNvPr id="86021" name="TextBox 4"/>
          <p:cNvSpPr txBox="1"/>
          <p:nvPr/>
        </p:nvSpPr>
        <p:spPr>
          <a:xfrm>
            <a:off x="3976688" y="2895600"/>
            <a:ext cx="2643187" cy="4338638"/>
          </a:xfrm>
          <a:prstGeom prst="rect">
            <a:avLst/>
          </a:prstGeom>
          <a:noFill/>
          <a:ln w="9525">
            <a:noFill/>
          </a:ln>
        </p:spPr>
        <p:txBody>
          <a:bodyPr anchor="t" anchorCtr="0">
            <a:spAutoFit/>
          </a:bodyPr>
          <a:p>
            <a:pPr algn="just" eaLnBrk="0" hangingPunct="0">
              <a:buClrTx/>
              <a:buFontTx/>
            </a:pPr>
            <a:r>
              <a:rPr lang="zh-CN" altLang="en-US" dirty="0">
                <a:latin typeface="宋体" pitchFamily="2" charset="-122"/>
                <a:ea typeface="楷体_GB2312" pitchFamily="49" charset="-122"/>
              </a:rPr>
              <a:t>；取被加数低字节</a:t>
            </a:r>
            <a:endParaRPr lang="zh-CN" altLang="en-US" dirty="0">
              <a:latin typeface="宋体" pitchFamily="2" charset="-122"/>
              <a:ea typeface="楷体_GB2312" pitchFamily="49" charset="-122"/>
            </a:endParaRPr>
          </a:p>
          <a:p>
            <a:pPr algn="just" eaLnBrk="0" hangingPunct="0">
              <a:buClrTx/>
              <a:buFontTx/>
            </a:pPr>
            <a:r>
              <a:rPr lang="zh-CN" altLang="en-US" dirty="0">
                <a:latin typeface="宋体" pitchFamily="2" charset="-122"/>
                <a:ea typeface="楷体_GB2312" pitchFamily="49" charset="-122"/>
              </a:rPr>
              <a:t>；加上加数低字节</a:t>
            </a:r>
            <a:endParaRPr lang="zh-CN" altLang="en-US" dirty="0">
              <a:latin typeface="宋体" pitchFamily="2" charset="-122"/>
              <a:ea typeface="楷体_GB2312" pitchFamily="49" charset="-122"/>
            </a:endParaRPr>
          </a:p>
          <a:p>
            <a:pPr algn="just" eaLnBrk="0" hangingPunct="0">
              <a:buClrTx/>
              <a:buFontTx/>
            </a:pPr>
            <a:r>
              <a:rPr lang="zh-CN" altLang="en-US" dirty="0">
                <a:latin typeface="宋体" pitchFamily="2" charset="-122"/>
                <a:ea typeface="楷体_GB2312" pitchFamily="49" charset="-122"/>
              </a:rPr>
              <a:t>；保存和的低字节</a:t>
            </a:r>
            <a:endParaRPr lang="zh-CN" altLang="en-US" dirty="0">
              <a:latin typeface="宋体" pitchFamily="2" charset="-122"/>
              <a:ea typeface="楷体_GB2312" pitchFamily="49" charset="-122"/>
            </a:endParaRPr>
          </a:p>
          <a:p>
            <a:pPr algn="just" eaLnBrk="0" hangingPunct="0">
              <a:buClrTx/>
              <a:buFontTx/>
            </a:pPr>
            <a:r>
              <a:rPr lang="zh-CN" altLang="en-US" dirty="0">
                <a:latin typeface="宋体" pitchFamily="2" charset="-122"/>
                <a:ea typeface="楷体_GB2312" pitchFamily="49" charset="-122"/>
              </a:rPr>
              <a:t>；取被加数高字节</a:t>
            </a:r>
            <a:endParaRPr lang="zh-CN" altLang="en-US" dirty="0">
              <a:latin typeface="宋体" pitchFamily="2" charset="-122"/>
              <a:ea typeface="楷体_GB2312" pitchFamily="49" charset="-122"/>
            </a:endParaRPr>
          </a:p>
          <a:p>
            <a:pPr algn="just" eaLnBrk="0" hangingPunct="0">
              <a:buClrTx/>
              <a:buFontTx/>
            </a:pPr>
            <a:r>
              <a:rPr lang="zh-CN" altLang="en-US" dirty="0">
                <a:latin typeface="宋体" pitchFamily="2" charset="-122"/>
                <a:ea typeface="楷体_GB2312" pitchFamily="49" charset="-122"/>
              </a:rPr>
              <a:t>；加上加数高字节</a:t>
            </a:r>
            <a:endParaRPr lang="zh-CN" altLang="en-US" dirty="0">
              <a:latin typeface="宋体" pitchFamily="2" charset="-122"/>
              <a:ea typeface="楷体_GB2312" pitchFamily="49" charset="-122"/>
            </a:endParaRPr>
          </a:p>
          <a:p>
            <a:pPr algn="just" eaLnBrk="0" hangingPunct="0">
              <a:buClrTx/>
              <a:buFontTx/>
            </a:pPr>
            <a:r>
              <a:rPr lang="zh-CN" altLang="en-US" dirty="0">
                <a:latin typeface="宋体" pitchFamily="2" charset="-122"/>
                <a:ea typeface="楷体_GB2312" pitchFamily="49" charset="-122"/>
              </a:rPr>
              <a:t>；保存和的高字节</a:t>
            </a:r>
            <a:endParaRPr lang="zh-CN" altLang="en-US" dirty="0">
              <a:latin typeface="宋体" pitchFamily="2" charset="-122"/>
              <a:ea typeface="楷体_GB2312" pitchFamily="49" charset="-122"/>
            </a:endParaRPr>
          </a:p>
          <a:p>
            <a:pPr algn="just" eaLnBrk="0" hangingPunct="0">
              <a:buClrTx/>
              <a:buFontTx/>
            </a:pPr>
            <a:r>
              <a:rPr lang="zh-CN" altLang="en-US" dirty="0">
                <a:latin typeface="宋体" pitchFamily="2" charset="-122"/>
                <a:ea typeface="楷体_GB2312" pitchFamily="49" charset="-122"/>
              </a:rPr>
              <a:t>；求高字节进位</a:t>
            </a:r>
            <a:endParaRPr lang="zh-CN" altLang="en-US" dirty="0">
              <a:latin typeface="宋体" pitchFamily="2" charset="-122"/>
              <a:ea typeface="楷体_GB2312" pitchFamily="49" charset="-122"/>
            </a:endParaRPr>
          </a:p>
          <a:p>
            <a:pPr algn="just" eaLnBrk="0" hangingPunct="0">
              <a:buClrTx/>
              <a:buFontTx/>
            </a:pPr>
            <a:r>
              <a:rPr lang="zh-CN" altLang="en-US" dirty="0">
                <a:latin typeface="宋体" pitchFamily="2" charset="-122"/>
                <a:ea typeface="楷体_GB2312" pitchFamily="49" charset="-122"/>
              </a:rPr>
              <a:t>；记入最高位</a:t>
            </a:r>
            <a:endParaRPr lang="zh-CN" altLang="en-US" dirty="0">
              <a:latin typeface="宋体" pitchFamily="2" charset="-122"/>
              <a:ea typeface="楷体_GB2312" pitchFamily="49" charset="-122"/>
            </a:endParaRPr>
          </a:p>
          <a:p>
            <a:pPr algn="just" eaLnBrk="0" hangingPunct="0">
              <a:buClrTx/>
              <a:buFontTx/>
            </a:pPr>
            <a:endParaRPr lang="zh-CN" altLang="en-US" dirty="0">
              <a:latin typeface="宋体" pitchFamily="2" charset="-122"/>
              <a:ea typeface="楷体_GB2312" pitchFamily="49" charset="-122"/>
            </a:endParaRPr>
          </a:p>
          <a:p>
            <a:pPr algn="just" eaLnBrk="0" hangingPunct="0">
              <a:buClrTx/>
              <a:buFontTx/>
            </a:pPr>
            <a:r>
              <a:rPr lang="zh-CN" altLang="en-US" dirty="0">
                <a:latin typeface="宋体" pitchFamily="2" charset="-122"/>
                <a:ea typeface="楷体_GB2312" pitchFamily="49" charset="-122"/>
              </a:rPr>
              <a:t>；子程序结束</a:t>
            </a:r>
            <a:endParaRPr lang="zh-CN" altLang="en-US" dirty="0">
              <a:latin typeface="宋体" pitchFamily="2" charset="-122"/>
              <a:ea typeface="楷体_GB2312" pitchFamily="49" charset="-122"/>
            </a:endParaRPr>
          </a:p>
          <a:p>
            <a:pPr>
              <a:spcBef>
                <a:spcPct val="50000"/>
              </a:spcBef>
              <a:buClrTx/>
              <a:buFontTx/>
            </a:pPr>
            <a:endParaRPr lang="zh-CN" altLang="en-US" dirty="0">
              <a:latin typeface="Times New Roman" panose="02020503050405090304" pitchFamily="18" charset="0"/>
              <a:ea typeface="楷体_GB2312" pitchFamily="49" charset="-122"/>
            </a:endParaRPr>
          </a:p>
        </p:txBody>
      </p:sp>
      <p:grpSp>
        <p:nvGrpSpPr>
          <p:cNvPr id="930829" name="组合 930828"/>
          <p:cNvGrpSpPr/>
          <p:nvPr/>
        </p:nvGrpSpPr>
        <p:grpSpPr>
          <a:xfrm>
            <a:off x="6437313" y="168275"/>
            <a:ext cx="1960562" cy="1395413"/>
            <a:chOff x="4377" y="1344"/>
            <a:chExt cx="1235" cy="879"/>
          </a:xfrm>
        </p:grpSpPr>
        <p:sp>
          <p:nvSpPr>
            <p:cNvPr id="108551" name="矩形 930823"/>
            <p:cNvSpPr/>
            <p:nvPr/>
          </p:nvSpPr>
          <p:spPr>
            <a:xfrm>
              <a:off x="4740" y="1344"/>
              <a:ext cx="846" cy="290"/>
            </a:xfrm>
            <a:prstGeom prst="rect">
              <a:avLst/>
            </a:prstGeom>
            <a:noFill/>
            <a:ln w="9525">
              <a:noFill/>
            </a:ln>
          </p:spPr>
          <p:txBody>
            <a:bodyPr wrap="none" anchor="t" anchorCtr="0">
              <a:spAutoFit/>
            </a:bodyPr>
            <a:p>
              <a:r>
                <a:rPr lang="en-US" altLang="zh-CN">
                  <a:solidFill>
                    <a:srgbClr val="C40702"/>
                  </a:solidFill>
                  <a:latin typeface="Times New Roman" panose="02020503050405090304" pitchFamily="18" charset="0"/>
                  <a:ea typeface="仿宋_GB2312" pitchFamily="49" charset="-122"/>
                </a:rPr>
                <a:t>41H 40H</a:t>
              </a:r>
              <a:endParaRPr lang="zh-CN" altLang="en-US" dirty="0">
                <a:solidFill>
                  <a:srgbClr val="C40702"/>
                </a:solidFill>
                <a:latin typeface="Times New Roman" panose="02020503050405090304" pitchFamily="18" charset="0"/>
                <a:ea typeface="仿宋_GB2312" pitchFamily="49" charset="-122"/>
              </a:endParaRPr>
            </a:p>
          </p:txBody>
        </p:sp>
        <p:sp>
          <p:nvSpPr>
            <p:cNvPr id="108552" name="矩形 930824"/>
            <p:cNvSpPr/>
            <p:nvPr/>
          </p:nvSpPr>
          <p:spPr>
            <a:xfrm>
              <a:off x="4468" y="1616"/>
              <a:ext cx="224" cy="288"/>
            </a:xfrm>
            <a:prstGeom prst="rect">
              <a:avLst/>
            </a:prstGeom>
            <a:noFill/>
            <a:ln w="9525">
              <a:noFill/>
            </a:ln>
          </p:spPr>
          <p:txBody>
            <a:bodyPr wrap="none" anchor="t" anchorCtr="0">
              <a:spAutoFit/>
            </a:bodyPr>
            <a:p>
              <a:r>
                <a:rPr lang="en-US" altLang="zh-CN">
                  <a:solidFill>
                    <a:srgbClr val="C40702"/>
                  </a:solidFill>
                  <a:latin typeface="Times New Roman" panose="02020503050405090304" pitchFamily="18" charset="0"/>
                  <a:ea typeface="仿宋_GB2312" pitchFamily="49" charset="-122"/>
                </a:rPr>
                <a:t>+</a:t>
              </a:r>
              <a:endParaRPr lang="zh-CN" altLang="en-US" dirty="0">
                <a:solidFill>
                  <a:srgbClr val="C40702"/>
                </a:solidFill>
                <a:latin typeface="Times New Roman" panose="02020503050405090304" pitchFamily="18" charset="0"/>
                <a:ea typeface="仿宋_GB2312" pitchFamily="49" charset="-122"/>
              </a:endParaRPr>
            </a:p>
          </p:txBody>
        </p:sp>
        <p:sp>
          <p:nvSpPr>
            <p:cNvPr id="108553" name="矩形 930825"/>
            <p:cNvSpPr/>
            <p:nvPr/>
          </p:nvSpPr>
          <p:spPr>
            <a:xfrm>
              <a:off x="4740" y="1616"/>
              <a:ext cx="846" cy="290"/>
            </a:xfrm>
            <a:prstGeom prst="rect">
              <a:avLst/>
            </a:prstGeom>
            <a:noFill/>
            <a:ln w="9525">
              <a:noFill/>
            </a:ln>
          </p:spPr>
          <p:txBody>
            <a:bodyPr wrap="none" anchor="t" anchorCtr="0">
              <a:spAutoFit/>
            </a:bodyPr>
            <a:p>
              <a:r>
                <a:rPr lang="en-US" altLang="zh-CN">
                  <a:solidFill>
                    <a:srgbClr val="C40702"/>
                  </a:solidFill>
                  <a:latin typeface="Times New Roman" panose="02020503050405090304" pitchFamily="18" charset="0"/>
                  <a:ea typeface="仿宋_GB2312" pitchFamily="49" charset="-122"/>
                </a:rPr>
                <a:t>43H 42H</a:t>
              </a:r>
              <a:endParaRPr lang="zh-CN" altLang="en-US" dirty="0">
                <a:solidFill>
                  <a:srgbClr val="C40702"/>
                </a:solidFill>
                <a:latin typeface="Times New Roman" panose="02020503050405090304" pitchFamily="18" charset="0"/>
                <a:ea typeface="仿宋_GB2312" pitchFamily="49" charset="-122"/>
              </a:endParaRPr>
            </a:p>
          </p:txBody>
        </p:sp>
        <p:sp>
          <p:nvSpPr>
            <p:cNvPr id="108554" name="直接连接符 930826"/>
            <p:cNvSpPr/>
            <p:nvPr/>
          </p:nvSpPr>
          <p:spPr>
            <a:xfrm>
              <a:off x="4468" y="1888"/>
              <a:ext cx="1088" cy="0"/>
            </a:xfrm>
            <a:prstGeom prst="line">
              <a:avLst/>
            </a:prstGeom>
            <a:ln w="9525" cap="flat" cmpd="sng">
              <a:solidFill>
                <a:schemeClr val="tx1"/>
              </a:solidFill>
              <a:prstDash val="solid"/>
              <a:miter/>
              <a:headEnd type="none" w="med" len="med"/>
              <a:tailEnd type="none" w="med" len="med"/>
            </a:ln>
          </p:spPr>
        </p:sp>
        <p:sp>
          <p:nvSpPr>
            <p:cNvPr id="108555" name="矩形 930827"/>
            <p:cNvSpPr/>
            <p:nvPr/>
          </p:nvSpPr>
          <p:spPr>
            <a:xfrm>
              <a:off x="4377" y="1933"/>
              <a:ext cx="1235" cy="290"/>
            </a:xfrm>
            <a:prstGeom prst="rect">
              <a:avLst/>
            </a:prstGeom>
            <a:noFill/>
            <a:ln w="9525">
              <a:noFill/>
            </a:ln>
          </p:spPr>
          <p:txBody>
            <a:bodyPr wrap="none" anchor="t" anchorCtr="0">
              <a:spAutoFit/>
            </a:bodyPr>
            <a:p>
              <a:r>
                <a:rPr lang="en-US" altLang="zh-CN">
                  <a:solidFill>
                    <a:srgbClr val="C40702"/>
                  </a:solidFill>
                  <a:latin typeface="Times New Roman" panose="02020503050405090304" pitchFamily="18" charset="0"/>
                  <a:ea typeface="仿宋_GB2312" pitchFamily="49" charset="-122"/>
                </a:rPr>
                <a:t>46H 45H 44H</a:t>
              </a:r>
              <a:endParaRPr lang="zh-CN" altLang="en-US" dirty="0">
                <a:solidFill>
                  <a:srgbClr val="C40702"/>
                </a:solidFill>
                <a:latin typeface="Times New Roman" panose="02020503050405090304" pitchFamily="18" charset="0"/>
                <a:ea typeface="仿宋_GB2312" pitchFamily="49" charset="-122"/>
              </a:endParaRPr>
            </a:p>
          </p:txBody>
        </p:sp>
      </p:grpSp>
      <p:sp>
        <p:nvSpPr>
          <p:cNvPr id="2" name="文本框 1"/>
          <p:cNvSpPr txBox="1"/>
          <p:nvPr/>
        </p:nvSpPr>
        <p:spPr>
          <a:xfrm>
            <a:off x="428625" y="2090738"/>
            <a:ext cx="8140700" cy="460375"/>
          </a:xfrm>
          <a:prstGeom prst="rect">
            <a:avLst/>
          </a:prstGeom>
          <a:noFill/>
          <a:ln w="9525">
            <a:noFill/>
          </a:ln>
        </p:spPr>
        <p:txBody>
          <a:bodyPr wrap="none" anchor="t" anchorCtr="0">
            <a:spAutoFit/>
          </a:bodyPr>
          <a:p>
            <a:r>
              <a:rPr lang="zh-CN" altLang="en-US" dirty="0">
                <a:solidFill>
                  <a:srgbClr val="1209BD"/>
                </a:solidFill>
                <a:latin typeface="Times New Roman" panose="02020503050405090304" pitchFamily="18" charset="0"/>
                <a:ea typeface="仿宋_GB2312" pitchFamily="49" charset="-122"/>
              </a:rPr>
              <a:t>分析：先低字节作不带进位求和，再作带进位高字节求和。</a:t>
            </a:r>
            <a:endParaRPr lang="zh-CN" altLang="en-US">
              <a:latin typeface="Times New Roman" panose="02020503050405090304" pitchFamily="18" charset="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30829"/>
                                        </p:tgtEl>
                                        <p:attrNameLst>
                                          <p:attrName>style.visibility</p:attrName>
                                        </p:attrNameLst>
                                      </p:cBhvr>
                                      <p:to>
                                        <p:strVal val="visible"/>
                                      </p:to>
                                    </p:set>
                                    <p:anim calcmode="lin" valueType="num">
                                      <p:cBhvr additive="base">
                                        <p:cTn id="7" dur="500" fill="hold"/>
                                        <p:tgtEl>
                                          <p:spTgt spid="930829"/>
                                        </p:tgtEl>
                                        <p:attrNameLst>
                                          <p:attrName>ppt_x</p:attrName>
                                        </p:attrNameLst>
                                      </p:cBhvr>
                                      <p:tavLst>
                                        <p:tav tm="0">
                                          <p:val>
                                            <p:strVal val="#ppt_x"/>
                                          </p:val>
                                        </p:tav>
                                        <p:tav tm="100000">
                                          <p:val>
                                            <p:strVal val="#ppt_x"/>
                                          </p:val>
                                        </p:tav>
                                      </p:tavLst>
                                    </p:anim>
                                    <p:anim calcmode="lin" valueType="num">
                                      <p:cBhvr additive="base">
                                        <p:cTn id="8" dur="500" fill="hold"/>
                                        <p:tgtEl>
                                          <p:spTgt spid="93082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6020"/>
                                        </p:tgtEl>
                                        <p:attrNameLst>
                                          <p:attrName>style.visibility</p:attrName>
                                        </p:attrNameLst>
                                      </p:cBhvr>
                                      <p:to>
                                        <p:strVal val="visible"/>
                                      </p:to>
                                    </p:set>
                                    <p:anim calcmode="lin" valueType="num">
                                      <p:cBhvr additive="base">
                                        <p:cTn id="19" dur="500" fill="hold"/>
                                        <p:tgtEl>
                                          <p:spTgt spid="86020"/>
                                        </p:tgtEl>
                                        <p:attrNameLst>
                                          <p:attrName>ppt_x</p:attrName>
                                        </p:attrNameLst>
                                      </p:cBhvr>
                                      <p:tavLst>
                                        <p:tav tm="0">
                                          <p:val>
                                            <p:strVal val="#ppt_x"/>
                                          </p:val>
                                        </p:tav>
                                        <p:tav tm="100000">
                                          <p:val>
                                            <p:strVal val="#ppt_x"/>
                                          </p:val>
                                        </p:tav>
                                      </p:tavLst>
                                    </p:anim>
                                    <p:anim calcmode="lin" valueType="num">
                                      <p:cBhvr additive="base">
                                        <p:cTn id="20" dur="500" fill="hold"/>
                                        <p:tgtEl>
                                          <p:spTgt spid="8602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6021"/>
                                        </p:tgtEl>
                                        <p:attrNameLst>
                                          <p:attrName>style.visibility</p:attrName>
                                        </p:attrNameLst>
                                      </p:cBhvr>
                                      <p:to>
                                        <p:strVal val="visible"/>
                                      </p:to>
                                    </p:set>
                                    <p:anim calcmode="lin" valueType="num">
                                      <p:cBhvr additive="base">
                                        <p:cTn id="25" dur="500" fill="hold"/>
                                        <p:tgtEl>
                                          <p:spTgt spid="86021"/>
                                        </p:tgtEl>
                                        <p:attrNameLst>
                                          <p:attrName>ppt_x</p:attrName>
                                        </p:attrNameLst>
                                      </p:cBhvr>
                                      <p:tavLst>
                                        <p:tav tm="0">
                                          <p:val>
                                            <p:strVal val="#ppt_x"/>
                                          </p:val>
                                        </p:tav>
                                        <p:tav tm="100000">
                                          <p:val>
                                            <p:strVal val="#ppt_x"/>
                                          </p:val>
                                        </p:tav>
                                      </p:tavLst>
                                    </p:anim>
                                    <p:anim calcmode="lin" valueType="num">
                                      <p:cBhvr additive="base">
                                        <p:cTn id="26" dur="500" fill="hold"/>
                                        <p:tgtEl>
                                          <p:spTgt spid="860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0" grpId="0"/>
      <p:bldP spid="86021" grpId="0"/>
      <p:bldP spid="2"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109570" name="Rectangle 3"/>
          <p:cNvSpPr>
            <a:spLocks noGrp="1"/>
          </p:cNvSpPr>
          <p:nvPr>
            <p:ph type="body" idx="4294967295"/>
          </p:nvPr>
        </p:nvSpPr>
        <p:spPr>
          <a:xfrm>
            <a:off x="428625" y="857250"/>
            <a:ext cx="8715375" cy="571500"/>
          </a:xfrm>
        </p:spPr>
        <p:txBody>
          <a:bodyPr vert="horz" wrap="square" lIns="91440" tIns="45720" rIns="91440" bIns="45720" anchor="t" anchorCtr="0"/>
          <a:p>
            <a:pPr marL="0">
              <a:lnSpc>
                <a:spcPct val="100000"/>
              </a:lnSpc>
              <a:spcBef>
                <a:spcPct val="0"/>
              </a:spcBef>
              <a:buNone/>
            </a:pPr>
            <a:r>
              <a:rPr lang="en-US" altLang="zh-CN" dirty="0">
                <a:latin typeface="宋体" pitchFamily="2" charset="-122"/>
              </a:rPr>
              <a:t>2</a:t>
            </a:r>
            <a:r>
              <a:rPr lang="zh-CN" altLang="en-US" dirty="0">
                <a:latin typeface="宋体" pitchFamily="2" charset="-122"/>
              </a:rPr>
              <a:t>．减法指令</a:t>
            </a:r>
            <a:endParaRPr lang="zh-CN" altLang="zh-CN" dirty="0">
              <a:solidFill>
                <a:srgbClr val="FFC000"/>
              </a:solidFill>
              <a:latin typeface="宋体" pitchFamily="2" charset="-122"/>
            </a:endParaRPr>
          </a:p>
        </p:txBody>
      </p:sp>
      <p:graphicFrame>
        <p:nvGraphicFramePr>
          <p:cNvPr id="109571" name="Object 4"/>
          <p:cNvGraphicFramePr/>
          <p:nvPr/>
        </p:nvGraphicFramePr>
        <p:xfrm>
          <a:off x="971550" y="1590675"/>
          <a:ext cx="6945313" cy="1671638"/>
        </p:xfrm>
        <a:graphic>
          <a:graphicData uri="http://schemas.openxmlformats.org/presentationml/2006/ole">
            <mc:AlternateContent xmlns:mc="http://schemas.openxmlformats.org/markup-compatibility/2006">
              <mc:Choice xmlns:v="urn:schemas-microsoft-com:vml" Requires="v">
                <p:oleObj spid="_x0000_s3089" name="" r:id="rId1" imgW="3289300" imgH="914400" progId="Equation.3">
                  <p:embed/>
                </p:oleObj>
              </mc:Choice>
              <mc:Fallback>
                <p:oleObj name="" r:id="rId1" imgW="3289300" imgH="914400" progId="Equation.3">
                  <p:embed/>
                  <p:pic>
                    <p:nvPicPr>
                      <p:cNvPr id="0" name="Picture 3088"/>
                      <p:cNvPicPr/>
                      <p:nvPr/>
                    </p:nvPicPr>
                    <p:blipFill>
                      <a:blip r:embed="rId2"/>
                      <a:stretch>
                        <a:fillRect/>
                      </a:stretch>
                    </p:blipFill>
                    <p:spPr>
                      <a:xfrm>
                        <a:off x="971550" y="1590675"/>
                        <a:ext cx="6945313" cy="1671638"/>
                      </a:xfrm>
                      <a:prstGeom prst="rect">
                        <a:avLst/>
                      </a:prstGeom>
                      <a:noFill/>
                      <a:ln w="38100">
                        <a:noFill/>
                        <a:miter/>
                      </a:ln>
                    </p:spPr>
                  </p:pic>
                </p:oleObj>
              </mc:Fallback>
            </mc:AlternateContent>
          </a:graphicData>
        </a:graphic>
      </p:graphicFrame>
      <p:sp>
        <p:nvSpPr>
          <p:cNvPr id="6" name="Rectangle 7"/>
          <p:cNvSpPr/>
          <p:nvPr/>
        </p:nvSpPr>
        <p:spPr>
          <a:xfrm>
            <a:off x="900113" y="5543550"/>
            <a:ext cx="8135937" cy="457200"/>
          </a:xfrm>
          <a:prstGeom prst="rect">
            <a:avLst/>
          </a:prstGeom>
          <a:noFill/>
          <a:ln w="9525">
            <a:noFill/>
          </a:ln>
        </p:spPr>
        <p:txBody>
          <a:bodyPr anchor="ctr" anchorCtr="0">
            <a:spAutoFit/>
          </a:bodyPr>
          <a:p>
            <a:pPr eaLnBrk="0" hangingPunct="0">
              <a:buClrTx/>
              <a:buFontTx/>
            </a:pPr>
            <a:r>
              <a:rPr lang="zh-CN" altLang="en-US" dirty="0">
                <a:solidFill>
                  <a:srgbClr val="666633"/>
                </a:solidFill>
                <a:latin typeface="Times New Roman" panose="02020503050405090304" pitchFamily="18" charset="0"/>
                <a:ea typeface="仿宋_GB2312" pitchFamily="49" charset="-122"/>
              </a:rPr>
              <a:t>用此组指令完成不带借位的减法，只需先清</a:t>
            </a:r>
            <a:r>
              <a:rPr lang="en-US" altLang="zh-CN" dirty="0">
                <a:solidFill>
                  <a:srgbClr val="666633"/>
                </a:solidFill>
                <a:latin typeface="Times New Roman" panose="02020503050405090304" pitchFamily="18" charset="0"/>
                <a:ea typeface="仿宋_GB2312" pitchFamily="49" charset="-122"/>
              </a:rPr>
              <a:t>CY</a:t>
            </a:r>
            <a:r>
              <a:rPr lang="zh-CN" altLang="en-US" dirty="0">
                <a:solidFill>
                  <a:srgbClr val="666633"/>
                </a:solidFill>
                <a:latin typeface="Times New Roman" panose="02020503050405090304" pitchFamily="18" charset="0"/>
                <a:ea typeface="仿宋_GB2312" pitchFamily="49" charset="-122"/>
              </a:rPr>
              <a:t>为</a:t>
            </a:r>
            <a:r>
              <a:rPr lang="en-US" altLang="zh-CN" dirty="0">
                <a:solidFill>
                  <a:srgbClr val="666633"/>
                </a:solidFill>
                <a:latin typeface="Times New Roman" panose="02020503050405090304" pitchFamily="18" charset="0"/>
                <a:ea typeface="仿宋_GB2312" pitchFamily="49" charset="-122"/>
              </a:rPr>
              <a:t>0</a:t>
            </a:r>
            <a:r>
              <a:rPr lang="zh-CN" altLang="en-US" dirty="0">
                <a:solidFill>
                  <a:srgbClr val="666633"/>
                </a:solidFill>
                <a:latin typeface="Times New Roman" panose="02020503050405090304" pitchFamily="18" charset="0"/>
                <a:ea typeface="仿宋_GB2312" pitchFamily="49" charset="-122"/>
              </a:rPr>
              <a:t>即可 </a:t>
            </a:r>
            <a:endParaRPr lang="zh-CN" altLang="en-US" dirty="0">
              <a:solidFill>
                <a:srgbClr val="666633"/>
              </a:solidFill>
              <a:latin typeface="Times New Roman" panose="02020503050405090304" pitchFamily="18" charset="0"/>
              <a:ea typeface="仿宋_GB2312" pitchFamily="49" charset="-122"/>
            </a:endParaRPr>
          </a:p>
        </p:txBody>
      </p:sp>
      <p:sp>
        <p:nvSpPr>
          <p:cNvPr id="109573" name="Rectangle 8"/>
          <p:cNvSpPr txBox="1"/>
          <p:nvPr/>
        </p:nvSpPr>
        <p:spPr>
          <a:xfrm>
            <a:off x="827088" y="3378200"/>
            <a:ext cx="8064500" cy="2009775"/>
          </a:xfrm>
          <a:prstGeom prst="rect">
            <a:avLst/>
          </a:prstGeom>
          <a:noFill/>
          <a:ln w="9525">
            <a:noFill/>
          </a:ln>
        </p:spPr>
        <p:txBody>
          <a:bodyPr wrap="square" anchor="ctr" anchorCtr="0">
            <a:spAutoFit/>
          </a:bodyPr>
          <a:p>
            <a:pPr defTabSz="425450">
              <a:lnSpc>
                <a:spcPct val="130000"/>
              </a:lnSpc>
              <a:buClrTx/>
              <a:buFontTx/>
              <a:buBlip>
                <a:blip r:embed="rId3"/>
              </a:buBlip>
            </a:pPr>
            <a:r>
              <a:rPr lang="zh-CN" altLang="en-US" dirty="0">
                <a:solidFill>
                  <a:srgbClr val="000000"/>
                </a:solidFill>
                <a:latin typeface="黑体" panose="02010609060101010101" pitchFamily="49" charset="-122"/>
                <a:ea typeface="黑体" panose="02010609060101010101" pitchFamily="49" charset="-122"/>
              </a:rPr>
              <a:t> </a:t>
            </a:r>
            <a:r>
              <a:rPr lang="en-US" altLang="zh-CN" dirty="0">
                <a:solidFill>
                  <a:srgbClr val="000000"/>
                </a:solidFill>
                <a:latin typeface="黑体" panose="02010609060101010101" pitchFamily="49" charset="-122"/>
                <a:ea typeface="黑体" panose="02010609060101010101" pitchFamily="49" charset="-122"/>
              </a:rPr>
              <a:t>CY</a:t>
            </a:r>
            <a:r>
              <a:rPr lang="zh-CN" altLang="en-US" dirty="0">
                <a:solidFill>
                  <a:srgbClr val="000000"/>
                </a:solidFill>
                <a:latin typeface="黑体" panose="02010609060101010101" pitchFamily="49" charset="-122"/>
                <a:ea typeface="黑体" panose="02010609060101010101" pitchFamily="49" charset="-122"/>
              </a:rPr>
              <a:t>为</a:t>
            </a:r>
            <a:r>
              <a:rPr lang="en-US" altLang="zh-CN" dirty="0">
                <a:solidFill>
                  <a:srgbClr val="000000"/>
                </a:solidFill>
                <a:latin typeface="黑体" panose="02010609060101010101" pitchFamily="49" charset="-122"/>
                <a:ea typeface="黑体" panose="02010609060101010101" pitchFamily="49" charset="-122"/>
              </a:rPr>
              <a:t>1</a:t>
            </a:r>
            <a:r>
              <a:rPr lang="zh-CN" altLang="en-US" dirty="0">
                <a:solidFill>
                  <a:srgbClr val="000000"/>
                </a:solidFill>
                <a:latin typeface="黑体" panose="02010609060101010101" pitchFamily="49" charset="-122"/>
                <a:ea typeface="黑体" panose="02010609060101010101" pitchFamily="49" charset="-122"/>
              </a:rPr>
              <a:t>，表示</a:t>
            </a:r>
            <a:r>
              <a:rPr lang="en-US" altLang="zh-CN" dirty="0">
                <a:solidFill>
                  <a:srgbClr val="000000"/>
                </a:solidFill>
                <a:latin typeface="黑体" panose="02010609060101010101" pitchFamily="49" charset="-122"/>
                <a:ea typeface="黑体" panose="02010609060101010101" pitchFamily="49" charset="-122"/>
              </a:rPr>
              <a:t>D7</a:t>
            </a:r>
            <a:r>
              <a:rPr lang="zh-CN" altLang="en-US" dirty="0">
                <a:solidFill>
                  <a:srgbClr val="000000"/>
                </a:solidFill>
                <a:latin typeface="黑体" panose="02010609060101010101" pitchFamily="49" charset="-122"/>
                <a:ea typeface="黑体" panose="02010609060101010101" pitchFamily="49" charset="-122"/>
              </a:rPr>
              <a:t>位需借位</a:t>
            </a:r>
            <a:endParaRPr lang="zh-CN" altLang="en-US" dirty="0">
              <a:solidFill>
                <a:srgbClr val="000000"/>
              </a:solidFill>
              <a:latin typeface="黑体" panose="02010609060101010101" pitchFamily="49" charset="-122"/>
              <a:ea typeface="黑体" panose="02010609060101010101" pitchFamily="49" charset="-122"/>
            </a:endParaRPr>
          </a:p>
          <a:p>
            <a:pPr defTabSz="425450">
              <a:lnSpc>
                <a:spcPct val="130000"/>
              </a:lnSpc>
              <a:buClrTx/>
              <a:buFontTx/>
              <a:buBlip>
                <a:blip r:embed="rId3"/>
              </a:buBlip>
            </a:pPr>
            <a:r>
              <a:rPr lang="zh-CN" altLang="en-US" dirty="0">
                <a:solidFill>
                  <a:srgbClr val="000000"/>
                </a:solidFill>
                <a:latin typeface="黑体" panose="02010609060101010101" pitchFamily="49" charset="-122"/>
                <a:ea typeface="黑体" panose="02010609060101010101" pitchFamily="49" charset="-122"/>
              </a:rPr>
              <a:t> </a:t>
            </a:r>
            <a:r>
              <a:rPr lang="en-US" altLang="zh-CN" dirty="0">
                <a:solidFill>
                  <a:srgbClr val="000000"/>
                </a:solidFill>
                <a:latin typeface="黑体" panose="02010609060101010101" pitchFamily="49" charset="-122"/>
                <a:ea typeface="黑体" panose="02010609060101010101" pitchFamily="49" charset="-122"/>
              </a:rPr>
              <a:t>AC</a:t>
            </a:r>
            <a:r>
              <a:rPr lang="zh-CN" altLang="en-US" dirty="0">
                <a:solidFill>
                  <a:srgbClr val="000000"/>
                </a:solidFill>
                <a:latin typeface="黑体" panose="02010609060101010101" pitchFamily="49" charset="-122"/>
                <a:ea typeface="黑体" panose="02010609060101010101" pitchFamily="49" charset="-122"/>
              </a:rPr>
              <a:t>为</a:t>
            </a:r>
            <a:r>
              <a:rPr lang="en-US" altLang="zh-CN" dirty="0">
                <a:solidFill>
                  <a:srgbClr val="000000"/>
                </a:solidFill>
                <a:latin typeface="黑体" panose="02010609060101010101" pitchFamily="49" charset="-122"/>
                <a:ea typeface="黑体" panose="02010609060101010101" pitchFamily="49" charset="-122"/>
              </a:rPr>
              <a:t>1</a:t>
            </a:r>
            <a:r>
              <a:rPr lang="zh-CN" altLang="en-US" dirty="0">
                <a:solidFill>
                  <a:srgbClr val="000000"/>
                </a:solidFill>
                <a:latin typeface="黑体" panose="02010609060101010101" pitchFamily="49" charset="-122"/>
                <a:ea typeface="黑体" panose="02010609060101010101" pitchFamily="49" charset="-122"/>
              </a:rPr>
              <a:t>，表示</a:t>
            </a:r>
            <a:r>
              <a:rPr lang="en-US" altLang="zh-CN" dirty="0">
                <a:solidFill>
                  <a:srgbClr val="000000"/>
                </a:solidFill>
                <a:latin typeface="黑体" panose="02010609060101010101" pitchFamily="49" charset="-122"/>
                <a:ea typeface="黑体" panose="02010609060101010101" pitchFamily="49" charset="-122"/>
              </a:rPr>
              <a:t>D3</a:t>
            </a:r>
            <a:r>
              <a:rPr lang="zh-CN" altLang="en-US" dirty="0">
                <a:solidFill>
                  <a:srgbClr val="000000"/>
                </a:solidFill>
                <a:latin typeface="黑体" panose="02010609060101010101" pitchFamily="49" charset="-122"/>
                <a:ea typeface="黑体" panose="02010609060101010101" pitchFamily="49" charset="-122"/>
              </a:rPr>
              <a:t>位需借位</a:t>
            </a:r>
            <a:endParaRPr lang="zh-CN" altLang="en-US" dirty="0">
              <a:solidFill>
                <a:srgbClr val="000000"/>
              </a:solidFill>
              <a:latin typeface="黑体" panose="02010609060101010101" pitchFamily="49" charset="-122"/>
              <a:ea typeface="黑体" panose="02010609060101010101" pitchFamily="49" charset="-122"/>
            </a:endParaRPr>
          </a:p>
          <a:p>
            <a:pPr defTabSz="425450">
              <a:lnSpc>
                <a:spcPct val="130000"/>
              </a:lnSpc>
              <a:buClrTx/>
              <a:buFontTx/>
              <a:buBlip>
                <a:blip r:embed="rId3"/>
              </a:buBlip>
            </a:pPr>
            <a:r>
              <a:rPr lang="en-US" altLang="zh-CN" dirty="0">
                <a:solidFill>
                  <a:srgbClr val="000000"/>
                </a:solidFill>
                <a:latin typeface="黑体" panose="02010609060101010101" pitchFamily="49" charset="-122"/>
                <a:ea typeface="黑体" panose="02010609060101010101" pitchFamily="49" charset="-122"/>
              </a:rPr>
              <a:t> OV</a:t>
            </a:r>
            <a:r>
              <a:rPr lang="zh-CN" altLang="en-US" dirty="0">
                <a:solidFill>
                  <a:srgbClr val="000000"/>
                </a:solidFill>
                <a:latin typeface="黑体" panose="02010609060101010101" pitchFamily="49" charset="-122"/>
                <a:ea typeface="黑体" panose="02010609060101010101" pitchFamily="49" charset="-122"/>
              </a:rPr>
              <a:t>为</a:t>
            </a:r>
            <a:r>
              <a:rPr lang="en-US" altLang="zh-CN" dirty="0">
                <a:solidFill>
                  <a:srgbClr val="000000"/>
                </a:solidFill>
                <a:latin typeface="黑体" panose="02010609060101010101" pitchFamily="49" charset="-122"/>
                <a:ea typeface="黑体" panose="02010609060101010101" pitchFamily="49" charset="-122"/>
              </a:rPr>
              <a:t>1</a:t>
            </a:r>
            <a:r>
              <a:rPr lang="zh-CN" altLang="en-US" dirty="0">
                <a:solidFill>
                  <a:srgbClr val="000000"/>
                </a:solidFill>
                <a:latin typeface="黑体" panose="02010609060101010101" pitchFamily="49" charset="-122"/>
                <a:ea typeface="黑体" panose="02010609060101010101" pitchFamily="49" charset="-122"/>
              </a:rPr>
              <a:t>，表示</a:t>
            </a:r>
            <a:r>
              <a:rPr lang="zh-CN" altLang="en-US" dirty="0">
                <a:solidFill>
                  <a:srgbClr val="000000"/>
                </a:solidFill>
                <a:latin typeface="Arial" panose="020B0604020202090204" pitchFamily="34" charset="0"/>
                <a:ea typeface="黑体" panose="02010609060101010101" pitchFamily="49" charset="-122"/>
              </a:rPr>
              <a:t>“</a:t>
            </a:r>
            <a:r>
              <a:rPr lang="en-US" altLang="zh-CN" dirty="0">
                <a:solidFill>
                  <a:srgbClr val="000000"/>
                </a:solidFill>
                <a:latin typeface="黑体" panose="02010609060101010101" pitchFamily="49" charset="-122"/>
                <a:ea typeface="黑体" panose="02010609060101010101" pitchFamily="49" charset="-122"/>
              </a:rPr>
              <a:t>D6</a:t>
            </a:r>
            <a:r>
              <a:rPr lang="zh-CN" altLang="en-US" dirty="0">
                <a:solidFill>
                  <a:srgbClr val="000000"/>
                </a:solidFill>
                <a:latin typeface="黑体" panose="02010609060101010101" pitchFamily="49" charset="-122"/>
                <a:ea typeface="黑体" panose="02010609060101010101" pitchFamily="49" charset="-122"/>
              </a:rPr>
              <a:t>有借位</a:t>
            </a:r>
            <a:r>
              <a:rPr lang="en-US" altLang="zh-CN" dirty="0">
                <a:solidFill>
                  <a:srgbClr val="000000"/>
                </a:solidFill>
                <a:latin typeface="黑体" panose="02010609060101010101" pitchFamily="49" charset="-122"/>
                <a:ea typeface="黑体" panose="02010609060101010101" pitchFamily="49" charset="-122"/>
              </a:rPr>
              <a:t>D7</a:t>
            </a:r>
            <a:r>
              <a:rPr lang="zh-CN" altLang="en-US" dirty="0">
                <a:solidFill>
                  <a:srgbClr val="000000"/>
                </a:solidFill>
                <a:latin typeface="黑体" panose="02010609060101010101" pitchFamily="49" charset="-122"/>
                <a:ea typeface="黑体" panose="02010609060101010101" pitchFamily="49" charset="-122"/>
              </a:rPr>
              <a:t>无借位</a:t>
            </a:r>
            <a:r>
              <a:rPr lang="zh-CN" altLang="en-US" dirty="0">
                <a:solidFill>
                  <a:srgbClr val="000000"/>
                </a:solidFill>
                <a:latin typeface="Arial" panose="020B0604020202090204" pitchFamily="34" charset="0"/>
                <a:ea typeface="黑体" panose="02010609060101010101" pitchFamily="49" charset="-122"/>
              </a:rPr>
              <a:t>”</a:t>
            </a:r>
            <a:r>
              <a:rPr lang="zh-CN" altLang="en-US" dirty="0">
                <a:latin typeface="黑体" panose="02010609060101010101" pitchFamily="49" charset="-122"/>
                <a:ea typeface="黑体" panose="02010609060101010101" pitchFamily="49" charset="-122"/>
              </a:rPr>
              <a:t>或</a:t>
            </a:r>
            <a:r>
              <a:rPr lang="zh-CN" altLang="en-US" dirty="0">
                <a:latin typeface="Arial" panose="020B0604020202090204" pitchFamily="34" charset="0"/>
                <a:ea typeface="黑体" panose="02010609060101010101" pitchFamily="49" charset="-122"/>
              </a:rPr>
              <a:t>“</a:t>
            </a:r>
            <a:r>
              <a:rPr lang="en-US" altLang="zh-CN" dirty="0">
                <a:solidFill>
                  <a:srgbClr val="000000"/>
                </a:solidFill>
                <a:latin typeface="黑体" panose="02010609060101010101" pitchFamily="49" charset="-122"/>
                <a:ea typeface="黑体" panose="02010609060101010101" pitchFamily="49" charset="-122"/>
              </a:rPr>
              <a:t>D7</a:t>
            </a:r>
            <a:r>
              <a:rPr lang="zh-CN" altLang="en-US" dirty="0">
                <a:solidFill>
                  <a:srgbClr val="000000"/>
                </a:solidFill>
                <a:latin typeface="黑体" panose="02010609060101010101" pitchFamily="49" charset="-122"/>
                <a:ea typeface="黑体" panose="02010609060101010101" pitchFamily="49" charset="-122"/>
              </a:rPr>
              <a:t>有借位</a:t>
            </a:r>
            <a:r>
              <a:rPr lang="en-US" altLang="zh-CN" dirty="0">
                <a:solidFill>
                  <a:srgbClr val="000000"/>
                </a:solidFill>
                <a:latin typeface="黑体" panose="02010609060101010101" pitchFamily="49" charset="-122"/>
                <a:ea typeface="黑体" panose="02010609060101010101" pitchFamily="49" charset="-122"/>
              </a:rPr>
              <a:t>D6</a:t>
            </a:r>
            <a:r>
              <a:rPr lang="zh-CN" altLang="en-US" dirty="0">
                <a:solidFill>
                  <a:srgbClr val="000000"/>
                </a:solidFill>
                <a:latin typeface="黑体" panose="02010609060101010101" pitchFamily="49" charset="-122"/>
                <a:ea typeface="黑体" panose="02010609060101010101" pitchFamily="49" charset="-122"/>
              </a:rPr>
              <a:t>无借位</a:t>
            </a:r>
            <a:r>
              <a:rPr lang="zh-CN" altLang="en-US" dirty="0">
                <a:solidFill>
                  <a:srgbClr val="000000"/>
                </a:solidFill>
                <a:latin typeface="Arial" panose="020B0604020202090204" pitchFamily="34" charset="0"/>
                <a:ea typeface="黑体" panose="02010609060101010101" pitchFamily="49" charset="-122"/>
              </a:rPr>
              <a:t>”</a:t>
            </a:r>
            <a:endParaRPr lang="zh-CN" altLang="en-US" dirty="0">
              <a:solidFill>
                <a:srgbClr val="00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ppt_x</p:attrName>
                                        </p:attrNameLst>
                                      </p:cBhvr>
                                      <p:tavLst>
                                        <p:tav tm="0">
                                          <p:val>
                                            <p:strVal val="#ppt_x"/>
                                          </p:val>
                                        </p:tav>
                                        <p:tav tm="100000">
                                          <p:val>
                                            <p:strVal val="#ppt_x"/>
                                          </p:val>
                                        </p:tav>
                                      </p:tavLst>
                                    </p:anim>
                                    <p:anim calcmode="lin" valueType="num">
                                      <p:cBhvr>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9573"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110594" name="Rectangle 2"/>
          <p:cNvSpPr/>
          <p:nvPr/>
        </p:nvSpPr>
        <p:spPr>
          <a:xfrm>
            <a:off x="611188" y="933450"/>
            <a:ext cx="8216900" cy="1198563"/>
          </a:xfrm>
          <a:prstGeom prst="rect">
            <a:avLst/>
          </a:prstGeom>
          <a:noFill/>
          <a:ln w="9525">
            <a:noFill/>
          </a:ln>
        </p:spPr>
        <p:txBody>
          <a:bodyPr wrap="square" anchor="ctr" anchorCtr="0">
            <a:spAutoFit/>
          </a:bodyPr>
          <a:p>
            <a:pPr eaLnBrk="0" hangingPunct="0">
              <a:lnSpc>
                <a:spcPct val="150000"/>
              </a:lnSpc>
              <a:buClrTx/>
              <a:buFontTx/>
            </a:pPr>
            <a:r>
              <a:rPr lang="en-US" altLang="zh-CN" dirty="0">
                <a:latin typeface="Times New Roman" panose="02020503050405090304" pitchFamily="18" charset="0"/>
                <a:ea typeface="仿宋_GB2312" pitchFamily="49" charset="-122"/>
              </a:rPr>
              <a:t>【</a:t>
            </a:r>
            <a:r>
              <a:rPr lang="zh-CN" altLang="en-US" dirty="0">
                <a:latin typeface="Times New Roman" panose="02020503050405090304" pitchFamily="18" charset="0"/>
                <a:ea typeface="仿宋_GB2312" pitchFamily="49" charset="-122"/>
              </a:rPr>
              <a:t>例</a:t>
            </a:r>
            <a:r>
              <a:rPr lang="en-US" altLang="zh-CN" dirty="0">
                <a:latin typeface="Times New Roman" panose="02020503050405090304" pitchFamily="18" charset="0"/>
                <a:ea typeface="仿宋_GB2312" pitchFamily="49" charset="-122"/>
              </a:rPr>
              <a:t>3-11】</a:t>
            </a:r>
            <a:r>
              <a:rPr lang="zh-CN" altLang="en-US" dirty="0">
                <a:latin typeface="Times New Roman" panose="02020503050405090304" pitchFamily="18" charset="0"/>
                <a:ea typeface="仿宋_GB2312" pitchFamily="49" charset="-122"/>
              </a:rPr>
              <a:t>若（</a:t>
            </a:r>
            <a:r>
              <a:rPr lang="en-US" altLang="zh-CN" dirty="0">
                <a:latin typeface="Times New Roman" panose="02020503050405090304" pitchFamily="18" charset="0"/>
                <a:ea typeface="仿宋_GB2312" pitchFamily="49" charset="-122"/>
              </a:rPr>
              <a:t>A</a:t>
            </a:r>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=C9H</a:t>
            </a:r>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R2</a:t>
            </a:r>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=54H</a:t>
            </a:r>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CY</a:t>
            </a:r>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=1</a:t>
            </a:r>
            <a:r>
              <a:rPr lang="zh-CN" altLang="en-US" dirty="0">
                <a:latin typeface="Times New Roman" panose="02020503050405090304" pitchFamily="18" charset="0"/>
                <a:ea typeface="仿宋_GB2312" pitchFamily="49" charset="-122"/>
              </a:rPr>
              <a:t>，试分析指令</a:t>
            </a:r>
            <a:r>
              <a:rPr lang="en-US" altLang="zh-CN" dirty="0">
                <a:latin typeface="Times New Roman" panose="02020503050405090304" pitchFamily="18" charset="0"/>
                <a:ea typeface="仿宋_GB2312" pitchFamily="49" charset="-122"/>
              </a:rPr>
              <a:t>SUBB  A</a:t>
            </a:r>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R2</a:t>
            </a:r>
            <a:r>
              <a:rPr lang="zh-CN" altLang="en-US" dirty="0">
                <a:latin typeface="Times New Roman" panose="02020503050405090304" pitchFamily="18" charset="0"/>
                <a:ea typeface="仿宋_GB2312" pitchFamily="49" charset="-122"/>
              </a:rPr>
              <a:t>执行后，累加器的内容及状态标志。</a:t>
            </a:r>
            <a:endParaRPr lang="zh-CN" altLang="en-US" dirty="0">
              <a:latin typeface="Times New Roman" panose="02020503050405090304" pitchFamily="18" charset="0"/>
              <a:ea typeface="仿宋_GB2312" pitchFamily="49" charset="-122"/>
            </a:endParaRPr>
          </a:p>
        </p:txBody>
      </p:sp>
      <p:graphicFrame>
        <p:nvGraphicFramePr>
          <p:cNvPr id="7" name="Group 187"/>
          <p:cNvGraphicFramePr>
            <a:graphicFrameLocks noGrp="1"/>
          </p:cNvGraphicFramePr>
          <p:nvPr/>
        </p:nvGraphicFramePr>
        <p:xfrm>
          <a:off x="1547813" y="2349500"/>
          <a:ext cx="5688013" cy="1981200"/>
        </p:xfrm>
        <a:graphic>
          <a:graphicData uri="http://schemas.openxmlformats.org/drawingml/2006/table">
            <a:tbl>
              <a:tblPr/>
              <a:tblGrid>
                <a:gridCol w="2232025"/>
                <a:gridCol w="3455987"/>
              </a:tblGrid>
              <a:tr h="393700">
                <a:tc>
                  <a:txBody>
                    <a:bodyPr/>
                    <a:lstStyle/>
                    <a:p>
                      <a:pPr marL="0" marR="0" lvl="0" indent="0" algn="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000000"/>
                          </a:solidFill>
                          <a:effectLst/>
                          <a:latin typeface="Times New Roman" panose="02020503050405090304" pitchFamily="18" charset="0"/>
                          <a:ea typeface="宋体" pitchFamily="2" charset="-122"/>
                          <a:cs typeface="Times New Roman" panose="02020503050405090304" pitchFamily="18" charset="0"/>
                        </a:rPr>
                        <a:t>     （</a:t>
                      </a:r>
                      <a:r>
                        <a:rPr kumimoji="0" lang="en-US" altLang="zh-CN" sz="2000" b="1" i="0" u="none" strike="noStrike" cap="none" normalizeH="0" baseline="0" smtClean="0">
                          <a:ln>
                            <a:noFill/>
                          </a:ln>
                          <a:solidFill>
                            <a:srgbClr val="000000"/>
                          </a:solidFill>
                          <a:effectLst/>
                          <a:latin typeface="Times New Roman" panose="02020503050405090304" pitchFamily="18" charset="0"/>
                          <a:ea typeface="宋体" pitchFamily="2" charset="-122"/>
                          <a:cs typeface="Times New Roman" panose="02020503050405090304" pitchFamily="18" charset="0"/>
                        </a:rPr>
                        <a:t>A</a:t>
                      </a:r>
                      <a:r>
                        <a:rPr kumimoji="0" lang="zh-CN" altLang="en-US" sz="2000" b="1" i="0" u="none" strike="noStrike" cap="none" normalizeH="0" baseline="0" smtClean="0">
                          <a:ln>
                            <a:noFill/>
                          </a:ln>
                          <a:solidFill>
                            <a:srgbClr val="000000"/>
                          </a:solidFill>
                          <a:effectLst/>
                          <a:latin typeface="Times New Roman" panose="02020503050405090304" pitchFamily="18" charset="0"/>
                          <a:ea typeface="宋体" pitchFamily="2" charset="-122"/>
                          <a:cs typeface="Times New Roman" panose="02020503050405090304" pitchFamily="18" charset="0"/>
                        </a:rPr>
                        <a:t>）：</a:t>
                      </a:r>
                      <a:endParaRPr kumimoji="0" lang="zh-CN" altLang="en-US" sz="2000" b="1" i="0" u="none" strike="noStrike" cap="none" normalizeH="0" baseline="0" smtClean="0">
                        <a:ln>
                          <a:noFill/>
                        </a:ln>
                        <a:solidFill>
                          <a:srgbClr val="000000"/>
                        </a:solidFill>
                        <a:effectLst/>
                        <a:latin typeface="Arial" panose="020B0604020202090204" pitchFamily="34" charset="0"/>
                        <a:ea typeface="宋体" pitchFamily="2" charset="-122"/>
                        <a:cs typeface="Times New Roman" panose="02020503050405090304" pitchFamily="18" charset="0"/>
                      </a:endParaRPr>
                    </a:p>
                  </a:txBody>
                  <a:tcPr horzOverflow="overflow">
                    <a:lnL cap="flat">
                      <a:noFill/>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00"/>
                          </a:solidFill>
                          <a:effectLst/>
                          <a:latin typeface="Times New Roman" panose="02020503050405090304" pitchFamily="18" charset="0"/>
                          <a:ea typeface="宋体" pitchFamily="2" charset="-122"/>
                          <a:cs typeface="Times New Roman" panose="02020503050405090304" pitchFamily="18" charset="0"/>
                        </a:rPr>
                        <a:t>1 1 0 0  1 0 0 1</a:t>
                      </a:r>
                      <a:r>
                        <a:rPr kumimoji="0" lang="zh-CN" altLang="en-US" sz="2000" b="1" i="0" u="none" strike="noStrike" cap="none" normalizeH="0" baseline="0" smtClean="0">
                          <a:ln>
                            <a:noFill/>
                          </a:ln>
                          <a:solidFill>
                            <a:srgbClr val="000000"/>
                          </a:solidFill>
                          <a:effectLst/>
                          <a:latin typeface="Times New Roman" panose="02020503050405090304" pitchFamily="18" charset="0"/>
                          <a:ea typeface="宋体" pitchFamily="2" charset="-122"/>
                          <a:cs typeface="Times New Roman" panose="02020503050405090304" pitchFamily="18" charset="0"/>
                        </a:rPr>
                        <a:t>（</a:t>
                      </a:r>
                      <a:r>
                        <a:rPr kumimoji="0" lang="en-US" altLang="zh-CN" sz="2000" b="1" i="0" u="none" strike="noStrike" cap="none" normalizeH="0" baseline="0" smtClean="0">
                          <a:ln>
                            <a:noFill/>
                          </a:ln>
                          <a:solidFill>
                            <a:srgbClr val="000000"/>
                          </a:solidFill>
                          <a:effectLst/>
                          <a:latin typeface="Times New Roman" panose="02020503050405090304" pitchFamily="18" charset="0"/>
                          <a:ea typeface="宋体" pitchFamily="2" charset="-122"/>
                          <a:cs typeface="Times New Roman" panose="02020503050405090304" pitchFamily="18" charset="0"/>
                        </a:rPr>
                        <a:t>201</a:t>
                      </a:r>
                      <a:r>
                        <a:rPr kumimoji="0" lang="zh-CN" altLang="en-US" sz="2000" b="1" i="0" u="none" strike="noStrike" cap="none" normalizeH="0" baseline="0" smtClean="0">
                          <a:ln>
                            <a:noFill/>
                          </a:ln>
                          <a:solidFill>
                            <a:srgbClr val="000000"/>
                          </a:solidFill>
                          <a:effectLst/>
                          <a:latin typeface="Times New Roman" panose="02020503050405090304" pitchFamily="18" charset="0"/>
                          <a:ea typeface="宋体" pitchFamily="2" charset="-122"/>
                          <a:cs typeface="Times New Roman" panose="02020503050405090304" pitchFamily="18" charset="0"/>
                        </a:rPr>
                        <a:t>）</a:t>
                      </a:r>
                      <a:endParaRPr kumimoji="0" lang="en-US" altLang="zh-CN" sz="2000" b="1" i="0" u="none" strike="noStrike" cap="none" normalizeH="0" baseline="0" smtClean="0">
                        <a:ln>
                          <a:noFill/>
                        </a:ln>
                        <a:solidFill>
                          <a:srgbClr val="000000"/>
                        </a:solidFill>
                        <a:effectLst/>
                        <a:latin typeface="Arial" panose="020B0604020202090204" pitchFamily="34"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396875">
                <a:tc>
                  <a:txBody>
                    <a:bodyPr/>
                    <a:lstStyle/>
                    <a:p>
                      <a:pPr marL="0" marR="0" lvl="0" indent="0" algn="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000000"/>
                          </a:solidFill>
                          <a:effectLst/>
                          <a:latin typeface="Times New Roman" panose="02020503050405090304" pitchFamily="18" charset="0"/>
                          <a:ea typeface="宋体" pitchFamily="2" charset="-122"/>
                          <a:cs typeface="Times New Roman" panose="02020503050405090304" pitchFamily="18" charset="0"/>
                        </a:rPr>
                        <a:t>  －（</a:t>
                      </a:r>
                      <a:r>
                        <a:rPr kumimoji="0" lang="en-US" altLang="zh-CN" sz="2000" b="1" i="0" u="none" strike="noStrike" cap="none" normalizeH="0" baseline="0" smtClean="0">
                          <a:ln>
                            <a:noFill/>
                          </a:ln>
                          <a:solidFill>
                            <a:srgbClr val="000000"/>
                          </a:solidFill>
                          <a:effectLst/>
                          <a:latin typeface="Times New Roman" panose="02020503050405090304" pitchFamily="18" charset="0"/>
                          <a:ea typeface="宋体" pitchFamily="2" charset="-122"/>
                          <a:cs typeface="Times New Roman" panose="02020503050405090304" pitchFamily="18" charset="0"/>
                        </a:rPr>
                        <a:t>CY</a:t>
                      </a:r>
                      <a:r>
                        <a:rPr kumimoji="0" lang="zh-CN" altLang="en-US" sz="2000" b="1" i="0" u="none" strike="noStrike" cap="none" normalizeH="0" baseline="0" smtClean="0">
                          <a:ln>
                            <a:noFill/>
                          </a:ln>
                          <a:solidFill>
                            <a:srgbClr val="000000"/>
                          </a:solidFill>
                          <a:effectLst/>
                          <a:latin typeface="Times New Roman" panose="02020503050405090304" pitchFamily="18" charset="0"/>
                          <a:ea typeface="宋体" pitchFamily="2" charset="-122"/>
                          <a:cs typeface="Times New Roman" panose="02020503050405090304" pitchFamily="18" charset="0"/>
                        </a:rPr>
                        <a:t>）：</a:t>
                      </a:r>
                      <a:endParaRPr kumimoji="0" lang="zh-CN" altLang="en-US" sz="2000" b="1" i="0" u="none" strike="noStrike" cap="none" normalizeH="0" baseline="0" smtClean="0">
                        <a:ln>
                          <a:noFill/>
                        </a:ln>
                        <a:solidFill>
                          <a:srgbClr val="000000"/>
                        </a:solidFill>
                        <a:effectLst/>
                        <a:latin typeface="Arial" panose="020B0604020202090204" pitchFamily="34" charset="0"/>
                        <a:ea typeface="宋体" pitchFamily="2" charset="-122"/>
                        <a:cs typeface="Times New Roman" panose="02020503050405090304" pitchFamily="18"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800" b="1" i="0" u="none" strike="noStrike" cap="none" normalizeH="0" baseline="0" smtClean="0">
                          <a:ln>
                            <a:noFill/>
                          </a:ln>
                          <a:solidFill>
                            <a:srgbClr val="000000"/>
                          </a:solidFill>
                          <a:effectLst/>
                          <a:latin typeface="Times New Roman" panose="02020503050405090304" pitchFamily="18" charset="0"/>
                          <a:ea typeface="宋体" pitchFamily="2" charset="-122"/>
                          <a:cs typeface="Times New Roman" panose="02020503050405090304" pitchFamily="18" charset="0"/>
                        </a:rPr>
                        <a:t> </a:t>
                      </a:r>
                      <a:r>
                        <a:rPr kumimoji="0" lang="zh-CN" altLang="en-US" sz="2000" b="1" i="0" u="none" strike="noStrike" cap="none" normalizeH="0" baseline="0" smtClean="0">
                          <a:ln>
                            <a:noFill/>
                          </a:ln>
                          <a:solidFill>
                            <a:srgbClr val="000000"/>
                          </a:solidFill>
                          <a:effectLst/>
                          <a:latin typeface="Times New Roman" panose="02020503050405090304" pitchFamily="18" charset="0"/>
                          <a:ea typeface="宋体" pitchFamily="2" charset="-122"/>
                          <a:cs typeface="Times New Roman" panose="02020503050405090304" pitchFamily="18" charset="0"/>
                        </a:rPr>
                        <a:t>                      </a:t>
                      </a:r>
                      <a:r>
                        <a:rPr kumimoji="0" lang="en-US" altLang="zh-CN" sz="2000" b="1" i="0" u="none" strike="noStrike" cap="none" normalizeH="0" baseline="0" smtClean="0">
                          <a:ln>
                            <a:noFill/>
                          </a:ln>
                          <a:solidFill>
                            <a:srgbClr val="000000"/>
                          </a:solidFill>
                          <a:effectLst/>
                          <a:latin typeface="Times New Roman" panose="02020503050405090304" pitchFamily="18" charset="0"/>
                          <a:ea typeface="宋体" pitchFamily="2" charset="-122"/>
                          <a:cs typeface="Times New Roman" panose="02020503050405090304" pitchFamily="18" charset="0"/>
                        </a:rPr>
                        <a:t>1</a:t>
                      </a:r>
                      <a:r>
                        <a:rPr kumimoji="0" lang="zh-CN" altLang="en-US" sz="2000" b="1" i="0" u="none" strike="noStrike" cap="none" normalizeH="0" baseline="0" smtClean="0">
                          <a:ln>
                            <a:noFill/>
                          </a:ln>
                          <a:solidFill>
                            <a:srgbClr val="000000"/>
                          </a:solidFill>
                          <a:effectLst/>
                          <a:latin typeface="Times New Roman" panose="02020503050405090304" pitchFamily="18" charset="0"/>
                          <a:ea typeface="宋体" pitchFamily="2" charset="-122"/>
                          <a:cs typeface="Times New Roman" panose="02020503050405090304" pitchFamily="18" charset="0"/>
                        </a:rPr>
                        <a:t>（</a:t>
                      </a:r>
                      <a:r>
                        <a:rPr kumimoji="0" lang="en-US" altLang="zh-CN" sz="2000" b="1" i="0" u="none" strike="noStrike" cap="none" normalizeH="0" baseline="0" smtClean="0">
                          <a:ln>
                            <a:noFill/>
                          </a:ln>
                          <a:solidFill>
                            <a:srgbClr val="000000"/>
                          </a:solidFill>
                          <a:effectLst/>
                          <a:latin typeface="Times New Roman" panose="02020503050405090304" pitchFamily="18" charset="0"/>
                          <a:ea typeface="宋体" pitchFamily="2" charset="-122"/>
                          <a:cs typeface="Times New Roman" panose="02020503050405090304" pitchFamily="18" charset="0"/>
                        </a:rPr>
                        <a:t>1</a:t>
                      </a:r>
                      <a:r>
                        <a:rPr kumimoji="0" lang="zh-CN" altLang="en-US" sz="2000" b="1" i="0" u="none" strike="noStrike" cap="none" normalizeH="0" baseline="0" smtClean="0">
                          <a:ln>
                            <a:noFill/>
                          </a:ln>
                          <a:solidFill>
                            <a:srgbClr val="000000"/>
                          </a:solidFill>
                          <a:effectLst/>
                          <a:latin typeface="Times New Roman" panose="02020503050405090304" pitchFamily="18" charset="0"/>
                          <a:ea typeface="宋体" pitchFamily="2" charset="-122"/>
                          <a:cs typeface="Times New Roman" panose="02020503050405090304" pitchFamily="18" charset="0"/>
                        </a:rPr>
                        <a:t>）</a:t>
                      </a:r>
                      <a:endParaRPr kumimoji="0" lang="zh-CN" altLang="en-US" sz="2000" b="1" i="0" u="none" strike="noStrike" cap="none" normalizeH="0" baseline="0" smtClean="0">
                        <a:ln>
                          <a:noFill/>
                        </a:ln>
                        <a:solidFill>
                          <a:srgbClr val="000000"/>
                        </a:solidFill>
                        <a:effectLst/>
                        <a:latin typeface="Arial" panose="020B0604020202090204" pitchFamily="34"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3700">
                <a:tc>
                  <a:txBody>
                    <a:bodyPr/>
                    <a:lstStyle/>
                    <a:p>
                      <a:pPr marL="0" marR="0" lvl="0" indent="0" algn="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en-US" sz="2000" b="1" i="0" u="none" strike="noStrike" cap="none" normalizeH="0" baseline="0" smtClean="0">
                        <a:ln>
                          <a:noFill/>
                        </a:ln>
                        <a:solidFill>
                          <a:srgbClr val="000000"/>
                        </a:solidFill>
                        <a:effectLst/>
                        <a:latin typeface="Verdana" panose="020B0804030504040204" pitchFamily="34" charset="0"/>
                        <a:ea typeface="宋体"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00"/>
                          </a:solidFill>
                          <a:effectLst/>
                          <a:latin typeface="Times New Roman" panose="02020503050405090304" pitchFamily="18" charset="0"/>
                          <a:ea typeface="宋体" pitchFamily="2" charset="-122"/>
                          <a:cs typeface="Times New Roman" panose="02020503050405090304" pitchFamily="18" charset="0"/>
                        </a:rPr>
                        <a:t>1 1 0 0  1 0 0 0</a:t>
                      </a:r>
                      <a:endParaRPr kumimoji="0" lang="en-US" altLang="zh-CN" sz="2000" b="1" i="0" u="none" strike="noStrike" cap="none" normalizeH="0" baseline="0" smtClean="0">
                        <a:ln>
                          <a:noFill/>
                        </a:ln>
                        <a:solidFill>
                          <a:srgbClr val="000000"/>
                        </a:solidFill>
                        <a:effectLst/>
                        <a:latin typeface="Arial" panose="020B0604020202090204" pitchFamily="34"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1950">
                <a:tc>
                  <a:txBody>
                    <a:bodyPr/>
                    <a:lstStyle/>
                    <a:p>
                      <a:pPr marL="0" marR="0" lvl="0" indent="0" algn="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000000"/>
                          </a:solidFill>
                          <a:effectLst/>
                          <a:latin typeface="Times New Roman" panose="02020503050405090304" pitchFamily="18" charset="0"/>
                          <a:ea typeface="宋体" pitchFamily="2" charset="-122"/>
                          <a:cs typeface="Times New Roman" panose="02020503050405090304" pitchFamily="18" charset="0"/>
                        </a:rPr>
                        <a:t>－（</a:t>
                      </a:r>
                      <a:r>
                        <a:rPr kumimoji="0" lang="en-US" altLang="zh-CN" sz="2000" b="1" i="0" u="none" strike="noStrike" cap="none" normalizeH="0" baseline="0" smtClean="0">
                          <a:ln>
                            <a:noFill/>
                          </a:ln>
                          <a:solidFill>
                            <a:srgbClr val="000000"/>
                          </a:solidFill>
                          <a:effectLst/>
                          <a:latin typeface="Times New Roman" panose="02020503050405090304" pitchFamily="18" charset="0"/>
                          <a:ea typeface="宋体" pitchFamily="2" charset="-122"/>
                          <a:cs typeface="Times New Roman" panose="02020503050405090304" pitchFamily="18" charset="0"/>
                        </a:rPr>
                        <a:t>R2</a:t>
                      </a:r>
                      <a:r>
                        <a:rPr kumimoji="0" lang="zh-CN" altLang="en-US" sz="2000" b="1" i="0" u="none" strike="noStrike" cap="none" normalizeH="0" baseline="0" smtClean="0">
                          <a:ln>
                            <a:noFill/>
                          </a:ln>
                          <a:solidFill>
                            <a:srgbClr val="000000"/>
                          </a:solidFill>
                          <a:effectLst/>
                          <a:latin typeface="Times New Roman" panose="02020503050405090304" pitchFamily="18" charset="0"/>
                          <a:ea typeface="宋体" pitchFamily="2" charset="-122"/>
                          <a:cs typeface="Times New Roman" panose="02020503050405090304" pitchFamily="18" charset="0"/>
                        </a:rPr>
                        <a:t>）： </a:t>
                      </a:r>
                      <a:endParaRPr kumimoji="0" lang="zh-CN" altLang="en-US" sz="2000" b="1" i="0" u="none" strike="noStrike" cap="none" normalizeH="0" baseline="0" smtClean="0">
                        <a:ln>
                          <a:noFill/>
                        </a:ln>
                        <a:solidFill>
                          <a:srgbClr val="000000"/>
                        </a:solidFill>
                        <a:effectLst/>
                        <a:latin typeface="Arial" panose="020B0604020202090204" pitchFamily="34" charset="0"/>
                        <a:ea typeface="宋体" pitchFamily="2" charset="-122"/>
                        <a:cs typeface="Times New Roman" panose="02020503050405090304" pitchFamily="18" charset="0"/>
                      </a:endParaRP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00"/>
                          </a:solidFill>
                          <a:effectLst/>
                          <a:latin typeface="Times New Roman" panose="02020503050405090304" pitchFamily="18" charset="0"/>
                          <a:ea typeface="宋体" pitchFamily="2" charset="-122"/>
                          <a:cs typeface="Times New Roman" panose="02020503050405090304" pitchFamily="18" charset="0"/>
                        </a:rPr>
                        <a:t>0 1 0 1  0 1 0 0</a:t>
                      </a:r>
                      <a:r>
                        <a:rPr kumimoji="0" lang="zh-CN" altLang="en-US" sz="2000" b="1" i="0" u="none" strike="noStrike" cap="none" normalizeH="0" baseline="0" smtClean="0">
                          <a:ln>
                            <a:noFill/>
                          </a:ln>
                          <a:solidFill>
                            <a:srgbClr val="000000"/>
                          </a:solidFill>
                          <a:effectLst/>
                          <a:latin typeface="Times New Roman" panose="02020503050405090304" pitchFamily="18" charset="0"/>
                          <a:ea typeface="宋体" pitchFamily="2" charset="-122"/>
                          <a:cs typeface="Times New Roman" panose="02020503050405090304" pitchFamily="18" charset="0"/>
                        </a:rPr>
                        <a:t>（</a:t>
                      </a:r>
                      <a:r>
                        <a:rPr kumimoji="0" lang="en-US" altLang="zh-CN" sz="2000" b="1" i="0" u="none" strike="noStrike" cap="none" normalizeH="0" baseline="0" smtClean="0">
                          <a:ln>
                            <a:noFill/>
                          </a:ln>
                          <a:solidFill>
                            <a:srgbClr val="000000"/>
                          </a:solidFill>
                          <a:effectLst/>
                          <a:latin typeface="Times New Roman" panose="02020503050405090304" pitchFamily="18" charset="0"/>
                          <a:ea typeface="宋体" pitchFamily="2" charset="-122"/>
                          <a:cs typeface="Times New Roman" panose="02020503050405090304" pitchFamily="18" charset="0"/>
                        </a:rPr>
                        <a:t>84</a:t>
                      </a:r>
                      <a:r>
                        <a:rPr kumimoji="0" lang="zh-CN" altLang="en-US" sz="2000" b="1" i="0" u="none" strike="noStrike" cap="none" normalizeH="0" baseline="0" smtClean="0">
                          <a:ln>
                            <a:noFill/>
                          </a:ln>
                          <a:solidFill>
                            <a:srgbClr val="000000"/>
                          </a:solidFill>
                          <a:effectLst/>
                          <a:latin typeface="Times New Roman" panose="02020503050405090304" pitchFamily="18" charset="0"/>
                          <a:ea typeface="宋体" pitchFamily="2" charset="-122"/>
                          <a:cs typeface="Times New Roman" panose="02020503050405090304" pitchFamily="18" charset="0"/>
                        </a:rPr>
                        <a:t>）</a:t>
                      </a:r>
                      <a:endParaRPr kumimoji="0" lang="zh-CN" altLang="en-US" sz="2000" b="1" i="0" u="none" strike="noStrike" cap="none" normalizeH="0" baseline="0" smtClean="0">
                        <a:ln>
                          <a:noFill/>
                        </a:ln>
                        <a:solidFill>
                          <a:srgbClr val="000000"/>
                        </a:solidFill>
                        <a:effectLst/>
                        <a:latin typeface="Arial" panose="020B0604020202090204" pitchFamily="34"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0363">
                <a:tc>
                  <a:txBody>
                    <a:bodyPr/>
                    <a:lstStyle/>
                    <a:p>
                      <a:pPr marL="0" marR="0" lvl="0" indent="0" algn="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000000"/>
                          </a:solidFill>
                          <a:effectLst/>
                          <a:latin typeface="Times New Roman" panose="02020503050405090304" pitchFamily="18" charset="0"/>
                          <a:ea typeface="宋体" pitchFamily="2" charset="-122"/>
                          <a:cs typeface="Times New Roman" panose="02020503050405090304" pitchFamily="18" charset="0"/>
                        </a:rPr>
                        <a:t>结果：</a:t>
                      </a:r>
                      <a:endParaRPr kumimoji="0" lang="zh-CN" altLang="en-US" sz="2000" b="1" i="0" u="none" strike="noStrike" cap="none" normalizeH="0" baseline="0" smtClean="0">
                        <a:ln>
                          <a:noFill/>
                        </a:ln>
                        <a:solidFill>
                          <a:srgbClr val="000000"/>
                        </a:solidFill>
                        <a:effectLst/>
                        <a:latin typeface="Arial" panose="020B0604020202090204" pitchFamily="34" charset="0"/>
                        <a:ea typeface="宋体" pitchFamily="2" charset="-122"/>
                        <a:cs typeface="Times New Roman" panose="02020503050405090304" pitchFamily="18" charset="0"/>
                      </a:endParaRP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00"/>
                          </a:solidFill>
                          <a:effectLst/>
                          <a:latin typeface="Times New Roman" panose="02020503050405090304" pitchFamily="18" charset="0"/>
                          <a:ea typeface="宋体" pitchFamily="2" charset="-122"/>
                          <a:cs typeface="Times New Roman" panose="02020503050405090304" pitchFamily="18" charset="0"/>
                        </a:rPr>
                        <a:t>0 1 1 1  0 1 0 0</a:t>
                      </a:r>
                      <a:r>
                        <a:rPr kumimoji="0" lang="zh-CN" altLang="en-US" sz="2000" b="1" i="0" u="none" strike="noStrike" cap="none" normalizeH="0" baseline="0" smtClean="0">
                          <a:ln>
                            <a:noFill/>
                          </a:ln>
                          <a:solidFill>
                            <a:srgbClr val="000000"/>
                          </a:solidFill>
                          <a:effectLst/>
                          <a:latin typeface="Times New Roman" panose="02020503050405090304" pitchFamily="18" charset="0"/>
                          <a:ea typeface="宋体" pitchFamily="2" charset="-122"/>
                          <a:cs typeface="Times New Roman" panose="02020503050405090304" pitchFamily="18" charset="0"/>
                        </a:rPr>
                        <a:t>（</a:t>
                      </a:r>
                      <a:r>
                        <a:rPr kumimoji="0" lang="en-US" altLang="zh-CN" sz="2000" b="1" i="0" u="none" strike="noStrike" cap="none" normalizeH="0" baseline="0" smtClean="0">
                          <a:ln>
                            <a:noFill/>
                          </a:ln>
                          <a:solidFill>
                            <a:srgbClr val="000000"/>
                          </a:solidFill>
                          <a:effectLst/>
                          <a:latin typeface="Times New Roman" panose="02020503050405090304" pitchFamily="18" charset="0"/>
                          <a:ea typeface="宋体" pitchFamily="2" charset="-122"/>
                          <a:cs typeface="Times New Roman" panose="02020503050405090304" pitchFamily="18" charset="0"/>
                        </a:rPr>
                        <a:t>116</a:t>
                      </a:r>
                      <a:r>
                        <a:rPr kumimoji="0" lang="zh-CN" altLang="en-US" sz="2000" b="1" i="0" u="none" strike="noStrike" cap="none" normalizeH="0" baseline="0" smtClean="0">
                          <a:ln>
                            <a:noFill/>
                          </a:ln>
                          <a:solidFill>
                            <a:srgbClr val="000000"/>
                          </a:solidFill>
                          <a:effectLst/>
                          <a:latin typeface="Times New Roman" panose="02020503050405090304" pitchFamily="18" charset="0"/>
                          <a:ea typeface="宋体" pitchFamily="2" charset="-122"/>
                          <a:cs typeface="Times New Roman" panose="02020503050405090304" pitchFamily="18" charset="0"/>
                        </a:rPr>
                        <a:t>）</a:t>
                      </a:r>
                      <a:endParaRPr kumimoji="0" lang="zh-CN" altLang="en-US" sz="2000" b="1" i="0" u="none" strike="noStrike" cap="none" normalizeH="0" baseline="0" smtClean="0">
                        <a:ln>
                          <a:noFill/>
                        </a:ln>
                        <a:solidFill>
                          <a:srgbClr val="000000"/>
                        </a:solidFill>
                        <a:effectLst/>
                        <a:latin typeface="Arial" panose="020B0604020202090204" pitchFamily="34"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r>
            </a:tbl>
          </a:graphicData>
        </a:graphic>
      </p:graphicFrame>
      <p:sp>
        <p:nvSpPr>
          <p:cNvPr id="8" name="Rectangle 176"/>
          <p:cNvSpPr/>
          <p:nvPr/>
        </p:nvSpPr>
        <p:spPr>
          <a:xfrm>
            <a:off x="719138" y="4365625"/>
            <a:ext cx="8424862" cy="457200"/>
          </a:xfrm>
          <a:prstGeom prst="rect">
            <a:avLst/>
          </a:prstGeom>
          <a:noFill/>
          <a:ln w="9525">
            <a:noFill/>
          </a:ln>
        </p:spPr>
        <p:txBody>
          <a:bodyPr anchor="ctr" anchorCtr="0">
            <a:spAutoFit/>
          </a:bodyPr>
          <a:p>
            <a:pPr eaLnBrk="0" hangingPunct="0">
              <a:buClrTx/>
              <a:buFontTx/>
            </a:pPr>
            <a:r>
              <a:rPr lang="zh-CN" altLang="en-US" dirty="0">
                <a:solidFill>
                  <a:srgbClr val="666633"/>
                </a:solidFill>
                <a:latin typeface="Times New Roman" panose="02020503050405090304" pitchFamily="18" charset="0"/>
                <a:ea typeface="仿宋_GB2312" pitchFamily="49" charset="-122"/>
              </a:rPr>
              <a:t>即</a:t>
            </a:r>
            <a:r>
              <a:rPr lang="en-US" altLang="zh-CN" dirty="0">
                <a:solidFill>
                  <a:srgbClr val="666633"/>
                </a:solidFill>
                <a:latin typeface="Times New Roman" panose="02020503050405090304" pitchFamily="18" charset="0"/>
                <a:ea typeface="仿宋_GB2312" pitchFamily="49" charset="-122"/>
              </a:rPr>
              <a:t>:</a:t>
            </a:r>
            <a:r>
              <a:rPr lang="zh-CN" altLang="en-US" dirty="0">
                <a:solidFill>
                  <a:srgbClr val="666633"/>
                </a:solidFill>
                <a:latin typeface="Times New Roman" panose="02020503050405090304" pitchFamily="18" charset="0"/>
                <a:ea typeface="仿宋_GB2312" pitchFamily="49" charset="-122"/>
              </a:rPr>
              <a:t>（</a:t>
            </a:r>
            <a:r>
              <a:rPr lang="en-US" altLang="zh-CN" dirty="0">
                <a:solidFill>
                  <a:srgbClr val="666633"/>
                </a:solidFill>
                <a:latin typeface="Times New Roman" panose="02020503050405090304" pitchFamily="18" charset="0"/>
                <a:ea typeface="仿宋_GB2312" pitchFamily="49" charset="-122"/>
              </a:rPr>
              <a:t>A</a:t>
            </a:r>
            <a:r>
              <a:rPr lang="zh-CN" altLang="en-US" dirty="0">
                <a:solidFill>
                  <a:srgbClr val="666633"/>
                </a:solidFill>
                <a:latin typeface="Times New Roman" panose="02020503050405090304" pitchFamily="18" charset="0"/>
                <a:ea typeface="仿宋_GB2312" pitchFamily="49" charset="-122"/>
              </a:rPr>
              <a:t>）</a:t>
            </a:r>
            <a:r>
              <a:rPr lang="en-US" altLang="zh-CN" dirty="0">
                <a:solidFill>
                  <a:srgbClr val="666633"/>
                </a:solidFill>
                <a:latin typeface="Times New Roman" panose="02020503050405090304" pitchFamily="18" charset="0"/>
                <a:ea typeface="仿宋_GB2312" pitchFamily="49" charset="-122"/>
              </a:rPr>
              <a:t>=</a:t>
            </a:r>
            <a:r>
              <a:rPr lang="en-US" altLang="zh-CN" dirty="0">
                <a:solidFill>
                  <a:srgbClr val="CC0000"/>
                </a:solidFill>
                <a:latin typeface="Times New Roman" panose="02020503050405090304" pitchFamily="18" charset="0"/>
                <a:ea typeface="仿宋_GB2312" pitchFamily="49" charset="-122"/>
              </a:rPr>
              <a:t>74H</a:t>
            </a:r>
            <a:r>
              <a:rPr lang="en-US" altLang="zh-CN" dirty="0">
                <a:solidFill>
                  <a:srgbClr val="666633"/>
                </a:solidFill>
                <a:latin typeface="Times New Roman" panose="02020503050405090304" pitchFamily="18" charset="0"/>
                <a:ea typeface="仿宋_GB2312" pitchFamily="49" charset="-122"/>
              </a:rPr>
              <a:t>,</a:t>
            </a:r>
            <a:r>
              <a:rPr lang="zh-CN" altLang="en-US" dirty="0">
                <a:solidFill>
                  <a:srgbClr val="666633"/>
                </a:solidFill>
                <a:latin typeface="Times New Roman" panose="02020503050405090304" pitchFamily="18" charset="0"/>
                <a:ea typeface="仿宋_GB2312" pitchFamily="49" charset="-122"/>
              </a:rPr>
              <a:t>（</a:t>
            </a:r>
            <a:r>
              <a:rPr lang="en-US" altLang="zh-CN" dirty="0">
                <a:solidFill>
                  <a:srgbClr val="666633"/>
                </a:solidFill>
                <a:latin typeface="Times New Roman" panose="02020503050405090304" pitchFamily="18" charset="0"/>
                <a:ea typeface="仿宋_GB2312" pitchFamily="49" charset="-122"/>
              </a:rPr>
              <a:t>CY</a:t>
            </a:r>
            <a:r>
              <a:rPr lang="zh-CN" altLang="en-US" dirty="0">
                <a:solidFill>
                  <a:srgbClr val="666633"/>
                </a:solidFill>
                <a:latin typeface="Times New Roman" panose="02020503050405090304" pitchFamily="18" charset="0"/>
                <a:ea typeface="仿宋_GB2312" pitchFamily="49" charset="-122"/>
              </a:rPr>
              <a:t>）</a:t>
            </a:r>
            <a:r>
              <a:rPr lang="en-US" altLang="zh-CN" dirty="0">
                <a:solidFill>
                  <a:srgbClr val="666633"/>
                </a:solidFill>
                <a:latin typeface="Times New Roman" panose="02020503050405090304" pitchFamily="18" charset="0"/>
                <a:ea typeface="仿宋_GB2312" pitchFamily="49" charset="-122"/>
              </a:rPr>
              <a:t>=0,</a:t>
            </a:r>
            <a:r>
              <a:rPr lang="zh-CN" altLang="en-US" dirty="0">
                <a:solidFill>
                  <a:srgbClr val="666633"/>
                </a:solidFill>
                <a:latin typeface="Times New Roman" panose="02020503050405090304" pitchFamily="18" charset="0"/>
                <a:ea typeface="仿宋_GB2312" pitchFamily="49" charset="-122"/>
              </a:rPr>
              <a:t>（</a:t>
            </a:r>
            <a:r>
              <a:rPr lang="en-US" altLang="zh-CN" dirty="0">
                <a:solidFill>
                  <a:srgbClr val="666633"/>
                </a:solidFill>
                <a:latin typeface="Times New Roman" panose="02020503050405090304" pitchFamily="18" charset="0"/>
                <a:ea typeface="仿宋_GB2312" pitchFamily="49" charset="-122"/>
              </a:rPr>
              <a:t>AC</a:t>
            </a:r>
            <a:r>
              <a:rPr lang="zh-CN" altLang="en-US" dirty="0">
                <a:solidFill>
                  <a:srgbClr val="666633"/>
                </a:solidFill>
                <a:latin typeface="Times New Roman" panose="02020503050405090304" pitchFamily="18" charset="0"/>
                <a:ea typeface="仿宋_GB2312" pitchFamily="49" charset="-122"/>
              </a:rPr>
              <a:t>）</a:t>
            </a:r>
            <a:r>
              <a:rPr lang="en-US" altLang="zh-CN" dirty="0">
                <a:solidFill>
                  <a:srgbClr val="666633"/>
                </a:solidFill>
                <a:latin typeface="Times New Roman" panose="02020503050405090304" pitchFamily="18" charset="0"/>
                <a:ea typeface="仿宋_GB2312" pitchFamily="49" charset="-122"/>
              </a:rPr>
              <a:t>=0,</a:t>
            </a:r>
            <a:r>
              <a:rPr lang="zh-CN" altLang="en-US" dirty="0">
                <a:solidFill>
                  <a:srgbClr val="666633"/>
                </a:solidFill>
                <a:latin typeface="Times New Roman" panose="02020503050405090304" pitchFamily="18" charset="0"/>
                <a:ea typeface="仿宋_GB2312" pitchFamily="49" charset="-122"/>
              </a:rPr>
              <a:t>（</a:t>
            </a:r>
            <a:r>
              <a:rPr lang="en-US" altLang="zh-CN" dirty="0">
                <a:solidFill>
                  <a:srgbClr val="666633"/>
                </a:solidFill>
                <a:latin typeface="Times New Roman" panose="02020503050405090304" pitchFamily="18" charset="0"/>
                <a:ea typeface="仿宋_GB2312" pitchFamily="49" charset="-122"/>
              </a:rPr>
              <a:t>OV</a:t>
            </a:r>
            <a:r>
              <a:rPr lang="zh-CN" altLang="en-US" dirty="0">
                <a:solidFill>
                  <a:srgbClr val="666633"/>
                </a:solidFill>
                <a:latin typeface="Times New Roman" panose="02020503050405090304" pitchFamily="18" charset="0"/>
                <a:ea typeface="仿宋_GB2312" pitchFamily="49" charset="-122"/>
              </a:rPr>
              <a:t>）</a:t>
            </a:r>
            <a:r>
              <a:rPr lang="en-US" altLang="zh-CN" dirty="0">
                <a:solidFill>
                  <a:srgbClr val="666633"/>
                </a:solidFill>
                <a:latin typeface="Times New Roman" panose="02020503050405090304" pitchFamily="18" charset="0"/>
                <a:ea typeface="仿宋_GB2312" pitchFamily="49" charset="-122"/>
              </a:rPr>
              <a:t>=1,</a:t>
            </a:r>
            <a:r>
              <a:rPr lang="zh-CN" altLang="en-US" dirty="0">
                <a:solidFill>
                  <a:srgbClr val="666633"/>
                </a:solidFill>
                <a:latin typeface="Times New Roman" panose="02020503050405090304" pitchFamily="18" charset="0"/>
                <a:ea typeface="仿宋_GB2312" pitchFamily="49" charset="-122"/>
              </a:rPr>
              <a:t>（</a:t>
            </a:r>
            <a:r>
              <a:rPr lang="en-US" altLang="zh-CN" dirty="0">
                <a:solidFill>
                  <a:srgbClr val="666633"/>
                </a:solidFill>
                <a:latin typeface="Times New Roman" panose="02020503050405090304" pitchFamily="18" charset="0"/>
                <a:ea typeface="仿宋_GB2312" pitchFamily="49" charset="-122"/>
              </a:rPr>
              <a:t>P</a:t>
            </a:r>
            <a:r>
              <a:rPr lang="zh-CN" altLang="en-US" dirty="0">
                <a:solidFill>
                  <a:srgbClr val="666633"/>
                </a:solidFill>
                <a:latin typeface="Times New Roman" panose="02020503050405090304" pitchFamily="18" charset="0"/>
                <a:ea typeface="仿宋_GB2312" pitchFamily="49" charset="-122"/>
              </a:rPr>
              <a:t>）</a:t>
            </a:r>
            <a:r>
              <a:rPr lang="en-US" altLang="zh-CN" dirty="0">
                <a:solidFill>
                  <a:srgbClr val="666633"/>
                </a:solidFill>
                <a:latin typeface="Times New Roman" panose="02020503050405090304" pitchFamily="18" charset="0"/>
                <a:ea typeface="仿宋_GB2312" pitchFamily="49" charset="-122"/>
              </a:rPr>
              <a:t>=0</a:t>
            </a:r>
            <a:r>
              <a:rPr lang="zh-CN" altLang="en-US" dirty="0">
                <a:solidFill>
                  <a:srgbClr val="666633"/>
                </a:solidFill>
                <a:latin typeface="Times New Roman" panose="02020503050405090304" pitchFamily="18" charset="0"/>
                <a:ea typeface="仿宋_GB2312" pitchFamily="49" charset="-122"/>
              </a:rPr>
              <a:t>。</a:t>
            </a:r>
            <a:endParaRPr lang="zh-CN" altLang="en-US" dirty="0">
              <a:solidFill>
                <a:srgbClr val="666633"/>
              </a:solidFill>
              <a:latin typeface="Times New Roman" panose="02020503050405090304" pitchFamily="18" charset="0"/>
              <a:ea typeface="仿宋_GB2312" pitchFamily="49" charset="-122"/>
            </a:endParaRPr>
          </a:p>
        </p:txBody>
      </p:sp>
      <p:sp>
        <p:nvSpPr>
          <p:cNvPr id="9" name="Rectangle 179"/>
          <p:cNvSpPr/>
          <p:nvPr/>
        </p:nvSpPr>
        <p:spPr>
          <a:xfrm>
            <a:off x="611188" y="5013325"/>
            <a:ext cx="7848600" cy="1006475"/>
          </a:xfrm>
          <a:prstGeom prst="rect">
            <a:avLst/>
          </a:prstGeom>
          <a:noFill/>
          <a:ln w="9525">
            <a:noFill/>
          </a:ln>
        </p:spPr>
        <p:txBody>
          <a:bodyPr anchor="ctr" anchorCtr="0">
            <a:spAutoFit/>
          </a:bodyPr>
          <a:p>
            <a:pPr eaLnBrk="0" hangingPunct="0">
              <a:buClrTx/>
              <a:buFontTx/>
            </a:pPr>
            <a:r>
              <a:rPr lang="zh-CN" altLang="en-US" sz="2000" dirty="0">
                <a:solidFill>
                  <a:srgbClr val="0A10F8"/>
                </a:solidFill>
                <a:latin typeface="Times New Roman" panose="02020503050405090304" pitchFamily="18" charset="0"/>
                <a:ea typeface="仿宋_GB2312" pitchFamily="49" charset="-122"/>
              </a:rPr>
              <a:t>分析：</a:t>
            </a:r>
            <a:r>
              <a:rPr lang="zh-CN" altLang="en-US" sz="2000" dirty="0">
                <a:latin typeface="Times New Roman" panose="02020503050405090304" pitchFamily="18" charset="0"/>
                <a:ea typeface="仿宋_GB2312" pitchFamily="49" charset="-122"/>
              </a:rPr>
              <a:t>数据为无符号类型。该指令执行前</a:t>
            </a:r>
            <a:r>
              <a:rPr lang="en-US" altLang="zh-CN" sz="2000" dirty="0">
                <a:latin typeface="Times New Roman" panose="02020503050405090304" pitchFamily="18" charset="0"/>
                <a:ea typeface="仿宋_GB2312" pitchFamily="49" charset="-122"/>
              </a:rPr>
              <a:t>CY=1</a:t>
            </a:r>
            <a:r>
              <a:rPr lang="zh-CN" altLang="en-US" sz="2000" dirty="0">
                <a:latin typeface="Times New Roman" panose="02020503050405090304" pitchFamily="18" charset="0"/>
                <a:ea typeface="仿宋_GB2312" pitchFamily="49" charset="-122"/>
              </a:rPr>
              <a:t>，说明此指令不是运算的最低字节，即在此指令执行之前，一定执行过低字节的减法并产生了借位。因此，本次相减（</a:t>
            </a:r>
            <a:r>
              <a:rPr lang="en-US" altLang="zh-CN" sz="2000" dirty="0">
                <a:latin typeface="Times New Roman" panose="02020503050405090304" pitchFamily="18" charset="0"/>
                <a:ea typeface="仿宋_GB2312" pitchFamily="49" charset="-122"/>
              </a:rPr>
              <a:t>201-1-84=116=74H</a:t>
            </a:r>
            <a:r>
              <a:rPr lang="zh-CN" altLang="en-US" sz="2000" dirty="0">
                <a:latin typeface="Times New Roman" panose="02020503050405090304" pitchFamily="18" charset="0"/>
                <a:ea typeface="仿宋_GB2312" pitchFamily="49" charset="-122"/>
              </a:rPr>
              <a:t>）结果为</a:t>
            </a:r>
            <a:r>
              <a:rPr lang="en-US" altLang="zh-CN" sz="2000" dirty="0">
                <a:latin typeface="Times New Roman" panose="02020503050405090304" pitchFamily="18" charset="0"/>
                <a:ea typeface="仿宋_GB2312" pitchFamily="49" charset="-122"/>
              </a:rPr>
              <a:t>74H</a:t>
            </a:r>
            <a:r>
              <a:rPr lang="zh-CN" altLang="en-US" sz="2000" dirty="0">
                <a:latin typeface="Times New Roman" panose="02020503050405090304" pitchFamily="18" charset="0"/>
                <a:ea typeface="仿宋_GB2312" pitchFamily="49" charset="-122"/>
              </a:rPr>
              <a:t>。</a:t>
            </a:r>
            <a:endParaRPr lang="zh-CN" altLang="en-US" sz="2000" dirty="0">
              <a:latin typeface="Times New Roman" panose="02020503050405090304" pitchFamily="18" charset="0"/>
              <a:ea typeface="仿宋_GB2312" pitchFamily="49" charset="-122"/>
            </a:endParaRPr>
          </a:p>
        </p:txBody>
      </p:sp>
      <p:sp>
        <p:nvSpPr>
          <p:cNvPr id="2" name="矩形 1"/>
          <p:cNvSpPr/>
          <p:nvPr/>
        </p:nvSpPr>
        <p:spPr>
          <a:xfrm>
            <a:off x="242570" y="5949315"/>
            <a:ext cx="1305560" cy="768350"/>
          </a:xfrm>
          <a:prstGeom prst="rect">
            <a:avLst/>
          </a:prstGeom>
          <a:noFill/>
          <a:ln>
            <a:noFill/>
          </a:ln>
        </p:spPr>
        <p:txBody>
          <a:bodyPr wrap="none" rtlCol="0" anchor="t">
            <a:spAutoFit/>
          </a:bodyPr>
          <a:p>
            <a:pPr algn="ctr"/>
            <a:r>
              <a:rPr lang="zh-CN" altLang="en-US" sz="4400">
                <a:solidFill>
                  <a:schemeClr val="accent1"/>
                </a:solidFill>
                <a:effectLst>
                  <a:outerShdw blurRad="38100" dist="25400" dir="5400000" algn="ctr" rotWithShape="0">
                    <a:srgbClr val="6E747A">
                      <a:alpha val="43000"/>
                      <a:alpha val="43000"/>
                    </a:srgbClr>
                  </a:outerShdw>
                </a:effectLst>
                <a:hlinkClick r:id="rId1" action="ppaction://hlinkfile"/>
              </a:rPr>
              <a:t>示例</a:t>
            </a:r>
            <a:endParaRPr lang="zh-CN" altLang="en-US" sz="4400">
              <a:solidFill>
                <a:schemeClr val="accent1"/>
              </a:solidFill>
              <a:effectLst>
                <a:outerShdw blurRad="38100" dist="25400" dir="5400000" algn="ctr" rotWithShape="0">
                  <a:srgbClr val="6E747A">
                    <a:alpha val="43000"/>
                    <a:alpha val="43000"/>
                  </a:srgbClr>
                </a:outerShdw>
              </a:effectLst>
              <a:hlinkClick r:id="rId1" action="ppaction://hlinkfil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ppt_x"/>
                                          </p:val>
                                        </p:tav>
                                        <p:tav tm="100000">
                                          <p:val>
                                            <p:strVal val="#ppt_x"/>
                                          </p:val>
                                        </p:tav>
                                      </p:tavLst>
                                    </p:anim>
                                    <p:anim calcmode="lin" valueType="num">
                                      <p:cBhvr>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ppt_x</p:attrName>
                                        </p:attrNameLst>
                                      </p:cBhvr>
                                      <p:tavLst>
                                        <p:tav tm="0">
                                          <p:val>
                                            <p:strVal val="#ppt_x"/>
                                          </p:val>
                                        </p:tav>
                                        <p:tav tm="100000">
                                          <p:val>
                                            <p:strVal val="#ppt_x"/>
                                          </p:val>
                                        </p:tav>
                                      </p:tavLst>
                                    </p:anim>
                                    <p:anim calcmode="lin" valueType="num">
                                      <p:cBhvr>
                                        <p:cTn id="14" dur="500" fill="hold"/>
                                        <p:tgtEl>
                                          <p:spTgt spid="8"/>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ppt_x</p:attrName>
                                        </p:attrNameLst>
                                      </p:cBhvr>
                                      <p:tavLst>
                                        <p:tav tm="0">
                                          <p:val>
                                            <p:strVal val="#ppt_x"/>
                                          </p:val>
                                        </p:tav>
                                        <p:tav tm="100000">
                                          <p:val>
                                            <p:strVal val="#ppt_x"/>
                                          </p:val>
                                        </p:tav>
                                      </p:tavLst>
                                    </p:anim>
                                    <p:anim calcmode="lin" valueType="num">
                                      <p:cBhvr>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78851" name="Rectangle 3"/>
          <p:cNvSpPr>
            <a:spLocks noGrp="1"/>
          </p:cNvSpPr>
          <p:nvPr>
            <p:ph type="body" idx="4294967295"/>
          </p:nvPr>
        </p:nvSpPr>
        <p:spPr>
          <a:xfrm>
            <a:off x="642938" y="928688"/>
            <a:ext cx="8501062" cy="5572125"/>
          </a:xfrm>
        </p:spPr>
        <p:txBody>
          <a:bodyPr vert="horz" wrap="square" lIns="91440" tIns="45720" rIns="91440" bIns="45720" anchor="t" anchorCtr="0"/>
          <a:p>
            <a:pPr marL="0">
              <a:lnSpc>
                <a:spcPct val="120000"/>
              </a:lnSpc>
              <a:spcBef>
                <a:spcPct val="0"/>
              </a:spcBef>
              <a:buNone/>
            </a:pPr>
            <a:r>
              <a:rPr lang="en-US" altLang="zh-CN" dirty="0"/>
              <a:t>3</a:t>
            </a:r>
            <a:r>
              <a:rPr lang="zh-CN" altLang="en-US" dirty="0"/>
              <a:t>. 加</a:t>
            </a:r>
            <a:r>
              <a:rPr lang="en-US" altLang="zh-CN" dirty="0"/>
              <a:t>1</a:t>
            </a:r>
            <a:r>
              <a:rPr lang="zh-CN" altLang="en-US" dirty="0">
                <a:latin typeface="宋体" pitchFamily="2" charset="-122"/>
              </a:rPr>
              <a:t>指令：</a:t>
            </a:r>
            <a:r>
              <a:rPr lang="en-US" altLang="zh-CN" dirty="0">
                <a:solidFill>
                  <a:schemeClr val="tx2"/>
                </a:solidFill>
                <a:latin typeface="宋体" pitchFamily="2" charset="-122"/>
              </a:rPr>
              <a:t>INC  </a:t>
            </a:r>
            <a:r>
              <a:rPr lang="zh-CN" altLang="en-US" dirty="0">
                <a:solidFill>
                  <a:schemeClr val="tx2"/>
                </a:solidFill>
                <a:latin typeface="宋体" pitchFamily="2" charset="-122"/>
              </a:rPr>
              <a:t>单操作数	</a:t>
            </a:r>
            <a:endParaRPr lang="zh-CN" altLang="en-US" dirty="0">
              <a:solidFill>
                <a:schemeClr val="tx2"/>
              </a:solidFill>
              <a:latin typeface="宋体" pitchFamily="2" charset="-122"/>
            </a:endParaRPr>
          </a:p>
          <a:p>
            <a:pPr marL="0">
              <a:lnSpc>
                <a:spcPct val="120000"/>
              </a:lnSpc>
              <a:spcBef>
                <a:spcPct val="0"/>
              </a:spcBef>
              <a:buNone/>
            </a:pPr>
            <a:r>
              <a:rPr lang="zh-CN" altLang="zh-CN" dirty="0">
                <a:latin typeface="宋体" pitchFamily="2" charset="-122"/>
              </a:rPr>
              <a:t>    </a:t>
            </a:r>
            <a:r>
              <a:rPr lang="zh-CN" altLang="en-US" dirty="0">
                <a:latin typeface="宋体" pitchFamily="2" charset="-122"/>
              </a:rPr>
              <a:t>       </a:t>
            </a:r>
            <a:r>
              <a:rPr lang="en-US" altLang="zh-CN" dirty="0">
                <a:latin typeface="宋体" pitchFamily="2" charset="-122"/>
              </a:rPr>
              <a:t>INC   A</a:t>
            </a:r>
            <a:endParaRPr lang="en-US" altLang="zh-CN" dirty="0">
              <a:latin typeface="宋体" pitchFamily="2" charset="-122"/>
            </a:endParaRPr>
          </a:p>
          <a:p>
            <a:pPr marL="0">
              <a:lnSpc>
                <a:spcPct val="120000"/>
              </a:lnSpc>
              <a:spcBef>
                <a:spcPct val="0"/>
              </a:spcBef>
              <a:buNone/>
            </a:pPr>
            <a:r>
              <a:rPr lang="en-US" altLang="zh-CN" dirty="0">
                <a:latin typeface="宋体" pitchFamily="2" charset="-122"/>
              </a:rPr>
              <a:t>           INC   Rn</a:t>
            </a:r>
            <a:endParaRPr lang="en-US" altLang="zh-CN" dirty="0">
              <a:latin typeface="宋体" pitchFamily="2" charset="-122"/>
            </a:endParaRPr>
          </a:p>
          <a:p>
            <a:pPr marL="0">
              <a:lnSpc>
                <a:spcPct val="120000"/>
              </a:lnSpc>
              <a:spcBef>
                <a:spcPct val="0"/>
              </a:spcBef>
              <a:buNone/>
            </a:pPr>
            <a:r>
              <a:rPr lang="en-US" altLang="zh-CN" dirty="0">
                <a:latin typeface="宋体" pitchFamily="2" charset="-122"/>
              </a:rPr>
              <a:t>           INC   direct  </a:t>
            </a:r>
            <a:endParaRPr lang="en-US" altLang="zh-CN" dirty="0">
              <a:latin typeface="宋体" pitchFamily="2" charset="-122"/>
            </a:endParaRPr>
          </a:p>
          <a:p>
            <a:pPr marL="0">
              <a:lnSpc>
                <a:spcPct val="120000"/>
              </a:lnSpc>
              <a:spcBef>
                <a:spcPct val="0"/>
              </a:spcBef>
              <a:buNone/>
            </a:pPr>
            <a:r>
              <a:rPr lang="en-US" altLang="zh-CN" dirty="0">
                <a:latin typeface="宋体" pitchFamily="2" charset="-122"/>
              </a:rPr>
              <a:t>           INC   @Ri</a:t>
            </a:r>
            <a:endParaRPr lang="en-US" altLang="zh-CN" dirty="0">
              <a:latin typeface="宋体" pitchFamily="2" charset="-122"/>
            </a:endParaRPr>
          </a:p>
          <a:p>
            <a:pPr marL="0">
              <a:lnSpc>
                <a:spcPct val="120000"/>
              </a:lnSpc>
              <a:spcBef>
                <a:spcPct val="0"/>
              </a:spcBef>
              <a:buNone/>
            </a:pPr>
            <a:r>
              <a:rPr lang="en-US" altLang="zh-CN" dirty="0">
                <a:latin typeface="宋体" pitchFamily="2" charset="-122"/>
              </a:rPr>
              <a:t>           INC   DPTR</a:t>
            </a:r>
            <a:endParaRPr lang="en-US" altLang="zh-CN" dirty="0">
              <a:latin typeface="宋体" pitchFamily="2" charset="-122"/>
            </a:endParaRPr>
          </a:p>
          <a:p>
            <a:pPr marL="0">
              <a:lnSpc>
                <a:spcPct val="120000"/>
              </a:lnSpc>
              <a:spcBef>
                <a:spcPct val="0"/>
              </a:spcBef>
            </a:pPr>
            <a:r>
              <a:rPr lang="zh-CN" altLang="en-US" sz="2400" dirty="0">
                <a:latin typeface="宋体" pitchFamily="2" charset="-122"/>
              </a:rPr>
              <a:t>除对</a:t>
            </a:r>
            <a:r>
              <a:rPr lang="en-US" altLang="zh-CN" sz="2400" dirty="0">
                <a:latin typeface="宋体" pitchFamily="2" charset="-122"/>
              </a:rPr>
              <a:t>A</a:t>
            </a:r>
            <a:r>
              <a:rPr lang="zh-CN" altLang="en-US" sz="2400" dirty="0">
                <a:latin typeface="宋体" pitchFamily="2" charset="-122"/>
              </a:rPr>
              <a:t>操作影响标志位</a:t>
            </a:r>
            <a:r>
              <a:rPr lang="en-US" altLang="zh-CN" sz="2400" dirty="0">
                <a:latin typeface="宋体" pitchFamily="2" charset="-122"/>
              </a:rPr>
              <a:t>P</a:t>
            </a:r>
            <a:r>
              <a:rPr lang="zh-CN" altLang="en-US" sz="2400" dirty="0">
                <a:latin typeface="宋体" pitchFamily="2" charset="-122"/>
              </a:rPr>
              <a:t>以外，不影响标志位状态，</a:t>
            </a:r>
            <a:r>
              <a:rPr lang="zh-CN" altLang="en-US" sz="2400" dirty="0">
                <a:solidFill>
                  <a:srgbClr val="FF0000"/>
                </a:solidFill>
                <a:latin typeface="宋体" pitchFamily="2" charset="-122"/>
              </a:rPr>
              <a:t>若原变量中内容为FFH则程序执行后变量变为00H</a:t>
            </a:r>
            <a:r>
              <a:rPr lang="zh-CN" altLang="en-US" sz="2400" dirty="0">
                <a:latin typeface="宋体" pitchFamily="2" charset="-122"/>
              </a:rPr>
              <a:t>。</a:t>
            </a:r>
            <a:endParaRPr lang="zh-CN" altLang="en-US" sz="2400" dirty="0">
              <a:latin typeface="宋体" pitchFamily="2" charset="-122"/>
            </a:endParaRPr>
          </a:p>
          <a:p>
            <a:pPr marL="0">
              <a:lnSpc>
                <a:spcPct val="120000"/>
              </a:lnSpc>
              <a:spcBef>
                <a:spcPct val="0"/>
              </a:spcBef>
            </a:pPr>
            <a:r>
              <a:rPr lang="zh-CN" altLang="zh-CN" sz="2400" dirty="0">
                <a:latin typeface="宋体" pitchFamily="2" charset="-122"/>
              </a:rPr>
              <a:t>INC DPTR，是16位数增1指令。指令首先对低8位指针DPL的内容执行加1操作，当产生溢出时，就对DPH的内容进行加1操作，并不影响标志Cy的状态。</a:t>
            </a:r>
            <a:endParaRPr lang="zh-CN" altLang="zh-CN" sz="2400" dirty="0">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8851">
                                            <p:txEl>
                                              <p:charRg st="127" end="176"/>
                                            </p:txEl>
                                          </p:spTgt>
                                        </p:tgtEl>
                                        <p:attrNameLst>
                                          <p:attrName>style.visibility</p:attrName>
                                        </p:attrNameLst>
                                      </p:cBhvr>
                                      <p:to>
                                        <p:strVal val="visible"/>
                                      </p:to>
                                    </p:set>
                                    <p:anim calcmode="lin" valueType="num">
                                      <p:cBhvr additive="base">
                                        <p:cTn id="7" dur="500" fill="hold"/>
                                        <p:tgtEl>
                                          <p:spTgt spid="78851">
                                            <p:txEl>
                                              <p:charRg st="127" end="17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8851">
                                            <p:txEl>
                                              <p:charRg st="127" end="176"/>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8851">
                                            <p:txEl>
                                              <p:charRg st="176" end="253"/>
                                            </p:txEl>
                                          </p:spTgt>
                                        </p:tgtEl>
                                        <p:attrNameLst>
                                          <p:attrName>style.visibility</p:attrName>
                                        </p:attrNameLst>
                                      </p:cBhvr>
                                      <p:to>
                                        <p:strVal val="visible"/>
                                      </p:to>
                                    </p:set>
                                    <p:anim calcmode="lin" valueType="num">
                                      <p:cBhvr additive="base">
                                        <p:cTn id="13" dur="500" fill="hold"/>
                                        <p:tgtEl>
                                          <p:spTgt spid="78851">
                                            <p:txEl>
                                              <p:charRg st="176" end="25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8851">
                                            <p:txEl>
                                              <p:charRg st="176" end="25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79875" name="Rectangle 3"/>
          <p:cNvSpPr>
            <a:spLocks noGrp="1"/>
          </p:cNvSpPr>
          <p:nvPr>
            <p:ph type="body" idx="4294967295"/>
          </p:nvPr>
        </p:nvSpPr>
        <p:spPr>
          <a:xfrm>
            <a:off x="349250" y="857250"/>
            <a:ext cx="8794750" cy="5572125"/>
          </a:xfrm>
        </p:spPr>
        <p:txBody>
          <a:bodyPr vert="horz" wrap="square" lIns="91440" tIns="45720" rIns="91440" bIns="45720" anchor="t"/>
          <a:p>
            <a:pPr marL="0" marR="0" indent="-342900" algn="l" defTabSz="425450" rtl="0" eaLnBrk="0" fontAlgn="base" latinLnBrk="0" hangingPunct="0">
              <a:lnSpc>
                <a:spcPct val="130000"/>
              </a:lnSpc>
              <a:spcBef>
                <a:spcPct val="0"/>
              </a:spcBef>
              <a:spcAft>
                <a:spcPct val="0"/>
              </a:spcAft>
              <a:buClr>
                <a:schemeClr val="folHlink"/>
              </a:buClr>
              <a:buSzTx/>
              <a:buFont typeface="Wingdings" panose="05000000000000000000" pitchFamily="2" charset="2"/>
              <a:buNone/>
            </a:pPr>
            <a:r>
              <a:rPr kumimoji="1" lang="en-US" altLang="zh-CN" sz="2800" b="1" i="0" u="none" strike="noStrike" kern="0" cap="none" spc="0" normalizeH="0" baseline="0" noProof="1" dirty="0">
                <a:solidFill>
                  <a:schemeClr val="tx1"/>
                </a:solidFill>
                <a:latin typeface="+mn-lt"/>
                <a:ea typeface="+mn-ea"/>
                <a:cs typeface="+mn-cs"/>
                <a:sym typeface="+mn-ea"/>
              </a:rPr>
              <a:t>4</a:t>
            </a:r>
            <a:r>
              <a:rPr kumimoji="1" lang="zh-CN" altLang="en-US" sz="2800" b="1" i="0" u="none" strike="noStrike" kern="0" cap="none" spc="0" normalizeH="0" baseline="0" noProof="1" dirty="0">
                <a:solidFill>
                  <a:schemeClr val="tx1"/>
                </a:solidFill>
                <a:latin typeface="+mn-lt"/>
                <a:ea typeface="+mn-ea"/>
                <a:cs typeface="+mn-cs"/>
                <a:sym typeface="+mn-ea"/>
              </a:rPr>
              <a:t>. 减 </a:t>
            </a:r>
            <a:r>
              <a:rPr kumimoji="1" lang="en-US" altLang="zh-CN" sz="2800" b="1" i="0" u="none" strike="noStrike" kern="0" cap="none" spc="0" normalizeH="0" baseline="0" noProof="1" dirty="0">
                <a:solidFill>
                  <a:schemeClr val="tx1"/>
                </a:solidFill>
                <a:latin typeface="+mn-lt"/>
                <a:ea typeface="+mn-ea"/>
                <a:cs typeface="+mn-cs"/>
                <a:sym typeface="+mn-ea"/>
              </a:rPr>
              <a:t>1 </a:t>
            </a:r>
            <a:r>
              <a:rPr kumimoji="1" lang="zh-CN" altLang="en-US" sz="2800" b="1" i="0" u="none" strike="noStrike" kern="0" cap="none" spc="0" normalizeH="0" baseline="0" noProof="1" dirty="0">
                <a:solidFill>
                  <a:schemeClr val="tx1"/>
                </a:solidFill>
                <a:latin typeface="宋体" pitchFamily="2" charset="-122"/>
                <a:ea typeface="+mn-ea"/>
                <a:cs typeface="+mn-cs"/>
                <a:sym typeface="+mn-ea"/>
              </a:rPr>
              <a:t>指令：</a:t>
            </a:r>
            <a:r>
              <a:rPr kumimoji="1" lang="en-US" altLang="zh-CN" sz="2800" b="1" i="0" u="none" strike="noStrike" kern="0" cap="none" spc="0" normalizeH="0" baseline="0" noProof="1" dirty="0">
                <a:solidFill>
                  <a:schemeClr val="tx2"/>
                </a:solidFill>
                <a:latin typeface="宋体" pitchFamily="2" charset="-122"/>
                <a:ea typeface="+mn-ea"/>
                <a:cs typeface="+mn-cs"/>
              </a:rPr>
              <a:t>DEC  </a:t>
            </a:r>
            <a:r>
              <a:rPr kumimoji="1" lang="zh-CN" altLang="en-US" sz="2800" b="1" i="0" u="none" strike="noStrike" kern="0" cap="none" spc="0" normalizeH="0" baseline="0" noProof="1" dirty="0">
                <a:solidFill>
                  <a:schemeClr val="tx2"/>
                </a:solidFill>
                <a:latin typeface="宋体" pitchFamily="2" charset="-122"/>
                <a:ea typeface="+mn-ea"/>
                <a:cs typeface="+mn-cs"/>
              </a:rPr>
              <a:t>单操作数 </a:t>
            </a:r>
            <a:endParaRPr kumimoji="1" lang="zh-CN" altLang="en-US" sz="2800" b="1" i="0" u="none" strike="noStrike" kern="0" cap="none" spc="0" normalizeH="0" baseline="0" noProof="1" dirty="0">
              <a:solidFill>
                <a:schemeClr val="tx2"/>
              </a:solidFill>
              <a:latin typeface="宋体" pitchFamily="2" charset="-122"/>
              <a:ea typeface="+mn-ea"/>
              <a:cs typeface="+mn-cs"/>
            </a:endParaRPr>
          </a:p>
          <a:p>
            <a:pPr marL="0" marR="0" indent="-342900" algn="l" defTabSz="425450" rtl="0" eaLnBrk="0" fontAlgn="base" latinLnBrk="0" hangingPunct="0">
              <a:lnSpc>
                <a:spcPct val="130000"/>
              </a:lnSpc>
              <a:spcBef>
                <a:spcPct val="0"/>
              </a:spcBef>
              <a:spcAft>
                <a:spcPct val="0"/>
              </a:spcAft>
              <a:buClr>
                <a:schemeClr val="folHlink"/>
              </a:buClr>
              <a:buSzTx/>
              <a:buFont typeface="Wingdings" panose="05000000000000000000" pitchFamily="2" charset="2"/>
              <a:buNone/>
            </a:pPr>
            <a:r>
              <a:rPr kumimoji="1" lang="zh-CN" altLang="en-US" sz="2800" b="1" i="0" u="none" strike="noStrike" kern="0" cap="none" spc="0" normalizeH="0" baseline="0" noProof="1" dirty="0">
                <a:solidFill>
                  <a:schemeClr val="tx1"/>
                </a:solidFill>
                <a:latin typeface="宋体" pitchFamily="2" charset="-122"/>
                <a:ea typeface="+mn-ea"/>
                <a:cs typeface="+mn-cs"/>
              </a:rPr>
              <a:t>             </a:t>
            </a:r>
            <a:r>
              <a:rPr kumimoji="1" lang="en-US" altLang="zh-CN" sz="2800" b="1" i="0" u="none" strike="noStrike" kern="0" cap="none" spc="0" normalizeH="0" baseline="0" noProof="1" dirty="0">
                <a:solidFill>
                  <a:schemeClr val="tx1"/>
                </a:solidFill>
                <a:latin typeface="宋体" pitchFamily="2" charset="-122"/>
                <a:ea typeface="+mn-ea"/>
                <a:cs typeface="+mn-cs"/>
              </a:rPr>
              <a:t>DEC  A</a:t>
            </a:r>
            <a:endParaRPr kumimoji="1" lang="en-US" altLang="zh-CN" sz="2800" b="1" i="0" u="none" strike="noStrike" kern="0" cap="none" spc="0" normalizeH="0" baseline="0" noProof="1" dirty="0">
              <a:solidFill>
                <a:schemeClr val="tx1"/>
              </a:solidFill>
              <a:latin typeface="宋体" pitchFamily="2" charset="-122"/>
              <a:ea typeface="+mn-ea"/>
              <a:cs typeface="+mn-cs"/>
            </a:endParaRPr>
          </a:p>
          <a:p>
            <a:pPr marL="0" marR="0" indent="-342900" algn="l" defTabSz="425450" rtl="0" eaLnBrk="0" fontAlgn="base" latinLnBrk="0" hangingPunct="0">
              <a:lnSpc>
                <a:spcPct val="130000"/>
              </a:lnSpc>
              <a:spcBef>
                <a:spcPct val="0"/>
              </a:spcBef>
              <a:spcAft>
                <a:spcPct val="0"/>
              </a:spcAft>
              <a:buClr>
                <a:schemeClr val="folHlink"/>
              </a:buClr>
              <a:buSzTx/>
              <a:buFont typeface="Wingdings" panose="05000000000000000000" pitchFamily="2" charset="2"/>
              <a:buNone/>
            </a:pPr>
            <a:r>
              <a:rPr kumimoji="1" lang="en-US" altLang="zh-CN" sz="2800" b="1" i="0" u="none" strike="noStrike" kern="0" cap="none" spc="0" normalizeH="0" baseline="0" noProof="1" dirty="0">
                <a:solidFill>
                  <a:schemeClr val="tx1"/>
                </a:solidFill>
                <a:latin typeface="宋体" pitchFamily="2" charset="-122"/>
                <a:ea typeface="+mn-ea"/>
                <a:cs typeface="+mn-cs"/>
              </a:rPr>
              <a:t>            </a:t>
            </a:r>
            <a:r>
              <a:rPr kumimoji="1" lang="zh-CN" altLang="en-US" sz="2800" b="1" i="0" u="none" strike="noStrike" kern="0" cap="none" spc="0" normalizeH="0" baseline="0" noProof="1" dirty="0">
                <a:solidFill>
                  <a:schemeClr val="tx1"/>
                </a:solidFill>
                <a:latin typeface="宋体" pitchFamily="2" charset="-122"/>
                <a:ea typeface="+mn-ea"/>
                <a:cs typeface="+mn-cs"/>
              </a:rPr>
              <a:t> </a:t>
            </a:r>
            <a:r>
              <a:rPr kumimoji="1" lang="en-US" altLang="zh-CN" sz="2800" b="1" i="0" u="none" strike="noStrike" kern="0" cap="none" spc="0" normalizeH="0" baseline="0" noProof="1" dirty="0">
                <a:solidFill>
                  <a:schemeClr val="tx1"/>
                </a:solidFill>
                <a:latin typeface="宋体" pitchFamily="2" charset="-122"/>
                <a:ea typeface="+mn-ea"/>
                <a:cs typeface="+mn-cs"/>
              </a:rPr>
              <a:t>DEC  direct</a:t>
            </a:r>
            <a:endParaRPr kumimoji="1" lang="en-US" altLang="zh-CN" sz="2800" b="1" i="0" u="none" strike="noStrike" kern="0" cap="none" spc="0" normalizeH="0" baseline="0" noProof="1" dirty="0">
              <a:solidFill>
                <a:schemeClr val="tx1"/>
              </a:solidFill>
              <a:latin typeface="宋体" pitchFamily="2" charset="-122"/>
              <a:ea typeface="+mn-ea"/>
              <a:cs typeface="+mn-cs"/>
            </a:endParaRPr>
          </a:p>
          <a:p>
            <a:pPr marL="0" marR="0" indent="-342900" algn="l" defTabSz="425450" rtl="0" eaLnBrk="0" fontAlgn="base" latinLnBrk="0" hangingPunct="0">
              <a:lnSpc>
                <a:spcPct val="130000"/>
              </a:lnSpc>
              <a:spcBef>
                <a:spcPct val="0"/>
              </a:spcBef>
              <a:spcAft>
                <a:spcPct val="0"/>
              </a:spcAft>
              <a:buClr>
                <a:schemeClr val="folHlink"/>
              </a:buClr>
              <a:buSzTx/>
              <a:buFont typeface="Wingdings" panose="05000000000000000000" pitchFamily="2" charset="2"/>
              <a:buNone/>
            </a:pPr>
            <a:r>
              <a:rPr kumimoji="1" lang="en-US" altLang="zh-CN" sz="2800" b="1" i="0" u="none" strike="noStrike" kern="0" cap="none" spc="0" normalizeH="0" baseline="0" noProof="1" dirty="0">
                <a:solidFill>
                  <a:schemeClr val="tx1"/>
                </a:solidFill>
                <a:latin typeface="宋体" pitchFamily="2" charset="-122"/>
                <a:ea typeface="+mn-ea"/>
                <a:cs typeface="+mn-cs"/>
              </a:rPr>
              <a:t>            </a:t>
            </a:r>
            <a:r>
              <a:rPr kumimoji="1" lang="zh-CN" altLang="en-US" sz="2800" b="1" i="0" u="none" strike="noStrike" kern="0" cap="none" spc="0" normalizeH="0" baseline="0" noProof="1" dirty="0">
                <a:solidFill>
                  <a:schemeClr val="tx1"/>
                </a:solidFill>
                <a:latin typeface="宋体" pitchFamily="2" charset="-122"/>
                <a:ea typeface="+mn-ea"/>
                <a:cs typeface="+mn-cs"/>
              </a:rPr>
              <a:t> </a:t>
            </a:r>
            <a:r>
              <a:rPr kumimoji="1" lang="en-US" altLang="zh-CN" sz="2800" b="1" i="0" u="none" strike="noStrike" kern="0" cap="none" spc="0" normalizeH="0" baseline="0" noProof="1" dirty="0">
                <a:solidFill>
                  <a:schemeClr val="tx1"/>
                </a:solidFill>
                <a:latin typeface="宋体" pitchFamily="2" charset="-122"/>
                <a:ea typeface="+mn-ea"/>
                <a:cs typeface="+mn-cs"/>
              </a:rPr>
              <a:t>DEC  @Ri</a:t>
            </a:r>
            <a:endParaRPr kumimoji="1" lang="en-US" altLang="zh-CN" sz="2800" b="1" i="0" u="none" strike="noStrike" kern="0" cap="none" spc="0" normalizeH="0" baseline="0" noProof="1" dirty="0">
              <a:solidFill>
                <a:schemeClr val="tx1"/>
              </a:solidFill>
              <a:latin typeface="宋体" pitchFamily="2" charset="-122"/>
              <a:ea typeface="+mn-ea"/>
              <a:cs typeface="+mn-cs"/>
            </a:endParaRPr>
          </a:p>
          <a:p>
            <a:pPr marL="0" marR="0" indent="-342900" algn="l" defTabSz="425450" rtl="0" eaLnBrk="0" fontAlgn="base" latinLnBrk="0" hangingPunct="0">
              <a:lnSpc>
                <a:spcPct val="130000"/>
              </a:lnSpc>
              <a:spcBef>
                <a:spcPct val="0"/>
              </a:spcBef>
              <a:spcAft>
                <a:spcPct val="0"/>
              </a:spcAft>
              <a:buClr>
                <a:schemeClr val="folHlink"/>
              </a:buClr>
              <a:buSzTx/>
              <a:buFont typeface="Wingdings" panose="05000000000000000000" pitchFamily="2" charset="2"/>
              <a:buNone/>
            </a:pPr>
            <a:r>
              <a:rPr kumimoji="1" lang="en-US" altLang="zh-CN" sz="2800" b="1" i="0" u="none" strike="noStrike" kern="0" cap="none" spc="0" normalizeH="0" baseline="0" noProof="1" dirty="0">
                <a:solidFill>
                  <a:schemeClr val="tx1"/>
                </a:solidFill>
                <a:latin typeface="宋体" pitchFamily="2" charset="-122"/>
                <a:ea typeface="+mn-ea"/>
                <a:cs typeface="+mn-cs"/>
              </a:rPr>
              <a:t>            </a:t>
            </a:r>
            <a:r>
              <a:rPr kumimoji="1" lang="zh-CN" altLang="en-US" sz="2800" b="1" i="0" u="none" strike="noStrike" kern="0" cap="none" spc="0" normalizeH="0" baseline="0" noProof="1" dirty="0">
                <a:solidFill>
                  <a:schemeClr val="tx1"/>
                </a:solidFill>
                <a:latin typeface="宋体" pitchFamily="2" charset="-122"/>
                <a:ea typeface="+mn-ea"/>
                <a:cs typeface="+mn-cs"/>
              </a:rPr>
              <a:t> </a:t>
            </a:r>
            <a:r>
              <a:rPr kumimoji="1" lang="en-US" altLang="zh-CN" sz="2800" b="1" i="0" u="none" strike="noStrike" kern="0" cap="none" spc="0" normalizeH="0" baseline="0" noProof="1" dirty="0">
                <a:solidFill>
                  <a:schemeClr val="tx1"/>
                </a:solidFill>
                <a:latin typeface="宋体" pitchFamily="2" charset="-122"/>
                <a:ea typeface="+mn-ea"/>
                <a:cs typeface="+mn-cs"/>
              </a:rPr>
              <a:t>DEC  Rn</a:t>
            </a:r>
            <a:endParaRPr kumimoji="1" lang="zh-CN" altLang="en-US" sz="2800" b="1" i="0" u="none" strike="noStrike" kern="0" cap="none" spc="0" normalizeH="0" baseline="0" noProof="1" dirty="0">
              <a:solidFill>
                <a:schemeClr val="tx1"/>
              </a:solidFill>
              <a:latin typeface="宋体" pitchFamily="2" charset="-122"/>
              <a:ea typeface="+mn-ea"/>
              <a:cs typeface="+mn-cs"/>
            </a:endParaRPr>
          </a:p>
          <a:p>
            <a:pPr marL="0" marR="0" indent="-342900" algn="just" defTabSz="425450" rtl="0" eaLnBrk="0" fontAlgn="base" latinLnBrk="0" hangingPunct="0">
              <a:lnSpc>
                <a:spcPct val="130000"/>
              </a:lnSpc>
              <a:spcBef>
                <a:spcPct val="0"/>
              </a:spcBef>
              <a:spcAft>
                <a:spcPct val="0"/>
              </a:spcAft>
              <a:buClr>
                <a:schemeClr val="folHlink"/>
              </a:buClr>
              <a:buSzTx/>
              <a:buFont typeface="Wingdings" panose="05000000000000000000" pitchFamily="2" charset="2"/>
              <a:buNone/>
            </a:pPr>
            <a:r>
              <a:rPr kumimoji="1" lang="zh-CN" altLang="en-US" sz="2800" b="1" i="0" u="none" strike="noStrike" kern="0" cap="none" spc="0" normalizeH="0" baseline="0" noProof="1" dirty="0">
                <a:solidFill>
                  <a:schemeClr val="tx1"/>
                </a:solidFill>
                <a:latin typeface="宋体" pitchFamily="2" charset="-122"/>
                <a:ea typeface="+mn-ea"/>
                <a:cs typeface="+mn-cs"/>
              </a:rPr>
              <a:t>   除对</a:t>
            </a:r>
            <a:r>
              <a:rPr kumimoji="1" lang="en-US" altLang="zh-CN" sz="2800" b="1" i="0" u="none" strike="noStrike" kern="0" cap="none" spc="0" normalizeH="0" baseline="0" noProof="1" dirty="0">
                <a:solidFill>
                  <a:schemeClr val="tx1"/>
                </a:solidFill>
                <a:latin typeface="宋体" pitchFamily="2" charset="-122"/>
                <a:ea typeface="+mn-ea"/>
                <a:cs typeface="+mn-cs"/>
              </a:rPr>
              <a:t>A</a:t>
            </a:r>
            <a:r>
              <a:rPr kumimoji="1" lang="zh-CN" altLang="en-US" sz="2800" b="1" i="0" u="none" strike="noStrike" kern="0" cap="none" spc="0" normalizeH="0" baseline="0" noProof="1" dirty="0">
                <a:solidFill>
                  <a:schemeClr val="tx1"/>
                </a:solidFill>
                <a:latin typeface="宋体" pitchFamily="2" charset="-122"/>
                <a:ea typeface="+mn-ea"/>
                <a:cs typeface="+mn-cs"/>
              </a:rPr>
              <a:t>操作影响标志位</a:t>
            </a:r>
            <a:r>
              <a:rPr kumimoji="1" lang="en-US" altLang="zh-CN" sz="2800" b="1" i="0" u="none" strike="noStrike" kern="0" cap="none" spc="0" normalizeH="0" baseline="0" noProof="1" dirty="0">
                <a:solidFill>
                  <a:schemeClr val="tx1"/>
                </a:solidFill>
                <a:latin typeface="宋体" pitchFamily="2" charset="-122"/>
                <a:ea typeface="+mn-ea"/>
                <a:cs typeface="+mn-cs"/>
              </a:rPr>
              <a:t>P</a:t>
            </a:r>
            <a:r>
              <a:rPr kumimoji="1" lang="zh-CN" altLang="en-US" sz="2800" b="1" i="0" u="none" strike="noStrike" kern="0" cap="none" spc="0" normalizeH="0" baseline="0" noProof="1" dirty="0">
                <a:solidFill>
                  <a:schemeClr val="tx1"/>
                </a:solidFill>
                <a:latin typeface="宋体" pitchFamily="2" charset="-122"/>
                <a:ea typeface="+mn-ea"/>
                <a:cs typeface="+mn-cs"/>
              </a:rPr>
              <a:t>以外，不影响标志位，</a:t>
            </a:r>
            <a:r>
              <a:rPr kumimoji="1" lang="zh-CN" altLang="en-US" sz="2800" b="1" i="0" u="none" strike="noStrike" kern="0" cap="none" spc="0" normalizeH="0" baseline="0" noProof="1" dirty="0">
                <a:solidFill>
                  <a:schemeClr val="tx1"/>
                </a:solidFill>
                <a:latin typeface="宋体" pitchFamily="2" charset="-122"/>
                <a:ea typeface="+mn-ea"/>
                <a:cs typeface="+mn-cs"/>
                <a:sym typeface="+mn-ea"/>
              </a:rPr>
              <a:t>若原变量中内容为</a:t>
            </a:r>
            <a:r>
              <a:rPr kumimoji="1" lang="zh-CN" altLang="en-US" sz="2800" b="1" i="0" u="none" strike="noStrike" kern="0" cap="none" spc="0" normalizeH="0" baseline="0" noProof="1" dirty="0">
                <a:solidFill>
                  <a:srgbClr val="FF0000"/>
                </a:solidFill>
                <a:latin typeface="宋体" pitchFamily="2" charset="-122"/>
                <a:ea typeface="+mn-ea"/>
                <a:cs typeface="+mn-cs"/>
                <a:sym typeface="+mn-ea"/>
              </a:rPr>
              <a:t>00H</a:t>
            </a:r>
            <a:r>
              <a:rPr kumimoji="1" lang="zh-CN" altLang="en-US" sz="2800" b="1" i="0" u="none" strike="noStrike" kern="0" cap="none" spc="0" normalizeH="0" baseline="0" noProof="1" dirty="0">
                <a:solidFill>
                  <a:schemeClr val="tx1"/>
                </a:solidFill>
                <a:latin typeface="宋体" pitchFamily="2" charset="-122"/>
                <a:ea typeface="+mn-ea"/>
                <a:cs typeface="+mn-cs"/>
                <a:sym typeface="+mn-ea"/>
              </a:rPr>
              <a:t>，</a:t>
            </a:r>
            <a:r>
              <a:rPr kumimoji="1" lang="zh-CN" altLang="en-US" sz="2800" b="1" i="0" u="none" strike="noStrike" kern="0" cap="none" spc="0" normalizeH="0" baseline="0" noProof="1" dirty="0">
                <a:solidFill>
                  <a:schemeClr val="tx1"/>
                </a:solidFill>
                <a:latin typeface="宋体" pitchFamily="2" charset="-122"/>
                <a:ea typeface="+mn-ea"/>
                <a:cs typeface="+mn-cs"/>
                <a:sym typeface="+mn-ea"/>
              </a:rPr>
              <a:t>则减</a:t>
            </a:r>
            <a:r>
              <a:rPr kumimoji="1" lang="en-US" altLang="zh-CN" sz="2800" b="1" i="0" u="none" strike="noStrike" kern="0" cap="none" spc="0" normalizeH="0" baseline="0" noProof="1" dirty="0">
                <a:solidFill>
                  <a:schemeClr val="tx1"/>
                </a:solidFill>
                <a:latin typeface="宋体" pitchFamily="2" charset="-122"/>
                <a:ea typeface="+mn-ea"/>
                <a:cs typeface="+mn-cs"/>
                <a:sym typeface="+mn-ea"/>
              </a:rPr>
              <a:t>1</a:t>
            </a:r>
            <a:r>
              <a:rPr kumimoji="1" lang="zh-CN" altLang="en-US" sz="2800" b="1" i="0" u="none" strike="noStrike" kern="0" cap="none" spc="0" normalizeH="0" baseline="0" noProof="1" dirty="0">
                <a:solidFill>
                  <a:schemeClr val="tx1"/>
                </a:solidFill>
                <a:latin typeface="宋体" pitchFamily="2" charset="-122"/>
                <a:ea typeface="+mn-ea"/>
                <a:cs typeface="+mn-cs"/>
                <a:sym typeface="+mn-ea"/>
              </a:rPr>
              <a:t>后为</a:t>
            </a:r>
            <a:r>
              <a:rPr kumimoji="1" lang="zh-CN" altLang="en-US" sz="2800" b="1" i="0" u="none" strike="noStrike" kern="0" cap="none" spc="0" normalizeH="0" baseline="0" noProof="1" dirty="0">
                <a:solidFill>
                  <a:srgbClr val="FF0000"/>
                </a:solidFill>
                <a:latin typeface="宋体" pitchFamily="2" charset="-122"/>
                <a:ea typeface="+mn-ea"/>
                <a:cs typeface="+mn-cs"/>
                <a:sym typeface="+mn-ea"/>
              </a:rPr>
              <a:t>FFH</a:t>
            </a:r>
            <a:r>
              <a:rPr kumimoji="1" lang="zh-CN" altLang="en-US" sz="2800" b="1" i="0" u="none" strike="noStrike" kern="0" cap="none" spc="0" normalizeH="0" baseline="0" noProof="1" dirty="0">
                <a:solidFill>
                  <a:schemeClr val="tx1"/>
                </a:solidFill>
                <a:latin typeface="宋体" pitchFamily="2" charset="-122"/>
                <a:ea typeface="+mn-ea"/>
                <a:cs typeface="+mn-cs"/>
                <a:sym typeface="+mn-ea"/>
              </a:rPr>
              <a:t>，</a:t>
            </a:r>
            <a:r>
              <a:rPr kumimoji="1" lang="zh-CN" altLang="en-US" sz="2800" b="1" i="0" u="none" strike="noStrike" kern="0" cap="none" spc="0" normalizeH="0" baseline="0" noProof="1" dirty="0">
                <a:solidFill>
                  <a:schemeClr val="tx1"/>
                </a:solidFill>
                <a:latin typeface="宋体" pitchFamily="2" charset="-122"/>
                <a:ea typeface="+mn-ea"/>
                <a:cs typeface="+mn-cs"/>
                <a:sym typeface="+mn-ea"/>
              </a:rPr>
              <a:t>不影响标志位</a:t>
            </a:r>
            <a:r>
              <a:rPr kumimoji="1" lang="zh-CN" altLang="en-US" sz="2800" b="1" i="0" u="none" strike="noStrike" kern="0" cap="none" spc="0" normalizeH="0" baseline="0" noProof="1" dirty="0">
                <a:solidFill>
                  <a:schemeClr val="tx1"/>
                </a:solidFill>
                <a:latin typeface="宋体" pitchFamily="2" charset="-122"/>
                <a:ea typeface="+mn-ea"/>
                <a:cs typeface="+mn-cs"/>
                <a:sym typeface="+mn-ea"/>
              </a:rPr>
              <a:t>。</a:t>
            </a:r>
            <a:r>
              <a:rPr kumimoji="1" lang="zh-CN" altLang="en-US" sz="2800" b="1" i="0" u="none" strike="noStrike" kern="0" cap="none" spc="0" normalizeH="0" baseline="0" noProof="1" dirty="0">
                <a:solidFill>
                  <a:schemeClr val="tx1"/>
                </a:solidFill>
                <a:latin typeface="宋体" pitchFamily="2" charset="-122"/>
                <a:ea typeface="+mn-ea"/>
                <a:cs typeface="+mn-cs"/>
              </a:rPr>
              <a:t> </a:t>
            </a:r>
            <a:endParaRPr kumimoji="1" lang="en-US" altLang="zh-CN" sz="2800" b="1" i="0" u="none" strike="noStrike" kern="0" cap="none" spc="0" normalizeH="0" baseline="0" noProof="1" dirty="0">
              <a:solidFill>
                <a:schemeClr val="tx1"/>
              </a:solidFill>
              <a:latin typeface="宋体" pitchFamily="2" charset="-122"/>
              <a:ea typeface="+mn-ea"/>
              <a:cs typeface="+mn-cs"/>
            </a:endParaRPr>
          </a:p>
          <a:p>
            <a:pPr marL="0" marR="0" indent="-342900" algn="l" defTabSz="425450" rtl="0" eaLnBrk="0" fontAlgn="base" latinLnBrk="0" hangingPunct="0">
              <a:lnSpc>
                <a:spcPct val="130000"/>
              </a:lnSpc>
              <a:spcBef>
                <a:spcPct val="0"/>
              </a:spcBef>
              <a:spcAft>
                <a:spcPct val="0"/>
              </a:spcAft>
              <a:buClr>
                <a:schemeClr val="folHlink"/>
              </a:buClr>
              <a:buSzTx/>
              <a:buFont typeface="Wingdings" panose="05000000000000000000" pitchFamily="2" charset="2"/>
              <a:buChar char="v"/>
            </a:pPr>
            <a:r>
              <a:rPr kumimoji="1" lang="zh-CN" altLang="en-US" sz="2800" b="1" i="0" u="none" strike="noStrike" kern="0" cap="none" spc="0" normalizeH="0" baseline="0" noProof="1" dirty="0">
                <a:solidFill>
                  <a:schemeClr val="tx2"/>
                </a:solidFill>
                <a:latin typeface="宋体" pitchFamily="2" charset="-122"/>
                <a:ea typeface="+mn-ea"/>
                <a:cs typeface="+mn-cs"/>
              </a:rPr>
              <a:t> </a:t>
            </a:r>
            <a:r>
              <a:rPr kumimoji="1" lang="zh-CN" altLang="zh-CN" sz="2800" b="1" i="0" u="none" strike="noStrike" kern="0" cap="none" spc="0" normalizeH="0" baseline="0" noProof="1" dirty="0">
                <a:solidFill>
                  <a:schemeClr val="tx2"/>
                </a:solidFill>
                <a:latin typeface="宋体" pitchFamily="2" charset="-122"/>
                <a:ea typeface="+mn-ea"/>
                <a:cs typeface="+mn-cs"/>
              </a:rPr>
              <a:t>注意：</a:t>
            </a:r>
            <a:r>
              <a:rPr kumimoji="1" lang="zh-CN" altLang="zh-CN" sz="2800" b="1" i="0" u="none" strike="noStrike" kern="0" cap="none" spc="0" normalizeH="0" baseline="0" noProof="1" dirty="0">
                <a:solidFill>
                  <a:schemeClr val="tx1"/>
                </a:solidFill>
                <a:latin typeface="宋体" pitchFamily="2" charset="-122"/>
                <a:ea typeface="+mn-ea"/>
                <a:cs typeface="+mn-cs"/>
              </a:rPr>
              <a:t>没有指令    DEC  DPTR </a:t>
            </a:r>
            <a:r>
              <a:rPr kumimoji="1" lang="zh-CN" altLang="en-US" sz="2800" b="1" i="0" u="none" strike="noStrike" kern="0" cap="none" spc="0" normalizeH="0" baseline="0" noProof="1" dirty="0">
                <a:solidFill>
                  <a:schemeClr val="tx1"/>
                </a:solidFill>
                <a:latin typeface="宋体" pitchFamily="2" charset="-122"/>
                <a:ea typeface="+mn-ea"/>
                <a:cs typeface="+mn-cs"/>
              </a:rPr>
              <a:t>（</a:t>
            </a:r>
            <a:r>
              <a:rPr kumimoji="1" lang="zh-CN" altLang="en-US" sz="2000" b="1" i="0" u="none" strike="noStrike" kern="0" cap="none" spc="0" normalizeH="0" baseline="0" noProof="1" dirty="0">
                <a:solidFill>
                  <a:schemeClr val="accent2"/>
                </a:solidFill>
                <a:latin typeface="黑体" panose="02010609060101010101" pitchFamily="49" charset="-122"/>
                <a:ea typeface="黑体" panose="02010609060101010101" pitchFamily="49" charset="-122"/>
                <a:cs typeface="+mn-cs"/>
              </a:rPr>
              <a:t>有指令</a:t>
            </a:r>
            <a:r>
              <a:rPr kumimoji="1" lang="en-US" altLang="zh-CN" sz="2000" b="1" i="0" u="none" strike="noStrike" kern="0" cap="none" spc="0" normalizeH="0" baseline="0" noProof="1" dirty="0">
                <a:solidFill>
                  <a:schemeClr val="accent2"/>
                </a:solidFill>
                <a:latin typeface="黑体" panose="02010609060101010101" pitchFamily="49" charset="-122"/>
                <a:ea typeface="黑体" panose="02010609060101010101" pitchFamily="49" charset="-122"/>
                <a:cs typeface="+mn-cs"/>
              </a:rPr>
              <a:t>INC DPTR</a:t>
            </a:r>
            <a:r>
              <a:rPr kumimoji="1" lang="zh-CN" altLang="en-US" sz="2800" b="1" i="0" u="none" strike="noStrike" kern="0" cap="none" spc="0" normalizeH="0" baseline="0" noProof="1" dirty="0">
                <a:solidFill>
                  <a:schemeClr val="tx1"/>
                </a:solidFill>
                <a:latin typeface="宋体" pitchFamily="2" charset="-122"/>
                <a:ea typeface="+mn-ea"/>
                <a:cs typeface="+mn-cs"/>
              </a:rPr>
              <a:t>）</a:t>
            </a:r>
            <a:endParaRPr kumimoji="1" lang="zh-CN" altLang="en-US" sz="2800" b="1" i="0" u="none" strike="noStrike" kern="0" cap="none" spc="0" normalizeH="0" baseline="0" noProof="1" dirty="0">
              <a:solidFill>
                <a:schemeClr val="tx1"/>
              </a:solidFill>
              <a:latin typeface="宋体" pitchFamily="2" charset="-122"/>
              <a:ea typeface="+mn-ea"/>
              <a:cs typeface="+mn-cs"/>
            </a:endParaRPr>
          </a:p>
          <a:p>
            <a:pPr marL="0" marR="0" indent="0" algn="l" defTabSz="425450" rtl="0" eaLnBrk="0" fontAlgn="base" latinLnBrk="0" hangingPunct="0">
              <a:lnSpc>
                <a:spcPct val="130000"/>
              </a:lnSpc>
              <a:spcBef>
                <a:spcPct val="0"/>
              </a:spcBef>
              <a:spcAft>
                <a:spcPct val="0"/>
              </a:spcAft>
              <a:buClr>
                <a:schemeClr val="folHlink"/>
              </a:buClr>
              <a:buSzTx/>
              <a:buFont typeface="Wingdings" panose="05000000000000000000" pitchFamily="2" charset="2"/>
              <a:buNone/>
            </a:pPr>
            <a:r>
              <a:rPr kumimoji="1" lang="zh-CN" altLang="en-US" sz="2800" b="1" i="0" u="none" strike="noStrike" kern="0" cap="none" spc="0" normalizeH="0" baseline="0" noProof="1" dirty="0">
                <a:solidFill>
                  <a:schemeClr val="tx1"/>
                </a:solidFill>
                <a:latin typeface="宋体" pitchFamily="2" charset="-122"/>
                <a:ea typeface="+mn-ea"/>
                <a:cs typeface="+mn-cs"/>
              </a:rPr>
              <a:t>         </a:t>
            </a:r>
            <a:r>
              <a:rPr kumimoji="1" lang="zh-CN" altLang="zh-CN" sz="2800" b="1" i="0" u="none" strike="noStrike" kern="0" cap="none" spc="0" normalizeH="0" baseline="0" noProof="1" dirty="0">
                <a:solidFill>
                  <a:schemeClr val="tx1"/>
                </a:solidFill>
                <a:latin typeface="宋体" pitchFamily="2" charset="-122"/>
                <a:ea typeface="+mn-ea"/>
                <a:cs typeface="+mn-cs"/>
              </a:rPr>
              <a:t>可用指令    DEC  DPL 	代替</a:t>
            </a:r>
            <a:r>
              <a:rPr kumimoji="1" lang="zh-CN" altLang="en-US" sz="2800" b="1" i="0" u="none" strike="noStrike" kern="0" cap="none" spc="0" normalizeH="0" baseline="0" noProof="1" dirty="0">
                <a:solidFill>
                  <a:schemeClr val="tx1"/>
                </a:solidFill>
                <a:latin typeface="宋体" pitchFamily="2" charset="-122"/>
                <a:ea typeface="+mn-ea"/>
                <a:cs typeface="+mn-cs"/>
              </a:rPr>
              <a:t>        </a:t>
            </a:r>
            <a:endParaRPr kumimoji="1" lang="zh-CN" altLang="zh-CN" sz="2800" b="1" i="0" u="none" strike="noStrike" kern="0" cap="none" spc="0" normalizeH="0" baseline="0" noProof="1" dirty="0">
              <a:solidFill>
                <a:schemeClr val="tx1"/>
              </a:solidFill>
              <a:latin typeface="宋体" pitchFamily="2" charset="-122"/>
              <a:ea typeface="+mn-ea"/>
              <a:cs typeface="+mn-cs"/>
            </a:endParaRPr>
          </a:p>
          <a:p>
            <a:pPr marL="0" marR="0" indent="-342900" algn="l" defTabSz="425450" rtl="0" eaLnBrk="0" fontAlgn="base" latinLnBrk="0" hangingPunct="0">
              <a:lnSpc>
                <a:spcPct val="130000"/>
              </a:lnSpc>
              <a:spcBef>
                <a:spcPct val="20000"/>
              </a:spcBef>
              <a:spcAft>
                <a:spcPct val="0"/>
              </a:spcAft>
              <a:buClr>
                <a:schemeClr val="folHlink"/>
              </a:buClr>
              <a:buSzTx/>
              <a:buFont typeface="Wingdings" panose="05000000000000000000" pitchFamily="2" charset="2"/>
              <a:buNone/>
            </a:pPr>
            <a:endParaRPr kumimoji="1" lang="zh-CN" altLang="zh-CN" sz="2800" b="1" i="0" u="none" strike="noStrike" kern="0" cap="none" spc="0" normalizeH="0" baseline="0" noProof="1" dirty="0">
              <a:solidFill>
                <a:schemeClr val="tx1"/>
              </a:solidFill>
              <a:latin typeface="宋体" pitchFamily="2" charset="-122"/>
              <a:ea typeface="+mn-ea"/>
              <a:cs typeface="+mn-cs"/>
            </a:endParaRPr>
          </a:p>
          <a:p>
            <a:pPr marL="0" marR="0" indent="-342900" algn="just" defTabSz="425450" rtl="0" eaLnBrk="0" fontAlgn="base" latinLnBrk="0" hangingPunct="0">
              <a:lnSpc>
                <a:spcPct val="100000"/>
              </a:lnSpc>
              <a:spcBef>
                <a:spcPct val="0"/>
              </a:spcBef>
              <a:spcAft>
                <a:spcPct val="0"/>
              </a:spcAft>
              <a:buClr>
                <a:schemeClr val="folHlink"/>
              </a:buClr>
              <a:buSzTx/>
              <a:buFont typeface="Wingdings" panose="05000000000000000000" pitchFamily="2" charset="2"/>
              <a:buNone/>
            </a:pPr>
            <a:endParaRPr kumimoji="1" lang="zh-CN" altLang="zh-CN" sz="2800" b="1" i="0" u="none" strike="noStrike" kern="0" cap="none" spc="0" normalizeH="0" baseline="0" noProof="1" dirty="0">
              <a:solidFill>
                <a:srgbClr val="FFC000"/>
              </a:solidFill>
              <a:latin typeface="宋体" pitchFamily="2" charset="-122"/>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9875">
                                            <p:txEl>
                                              <p:charRg st="163" end="199"/>
                                            </p:txEl>
                                          </p:spTgt>
                                        </p:tgtEl>
                                        <p:attrNameLst>
                                          <p:attrName>style.visibility</p:attrName>
                                        </p:attrNameLst>
                                      </p:cBhvr>
                                      <p:to>
                                        <p:strVal val="visible"/>
                                      </p:to>
                                    </p:set>
                                    <p:anim calcmode="lin" valueType="num">
                                      <p:cBhvr additive="base">
                                        <p:cTn id="7" dur="500" fill="hold"/>
                                        <p:tgtEl>
                                          <p:spTgt spid="79875">
                                            <p:txEl>
                                              <p:charRg st="163" end="19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9875">
                                            <p:txEl>
                                              <p:charRg st="163" end="199"/>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9875">
                                            <p:txEl>
                                              <p:charRg st="199" end="237"/>
                                            </p:txEl>
                                          </p:spTgt>
                                        </p:tgtEl>
                                        <p:attrNameLst>
                                          <p:attrName>style.visibility</p:attrName>
                                        </p:attrNameLst>
                                      </p:cBhvr>
                                      <p:to>
                                        <p:strVal val="visible"/>
                                      </p:to>
                                    </p:set>
                                    <p:anim calcmode="lin" valueType="num">
                                      <p:cBhvr additive="base">
                                        <p:cTn id="11" dur="500" fill="hold"/>
                                        <p:tgtEl>
                                          <p:spTgt spid="79875">
                                            <p:txEl>
                                              <p:charRg st="199" end="23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9875">
                                            <p:txEl>
                                              <p:charRg st="199" end="23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71683" name="Rectangle 3"/>
          <p:cNvSpPr>
            <a:spLocks noGrp="1" noChangeArrowheads="1"/>
          </p:cNvSpPr>
          <p:nvPr>
            <p:ph type="body" idx="1"/>
          </p:nvPr>
        </p:nvSpPr>
        <p:spPr>
          <a:xfrm>
            <a:off x="53975" y="1025525"/>
            <a:ext cx="9090025" cy="5572125"/>
          </a:xfrm>
        </p:spPr>
        <p:txBody>
          <a:bodyPr vert="horz" wrap="square" lIns="91440" tIns="45720" rIns="91440" bIns="45720" numCol="1" anchor="t" anchorCtr="0" compatLnSpc="1"/>
          <a:lstStyle/>
          <a:p>
            <a:pPr marL="0" marR="0" lvl="0" indent="-342900" algn="l" defTabSz="42545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宋体" pitchFamily="2" charset="-122"/>
                <a:ea typeface="+mn-ea"/>
                <a:cs typeface="+mn-cs"/>
              </a:rPr>
              <a:t>   </a:t>
            </a:r>
            <a:r>
              <a:rPr kumimoji="1" lang="en-US" altLang="zh-CN" sz="2800" b="1" i="0" u="none" strike="noStrike" kern="0" cap="none" spc="0" normalizeH="0" baseline="0" noProof="1" dirty="0">
                <a:solidFill>
                  <a:schemeClr val="tx1"/>
                </a:solidFill>
                <a:latin typeface="+mn-lt"/>
                <a:ea typeface="+mn-ea"/>
                <a:cs typeface="+mn-cs"/>
                <a:sym typeface="+mn-ea"/>
              </a:rPr>
              <a:t>5</a:t>
            </a:r>
            <a:r>
              <a:rPr kumimoji="1" lang="zh-CN" altLang="en-US" sz="2800" b="1" i="0" u="none" strike="noStrike" kern="0" cap="none" spc="0" normalizeH="0" baseline="0" noProof="1" dirty="0">
                <a:solidFill>
                  <a:schemeClr val="tx1"/>
                </a:solidFill>
                <a:latin typeface="+mn-lt"/>
                <a:ea typeface="+mn-ea"/>
                <a:cs typeface="+mn-cs"/>
                <a:sym typeface="+mn-ea"/>
              </a:rPr>
              <a:t>.</a:t>
            </a:r>
            <a:r>
              <a:rPr kumimoji="0" sz="2800" b="1" i="0" u="none" strike="noStrike" kern="0" cap="none" spc="0" normalizeH="0" baseline="0" noProof="0" dirty="0" smtClean="0">
                <a:ln>
                  <a:noFill/>
                </a:ln>
                <a:solidFill>
                  <a:schemeClr val="tx1"/>
                </a:solidFill>
                <a:effectLst/>
                <a:uLnTx/>
                <a:uFillTx/>
                <a:latin typeface="宋体" pitchFamily="2" charset="-122"/>
                <a:ea typeface="+mn-ea"/>
                <a:cs typeface="+mn-cs"/>
              </a:rPr>
              <a:t>十进制调整指令</a:t>
            </a:r>
            <a:r>
              <a:rPr kumimoji="0" lang="zh-CN" altLang="en-US" sz="2800" b="1" i="0" u="none" strike="noStrike" kern="0" cap="none" spc="0" normalizeH="0" baseline="0" noProof="0" dirty="0" smtClean="0">
                <a:ln>
                  <a:noFill/>
                </a:ln>
                <a:solidFill>
                  <a:schemeClr val="tx1"/>
                </a:solidFill>
                <a:effectLst/>
                <a:uLnTx/>
                <a:uFillTx/>
                <a:latin typeface="宋体" pitchFamily="2" charset="-122"/>
                <a:ea typeface="+mn-ea"/>
                <a:cs typeface="+mn-cs"/>
              </a:rPr>
              <a:t>：</a:t>
            </a:r>
            <a:endParaRPr kumimoji="0" lang="zh-CN" altLang="en-US" sz="28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0" marR="0" lvl="0" indent="-342900" algn="l" defTabSz="42545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rgbClr val="FF0000"/>
                </a:solidFill>
                <a:effectLst/>
                <a:uLnTx/>
                <a:uFillTx/>
                <a:latin typeface="宋体" pitchFamily="2" charset="-122"/>
                <a:ea typeface="+mn-ea"/>
                <a:cs typeface="+mn-cs"/>
              </a:rPr>
              <a:t>		</a:t>
            </a:r>
            <a:r>
              <a:rPr kumimoji="0" lang="en-US" altLang="zh-CN" sz="2400" b="1" i="0" u="none" strike="noStrike" kern="0" cap="none" spc="0" normalizeH="0" baseline="0" noProof="0" dirty="0" smtClean="0">
                <a:ln>
                  <a:noFill/>
                </a:ln>
                <a:solidFill>
                  <a:schemeClr val="tx2"/>
                </a:solidFill>
                <a:effectLst/>
                <a:uLnTx/>
                <a:uFillTx/>
                <a:latin typeface="宋体" pitchFamily="2" charset="-122"/>
                <a:ea typeface="+mn-ea"/>
                <a:cs typeface="+mn-cs"/>
              </a:rPr>
              <a:t>DA  A</a:t>
            </a:r>
            <a:r>
              <a:rPr kumimoji="0" lang="en-US" altLang="zh-CN" sz="2400" b="1" i="0" u="none" strike="noStrike" kern="0" cap="none" spc="0" normalizeH="0" baseline="0" noProof="0" dirty="0" smtClean="0">
                <a:ln>
                  <a:noFill/>
                </a:ln>
                <a:solidFill>
                  <a:srgbClr val="FF0000"/>
                </a:solidFill>
                <a:effectLst/>
                <a:uLnTx/>
                <a:uFillTx/>
                <a:latin typeface="宋体" pitchFamily="2" charset="-122"/>
                <a:ea typeface="+mn-ea"/>
                <a:cs typeface="+mn-cs"/>
              </a:rPr>
              <a:t>	</a:t>
            </a:r>
            <a:r>
              <a:rPr kumimoji="0" lang="en-US" altLang="zh-CN" sz="2400" b="1" i="0" u="none" strike="noStrike" kern="0" cap="none" spc="0" normalizeH="0" baseline="0" noProof="0" dirty="0" smtClean="0">
                <a:ln>
                  <a:noFill/>
                </a:ln>
                <a:solidFill>
                  <a:schemeClr val="tx1"/>
                </a:solidFill>
                <a:effectLst/>
                <a:uLnTx/>
                <a:uFillTx/>
                <a:latin typeface="宋体" pitchFamily="2" charset="-122"/>
                <a:ea typeface="+mn-ea"/>
                <a:cs typeface="+mn-cs"/>
              </a:rPr>
              <a:t>；</a:t>
            </a:r>
            <a:r>
              <a:rPr kumimoji="0" lang="zh-CN" altLang="en-US" sz="2400" b="1" i="0" u="none" strike="noStrike" kern="0" cap="none" spc="0" normalizeH="0" baseline="0" noProof="0" dirty="0" smtClean="0">
                <a:ln>
                  <a:noFill/>
                </a:ln>
                <a:solidFill>
                  <a:schemeClr val="tx1"/>
                </a:solidFill>
                <a:effectLst/>
                <a:uLnTx/>
                <a:uFillTx/>
                <a:latin typeface="宋体" pitchFamily="2" charset="-122"/>
                <a:ea typeface="+mn-ea"/>
                <a:cs typeface="+mn-cs"/>
              </a:rPr>
              <a:t>用于对BCD码十进制数加法运算结果的内容修正</a:t>
            </a:r>
            <a:endParaRPr kumimoji="0" lang="zh-CN" altLang="en-US" sz="24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0" marR="0" lvl="0" indent="-342900" algn="l" defTabSz="42545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723900" marR="0" lvl="0" indent="-368300" algn="l" defTabSz="425450" rtl="0" eaLnBrk="0" fontAlgn="base" latinLnBrk="0" hangingPunct="0">
              <a:lnSpc>
                <a:spcPct val="120000"/>
              </a:lnSpc>
              <a:spcBef>
                <a:spcPts val="1200"/>
              </a:spcBef>
              <a:spcAft>
                <a:spcPct val="0"/>
              </a:spcAft>
              <a:buClr>
                <a:schemeClr val="folHlink"/>
              </a:buClr>
              <a:buSzTx/>
              <a:buFont typeface="Wingdings" panose="05000000000000000000" pitchFamily="2" charset="2"/>
              <a:buNone/>
              <a:defRPr/>
            </a:pPr>
            <a:r>
              <a:rPr kumimoji="1" lang="en-US" altLang="zh-CN" sz="2000" b="1" i="0" u="none" strike="noStrike" kern="0" cap="none" spc="0" normalizeH="0" baseline="0" noProof="0" dirty="0" smtClean="0">
                <a:ln>
                  <a:noFill/>
                </a:ln>
                <a:solidFill>
                  <a:schemeClr val="tx1"/>
                </a:solidFill>
                <a:effectLst/>
                <a:uLnTx/>
                <a:uFillTx/>
                <a:latin typeface="+mn-lt"/>
                <a:ea typeface="+mn-ea"/>
                <a:cs typeface="+mn-cs"/>
                <a:sym typeface="Wingdings" panose="05000000000000000000" pitchFamily="2" charset="2"/>
              </a:rPr>
              <a:t>1</a:t>
            </a:r>
            <a:r>
              <a:rPr kumimoji="1" lang="zh-CN" altLang="en-US" sz="2000" b="1" i="0" u="none" strike="noStrike" kern="0" cap="none" spc="0" normalizeH="0" baseline="0" noProof="0" dirty="0" smtClean="0">
                <a:ln>
                  <a:noFill/>
                </a:ln>
                <a:solidFill>
                  <a:schemeClr val="tx1"/>
                </a:solidFill>
                <a:effectLst/>
                <a:uLnTx/>
                <a:uFillTx/>
                <a:latin typeface="+mn-lt"/>
                <a:ea typeface="+mn-ea"/>
                <a:cs typeface="+mn-cs"/>
                <a:sym typeface="Wingdings" panose="05000000000000000000" pitchFamily="2" charset="2"/>
              </a:rPr>
              <a:t>）</a:t>
            </a:r>
            <a:r>
              <a:rPr kumimoji="1" sz="2400" b="1" i="0" u="none" strike="noStrike" kern="0" cap="none" spc="0" normalizeH="0" baseline="0" noProof="0" dirty="0" smtClean="0">
                <a:ln>
                  <a:noFill/>
                </a:ln>
                <a:solidFill>
                  <a:schemeClr val="tx1"/>
                </a:solidFill>
                <a:effectLst/>
                <a:uLnTx/>
                <a:uFillTx/>
                <a:latin typeface="+mn-lt"/>
                <a:ea typeface="+mn-ea"/>
                <a:cs typeface="+mn-cs"/>
              </a:rPr>
              <a:t>功能是对累加器A中刚进行的两个BCD码加法的结果进行调整</a:t>
            </a:r>
            <a:r>
              <a:rPr kumimoji="1" sz="2400" b="1" i="0" u="none" strike="noStrike" kern="0" cap="none" spc="0" normalizeH="0" baseline="0" noProof="0" dirty="0" smtClean="0">
                <a:ln>
                  <a:noFill/>
                </a:ln>
                <a:solidFill>
                  <a:srgbClr val="FF0000"/>
                </a:solidFill>
                <a:effectLst/>
                <a:uLnTx/>
                <a:uFillTx/>
                <a:latin typeface="+mn-lt"/>
                <a:ea typeface="+mn-ea"/>
                <a:cs typeface="+mn-cs"/>
              </a:rPr>
              <a:t>(加6修正)</a:t>
            </a:r>
            <a:r>
              <a:rPr kumimoji="1" sz="2400" b="1" i="0" u="none" strike="noStrike" kern="0" cap="none" spc="0" normalizeH="0" baseline="0" noProof="0" dirty="0" smtClean="0">
                <a:ln>
                  <a:noFill/>
                </a:ln>
                <a:solidFill>
                  <a:schemeClr val="tx1"/>
                </a:solidFill>
                <a:effectLst/>
                <a:uLnTx/>
                <a:uFillTx/>
                <a:latin typeface="+mn-lt"/>
                <a:ea typeface="+mn-ea"/>
                <a:cs typeface="+mn-cs"/>
              </a:rPr>
              <a:t>。 该指</a:t>
            </a:r>
            <a:r>
              <a:rPr kumimoji="1" lang="zh-CN" sz="2400" b="1" i="0" u="none" strike="noStrike" kern="0" cap="none" spc="0" normalizeH="0" baseline="0" noProof="0" dirty="0" smtClean="0">
                <a:ln>
                  <a:noFill/>
                </a:ln>
                <a:solidFill>
                  <a:schemeClr val="tx1"/>
                </a:solidFill>
                <a:effectLst/>
                <a:uLnTx/>
                <a:uFillTx/>
                <a:latin typeface="+mn-lt"/>
                <a:ea typeface="+mn-ea"/>
                <a:cs typeface="+mn-cs"/>
              </a:rPr>
              <a:t>令</a:t>
            </a:r>
            <a:r>
              <a:rPr kumimoji="1" sz="2400" b="1" i="0" u="none" strike="noStrike" kern="0" cap="none" spc="0" normalizeH="0" baseline="0" noProof="0" dirty="0" smtClean="0">
                <a:ln>
                  <a:noFill/>
                </a:ln>
                <a:solidFill>
                  <a:schemeClr val="tx1"/>
                </a:solidFill>
                <a:effectLst/>
                <a:uLnTx/>
                <a:uFillTx/>
                <a:latin typeface="+mn-lt"/>
                <a:ea typeface="+mn-ea"/>
                <a:cs typeface="+mn-cs"/>
              </a:rPr>
              <a:t>跟在</a:t>
            </a:r>
            <a:r>
              <a:rPr kumimoji="1" sz="2400" b="1" i="0" u="none" strike="noStrike" kern="0" cap="none" spc="0" normalizeH="0" baseline="0" noProof="0" dirty="0" smtClean="0">
                <a:ln>
                  <a:noFill/>
                </a:ln>
                <a:solidFill>
                  <a:srgbClr val="FF0000"/>
                </a:solidFill>
                <a:effectLst/>
                <a:uLnTx/>
                <a:uFillTx/>
                <a:latin typeface="+mn-lt"/>
                <a:ea typeface="+mn-ea"/>
                <a:cs typeface="+mn-cs"/>
              </a:rPr>
              <a:t>ADD/ADDC</a:t>
            </a:r>
            <a:r>
              <a:rPr kumimoji="1" sz="2400" b="1" i="0" u="none" strike="noStrike" kern="0" cap="none" spc="0" normalizeH="0" baseline="0" noProof="0" dirty="0" smtClean="0">
                <a:ln>
                  <a:noFill/>
                </a:ln>
                <a:solidFill>
                  <a:schemeClr val="tx1"/>
                </a:solidFill>
                <a:effectLst/>
                <a:uLnTx/>
                <a:uFillTx/>
                <a:latin typeface="+mn-lt"/>
                <a:ea typeface="+mn-ea"/>
                <a:cs typeface="+mn-cs"/>
              </a:rPr>
              <a:t>后进行并且两个加数必须已经是</a:t>
            </a:r>
            <a:r>
              <a:rPr kumimoji="1" sz="2400" b="1" i="0" u="none" strike="noStrike" kern="0" cap="none" spc="0" normalizeH="0" baseline="0" noProof="0" dirty="0" smtClean="0">
                <a:ln>
                  <a:noFill/>
                </a:ln>
                <a:solidFill>
                  <a:srgbClr val="FF0000"/>
                </a:solidFill>
                <a:effectLst/>
                <a:uLnTx/>
                <a:uFillTx/>
                <a:latin typeface="+mn-lt"/>
                <a:ea typeface="+mn-ea"/>
                <a:cs typeface="+mn-cs"/>
              </a:rPr>
              <a:t>压缩</a:t>
            </a:r>
            <a:r>
              <a:rPr kumimoji="1" lang="zh-CN" sz="2400" b="1" i="0" u="none" strike="noStrike" kern="0" cap="none" spc="0" normalizeH="0" baseline="0" noProof="0" dirty="0" smtClean="0">
                <a:ln>
                  <a:noFill/>
                </a:ln>
                <a:solidFill>
                  <a:srgbClr val="FF0000"/>
                </a:solidFill>
                <a:effectLst/>
                <a:uLnTx/>
                <a:uFillTx/>
                <a:latin typeface="+mn-lt"/>
                <a:ea typeface="+mn-ea"/>
                <a:cs typeface="+mn-cs"/>
              </a:rPr>
              <a:t>的</a:t>
            </a:r>
            <a:r>
              <a:rPr kumimoji="1" sz="2400" b="1" i="0" u="none" strike="noStrike" kern="0" cap="none" spc="0" normalizeH="0" baseline="0" noProof="0" dirty="0" smtClean="0">
                <a:ln>
                  <a:noFill/>
                </a:ln>
                <a:solidFill>
                  <a:srgbClr val="FF0000"/>
                </a:solidFill>
                <a:effectLst/>
                <a:uLnTx/>
                <a:uFillTx/>
                <a:latin typeface="+mn-lt"/>
                <a:ea typeface="+mn-ea"/>
                <a:cs typeface="+mn-cs"/>
              </a:rPr>
              <a:t>BCD</a:t>
            </a:r>
            <a:r>
              <a:rPr kumimoji="1" sz="2400" b="1" i="0" u="none" strike="noStrike" kern="0" cap="none" spc="0" normalizeH="0" baseline="0" noProof="0" dirty="0" smtClean="0">
                <a:ln>
                  <a:noFill/>
                </a:ln>
                <a:solidFill>
                  <a:schemeClr val="tx1"/>
                </a:solidFill>
                <a:effectLst/>
                <a:uLnTx/>
                <a:uFillTx/>
                <a:latin typeface="+mn-lt"/>
                <a:ea typeface="+mn-ea"/>
                <a:cs typeface="+mn-cs"/>
              </a:rPr>
              <a:t>码，且只能对A中结果进行调整。</a:t>
            </a:r>
            <a:r>
              <a:rPr kumimoji="1" lang="zh-CN" altLang="en-US" sz="2400" b="1" i="0" u="none" strike="noStrike" kern="0" cap="none" spc="0" normalizeH="0" baseline="0" noProof="0" dirty="0" smtClean="0">
                <a:ln>
                  <a:noFill/>
                </a:ln>
                <a:solidFill>
                  <a:schemeClr val="tx1"/>
                </a:solidFill>
                <a:effectLst/>
                <a:uLnTx/>
                <a:uFillTx/>
                <a:latin typeface="+mn-lt"/>
                <a:ea typeface="+mn-ea"/>
                <a:cs typeface="+mn-cs"/>
                <a:sym typeface="Wingdings" panose="05000000000000000000" pitchFamily="2" charset="2"/>
              </a:rPr>
              <a:t>         </a:t>
            </a:r>
            <a:endParaRPr kumimoji="1" lang="zh-CN" altLang="en-US" sz="2400" b="1" i="0" u="none" strike="noStrike" kern="0" cap="none" spc="0" normalizeH="0" baseline="0" noProof="0" dirty="0" smtClean="0">
              <a:ln>
                <a:noFill/>
              </a:ln>
              <a:solidFill>
                <a:schemeClr val="tx1"/>
              </a:solidFill>
              <a:effectLst/>
              <a:uLnTx/>
              <a:uFillTx/>
              <a:latin typeface="+mn-lt"/>
              <a:ea typeface="+mn-ea"/>
              <a:cs typeface="+mn-cs"/>
              <a:sym typeface="Wingdings" panose="05000000000000000000" pitchFamily="2" charset="2"/>
            </a:endParaRPr>
          </a:p>
          <a:p>
            <a:pPr marL="342900" marR="0" indent="-342900" algn="l" defTabSz="425450" rtl="0" eaLnBrk="0" fontAlgn="base" latinLnBrk="0" hangingPunct="0">
              <a:lnSpc>
                <a:spcPct val="130000"/>
              </a:lnSpc>
              <a:spcBef>
                <a:spcPct val="20000"/>
              </a:spcBef>
              <a:spcAft>
                <a:spcPct val="0"/>
              </a:spcAft>
              <a:buClrTx/>
              <a:buSzTx/>
              <a:buFontTx/>
              <a:buBlip>
                <a:blip r:embed="rId1"/>
              </a:buBlip>
            </a:pPr>
            <a:r>
              <a:rPr kumimoji="1" sz="2400" b="1" i="0" u="none" strike="noStrike" kern="0" cap="none" spc="0" normalizeH="0" baseline="0" noProof="0" dirty="0" smtClean="0">
                <a:ln>
                  <a:noFill/>
                </a:ln>
                <a:solidFill>
                  <a:schemeClr val="tx1"/>
                </a:solidFill>
                <a:effectLst/>
                <a:uLnTx/>
                <a:uFillTx/>
                <a:latin typeface="+mn-lt"/>
                <a:ea typeface="+mn-ea"/>
                <a:cs typeface="+mn-cs"/>
                <a:sym typeface="+mn-ea"/>
              </a:rPr>
              <a:t>当A中低4位出现非BCD码（1010~1111）或低4位进位AC=1，则应在低4位加6H调整。</a:t>
            </a:r>
            <a:r>
              <a:rPr kumimoji="1" lang="zh-CN" altLang="en-US" sz="2000" b="1" i="0" u="none" strike="noStrike" kern="0" cap="none" spc="0" normalizeH="0" baseline="0" noProof="0" dirty="0" smtClean="0">
                <a:ln>
                  <a:noFill/>
                </a:ln>
                <a:solidFill>
                  <a:srgbClr val="FF0000"/>
                </a:solidFill>
                <a:effectLst/>
                <a:uLnTx/>
                <a:uFillTx/>
                <a:latin typeface="+mn-lt"/>
                <a:ea typeface="+mn-ea"/>
                <a:cs typeface="+mn-cs"/>
                <a:sym typeface="Wingdings" panose="05000000000000000000" pitchFamily="2" charset="2"/>
              </a:rPr>
              <a:t>若</a:t>
            </a:r>
            <a:r>
              <a:rPr kumimoji="1" lang="en-US" altLang="zh-CN" sz="2000" b="1" i="0" u="none" strike="noStrike" kern="0" cap="none" spc="0" normalizeH="0" baseline="0" noProof="0" dirty="0" smtClean="0">
                <a:ln>
                  <a:noFill/>
                </a:ln>
                <a:solidFill>
                  <a:srgbClr val="FF0000"/>
                </a:solidFill>
                <a:effectLst/>
                <a:uLnTx/>
                <a:uFillTx/>
                <a:latin typeface="+mn-lt"/>
                <a:ea typeface="+mn-ea"/>
                <a:cs typeface="+mn-cs"/>
                <a:sym typeface="Wingdings" panose="05000000000000000000" pitchFamily="2" charset="2"/>
              </a:rPr>
              <a:t>(A</a:t>
            </a:r>
            <a:r>
              <a:rPr kumimoji="1" lang="en-US" altLang="zh-CN" sz="2000" b="1" i="0" u="none" strike="noStrike" kern="0" cap="none" spc="0" normalizeH="0" baseline="-25000" noProof="0" dirty="0" smtClean="0">
                <a:ln>
                  <a:noFill/>
                </a:ln>
                <a:solidFill>
                  <a:srgbClr val="FF0000"/>
                </a:solidFill>
                <a:effectLst/>
                <a:uLnTx/>
                <a:uFillTx/>
                <a:latin typeface="+mn-lt"/>
                <a:ea typeface="+mn-ea"/>
                <a:cs typeface="+mn-cs"/>
                <a:sym typeface="Wingdings" panose="05000000000000000000" pitchFamily="2" charset="2"/>
              </a:rPr>
              <a:t>0~3</a:t>
            </a:r>
            <a:r>
              <a:rPr kumimoji="1" lang="en-US" altLang="zh-CN" sz="2000" b="1" i="0" u="none" strike="noStrike" kern="0" cap="none" spc="0" normalizeH="0" baseline="0" noProof="0" dirty="0" smtClean="0">
                <a:ln>
                  <a:noFill/>
                </a:ln>
                <a:solidFill>
                  <a:srgbClr val="FF0000"/>
                </a:solidFill>
                <a:effectLst/>
                <a:uLnTx/>
                <a:uFillTx/>
                <a:latin typeface="+mn-lt"/>
                <a:ea typeface="+mn-ea"/>
                <a:cs typeface="+mn-cs"/>
                <a:sym typeface="Wingdings" panose="05000000000000000000" pitchFamily="2" charset="2"/>
              </a:rPr>
              <a:t>)</a:t>
            </a:r>
            <a:r>
              <a:rPr kumimoji="1" lang="en-US" altLang="zh-CN" sz="2000" b="1" i="0" u="none" strike="noStrike" kern="0" cap="none" spc="0" normalizeH="0" baseline="0" noProof="0" dirty="0" smtClean="0">
                <a:ln>
                  <a:noFill/>
                </a:ln>
                <a:solidFill>
                  <a:srgbClr val="FF0000"/>
                </a:solidFill>
                <a:effectLst/>
                <a:uLnTx/>
                <a:uFillTx/>
                <a:latin typeface="+mn-lt"/>
                <a:ea typeface="+mn-ea"/>
                <a:cs typeface="+mn-cs"/>
                <a:sym typeface="Wingdings" panose="05000000000000000000" pitchFamily="2" charset="2"/>
              </a:rPr>
              <a:t>&gt;9</a:t>
            </a:r>
            <a:r>
              <a:rPr kumimoji="1" lang="zh-CN" altLang="en-US" sz="2000" b="1" i="0" u="none" strike="noStrike" kern="0" cap="none" spc="0" normalizeH="0" baseline="0" noProof="0" dirty="0" smtClean="0">
                <a:ln>
                  <a:noFill/>
                </a:ln>
                <a:solidFill>
                  <a:srgbClr val="FF0000"/>
                </a:solidFill>
                <a:effectLst/>
                <a:uLnTx/>
                <a:uFillTx/>
                <a:latin typeface="+mn-lt"/>
                <a:ea typeface="+mn-ea"/>
                <a:cs typeface="+mn-cs"/>
                <a:sym typeface="Wingdings" panose="05000000000000000000" pitchFamily="2" charset="2"/>
              </a:rPr>
              <a:t>或</a:t>
            </a:r>
            <a:r>
              <a:rPr kumimoji="1" lang="en-US" altLang="zh-CN" sz="2000" b="1" i="0" u="none" strike="noStrike" kern="0" cap="none" spc="0" normalizeH="0" baseline="0" noProof="0" dirty="0" smtClean="0">
                <a:ln>
                  <a:noFill/>
                </a:ln>
                <a:solidFill>
                  <a:srgbClr val="FF0000"/>
                </a:solidFill>
                <a:effectLst/>
                <a:uLnTx/>
                <a:uFillTx/>
                <a:latin typeface="+mn-lt"/>
                <a:ea typeface="+mn-ea"/>
                <a:cs typeface="+mn-cs"/>
                <a:sym typeface="Wingdings" panose="05000000000000000000" pitchFamily="2" charset="2"/>
              </a:rPr>
              <a:t>(AC)=1</a:t>
            </a:r>
            <a:r>
              <a:rPr kumimoji="1" lang="zh-CN" altLang="en-US" sz="2000" b="1" i="0" u="none" strike="noStrike" kern="0" cap="none" spc="0" normalizeH="0" baseline="0" noProof="0" dirty="0" smtClean="0">
                <a:ln>
                  <a:noFill/>
                </a:ln>
                <a:solidFill>
                  <a:srgbClr val="FF0000"/>
                </a:solidFill>
                <a:effectLst/>
                <a:uLnTx/>
                <a:uFillTx/>
                <a:latin typeface="+mn-lt"/>
                <a:ea typeface="+mn-ea"/>
                <a:cs typeface="+mn-cs"/>
                <a:sym typeface="Wingdings" panose="05000000000000000000" pitchFamily="2" charset="2"/>
              </a:rPr>
              <a:t>，则</a:t>
            </a:r>
            <a:r>
              <a:rPr kumimoji="1" lang="en-US" altLang="zh-CN" sz="2000" b="1" i="0" u="none" strike="noStrike" kern="0" cap="none" spc="0" normalizeH="0" baseline="0" noProof="0" dirty="0" smtClean="0">
                <a:ln>
                  <a:noFill/>
                </a:ln>
                <a:solidFill>
                  <a:srgbClr val="FF0000"/>
                </a:solidFill>
                <a:effectLst/>
                <a:uLnTx/>
                <a:uFillTx/>
                <a:latin typeface="+mn-lt"/>
                <a:ea typeface="+mn-ea"/>
                <a:cs typeface="+mn-cs"/>
                <a:sym typeface="Wingdings" panose="05000000000000000000" pitchFamily="2" charset="2"/>
              </a:rPr>
              <a:t>(A</a:t>
            </a:r>
            <a:r>
              <a:rPr kumimoji="1" lang="en-US" altLang="zh-CN" sz="2000" b="1" i="0" u="none" strike="noStrike" kern="0" cap="none" spc="0" normalizeH="0" baseline="-25000" noProof="0" dirty="0" smtClean="0">
                <a:ln>
                  <a:noFill/>
                </a:ln>
                <a:solidFill>
                  <a:srgbClr val="FF0000"/>
                </a:solidFill>
                <a:effectLst/>
                <a:uLnTx/>
                <a:uFillTx/>
                <a:latin typeface="+mn-lt"/>
                <a:ea typeface="+mn-ea"/>
                <a:cs typeface="+mn-cs"/>
                <a:sym typeface="Wingdings" panose="05000000000000000000" pitchFamily="2" charset="2"/>
              </a:rPr>
              <a:t>0~3</a:t>
            </a:r>
            <a:r>
              <a:rPr kumimoji="1" lang="en-US" altLang="zh-CN" sz="2000" b="1" i="0" u="none" strike="noStrike" kern="0" cap="none" spc="0" normalizeH="0" baseline="0" noProof="0" dirty="0" smtClean="0">
                <a:ln>
                  <a:noFill/>
                </a:ln>
                <a:solidFill>
                  <a:srgbClr val="FF0000"/>
                </a:solidFill>
                <a:effectLst/>
                <a:uLnTx/>
                <a:uFillTx/>
                <a:latin typeface="+mn-lt"/>
                <a:ea typeface="+mn-ea"/>
                <a:cs typeface="+mn-cs"/>
                <a:sym typeface="Wingdings" panose="05000000000000000000" pitchFamily="2" charset="2"/>
              </a:rPr>
              <a:t>)</a:t>
            </a:r>
            <a:r>
              <a:rPr kumimoji="1" lang="zh-CN" altLang="en-US" sz="2000" b="1" i="0" u="none" strike="noStrike" kern="0" cap="none" spc="0" normalizeH="0" baseline="0" noProof="0" dirty="0" smtClean="0">
                <a:ln>
                  <a:noFill/>
                </a:ln>
                <a:solidFill>
                  <a:srgbClr val="FF0000"/>
                </a:solidFill>
                <a:effectLst/>
                <a:uLnTx/>
                <a:uFillTx/>
                <a:latin typeface="+mn-lt"/>
                <a:ea typeface="+mn-ea"/>
                <a:cs typeface="+mn-cs"/>
                <a:sym typeface="Wingdings" panose="05000000000000000000" pitchFamily="2" charset="2"/>
              </a:rPr>
              <a:t> </a:t>
            </a:r>
            <a:r>
              <a:rPr kumimoji="1" lang="en-US" altLang="zh-CN" sz="2000" b="1" i="0" u="none" strike="noStrike" kern="0" cap="none" spc="0" normalizeH="0" baseline="0" noProof="0" dirty="0" smtClean="0">
                <a:ln>
                  <a:noFill/>
                </a:ln>
                <a:solidFill>
                  <a:srgbClr val="FF0000"/>
                </a:solidFill>
                <a:effectLst/>
                <a:uLnTx/>
                <a:uFillTx/>
                <a:latin typeface="+mn-lt"/>
                <a:ea typeface="+mn-ea"/>
                <a:cs typeface="+mn-cs"/>
                <a:sym typeface="Wingdings" panose="05000000000000000000" pitchFamily="2" charset="2"/>
              </a:rPr>
              <a:t>+6</a:t>
            </a:r>
            <a:r>
              <a:rPr kumimoji="1" lang="en-US" altLang="zh-CN" sz="2000" b="1" i="0" u="none" strike="noStrike" kern="0" cap="none" spc="0" normalizeH="0" baseline="0" noProof="0" dirty="0" smtClean="0">
                <a:ln>
                  <a:noFill/>
                </a:ln>
                <a:solidFill>
                  <a:srgbClr val="FF0000"/>
                </a:solidFill>
                <a:effectLst/>
                <a:uLnTx/>
                <a:uFillTx/>
                <a:latin typeface="+mn-lt"/>
                <a:ea typeface="+mn-ea"/>
                <a:cs typeface="+mn-cs"/>
                <a:sym typeface="Symbol" pitchFamily="18" charset="2"/>
              </a:rPr>
              <a:t>(</a:t>
            </a:r>
            <a:r>
              <a:rPr kumimoji="1" lang="en-US" altLang="zh-CN" sz="2000" b="1" i="0" u="none" strike="noStrike" kern="0" cap="none" spc="0" normalizeH="0" baseline="0" noProof="0" dirty="0" smtClean="0">
                <a:ln>
                  <a:noFill/>
                </a:ln>
                <a:solidFill>
                  <a:srgbClr val="FF0000"/>
                </a:solidFill>
                <a:effectLst/>
                <a:uLnTx/>
                <a:uFillTx/>
                <a:latin typeface="+mn-lt"/>
                <a:ea typeface="+mn-ea"/>
                <a:cs typeface="+mn-cs"/>
                <a:sym typeface="Wingdings" panose="05000000000000000000" pitchFamily="2" charset="2"/>
              </a:rPr>
              <a:t>A</a:t>
            </a:r>
            <a:r>
              <a:rPr kumimoji="1" lang="en-US" altLang="zh-CN" sz="2000" b="1" i="0" u="none" strike="noStrike" kern="0" cap="none" spc="0" normalizeH="0" baseline="-25000" noProof="0" dirty="0" smtClean="0">
                <a:ln>
                  <a:noFill/>
                </a:ln>
                <a:solidFill>
                  <a:srgbClr val="FF0000"/>
                </a:solidFill>
                <a:effectLst/>
                <a:uLnTx/>
                <a:uFillTx/>
                <a:latin typeface="+mn-lt"/>
                <a:ea typeface="+mn-ea"/>
                <a:cs typeface="+mn-cs"/>
                <a:sym typeface="Wingdings" panose="05000000000000000000" pitchFamily="2" charset="2"/>
              </a:rPr>
              <a:t>0~3</a:t>
            </a:r>
            <a:r>
              <a:rPr kumimoji="1" lang="en-US" altLang="zh-CN" sz="2000" b="1" i="0" u="none" strike="noStrike" kern="0" cap="none" spc="0" normalizeH="0" baseline="0" noProof="0" dirty="0" smtClean="0">
                <a:ln>
                  <a:noFill/>
                </a:ln>
                <a:solidFill>
                  <a:srgbClr val="FF0000"/>
                </a:solidFill>
                <a:effectLst/>
                <a:uLnTx/>
                <a:uFillTx/>
                <a:latin typeface="+mn-lt"/>
                <a:ea typeface="+mn-ea"/>
                <a:cs typeface="+mn-cs"/>
                <a:sym typeface="Wingdings" panose="05000000000000000000" pitchFamily="2" charset="2"/>
              </a:rPr>
              <a:t>)</a:t>
            </a:r>
            <a:endParaRPr kumimoji="1" sz="2000" b="1" i="0" u="none" strike="noStrike" kern="0" cap="none" spc="0" normalizeH="0" baseline="0" noProof="0" dirty="0" smtClean="0">
              <a:ln>
                <a:noFill/>
              </a:ln>
              <a:solidFill>
                <a:srgbClr val="FF0000"/>
              </a:solidFill>
              <a:effectLst/>
              <a:uLnTx/>
              <a:uFillTx/>
              <a:latin typeface="+mn-lt"/>
              <a:ea typeface="+mn-ea"/>
              <a:cs typeface="+mn-cs"/>
            </a:endParaRPr>
          </a:p>
          <a:p>
            <a:pPr marL="342900" marR="0" indent="-342900" algn="l" defTabSz="425450" rtl="0" eaLnBrk="0" fontAlgn="base" latinLnBrk="0" hangingPunct="0">
              <a:lnSpc>
                <a:spcPct val="130000"/>
              </a:lnSpc>
              <a:spcBef>
                <a:spcPct val="20000"/>
              </a:spcBef>
              <a:spcAft>
                <a:spcPct val="0"/>
              </a:spcAft>
              <a:buClrTx/>
              <a:buSzTx/>
              <a:buFontTx/>
              <a:buBlip>
                <a:blip r:embed="rId1"/>
              </a:buBlip>
            </a:pPr>
            <a:r>
              <a:rPr kumimoji="1" sz="2400" b="1" i="0" u="none" strike="noStrike" kern="0" cap="none" spc="0" normalizeH="0" baseline="0" noProof="0" dirty="0" smtClean="0">
                <a:ln>
                  <a:noFill/>
                </a:ln>
                <a:solidFill>
                  <a:schemeClr val="tx1"/>
                </a:solidFill>
                <a:effectLst/>
                <a:uLnTx/>
                <a:uFillTx/>
                <a:latin typeface="+mn-lt"/>
                <a:ea typeface="+mn-ea"/>
                <a:cs typeface="+mn-cs"/>
                <a:sym typeface="+mn-ea"/>
              </a:rPr>
              <a:t> 当A中高4位出现非BCD码（1010~1</a:t>
            </a:r>
            <a:r>
              <a:rPr kumimoji="1" sz="2400" b="1" i="0" u="none" strike="noStrike" kern="0" cap="none" spc="0" normalizeH="0" baseline="0" noProof="0" dirty="0" smtClean="0">
                <a:ln>
                  <a:noFill/>
                </a:ln>
                <a:solidFill>
                  <a:schemeClr val="tx1"/>
                </a:solidFill>
                <a:effectLst/>
                <a:uLnTx/>
                <a:uFillTx/>
                <a:latin typeface="+mn-lt"/>
                <a:ea typeface="+mn-ea"/>
                <a:cs typeface="+mn-cs"/>
                <a:sym typeface="+mn-ea"/>
              </a:rPr>
              <a:t>111</a:t>
            </a:r>
            <a:r>
              <a:rPr kumimoji="1" sz="2400" b="1" i="0" u="none" strike="noStrike" kern="0" cap="none" spc="0" normalizeH="0" baseline="0" noProof="0" dirty="0" smtClean="0">
                <a:ln>
                  <a:noFill/>
                </a:ln>
                <a:solidFill>
                  <a:schemeClr val="tx1"/>
                </a:solidFill>
                <a:effectLst/>
                <a:uLnTx/>
                <a:uFillTx/>
                <a:latin typeface="+mn-lt"/>
                <a:ea typeface="+mn-ea"/>
                <a:cs typeface="+mn-cs"/>
                <a:sym typeface="+mn-ea"/>
              </a:rPr>
              <a:t>）或高4位进位CY=1，则应在高4位加6H调整。</a:t>
            </a:r>
            <a:r>
              <a:rPr kumimoji="1" lang="zh-CN" altLang="en-US" sz="2000" b="1" i="0" u="none" strike="noStrike" kern="0" cap="none" spc="0" normalizeH="0" baseline="0" noProof="0" dirty="0" smtClean="0">
                <a:ln>
                  <a:noFill/>
                </a:ln>
                <a:solidFill>
                  <a:srgbClr val="FF0000"/>
                </a:solidFill>
                <a:effectLst/>
                <a:uLnTx/>
                <a:uFillTx/>
                <a:latin typeface="+mn-lt"/>
                <a:ea typeface="+mn-ea"/>
                <a:cs typeface="+mn-cs"/>
                <a:sym typeface="Wingdings" panose="05000000000000000000" pitchFamily="2" charset="2"/>
              </a:rPr>
              <a:t>若</a:t>
            </a:r>
            <a:r>
              <a:rPr kumimoji="1" lang="en-US" altLang="zh-CN" sz="2000" b="1" i="0" u="none" strike="noStrike" kern="0" cap="none" spc="0" normalizeH="0" baseline="0" noProof="0" dirty="0" smtClean="0">
                <a:ln>
                  <a:noFill/>
                </a:ln>
                <a:solidFill>
                  <a:srgbClr val="FF0000"/>
                </a:solidFill>
                <a:effectLst/>
                <a:uLnTx/>
                <a:uFillTx/>
                <a:latin typeface="+mn-lt"/>
                <a:ea typeface="+mn-ea"/>
                <a:cs typeface="+mn-cs"/>
                <a:sym typeface="Wingdings" panose="05000000000000000000" pitchFamily="2" charset="2"/>
              </a:rPr>
              <a:t>(</a:t>
            </a:r>
            <a:r>
              <a:rPr kumimoji="1" lang="zh-CN" altLang="en-US" sz="2000" b="1" i="0" u="none" strike="noStrike" kern="0" cap="none" spc="0" normalizeH="0" baseline="0" noProof="0" dirty="0" smtClean="0">
                <a:ln>
                  <a:noFill/>
                </a:ln>
                <a:solidFill>
                  <a:srgbClr val="FF0000"/>
                </a:solidFill>
                <a:effectLst/>
                <a:uLnTx/>
                <a:uFillTx/>
                <a:latin typeface="+mn-lt"/>
                <a:ea typeface="+mn-ea"/>
                <a:cs typeface="+mn-cs"/>
                <a:sym typeface="Wingdings" panose="05000000000000000000" pitchFamily="2" charset="2"/>
              </a:rPr>
              <a:t>A</a:t>
            </a:r>
            <a:r>
              <a:rPr kumimoji="1" lang="zh-CN" altLang="en-US" sz="2000" b="1" i="0" u="none" strike="noStrike" kern="0" cap="none" spc="0" normalizeH="0" baseline="-25000" noProof="0" dirty="0" smtClean="0">
                <a:ln>
                  <a:noFill/>
                </a:ln>
                <a:solidFill>
                  <a:srgbClr val="FF0000"/>
                </a:solidFill>
                <a:effectLst/>
                <a:uLnTx/>
                <a:uFillTx/>
                <a:latin typeface="+mn-lt"/>
                <a:ea typeface="+mn-ea"/>
                <a:cs typeface="+mn-cs"/>
                <a:sym typeface="Wingdings" panose="05000000000000000000" pitchFamily="2" charset="2"/>
              </a:rPr>
              <a:t>4~7</a:t>
            </a:r>
            <a:r>
              <a:rPr kumimoji="1" lang="en-US" altLang="zh-CN" sz="2000" b="1" i="0" u="none" strike="noStrike" kern="0" cap="none" spc="0" normalizeH="0" baseline="0" noProof="0" dirty="0" smtClean="0">
                <a:ln>
                  <a:noFill/>
                </a:ln>
                <a:solidFill>
                  <a:srgbClr val="FF0000"/>
                </a:solidFill>
                <a:effectLst/>
                <a:uLnTx/>
                <a:uFillTx/>
                <a:latin typeface="+mn-lt"/>
                <a:ea typeface="+mn-ea"/>
                <a:cs typeface="+mn-cs"/>
                <a:sym typeface="Wingdings" panose="05000000000000000000" pitchFamily="2" charset="2"/>
              </a:rPr>
              <a:t>)</a:t>
            </a:r>
            <a:r>
              <a:rPr kumimoji="1" lang="zh-CN" altLang="en-US" sz="2000" b="1" i="0" u="none" strike="noStrike" kern="0" cap="none" spc="0" normalizeH="0" baseline="0" noProof="0" dirty="0" smtClean="0">
                <a:ln>
                  <a:noFill/>
                </a:ln>
                <a:solidFill>
                  <a:srgbClr val="FF0000"/>
                </a:solidFill>
                <a:effectLst/>
                <a:uLnTx/>
                <a:uFillTx/>
                <a:latin typeface="+mn-lt"/>
                <a:ea typeface="+mn-ea"/>
                <a:cs typeface="+mn-cs"/>
                <a:sym typeface="Wingdings" panose="05000000000000000000" pitchFamily="2" charset="2"/>
              </a:rPr>
              <a:t>&gt;9或(Cy)=1，则</a:t>
            </a:r>
            <a:r>
              <a:rPr kumimoji="1" lang="en-US" altLang="zh-CN" sz="2000" b="1" i="0" u="none" strike="noStrike" kern="0" cap="none" spc="0" normalizeH="0" baseline="0" noProof="0" dirty="0" smtClean="0">
                <a:ln>
                  <a:noFill/>
                </a:ln>
                <a:solidFill>
                  <a:srgbClr val="FF0000"/>
                </a:solidFill>
                <a:effectLst/>
                <a:uLnTx/>
                <a:uFillTx/>
                <a:latin typeface="+mn-lt"/>
                <a:ea typeface="+mn-ea"/>
                <a:cs typeface="+mn-cs"/>
                <a:sym typeface="Wingdings" panose="05000000000000000000" pitchFamily="2" charset="2"/>
              </a:rPr>
              <a:t>(</a:t>
            </a:r>
            <a:r>
              <a:rPr kumimoji="1" lang="zh-CN" altLang="en-US" sz="2000" b="1" i="0" u="none" strike="noStrike" kern="0" cap="none" spc="0" normalizeH="0" baseline="0" noProof="0" dirty="0" smtClean="0">
                <a:ln>
                  <a:noFill/>
                </a:ln>
                <a:solidFill>
                  <a:srgbClr val="FF0000"/>
                </a:solidFill>
                <a:effectLst/>
                <a:uLnTx/>
                <a:uFillTx/>
                <a:latin typeface="+mn-lt"/>
                <a:ea typeface="+mn-ea"/>
                <a:cs typeface="+mn-cs"/>
                <a:sym typeface="Wingdings" panose="05000000000000000000" pitchFamily="2" charset="2"/>
              </a:rPr>
              <a:t>A4~7</a:t>
            </a:r>
            <a:r>
              <a:rPr kumimoji="1" lang="en-US" altLang="zh-CN" sz="2000" b="1" i="0" u="none" strike="noStrike" kern="0" cap="none" spc="0" normalizeH="0" baseline="0" noProof="0" dirty="0" smtClean="0">
                <a:ln>
                  <a:noFill/>
                </a:ln>
                <a:solidFill>
                  <a:srgbClr val="FF0000"/>
                </a:solidFill>
                <a:effectLst/>
                <a:uLnTx/>
                <a:uFillTx/>
                <a:latin typeface="+mn-lt"/>
                <a:ea typeface="+mn-ea"/>
                <a:cs typeface="+mn-cs"/>
                <a:sym typeface="Wingdings" panose="05000000000000000000" pitchFamily="2" charset="2"/>
              </a:rPr>
              <a:t>)</a:t>
            </a:r>
            <a:r>
              <a:rPr kumimoji="1" lang="zh-CN" altLang="en-US" sz="2000" b="1" i="0" u="none" strike="noStrike" kern="0" cap="none" spc="0" normalizeH="0" baseline="0" noProof="0" dirty="0" smtClean="0">
                <a:ln>
                  <a:noFill/>
                </a:ln>
                <a:solidFill>
                  <a:srgbClr val="FF0000"/>
                </a:solidFill>
                <a:effectLst/>
                <a:uLnTx/>
                <a:uFillTx/>
                <a:latin typeface="+mn-lt"/>
                <a:ea typeface="+mn-ea"/>
                <a:cs typeface="+mn-cs"/>
                <a:sym typeface="Wingdings" panose="05000000000000000000" pitchFamily="2" charset="2"/>
              </a:rPr>
              <a:t> +6 </a:t>
            </a:r>
            <a:r>
              <a:rPr kumimoji="1" lang="zh-CN" altLang="en-US" sz="2000" b="1" i="0" u="none" strike="noStrike" kern="0" cap="none" spc="0" normalizeH="0" baseline="0" noProof="0" dirty="0" smtClean="0">
                <a:ln>
                  <a:noFill/>
                </a:ln>
                <a:solidFill>
                  <a:srgbClr val="FF0000"/>
                </a:solidFill>
                <a:effectLst/>
                <a:uLnTx/>
                <a:uFillTx/>
                <a:latin typeface="+mn-lt"/>
                <a:ea typeface="+mn-ea"/>
                <a:cs typeface="+mn-cs"/>
                <a:sym typeface="Symbol" pitchFamily="18" charset="2"/>
              </a:rPr>
              <a:t></a:t>
            </a:r>
            <a:r>
              <a:rPr kumimoji="1" lang="zh-CN" altLang="en-US" sz="2000" b="1" i="0" u="none" strike="noStrike" kern="0" cap="none" spc="0" normalizeH="0" baseline="0" noProof="0" dirty="0" smtClean="0">
                <a:ln>
                  <a:noFill/>
                </a:ln>
                <a:solidFill>
                  <a:srgbClr val="FF0000"/>
                </a:solidFill>
                <a:effectLst/>
                <a:uLnTx/>
                <a:uFillTx/>
                <a:latin typeface="+mn-lt"/>
                <a:ea typeface="+mn-ea"/>
                <a:cs typeface="+mn-cs"/>
                <a:sym typeface="Wingdings" panose="05000000000000000000" pitchFamily="2" charset="2"/>
              </a:rPr>
              <a:t> </a:t>
            </a:r>
            <a:r>
              <a:rPr kumimoji="1" lang="en-US" altLang="zh-CN" sz="2000" b="1" i="0" u="none" strike="noStrike" kern="0" cap="none" spc="0" normalizeH="0" baseline="0" noProof="0" dirty="0" smtClean="0">
                <a:ln>
                  <a:noFill/>
                </a:ln>
                <a:solidFill>
                  <a:srgbClr val="FF0000"/>
                </a:solidFill>
                <a:effectLst/>
                <a:uLnTx/>
                <a:uFillTx/>
                <a:latin typeface="+mn-lt"/>
                <a:ea typeface="+mn-ea"/>
                <a:cs typeface="+mn-cs"/>
                <a:sym typeface="Wingdings" panose="05000000000000000000" pitchFamily="2" charset="2"/>
              </a:rPr>
              <a:t>(</a:t>
            </a:r>
            <a:r>
              <a:rPr kumimoji="1" lang="zh-CN" altLang="en-US" sz="2000" b="1" i="0" u="none" strike="noStrike" kern="0" cap="none" spc="0" normalizeH="0" baseline="0" noProof="0" dirty="0" smtClean="0">
                <a:ln>
                  <a:noFill/>
                </a:ln>
                <a:solidFill>
                  <a:srgbClr val="FF0000"/>
                </a:solidFill>
                <a:effectLst/>
                <a:uLnTx/>
                <a:uFillTx/>
                <a:latin typeface="+mn-lt"/>
                <a:ea typeface="+mn-ea"/>
                <a:cs typeface="+mn-cs"/>
                <a:sym typeface="Wingdings" panose="05000000000000000000" pitchFamily="2" charset="2"/>
              </a:rPr>
              <a:t>A4~7</a:t>
            </a:r>
            <a:r>
              <a:rPr kumimoji="1" lang="en-US" altLang="zh-CN" sz="2000" b="1" i="0" u="none" strike="noStrike" kern="0" cap="none" spc="0" normalizeH="0" baseline="0" noProof="0" dirty="0" smtClean="0">
                <a:ln>
                  <a:noFill/>
                </a:ln>
                <a:solidFill>
                  <a:srgbClr val="FF0000"/>
                </a:solidFill>
                <a:effectLst/>
                <a:uLnTx/>
                <a:uFillTx/>
                <a:latin typeface="+mn-lt"/>
                <a:ea typeface="+mn-ea"/>
                <a:cs typeface="+mn-cs"/>
                <a:sym typeface="Wingdings" panose="05000000000000000000" pitchFamily="2" charset="2"/>
              </a:rPr>
              <a:t>)</a:t>
            </a:r>
            <a:endParaRPr kumimoji="1" lang="zh-CN" altLang="en-US" sz="2000" b="1" i="0" u="none" strike="noStrike" kern="0" cap="none" spc="0" normalizeH="0" baseline="0" noProof="0" dirty="0" smtClean="0">
              <a:ln>
                <a:noFill/>
              </a:ln>
              <a:solidFill>
                <a:srgbClr val="FF0000"/>
              </a:solidFill>
              <a:effectLst/>
              <a:uLnTx/>
              <a:uFillTx/>
              <a:latin typeface="+mn-lt"/>
              <a:ea typeface="+mn-ea"/>
              <a:cs typeface="+mn-cs"/>
              <a:sym typeface="Wingdings" panose="05000000000000000000" pitchFamily="2" charset="2"/>
            </a:endParaRPr>
          </a:p>
          <a:p>
            <a:pPr marL="0" marR="0" lvl="0" indent="-342900" algn="l" defTabSz="425450" rtl="0" eaLnBrk="0" fontAlgn="base" latinLnBrk="0" hangingPunct="0">
              <a:lnSpc>
                <a:spcPct val="120000"/>
              </a:lnSpc>
              <a:spcBef>
                <a:spcPct val="20000"/>
              </a:spcBef>
              <a:spcAft>
                <a:spcPct val="0"/>
              </a:spcAft>
              <a:buClr>
                <a:schemeClr val="folHlink"/>
              </a:buClr>
              <a:buSzTx/>
              <a:buFont typeface="Wingdings" panose="05000000000000000000" pitchFamily="2" charset="2"/>
              <a:buNone/>
              <a:defRPr/>
            </a:pPr>
            <a:r>
              <a:rPr kumimoji="1" lang="zh-CN" altLang="en-US" sz="2400" b="1" i="0" u="none" strike="noStrike" kern="0" cap="none" spc="0" normalizeH="0" baseline="0" noProof="0" dirty="0" smtClean="0">
                <a:ln>
                  <a:noFill/>
                </a:ln>
                <a:solidFill>
                  <a:schemeClr val="tx1"/>
                </a:solidFill>
                <a:effectLst/>
                <a:uLnTx/>
                <a:uFillTx/>
                <a:latin typeface="+mn-lt"/>
                <a:ea typeface="+mn-ea"/>
                <a:cs typeface="+mn-cs"/>
                <a:sym typeface="Wingdings" panose="05000000000000000000" pitchFamily="2" charset="2"/>
              </a:rPr>
              <a:t>       </a:t>
            </a:r>
            <a:r>
              <a:rPr kumimoji="1" lang="zh-CN" altLang="en-US" sz="2400" b="1" i="0" u="none" strike="noStrike" kern="0" cap="none" spc="0" normalizeH="0" baseline="0" noProof="1" dirty="0">
                <a:solidFill>
                  <a:srgbClr val="FA1637"/>
                </a:solidFill>
                <a:effectLst>
                  <a:outerShdw blurRad="38100" dist="38100" dir="2700000">
                    <a:srgbClr val="000000"/>
                  </a:outerShdw>
                </a:effectLst>
                <a:latin typeface="+mn-lt"/>
                <a:ea typeface="+mn-ea"/>
                <a:cs typeface="+mn-cs"/>
                <a:sym typeface="+mn-ea"/>
              </a:rPr>
              <a:t>注意，</a:t>
            </a:r>
            <a:r>
              <a:rPr kumimoji="1" lang="en-US" altLang="zh-CN" sz="2400" b="1" i="0" u="none" strike="noStrike" kern="0" cap="none" spc="0" normalizeH="0" baseline="0" noProof="1">
                <a:solidFill>
                  <a:srgbClr val="FA1637"/>
                </a:solidFill>
                <a:effectLst>
                  <a:outerShdw blurRad="38100" dist="38100" dir="2700000">
                    <a:srgbClr val="000000"/>
                  </a:outerShdw>
                </a:effectLst>
                <a:latin typeface="+mn-lt"/>
                <a:ea typeface="+mn-ea"/>
                <a:cs typeface="+mn-cs"/>
                <a:sym typeface="+mn-ea"/>
              </a:rPr>
              <a:t>DA</a:t>
            </a:r>
            <a:r>
              <a:rPr kumimoji="1" lang="zh-CN" altLang="en-US" sz="2400" b="1" i="0" u="none" strike="noStrike" kern="0" cap="none" spc="0" normalizeH="0" baseline="0" noProof="1" dirty="0">
                <a:solidFill>
                  <a:srgbClr val="FA1637"/>
                </a:solidFill>
                <a:effectLst>
                  <a:outerShdw blurRad="38100" dist="38100" dir="2700000">
                    <a:srgbClr val="000000"/>
                  </a:outerShdw>
                </a:effectLst>
                <a:latin typeface="+mn-lt"/>
                <a:ea typeface="+mn-ea"/>
                <a:cs typeface="+mn-cs"/>
                <a:sym typeface="+mn-ea"/>
              </a:rPr>
              <a:t>指令不能对减法进行十进制调整。</a:t>
            </a:r>
            <a:endParaRPr kumimoji="1" lang="zh-CN" altLang="en-US" sz="2400" b="1" i="0" u="none" strike="noStrike" kern="0" cap="none" spc="0" normalizeH="0" baseline="0" noProof="1" dirty="0">
              <a:solidFill>
                <a:srgbClr val="FA1637"/>
              </a:solidFill>
              <a:effectLst>
                <a:outerShdw blurRad="38100" dist="38100" dir="2700000">
                  <a:srgbClr val="000000"/>
                </a:outerShdw>
              </a:effectLst>
              <a:latin typeface="+mn-lt"/>
              <a:ea typeface="+mn-ea"/>
              <a:cs typeface="+mn-cs"/>
            </a:endParaRPr>
          </a:p>
          <a:p>
            <a:pPr marL="0" marR="0" lvl="0" indent="-342900" algn="l" defTabSz="425450" rtl="0" eaLnBrk="0" fontAlgn="base" latinLnBrk="0" hangingPunct="0">
              <a:lnSpc>
                <a:spcPct val="120000"/>
              </a:lnSpc>
              <a:spcBef>
                <a:spcPct val="20000"/>
              </a:spcBef>
              <a:spcAft>
                <a:spcPct val="0"/>
              </a:spcAft>
              <a:buClr>
                <a:schemeClr val="folHlink"/>
              </a:buClr>
              <a:buSzTx/>
              <a:buFont typeface="Wingdings" panose="05000000000000000000" pitchFamily="2" charset="2"/>
              <a:buNone/>
              <a:defRPr/>
            </a:pPr>
            <a:r>
              <a:rPr kumimoji="1" lang="zh-CN" altLang="en-US" sz="2400" b="1" i="0" u="none" strike="noStrike" kern="0" cap="none" spc="0" normalizeH="0" baseline="0" noProof="0" dirty="0" smtClean="0">
                <a:ln>
                  <a:noFill/>
                </a:ln>
                <a:solidFill>
                  <a:schemeClr val="tx1"/>
                </a:solidFill>
                <a:effectLst/>
                <a:uLnTx/>
                <a:uFillTx/>
                <a:latin typeface="+mn-lt"/>
                <a:ea typeface="+mn-ea"/>
                <a:cs typeface="+mn-cs"/>
                <a:sym typeface="Wingdings" panose="05000000000000000000" pitchFamily="2" charset="2"/>
              </a:rPr>
              <a:t>  </a:t>
            </a:r>
            <a:endParaRPr kumimoji="0" lang="zh-CN" altLang="en-US" sz="28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0" marR="0" lvl="0" indent="-342900" algn="just" defTabSz="42545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zh-CN" sz="2800" b="1" i="0" u="none" strike="noStrike" kern="0" cap="none" spc="0" normalizeH="0" baseline="0" noProof="0" dirty="0" smtClean="0">
              <a:ln>
                <a:noFill/>
              </a:ln>
              <a:solidFill>
                <a:srgbClr val="FFC000"/>
              </a:solidFill>
              <a:effectLst/>
              <a:uLnTx/>
              <a:uFillTx/>
              <a:latin typeface="宋体" pitchFamily="2" charset="-122"/>
              <a:ea typeface="+mn-ea"/>
              <a:cs typeface="+mn-cs"/>
            </a:endParaRPr>
          </a:p>
        </p:txBody>
      </p:sp>
      <p:sp>
        <p:nvSpPr>
          <p:cNvPr id="113667" name="Rectangle 7"/>
          <p:cNvSpPr/>
          <p:nvPr/>
        </p:nvSpPr>
        <p:spPr>
          <a:xfrm>
            <a:off x="792163" y="2017713"/>
            <a:ext cx="8185150" cy="460375"/>
          </a:xfrm>
          <a:prstGeom prst="rect">
            <a:avLst/>
          </a:prstGeom>
          <a:noFill/>
          <a:ln w="9525">
            <a:noFill/>
          </a:ln>
        </p:spPr>
        <p:txBody>
          <a:bodyPr wrap="square" anchor="ctr" anchorCtr="0">
            <a:spAutoFit/>
          </a:bodyPr>
          <a:p>
            <a:pPr eaLnBrk="0" hangingPunct="0">
              <a:buClrTx/>
              <a:buFontTx/>
            </a:pPr>
            <a:r>
              <a:rPr lang="zh-CN" altLang="en-US" dirty="0">
                <a:solidFill>
                  <a:srgbClr val="0A10F8"/>
                </a:solidFill>
                <a:latin typeface="Times New Roman" panose="02020503050405090304" pitchFamily="18" charset="0"/>
                <a:ea typeface="仿宋_GB2312" pitchFamily="49" charset="-122"/>
              </a:rPr>
              <a:t>两压缩的</a:t>
            </a:r>
            <a:r>
              <a:rPr lang="en-US" altLang="zh-CN" dirty="0">
                <a:solidFill>
                  <a:srgbClr val="0A10F8"/>
                </a:solidFill>
                <a:latin typeface="Times New Roman" panose="02020503050405090304" pitchFamily="18" charset="0"/>
                <a:ea typeface="仿宋_GB2312" pitchFamily="49" charset="-122"/>
              </a:rPr>
              <a:t>BCD</a:t>
            </a:r>
            <a:r>
              <a:rPr lang="zh-CN" altLang="en-US" dirty="0">
                <a:solidFill>
                  <a:srgbClr val="0A10F8"/>
                </a:solidFill>
                <a:latin typeface="Times New Roman" panose="02020503050405090304" pitchFamily="18" charset="0"/>
                <a:ea typeface="仿宋_GB2312" pitchFamily="49" charset="-122"/>
              </a:rPr>
              <a:t>码按二进制相加后，必须经调整得正确的和。</a:t>
            </a:r>
            <a:r>
              <a:rPr lang="zh-CN" altLang="en-US" dirty="0">
                <a:latin typeface="Times New Roman" panose="02020503050405090304" pitchFamily="18" charset="0"/>
                <a:ea typeface="仿宋_GB2312" pitchFamily="49" charset="-122"/>
              </a:rPr>
              <a:t> </a:t>
            </a:r>
            <a:endParaRPr lang="zh-CN" altLang="en-US" dirty="0">
              <a:latin typeface="Times New Roman" panose="02020503050405090304" pitchFamily="18" charset="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683">
                                            <p:txEl>
                                              <p:charRg st="47" end="143"/>
                                            </p:txEl>
                                          </p:spTgt>
                                        </p:tgtEl>
                                        <p:attrNameLst>
                                          <p:attrName>style.visibility</p:attrName>
                                        </p:attrNameLst>
                                      </p:cBhvr>
                                      <p:to>
                                        <p:strVal val="visible"/>
                                      </p:to>
                                    </p:set>
                                    <p:anim calcmode="lin" valueType="num">
                                      <p:cBhvr additive="base">
                                        <p:cTn id="7" dur="500" fill="hold"/>
                                        <p:tgtEl>
                                          <p:spTgt spid="71683">
                                            <p:txEl>
                                              <p:charRg st="47" end="14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683">
                                            <p:txEl>
                                              <p:charRg st="47" end="14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1683">
                                            <p:txEl>
                                              <p:charRg st="143" end="225"/>
                                            </p:txEl>
                                          </p:spTgt>
                                        </p:tgtEl>
                                        <p:attrNameLst>
                                          <p:attrName>style.visibility</p:attrName>
                                        </p:attrNameLst>
                                      </p:cBhvr>
                                      <p:to>
                                        <p:strVal val="visible"/>
                                      </p:to>
                                    </p:set>
                                    <p:anim calcmode="lin" valueType="num">
                                      <p:cBhvr additive="base">
                                        <p:cTn id="13" dur="500" fill="hold"/>
                                        <p:tgtEl>
                                          <p:spTgt spid="71683">
                                            <p:txEl>
                                              <p:charRg st="143" end="22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683">
                                            <p:txEl>
                                              <p:charRg st="143" end="22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1683">
                                            <p:txEl>
                                              <p:charRg st="225" end="310"/>
                                            </p:txEl>
                                          </p:spTgt>
                                        </p:tgtEl>
                                        <p:attrNameLst>
                                          <p:attrName>style.visibility</p:attrName>
                                        </p:attrNameLst>
                                      </p:cBhvr>
                                      <p:to>
                                        <p:strVal val="visible"/>
                                      </p:to>
                                    </p:set>
                                    <p:anim calcmode="lin" valueType="num">
                                      <p:cBhvr additive="base">
                                        <p:cTn id="19" dur="500" fill="hold"/>
                                        <p:tgtEl>
                                          <p:spTgt spid="71683">
                                            <p:txEl>
                                              <p:charRg st="225" end="3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683">
                                            <p:txEl>
                                              <p:charRg st="225" end="31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1683">
                                            <p:txEl>
                                              <p:charRg st="310" end="338"/>
                                            </p:txEl>
                                          </p:spTgt>
                                        </p:tgtEl>
                                        <p:attrNameLst>
                                          <p:attrName>style.visibility</p:attrName>
                                        </p:attrNameLst>
                                      </p:cBhvr>
                                      <p:to>
                                        <p:strVal val="visible"/>
                                      </p:to>
                                    </p:set>
                                    <p:anim calcmode="lin" valueType="num">
                                      <p:cBhvr additive="base">
                                        <p:cTn id="25" dur="500" fill="hold"/>
                                        <p:tgtEl>
                                          <p:spTgt spid="71683">
                                            <p:txEl>
                                              <p:charRg st="310" end="33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1683">
                                            <p:txEl>
                                              <p:charRg st="310" end="33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74755" name="Rectangle 3"/>
          <p:cNvSpPr>
            <a:spLocks noGrp="1"/>
          </p:cNvSpPr>
          <p:nvPr>
            <p:ph type="body" idx="4294967295"/>
          </p:nvPr>
        </p:nvSpPr>
        <p:spPr>
          <a:xfrm>
            <a:off x="250825" y="1052513"/>
            <a:ext cx="8643938" cy="5572125"/>
          </a:xfrm>
        </p:spPr>
        <p:txBody>
          <a:bodyPr vert="horz" wrap="square" lIns="91440" tIns="45720" rIns="91440" bIns="45720" anchor="t" anchorCtr="0"/>
          <a:p>
            <a:pPr>
              <a:lnSpc>
                <a:spcPct val="100000"/>
              </a:lnSpc>
              <a:spcBef>
                <a:spcPct val="0"/>
              </a:spcBef>
              <a:buNone/>
            </a:pPr>
            <a:r>
              <a:rPr lang="zh-CN" altLang="en-US" dirty="0">
                <a:solidFill>
                  <a:schemeClr val="tx2"/>
                </a:solidFill>
              </a:rPr>
              <a:t>  例3-39：</a:t>
            </a:r>
            <a:r>
              <a:rPr lang="zh-CN" altLang="en-US" dirty="0"/>
              <a:t>编制85＋59的</a:t>
            </a:r>
            <a:r>
              <a:rPr lang="en-US" altLang="zh-CN" dirty="0"/>
              <a:t>BCD</a:t>
            </a:r>
            <a:r>
              <a:rPr lang="zh-CN" altLang="en-US" dirty="0"/>
              <a:t>加法程序，并对其工作过程进行分析。</a:t>
            </a:r>
            <a:endParaRPr lang="zh-CN" altLang="en-US" dirty="0"/>
          </a:p>
          <a:p>
            <a:pPr>
              <a:lnSpc>
                <a:spcPct val="100000"/>
              </a:lnSpc>
              <a:spcBef>
                <a:spcPct val="0"/>
              </a:spcBef>
              <a:buNone/>
            </a:pPr>
            <a:endParaRPr lang="zh-CN" altLang="en-US" dirty="0"/>
          </a:p>
          <a:p>
            <a:pPr algn="just">
              <a:lnSpc>
                <a:spcPct val="100000"/>
              </a:lnSpc>
              <a:spcBef>
                <a:spcPct val="0"/>
              </a:spcBef>
              <a:buNone/>
            </a:pPr>
            <a:r>
              <a:rPr lang="zh-CN" altLang="en-US" dirty="0">
                <a:solidFill>
                  <a:schemeClr val="tx2"/>
                </a:solidFill>
                <a:latin typeface="宋体" pitchFamily="2" charset="-122"/>
              </a:rPr>
              <a:t>  解：</a:t>
            </a:r>
            <a:r>
              <a:rPr lang="zh-CN" altLang="en-US" dirty="0">
                <a:latin typeface="宋体" pitchFamily="2" charset="-122"/>
              </a:rPr>
              <a:t>相应</a:t>
            </a:r>
            <a:r>
              <a:rPr lang="en-US" altLang="zh-CN" dirty="0"/>
              <a:t>BCD</a:t>
            </a:r>
            <a:r>
              <a:rPr lang="zh-CN" altLang="en-US" dirty="0">
                <a:latin typeface="宋体" pitchFamily="2" charset="-122"/>
              </a:rPr>
              <a:t>加法程序为：</a:t>
            </a:r>
            <a:endParaRPr lang="zh-CN" altLang="en-US" dirty="0"/>
          </a:p>
          <a:p>
            <a:pPr algn="just">
              <a:lnSpc>
                <a:spcPct val="100000"/>
              </a:lnSpc>
              <a:spcBef>
                <a:spcPct val="0"/>
              </a:spcBef>
              <a:buNone/>
            </a:pPr>
            <a:r>
              <a:rPr lang="en-US" altLang="zh-CN" dirty="0"/>
              <a:t>              MOV A</a:t>
            </a:r>
            <a:r>
              <a:rPr lang="en-US" altLang="zh-CN" dirty="0">
                <a:latin typeface="宋体" pitchFamily="2" charset="-122"/>
              </a:rPr>
              <a:t>，</a:t>
            </a:r>
            <a:r>
              <a:rPr lang="en-US" altLang="zh-CN" dirty="0"/>
              <a:t>#85H	</a:t>
            </a:r>
            <a:r>
              <a:rPr lang="en-US" altLang="zh-CN" dirty="0">
                <a:latin typeface="宋体" pitchFamily="2" charset="-122"/>
              </a:rPr>
              <a:t>；</a:t>
            </a:r>
            <a:r>
              <a:rPr lang="en-US" altLang="zh-CN" dirty="0"/>
              <a:t>A←85</a:t>
            </a:r>
            <a:endParaRPr lang="en-US" altLang="zh-CN" dirty="0"/>
          </a:p>
          <a:p>
            <a:pPr algn="just">
              <a:lnSpc>
                <a:spcPct val="100000"/>
              </a:lnSpc>
              <a:spcBef>
                <a:spcPct val="0"/>
              </a:spcBef>
              <a:buNone/>
            </a:pPr>
            <a:r>
              <a:rPr lang="en-US" altLang="zh-CN" dirty="0"/>
              <a:t>              ADD A</a:t>
            </a:r>
            <a:r>
              <a:rPr lang="en-US" altLang="zh-CN" dirty="0">
                <a:latin typeface="宋体" pitchFamily="2" charset="-122"/>
              </a:rPr>
              <a:t>，</a:t>
            </a:r>
            <a:r>
              <a:rPr lang="en-US" altLang="zh-CN" dirty="0"/>
              <a:t>#59H	</a:t>
            </a:r>
            <a:r>
              <a:rPr lang="en-US" altLang="zh-CN" dirty="0">
                <a:latin typeface="宋体" pitchFamily="2" charset="-122"/>
              </a:rPr>
              <a:t>；</a:t>
            </a:r>
            <a:r>
              <a:rPr lang="en-US" altLang="zh-CN" dirty="0"/>
              <a:t>A←85+59= 0DEH</a:t>
            </a:r>
            <a:endParaRPr lang="en-US" altLang="zh-CN" dirty="0"/>
          </a:p>
          <a:p>
            <a:pPr algn="just">
              <a:lnSpc>
                <a:spcPct val="100000"/>
              </a:lnSpc>
              <a:spcBef>
                <a:spcPct val="0"/>
              </a:spcBef>
              <a:buNone/>
            </a:pPr>
            <a:r>
              <a:rPr lang="en-US" altLang="zh-CN" dirty="0"/>
              <a:t>              DA    A		         </a:t>
            </a:r>
            <a:r>
              <a:rPr lang="en-US" altLang="zh-CN" dirty="0">
                <a:latin typeface="宋体" pitchFamily="2" charset="-122"/>
              </a:rPr>
              <a:t>；</a:t>
            </a:r>
            <a:r>
              <a:rPr lang="en-US" altLang="zh-CN" dirty="0"/>
              <a:t>A←44</a:t>
            </a:r>
            <a:r>
              <a:rPr lang="en-US" altLang="zh-CN" dirty="0">
                <a:latin typeface="宋体" pitchFamily="2" charset="-122"/>
              </a:rPr>
              <a:t>，</a:t>
            </a:r>
            <a:r>
              <a:rPr lang="en-US" altLang="zh-CN" dirty="0"/>
              <a:t>Cy=1</a:t>
            </a:r>
            <a:endParaRPr lang="en-US" altLang="zh-CN" dirty="0"/>
          </a:p>
          <a:p>
            <a:pPr algn="just">
              <a:buNone/>
            </a:pPr>
            <a:endParaRPr lang="zh-CN" altLang="en-US" dirty="0"/>
          </a:p>
          <a:p>
            <a:pPr algn="just">
              <a:lnSpc>
                <a:spcPct val="100000"/>
              </a:lnSpc>
              <a:spcBef>
                <a:spcPct val="0"/>
              </a:spcBef>
              <a:buNone/>
            </a:pPr>
            <a:endParaRPr lang="zh-CN" altLang="zh-CN" dirty="0">
              <a:solidFill>
                <a:srgbClr val="FFC000"/>
              </a:solidFill>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4755">
                                            <p:txEl>
                                              <p:charRg st="38" end="54"/>
                                            </p:txEl>
                                          </p:spTgt>
                                        </p:tgtEl>
                                        <p:attrNameLst>
                                          <p:attrName>style.visibility</p:attrName>
                                        </p:attrNameLst>
                                      </p:cBhvr>
                                      <p:to>
                                        <p:strVal val="visible"/>
                                      </p:to>
                                    </p:set>
                                    <p:animEffect transition="in" filter="blinds(horizontal)">
                                      <p:cBhvr>
                                        <p:cTn id="7" dur="500"/>
                                        <p:tgtEl>
                                          <p:spTgt spid="74755">
                                            <p:txEl>
                                              <p:charRg st="38" end="5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4755">
                                            <p:txEl>
                                              <p:charRg st="54" end="85"/>
                                            </p:txEl>
                                          </p:spTgt>
                                        </p:tgtEl>
                                        <p:attrNameLst>
                                          <p:attrName>style.visibility</p:attrName>
                                        </p:attrNameLst>
                                      </p:cBhvr>
                                      <p:to>
                                        <p:strVal val="visible"/>
                                      </p:to>
                                    </p:set>
                                    <p:animEffect transition="in" filter="blinds(horizontal)">
                                      <p:cBhvr>
                                        <p:cTn id="12" dur="500"/>
                                        <p:tgtEl>
                                          <p:spTgt spid="74755">
                                            <p:txEl>
                                              <p:charRg st="54" end="8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4755">
                                            <p:txEl>
                                              <p:charRg st="85" end="125"/>
                                            </p:txEl>
                                          </p:spTgt>
                                        </p:tgtEl>
                                        <p:attrNameLst>
                                          <p:attrName>style.visibility</p:attrName>
                                        </p:attrNameLst>
                                      </p:cBhvr>
                                      <p:to>
                                        <p:strVal val="visible"/>
                                      </p:to>
                                    </p:set>
                                    <p:animEffect transition="in" filter="blinds(horizontal)">
                                      <p:cBhvr>
                                        <p:cTn id="17" dur="500"/>
                                        <p:tgtEl>
                                          <p:spTgt spid="74755">
                                            <p:txEl>
                                              <p:charRg st="85" end="12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4755">
                                            <p:txEl>
                                              <p:charRg st="125" end="168"/>
                                            </p:txEl>
                                          </p:spTgt>
                                        </p:tgtEl>
                                        <p:attrNameLst>
                                          <p:attrName>style.visibility</p:attrName>
                                        </p:attrNameLst>
                                      </p:cBhvr>
                                      <p:to>
                                        <p:strVal val="visible"/>
                                      </p:to>
                                    </p:set>
                                    <p:animEffect transition="in" filter="blinds(horizontal)">
                                      <p:cBhvr>
                                        <p:cTn id="22" dur="500"/>
                                        <p:tgtEl>
                                          <p:spTgt spid="74755">
                                            <p:txEl>
                                              <p:charRg st="125" end="16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uiExpand="1"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75779" name="Rectangle 3"/>
          <p:cNvSpPr>
            <a:spLocks noGrp="1"/>
          </p:cNvSpPr>
          <p:nvPr>
            <p:ph type="body" idx="4294967295"/>
          </p:nvPr>
        </p:nvSpPr>
        <p:spPr>
          <a:xfrm>
            <a:off x="500063" y="857250"/>
            <a:ext cx="8643937" cy="5572125"/>
          </a:xfrm>
        </p:spPr>
        <p:txBody>
          <a:bodyPr vert="horz" wrap="square" lIns="91440" tIns="45720" rIns="91440" bIns="45720" anchor="t" anchorCtr="0"/>
          <a:p>
            <a:pPr algn="just">
              <a:lnSpc>
                <a:spcPct val="100000"/>
              </a:lnSpc>
              <a:spcBef>
                <a:spcPct val="0"/>
              </a:spcBef>
              <a:buNone/>
            </a:pPr>
            <a:r>
              <a:rPr lang="zh-CN" altLang="en-US" dirty="0">
                <a:latin typeface="宋体" pitchFamily="2" charset="-122"/>
              </a:rPr>
              <a:t>二进制加法和进制调整过程为：</a:t>
            </a:r>
            <a:endParaRPr lang="zh-CN" altLang="en-US" dirty="0"/>
          </a:p>
          <a:p>
            <a:pPr algn="just">
              <a:lnSpc>
                <a:spcPct val="100000"/>
              </a:lnSpc>
              <a:spcBef>
                <a:spcPct val="0"/>
              </a:spcBef>
              <a:buNone/>
            </a:pPr>
            <a:r>
              <a:rPr lang="zh-CN" altLang="en-US" dirty="0"/>
              <a:t>	      85	   1000 0101          (</a:t>
            </a:r>
            <a:r>
              <a:rPr lang="en-US" altLang="zh-CN" dirty="0"/>
              <a:t>A)</a:t>
            </a:r>
            <a:endParaRPr lang="en-US" altLang="zh-CN" dirty="0"/>
          </a:p>
          <a:p>
            <a:pPr algn="just">
              <a:lnSpc>
                <a:spcPct val="100000"/>
              </a:lnSpc>
              <a:spcBef>
                <a:spcPct val="0"/>
              </a:spcBef>
              <a:buNone/>
            </a:pPr>
            <a:r>
              <a:rPr lang="en-US" altLang="zh-CN" dirty="0"/>
              <a:t>     +) 59	   0101 1001	      data</a:t>
            </a:r>
            <a:endParaRPr lang="en-US" altLang="zh-CN" dirty="0"/>
          </a:p>
          <a:p>
            <a:pPr algn="just">
              <a:lnSpc>
                <a:spcPct val="100000"/>
              </a:lnSpc>
              <a:spcBef>
                <a:spcPct val="0"/>
              </a:spcBef>
              <a:buNone/>
            </a:pPr>
            <a:r>
              <a:rPr lang="en-US" altLang="zh-CN" dirty="0"/>
              <a:t>      144   (0) 1101 1110</a:t>
            </a:r>
            <a:endParaRPr lang="en-US" altLang="zh-CN" dirty="0"/>
          </a:p>
          <a:p>
            <a:pPr algn="just">
              <a:lnSpc>
                <a:spcPct val="100000"/>
              </a:lnSpc>
              <a:spcBef>
                <a:spcPct val="0"/>
              </a:spcBef>
              <a:buNone/>
            </a:pPr>
            <a:r>
              <a:rPr lang="en-US" altLang="zh-CN" dirty="0"/>
              <a:t>             		        0110	；</a:t>
            </a:r>
            <a:r>
              <a:rPr lang="zh-CN" altLang="en-US" sz="2000" dirty="0">
                <a:solidFill>
                  <a:schemeClr val="tx2"/>
                </a:solidFill>
                <a:latin typeface="宋体" pitchFamily="2" charset="-122"/>
              </a:rPr>
              <a:t>低</a:t>
            </a:r>
            <a:r>
              <a:rPr lang="zh-CN" altLang="en-US" sz="2000" dirty="0">
                <a:solidFill>
                  <a:schemeClr val="tx2"/>
                </a:solidFill>
              </a:rPr>
              <a:t>4</a:t>
            </a:r>
            <a:r>
              <a:rPr lang="zh-CN" altLang="en-US" sz="2000" dirty="0">
                <a:solidFill>
                  <a:schemeClr val="tx2"/>
                </a:solidFill>
                <a:latin typeface="宋体" pitchFamily="2" charset="-122"/>
              </a:rPr>
              <a:t>位</a:t>
            </a:r>
            <a:r>
              <a:rPr lang="zh-CN" altLang="en-US" sz="2000" dirty="0">
                <a:solidFill>
                  <a:schemeClr val="tx2"/>
                </a:solidFill>
              </a:rPr>
              <a:t>&gt;9</a:t>
            </a:r>
            <a:r>
              <a:rPr lang="zh-CN" altLang="en-US" sz="2000" dirty="0">
                <a:solidFill>
                  <a:schemeClr val="tx2"/>
                </a:solidFill>
                <a:latin typeface="宋体" pitchFamily="2" charset="-122"/>
              </a:rPr>
              <a:t>，加</a:t>
            </a:r>
            <a:r>
              <a:rPr lang="zh-CN" altLang="en-US" sz="2000" dirty="0">
                <a:solidFill>
                  <a:schemeClr val="tx2"/>
                </a:solidFill>
              </a:rPr>
              <a:t>6</a:t>
            </a:r>
            <a:r>
              <a:rPr lang="zh-CN" altLang="en-US" sz="2000" dirty="0">
                <a:solidFill>
                  <a:schemeClr val="tx2"/>
                </a:solidFill>
                <a:latin typeface="宋体" pitchFamily="2" charset="-122"/>
              </a:rPr>
              <a:t>调整</a:t>
            </a:r>
            <a:endParaRPr lang="zh-CN" altLang="en-US" sz="2000" dirty="0">
              <a:solidFill>
                <a:schemeClr val="tx2"/>
              </a:solidFill>
            </a:endParaRPr>
          </a:p>
          <a:p>
            <a:pPr algn="just">
              <a:lnSpc>
                <a:spcPct val="100000"/>
              </a:lnSpc>
              <a:spcBef>
                <a:spcPct val="0"/>
              </a:spcBef>
              <a:buNone/>
            </a:pPr>
            <a:r>
              <a:rPr lang="zh-CN" altLang="en-US" dirty="0"/>
              <a:t>                     1110 0100</a:t>
            </a:r>
            <a:endParaRPr lang="zh-CN" altLang="en-US" dirty="0"/>
          </a:p>
          <a:p>
            <a:pPr algn="just">
              <a:lnSpc>
                <a:spcPct val="100000"/>
              </a:lnSpc>
              <a:spcBef>
                <a:spcPct val="0"/>
              </a:spcBef>
              <a:buNone/>
            </a:pPr>
            <a:r>
              <a:rPr lang="zh-CN" altLang="en-US" dirty="0"/>
              <a:t>                     </a:t>
            </a:r>
            <a:r>
              <a:rPr lang="en-US" altLang="zh-CN" dirty="0"/>
              <a:t>0110	         </a:t>
            </a:r>
            <a:r>
              <a:rPr lang="zh-CN" altLang="en-US" dirty="0"/>
              <a:t>；</a:t>
            </a:r>
            <a:r>
              <a:rPr lang="zh-CN" altLang="en-US" sz="2000" dirty="0">
                <a:solidFill>
                  <a:schemeClr val="tx2"/>
                </a:solidFill>
                <a:latin typeface="宋体" pitchFamily="2" charset="-122"/>
              </a:rPr>
              <a:t>高</a:t>
            </a:r>
            <a:r>
              <a:rPr lang="zh-CN" altLang="en-US" sz="2000" dirty="0">
                <a:solidFill>
                  <a:schemeClr val="tx2"/>
                </a:solidFill>
              </a:rPr>
              <a:t>4</a:t>
            </a:r>
            <a:r>
              <a:rPr lang="zh-CN" altLang="en-US" sz="2000" dirty="0">
                <a:solidFill>
                  <a:schemeClr val="tx2"/>
                </a:solidFill>
                <a:latin typeface="宋体" pitchFamily="2" charset="-122"/>
              </a:rPr>
              <a:t>位</a:t>
            </a:r>
            <a:r>
              <a:rPr lang="zh-CN" altLang="en-US" sz="2000" dirty="0">
                <a:solidFill>
                  <a:schemeClr val="tx2"/>
                </a:solidFill>
              </a:rPr>
              <a:t>&gt;9</a:t>
            </a:r>
            <a:r>
              <a:rPr lang="zh-CN" altLang="en-US" sz="2000" dirty="0">
                <a:solidFill>
                  <a:schemeClr val="tx2"/>
                </a:solidFill>
                <a:latin typeface="宋体" pitchFamily="2" charset="-122"/>
              </a:rPr>
              <a:t>，加</a:t>
            </a:r>
            <a:r>
              <a:rPr lang="zh-CN" altLang="en-US" sz="2000" dirty="0">
                <a:solidFill>
                  <a:schemeClr val="tx2"/>
                </a:solidFill>
              </a:rPr>
              <a:t>60</a:t>
            </a:r>
            <a:r>
              <a:rPr lang="en-US" altLang="zh-CN" sz="2000" dirty="0">
                <a:solidFill>
                  <a:schemeClr val="tx2"/>
                </a:solidFill>
              </a:rPr>
              <a:t>H</a:t>
            </a:r>
            <a:r>
              <a:rPr lang="zh-CN" altLang="en-US" sz="2000" dirty="0">
                <a:solidFill>
                  <a:schemeClr val="tx2"/>
                </a:solidFill>
                <a:latin typeface="宋体" pitchFamily="2" charset="-122"/>
              </a:rPr>
              <a:t>调整</a:t>
            </a:r>
            <a:endParaRPr lang="zh-CN" altLang="en-US" sz="2000" dirty="0">
              <a:solidFill>
                <a:schemeClr val="tx2"/>
              </a:solidFill>
            </a:endParaRPr>
          </a:p>
          <a:p>
            <a:pPr algn="just">
              <a:lnSpc>
                <a:spcPct val="100000"/>
              </a:lnSpc>
              <a:spcBef>
                <a:spcPct val="0"/>
              </a:spcBef>
              <a:buNone/>
            </a:pPr>
            <a:r>
              <a:rPr lang="zh-CN" altLang="en-US" dirty="0"/>
              <a:t>               (1) 0100 0100</a:t>
            </a:r>
            <a:endParaRPr lang="zh-CN" altLang="en-US" dirty="0"/>
          </a:p>
          <a:p>
            <a:pPr>
              <a:lnSpc>
                <a:spcPct val="100000"/>
              </a:lnSpc>
              <a:spcBef>
                <a:spcPct val="0"/>
              </a:spcBef>
              <a:buNone/>
            </a:pPr>
            <a:r>
              <a:rPr lang="zh-CN" altLang="en-US" dirty="0">
                <a:latin typeface="宋体" pitchFamily="2" charset="-122"/>
              </a:rPr>
              <a:t>运算结果为（</a:t>
            </a:r>
            <a:r>
              <a:rPr lang="en-US" altLang="zh-CN" dirty="0"/>
              <a:t>A</a:t>
            </a:r>
            <a:r>
              <a:rPr lang="en-US" altLang="zh-CN" dirty="0">
                <a:latin typeface="宋体" pitchFamily="2" charset="-122"/>
              </a:rPr>
              <a:t>）</a:t>
            </a:r>
            <a:r>
              <a:rPr lang="en-US" altLang="zh-CN" dirty="0"/>
              <a:t>=44H</a:t>
            </a:r>
            <a:r>
              <a:rPr lang="en-US" altLang="zh-CN" dirty="0">
                <a:latin typeface="宋体" pitchFamily="2" charset="-122"/>
              </a:rPr>
              <a:t>，</a:t>
            </a:r>
            <a:r>
              <a:rPr lang="en-US" altLang="zh-CN" dirty="0"/>
              <a:t>Cy=1  </a:t>
            </a:r>
            <a:r>
              <a:rPr lang="zh-CN" altLang="en-US" dirty="0">
                <a:latin typeface="宋体" pitchFamily="2" charset="-122"/>
              </a:rPr>
              <a:t>即十进制的</a:t>
            </a:r>
            <a:r>
              <a:rPr lang="zh-CN" altLang="en-US" dirty="0"/>
              <a:t>144</a:t>
            </a:r>
            <a:r>
              <a:rPr lang="zh-CN" altLang="en-US" dirty="0">
                <a:latin typeface="宋体" pitchFamily="2" charset="-122"/>
              </a:rPr>
              <a:t>。</a:t>
            </a:r>
            <a:r>
              <a:rPr lang="zh-CN" altLang="en-US" dirty="0"/>
              <a:t> </a:t>
            </a:r>
            <a:endParaRPr lang="zh-CN" altLang="en-US" dirty="0"/>
          </a:p>
          <a:p>
            <a:pPr algn="just">
              <a:lnSpc>
                <a:spcPct val="100000"/>
              </a:lnSpc>
              <a:spcBef>
                <a:spcPct val="0"/>
              </a:spcBef>
              <a:buNone/>
            </a:pPr>
            <a:endParaRPr lang="zh-CN" altLang="zh-CN" dirty="0">
              <a:solidFill>
                <a:srgbClr val="FFC000"/>
              </a:solidFill>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5779">
                                            <p:txEl>
                                              <p:charRg st="112" end="152"/>
                                            </p:txEl>
                                          </p:spTgt>
                                        </p:tgtEl>
                                        <p:attrNameLst>
                                          <p:attrName>style.visibility</p:attrName>
                                        </p:attrNameLst>
                                      </p:cBhvr>
                                      <p:to>
                                        <p:strVal val="visible"/>
                                      </p:to>
                                    </p:set>
                                    <p:animEffect transition="in" filter="blinds(horizontal)">
                                      <p:cBhvr>
                                        <p:cTn id="7" dur="500"/>
                                        <p:tgtEl>
                                          <p:spTgt spid="75779">
                                            <p:txEl>
                                              <p:charRg st="112" end="15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5779">
                                            <p:txEl>
                                              <p:charRg st="152" end="183"/>
                                            </p:txEl>
                                          </p:spTgt>
                                        </p:tgtEl>
                                        <p:attrNameLst>
                                          <p:attrName>style.visibility</p:attrName>
                                        </p:attrNameLst>
                                      </p:cBhvr>
                                      <p:to>
                                        <p:strVal val="visible"/>
                                      </p:to>
                                    </p:set>
                                    <p:animEffect transition="in" filter="blinds(horizontal)">
                                      <p:cBhvr>
                                        <p:cTn id="12" dur="500"/>
                                        <p:tgtEl>
                                          <p:spTgt spid="75779">
                                            <p:txEl>
                                              <p:charRg st="152" end="18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5779">
                                            <p:txEl>
                                              <p:charRg st="183" end="232"/>
                                            </p:txEl>
                                          </p:spTgt>
                                        </p:tgtEl>
                                        <p:attrNameLst>
                                          <p:attrName>style.visibility</p:attrName>
                                        </p:attrNameLst>
                                      </p:cBhvr>
                                      <p:to>
                                        <p:strVal val="visible"/>
                                      </p:to>
                                    </p:set>
                                    <p:animEffect transition="in" filter="blinds(horizontal)">
                                      <p:cBhvr>
                                        <p:cTn id="17" dur="500"/>
                                        <p:tgtEl>
                                          <p:spTgt spid="75779">
                                            <p:txEl>
                                              <p:charRg st="183" end="23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5779">
                                            <p:txEl>
                                              <p:charRg st="232" end="261"/>
                                            </p:txEl>
                                          </p:spTgt>
                                        </p:tgtEl>
                                        <p:attrNameLst>
                                          <p:attrName>style.visibility</p:attrName>
                                        </p:attrNameLst>
                                      </p:cBhvr>
                                      <p:to>
                                        <p:strVal val="visible"/>
                                      </p:to>
                                    </p:set>
                                    <p:animEffect transition="in" filter="blinds(horizontal)">
                                      <p:cBhvr>
                                        <p:cTn id="22" dur="500"/>
                                        <p:tgtEl>
                                          <p:spTgt spid="75779">
                                            <p:txEl>
                                              <p:charRg st="232" end="26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5779">
                                            <p:txEl>
                                              <p:charRg st="261" end="291"/>
                                            </p:txEl>
                                          </p:spTgt>
                                        </p:tgtEl>
                                        <p:attrNameLst>
                                          <p:attrName>style.visibility</p:attrName>
                                        </p:attrNameLst>
                                      </p:cBhvr>
                                      <p:to>
                                        <p:strVal val="visible"/>
                                      </p:to>
                                    </p:set>
                                    <p:animEffect transition="in" filter="blinds(horizontal)">
                                      <p:cBhvr>
                                        <p:cTn id="27" dur="500"/>
                                        <p:tgtEl>
                                          <p:spTgt spid="75779">
                                            <p:txEl>
                                              <p:charRg st="261" end="29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uiExpand="1"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7" name="Rectangle 3"/>
          <p:cNvSpPr/>
          <p:nvPr/>
        </p:nvSpPr>
        <p:spPr>
          <a:xfrm>
            <a:off x="493713" y="1258888"/>
            <a:ext cx="8380412" cy="2870200"/>
          </a:xfrm>
          <a:prstGeom prst="rect">
            <a:avLst/>
          </a:prstGeom>
          <a:noFill/>
          <a:ln w="9525">
            <a:noFill/>
          </a:ln>
        </p:spPr>
        <p:txBody>
          <a:bodyPr anchor="t" anchorCtr="0"/>
          <a:p>
            <a:pPr marL="342900" indent="-342900">
              <a:spcBef>
                <a:spcPct val="20000"/>
              </a:spcBef>
              <a:buSzPct val="60000"/>
            </a:pPr>
            <a:r>
              <a:rPr lang="zh-CN" altLang="en-US" sz="2800" dirty="0">
                <a:latin typeface="Times New Roman" panose="02020503050405090304" pitchFamily="18" charset="0"/>
                <a:ea typeface="宋体" pitchFamily="2" charset="-122"/>
              </a:rPr>
              <a:t>6</a:t>
            </a:r>
            <a:r>
              <a:rPr lang="en-US" altLang="zh-CN" sz="2800" dirty="0">
                <a:latin typeface="Times New Roman" panose="02020503050405090304" pitchFamily="18" charset="0"/>
                <a:ea typeface="宋体" pitchFamily="2" charset="-122"/>
              </a:rPr>
              <a:t>.</a:t>
            </a:r>
            <a:r>
              <a:rPr lang="zh-CN" altLang="en-US" sz="2800" dirty="0">
                <a:latin typeface="Times New Roman" panose="02020503050405090304" pitchFamily="18" charset="0"/>
                <a:ea typeface="宋体" pitchFamily="2" charset="-122"/>
              </a:rPr>
              <a:t>乘法指令      </a:t>
            </a:r>
            <a:r>
              <a:rPr lang="zh-CN" altLang="en-US" b="0" dirty="0">
                <a:solidFill>
                  <a:schemeClr val="folHlink"/>
                </a:solidFill>
                <a:latin typeface="Times New Roman" panose="02020503050405090304" pitchFamily="18" charset="0"/>
                <a:ea typeface="宋体" pitchFamily="2" charset="-122"/>
              </a:rPr>
              <a:t>       </a:t>
            </a:r>
            <a:endParaRPr lang="zh-CN" altLang="en-US" b="0" dirty="0">
              <a:solidFill>
                <a:schemeClr val="folHlink"/>
              </a:solidFill>
              <a:latin typeface="Times New Roman" panose="02020503050405090304" pitchFamily="18" charset="0"/>
              <a:ea typeface="宋体" pitchFamily="2" charset="-122"/>
            </a:endParaRPr>
          </a:p>
          <a:p>
            <a:pPr marL="342900" indent="-342900">
              <a:spcBef>
                <a:spcPct val="20000"/>
              </a:spcBef>
              <a:buSzPct val="60000"/>
            </a:pPr>
            <a:r>
              <a:rPr lang="en-US" altLang="zh-CN" sz="2800" dirty="0">
                <a:solidFill>
                  <a:schemeClr val="folHlink"/>
                </a:solidFill>
                <a:latin typeface="黑体" panose="02010609060101010101" pitchFamily="49" charset="-122"/>
                <a:ea typeface="黑体" panose="02010609060101010101" pitchFamily="49" charset="-122"/>
              </a:rPr>
              <a:t>     MUL  AB</a:t>
            </a:r>
            <a:r>
              <a:rPr lang="en-US" altLang="zh-CN" b="0" dirty="0">
                <a:solidFill>
                  <a:schemeClr val="folHlink"/>
                </a:solidFill>
                <a:latin typeface="Times New Roman" panose="02020503050405090304" pitchFamily="18" charset="0"/>
                <a:ea typeface="宋体" pitchFamily="2" charset="-122"/>
              </a:rPr>
              <a:t>      ;</a:t>
            </a:r>
            <a:r>
              <a:rPr lang="en-US" altLang="zh-CN" sz="2600" b="0" dirty="0">
                <a:solidFill>
                  <a:schemeClr val="folHlink"/>
                </a:solidFill>
                <a:latin typeface="宋体" pitchFamily="2" charset="-122"/>
                <a:ea typeface="宋体" pitchFamily="2" charset="-122"/>
              </a:rPr>
              <a:t>BA←A×B，Cy←0，</a:t>
            </a:r>
            <a:endParaRPr lang="en-US" altLang="zh-CN" b="0" dirty="0">
              <a:solidFill>
                <a:schemeClr val="folHlink"/>
              </a:solidFill>
              <a:latin typeface="Times New Roman" panose="02020503050405090304" pitchFamily="18" charset="0"/>
              <a:ea typeface="宋体" pitchFamily="2" charset="-122"/>
            </a:endParaRPr>
          </a:p>
          <a:p>
            <a:pPr marL="342900" indent="-342900">
              <a:spcBef>
                <a:spcPct val="20000"/>
              </a:spcBef>
              <a:buSzPct val="60000"/>
            </a:pPr>
            <a:r>
              <a:rPr lang="zh-CN" altLang="en-US" b="0" dirty="0">
                <a:solidFill>
                  <a:schemeClr val="folHlink"/>
                </a:solidFill>
                <a:latin typeface="Times New Roman" panose="02020503050405090304" pitchFamily="18" charset="0"/>
                <a:ea typeface="宋体" pitchFamily="2" charset="-122"/>
              </a:rPr>
              <a:t>（</a:t>
            </a:r>
            <a:r>
              <a:rPr lang="en-US" altLang="zh-CN" b="0" dirty="0">
                <a:solidFill>
                  <a:schemeClr val="folHlink"/>
                </a:solidFill>
                <a:latin typeface="Times New Roman" panose="02020503050405090304" pitchFamily="18" charset="0"/>
                <a:ea typeface="宋体" pitchFamily="2" charset="-122"/>
              </a:rPr>
              <a:t>A</a:t>
            </a:r>
            <a:r>
              <a:rPr lang="zh-CN" altLang="en-US" b="0" dirty="0">
                <a:solidFill>
                  <a:schemeClr val="folHlink"/>
                </a:solidFill>
                <a:latin typeface="Times New Roman" panose="02020503050405090304" pitchFamily="18" charset="0"/>
                <a:ea typeface="宋体" pitchFamily="2" charset="-122"/>
              </a:rPr>
              <a:t>）</a:t>
            </a:r>
            <a:r>
              <a:rPr lang="en-US" altLang="zh-CN" b="0" dirty="0">
                <a:solidFill>
                  <a:schemeClr val="folHlink"/>
                </a:solidFill>
                <a:latin typeface="Times New Roman" panose="02020503050405090304" pitchFamily="18" charset="0"/>
                <a:ea typeface="宋体" pitchFamily="2" charset="-122"/>
              </a:rPr>
              <a:t>×</a:t>
            </a:r>
            <a:r>
              <a:rPr lang="zh-CN" altLang="en-US" b="0" dirty="0">
                <a:solidFill>
                  <a:schemeClr val="folHlink"/>
                </a:solidFill>
                <a:latin typeface="Times New Roman" panose="02020503050405090304" pitchFamily="18" charset="0"/>
                <a:ea typeface="宋体" pitchFamily="2" charset="-122"/>
              </a:rPr>
              <a:t>（</a:t>
            </a:r>
            <a:r>
              <a:rPr lang="en-US" altLang="zh-CN" b="0" dirty="0">
                <a:solidFill>
                  <a:schemeClr val="folHlink"/>
                </a:solidFill>
                <a:latin typeface="Times New Roman" panose="02020503050405090304" pitchFamily="18" charset="0"/>
                <a:ea typeface="宋体" pitchFamily="2" charset="-122"/>
              </a:rPr>
              <a:t>B</a:t>
            </a:r>
            <a:r>
              <a:rPr lang="zh-CN" altLang="en-US" b="0" dirty="0">
                <a:solidFill>
                  <a:schemeClr val="folHlink"/>
                </a:solidFill>
                <a:latin typeface="Times New Roman" panose="02020503050405090304" pitchFamily="18" charset="0"/>
                <a:ea typeface="宋体" pitchFamily="2" charset="-122"/>
              </a:rPr>
              <a:t>）的乘积</a:t>
            </a:r>
            <a:r>
              <a:rPr lang="zh-CN" altLang="en-US" b="0" dirty="0">
                <a:solidFill>
                  <a:schemeClr val="hlink"/>
                </a:solidFill>
                <a:latin typeface="Times New Roman" panose="02020503050405090304" pitchFamily="18" charset="0"/>
                <a:ea typeface="宋体" pitchFamily="2" charset="-122"/>
              </a:rPr>
              <a:t>高八位</a:t>
            </a:r>
            <a:r>
              <a:rPr lang="zh-CN" altLang="en-US" b="0" dirty="0">
                <a:solidFill>
                  <a:schemeClr val="folHlink"/>
                </a:solidFill>
                <a:latin typeface="Times New Roman" panose="02020503050405090304" pitchFamily="18" charset="0"/>
                <a:ea typeface="宋体" pitchFamily="2" charset="-122"/>
              </a:rPr>
              <a:t>存储在（</a:t>
            </a:r>
            <a:r>
              <a:rPr lang="en-US" altLang="zh-CN" b="0" dirty="0">
                <a:solidFill>
                  <a:schemeClr val="folHlink"/>
                </a:solidFill>
                <a:latin typeface="Times New Roman" panose="02020503050405090304" pitchFamily="18" charset="0"/>
                <a:ea typeface="宋体" pitchFamily="2" charset="-122"/>
              </a:rPr>
              <a:t>B</a:t>
            </a:r>
            <a:r>
              <a:rPr lang="zh-CN" altLang="en-US" b="0" dirty="0">
                <a:solidFill>
                  <a:schemeClr val="folHlink"/>
                </a:solidFill>
                <a:latin typeface="Times New Roman" panose="02020503050405090304" pitchFamily="18" charset="0"/>
                <a:ea typeface="宋体" pitchFamily="2" charset="-122"/>
              </a:rPr>
              <a:t>），</a:t>
            </a:r>
            <a:r>
              <a:rPr lang="zh-CN" altLang="en-US" b="0" dirty="0">
                <a:solidFill>
                  <a:schemeClr val="hlink"/>
                </a:solidFill>
                <a:latin typeface="Times New Roman" panose="02020503050405090304" pitchFamily="18" charset="0"/>
                <a:ea typeface="宋体" pitchFamily="2" charset="-122"/>
              </a:rPr>
              <a:t>低八位</a:t>
            </a:r>
            <a:r>
              <a:rPr lang="zh-CN" altLang="en-US" b="0" dirty="0">
                <a:solidFill>
                  <a:schemeClr val="folHlink"/>
                </a:solidFill>
                <a:latin typeface="Times New Roman" panose="02020503050405090304" pitchFamily="18" charset="0"/>
                <a:ea typeface="宋体" pitchFamily="2" charset="-122"/>
              </a:rPr>
              <a:t>存储在（</a:t>
            </a:r>
            <a:r>
              <a:rPr lang="en-US" altLang="zh-CN" b="0" dirty="0">
                <a:solidFill>
                  <a:schemeClr val="folHlink"/>
                </a:solidFill>
                <a:latin typeface="Times New Roman" panose="02020503050405090304" pitchFamily="18" charset="0"/>
                <a:ea typeface="宋体" pitchFamily="2" charset="-122"/>
              </a:rPr>
              <a:t>A</a:t>
            </a:r>
            <a:r>
              <a:rPr lang="zh-CN" altLang="en-US" b="0" dirty="0">
                <a:solidFill>
                  <a:schemeClr val="folHlink"/>
                </a:solidFill>
                <a:latin typeface="Times New Roman" panose="02020503050405090304" pitchFamily="18" charset="0"/>
                <a:ea typeface="宋体" pitchFamily="2" charset="-122"/>
              </a:rPr>
              <a:t>）</a:t>
            </a:r>
            <a:endParaRPr lang="zh-CN" altLang="en-US" b="0" dirty="0">
              <a:solidFill>
                <a:schemeClr val="folHlink"/>
              </a:solidFill>
              <a:latin typeface="Times New Roman" panose="02020503050405090304" pitchFamily="18" charset="0"/>
              <a:ea typeface="宋体" pitchFamily="2" charset="-122"/>
            </a:endParaRPr>
          </a:p>
          <a:p>
            <a:pPr marL="342900" indent="-342900">
              <a:spcBef>
                <a:spcPts val="1200"/>
              </a:spcBef>
              <a:buSzPct val="60000"/>
            </a:pPr>
            <a:r>
              <a:rPr lang="zh-CN" altLang="en-US" sz="2800" dirty="0">
                <a:solidFill>
                  <a:schemeClr val="hlink"/>
                </a:solidFill>
                <a:latin typeface="Times New Roman" panose="02020503050405090304" pitchFamily="18" charset="0"/>
                <a:ea typeface="宋体" pitchFamily="2" charset="-122"/>
              </a:rPr>
              <a:t>说明</a:t>
            </a:r>
            <a:r>
              <a:rPr lang="zh-CN" altLang="en-US" sz="2800" dirty="0">
                <a:solidFill>
                  <a:schemeClr val="hlink"/>
                </a:solidFill>
                <a:latin typeface="Times New Roman" panose="02020503050405090304" pitchFamily="18" charset="0"/>
                <a:ea typeface="宋体" pitchFamily="2" charset="-122"/>
                <a:sym typeface="Wingdings" panose="05000000000000000000" pitchFamily="2" charset="2"/>
              </a:rPr>
              <a:t>：</a:t>
            </a:r>
            <a:r>
              <a:rPr lang="zh-CN" altLang="en-US" b="0" dirty="0">
                <a:solidFill>
                  <a:schemeClr val="folHlink"/>
                </a:solidFill>
                <a:latin typeface="Times New Roman" panose="02020503050405090304" pitchFamily="18" charset="0"/>
                <a:ea typeface="宋体" pitchFamily="2" charset="-122"/>
                <a:sym typeface="Wingdings" panose="05000000000000000000" pitchFamily="2" charset="2"/>
              </a:rPr>
              <a:t>（</a:t>
            </a:r>
            <a:r>
              <a:rPr lang="en-US" altLang="zh-CN" b="0" dirty="0">
                <a:solidFill>
                  <a:schemeClr val="folHlink"/>
                </a:solidFill>
                <a:latin typeface="Times New Roman" panose="02020503050405090304" pitchFamily="18" charset="0"/>
                <a:ea typeface="宋体" pitchFamily="2" charset="-122"/>
                <a:sym typeface="Wingdings" panose="05000000000000000000" pitchFamily="2" charset="2"/>
              </a:rPr>
              <a:t>1</a:t>
            </a:r>
            <a:r>
              <a:rPr lang="zh-CN" altLang="en-US" b="0" dirty="0">
                <a:solidFill>
                  <a:schemeClr val="folHlink"/>
                </a:solidFill>
                <a:latin typeface="Times New Roman" panose="02020503050405090304" pitchFamily="18" charset="0"/>
                <a:ea typeface="宋体" pitchFamily="2" charset="-122"/>
                <a:sym typeface="Wingdings" panose="05000000000000000000" pitchFamily="2" charset="2"/>
              </a:rPr>
              <a:t>）此指令为无符号数乘法；</a:t>
            </a:r>
            <a:endParaRPr lang="zh-CN" altLang="en-US" b="0" dirty="0">
              <a:solidFill>
                <a:schemeClr val="folHlink"/>
              </a:solidFill>
              <a:latin typeface="Times New Roman" panose="02020503050405090304" pitchFamily="18" charset="0"/>
              <a:ea typeface="宋体" pitchFamily="2" charset="-122"/>
              <a:sym typeface="Wingdings" panose="05000000000000000000" pitchFamily="2" charset="2"/>
            </a:endParaRPr>
          </a:p>
          <a:p>
            <a:pPr marL="342900" indent="-342900">
              <a:spcBef>
                <a:spcPct val="20000"/>
              </a:spcBef>
              <a:buSzPct val="60000"/>
            </a:pPr>
            <a:r>
              <a:rPr lang="zh-CN" altLang="en-US" b="0" dirty="0">
                <a:solidFill>
                  <a:schemeClr val="folHlink"/>
                </a:solidFill>
                <a:latin typeface="Times New Roman" panose="02020503050405090304" pitchFamily="18" charset="0"/>
                <a:ea typeface="宋体" pitchFamily="2" charset="-122"/>
                <a:sym typeface="Wingdings" panose="05000000000000000000" pitchFamily="2" charset="2"/>
              </a:rPr>
              <a:t>              （</a:t>
            </a:r>
            <a:r>
              <a:rPr lang="en-US" altLang="zh-CN" b="0" dirty="0">
                <a:solidFill>
                  <a:schemeClr val="folHlink"/>
                </a:solidFill>
                <a:latin typeface="Times New Roman" panose="02020503050405090304" pitchFamily="18" charset="0"/>
                <a:ea typeface="宋体" pitchFamily="2" charset="-122"/>
              </a:rPr>
              <a:t>2</a:t>
            </a:r>
            <a:r>
              <a:rPr lang="zh-CN" altLang="en-US" b="0" dirty="0">
                <a:solidFill>
                  <a:schemeClr val="folHlink"/>
                </a:solidFill>
                <a:latin typeface="Times New Roman" panose="02020503050405090304" pitchFamily="18" charset="0"/>
                <a:ea typeface="宋体" pitchFamily="2" charset="-122"/>
              </a:rPr>
              <a:t>） 执行后，</a:t>
            </a:r>
            <a:r>
              <a:rPr lang="en-US" altLang="zh-CN" b="0" dirty="0">
                <a:solidFill>
                  <a:schemeClr val="folHlink"/>
                </a:solidFill>
                <a:latin typeface="Times New Roman" panose="02020503050405090304" pitchFamily="18" charset="0"/>
                <a:ea typeface="宋体" pitchFamily="2" charset="-122"/>
              </a:rPr>
              <a:t>(Cy)=0</a:t>
            </a:r>
            <a:r>
              <a:rPr lang="zh-CN" altLang="en-US" b="0" dirty="0">
                <a:solidFill>
                  <a:schemeClr val="folHlink"/>
                </a:solidFill>
                <a:latin typeface="Times New Roman" panose="02020503050405090304" pitchFamily="18" charset="0"/>
                <a:ea typeface="宋体" pitchFamily="2" charset="-122"/>
              </a:rPr>
              <a:t>。若乘积大于</a:t>
            </a:r>
            <a:r>
              <a:rPr lang="en-US" altLang="zh-CN" b="0" dirty="0">
                <a:solidFill>
                  <a:schemeClr val="folHlink"/>
                </a:solidFill>
                <a:latin typeface="Times New Roman" panose="02020503050405090304" pitchFamily="18" charset="0"/>
                <a:ea typeface="宋体" pitchFamily="2" charset="-122"/>
              </a:rPr>
              <a:t>0FFH</a:t>
            </a:r>
            <a:r>
              <a:rPr lang="zh-CN" altLang="en-US" b="0" dirty="0">
                <a:solidFill>
                  <a:schemeClr val="folHlink"/>
                </a:solidFill>
                <a:latin typeface="Times New Roman" panose="02020503050405090304" pitchFamily="18" charset="0"/>
                <a:ea typeface="宋体" pitchFamily="2" charset="-122"/>
              </a:rPr>
              <a:t>，则</a:t>
            </a:r>
            <a:r>
              <a:rPr lang="en-US" altLang="zh-CN" b="0" dirty="0">
                <a:solidFill>
                  <a:schemeClr val="folHlink"/>
                </a:solidFill>
                <a:latin typeface="Times New Roman" panose="02020503050405090304" pitchFamily="18" charset="0"/>
                <a:ea typeface="宋体" pitchFamily="2" charset="-122"/>
              </a:rPr>
              <a:t>(OV)=1</a:t>
            </a:r>
            <a:r>
              <a:rPr lang="zh-CN" altLang="en-US" b="0" dirty="0">
                <a:solidFill>
                  <a:schemeClr val="folHlink"/>
                </a:solidFill>
                <a:latin typeface="Times New Roman" panose="02020503050405090304" pitchFamily="18" charset="0"/>
                <a:ea typeface="宋体" pitchFamily="2" charset="-122"/>
              </a:rPr>
              <a:t>。</a:t>
            </a:r>
            <a:endParaRPr lang="zh-CN" altLang="en-US" b="0" dirty="0">
              <a:solidFill>
                <a:schemeClr val="folHlink"/>
              </a:solidFill>
              <a:latin typeface="Times New Roman" panose="02020503050405090304" pitchFamily="18" charset="0"/>
              <a:ea typeface="宋体" pitchFamily="2" charset="-122"/>
            </a:endParaRPr>
          </a:p>
        </p:txBody>
      </p:sp>
      <p:sp>
        <p:nvSpPr>
          <p:cNvPr id="179204" name="Rectangle 4"/>
          <p:cNvSpPr/>
          <p:nvPr/>
        </p:nvSpPr>
        <p:spPr>
          <a:xfrm>
            <a:off x="776288" y="4079875"/>
            <a:ext cx="7964487" cy="1716088"/>
          </a:xfrm>
          <a:prstGeom prst="rect">
            <a:avLst/>
          </a:prstGeom>
          <a:noFill/>
          <a:ln w="9525">
            <a:noFill/>
          </a:ln>
        </p:spPr>
        <p:txBody>
          <a:bodyPr anchor="t" anchorCtr="0">
            <a:spAutoFit/>
          </a:bodyPr>
          <a:p>
            <a:pPr>
              <a:spcBef>
                <a:spcPct val="20000"/>
              </a:spcBef>
              <a:buClr>
                <a:schemeClr val="accent2"/>
              </a:buClr>
              <a:buSzPct val="80000"/>
            </a:pPr>
            <a:r>
              <a:rPr lang="zh-CN" altLang="en-US" b="0" dirty="0">
                <a:latin typeface="Times New Roman" panose="02020503050405090304" pitchFamily="18" charset="0"/>
                <a:ea typeface="黑体" panose="02010609060101010101" pitchFamily="49" charset="-122"/>
              </a:rPr>
              <a:t>例： </a:t>
            </a:r>
            <a:r>
              <a:rPr lang="zh-CN" altLang="zh-CN" b="0" dirty="0">
                <a:latin typeface="Times New Roman" panose="02020503050405090304" pitchFamily="18" charset="0"/>
                <a:ea typeface="黑体" panose="02010609060101010101" pitchFamily="49" charset="-122"/>
              </a:rPr>
              <a:t> A= 96(60H), B= 192(0C0H)，执行指令 MUL   AB 后，求：</a:t>
            </a:r>
            <a:r>
              <a:rPr lang="zh-CN" altLang="zh-CN" b="0" dirty="0">
                <a:solidFill>
                  <a:schemeClr val="hlink"/>
                </a:solidFill>
                <a:latin typeface="Times New Roman" panose="02020503050405090304" pitchFamily="18" charset="0"/>
                <a:ea typeface="黑体" panose="02010609060101010101" pitchFamily="49" charset="-122"/>
              </a:rPr>
              <a:t>A=  ，B=  ，Cy=，OV= ，P= </a:t>
            </a:r>
            <a:endParaRPr lang="zh-CN" altLang="zh-CN" b="0" dirty="0">
              <a:solidFill>
                <a:schemeClr val="hlink"/>
              </a:solidFill>
              <a:latin typeface="Times New Roman" panose="02020503050405090304" pitchFamily="18" charset="0"/>
              <a:ea typeface="黑体" panose="02010609060101010101" pitchFamily="49" charset="-122"/>
            </a:endParaRPr>
          </a:p>
          <a:p>
            <a:pPr>
              <a:spcBef>
                <a:spcPct val="20000"/>
              </a:spcBef>
              <a:buClr>
                <a:schemeClr val="accent2"/>
              </a:buClr>
              <a:buSzPct val="80000"/>
            </a:pPr>
            <a:r>
              <a:rPr lang="zh-CN" altLang="zh-CN" b="0" dirty="0">
                <a:latin typeface="Times New Roman" panose="02020503050405090304" pitchFamily="18" charset="0"/>
                <a:ea typeface="黑体" panose="02010609060101010101" pitchFamily="49" charset="-122"/>
              </a:rPr>
              <a:t>  解： 96 ×192 = 18432(4800H</a:t>
            </a:r>
            <a:r>
              <a:rPr lang="zh-CN" altLang="en-US" b="0" dirty="0">
                <a:latin typeface="Times New Roman" panose="02020503050405090304" pitchFamily="18" charset="0"/>
                <a:ea typeface="黑体" panose="02010609060101010101" pitchFamily="49" charset="-122"/>
              </a:rPr>
              <a:t>=</a:t>
            </a:r>
            <a:r>
              <a:rPr lang="zh-CN" altLang="zh-CN" b="0" dirty="0">
                <a:latin typeface="Times New Roman" panose="02020503050405090304" pitchFamily="18" charset="0"/>
                <a:ea typeface="仿宋_GB2312" pitchFamily="49" charset="-122"/>
              </a:rPr>
              <a:t>100100000000000</a:t>
            </a:r>
            <a:r>
              <a:rPr lang="zh-CN" altLang="en-US" b="0" dirty="0">
                <a:latin typeface="Times New Roman" panose="02020503050405090304" pitchFamily="18" charset="0"/>
                <a:ea typeface="仿宋_GB2312" pitchFamily="49" charset="-122"/>
              </a:rPr>
              <a:t>B</a:t>
            </a:r>
            <a:r>
              <a:rPr lang="zh-CN" altLang="zh-CN" b="0" dirty="0">
                <a:latin typeface="Times New Roman" panose="02020503050405090304" pitchFamily="18" charset="0"/>
                <a:ea typeface="黑体" panose="02010609060101010101" pitchFamily="49" charset="-122"/>
              </a:rPr>
              <a:t>)</a:t>
            </a:r>
            <a:endParaRPr lang="zh-CN" altLang="zh-CN" b="0" dirty="0">
              <a:latin typeface="Times New Roman" panose="02020503050405090304" pitchFamily="18" charset="0"/>
              <a:ea typeface="黑体" panose="02010609060101010101" pitchFamily="49" charset="-122"/>
            </a:endParaRPr>
          </a:p>
          <a:p>
            <a:pPr>
              <a:spcBef>
                <a:spcPct val="20000"/>
              </a:spcBef>
              <a:buClr>
                <a:schemeClr val="accent2"/>
              </a:buClr>
              <a:buSzPct val="80000"/>
            </a:pPr>
            <a:r>
              <a:rPr lang="zh-CN" altLang="zh-CN" b="0" dirty="0">
                <a:solidFill>
                  <a:schemeClr val="hlink"/>
                </a:solidFill>
                <a:latin typeface="Times New Roman" panose="02020503050405090304" pitchFamily="18" charset="0"/>
                <a:ea typeface="黑体" panose="02010609060101010101" pitchFamily="49" charset="-122"/>
              </a:rPr>
              <a:t>A= </a:t>
            </a:r>
            <a:r>
              <a:rPr lang="zh-CN" altLang="en-US" b="0" dirty="0">
                <a:solidFill>
                  <a:schemeClr val="hlink"/>
                </a:solidFill>
                <a:latin typeface="Times New Roman" panose="02020503050405090304" pitchFamily="18" charset="0"/>
                <a:ea typeface="黑体" panose="02010609060101010101" pitchFamily="49" charset="-122"/>
              </a:rPr>
              <a:t>0</a:t>
            </a:r>
            <a:r>
              <a:rPr lang="en-US" altLang="zh-CN" b="0" dirty="0">
                <a:solidFill>
                  <a:schemeClr val="hlink"/>
                </a:solidFill>
                <a:latin typeface="Times New Roman" panose="02020503050405090304" pitchFamily="18" charset="0"/>
                <a:ea typeface="黑体" panose="02010609060101010101" pitchFamily="49" charset="-122"/>
              </a:rPr>
              <a:t>0H</a:t>
            </a:r>
            <a:r>
              <a:rPr lang="zh-CN" altLang="zh-CN" b="0" dirty="0">
                <a:solidFill>
                  <a:schemeClr val="hlink"/>
                </a:solidFill>
                <a:latin typeface="Times New Roman" panose="02020503050405090304" pitchFamily="18" charset="0"/>
                <a:ea typeface="黑体" panose="02010609060101010101" pitchFamily="49" charset="-122"/>
              </a:rPr>
              <a:t> ，B= </a:t>
            </a:r>
            <a:r>
              <a:rPr lang="zh-CN" altLang="en-US" b="0" dirty="0">
                <a:solidFill>
                  <a:schemeClr val="hlink"/>
                </a:solidFill>
                <a:latin typeface="Times New Roman" panose="02020503050405090304" pitchFamily="18" charset="0"/>
                <a:ea typeface="黑体" panose="02010609060101010101" pitchFamily="49" charset="-122"/>
              </a:rPr>
              <a:t>4</a:t>
            </a:r>
            <a:r>
              <a:rPr lang="en-US" altLang="zh-CN" b="0" dirty="0">
                <a:solidFill>
                  <a:schemeClr val="hlink"/>
                </a:solidFill>
                <a:latin typeface="Times New Roman" panose="02020503050405090304" pitchFamily="18" charset="0"/>
                <a:ea typeface="黑体" panose="02010609060101010101" pitchFamily="49" charset="-122"/>
              </a:rPr>
              <a:t>8H</a:t>
            </a:r>
            <a:r>
              <a:rPr lang="zh-CN" altLang="zh-CN" b="0" dirty="0">
                <a:solidFill>
                  <a:schemeClr val="hlink"/>
                </a:solidFill>
                <a:latin typeface="Times New Roman" panose="02020503050405090304" pitchFamily="18" charset="0"/>
                <a:ea typeface="黑体" panose="02010609060101010101" pitchFamily="49" charset="-122"/>
              </a:rPr>
              <a:t> ，Cy=</a:t>
            </a:r>
            <a:r>
              <a:rPr lang="zh-CN" altLang="en-US" b="0" dirty="0">
                <a:solidFill>
                  <a:schemeClr val="hlink"/>
                </a:solidFill>
                <a:latin typeface="Times New Roman" panose="02020503050405090304" pitchFamily="18" charset="0"/>
                <a:ea typeface="黑体" panose="02010609060101010101" pitchFamily="49" charset="-122"/>
              </a:rPr>
              <a:t>0</a:t>
            </a:r>
            <a:r>
              <a:rPr lang="zh-CN" altLang="zh-CN" b="0" dirty="0">
                <a:solidFill>
                  <a:schemeClr val="hlink"/>
                </a:solidFill>
                <a:latin typeface="Times New Roman" panose="02020503050405090304" pitchFamily="18" charset="0"/>
                <a:ea typeface="黑体" panose="02010609060101010101" pitchFamily="49" charset="-122"/>
              </a:rPr>
              <a:t>，OV=</a:t>
            </a:r>
            <a:r>
              <a:rPr lang="zh-CN" altLang="en-US" b="0" dirty="0">
                <a:solidFill>
                  <a:schemeClr val="hlink"/>
                </a:solidFill>
                <a:latin typeface="Times New Roman" panose="02020503050405090304" pitchFamily="18" charset="0"/>
                <a:ea typeface="黑体" panose="02010609060101010101" pitchFamily="49" charset="-122"/>
              </a:rPr>
              <a:t>1</a:t>
            </a:r>
            <a:r>
              <a:rPr lang="zh-CN" altLang="zh-CN" b="0" dirty="0">
                <a:solidFill>
                  <a:schemeClr val="hlink"/>
                </a:solidFill>
                <a:latin typeface="Times New Roman" panose="02020503050405090304" pitchFamily="18" charset="0"/>
                <a:ea typeface="黑体" panose="02010609060101010101" pitchFamily="49" charset="-122"/>
              </a:rPr>
              <a:t> ，P=</a:t>
            </a:r>
            <a:r>
              <a:rPr lang="zh-CN" altLang="en-US" b="0" dirty="0">
                <a:solidFill>
                  <a:schemeClr val="hlink"/>
                </a:solidFill>
                <a:latin typeface="Times New Roman" panose="02020503050405090304" pitchFamily="18" charset="0"/>
                <a:ea typeface="黑体" panose="02010609060101010101" pitchFamily="49" charset="-122"/>
              </a:rPr>
              <a:t>0</a:t>
            </a:r>
            <a:endParaRPr lang="en-US" altLang="zh-CN" b="0" dirty="0">
              <a:latin typeface="Times New Roman" panose="02020503050405090304" pitchFamily="18" charset="0"/>
              <a:ea typeface="黑体" panose="02010609060101010101" pitchFamily="49" charset="-122"/>
            </a:endParaRPr>
          </a:p>
        </p:txBody>
      </p:sp>
      <p:sp>
        <p:nvSpPr>
          <p:cNvPr id="87042" name="Rectangle 2"/>
          <p:cNvSpPr>
            <a:spLocks noChangeArrowheads="1"/>
          </p:cNvSpPr>
          <p:nvPr/>
        </p:nvSpPr>
        <p:spPr bwMode="auto">
          <a:xfrm>
            <a:off x="214313" y="214313"/>
            <a:ext cx="8763000" cy="609600"/>
          </a:xfrm>
          <a:prstGeom prst="rect">
            <a:avLst/>
          </a:prstGeom>
          <a:noFill/>
          <a:ln>
            <a:noFill/>
          </a:ln>
        </p:spPr>
        <p:txBody>
          <a:bodyPr anchor="ctr"/>
          <a:lstStyle>
            <a:lvl1pPr>
              <a:defRPr sz="3600">
                <a:solidFill>
                  <a:schemeClr val="tx2"/>
                </a:solidFill>
                <a:latin typeface="Times New Roman" panose="02020503050405090304" pitchFamily="18" charset="0"/>
                <a:ea typeface="宋体" pitchFamily="2" charset="-122"/>
              </a:defRPr>
            </a:lvl1pPr>
            <a:lvl2pPr>
              <a:defRPr sz="3600">
                <a:solidFill>
                  <a:schemeClr val="tx2"/>
                </a:solidFill>
                <a:latin typeface="Times New Roman" panose="02020503050405090304" pitchFamily="18" charset="0"/>
                <a:ea typeface="宋体" pitchFamily="2" charset="-122"/>
              </a:defRPr>
            </a:lvl2pPr>
            <a:lvl3pPr>
              <a:defRPr sz="3600">
                <a:solidFill>
                  <a:schemeClr val="tx2"/>
                </a:solidFill>
                <a:latin typeface="Times New Roman" panose="02020503050405090304" pitchFamily="18" charset="0"/>
                <a:ea typeface="宋体" pitchFamily="2" charset="-122"/>
              </a:defRPr>
            </a:lvl3pPr>
            <a:lvl4pPr>
              <a:defRPr sz="3600">
                <a:solidFill>
                  <a:schemeClr val="tx2"/>
                </a:solidFill>
                <a:latin typeface="Times New Roman" panose="02020503050405090304" pitchFamily="18" charset="0"/>
                <a:ea typeface="宋体" pitchFamily="2" charset="-122"/>
              </a:defRPr>
            </a:lvl4pPr>
            <a:lvl5pPr>
              <a:defRPr sz="3600">
                <a:solidFill>
                  <a:schemeClr val="tx2"/>
                </a:solidFill>
                <a:latin typeface="Times New Roman" panose="02020503050405090304" pitchFamily="18" charset="0"/>
                <a:ea typeface="宋体" pitchFamily="2" charset="-122"/>
              </a:defRPr>
            </a:lvl5pPr>
            <a:lvl6pPr marL="45720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fontAlgn="base">
              <a:spcBef>
                <a:spcPct val="0"/>
              </a:spcBef>
              <a:spcAft>
                <a:spcPct val="0"/>
              </a:spcAft>
              <a:defRPr sz="3600">
                <a:solidFill>
                  <a:schemeClr val="tx2"/>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第三章</a:t>
            </a:r>
            <a:r>
              <a:rPr kumimoji="0" lang="zh-CN" altLang="en-US" sz="28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zh-CN" altLang="en-US" sz="24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en-US" altLang="zh-CN"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MCS-51</a:t>
            </a: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指令系统</a:t>
            </a:r>
            <a:endParaRPr kumimoji="0" lang="zh-CN" altLang="en-US" sz="3600" b="0"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Times New Roman" panose="02020503050405090304" pitchFamily="18" charset="0"/>
              <a:ea typeface="宋体"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9204">
                                            <p:txEl>
                                              <p:charRg st="0" end="70"/>
                                            </p:txEl>
                                          </p:spTgt>
                                        </p:tgtEl>
                                        <p:attrNameLst>
                                          <p:attrName>style.visibility</p:attrName>
                                        </p:attrNameLst>
                                      </p:cBhvr>
                                      <p:to>
                                        <p:strVal val="visible"/>
                                      </p:to>
                                    </p:set>
                                    <p:anim calcmode="lin" valueType="num">
                                      <p:cBhvr additive="base">
                                        <p:cTn id="7" dur="500" fill="hold"/>
                                        <p:tgtEl>
                                          <p:spTgt spid="179204">
                                            <p:txEl>
                                              <p:charRg st="0" end="7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9204">
                                            <p:txEl>
                                              <p:charRg st="0" end="7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9204">
                                            <p:txEl>
                                              <p:charRg st="70" end="115"/>
                                            </p:txEl>
                                          </p:spTgt>
                                        </p:tgtEl>
                                        <p:attrNameLst>
                                          <p:attrName>style.visibility</p:attrName>
                                        </p:attrNameLst>
                                      </p:cBhvr>
                                      <p:to>
                                        <p:strVal val="visible"/>
                                      </p:to>
                                    </p:set>
                                    <p:anim calcmode="lin" valueType="num">
                                      <p:cBhvr additive="base">
                                        <p:cTn id="13" dur="500" fill="hold"/>
                                        <p:tgtEl>
                                          <p:spTgt spid="179204">
                                            <p:txEl>
                                              <p:charRg st="70" end="11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9204">
                                            <p:txEl>
                                              <p:charRg st="70" end="11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9204">
                                            <p:txEl>
                                              <p:charRg st="115" end="146"/>
                                            </p:txEl>
                                          </p:spTgt>
                                        </p:tgtEl>
                                        <p:attrNameLst>
                                          <p:attrName>style.visibility</p:attrName>
                                        </p:attrNameLst>
                                      </p:cBhvr>
                                      <p:to>
                                        <p:strVal val="visible"/>
                                      </p:to>
                                    </p:set>
                                    <p:anim calcmode="lin" valueType="num">
                                      <p:cBhvr additive="base">
                                        <p:cTn id="19" dur="500" fill="hold"/>
                                        <p:tgtEl>
                                          <p:spTgt spid="179204">
                                            <p:txEl>
                                              <p:charRg st="115" end="14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9204">
                                            <p:txEl>
                                              <p:charRg st="115" end="14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1" name="Rectangle 3"/>
          <p:cNvSpPr>
            <a:spLocks noGrp="1"/>
          </p:cNvSpPr>
          <p:nvPr>
            <p:ph idx="1"/>
          </p:nvPr>
        </p:nvSpPr>
        <p:spPr>
          <a:xfrm>
            <a:off x="836613" y="1042988"/>
            <a:ext cx="7696200" cy="511175"/>
          </a:xfrm>
        </p:spPr>
        <p:txBody>
          <a:bodyPr vert="horz" wrap="square" lIns="91440" tIns="45720" rIns="91440" bIns="45720" anchor="t" anchorCtr="0"/>
          <a:p>
            <a:pPr eaLnBrk="1" hangingPunct="1">
              <a:buNone/>
            </a:pPr>
            <a:r>
              <a:rPr lang="zh-CN" altLang="en-US" dirty="0"/>
              <a:t>多字节乘以单字节的乘法算法：</a:t>
            </a:r>
            <a:endParaRPr lang="zh-CN" altLang="en-US" dirty="0"/>
          </a:p>
        </p:txBody>
      </p:sp>
      <p:sp>
        <p:nvSpPr>
          <p:cNvPr id="117762" name="Rectangle 4"/>
          <p:cNvSpPr/>
          <p:nvPr/>
        </p:nvSpPr>
        <p:spPr>
          <a:xfrm>
            <a:off x="765175" y="1806575"/>
            <a:ext cx="7772400" cy="479425"/>
          </a:xfrm>
          <a:prstGeom prst="rect">
            <a:avLst/>
          </a:prstGeom>
          <a:noFill/>
          <a:ln w="9525">
            <a:noFill/>
          </a:ln>
        </p:spPr>
        <p:txBody>
          <a:bodyPr anchor="t" anchorCtr="0"/>
          <a:p>
            <a:pPr marL="1143000" lvl="2" indent="-228600" eaLnBrk="1" hangingPunct="1">
              <a:spcBef>
                <a:spcPct val="20000"/>
              </a:spcBef>
              <a:buClr>
                <a:schemeClr val="tx1"/>
              </a:buClr>
              <a:buSzPct val="80000"/>
              <a:buFont typeface="Wingdings" panose="05000000000000000000" pitchFamily="2" charset="2"/>
              <a:buChar char="Ø"/>
            </a:pPr>
            <a:r>
              <a:rPr lang="zh-CN" altLang="en-US" b="0" dirty="0">
                <a:latin typeface="Times New Roman" panose="02020503050405090304" pitchFamily="18" charset="0"/>
                <a:ea typeface="黑体" panose="02010609060101010101" pitchFamily="49" charset="-122"/>
              </a:rPr>
              <a:t>十进制数乘法运算会给我们什么启示？</a:t>
            </a:r>
            <a:endParaRPr lang="zh-CN" altLang="en-US" b="0" dirty="0">
              <a:latin typeface="Times New Roman" panose="02020503050405090304" pitchFamily="18" charset="0"/>
              <a:ea typeface="黑体" panose="02010609060101010101" pitchFamily="49" charset="-122"/>
            </a:endParaRPr>
          </a:p>
        </p:txBody>
      </p:sp>
      <p:grpSp>
        <p:nvGrpSpPr>
          <p:cNvPr id="2" name="Group 5"/>
          <p:cNvGrpSpPr/>
          <p:nvPr/>
        </p:nvGrpSpPr>
        <p:grpSpPr>
          <a:xfrm>
            <a:off x="1414463" y="2563813"/>
            <a:ext cx="765175" cy="457200"/>
            <a:chOff x="891" y="1615"/>
            <a:chExt cx="482" cy="288"/>
          </a:xfrm>
        </p:grpSpPr>
        <p:sp>
          <p:nvSpPr>
            <p:cNvPr id="117764" name="Text Box 6"/>
            <p:cNvSpPr txBox="1"/>
            <p:nvPr/>
          </p:nvSpPr>
          <p:spPr>
            <a:xfrm>
              <a:off x="891" y="1615"/>
              <a:ext cx="212" cy="288"/>
            </a:xfrm>
            <a:prstGeom prst="rect">
              <a:avLst/>
            </a:prstGeom>
            <a:noFill/>
            <a:ln w="9525">
              <a:noFill/>
            </a:ln>
          </p:spPr>
          <p:txBody>
            <a:bodyPr wrap="none" anchor="t" anchorCtr="0">
              <a:spAutoFit/>
            </a:bodyPr>
            <a:p>
              <a:pPr algn="ctr">
                <a:buClrTx/>
                <a:buFontTx/>
              </a:pPr>
              <a:r>
                <a:rPr lang="en-US" altLang="zh-CN" b="0" dirty="0">
                  <a:latin typeface="Times New Roman" panose="02020503050405090304" pitchFamily="18" charset="0"/>
                  <a:ea typeface="宋体" pitchFamily="2" charset="-122"/>
                </a:rPr>
                <a:t>8</a:t>
              </a:r>
              <a:endParaRPr lang="en-US" altLang="zh-CN" b="0" dirty="0">
                <a:latin typeface="Times New Roman" panose="02020503050405090304" pitchFamily="18" charset="0"/>
                <a:ea typeface="宋体" pitchFamily="2" charset="-122"/>
              </a:endParaRPr>
            </a:p>
          </p:txBody>
        </p:sp>
        <p:sp>
          <p:nvSpPr>
            <p:cNvPr id="117765" name="Text Box 7"/>
            <p:cNvSpPr txBox="1"/>
            <p:nvPr/>
          </p:nvSpPr>
          <p:spPr>
            <a:xfrm>
              <a:off x="1161" y="1615"/>
              <a:ext cx="212" cy="288"/>
            </a:xfrm>
            <a:prstGeom prst="rect">
              <a:avLst/>
            </a:prstGeom>
            <a:noFill/>
            <a:ln w="9525">
              <a:noFill/>
            </a:ln>
          </p:spPr>
          <p:txBody>
            <a:bodyPr wrap="none" anchor="t" anchorCtr="0">
              <a:spAutoFit/>
            </a:bodyPr>
            <a:p>
              <a:pPr algn="ctr">
                <a:buClrTx/>
                <a:buFontTx/>
              </a:pPr>
              <a:r>
                <a:rPr lang="en-US" altLang="zh-CN" b="0" dirty="0">
                  <a:latin typeface="Times New Roman" panose="02020503050405090304" pitchFamily="18" charset="0"/>
                  <a:ea typeface="宋体" pitchFamily="2" charset="-122"/>
                </a:rPr>
                <a:t>9</a:t>
              </a:r>
              <a:endParaRPr lang="en-US" altLang="zh-CN" b="0" dirty="0">
                <a:latin typeface="Times New Roman" panose="02020503050405090304" pitchFamily="18" charset="0"/>
                <a:ea typeface="宋体" pitchFamily="2" charset="-122"/>
              </a:endParaRPr>
            </a:p>
          </p:txBody>
        </p:sp>
      </p:grpSp>
      <p:grpSp>
        <p:nvGrpSpPr>
          <p:cNvPr id="3" name="Group 8"/>
          <p:cNvGrpSpPr/>
          <p:nvPr/>
        </p:nvGrpSpPr>
        <p:grpSpPr>
          <a:xfrm>
            <a:off x="815975" y="2889250"/>
            <a:ext cx="1363663" cy="463550"/>
            <a:chOff x="514" y="1820"/>
            <a:chExt cx="859" cy="292"/>
          </a:xfrm>
        </p:grpSpPr>
        <p:sp>
          <p:nvSpPr>
            <p:cNvPr id="117767" name="Text Box 9"/>
            <p:cNvSpPr txBox="1"/>
            <p:nvPr/>
          </p:nvSpPr>
          <p:spPr>
            <a:xfrm>
              <a:off x="1161" y="1824"/>
              <a:ext cx="212" cy="288"/>
            </a:xfrm>
            <a:prstGeom prst="rect">
              <a:avLst/>
            </a:prstGeom>
            <a:noFill/>
            <a:ln w="9525">
              <a:noFill/>
            </a:ln>
          </p:spPr>
          <p:txBody>
            <a:bodyPr wrap="none" anchor="t" anchorCtr="0">
              <a:spAutoFit/>
            </a:bodyPr>
            <a:p>
              <a:pPr algn="ctr">
                <a:buClrTx/>
                <a:buFontTx/>
              </a:pPr>
              <a:r>
                <a:rPr lang="en-US" altLang="zh-CN" b="0" dirty="0">
                  <a:latin typeface="Times New Roman" panose="02020503050405090304" pitchFamily="18" charset="0"/>
                  <a:ea typeface="宋体" pitchFamily="2" charset="-122"/>
                </a:rPr>
                <a:t>9</a:t>
              </a:r>
              <a:endParaRPr lang="en-US" altLang="zh-CN" b="0" dirty="0">
                <a:latin typeface="Times New Roman" panose="02020503050405090304" pitchFamily="18" charset="0"/>
                <a:ea typeface="宋体" pitchFamily="2" charset="-122"/>
              </a:endParaRPr>
            </a:p>
          </p:txBody>
        </p:sp>
        <p:sp>
          <p:nvSpPr>
            <p:cNvPr id="117768" name="Line 10"/>
            <p:cNvSpPr/>
            <p:nvPr/>
          </p:nvSpPr>
          <p:spPr>
            <a:xfrm>
              <a:off x="624" y="2112"/>
              <a:ext cx="749" cy="0"/>
            </a:xfrm>
            <a:prstGeom prst="line">
              <a:avLst/>
            </a:prstGeom>
            <a:ln w="9525" cap="flat" cmpd="sng">
              <a:solidFill>
                <a:schemeClr val="tx1"/>
              </a:solidFill>
              <a:prstDash val="solid"/>
              <a:round/>
              <a:headEnd type="none" w="med" len="med"/>
              <a:tailEnd type="none" w="med" len="med"/>
            </a:ln>
          </p:spPr>
        </p:sp>
        <p:sp>
          <p:nvSpPr>
            <p:cNvPr id="117769" name="Text Box 11"/>
            <p:cNvSpPr txBox="1"/>
            <p:nvPr/>
          </p:nvSpPr>
          <p:spPr>
            <a:xfrm>
              <a:off x="514" y="1820"/>
              <a:ext cx="221" cy="288"/>
            </a:xfrm>
            <a:prstGeom prst="rect">
              <a:avLst/>
            </a:prstGeom>
            <a:noFill/>
            <a:ln w="9525">
              <a:noFill/>
            </a:ln>
          </p:spPr>
          <p:txBody>
            <a:bodyPr wrap="none" anchor="t" anchorCtr="0">
              <a:spAutoFit/>
            </a:bodyPr>
            <a:p>
              <a:pPr algn="ctr">
                <a:buClrTx/>
                <a:buFontTx/>
              </a:pPr>
              <a:r>
                <a:rPr lang="zh-CN" altLang="en-US" b="0" dirty="0">
                  <a:latin typeface="Times New Roman" panose="02020503050405090304" pitchFamily="18" charset="0"/>
                  <a:ea typeface="宋体" pitchFamily="2" charset="-122"/>
                  <a:sym typeface="Symbol" pitchFamily="18" charset="2"/>
                </a:rPr>
                <a:t></a:t>
              </a:r>
              <a:endParaRPr lang="zh-CN" altLang="en-US" b="0" dirty="0">
                <a:latin typeface="Times New Roman" panose="02020503050405090304" pitchFamily="18" charset="0"/>
                <a:ea typeface="宋体" pitchFamily="2" charset="-122"/>
              </a:endParaRPr>
            </a:p>
          </p:txBody>
        </p:sp>
      </p:grpSp>
      <p:grpSp>
        <p:nvGrpSpPr>
          <p:cNvPr id="4" name="Group 12"/>
          <p:cNvGrpSpPr/>
          <p:nvPr/>
        </p:nvGrpSpPr>
        <p:grpSpPr>
          <a:xfrm>
            <a:off x="1371600" y="3352800"/>
            <a:ext cx="765175" cy="457200"/>
            <a:chOff x="891" y="1615"/>
            <a:chExt cx="482" cy="288"/>
          </a:xfrm>
        </p:grpSpPr>
        <p:sp>
          <p:nvSpPr>
            <p:cNvPr id="117771" name="Text Box 13"/>
            <p:cNvSpPr txBox="1"/>
            <p:nvPr/>
          </p:nvSpPr>
          <p:spPr>
            <a:xfrm>
              <a:off x="891" y="1615"/>
              <a:ext cx="212" cy="288"/>
            </a:xfrm>
            <a:prstGeom prst="rect">
              <a:avLst/>
            </a:prstGeom>
            <a:noFill/>
            <a:ln w="9525">
              <a:noFill/>
            </a:ln>
          </p:spPr>
          <p:txBody>
            <a:bodyPr wrap="none" anchor="t" anchorCtr="0">
              <a:spAutoFit/>
            </a:bodyPr>
            <a:p>
              <a:pPr algn="ctr">
                <a:buClrTx/>
                <a:buFontTx/>
              </a:pPr>
              <a:r>
                <a:rPr lang="en-US" altLang="zh-CN" b="0" dirty="0">
                  <a:latin typeface="Times New Roman" panose="02020503050405090304" pitchFamily="18" charset="0"/>
                  <a:ea typeface="宋体" pitchFamily="2" charset="-122"/>
                </a:rPr>
                <a:t>8</a:t>
              </a:r>
              <a:endParaRPr lang="en-US" altLang="zh-CN" b="0" dirty="0">
                <a:latin typeface="Times New Roman" panose="02020503050405090304" pitchFamily="18" charset="0"/>
                <a:ea typeface="宋体" pitchFamily="2" charset="-122"/>
              </a:endParaRPr>
            </a:p>
          </p:txBody>
        </p:sp>
        <p:sp>
          <p:nvSpPr>
            <p:cNvPr id="117772" name="Text Box 14"/>
            <p:cNvSpPr txBox="1"/>
            <p:nvPr/>
          </p:nvSpPr>
          <p:spPr>
            <a:xfrm>
              <a:off x="1161" y="1615"/>
              <a:ext cx="212" cy="288"/>
            </a:xfrm>
            <a:prstGeom prst="rect">
              <a:avLst/>
            </a:prstGeom>
            <a:noFill/>
            <a:ln w="9525">
              <a:noFill/>
            </a:ln>
          </p:spPr>
          <p:txBody>
            <a:bodyPr wrap="none" anchor="t" anchorCtr="0">
              <a:spAutoFit/>
            </a:bodyPr>
            <a:p>
              <a:pPr algn="ctr">
                <a:buClrTx/>
                <a:buFontTx/>
              </a:pPr>
              <a:r>
                <a:rPr lang="en-US" altLang="zh-CN" b="0" dirty="0">
                  <a:latin typeface="Times New Roman" panose="02020503050405090304" pitchFamily="18" charset="0"/>
                  <a:ea typeface="宋体" pitchFamily="2" charset="-122"/>
                </a:rPr>
                <a:t>1</a:t>
              </a:r>
              <a:endParaRPr lang="en-US" altLang="zh-CN" b="0" dirty="0">
                <a:latin typeface="Times New Roman" panose="02020503050405090304" pitchFamily="18" charset="0"/>
                <a:ea typeface="宋体" pitchFamily="2" charset="-122"/>
              </a:endParaRPr>
            </a:p>
          </p:txBody>
        </p:sp>
      </p:grpSp>
      <p:grpSp>
        <p:nvGrpSpPr>
          <p:cNvPr id="5" name="Group 15"/>
          <p:cNvGrpSpPr/>
          <p:nvPr/>
        </p:nvGrpSpPr>
        <p:grpSpPr>
          <a:xfrm>
            <a:off x="1035050" y="3352800"/>
            <a:ext cx="1098550" cy="457200"/>
            <a:chOff x="624" y="2400"/>
            <a:chExt cx="692" cy="288"/>
          </a:xfrm>
        </p:grpSpPr>
        <p:sp>
          <p:nvSpPr>
            <p:cNvPr id="117774" name="Text Box 16"/>
            <p:cNvSpPr txBox="1"/>
            <p:nvPr/>
          </p:nvSpPr>
          <p:spPr>
            <a:xfrm>
              <a:off x="624" y="2400"/>
              <a:ext cx="212" cy="288"/>
            </a:xfrm>
            <a:prstGeom prst="rect">
              <a:avLst/>
            </a:prstGeom>
            <a:noFill/>
            <a:ln w="9525">
              <a:noFill/>
            </a:ln>
          </p:spPr>
          <p:txBody>
            <a:bodyPr wrap="none" anchor="t" anchorCtr="0">
              <a:spAutoFit/>
            </a:bodyPr>
            <a:p>
              <a:pPr algn="ctr">
                <a:buClrTx/>
                <a:buFontTx/>
              </a:pPr>
              <a:r>
                <a:rPr lang="en-US" altLang="zh-CN" b="0" dirty="0">
                  <a:latin typeface="Times New Roman" panose="02020503050405090304" pitchFamily="18" charset="0"/>
                  <a:ea typeface="宋体" pitchFamily="2" charset="-122"/>
                </a:rPr>
                <a:t>8</a:t>
              </a:r>
              <a:endParaRPr lang="en-US" altLang="zh-CN" b="0" dirty="0">
                <a:latin typeface="Times New Roman" panose="02020503050405090304" pitchFamily="18" charset="0"/>
                <a:ea typeface="宋体" pitchFamily="2" charset="-122"/>
              </a:endParaRPr>
            </a:p>
          </p:txBody>
        </p:sp>
        <p:sp>
          <p:nvSpPr>
            <p:cNvPr id="117775" name="Text Box 17"/>
            <p:cNvSpPr txBox="1"/>
            <p:nvPr/>
          </p:nvSpPr>
          <p:spPr>
            <a:xfrm>
              <a:off x="864" y="2400"/>
              <a:ext cx="212" cy="288"/>
            </a:xfrm>
            <a:prstGeom prst="rect">
              <a:avLst/>
            </a:prstGeom>
            <a:noFill/>
            <a:ln w="9525">
              <a:noFill/>
            </a:ln>
          </p:spPr>
          <p:txBody>
            <a:bodyPr wrap="none" anchor="t" anchorCtr="0">
              <a:spAutoFit/>
            </a:bodyPr>
            <a:p>
              <a:pPr algn="ctr">
                <a:buClrTx/>
                <a:buFontTx/>
              </a:pPr>
              <a:r>
                <a:rPr lang="en-US" altLang="zh-CN" b="0" dirty="0">
                  <a:latin typeface="Times New Roman" panose="02020503050405090304" pitchFamily="18" charset="0"/>
                  <a:ea typeface="宋体" pitchFamily="2" charset="-122"/>
                </a:rPr>
                <a:t>0</a:t>
              </a:r>
              <a:endParaRPr lang="en-US" altLang="zh-CN" b="0" dirty="0">
                <a:latin typeface="Times New Roman" panose="02020503050405090304" pitchFamily="18" charset="0"/>
                <a:ea typeface="宋体" pitchFamily="2" charset="-122"/>
              </a:endParaRPr>
            </a:p>
          </p:txBody>
        </p:sp>
        <p:sp>
          <p:nvSpPr>
            <p:cNvPr id="117776" name="Text Box 18"/>
            <p:cNvSpPr txBox="1"/>
            <p:nvPr/>
          </p:nvSpPr>
          <p:spPr>
            <a:xfrm>
              <a:off x="1104" y="2400"/>
              <a:ext cx="212" cy="288"/>
            </a:xfrm>
            <a:prstGeom prst="rect">
              <a:avLst/>
            </a:prstGeom>
            <a:noFill/>
            <a:ln w="9525">
              <a:noFill/>
            </a:ln>
          </p:spPr>
          <p:txBody>
            <a:bodyPr wrap="none" anchor="t" anchorCtr="0">
              <a:spAutoFit/>
            </a:bodyPr>
            <a:p>
              <a:pPr algn="ctr">
                <a:buClrTx/>
                <a:buFontTx/>
              </a:pPr>
              <a:r>
                <a:rPr lang="en-US" altLang="zh-CN" b="0" dirty="0">
                  <a:latin typeface="Times New Roman" panose="02020503050405090304" pitchFamily="18" charset="0"/>
                  <a:ea typeface="宋体" pitchFamily="2" charset="-122"/>
                </a:rPr>
                <a:t>1</a:t>
              </a:r>
              <a:endParaRPr lang="en-US" altLang="zh-CN" b="0" dirty="0">
                <a:latin typeface="Times New Roman" panose="02020503050405090304" pitchFamily="18" charset="0"/>
                <a:ea typeface="宋体" pitchFamily="2" charset="-122"/>
              </a:endParaRPr>
            </a:p>
          </p:txBody>
        </p:sp>
      </p:grpSp>
      <p:sp>
        <p:nvSpPr>
          <p:cNvPr id="180243" name="AutoShape 19"/>
          <p:cNvSpPr/>
          <p:nvPr/>
        </p:nvSpPr>
        <p:spPr>
          <a:xfrm>
            <a:off x="2743200" y="3117850"/>
            <a:ext cx="381000" cy="234950"/>
          </a:xfrm>
          <a:prstGeom prst="rightArrow">
            <a:avLst>
              <a:gd name="adj1" fmla="val 50000"/>
              <a:gd name="adj2" fmla="val 40442"/>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grpSp>
        <p:nvGrpSpPr>
          <p:cNvPr id="6" name="Group 20"/>
          <p:cNvGrpSpPr/>
          <p:nvPr/>
        </p:nvGrpSpPr>
        <p:grpSpPr>
          <a:xfrm>
            <a:off x="3124200" y="2563813"/>
            <a:ext cx="1601788" cy="2084387"/>
            <a:chOff x="1968" y="1615"/>
            <a:chExt cx="1009" cy="1313"/>
          </a:xfrm>
        </p:grpSpPr>
        <p:grpSp>
          <p:nvGrpSpPr>
            <p:cNvPr id="117779" name="Group 21"/>
            <p:cNvGrpSpPr/>
            <p:nvPr/>
          </p:nvGrpSpPr>
          <p:grpSpPr>
            <a:xfrm>
              <a:off x="2495" y="1615"/>
              <a:ext cx="482" cy="288"/>
              <a:chOff x="891" y="1615"/>
              <a:chExt cx="482" cy="288"/>
            </a:xfrm>
          </p:grpSpPr>
          <p:sp>
            <p:nvSpPr>
              <p:cNvPr id="117780" name="Text Box 22"/>
              <p:cNvSpPr txBox="1"/>
              <p:nvPr/>
            </p:nvSpPr>
            <p:spPr>
              <a:xfrm>
                <a:off x="891" y="1615"/>
                <a:ext cx="212" cy="288"/>
              </a:xfrm>
              <a:prstGeom prst="rect">
                <a:avLst/>
              </a:prstGeom>
              <a:noFill/>
              <a:ln w="9525">
                <a:noFill/>
              </a:ln>
            </p:spPr>
            <p:txBody>
              <a:bodyPr wrap="none" anchor="t" anchorCtr="0">
                <a:spAutoFit/>
              </a:bodyPr>
              <a:p>
                <a:pPr algn="ctr">
                  <a:buClrTx/>
                  <a:buFontTx/>
                </a:pPr>
                <a:r>
                  <a:rPr lang="en-US" altLang="zh-CN" b="0" dirty="0">
                    <a:latin typeface="Times New Roman" panose="02020503050405090304" pitchFamily="18" charset="0"/>
                    <a:ea typeface="宋体" pitchFamily="2" charset="-122"/>
                  </a:rPr>
                  <a:t>8</a:t>
                </a:r>
                <a:endParaRPr lang="en-US" altLang="zh-CN" b="0" dirty="0">
                  <a:latin typeface="Times New Roman" panose="02020503050405090304" pitchFamily="18" charset="0"/>
                  <a:ea typeface="宋体" pitchFamily="2" charset="-122"/>
                </a:endParaRPr>
              </a:p>
            </p:txBody>
          </p:sp>
          <p:sp>
            <p:nvSpPr>
              <p:cNvPr id="117781" name="Text Box 23"/>
              <p:cNvSpPr txBox="1"/>
              <p:nvPr/>
            </p:nvSpPr>
            <p:spPr>
              <a:xfrm>
                <a:off x="1161" y="1615"/>
                <a:ext cx="212" cy="288"/>
              </a:xfrm>
              <a:prstGeom prst="rect">
                <a:avLst/>
              </a:prstGeom>
              <a:noFill/>
              <a:ln w="9525">
                <a:noFill/>
              </a:ln>
            </p:spPr>
            <p:txBody>
              <a:bodyPr wrap="none" anchor="t" anchorCtr="0">
                <a:spAutoFit/>
              </a:bodyPr>
              <a:p>
                <a:pPr algn="ctr">
                  <a:buClrTx/>
                  <a:buFontTx/>
                </a:pPr>
                <a:r>
                  <a:rPr lang="en-US" altLang="zh-CN" b="0" dirty="0">
                    <a:latin typeface="Times New Roman" panose="02020503050405090304" pitchFamily="18" charset="0"/>
                    <a:ea typeface="宋体" pitchFamily="2" charset="-122"/>
                  </a:rPr>
                  <a:t>9</a:t>
                </a:r>
                <a:endParaRPr lang="en-US" altLang="zh-CN" b="0" dirty="0">
                  <a:latin typeface="Times New Roman" panose="02020503050405090304" pitchFamily="18" charset="0"/>
                  <a:ea typeface="宋体" pitchFamily="2" charset="-122"/>
                </a:endParaRPr>
              </a:p>
            </p:txBody>
          </p:sp>
        </p:grpSp>
        <p:grpSp>
          <p:nvGrpSpPr>
            <p:cNvPr id="117782" name="Group 24"/>
            <p:cNvGrpSpPr/>
            <p:nvPr/>
          </p:nvGrpSpPr>
          <p:grpSpPr>
            <a:xfrm>
              <a:off x="2118" y="1820"/>
              <a:ext cx="859" cy="292"/>
              <a:chOff x="514" y="1820"/>
              <a:chExt cx="859" cy="292"/>
            </a:xfrm>
          </p:grpSpPr>
          <p:sp>
            <p:nvSpPr>
              <p:cNvPr id="117783" name="Text Box 25"/>
              <p:cNvSpPr txBox="1"/>
              <p:nvPr/>
            </p:nvSpPr>
            <p:spPr>
              <a:xfrm>
                <a:off x="1161" y="1824"/>
                <a:ext cx="212" cy="288"/>
              </a:xfrm>
              <a:prstGeom prst="rect">
                <a:avLst/>
              </a:prstGeom>
              <a:noFill/>
              <a:ln w="9525">
                <a:noFill/>
              </a:ln>
            </p:spPr>
            <p:txBody>
              <a:bodyPr wrap="none" anchor="t" anchorCtr="0">
                <a:spAutoFit/>
              </a:bodyPr>
              <a:p>
                <a:pPr algn="ctr">
                  <a:buClrTx/>
                  <a:buFontTx/>
                </a:pPr>
                <a:r>
                  <a:rPr lang="en-US" altLang="zh-CN" b="0" dirty="0">
                    <a:latin typeface="Times New Roman" panose="02020503050405090304" pitchFamily="18" charset="0"/>
                    <a:ea typeface="宋体" pitchFamily="2" charset="-122"/>
                  </a:rPr>
                  <a:t>9</a:t>
                </a:r>
                <a:endParaRPr lang="en-US" altLang="zh-CN" b="0" dirty="0">
                  <a:latin typeface="Times New Roman" panose="02020503050405090304" pitchFamily="18" charset="0"/>
                  <a:ea typeface="宋体" pitchFamily="2" charset="-122"/>
                </a:endParaRPr>
              </a:p>
            </p:txBody>
          </p:sp>
          <p:sp>
            <p:nvSpPr>
              <p:cNvPr id="117784" name="Line 26"/>
              <p:cNvSpPr/>
              <p:nvPr/>
            </p:nvSpPr>
            <p:spPr>
              <a:xfrm>
                <a:off x="624" y="2112"/>
                <a:ext cx="749" cy="0"/>
              </a:xfrm>
              <a:prstGeom prst="line">
                <a:avLst/>
              </a:prstGeom>
              <a:ln w="9525" cap="flat" cmpd="sng">
                <a:solidFill>
                  <a:schemeClr val="tx1"/>
                </a:solidFill>
                <a:prstDash val="solid"/>
                <a:round/>
                <a:headEnd type="none" w="med" len="med"/>
                <a:tailEnd type="none" w="med" len="med"/>
              </a:ln>
            </p:spPr>
          </p:sp>
          <p:sp>
            <p:nvSpPr>
              <p:cNvPr id="117785" name="Text Box 27"/>
              <p:cNvSpPr txBox="1"/>
              <p:nvPr/>
            </p:nvSpPr>
            <p:spPr>
              <a:xfrm>
                <a:off x="514" y="1820"/>
                <a:ext cx="221" cy="288"/>
              </a:xfrm>
              <a:prstGeom prst="rect">
                <a:avLst/>
              </a:prstGeom>
              <a:noFill/>
              <a:ln w="9525">
                <a:noFill/>
              </a:ln>
            </p:spPr>
            <p:txBody>
              <a:bodyPr wrap="none" anchor="t" anchorCtr="0">
                <a:spAutoFit/>
              </a:bodyPr>
              <a:p>
                <a:pPr algn="ctr">
                  <a:buClrTx/>
                  <a:buFontTx/>
                </a:pPr>
                <a:r>
                  <a:rPr lang="zh-CN" altLang="en-US" b="0" dirty="0">
                    <a:latin typeface="Times New Roman" panose="02020503050405090304" pitchFamily="18" charset="0"/>
                    <a:ea typeface="宋体" pitchFamily="2" charset="-122"/>
                    <a:sym typeface="Symbol" pitchFamily="18" charset="2"/>
                  </a:rPr>
                  <a:t></a:t>
                </a:r>
                <a:endParaRPr lang="zh-CN" altLang="en-US" b="0" dirty="0">
                  <a:latin typeface="Times New Roman" panose="02020503050405090304" pitchFamily="18" charset="0"/>
                  <a:ea typeface="宋体" pitchFamily="2" charset="-122"/>
                </a:endParaRPr>
              </a:p>
            </p:txBody>
          </p:sp>
        </p:grpSp>
        <p:grpSp>
          <p:nvGrpSpPr>
            <p:cNvPr id="117786" name="Group 28"/>
            <p:cNvGrpSpPr/>
            <p:nvPr/>
          </p:nvGrpSpPr>
          <p:grpSpPr>
            <a:xfrm>
              <a:off x="2468" y="2112"/>
              <a:ext cx="482" cy="288"/>
              <a:chOff x="891" y="1615"/>
              <a:chExt cx="482" cy="288"/>
            </a:xfrm>
          </p:grpSpPr>
          <p:sp>
            <p:nvSpPr>
              <p:cNvPr id="117787" name="Text Box 29"/>
              <p:cNvSpPr txBox="1"/>
              <p:nvPr/>
            </p:nvSpPr>
            <p:spPr>
              <a:xfrm>
                <a:off x="891" y="1615"/>
                <a:ext cx="212" cy="288"/>
              </a:xfrm>
              <a:prstGeom prst="rect">
                <a:avLst/>
              </a:prstGeom>
              <a:noFill/>
              <a:ln w="9525">
                <a:noFill/>
              </a:ln>
            </p:spPr>
            <p:txBody>
              <a:bodyPr wrap="none" anchor="t" anchorCtr="0">
                <a:spAutoFit/>
              </a:bodyPr>
              <a:p>
                <a:pPr algn="ctr">
                  <a:buClrTx/>
                  <a:buFontTx/>
                </a:pPr>
                <a:r>
                  <a:rPr lang="en-US" altLang="zh-CN" b="0" dirty="0">
                    <a:latin typeface="Times New Roman" panose="02020503050405090304" pitchFamily="18" charset="0"/>
                    <a:ea typeface="宋体" pitchFamily="2" charset="-122"/>
                  </a:rPr>
                  <a:t>8</a:t>
                </a:r>
                <a:endParaRPr lang="en-US" altLang="zh-CN" b="0" dirty="0">
                  <a:latin typeface="Times New Roman" panose="02020503050405090304" pitchFamily="18" charset="0"/>
                  <a:ea typeface="宋体" pitchFamily="2" charset="-122"/>
                </a:endParaRPr>
              </a:p>
            </p:txBody>
          </p:sp>
          <p:sp>
            <p:nvSpPr>
              <p:cNvPr id="117788" name="Text Box 30"/>
              <p:cNvSpPr txBox="1"/>
              <p:nvPr/>
            </p:nvSpPr>
            <p:spPr>
              <a:xfrm>
                <a:off x="1161" y="1615"/>
                <a:ext cx="212" cy="288"/>
              </a:xfrm>
              <a:prstGeom prst="rect">
                <a:avLst/>
              </a:prstGeom>
              <a:noFill/>
              <a:ln w="9525">
                <a:noFill/>
              </a:ln>
            </p:spPr>
            <p:txBody>
              <a:bodyPr wrap="none" anchor="t" anchorCtr="0">
                <a:spAutoFit/>
              </a:bodyPr>
              <a:p>
                <a:pPr algn="ctr">
                  <a:buClrTx/>
                  <a:buFontTx/>
                </a:pPr>
                <a:r>
                  <a:rPr lang="en-US" altLang="zh-CN" b="0" dirty="0">
                    <a:latin typeface="Times New Roman" panose="02020503050405090304" pitchFamily="18" charset="0"/>
                    <a:ea typeface="宋体" pitchFamily="2" charset="-122"/>
                  </a:rPr>
                  <a:t>1</a:t>
                </a:r>
                <a:endParaRPr lang="en-US" altLang="zh-CN" b="0" dirty="0">
                  <a:latin typeface="Times New Roman" panose="02020503050405090304" pitchFamily="18" charset="0"/>
                  <a:ea typeface="宋体" pitchFamily="2" charset="-122"/>
                </a:endParaRPr>
              </a:p>
            </p:txBody>
          </p:sp>
        </p:grpSp>
        <p:grpSp>
          <p:nvGrpSpPr>
            <p:cNvPr id="117789" name="Group 31"/>
            <p:cNvGrpSpPr/>
            <p:nvPr/>
          </p:nvGrpSpPr>
          <p:grpSpPr>
            <a:xfrm>
              <a:off x="2118" y="2640"/>
              <a:ext cx="692" cy="288"/>
              <a:chOff x="624" y="2400"/>
              <a:chExt cx="692" cy="288"/>
            </a:xfrm>
          </p:grpSpPr>
          <p:sp>
            <p:nvSpPr>
              <p:cNvPr id="117790" name="Text Box 32"/>
              <p:cNvSpPr txBox="1"/>
              <p:nvPr/>
            </p:nvSpPr>
            <p:spPr>
              <a:xfrm>
                <a:off x="624" y="2400"/>
                <a:ext cx="212" cy="288"/>
              </a:xfrm>
              <a:prstGeom prst="rect">
                <a:avLst/>
              </a:prstGeom>
              <a:noFill/>
              <a:ln w="9525">
                <a:noFill/>
              </a:ln>
            </p:spPr>
            <p:txBody>
              <a:bodyPr wrap="none" anchor="t" anchorCtr="0">
                <a:spAutoFit/>
              </a:bodyPr>
              <a:p>
                <a:pPr algn="ctr">
                  <a:buClrTx/>
                  <a:buFontTx/>
                </a:pPr>
                <a:r>
                  <a:rPr lang="en-US" altLang="zh-CN" b="0" dirty="0">
                    <a:latin typeface="Times New Roman" panose="02020503050405090304" pitchFamily="18" charset="0"/>
                    <a:ea typeface="宋体" pitchFamily="2" charset="-122"/>
                  </a:rPr>
                  <a:t>8</a:t>
                </a:r>
                <a:endParaRPr lang="en-US" altLang="zh-CN" b="0" dirty="0">
                  <a:latin typeface="Times New Roman" panose="02020503050405090304" pitchFamily="18" charset="0"/>
                  <a:ea typeface="宋体" pitchFamily="2" charset="-122"/>
                </a:endParaRPr>
              </a:p>
            </p:txBody>
          </p:sp>
          <p:sp>
            <p:nvSpPr>
              <p:cNvPr id="117791" name="Text Box 33"/>
              <p:cNvSpPr txBox="1"/>
              <p:nvPr/>
            </p:nvSpPr>
            <p:spPr>
              <a:xfrm>
                <a:off x="864" y="2400"/>
                <a:ext cx="212" cy="288"/>
              </a:xfrm>
              <a:prstGeom prst="rect">
                <a:avLst/>
              </a:prstGeom>
              <a:noFill/>
              <a:ln w="9525">
                <a:noFill/>
              </a:ln>
            </p:spPr>
            <p:txBody>
              <a:bodyPr wrap="none" anchor="t" anchorCtr="0">
                <a:spAutoFit/>
              </a:bodyPr>
              <a:p>
                <a:pPr algn="ctr">
                  <a:buClrTx/>
                  <a:buFontTx/>
                </a:pPr>
                <a:r>
                  <a:rPr lang="en-US" altLang="zh-CN" b="0" dirty="0">
                    <a:latin typeface="Times New Roman" panose="02020503050405090304" pitchFamily="18" charset="0"/>
                    <a:ea typeface="宋体" pitchFamily="2" charset="-122"/>
                  </a:rPr>
                  <a:t>0</a:t>
                </a:r>
                <a:endParaRPr lang="en-US" altLang="zh-CN" b="0" dirty="0">
                  <a:latin typeface="Times New Roman" panose="02020503050405090304" pitchFamily="18" charset="0"/>
                  <a:ea typeface="宋体" pitchFamily="2" charset="-122"/>
                </a:endParaRPr>
              </a:p>
            </p:txBody>
          </p:sp>
          <p:sp>
            <p:nvSpPr>
              <p:cNvPr id="117792" name="Text Box 34"/>
              <p:cNvSpPr txBox="1"/>
              <p:nvPr/>
            </p:nvSpPr>
            <p:spPr>
              <a:xfrm>
                <a:off x="1104" y="2400"/>
                <a:ext cx="212" cy="288"/>
              </a:xfrm>
              <a:prstGeom prst="rect">
                <a:avLst/>
              </a:prstGeom>
              <a:noFill/>
              <a:ln w="9525">
                <a:noFill/>
              </a:ln>
            </p:spPr>
            <p:txBody>
              <a:bodyPr wrap="none" anchor="t" anchorCtr="0">
                <a:spAutoFit/>
              </a:bodyPr>
              <a:p>
                <a:pPr algn="ctr">
                  <a:buClrTx/>
                  <a:buFontTx/>
                </a:pPr>
                <a:r>
                  <a:rPr lang="en-US" altLang="zh-CN" b="0" dirty="0">
                    <a:latin typeface="Times New Roman" panose="02020503050405090304" pitchFamily="18" charset="0"/>
                    <a:ea typeface="宋体" pitchFamily="2" charset="-122"/>
                  </a:rPr>
                  <a:t>1</a:t>
                </a:r>
                <a:endParaRPr lang="en-US" altLang="zh-CN" b="0" dirty="0">
                  <a:latin typeface="Times New Roman" panose="02020503050405090304" pitchFamily="18" charset="0"/>
                  <a:ea typeface="宋体" pitchFamily="2" charset="-122"/>
                </a:endParaRPr>
              </a:p>
            </p:txBody>
          </p:sp>
        </p:grpSp>
        <p:grpSp>
          <p:nvGrpSpPr>
            <p:cNvPr id="117793" name="Group 35"/>
            <p:cNvGrpSpPr/>
            <p:nvPr/>
          </p:nvGrpSpPr>
          <p:grpSpPr>
            <a:xfrm>
              <a:off x="2225" y="2352"/>
              <a:ext cx="482" cy="288"/>
              <a:chOff x="891" y="1615"/>
              <a:chExt cx="482" cy="288"/>
            </a:xfrm>
          </p:grpSpPr>
          <p:sp>
            <p:nvSpPr>
              <p:cNvPr id="117794" name="Text Box 36"/>
              <p:cNvSpPr txBox="1"/>
              <p:nvPr/>
            </p:nvSpPr>
            <p:spPr>
              <a:xfrm>
                <a:off x="891" y="1615"/>
                <a:ext cx="212" cy="288"/>
              </a:xfrm>
              <a:prstGeom prst="rect">
                <a:avLst/>
              </a:prstGeom>
              <a:noFill/>
              <a:ln w="9525">
                <a:noFill/>
              </a:ln>
            </p:spPr>
            <p:txBody>
              <a:bodyPr wrap="none" anchor="t" anchorCtr="0">
                <a:spAutoFit/>
              </a:bodyPr>
              <a:p>
                <a:pPr algn="ctr">
                  <a:buClrTx/>
                  <a:buFontTx/>
                </a:pPr>
                <a:r>
                  <a:rPr lang="en-US" altLang="zh-CN" b="0" dirty="0">
                    <a:latin typeface="Times New Roman" panose="02020503050405090304" pitchFamily="18" charset="0"/>
                    <a:ea typeface="宋体" pitchFamily="2" charset="-122"/>
                  </a:rPr>
                  <a:t>7</a:t>
                </a:r>
                <a:endParaRPr lang="en-US" altLang="zh-CN" b="0" dirty="0">
                  <a:latin typeface="Times New Roman" panose="02020503050405090304" pitchFamily="18" charset="0"/>
                  <a:ea typeface="宋体" pitchFamily="2" charset="-122"/>
                </a:endParaRPr>
              </a:p>
            </p:txBody>
          </p:sp>
          <p:sp>
            <p:nvSpPr>
              <p:cNvPr id="117795" name="Text Box 37"/>
              <p:cNvSpPr txBox="1"/>
              <p:nvPr/>
            </p:nvSpPr>
            <p:spPr>
              <a:xfrm>
                <a:off x="1161" y="1615"/>
                <a:ext cx="212" cy="288"/>
              </a:xfrm>
              <a:prstGeom prst="rect">
                <a:avLst/>
              </a:prstGeom>
              <a:noFill/>
              <a:ln w="9525">
                <a:noFill/>
              </a:ln>
            </p:spPr>
            <p:txBody>
              <a:bodyPr wrap="none" anchor="t" anchorCtr="0">
                <a:spAutoFit/>
              </a:bodyPr>
              <a:p>
                <a:pPr algn="ctr">
                  <a:buClrTx/>
                  <a:buFontTx/>
                </a:pPr>
                <a:r>
                  <a:rPr lang="en-US" altLang="zh-CN" b="0" dirty="0">
                    <a:latin typeface="Times New Roman" panose="02020503050405090304" pitchFamily="18" charset="0"/>
                    <a:ea typeface="宋体" pitchFamily="2" charset="-122"/>
                  </a:rPr>
                  <a:t>2</a:t>
                </a:r>
                <a:endParaRPr lang="en-US" altLang="zh-CN" b="0" dirty="0">
                  <a:latin typeface="Times New Roman" panose="02020503050405090304" pitchFamily="18" charset="0"/>
                  <a:ea typeface="宋体" pitchFamily="2" charset="-122"/>
                </a:endParaRPr>
              </a:p>
            </p:txBody>
          </p:sp>
        </p:grpSp>
        <p:sp>
          <p:nvSpPr>
            <p:cNvPr id="117796" name="Line 38"/>
            <p:cNvSpPr/>
            <p:nvPr/>
          </p:nvSpPr>
          <p:spPr>
            <a:xfrm>
              <a:off x="1968" y="2640"/>
              <a:ext cx="982" cy="0"/>
            </a:xfrm>
            <a:prstGeom prst="line">
              <a:avLst/>
            </a:prstGeom>
            <a:ln w="9525" cap="flat" cmpd="sng">
              <a:solidFill>
                <a:schemeClr val="tx1"/>
              </a:solidFill>
              <a:prstDash val="solid"/>
              <a:round/>
              <a:headEnd type="none" w="med" len="med"/>
              <a:tailEnd type="none" w="med" len="med"/>
            </a:ln>
          </p:spPr>
        </p:sp>
      </p:grpSp>
      <p:sp>
        <p:nvSpPr>
          <p:cNvPr id="180263" name="AutoShape 39"/>
          <p:cNvSpPr/>
          <p:nvPr/>
        </p:nvSpPr>
        <p:spPr>
          <a:xfrm>
            <a:off x="5059363" y="3575050"/>
            <a:ext cx="381000" cy="234950"/>
          </a:xfrm>
          <a:prstGeom prst="rightArrow">
            <a:avLst>
              <a:gd name="adj1" fmla="val 50000"/>
              <a:gd name="adj2" fmla="val 40442"/>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grpSp>
        <p:nvGrpSpPr>
          <p:cNvPr id="12" name="Group 40"/>
          <p:cNvGrpSpPr/>
          <p:nvPr/>
        </p:nvGrpSpPr>
        <p:grpSpPr>
          <a:xfrm>
            <a:off x="5029200" y="2778125"/>
            <a:ext cx="2624138" cy="2590800"/>
            <a:chOff x="3168" y="1750"/>
            <a:chExt cx="1653" cy="1632"/>
          </a:xfrm>
        </p:grpSpPr>
        <p:sp>
          <p:nvSpPr>
            <p:cNvPr id="117799" name="Rectangle 41"/>
            <p:cNvSpPr/>
            <p:nvPr/>
          </p:nvSpPr>
          <p:spPr>
            <a:xfrm>
              <a:off x="3792" y="1750"/>
              <a:ext cx="389" cy="214"/>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17800" name="Rectangle 42"/>
            <p:cNvSpPr/>
            <p:nvPr/>
          </p:nvSpPr>
          <p:spPr>
            <a:xfrm>
              <a:off x="4272" y="1750"/>
              <a:ext cx="389" cy="214"/>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17801" name="Rectangle 43"/>
            <p:cNvSpPr/>
            <p:nvPr/>
          </p:nvSpPr>
          <p:spPr>
            <a:xfrm>
              <a:off x="4272" y="2075"/>
              <a:ext cx="389" cy="214"/>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17802" name="Line 44"/>
            <p:cNvSpPr/>
            <p:nvPr/>
          </p:nvSpPr>
          <p:spPr>
            <a:xfrm>
              <a:off x="3571" y="2367"/>
              <a:ext cx="1094" cy="1"/>
            </a:xfrm>
            <a:prstGeom prst="line">
              <a:avLst/>
            </a:prstGeom>
            <a:ln w="9525" cap="flat" cmpd="sng">
              <a:solidFill>
                <a:schemeClr val="tx1"/>
              </a:solidFill>
              <a:prstDash val="solid"/>
              <a:round/>
              <a:headEnd type="none" w="med" len="med"/>
              <a:tailEnd type="none" w="med" len="med"/>
            </a:ln>
          </p:spPr>
        </p:sp>
        <p:sp>
          <p:nvSpPr>
            <p:cNvPr id="117803" name="Text Box 45"/>
            <p:cNvSpPr txBox="1"/>
            <p:nvPr/>
          </p:nvSpPr>
          <p:spPr>
            <a:xfrm>
              <a:off x="3572" y="2108"/>
              <a:ext cx="221" cy="288"/>
            </a:xfrm>
            <a:prstGeom prst="rect">
              <a:avLst/>
            </a:prstGeom>
            <a:noFill/>
            <a:ln w="9525">
              <a:noFill/>
            </a:ln>
          </p:spPr>
          <p:txBody>
            <a:bodyPr wrap="none" anchor="t" anchorCtr="0">
              <a:spAutoFit/>
            </a:bodyPr>
            <a:p>
              <a:pPr algn="ctr">
                <a:buClrTx/>
                <a:buFontTx/>
              </a:pPr>
              <a:r>
                <a:rPr lang="zh-CN" altLang="en-US" b="0" dirty="0">
                  <a:latin typeface="Times New Roman" panose="02020503050405090304" pitchFamily="18" charset="0"/>
                  <a:ea typeface="宋体" pitchFamily="2" charset="-122"/>
                  <a:sym typeface="Symbol" pitchFamily="18" charset="2"/>
                </a:rPr>
                <a:t></a:t>
              </a:r>
              <a:endParaRPr lang="zh-CN" altLang="en-US" b="0" dirty="0">
                <a:latin typeface="Times New Roman" panose="02020503050405090304" pitchFamily="18" charset="0"/>
                <a:ea typeface="宋体" pitchFamily="2" charset="-122"/>
              </a:endParaRPr>
            </a:p>
          </p:txBody>
        </p:sp>
        <p:sp>
          <p:nvSpPr>
            <p:cNvPr id="117804" name="Rectangle 46"/>
            <p:cNvSpPr/>
            <p:nvPr/>
          </p:nvSpPr>
          <p:spPr>
            <a:xfrm>
              <a:off x="3787" y="2426"/>
              <a:ext cx="389" cy="214"/>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17805" name="Rectangle 47"/>
            <p:cNvSpPr/>
            <p:nvPr/>
          </p:nvSpPr>
          <p:spPr>
            <a:xfrm>
              <a:off x="4267" y="2426"/>
              <a:ext cx="389" cy="214"/>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17806" name="Rectangle 48"/>
            <p:cNvSpPr/>
            <p:nvPr/>
          </p:nvSpPr>
          <p:spPr>
            <a:xfrm>
              <a:off x="3307" y="2736"/>
              <a:ext cx="389" cy="214"/>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17807" name="Rectangle 49"/>
            <p:cNvSpPr/>
            <p:nvPr/>
          </p:nvSpPr>
          <p:spPr>
            <a:xfrm>
              <a:off x="3787" y="2736"/>
              <a:ext cx="389" cy="214"/>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17808" name="Line 50"/>
            <p:cNvSpPr/>
            <p:nvPr/>
          </p:nvSpPr>
          <p:spPr>
            <a:xfrm>
              <a:off x="3168" y="3072"/>
              <a:ext cx="1653" cy="1"/>
            </a:xfrm>
            <a:prstGeom prst="line">
              <a:avLst/>
            </a:prstGeom>
            <a:ln w="9525" cap="flat" cmpd="sng">
              <a:solidFill>
                <a:schemeClr val="tx1"/>
              </a:solidFill>
              <a:prstDash val="solid"/>
              <a:round/>
              <a:headEnd type="none" w="med" len="med"/>
              <a:tailEnd type="none" w="med" len="med"/>
            </a:ln>
          </p:spPr>
        </p:sp>
        <p:sp>
          <p:nvSpPr>
            <p:cNvPr id="117809" name="Rectangle 51"/>
            <p:cNvSpPr/>
            <p:nvPr/>
          </p:nvSpPr>
          <p:spPr>
            <a:xfrm>
              <a:off x="3787" y="3168"/>
              <a:ext cx="389" cy="214"/>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17810" name="Rectangle 52"/>
            <p:cNvSpPr/>
            <p:nvPr/>
          </p:nvSpPr>
          <p:spPr>
            <a:xfrm>
              <a:off x="4267" y="3168"/>
              <a:ext cx="389" cy="214"/>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17811" name="Rectangle 53"/>
            <p:cNvSpPr/>
            <p:nvPr/>
          </p:nvSpPr>
          <p:spPr>
            <a:xfrm>
              <a:off x="3307" y="3168"/>
              <a:ext cx="389" cy="214"/>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17812" name="Rectangle 54"/>
            <p:cNvSpPr/>
            <p:nvPr/>
          </p:nvSpPr>
          <p:spPr>
            <a:xfrm>
              <a:off x="3787" y="3168"/>
              <a:ext cx="389" cy="214"/>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grpSp>
      <p:sp>
        <p:nvSpPr>
          <p:cNvPr id="180279" name="Rectangle 55"/>
          <p:cNvSpPr/>
          <p:nvPr/>
        </p:nvSpPr>
        <p:spPr>
          <a:xfrm>
            <a:off x="2151063" y="5589588"/>
            <a:ext cx="4476750" cy="488950"/>
          </a:xfrm>
          <a:prstGeom prst="rect">
            <a:avLst/>
          </a:prstGeom>
          <a:noFill/>
          <a:ln w="9525">
            <a:noFill/>
          </a:ln>
        </p:spPr>
        <p:txBody>
          <a:bodyPr wrap="none" anchor="ctr" anchorCtr="0">
            <a:spAutoFit/>
          </a:bodyPr>
          <a:p>
            <a:pPr algn="ctr">
              <a:buClrTx/>
              <a:buFontTx/>
            </a:pPr>
            <a:r>
              <a:rPr lang="zh-CN" altLang="en-US" sz="2600" b="0" dirty="0">
                <a:solidFill>
                  <a:schemeClr val="hlink"/>
                </a:solidFill>
                <a:latin typeface="隶书" pitchFamily="49" charset="-122"/>
                <a:ea typeface="隶书" pitchFamily="49" charset="-122"/>
              </a:rPr>
              <a:t>多字节乘以单字节的实现算法</a:t>
            </a:r>
            <a:endParaRPr lang="zh-CN" altLang="en-US" sz="2600" b="0" dirty="0">
              <a:solidFill>
                <a:schemeClr val="hlink"/>
              </a:solidFill>
              <a:latin typeface="隶书" pitchFamily="49" charset="-122"/>
              <a:ea typeface="隶书" pitchFamily="49" charset="-122"/>
            </a:endParaRPr>
          </a:p>
        </p:txBody>
      </p:sp>
      <p:sp>
        <p:nvSpPr>
          <p:cNvPr id="87042" name="Rectangle 2"/>
          <p:cNvSpPr>
            <a:spLocks noChangeArrowheads="1"/>
          </p:cNvSpPr>
          <p:nvPr/>
        </p:nvSpPr>
        <p:spPr bwMode="auto">
          <a:xfrm>
            <a:off x="214313" y="214313"/>
            <a:ext cx="8763000" cy="609600"/>
          </a:xfrm>
          <a:prstGeom prst="rect">
            <a:avLst/>
          </a:prstGeom>
          <a:noFill/>
          <a:ln>
            <a:noFill/>
          </a:ln>
        </p:spPr>
        <p:txBody>
          <a:bodyPr anchor="ctr"/>
          <a:lstStyle>
            <a:lvl1pPr>
              <a:defRPr sz="3600">
                <a:solidFill>
                  <a:schemeClr val="tx2"/>
                </a:solidFill>
                <a:latin typeface="Times New Roman" panose="02020503050405090304" pitchFamily="18" charset="0"/>
                <a:ea typeface="宋体" pitchFamily="2" charset="-122"/>
              </a:defRPr>
            </a:lvl1pPr>
            <a:lvl2pPr>
              <a:defRPr sz="3600">
                <a:solidFill>
                  <a:schemeClr val="tx2"/>
                </a:solidFill>
                <a:latin typeface="Times New Roman" panose="02020503050405090304" pitchFamily="18" charset="0"/>
                <a:ea typeface="宋体" pitchFamily="2" charset="-122"/>
              </a:defRPr>
            </a:lvl2pPr>
            <a:lvl3pPr>
              <a:defRPr sz="3600">
                <a:solidFill>
                  <a:schemeClr val="tx2"/>
                </a:solidFill>
                <a:latin typeface="Times New Roman" panose="02020503050405090304" pitchFamily="18" charset="0"/>
                <a:ea typeface="宋体" pitchFamily="2" charset="-122"/>
              </a:defRPr>
            </a:lvl3pPr>
            <a:lvl4pPr>
              <a:defRPr sz="3600">
                <a:solidFill>
                  <a:schemeClr val="tx2"/>
                </a:solidFill>
                <a:latin typeface="Times New Roman" panose="02020503050405090304" pitchFamily="18" charset="0"/>
                <a:ea typeface="宋体" pitchFamily="2" charset="-122"/>
              </a:defRPr>
            </a:lvl4pPr>
            <a:lvl5pPr>
              <a:defRPr sz="3600">
                <a:solidFill>
                  <a:schemeClr val="tx2"/>
                </a:solidFill>
                <a:latin typeface="Times New Roman" panose="02020503050405090304" pitchFamily="18" charset="0"/>
                <a:ea typeface="宋体" pitchFamily="2" charset="-122"/>
              </a:defRPr>
            </a:lvl5pPr>
            <a:lvl6pPr marL="45720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fontAlgn="base">
              <a:spcBef>
                <a:spcPct val="0"/>
              </a:spcBef>
              <a:spcAft>
                <a:spcPct val="0"/>
              </a:spcAft>
              <a:defRPr sz="3600">
                <a:solidFill>
                  <a:schemeClr val="tx2"/>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第三章</a:t>
            </a:r>
            <a:r>
              <a:rPr kumimoji="0" lang="zh-CN" altLang="en-US" sz="28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zh-CN" altLang="en-US" sz="24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en-US" altLang="zh-CN"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MCS-51</a:t>
            </a: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指令系统</a:t>
            </a:r>
            <a:endParaRPr kumimoji="0" lang="zh-CN" altLang="en-US" sz="3600" b="0"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Times New Roman" panose="02020503050405090304" pitchFamily="18" charset="0"/>
              <a:ea typeface="宋体"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180243"/>
                                        </p:tgtEl>
                                        <p:attrNameLst>
                                          <p:attrName>style.visibility</p:attrName>
                                        </p:attrNameLst>
                                      </p:cBhvr>
                                      <p:to>
                                        <p:strVal val="visible"/>
                                      </p:to>
                                    </p:set>
                                    <p:anim calcmode="lin" valueType="num">
                                      <p:cBhvr additive="base">
                                        <p:cTn id="27" dur="500" fill="hold"/>
                                        <p:tgtEl>
                                          <p:spTgt spid="180243"/>
                                        </p:tgtEl>
                                        <p:attrNameLst>
                                          <p:attrName>ppt_x</p:attrName>
                                        </p:attrNameLst>
                                      </p:cBhvr>
                                      <p:tavLst>
                                        <p:tav tm="0">
                                          <p:val>
                                            <p:strVal val="0-#ppt_w/2"/>
                                          </p:val>
                                        </p:tav>
                                        <p:tav tm="100000">
                                          <p:val>
                                            <p:strVal val="#ppt_x"/>
                                          </p:val>
                                        </p:tav>
                                      </p:tavLst>
                                    </p:anim>
                                    <p:anim calcmode="lin" valueType="num">
                                      <p:cBhvr additive="base">
                                        <p:cTn id="28" dur="500" fill="hold"/>
                                        <p:tgtEl>
                                          <p:spTgt spid="180243"/>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0-#ppt_w/2"/>
                                          </p:val>
                                        </p:tav>
                                        <p:tav tm="100000">
                                          <p:val>
                                            <p:strVal val="#ppt_x"/>
                                          </p:val>
                                        </p:tav>
                                      </p:tavLst>
                                    </p:anim>
                                    <p:anim calcmode="lin" valueType="num">
                                      <p:cBhvr additive="base">
                                        <p:cTn id="3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18026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0-#ppt_w/2"/>
                                          </p:val>
                                        </p:tav>
                                        <p:tav tm="100000">
                                          <p:val>
                                            <p:strVal val="#ppt_x"/>
                                          </p:val>
                                        </p:tav>
                                      </p:tavLst>
                                    </p:anim>
                                    <p:anim calcmode="lin" valueType="num">
                                      <p:cBhvr additive="base">
                                        <p:cTn id="44"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180279"/>
                                        </p:tgtEl>
                                        <p:attrNameLst>
                                          <p:attrName>style.visibility</p:attrName>
                                        </p:attrNameLst>
                                      </p:cBhvr>
                                      <p:to>
                                        <p:strVal val="visible"/>
                                      </p:to>
                                    </p:set>
                                    <p:animEffect transition="in" filter="blinds(horizontal)">
                                      <p:cBhvr>
                                        <p:cTn id="49" dur="500"/>
                                        <p:tgtEl>
                                          <p:spTgt spid="180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43" grpId="0" animBg="1"/>
      <p:bldP spid="180263" grpId="0" animBg="1"/>
      <p:bldP spid="180279"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1251" name="Rectangle 3"/>
          <p:cNvSpPr>
            <a:spLocks noGrp="1"/>
          </p:cNvSpPr>
          <p:nvPr>
            <p:ph idx="1"/>
          </p:nvPr>
        </p:nvSpPr>
        <p:spPr>
          <a:xfrm>
            <a:off x="836613" y="1042988"/>
            <a:ext cx="8056562" cy="3394075"/>
          </a:xfrm>
        </p:spPr>
        <p:txBody>
          <a:bodyPr vert="horz" wrap="square" lIns="91440" tIns="45720" rIns="91440" bIns="45720" anchor="t" anchorCtr="0"/>
          <a:p>
            <a:pPr eaLnBrk="1" hangingPunct="1">
              <a:buNone/>
            </a:pPr>
            <a:r>
              <a:rPr lang="zh-CN" altLang="en-US" sz="2400" b="1" dirty="0">
                <a:solidFill>
                  <a:schemeClr val="hlink"/>
                </a:solidFill>
              </a:rPr>
              <a:t>	  </a:t>
            </a:r>
            <a:r>
              <a:rPr lang="en-US" altLang="zh-CN" sz="2800" b="1" dirty="0">
                <a:solidFill>
                  <a:schemeClr val="tx1"/>
                </a:solidFill>
              </a:rPr>
              <a:t>2、除法指令</a:t>
            </a:r>
            <a:r>
              <a:rPr lang="zh-CN" altLang="en-US" sz="2400" dirty="0"/>
              <a:t>  </a:t>
            </a:r>
            <a:endParaRPr lang="zh-CN" altLang="en-US" sz="2400" dirty="0"/>
          </a:p>
          <a:p>
            <a:pPr eaLnBrk="1" hangingPunct="1">
              <a:buNone/>
            </a:pPr>
            <a:r>
              <a:rPr lang="en-US" altLang="zh-CN" sz="3200" b="1" dirty="0">
                <a:latin typeface="黑体" panose="02010609060101010101" pitchFamily="49" charset="-122"/>
                <a:ea typeface="黑体" panose="02010609060101010101" pitchFamily="49" charset="-122"/>
              </a:rPr>
              <a:t>   DIV	 AB</a:t>
            </a:r>
            <a:r>
              <a:rPr lang="zh-CN" altLang="en-US" sz="3200" b="1" dirty="0">
                <a:latin typeface="黑体" panose="02010609060101010101" pitchFamily="49" charset="-122"/>
                <a:ea typeface="黑体" panose="02010609060101010101" pitchFamily="49" charset="-122"/>
              </a:rPr>
              <a:t>；</a:t>
            </a:r>
            <a:r>
              <a:rPr lang="zh-CN" altLang="en-US" sz="2400" dirty="0"/>
              <a:t>    </a:t>
            </a:r>
            <a:r>
              <a:rPr lang="en-US" altLang="zh-CN" dirty="0">
                <a:solidFill>
                  <a:schemeClr val="hlink"/>
                </a:solidFill>
                <a:latin typeface="宋体" pitchFamily="2" charset="-122"/>
              </a:rPr>
              <a:t>A÷B，A←</a:t>
            </a:r>
            <a:r>
              <a:rPr lang="zh-CN" altLang="en-US" dirty="0">
                <a:solidFill>
                  <a:schemeClr val="hlink"/>
                </a:solidFill>
                <a:latin typeface="宋体" pitchFamily="2" charset="-122"/>
              </a:rPr>
              <a:t>商，</a:t>
            </a:r>
            <a:r>
              <a:rPr lang="en-US" altLang="zh-CN" dirty="0">
                <a:solidFill>
                  <a:schemeClr val="hlink"/>
                </a:solidFill>
                <a:latin typeface="宋体" pitchFamily="2" charset="-122"/>
              </a:rPr>
              <a:t>B←</a:t>
            </a:r>
            <a:r>
              <a:rPr lang="zh-CN" altLang="en-US" dirty="0">
                <a:solidFill>
                  <a:schemeClr val="hlink"/>
                </a:solidFill>
                <a:latin typeface="宋体" pitchFamily="2" charset="-122"/>
              </a:rPr>
              <a:t>余数</a:t>
            </a:r>
            <a:r>
              <a:rPr lang="zh-CN" altLang="en-US" sz="2400" dirty="0"/>
              <a:t> </a:t>
            </a:r>
            <a:endParaRPr lang="zh-CN" altLang="en-US" sz="2400" dirty="0"/>
          </a:p>
          <a:p>
            <a:pPr eaLnBrk="1" latinLnBrk="0" hangingPunct="1">
              <a:spcBef>
                <a:spcPts val="1800"/>
              </a:spcBef>
              <a:buNone/>
            </a:pPr>
            <a:r>
              <a:rPr lang="zh-CN" altLang="en-US" sz="2400" b="1" dirty="0">
                <a:solidFill>
                  <a:schemeClr val="hlink"/>
                </a:solidFill>
              </a:rPr>
              <a:t>说明</a:t>
            </a:r>
            <a:r>
              <a:rPr lang="zh-CN" altLang="en-US" sz="2400" b="1" dirty="0">
                <a:solidFill>
                  <a:schemeClr val="hlink"/>
                </a:solidFill>
                <a:sym typeface="Wingdings" panose="05000000000000000000" pitchFamily="2" charset="2"/>
              </a:rPr>
              <a:t>：</a:t>
            </a:r>
            <a:endParaRPr lang="zh-CN" altLang="en-US" sz="2800" b="1" dirty="0">
              <a:solidFill>
                <a:schemeClr val="hlink"/>
              </a:solidFill>
              <a:sym typeface="Wingdings" panose="05000000000000000000" pitchFamily="2" charset="2"/>
            </a:endParaRPr>
          </a:p>
          <a:p>
            <a:pPr eaLnBrk="1" latinLnBrk="0" hangingPunct="1">
              <a:spcBef>
                <a:spcPts val="1200"/>
              </a:spcBef>
              <a:buNone/>
            </a:pPr>
            <a:r>
              <a:rPr lang="en-US" altLang="zh-CN" sz="2400" dirty="0">
                <a:sym typeface="Wingdings" panose="05000000000000000000" pitchFamily="2" charset="2"/>
              </a:rPr>
              <a:t>1</a:t>
            </a:r>
            <a:r>
              <a:rPr lang="zh-CN" altLang="en-US" sz="2400" dirty="0">
                <a:sym typeface="Wingdings" panose="05000000000000000000" pitchFamily="2" charset="2"/>
              </a:rPr>
              <a:t>）此指令为无符号数除法；</a:t>
            </a:r>
            <a:endParaRPr lang="zh-CN" altLang="en-US" sz="2400" dirty="0">
              <a:sym typeface="Wingdings" panose="05000000000000000000" pitchFamily="2" charset="2"/>
            </a:endParaRPr>
          </a:p>
          <a:p>
            <a:pPr eaLnBrk="1" latinLnBrk="0" hangingPunct="1">
              <a:spcBef>
                <a:spcPts val="600"/>
              </a:spcBef>
              <a:buNone/>
            </a:pPr>
            <a:r>
              <a:rPr lang="en-US" altLang="zh-CN" sz="2400" dirty="0"/>
              <a:t>2</a:t>
            </a:r>
            <a:r>
              <a:rPr lang="zh-CN" altLang="en-US" sz="2400" dirty="0"/>
              <a:t>）执行后</a:t>
            </a:r>
            <a:r>
              <a:rPr lang="en-US" altLang="zh-CN" sz="2400" dirty="0">
                <a:sym typeface="宋体" pitchFamily="2" charset="-122"/>
              </a:rPr>
              <a:t>Cy</a:t>
            </a:r>
            <a:r>
              <a:rPr lang="zh-CN" altLang="en-US" sz="2400" dirty="0">
                <a:sym typeface="宋体" pitchFamily="2" charset="-122"/>
              </a:rPr>
              <a:t>和</a:t>
            </a:r>
            <a:r>
              <a:rPr lang="en-US" altLang="zh-CN" sz="2400" dirty="0">
                <a:sym typeface="宋体" pitchFamily="2" charset="-122"/>
              </a:rPr>
              <a:t>OV</a:t>
            </a:r>
            <a:r>
              <a:rPr lang="zh-CN" altLang="en-US" sz="2400" dirty="0">
                <a:sym typeface="宋体" pitchFamily="2" charset="-122"/>
              </a:rPr>
              <a:t>均被清</a:t>
            </a:r>
            <a:r>
              <a:rPr lang="en-US" altLang="zh-CN" sz="2400" dirty="0">
                <a:sym typeface="宋体" pitchFamily="2" charset="-122"/>
              </a:rPr>
              <a:t>0</a:t>
            </a:r>
            <a:r>
              <a:rPr lang="zh-CN" altLang="en-US" sz="2400" dirty="0"/>
              <a:t>，奇偶标志</a:t>
            </a:r>
            <a:r>
              <a:rPr lang="en-US" altLang="zh-CN" sz="2400" dirty="0"/>
              <a:t>P</a:t>
            </a:r>
            <a:r>
              <a:rPr lang="zh-CN" altLang="en-US" sz="2400" dirty="0"/>
              <a:t>由</a:t>
            </a:r>
            <a:r>
              <a:rPr lang="en-US" altLang="zh-CN" sz="2400" dirty="0"/>
              <a:t>A</a:t>
            </a:r>
            <a:r>
              <a:rPr lang="zh-CN" altLang="en-US" sz="2400" dirty="0"/>
              <a:t>的内容确定。</a:t>
            </a:r>
            <a:endParaRPr lang="zh-CN" altLang="en-US" sz="2400" dirty="0"/>
          </a:p>
          <a:p>
            <a:pPr eaLnBrk="1" hangingPunct="1">
              <a:buNone/>
            </a:pPr>
            <a:r>
              <a:rPr lang="en-US" altLang="zh-CN" sz="2400" dirty="0"/>
              <a:t>3</a:t>
            </a:r>
            <a:r>
              <a:rPr lang="zh-CN" altLang="en-US" sz="2400" dirty="0"/>
              <a:t>）若除数</a:t>
            </a:r>
            <a:r>
              <a:rPr lang="en-US" altLang="zh-CN" sz="2400" dirty="0"/>
              <a:t>(B)=0</a:t>
            </a:r>
            <a:r>
              <a:rPr lang="zh-CN" altLang="en-US" sz="2400" dirty="0"/>
              <a:t>，则</a:t>
            </a:r>
            <a:r>
              <a:rPr lang="en-US" altLang="zh-CN" sz="2400" dirty="0"/>
              <a:t>(OV)=1</a:t>
            </a:r>
            <a:r>
              <a:rPr lang="zh-CN" altLang="en-US" sz="2400" dirty="0"/>
              <a:t>，若</a:t>
            </a:r>
            <a:r>
              <a:rPr lang="en-US" altLang="zh-CN" sz="2400" dirty="0"/>
              <a:t>(B)≠ 0</a:t>
            </a:r>
            <a:r>
              <a:rPr lang="zh-CN" altLang="en-US" sz="2400" dirty="0"/>
              <a:t>，则</a:t>
            </a:r>
            <a:r>
              <a:rPr lang="en-US" altLang="zh-CN" sz="2400" dirty="0"/>
              <a:t>(OV)=0</a:t>
            </a:r>
            <a:r>
              <a:rPr lang="zh-CN" altLang="en-US" sz="2400" dirty="0"/>
              <a:t>；</a:t>
            </a:r>
            <a:r>
              <a:rPr lang="en-US" altLang="zh-CN" sz="2400" dirty="0"/>
              <a:t>(Cy)=0</a:t>
            </a:r>
            <a:endParaRPr lang="en-US" altLang="zh-CN" sz="2400" dirty="0"/>
          </a:p>
          <a:p>
            <a:pPr eaLnBrk="1" hangingPunct="1">
              <a:buNone/>
            </a:pPr>
            <a:endParaRPr lang="zh-CN" altLang="en-US" sz="2400" dirty="0"/>
          </a:p>
        </p:txBody>
      </p:sp>
      <p:sp>
        <p:nvSpPr>
          <p:cNvPr id="181252" name="Rectangle 4"/>
          <p:cNvSpPr/>
          <p:nvPr/>
        </p:nvSpPr>
        <p:spPr>
          <a:xfrm>
            <a:off x="903288" y="4262438"/>
            <a:ext cx="7245350" cy="1789112"/>
          </a:xfrm>
          <a:prstGeom prst="rect">
            <a:avLst/>
          </a:prstGeom>
          <a:noFill/>
          <a:ln w="9525">
            <a:noFill/>
          </a:ln>
        </p:spPr>
        <p:txBody>
          <a:bodyPr wrap="none" anchor="t" anchorCtr="0">
            <a:spAutoFit/>
          </a:bodyPr>
          <a:p>
            <a:pPr>
              <a:spcBef>
                <a:spcPct val="20000"/>
              </a:spcBef>
              <a:buClr>
                <a:schemeClr val="accent2"/>
              </a:buClr>
              <a:buSzPct val="80000"/>
            </a:pPr>
            <a:r>
              <a:rPr lang="zh-CN" altLang="en-US" b="0" dirty="0">
                <a:latin typeface="Times New Roman" panose="02020503050405090304" pitchFamily="18" charset="0"/>
                <a:ea typeface="黑体" panose="02010609060101010101" pitchFamily="49" charset="-122"/>
              </a:rPr>
              <a:t>例：</a:t>
            </a:r>
            <a:r>
              <a:rPr lang="zh-CN" altLang="zh-CN" b="0" dirty="0">
                <a:latin typeface="Times New Roman" panose="02020503050405090304" pitchFamily="18" charset="0"/>
                <a:ea typeface="黑体" panose="02010609060101010101" pitchFamily="49" charset="-122"/>
              </a:rPr>
              <a:t>A= 156(F6H)，B= 13(0DH)，执行指令 DIV AB后</a:t>
            </a:r>
            <a:endParaRPr lang="zh-CN" altLang="zh-CN" b="0" dirty="0">
              <a:latin typeface="Times New Roman" panose="02020503050405090304" pitchFamily="18" charset="0"/>
              <a:ea typeface="黑体" panose="02010609060101010101" pitchFamily="49" charset="-122"/>
            </a:endParaRPr>
          </a:p>
          <a:p>
            <a:pPr>
              <a:spcBef>
                <a:spcPct val="20000"/>
              </a:spcBef>
              <a:buClr>
                <a:schemeClr val="accent2"/>
              </a:buClr>
              <a:buSzPct val="80000"/>
            </a:pPr>
            <a:r>
              <a:rPr lang="zh-CN" altLang="zh-CN" b="0" dirty="0">
                <a:latin typeface="Times New Roman" panose="02020503050405090304" pitchFamily="18" charset="0"/>
                <a:ea typeface="黑体" panose="02010609060101010101" pitchFamily="49" charset="-122"/>
              </a:rPr>
              <a:t>  </a:t>
            </a:r>
            <a:r>
              <a:rPr lang="zh-CN" altLang="zh-CN" b="0" dirty="0">
                <a:solidFill>
                  <a:schemeClr val="hlink"/>
                </a:solidFill>
                <a:latin typeface="Times New Roman" panose="02020503050405090304" pitchFamily="18" charset="0"/>
                <a:ea typeface="黑体" panose="02010609060101010101" pitchFamily="49" charset="-122"/>
              </a:rPr>
              <a:t>求：A=</a:t>
            </a:r>
            <a:r>
              <a:rPr lang="en-US" altLang="zh-CN" b="0" dirty="0">
                <a:solidFill>
                  <a:schemeClr val="hlink"/>
                </a:solidFill>
                <a:latin typeface="Times New Roman" panose="02020503050405090304" pitchFamily="18" charset="0"/>
                <a:ea typeface="黑体" panose="02010609060101010101" pitchFamily="49" charset="-122"/>
              </a:rPr>
              <a:t> </a:t>
            </a:r>
            <a:r>
              <a:rPr lang="zh-CN" altLang="zh-CN" b="0" dirty="0">
                <a:solidFill>
                  <a:schemeClr val="hlink"/>
                </a:solidFill>
                <a:latin typeface="Times New Roman" panose="02020503050405090304" pitchFamily="18" charset="0"/>
                <a:ea typeface="黑体" panose="02010609060101010101" pitchFamily="49" charset="-122"/>
              </a:rPr>
              <a:t> ，B=</a:t>
            </a:r>
            <a:r>
              <a:rPr lang="zh-CN" altLang="en-US" b="0" dirty="0">
                <a:solidFill>
                  <a:schemeClr val="hlink"/>
                </a:solidFill>
                <a:latin typeface="Times New Roman" panose="02020503050405090304" pitchFamily="18" charset="0"/>
                <a:ea typeface="黑体" panose="02010609060101010101" pitchFamily="49" charset="-122"/>
              </a:rPr>
              <a:t> </a:t>
            </a:r>
            <a:r>
              <a:rPr lang="zh-CN" altLang="zh-CN" b="0" dirty="0">
                <a:solidFill>
                  <a:schemeClr val="hlink"/>
                </a:solidFill>
                <a:latin typeface="Times New Roman" panose="02020503050405090304" pitchFamily="18" charset="0"/>
                <a:ea typeface="黑体" panose="02010609060101010101" pitchFamily="49" charset="-122"/>
              </a:rPr>
              <a:t>，Cy=</a:t>
            </a:r>
            <a:r>
              <a:rPr lang="zh-CN" altLang="en-US" b="0" dirty="0">
                <a:solidFill>
                  <a:schemeClr val="hlink"/>
                </a:solidFill>
                <a:latin typeface="Times New Roman" panose="02020503050405090304" pitchFamily="18" charset="0"/>
                <a:ea typeface="黑体" panose="02010609060101010101" pitchFamily="49" charset="-122"/>
              </a:rPr>
              <a:t> </a:t>
            </a:r>
            <a:r>
              <a:rPr lang="zh-CN" altLang="zh-CN" b="0" dirty="0">
                <a:solidFill>
                  <a:schemeClr val="hlink"/>
                </a:solidFill>
                <a:latin typeface="Times New Roman" panose="02020503050405090304" pitchFamily="18" charset="0"/>
                <a:ea typeface="黑体" panose="02010609060101010101" pitchFamily="49" charset="-122"/>
              </a:rPr>
              <a:t>，OV=</a:t>
            </a:r>
            <a:r>
              <a:rPr lang="zh-CN" altLang="en-US" b="0" dirty="0">
                <a:solidFill>
                  <a:schemeClr val="hlink"/>
                </a:solidFill>
                <a:latin typeface="Times New Roman" panose="02020503050405090304" pitchFamily="18" charset="0"/>
                <a:ea typeface="黑体" panose="02010609060101010101" pitchFamily="49" charset="-122"/>
              </a:rPr>
              <a:t> </a:t>
            </a:r>
            <a:r>
              <a:rPr lang="zh-CN" altLang="zh-CN" b="0" dirty="0">
                <a:solidFill>
                  <a:schemeClr val="hlink"/>
                </a:solidFill>
                <a:latin typeface="Times New Roman" panose="02020503050405090304" pitchFamily="18" charset="0"/>
                <a:ea typeface="黑体" panose="02010609060101010101" pitchFamily="49" charset="-122"/>
              </a:rPr>
              <a:t>，P=</a:t>
            </a:r>
            <a:r>
              <a:rPr lang="zh-CN" altLang="en-US" b="0" dirty="0">
                <a:solidFill>
                  <a:schemeClr val="hlink"/>
                </a:solidFill>
                <a:latin typeface="Times New Roman" panose="02020503050405090304" pitchFamily="18" charset="0"/>
                <a:ea typeface="黑体" panose="02010609060101010101" pitchFamily="49" charset="-122"/>
              </a:rPr>
              <a:t> </a:t>
            </a:r>
            <a:endParaRPr lang="zh-CN" altLang="zh-CN" b="0" dirty="0">
              <a:solidFill>
                <a:schemeClr val="hlink"/>
              </a:solidFill>
              <a:latin typeface="Times New Roman" panose="02020503050405090304" pitchFamily="18" charset="0"/>
              <a:ea typeface="黑体" panose="02010609060101010101" pitchFamily="49" charset="-122"/>
            </a:endParaRPr>
          </a:p>
          <a:p>
            <a:pPr>
              <a:spcBef>
                <a:spcPct val="20000"/>
              </a:spcBef>
              <a:buClr>
                <a:schemeClr val="accent2"/>
              </a:buClr>
              <a:buSzPct val="80000"/>
            </a:pPr>
            <a:r>
              <a:rPr lang="zh-CN" altLang="zh-CN" b="0" dirty="0">
                <a:latin typeface="Times New Roman" panose="02020503050405090304" pitchFamily="18" charset="0"/>
                <a:ea typeface="黑体" panose="02010609060101010101" pitchFamily="49" charset="-122"/>
              </a:rPr>
              <a:t>解： 156 ÷ 13 = 1</a:t>
            </a:r>
            <a:r>
              <a:rPr lang="en-US" altLang="zh-CN" b="0" dirty="0">
                <a:latin typeface="Times New Roman" panose="02020503050405090304" pitchFamily="18" charset="0"/>
                <a:ea typeface="黑体" panose="02010609060101010101" pitchFamily="49" charset="-122"/>
              </a:rPr>
              <a:t>2</a:t>
            </a:r>
            <a:r>
              <a:rPr lang="zh-CN" altLang="zh-CN" b="0" dirty="0">
                <a:latin typeface="Times New Roman" panose="02020503050405090304" pitchFamily="18" charset="0"/>
                <a:ea typeface="黑体" panose="02010609060101010101" pitchFamily="49" charset="-122"/>
              </a:rPr>
              <a:t>(</a:t>
            </a:r>
            <a:r>
              <a:rPr lang="en-US" altLang="zh-CN" b="0" dirty="0">
                <a:latin typeface="Times New Roman" panose="02020503050405090304" pitchFamily="18" charset="0"/>
                <a:ea typeface="黑体" panose="02010609060101010101" pitchFamily="49" charset="-122"/>
              </a:rPr>
              <a:t>0C</a:t>
            </a:r>
            <a:r>
              <a:rPr lang="zh-CN" altLang="zh-CN" b="0" dirty="0">
                <a:latin typeface="Times New Roman" panose="02020503050405090304" pitchFamily="18" charset="0"/>
                <a:ea typeface="黑体" panose="02010609060101010101" pitchFamily="49" charset="-122"/>
              </a:rPr>
              <a:t>H</a:t>
            </a:r>
            <a:r>
              <a:rPr lang="zh-CN" altLang="en-US" b="0" dirty="0">
                <a:latin typeface="Times New Roman" panose="02020503050405090304" pitchFamily="18" charset="0"/>
                <a:ea typeface="黑体" panose="02010609060101010101" pitchFamily="49" charset="-122"/>
              </a:rPr>
              <a:t>=</a:t>
            </a:r>
            <a:r>
              <a:rPr lang="zh-CN" altLang="zh-CN" b="0" dirty="0">
                <a:latin typeface="Times New Roman" panose="02020503050405090304" pitchFamily="18" charset="0"/>
                <a:ea typeface="仿宋_GB2312" pitchFamily="49" charset="-122"/>
              </a:rPr>
              <a:t>11</a:t>
            </a:r>
            <a:r>
              <a:rPr lang="en-US" altLang="zh-CN" b="0" dirty="0">
                <a:latin typeface="Times New Roman" panose="02020503050405090304" pitchFamily="18" charset="0"/>
                <a:ea typeface="仿宋_GB2312" pitchFamily="49" charset="-122"/>
              </a:rPr>
              <a:t>0</a:t>
            </a:r>
            <a:r>
              <a:rPr lang="zh-CN" altLang="zh-CN" b="0" dirty="0">
                <a:latin typeface="Times New Roman" panose="02020503050405090304" pitchFamily="18" charset="0"/>
                <a:ea typeface="仿宋_GB2312" pitchFamily="49" charset="-122"/>
              </a:rPr>
              <a:t>0</a:t>
            </a:r>
            <a:r>
              <a:rPr lang="zh-CN" altLang="en-US" b="0" dirty="0">
                <a:latin typeface="Times New Roman" panose="02020503050405090304" pitchFamily="18" charset="0"/>
                <a:ea typeface="仿宋_GB2312" pitchFamily="49" charset="-122"/>
              </a:rPr>
              <a:t>B</a:t>
            </a:r>
            <a:r>
              <a:rPr lang="zh-CN" altLang="zh-CN" b="0" dirty="0">
                <a:latin typeface="Times New Roman" panose="02020503050405090304" pitchFamily="18" charset="0"/>
                <a:ea typeface="黑体" panose="02010609060101010101" pitchFamily="49" charset="-122"/>
              </a:rPr>
              <a:t>)，余数= </a:t>
            </a:r>
            <a:r>
              <a:rPr lang="zh-CN" altLang="en-US" b="0" dirty="0">
                <a:latin typeface="Times New Roman" panose="02020503050405090304" pitchFamily="18" charset="0"/>
                <a:ea typeface="黑体" panose="02010609060101010101" pitchFamily="49" charset="-122"/>
              </a:rPr>
              <a:t>0</a:t>
            </a:r>
            <a:r>
              <a:rPr lang="zh-CN" altLang="zh-CN" b="0" dirty="0">
                <a:latin typeface="Times New Roman" panose="02020503050405090304" pitchFamily="18" charset="0"/>
                <a:ea typeface="黑体" panose="02010609060101010101" pitchFamily="49" charset="-122"/>
              </a:rPr>
              <a:t>(0</a:t>
            </a:r>
            <a:r>
              <a:rPr lang="zh-CN" altLang="en-US" b="0" dirty="0">
                <a:latin typeface="Times New Roman" panose="02020503050405090304" pitchFamily="18" charset="0"/>
                <a:ea typeface="黑体" panose="02010609060101010101" pitchFamily="49" charset="-122"/>
              </a:rPr>
              <a:t>0</a:t>
            </a:r>
            <a:r>
              <a:rPr lang="zh-CN" altLang="zh-CN" b="0" dirty="0">
                <a:latin typeface="Times New Roman" panose="02020503050405090304" pitchFamily="18" charset="0"/>
                <a:ea typeface="黑体" panose="02010609060101010101" pitchFamily="49" charset="-122"/>
              </a:rPr>
              <a:t>H)。</a:t>
            </a:r>
            <a:endParaRPr lang="zh-CN" altLang="zh-CN" b="0" dirty="0">
              <a:latin typeface="Times New Roman" panose="02020503050405090304" pitchFamily="18" charset="0"/>
              <a:ea typeface="黑体" panose="02010609060101010101" pitchFamily="49" charset="-122"/>
            </a:endParaRPr>
          </a:p>
          <a:p>
            <a:pPr>
              <a:spcBef>
                <a:spcPct val="20000"/>
              </a:spcBef>
              <a:buClr>
                <a:schemeClr val="accent2"/>
              </a:buClr>
              <a:buSzPct val="80000"/>
            </a:pPr>
            <a:r>
              <a:rPr lang="zh-CN" altLang="zh-CN" b="0" dirty="0">
                <a:solidFill>
                  <a:schemeClr val="hlink"/>
                </a:solidFill>
                <a:latin typeface="Times New Roman" panose="02020503050405090304" pitchFamily="18" charset="0"/>
                <a:ea typeface="黑体" panose="02010609060101010101" pitchFamily="49" charset="-122"/>
              </a:rPr>
              <a:t>A=</a:t>
            </a:r>
            <a:r>
              <a:rPr lang="en-US" altLang="zh-CN" b="0" dirty="0">
                <a:solidFill>
                  <a:schemeClr val="hlink"/>
                </a:solidFill>
                <a:latin typeface="Times New Roman" panose="02020503050405090304" pitchFamily="18" charset="0"/>
                <a:ea typeface="黑体" panose="02010609060101010101" pitchFamily="49" charset="-122"/>
              </a:rPr>
              <a:t>0CH</a:t>
            </a:r>
            <a:r>
              <a:rPr lang="zh-CN" altLang="zh-CN" b="0" dirty="0">
                <a:solidFill>
                  <a:schemeClr val="hlink"/>
                </a:solidFill>
                <a:latin typeface="Times New Roman" panose="02020503050405090304" pitchFamily="18" charset="0"/>
                <a:ea typeface="黑体" panose="02010609060101010101" pitchFamily="49" charset="-122"/>
              </a:rPr>
              <a:t> ，B=</a:t>
            </a:r>
            <a:r>
              <a:rPr lang="zh-CN" altLang="en-US" b="0" dirty="0">
                <a:solidFill>
                  <a:schemeClr val="hlink"/>
                </a:solidFill>
                <a:latin typeface="Times New Roman" panose="02020503050405090304" pitchFamily="18" charset="0"/>
                <a:ea typeface="黑体" panose="02010609060101010101" pitchFamily="49" charset="-122"/>
              </a:rPr>
              <a:t>0</a:t>
            </a:r>
            <a:r>
              <a:rPr lang="en-US" altLang="zh-CN" b="0" dirty="0">
                <a:solidFill>
                  <a:schemeClr val="hlink"/>
                </a:solidFill>
                <a:latin typeface="Times New Roman" panose="02020503050405090304" pitchFamily="18" charset="0"/>
                <a:ea typeface="黑体" panose="02010609060101010101" pitchFamily="49" charset="-122"/>
              </a:rPr>
              <a:t>0H</a:t>
            </a:r>
            <a:r>
              <a:rPr lang="zh-CN" altLang="zh-CN" b="0" dirty="0">
                <a:solidFill>
                  <a:schemeClr val="hlink"/>
                </a:solidFill>
                <a:latin typeface="Times New Roman" panose="02020503050405090304" pitchFamily="18" charset="0"/>
                <a:ea typeface="黑体" panose="02010609060101010101" pitchFamily="49" charset="-122"/>
              </a:rPr>
              <a:t>，Cy=</a:t>
            </a:r>
            <a:r>
              <a:rPr lang="zh-CN" altLang="en-US" b="0" dirty="0">
                <a:solidFill>
                  <a:schemeClr val="hlink"/>
                </a:solidFill>
                <a:latin typeface="Times New Roman" panose="02020503050405090304" pitchFamily="18" charset="0"/>
                <a:ea typeface="黑体" panose="02010609060101010101" pitchFamily="49" charset="-122"/>
              </a:rPr>
              <a:t>0</a:t>
            </a:r>
            <a:r>
              <a:rPr lang="zh-CN" altLang="zh-CN" b="0" dirty="0">
                <a:solidFill>
                  <a:schemeClr val="hlink"/>
                </a:solidFill>
                <a:latin typeface="Times New Roman" panose="02020503050405090304" pitchFamily="18" charset="0"/>
                <a:ea typeface="黑体" panose="02010609060101010101" pitchFamily="49" charset="-122"/>
              </a:rPr>
              <a:t> ，OV=</a:t>
            </a:r>
            <a:r>
              <a:rPr lang="zh-CN" altLang="en-US" b="0" dirty="0">
                <a:solidFill>
                  <a:schemeClr val="hlink"/>
                </a:solidFill>
                <a:latin typeface="Times New Roman" panose="02020503050405090304" pitchFamily="18" charset="0"/>
                <a:ea typeface="黑体" panose="02010609060101010101" pitchFamily="49" charset="-122"/>
              </a:rPr>
              <a:t>0</a:t>
            </a:r>
            <a:r>
              <a:rPr lang="zh-CN" altLang="zh-CN" b="0" dirty="0">
                <a:solidFill>
                  <a:schemeClr val="hlink"/>
                </a:solidFill>
                <a:latin typeface="Times New Roman" panose="02020503050405090304" pitchFamily="18" charset="0"/>
                <a:ea typeface="黑体" panose="02010609060101010101" pitchFamily="49" charset="-122"/>
              </a:rPr>
              <a:t>，P=</a:t>
            </a:r>
            <a:r>
              <a:rPr lang="zh-CN" altLang="en-US" b="0" dirty="0">
                <a:solidFill>
                  <a:schemeClr val="hlink"/>
                </a:solidFill>
                <a:latin typeface="Times New Roman" panose="02020503050405090304" pitchFamily="18" charset="0"/>
                <a:ea typeface="黑体" panose="02010609060101010101" pitchFamily="49" charset="-122"/>
              </a:rPr>
              <a:t>0</a:t>
            </a:r>
            <a:endParaRPr lang="en-US" altLang="zh-CN" b="0" dirty="0">
              <a:latin typeface="Times New Roman" panose="02020503050405090304" pitchFamily="18" charset="0"/>
              <a:ea typeface="黑体" panose="02010609060101010101" pitchFamily="49" charset="-122"/>
            </a:endParaRPr>
          </a:p>
        </p:txBody>
      </p:sp>
      <p:sp>
        <p:nvSpPr>
          <p:cNvPr id="87042" name="Rectangle 2"/>
          <p:cNvSpPr>
            <a:spLocks noChangeArrowheads="1"/>
          </p:cNvSpPr>
          <p:nvPr/>
        </p:nvSpPr>
        <p:spPr bwMode="auto">
          <a:xfrm>
            <a:off x="214313" y="214313"/>
            <a:ext cx="8763000" cy="609600"/>
          </a:xfrm>
          <a:prstGeom prst="rect">
            <a:avLst/>
          </a:prstGeom>
          <a:noFill/>
          <a:ln>
            <a:noFill/>
          </a:ln>
        </p:spPr>
        <p:txBody>
          <a:bodyPr anchor="ctr"/>
          <a:lstStyle>
            <a:lvl1pPr>
              <a:defRPr sz="3600">
                <a:solidFill>
                  <a:schemeClr val="tx2"/>
                </a:solidFill>
                <a:latin typeface="Times New Roman" panose="02020503050405090304" pitchFamily="18" charset="0"/>
                <a:ea typeface="宋体" pitchFamily="2" charset="-122"/>
              </a:defRPr>
            </a:lvl1pPr>
            <a:lvl2pPr>
              <a:defRPr sz="3600">
                <a:solidFill>
                  <a:schemeClr val="tx2"/>
                </a:solidFill>
                <a:latin typeface="Times New Roman" panose="02020503050405090304" pitchFamily="18" charset="0"/>
                <a:ea typeface="宋体" pitchFamily="2" charset="-122"/>
              </a:defRPr>
            </a:lvl2pPr>
            <a:lvl3pPr>
              <a:defRPr sz="3600">
                <a:solidFill>
                  <a:schemeClr val="tx2"/>
                </a:solidFill>
                <a:latin typeface="Times New Roman" panose="02020503050405090304" pitchFamily="18" charset="0"/>
                <a:ea typeface="宋体" pitchFamily="2" charset="-122"/>
              </a:defRPr>
            </a:lvl3pPr>
            <a:lvl4pPr>
              <a:defRPr sz="3600">
                <a:solidFill>
                  <a:schemeClr val="tx2"/>
                </a:solidFill>
                <a:latin typeface="Times New Roman" panose="02020503050405090304" pitchFamily="18" charset="0"/>
                <a:ea typeface="宋体" pitchFamily="2" charset="-122"/>
              </a:defRPr>
            </a:lvl4pPr>
            <a:lvl5pPr>
              <a:defRPr sz="3600">
                <a:solidFill>
                  <a:schemeClr val="tx2"/>
                </a:solidFill>
                <a:latin typeface="Times New Roman" panose="02020503050405090304" pitchFamily="18" charset="0"/>
                <a:ea typeface="宋体" pitchFamily="2" charset="-122"/>
              </a:defRPr>
            </a:lvl5pPr>
            <a:lvl6pPr marL="45720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fontAlgn="base">
              <a:spcBef>
                <a:spcPct val="0"/>
              </a:spcBef>
              <a:spcAft>
                <a:spcPct val="0"/>
              </a:spcAft>
              <a:defRPr sz="3600">
                <a:solidFill>
                  <a:schemeClr val="tx2"/>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第三章</a:t>
            </a:r>
            <a:r>
              <a:rPr kumimoji="0" lang="zh-CN" altLang="en-US" sz="28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zh-CN" altLang="en-US" sz="24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en-US" altLang="zh-CN"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MCS-51</a:t>
            </a: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指令系统</a:t>
            </a:r>
            <a:endParaRPr kumimoji="0" lang="zh-CN" altLang="en-US" sz="3600" b="0"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Times New Roman" panose="02020503050405090304" pitchFamily="18" charset="0"/>
              <a:ea typeface="宋体"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1251">
                                            <p:txEl>
                                              <p:charRg st="41" end="45"/>
                                            </p:txEl>
                                          </p:spTgt>
                                        </p:tgtEl>
                                        <p:attrNameLst>
                                          <p:attrName>style.visibility</p:attrName>
                                        </p:attrNameLst>
                                      </p:cBhvr>
                                      <p:to>
                                        <p:strVal val="visible"/>
                                      </p:to>
                                    </p:set>
                                    <p:anim calcmode="lin" valueType="num">
                                      <p:cBhvr additive="base">
                                        <p:cTn id="7" dur="500" fill="hold"/>
                                        <p:tgtEl>
                                          <p:spTgt spid="181251">
                                            <p:txEl>
                                              <p:charRg st="41" end="4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1251">
                                            <p:txEl>
                                              <p:charRg st="41" end="4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81251">
                                            <p:txEl>
                                              <p:charRg st="45" end="59"/>
                                            </p:txEl>
                                          </p:spTgt>
                                        </p:tgtEl>
                                        <p:attrNameLst>
                                          <p:attrName>style.visibility</p:attrName>
                                        </p:attrNameLst>
                                      </p:cBhvr>
                                      <p:to>
                                        <p:strVal val="visible"/>
                                      </p:to>
                                    </p:set>
                                    <p:anim calcmode="lin" valueType="num">
                                      <p:cBhvr additive="base">
                                        <p:cTn id="11" dur="500" fill="hold"/>
                                        <p:tgtEl>
                                          <p:spTgt spid="181251">
                                            <p:txEl>
                                              <p:charRg st="45" end="59"/>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81251">
                                            <p:txEl>
                                              <p:charRg st="45" end="59"/>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81251">
                                            <p:txEl>
                                              <p:charRg st="59" end="88"/>
                                            </p:txEl>
                                          </p:spTgt>
                                        </p:tgtEl>
                                        <p:attrNameLst>
                                          <p:attrName>style.visibility</p:attrName>
                                        </p:attrNameLst>
                                      </p:cBhvr>
                                      <p:to>
                                        <p:strVal val="visible"/>
                                      </p:to>
                                    </p:set>
                                    <p:anim calcmode="lin" valueType="num">
                                      <p:cBhvr additive="base">
                                        <p:cTn id="15" dur="500" fill="hold"/>
                                        <p:tgtEl>
                                          <p:spTgt spid="181251">
                                            <p:txEl>
                                              <p:charRg st="59" end="8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81251">
                                            <p:txEl>
                                              <p:charRg st="59" end="8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81251">
                                            <p:txEl>
                                              <p:charRg st="88" end="130"/>
                                            </p:txEl>
                                          </p:spTgt>
                                        </p:tgtEl>
                                        <p:attrNameLst>
                                          <p:attrName>style.visibility</p:attrName>
                                        </p:attrNameLst>
                                      </p:cBhvr>
                                      <p:to>
                                        <p:strVal val="visible"/>
                                      </p:to>
                                    </p:set>
                                    <p:anim calcmode="lin" valueType="num">
                                      <p:cBhvr additive="base">
                                        <p:cTn id="19" dur="500" fill="hold"/>
                                        <p:tgtEl>
                                          <p:spTgt spid="181251">
                                            <p:txEl>
                                              <p:charRg st="88" end="13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1251">
                                            <p:txEl>
                                              <p:charRg st="88" end="13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81252">
                                            <p:txEl>
                                              <p:charRg st="0" end="38"/>
                                            </p:txEl>
                                          </p:spTgt>
                                        </p:tgtEl>
                                        <p:attrNameLst>
                                          <p:attrName>style.visibility</p:attrName>
                                        </p:attrNameLst>
                                      </p:cBhvr>
                                      <p:to>
                                        <p:strVal val="visible"/>
                                      </p:to>
                                    </p:set>
                                    <p:anim calcmode="lin" valueType="num">
                                      <p:cBhvr additive="base">
                                        <p:cTn id="25" dur="500" fill="hold"/>
                                        <p:tgtEl>
                                          <p:spTgt spid="181252">
                                            <p:txEl>
                                              <p:charRg st="0" end="3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81252">
                                            <p:txEl>
                                              <p:charRg st="0" end="38"/>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81252">
                                            <p:txEl>
                                              <p:charRg st="38" end="65"/>
                                            </p:txEl>
                                          </p:spTgt>
                                        </p:tgtEl>
                                        <p:attrNameLst>
                                          <p:attrName>style.visibility</p:attrName>
                                        </p:attrNameLst>
                                      </p:cBhvr>
                                      <p:to>
                                        <p:strVal val="visible"/>
                                      </p:to>
                                    </p:set>
                                    <p:anim calcmode="lin" valueType="num">
                                      <p:cBhvr additive="base">
                                        <p:cTn id="29" dur="500" fill="hold"/>
                                        <p:tgtEl>
                                          <p:spTgt spid="181252">
                                            <p:txEl>
                                              <p:charRg st="38" end="6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81252">
                                            <p:txEl>
                                              <p:charRg st="38" end="6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81252">
                                            <p:txEl>
                                              <p:charRg st="65" end="105"/>
                                            </p:txEl>
                                          </p:spTgt>
                                        </p:tgtEl>
                                        <p:attrNameLst>
                                          <p:attrName>style.visibility</p:attrName>
                                        </p:attrNameLst>
                                      </p:cBhvr>
                                      <p:to>
                                        <p:strVal val="visible"/>
                                      </p:to>
                                    </p:set>
                                    <p:anim calcmode="lin" valueType="num">
                                      <p:cBhvr additive="base">
                                        <p:cTn id="35" dur="500" fill="hold"/>
                                        <p:tgtEl>
                                          <p:spTgt spid="181252">
                                            <p:txEl>
                                              <p:charRg st="65" end="10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81252">
                                            <p:txEl>
                                              <p:charRg st="65" end="10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81252">
                                            <p:txEl>
                                              <p:charRg st="105" end="133"/>
                                            </p:txEl>
                                          </p:spTgt>
                                        </p:tgtEl>
                                        <p:attrNameLst>
                                          <p:attrName>style.visibility</p:attrName>
                                        </p:attrNameLst>
                                      </p:cBhvr>
                                      <p:to>
                                        <p:strVal val="visible"/>
                                      </p:to>
                                    </p:set>
                                    <p:anim calcmode="lin" valueType="num">
                                      <p:cBhvr additive="base">
                                        <p:cTn id="41" dur="500" fill="hold"/>
                                        <p:tgtEl>
                                          <p:spTgt spid="181252">
                                            <p:txEl>
                                              <p:charRg st="105" end="133"/>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81252">
                                            <p:txEl>
                                              <p:charRg st="105" end="13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3" name="Rectangle 2"/>
          <p:cNvSpPr>
            <a:spLocks noGrp="1"/>
          </p:cNvSpPr>
          <p:nvPr>
            <p:ph type="title"/>
          </p:nvPr>
        </p:nvSpPr>
        <p:spPr>
          <a:xfrm>
            <a:off x="611188" y="908050"/>
            <a:ext cx="7605712" cy="765175"/>
          </a:xfrm>
        </p:spPr>
        <p:txBody>
          <a:bodyPr vert="horz" wrap="square" lIns="91440" tIns="45720" rIns="91440" bIns="45720" anchor="ctr" anchorCtr="0"/>
          <a:p>
            <a:pPr eaLnBrk="1" hangingPunct="1"/>
            <a:r>
              <a:rPr lang="zh-CN" altLang="en-US" b="1" dirty="0">
                <a:latin typeface="华文新魏" pitchFamily="2" charset="-122"/>
                <a:ea typeface="华文新魏" pitchFamily="2" charset="-122"/>
              </a:rPr>
              <a:t>算术运算指令</a:t>
            </a:r>
            <a:r>
              <a:rPr lang="en-US" altLang="zh-CN" b="1" dirty="0">
                <a:solidFill>
                  <a:schemeClr val="tx1"/>
                </a:solidFill>
                <a:latin typeface="Arial" panose="020B0604020202090204" pitchFamily="34" charset="0"/>
                <a:ea typeface="华文新魏" pitchFamily="2" charset="-122"/>
              </a:rPr>
              <a:t>——</a:t>
            </a:r>
            <a:r>
              <a:rPr lang="zh-CN" altLang="en-US" b="1" u="sng" dirty="0">
                <a:latin typeface="华文新魏" pitchFamily="2" charset="-122"/>
                <a:ea typeface="华文新魏" pitchFamily="2" charset="-122"/>
              </a:rPr>
              <a:t>总结</a:t>
            </a:r>
            <a:endParaRPr lang="zh-CN" altLang="en-US" b="1" u="sng" dirty="0">
              <a:latin typeface="华文新魏" pitchFamily="2" charset="-122"/>
              <a:ea typeface="华文新魏" pitchFamily="2" charset="-122"/>
            </a:endParaRPr>
          </a:p>
        </p:txBody>
      </p:sp>
      <p:pic>
        <p:nvPicPr>
          <p:cNvPr id="182275" name="Picture 3" descr="图3"/>
          <p:cNvPicPr>
            <a:picLocks noChangeAspect="1"/>
          </p:cNvPicPr>
          <p:nvPr/>
        </p:nvPicPr>
        <p:blipFill>
          <a:blip r:embed="rId1"/>
          <a:stretch>
            <a:fillRect/>
          </a:stretch>
        </p:blipFill>
        <p:spPr>
          <a:xfrm>
            <a:off x="538163" y="2051050"/>
            <a:ext cx="8066087" cy="3629025"/>
          </a:xfrm>
          <a:prstGeom prst="rect">
            <a:avLst/>
          </a:prstGeom>
          <a:noFill/>
          <a:ln w="9525">
            <a:noFill/>
          </a:ln>
        </p:spPr>
      </p:pic>
      <p:sp>
        <p:nvSpPr>
          <p:cNvPr id="87042" name="Rectangle 2"/>
          <p:cNvSpPr>
            <a:spLocks noChangeArrowheads="1"/>
          </p:cNvSpPr>
          <p:nvPr/>
        </p:nvSpPr>
        <p:spPr bwMode="auto">
          <a:xfrm>
            <a:off x="214313" y="214313"/>
            <a:ext cx="8763000" cy="609600"/>
          </a:xfrm>
          <a:prstGeom prst="rect">
            <a:avLst/>
          </a:prstGeom>
          <a:noFill/>
          <a:ln>
            <a:noFill/>
          </a:ln>
        </p:spPr>
        <p:txBody>
          <a:bodyPr anchor="ctr"/>
          <a:lstStyle>
            <a:lvl1pPr>
              <a:defRPr sz="3600">
                <a:solidFill>
                  <a:schemeClr val="tx2"/>
                </a:solidFill>
                <a:latin typeface="Times New Roman" panose="02020503050405090304" pitchFamily="18" charset="0"/>
                <a:ea typeface="宋体" pitchFamily="2" charset="-122"/>
              </a:defRPr>
            </a:lvl1pPr>
            <a:lvl2pPr>
              <a:defRPr sz="3600">
                <a:solidFill>
                  <a:schemeClr val="tx2"/>
                </a:solidFill>
                <a:latin typeface="Times New Roman" panose="02020503050405090304" pitchFamily="18" charset="0"/>
                <a:ea typeface="宋体" pitchFamily="2" charset="-122"/>
              </a:defRPr>
            </a:lvl2pPr>
            <a:lvl3pPr>
              <a:defRPr sz="3600">
                <a:solidFill>
                  <a:schemeClr val="tx2"/>
                </a:solidFill>
                <a:latin typeface="Times New Roman" panose="02020503050405090304" pitchFamily="18" charset="0"/>
                <a:ea typeface="宋体" pitchFamily="2" charset="-122"/>
              </a:defRPr>
            </a:lvl3pPr>
            <a:lvl4pPr>
              <a:defRPr sz="3600">
                <a:solidFill>
                  <a:schemeClr val="tx2"/>
                </a:solidFill>
                <a:latin typeface="Times New Roman" panose="02020503050405090304" pitchFamily="18" charset="0"/>
                <a:ea typeface="宋体" pitchFamily="2" charset="-122"/>
              </a:defRPr>
            </a:lvl4pPr>
            <a:lvl5pPr>
              <a:defRPr sz="3600">
                <a:solidFill>
                  <a:schemeClr val="tx2"/>
                </a:solidFill>
                <a:latin typeface="Times New Roman" panose="02020503050405090304" pitchFamily="18" charset="0"/>
                <a:ea typeface="宋体" pitchFamily="2" charset="-122"/>
              </a:defRPr>
            </a:lvl5pPr>
            <a:lvl6pPr marL="45720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fontAlgn="base">
              <a:spcBef>
                <a:spcPct val="0"/>
              </a:spcBef>
              <a:spcAft>
                <a:spcPct val="0"/>
              </a:spcAft>
              <a:defRPr sz="3600">
                <a:solidFill>
                  <a:schemeClr val="tx2"/>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第三章</a:t>
            </a:r>
            <a:r>
              <a:rPr kumimoji="0" lang="zh-CN" altLang="en-US" sz="28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zh-CN" altLang="en-US" sz="24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en-US" altLang="zh-CN"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MCS-51</a:t>
            </a: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指令系统</a:t>
            </a:r>
            <a:endParaRPr kumimoji="0" lang="zh-CN" altLang="en-US" sz="3600" b="0"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Times New Roman" panose="02020503050405090304" pitchFamily="18" charset="0"/>
              <a:ea typeface="宋体"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82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121858" name="Text Box 25"/>
          <p:cNvSpPr txBox="1"/>
          <p:nvPr/>
        </p:nvSpPr>
        <p:spPr>
          <a:xfrm>
            <a:off x="468313" y="1000125"/>
            <a:ext cx="8280400" cy="4554538"/>
          </a:xfrm>
          <a:prstGeom prst="rect">
            <a:avLst/>
          </a:prstGeom>
          <a:noFill/>
          <a:ln w="9525">
            <a:noFill/>
          </a:ln>
        </p:spPr>
        <p:txBody>
          <a:bodyPr lIns="360000" rIns="180000" anchor="t" anchorCtr="0">
            <a:spAutoFit/>
          </a:bodyPr>
          <a:p>
            <a:pPr indent="-342900" defTabSz="425450" eaLnBrk="0" hangingPunct="0">
              <a:spcBef>
                <a:spcPct val="50000"/>
              </a:spcBef>
            </a:pPr>
            <a:r>
              <a:rPr lang="en-US" altLang="zh-CN" sz="3200" dirty="0">
                <a:solidFill>
                  <a:schemeClr val="hlink"/>
                </a:solidFill>
                <a:latin typeface="黑体" panose="02010609060101010101" pitchFamily="49" charset="-122"/>
                <a:ea typeface="黑体" panose="02010609060101010101" pitchFamily="49" charset="-122"/>
              </a:rPr>
              <a:t>3-5	  </a:t>
            </a:r>
            <a:r>
              <a:rPr lang="zh-CN" altLang="en-US" sz="3200" dirty="0">
                <a:solidFill>
                  <a:schemeClr val="hlink"/>
                </a:solidFill>
                <a:latin typeface="黑体" panose="02010609060101010101" pitchFamily="49" charset="-122"/>
                <a:ea typeface="黑体" panose="02010609060101010101" pitchFamily="49" charset="-122"/>
              </a:rPr>
              <a:t>逻辑运算指令</a:t>
            </a:r>
            <a:endParaRPr lang="zh-CN" altLang="en-US" sz="3200" dirty="0">
              <a:solidFill>
                <a:schemeClr val="hlink"/>
              </a:solidFill>
              <a:latin typeface="黑体" panose="02010609060101010101" pitchFamily="49" charset="-122"/>
              <a:ea typeface="黑体" panose="02010609060101010101" pitchFamily="49" charset="-122"/>
            </a:endParaRPr>
          </a:p>
          <a:p>
            <a:pPr indent="-342900" defTabSz="425450" eaLnBrk="0" hangingPunct="0">
              <a:lnSpc>
                <a:spcPct val="150000"/>
              </a:lnSpc>
            </a:pPr>
            <a:r>
              <a:rPr lang="zh-CN" altLang="en-US" sz="3200" dirty="0">
                <a:solidFill>
                  <a:schemeClr val="hlink"/>
                </a:solidFill>
                <a:latin typeface="黑体" panose="02010609060101010101" pitchFamily="49" charset="-122"/>
                <a:ea typeface="黑体" panose="02010609060101010101" pitchFamily="49" charset="-122"/>
              </a:rPr>
              <a:t> 	</a:t>
            </a:r>
            <a:r>
              <a:rPr lang="zh-CN" altLang="en-US" sz="2000" dirty="0">
                <a:solidFill>
                  <a:schemeClr val="accent2"/>
                </a:solidFill>
                <a:latin typeface="黑体" panose="02010609060101010101" pitchFamily="49" charset="-122"/>
                <a:ea typeface="黑体" panose="02010609060101010101" pitchFamily="49" charset="-122"/>
              </a:rPr>
              <a:t>逻辑运算指令包括与、或、异或、清除、求反、移位等操作。这类指令一般不影响标志位</a:t>
            </a:r>
            <a:r>
              <a:rPr lang="en-US" altLang="zh-CN" sz="2000" dirty="0">
                <a:solidFill>
                  <a:schemeClr val="accent2"/>
                </a:solidFill>
                <a:latin typeface="黑体" panose="02010609060101010101" pitchFamily="49" charset="-122"/>
                <a:ea typeface="黑体" panose="02010609060101010101" pitchFamily="49" charset="-122"/>
              </a:rPr>
              <a:t>CY</a:t>
            </a:r>
            <a:r>
              <a:rPr lang="zh-CN" altLang="en-US" sz="2000" dirty="0">
                <a:solidFill>
                  <a:schemeClr val="accent2"/>
                </a:solidFill>
                <a:latin typeface="黑体" panose="02010609060101010101" pitchFamily="49" charset="-122"/>
                <a:ea typeface="黑体" panose="02010609060101010101" pitchFamily="49" charset="-122"/>
              </a:rPr>
              <a:t>、</a:t>
            </a:r>
            <a:r>
              <a:rPr lang="en-US" altLang="zh-CN" sz="2000" dirty="0">
                <a:solidFill>
                  <a:schemeClr val="accent2"/>
                </a:solidFill>
                <a:latin typeface="黑体" panose="02010609060101010101" pitchFamily="49" charset="-122"/>
                <a:ea typeface="黑体" panose="02010609060101010101" pitchFamily="49" charset="-122"/>
              </a:rPr>
              <a:t>AC</a:t>
            </a:r>
            <a:r>
              <a:rPr lang="zh-CN" altLang="en-US" sz="2000" dirty="0">
                <a:solidFill>
                  <a:schemeClr val="accent2"/>
                </a:solidFill>
                <a:latin typeface="黑体" panose="02010609060101010101" pitchFamily="49" charset="-122"/>
                <a:ea typeface="黑体" panose="02010609060101010101" pitchFamily="49" charset="-122"/>
              </a:rPr>
              <a:t>和</a:t>
            </a:r>
            <a:r>
              <a:rPr lang="en-US" altLang="zh-CN" sz="2000" dirty="0">
                <a:solidFill>
                  <a:schemeClr val="accent2"/>
                </a:solidFill>
                <a:latin typeface="黑体" panose="02010609060101010101" pitchFamily="49" charset="-122"/>
                <a:ea typeface="黑体" panose="02010609060101010101" pitchFamily="49" charset="-122"/>
              </a:rPr>
              <a:t>OV</a:t>
            </a:r>
            <a:r>
              <a:rPr lang="zh-CN" altLang="en-US" sz="2000" dirty="0">
                <a:solidFill>
                  <a:schemeClr val="accent2"/>
                </a:solidFill>
                <a:latin typeface="黑体" panose="02010609060101010101" pitchFamily="49" charset="-122"/>
                <a:ea typeface="黑体" panose="02010609060101010101" pitchFamily="49" charset="-122"/>
              </a:rPr>
              <a:t>。</a:t>
            </a:r>
            <a:endParaRPr lang="zh-CN" altLang="en-US" sz="2000" dirty="0">
              <a:solidFill>
                <a:schemeClr val="accent2"/>
              </a:solidFill>
              <a:latin typeface="黑体" panose="02010609060101010101" pitchFamily="49" charset="-122"/>
              <a:ea typeface="黑体" panose="02010609060101010101" pitchFamily="49" charset="-122"/>
            </a:endParaRPr>
          </a:p>
          <a:p>
            <a:pPr indent="-342900" defTabSz="425450" eaLnBrk="0" hangingPunct="0">
              <a:spcBef>
                <a:spcPct val="50000"/>
              </a:spcBef>
            </a:pPr>
            <a:r>
              <a:rPr lang="zh-CN" altLang="en-US" dirty="0">
                <a:latin typeface="Times New Roman" panose="02020503050405090304" pitchFamily="18" charset="0"/>
                <a:ea typeface="仿宋_GB2312" pitchFamily="49" charset="-122"/>
              </a:rPr>
              <a:t>一、单操作数指令（</a:t>
            </a:r>
            <a:r>
              <a:rPr lang="en-US" altLang="zh-CN" dirty="0">
                <a:latin typeface="Times New Roman" panose="02020503050405090304" pitchFamily="18" charset="0"/>
                <a:ea typeface="仿宋_GB2312" pitchFamily="49" charset="-122"/>
              </a:rPr>
              <a:t>A</a:t>
            </a:r>
            <a:r>
              <a:rPr lang="zh-CN" altLang="en-US" dirty="0">
                <a:latin typeface="Times New Roman" panose="02020503050405090304" pitchFamily="18" charset="0"/>
                <a:ea typeface="仿宋_GB2312" pitchFamily="49" charset="-122"/>
              </a:rPr>
              <a:t>累加器为操作数）</a:t>
            </a:r>
            <a:endParaRPr lang="zh-CN" altLang="en-US" dirty="0">
              <a:latin typeface="Times New Roman" panose="02020503050405090304" pitchFamily="18" charset="0"/>
              <a:ea typeface="仿宋_GB2312" pitchFamily="49" charset="-122"/>
            </a:endParaRPr>
          </a:p>
          <a:p>
            <a:pPr indent="-342900" defTabSz="425450" eaLnBrk="0" hangingPunct="0">
              <a:spcBef>
                <a:spcPct val="50000"/>
              </a:spcBef>
            </a:pPr>
            <a:r>
              <a:rPr lang="zh-CN" altLang="en-US" dirty="0">
                <a:latin typeface="Times New Roman" panose="02020503050405090304" pitchFamily="18" charset="0"/>
                <a:ea typeface="仿宋_GB2312" pitchFamily="49" charset="-122"/>
              </a:rPr>
              <a:t>	</a:t>
            </a:r>
            <a:r>
              <a:rPr lang="en-US" altLang="zh-CN" dirty="0">
                <a:latin typeface="Times New Roman" panose="02020503050405090304" pitchFamily="18" charset="0"/>
                <a:ea typeface="仿宋_GB2312" pitchFamily="49" charset="-122"/>
              </a:rPr>
              <a:t>1. A</a:t>
            </a:r>
            <a:r>
              <a:rPr lang="zh-CN" altLang="en-US" dirty="0">
                <a:latin typeface="Times New Roman" panose="02020503050405090304" pitchFamily="18" charset="0"/>
                <a:ea typeface="仿宋_GB2312" pitchFamily="49" charset="-122"/>
              </a:rPr>
              <a:t>清</a:t>
            </a:r>
            <a:r>
              <a:rPr lang="en-US" altLang="zh-CN" dirty="0">
                <a:latin typeface="Times New Roman" panose="02020503050405090304" pitchFamily="18" charset="0"/>
                <a:ea typeface="仿宋_GB2312" pitchFamily="49" charset="-122"/>
              </a:rPr>
              <a:t>0</a:t>
            </a:r>
            <a:r>
              <a:rPr lang="zh-CN" altLang="en-US" dirty="0">
                <a:latin typeface="Times New Roman" panose="02020503050405090304" pitchFamily="18" charset="0"/>
                <a:ea typeface="仿宋_GB2312" pitchFamily="49" charset="-122"/>
              </a:rPr>
              <a:t>指令： </a:t>
            </a:r>
            <a:r>
              <a:rPr lang="en-US" altLang="zh-CN" dirty="0">
                <a:latin typeface="Times New Roman" panose="02020503050405090304" pitchFamily="18" charset="0"/>
                <a:ea typeface="仿宋_GB2312" pitchFamily="49" charset="-122"/>
              </a:rPr>
              <a:t>CLR  A    </a:t>
            </a:r>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A←0</a:t>
            </a:r>
            <a:endParaRPr lang="en-US" altLang="zh-CN" dirty="0">
              <a:latin typeface="Times New Roman" panose="02020503050405090304" pitchFamily="18" charset="0"/>
              <a:ea typeface="仿宋_GB2312" pitchFamily="49" charset="-122"/>
            </a:endParaRPr>
          </a:p>
          <a:p>
            <a:pPr indent="-342900" defTabSz="425450" eaLnBrk="0" hangingPunct="0">
              <a:spcBef>
                <a:spcPct val="50000"/>
              </a:spcBef>
            </a:pPr>
            <a:r>
              <a:rPr lang="zh-CN" altLang="en-US" dirty="0">
                <a:latin typeface="Times New Roman" panose="02020503050405090304" pitchFamily="18" charset="0"/>
                <a:ea typeface="仿宋_GB2312" pitchFamily="49" charset="-122"/>
              </a:rPr>
              <a:t>       说明：执行结果同 </a:t>
            </a:r>
            <a:r>
              <a:rPr lang="en-US" altLang="zh-CN" dirty="0">
                <a:latin typeface="Times New Roman" panose="02020503050405090304" pitchFamily="18" charset="0"/>
                <a:ea typeface="仿宋_GB2312" pitchFamily="49" charset="-122"/>
              </a:rPr>
              <a:t>MOV   A</a:t>
            </a:r>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#00H</a:t>
            </a:r>
            <a:r>
              <a:rPr lang="zh-CN" altLang="en-US" dirty="0">
                <a:latin typeface="Times New Roman" panose="02020503050405090304" pitchFamily="18" charset="0"/>
                <a:ea typeface="仿宋_GB2312" pitchFamily="49" charset="-122"/>
              </a:rPr>
              <a:t>，只影响标志位</a:t>
            </a:r>
            <a:r>
              <a:rPr lang="en-US" altLang="zh-CN" dirty="0">
                <a:latin typeface="Times New Roman" panose="02020503050405090304" pitchFamily="18" charset="0"/>
                <a:ea typeface="仿宋_GB2312" pitchFamily="49" charset="-122"/>
              </a:rPr>
              <a:t>P</a:t>
            </a:r>
            <a:endParaRPr lang="en-US" altLang="zh-CN" dirty="0">
              <a:latin typeface="Times New Roman" panose="02020503050405090304" pitchFamily="18" charset="0"/>
              <a:ea typeface="仿宋_GB2312" pitchFamily="49" charset="-122"/>
            </a:endParaRPr>
          </a:p>
          <a:p>
            <a:pPr indent="-342900" defTabSz="425450" eaLnBrk="0" hangingPunct="0">
              <a:spcBef>
                <a:spcPct val="50000"/>
              </a:spcBef>
            </a:pPr>
            <a:r>
              <a:rPr lang="en-US" altLang="zh-CN" dirty="0">
                <a:latin typeface="Times New Roman" panose="02020503050405090304" pitchFamily="18" charset="0"/>
                <a:ea typeface="仿宋_GB2312" pitchFamily="49" charset="-122"/>
              </a:rPr>
              <a:t>	2. A</a:t>
            </a:r>
            <a:r>
              <a:rPr lang="zh-CN" altLang="en-US" dirty="0">
                <a:latin typeface="Times New Roman" panose="02020503050405090304" pitchFamily="18" charset="0"/>
                <a:ea typeface="仿宋_GB2312" pitchFamily="49" charset="-122"/>
              </a:rPr>
              <a:t>取反指令：</a:t>
            </a:r>
            <a:r>
              <a:rPr lang="en-US" altLang="zh-CN" dirty="0">
                <a:latin typeface="Times New Roman" panose="02020503050405090304" pitchFamily="18" charset="0"/>
                <a:ea typeface="仿宋_GB2312" pitchFamily="49" charset="-122"/>
              </a:rPr>
              <a:t>CPL  A    </a:t>
            </a:r>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A←/A</a:t>
            </a:r>
            <a:endParaRPr lang="en-US" altLang="zh-CN" dirty="0">
              <a:latin typeface="Times New Roman" panose="02020503050405090304" pitchFamily="18" charset="0"/>
              <a:ea typeface="仿宋_GB2312" pitchFamily="49" charset="-122"/>
            </a:endParaRPr>
          </a:p>
          <a:p>
            <a:pPr indent="-342900" defTabSz="425450" eaLnBrk="0" hangingPunct="0">
              <a:spcBef>
                <a:spcPct val="50000"/>
              </a:spcBef>
            </a:pPr>
            <a:r>
              <a:rPr lang="zh-CN" altLang="en-US" dirty="0">
                <a:latin typeface="Times New Roman" panose="02020503050405090304" pitchFamily="18" charset="0"/>
                <a:ea typeface="仿宋_GB2312" pitchFamily="49" charset="-122"/>
              </a:rPr>
              <a:t>       说明：不影响标志位。</a:t>
            </a:r>
            <a:endParaRPr lang="zh-CN" altLang="en-US" dirty="0">
              <a:latin typeface="Times New Roman" panose="02020503050405090304" pitchFamily="18" charset="0"/>
              <a:ea typeface="仿宋_GB2312" pitchFamily="49" charset="-122"/>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3539" name="Rectangle 3"/>
          <p:cNvSpPr>
            <a:spLocks noGrp="1"/>
          </p:cNvSpPr>
          <p:nvPr>
            <p:ph idx="1"/>
          </p:nvPr>
        </p:nvSpPr>
        <p:spPr>
          <a:xfrm>
            <a:off x="830263" y="1708150"/>
            <a:ext cx="7696200" cy="1165225"/>
          </a:xfrm>
        </p:spPr>
        <p:txBody>
          <a:bodyPr vert="horz" wrap="square" lIns="91440" tIns="45720" rIns="91440" bIns="45720" anchor="t" anchorCtr="0"/>
          <a:p>
            <a:pPr eaLnBrk="1" hangingPunct="1">
              <a:buNone/>
            </a:pPr>
            <a:r>
              <a:rPr lang="zh-CN" altLang="en-US" dirty="0"/>
              <a:t>（</a:t>
            </a:r>
            <a:r>
              <a:rPr lang="en-US" altLang="zh-CN" dirty="0"/>
              <a:t>1</a:t>
            </a:r>
            <a:r>
              <a:rPr lang="zh-CN" altLang="en-US" dirty="0"/>
              <a:t>）循环左移</a:t>
            </a:r>
            <a:endParaRPr lang="zh-CN" altLang="en-US" dirty="0"/>
          </a:p>
          <a:p>
            <a:pPr eaLnBrk="1" hangingPunct="1">
              <a:buNone/>
            </a:pPr>
            <a:r>
              <a:rPr lang="zh-CN" altLang="en-US" b="1" dirty="0"/>
              <a:t>          </a:t>
            </a:r>
            <a:r>
              <a:rPr lang="en-US" altLang="zh-CN" dirty="0"/>
              <a:t>RL    A</a:t>
            </a:r>
            <a:r>
              <a:rPr lang="zh-CN" altLang="en-US" dirty="0"/>
              <a:t>；</a:t>
            </a:r>
            <a:endParaRPr lang="zh-CN" altLang="en-US" dirty="0"/>
          </a:p>
          <a:p>
            <a:pPr eaLnBrk="1" hangingPunct="1">
              <a:buNone/>
            </a:pPr>
            <a:endParaRPr lang="zh-CN" altLang="en-US" dirty="0"/>
          </a:p>
        </p:txBody>
      </p:sp>
      <p:grpSp>
        <p:nvGrpSpPr>
          <p:cNvPr id="2" name="Group 4"/>
          <p:cNvGrpSpPr/>
          <p:nvPr/>
        </p:nvGrpSpPr>
        <p:grpSpPr>
          <a:xfrm>
            <a:off x="5213350" y="2732088"/>
            <a:ext cx="2971800" cy="1189037"/>
            <a:chOff x="1632" y="1555"/>
            <a:chExt cx="1872" cy="749"/>
          </a:xfrm>
        </p:grpSpPr>
        <p:sp>
          <p:nvSpPr>
            <p:cNvPr id="122883" name="Rectangle 5"/>
            <p:cNvSpPr/>
            <p:nvPr/>
          </p:nvSpPr>
          <p:spPr>
            <a:xfrm flipH="1">
              <a:off x="1819" y="17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22884" name="Rectangle 6"/>
            <p:cNvSpPr/>
            <p:nvPr/>
          </p:nvSpPr>
          <p:spPr>
            <a:xfrm flipH="1">
              <a:off x="2002" y="17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22885" name="Rectangle 7"/>
            <p:cNvSpPr/>
            <p:nvPr/>
          </p:nvSpPr>
          <p:spPr>
            <a:xfrm flipH="1">
              <a:off x="2185" y="17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22886" name="Rectangle 8"/>
            <p:cNvSpPr/>
            <p:nvPr/>
          </p:nvSpPr>
          <p:spPr>
            <a:xfrm flipH="1">
              <a:off x="2368" y="17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22887" name="Rectangle 9"/>
            <p:cNvSpPr/>
            <p:nvPr/>
          </p:nvSpPr>
          <p:spPr>
            <a:xfrm flipH="1">
              <a:off x="2551" y="17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22888" name="Rectangle 10"/>
            <p:cNvSpPr/>
            <p:nvPr/>
          </p:nvSpPr>
          <p:spPr>
            <a:xfrm flipH="1">
              <a:off x="2734" y="17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22889" name="Rectangle 11"/>
            <p:cNvSpPr/>
            <p:nvPr/>
          </p:nvSpPr>
          <p:spPr>
            <a:xfrm flipH="1">
              <a:off x="2917" y="17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22890" name="Rectangle 12"/>
            <p:cNvSpPr/>
            <p:nvPr/>
          </p:nvSpPr>
          <p:spPr>
            <a:xfrm flipH="1">
              <a:off x="3100" y="17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grpSp>
          <p:nvGrpSpPr>
            <p:cNvPr id="122891" name="Group 13"/>
            <p:cNvGrpSpPr/>
            <p:nvPr/>
          </p:nvGrpSpPr>
          <p:grpSpPr>
            <a:xfrm>
              <a:off x="1776" y="1555"/>
              <a:ext cx="1549" cy="192"/>
              <a:chOff x="1514" y="1855"/>
              <a:chExt cx="1549" cy="192"/>
            </a:xfrm>
          </p:grpSpPr>
          <p:sp>
            <p:nvSpPr>
              <p:cNvPr id="122892" name="Text Box 14"/>
              <p:cNvSpPr txBox="1"/>
              <p:nvPr/>
            </p:nvSpPr>
            <p:spPr>
              <a:xfrm>
                <a:off x="2810"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D0</a:t>
                </a:r>
                <a:endParaRPr lang="en-US" altLang="zh-CN" sz="1400" b="0" dirty="0">
                  <a:latin typeface="Times New Roman" panose="02020503050405090304" pitchFamily="18" charset="0"/>
                  <a:ea typeface="宋体" pitchFamily="2" charset="-122"/>
                </a:endParaRPr>
              </a:p>
            </p:txBody>
          </p:sp>
          <p:sp>
            <p:nvSpPr>
              <p:cNvPr id="122893" name="Text Box 15"/>
              <p:cNvSpPr txBox="1"/>
              <p:nvPr/>
            </p:nvSpPr>
            <p:spPr>
              <a:xfrm>
                <a:off x="2626"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D1</a:t>
                </a:r>
                <a:endParaRPr lang="en-US" altLang="zh-CN" sz="1400" b="0" dirty="0">
                  <a:latin typeface="Times New Roman" panose="02020503050405090304" pitchFamily="18" charset="0"/>
                  <a:ea typeface="宋体" pitchFamily="2" charset="-122"/>
                </a:endParaRPr>
              </a:p>
            </p:txBody>
          </p:sp>
          <p:sp>
            <p:nvSpPr>
              <p:cNvPr id="122894" name="Text Box 16"/>
              <p:cNvSpPr txBox="1"/>
              <p:nvPr/>
            </p:nvSpPr>
            <p:spPr>
              <a:xfrm>
                <a:off x="2434"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D2</a:t>
                </a:r>
                <a:endParaRPr lang="en-US" altLang="zh-CN" sz="1400" b="0" dirty="0">
                  <a:latin typeface="Times New Roman" panose="02020503050405090304" pitchFamily="18" charset="0"/>
                  <a:ea typeface="宋体" pitchFamily="2" charset="-122"/>
                </a:endParaRPr>
              </a:p>
            </p:txBody>
          </p:sp>
          <p:sp>
            <p:nvSpPr>
              <p:cNvPr id="122895" name="Text Box 17"/>
              <p:cNvSpPr txBox="1"/>
              <p:nvPr/>
            </p:nvSpPr>
            <p:spPr>
              <a:xfrm>
                <a:off x="2250"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D3</a:t>
                </a:r>
                <a:endParaRPr lang="en-US" altLang="zh-CN" sz="1400" b="0" dirty="0">
                  <a:latin typeface="Times New Roman" panose="02020503050405090304" pitchFamily="18" charset="0"/>
                  <a:ea typeface="宋体" pitchFamily="2" charset="-122"/>
                </a:endParaRPr>
              </a:p>
            </p:txBody>
          </p:sp>
          <p:sp>
            <p:nvSpPr>
              <p:cNvPr id="122896" name="Text Box 18"/>
              <p:cNvSpPr txBox="1"/>
              <p:nvPr/>
            </p:nvSpPr>
            <p:spPr>
              <a:xfrm>
                <a:off x="2074"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D4</a:t>
                </a:r>
                <a:endParaRPr lang="en-US" altLang="zh-CN" sz="1400" b="0" dirty="0">
                  <a:latin typeface="Times New Roman" panose="02020503050405090304" pitchFamily="18" charset="0"/>
                  <a:ea typeface="宋体" pitchFamily="2" charset="-122"/>
                </a:endParaRPr>
              </a:p>
            </p:txBody>
          </p:sp>
          <p:sp>
            <p:nvSpPr>
              <p:cNvPr id="122897" name="Text Box 19"/>
              <p:cNvSpPr txBox="1"/>
              <p:nvPr/>
            </p:nvSpPr>
            <p:spPr>
              <a:xfrm>
                <a:off x="1890"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D5</a:t>
                </a:r>
                <a:endParaRPr lang="en-US" altLang="zh-CN" sz="1400" b="0" dirty="0">
                  <a:latin typeface="Times New Roman" panose="02020503050405090304" pitchFamily="18" charset="0"/>
                  <a:ea typeface="宋体" pitchFamily="2" charset="-122"/>
                </a:endParaRPr>
              </a:p>
            </p:txBody>
          </p:sp>
          <p:sp>
            <p:nvSpPr>
              <p:cNvPr id="122898" name="Text Box 20"/>
              <p:cNvSpPr txBox="1"/>
              <p:nvPr/>
            </p:nvSpPr>
            <p:spPr>
              <a:xfrm>
                <a:off x="1698"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D6</a:t>
                </a:r>
                <a:endParaRPr lang="en-US" altLang="zh-CN" sz="1400" b="0" dirty="0">
                  <a:latin typeface="Times New Roman" panose="02020503050405090304" pitchFamily="18" charset="0"/>
                  <a:ea typeface="宋体" pitchFamily="2" charset="-122"/>
                </a:endParaRPr>
              </a:p>
            </p:txBody>
          </p:sp>
          <p:sp>
            <p:nvSpPr>
              <p:cNvPr id="122899" name="Text Box 21"/>
              <p:cNvSpPr txBox="1"/>
              <p:nvPr/>
            </p:nvSpPr>
            <p:spPr>
              <a:xfrm>
                <a:off x="1514"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D7</a:t>
                </a:r>
                <a:endParaRPr lang="en-US" altLang="zh-CN" sz="1400" b="0" dirty="0">
                  <a:latin typeface="Times New Roman" panose="02020503050405090304" pitchFamily="18" charset="0"/>
                  <a:ea typeface="宋体" pitchFamily="2" charset="-122"/>
                </a:endParaRPr>
              </a:p>
            </p:txBody>
          </p:sp>
        </p:grpSp>
        <p:sp>
          <p:nvSpPr>
            <p:cNvPr id="122900" name="Line 22"/>
            <p:cNvSpPr/>
            <p:nvPr/>
          </p:nvSpPr>
          <p:spPr>
            <a:xfrm flipH="1">
              <a:off x="1872" y="1824"/>
              <a:ext cx="192" cy="0"/>
            </a:xfrm>
            <a:prstGeom prst="line">
              <a:avLst/>
            </a:prstGeom>
            <a:ln w="9525" cap="flat" cmpd="sng">
              <a:solidFill>
                <a:schemeClr val="hlink"/>
              </a:solidFill>
              <a:prstDash val="solid"/>
              <a:round/>
              <a:headEnd type="none" w="med" len="med"/>
              <a:tailEnd type="triangle" w="med" len="med"/>
            </a:ln>
          </p:spPr>
        </p:sp>
        <p:sp>
          <p:nvSpPr>
            <p:cNvPr id="122901" name="Line 23"/>
            <p:cNvSpPr/>
            <p:nvPr/>
          </p:nvSpPr>
          <p:spPr>
            <a:xfrm flipH="1">
              <a:off x="2064" y="1920"/>
              <a:ext cx="192" cy="0"/>
            </a:xfrm>
            <a:prstGeom prst="line">
              <a:avLst/>
            </a:prstGeom>
            <a:ln w="9525" cap="flat" cmpd="sng">
              <a:solidFill>
                <a:schemeClr val="hlink"/>
              </a:solidFill>
              <a:prstDash val="solid"/>
              <a:round/>
              <a:headEnd type="none" w="med" len="med"/>
              <a:tailEnd type="triangle" w="med" len="med"/>
            </a:ln>
          </p:spPr>
        </p:sp>
        <p:sp>
          <p:nvSpPr>
            <p:cNvPr id="122902" name="Line 24"/>
            <p:cNvSpPr/>
            <p:nvPr/>
          </p:nvSpPr>
          <p:spPr>
            <a:xfrm flipH="1">
              <a:off x="2256" y="1824"/>
              <a:ext cx="192" cy="0"/>
            </a:xfrm>
            <a:prstGeom prst="line">
              <a:avLst/>
            </a:prstGeom>
            <a:ln w="9525" cap="flat" cmpd="sng">
              <a:solidFill>
                <a:schemeClr val="hlink"/>
              </a:solidFill>
              <a:prstDash val="solid"/>
              <a:round/>
              <a:headEnd type="none" w="med" len="med"/>
              <a:tailEnd type="triangle" w="med" len="med"/>
            </a:ln>
          </p:spPr>
        </p:sp>
        <p:sp>
          <p:nvSpPr>
            <p:cNvPr id="122903" name="Line 25"/>
            <p:cNvSpPr/>
            <p:nvPr/>
          </p:nvSpPr>
          <p:spPr>
            <a:xfrm flipH="1">
              <a:off x="2448" y="1920"/>
              <a:ext cx="192" cy="0"/>
            </a:xfrm>
            <a:prstGeom prst="line">
              <a:avLst/>
            </a:prstGeom>
            <a:ln w="9525" cap="flat" cmpd="sng">
              <a:solidFill>
                <a:schemeClr val="hlink"/>
              </a:solidFill>
              <a:prstDash val="solid"/>
              <a:round/>
              <a:headEnd type="none" w="med" len="med"/>
              <a:tailEnd type="triangle" w="med" len="med"/>
            </a:ln>
          </p:spPr>
        </p:sp>
        <p:sp>
          <p:nvSpPr>
            <p:cNvPr id="122904" name="Line 26"/>
            <p:cNvSpPr/>
            <p:nvPr/>
          </p:nvSpPr>
          <p:spPr>
            <a:xfrm flipH="1">
              <a:off x="2592" y="1824"/>
              <a:ext cx="192" cy="0"/>
            </a:xfrm>
            <a:prstGeom prst="line">
              <a:avLst/>
            </a:prstGeom>
            <a:ln w="9525" cap="flat" cmpd="sng">
              <a:solidFill>
                <a:schemeClr val="hlink"/>
              </a:solidFill>
              <a:prstDash val="solid"/>
              <a:round/>
              <a:headEnd type="none" w="med" len="med"/>
              <a:tailEnd type="triangle" w="med" len="med"/>
            </a:ln>
          </p:spPr>
        </p:sp>
        <p:sp>
          <p:nvSpPr>
            <p:cNvPr id="122905" name="Line 27"/>
            <p:cNvSpPr/>
            <p:nvPr/>
          </p:nvSpPr>
          <p:spPr>
            <a:xfrm flipH="1">
              <a:off x="2784" y="1920"/>
              <a:ext cx="192" cy="0"/>
            </a:xfrm>
            <a:prstGeom prst="line">
              <a:avLst/>
            </a:prstGeom>
            <a:ln w="9525" cap="flat" cmpd="sng">
              <a:solidFill>
                <a:schemeClr val="hlink"/>
              </a:solidFill>
              <a:prstDash val="solid"/>
              <a:round/>
              <a:headEnd type="none" w="med" len="med"/>
              <a:tailEnd type="triangle" w="med" len="med"/>
            </a:ln>
          </p:spPr>
        </p:sp>
        <p:sp>
          <p:nvSpPr>
            <p:cNvPr id="122906" name="Line 28"/>
            <p:cNvSpPr/>
            <p:nvPr/>
          </p:nvSpPr>
          <p:spPr>
            <a:xfrm flipH="1">
              <a:off x="2976" y="1824"/>
              <a:ext cx="192" cy="0"/>
            </a:xfrm>
            <a:prstGeom prst="line">
              <a:avLst/>
            </a:prstGeom>
            <a:ln w="9525" cap="flat" cmpd="sng">
              <a:solidFill>
                <a:schemeClr val="hlink"/>
              </a:solidFill>
              <a:prstDash val="solid"/>
              <a:round/>
              <a:headEnd type="none" w="med" len="med"/>
              <a:tailEnd type="triangle" w="med" len="med"/>
            </a:ln>
          </p:spPr>
        </p:sp>
        <p:sp>
          <p:nvSpPr>
            <p:cNvPr id="122907" name="Line 29"/>
            <p:cNvSpPr/>
            <p:nvPr/>
          </p:nvSpPr>
          <p:spPr>
            <a:xfrm flipH="1" flipV="1">
              <a:off x="3168" y="1920"/>
              <a:ext cx="336" cy="0"/>
            </a:xfrm>
            <a:prstGeom prst="line">
              <a:avLst/>
            </a:prstGeom>
            <a:ln w="9525" cap="flat" cmpd="sng">
              <a:solidFill>
                <a:schemeClr val="hlink"/>
              </a:solidFill>
              <a:prstDash val="solid"/>
              <a:round/>
              <a:headEnd type="none" w="med" len="med"/>
              <a:tailEnd type="triangle" w="med" len="med"/>
            </a:ln>
          </p:spPr>
        </p:sp>
        <p:sp>
          <p:nvSpPr>
            <p:cNvPr id="122908" name="Line 30"/>
            <p:cNvSpPr/>
            <p:nvPr/>
          </p:nvSpPr>
          <p:spPr>
            <a:xfrm>
              <a:off x="3504" y="1920"/>
              <a:ext cx="0" cy="384"/>
            </a:xfrm>
            <a:prstGeom prst="line">
              <a:avLst/>
            </a:prstGeom>
            <a:ln w="9525" cap="flat" cmpd="sng">
              <a:solidFill>
                <a:schemeClr val="hlink"/>
              </a:solidFill>
              <a:prstDash val="solid"/>
              <a:round/>
              <a:headEnd type="none" w="med" len="med"/>
              <a:tailEnd type="none" w="med" len="med"/>
            </a:ln>
          </p:spPr>
        </p:sp>
        <p:sp>
          <p:nvSpPr>
            <p:cNvPr id="122909" name="Line 31"/>
            <p:cNvSpPr/>
            <p:nvPr/>
          </p:nvSpPr>
          <p:spPr>
            <a:xfrm flipH="1">
              <a:off x="1632" y="2304"/>
              <a:ext cx="1872" cy="0"/>
            </a:xfrm>
            <a:prstGeom prst="line">
              <a:avLst/>
            </a:prstGeom>
            <a:ln w="9525" cap="flat" cmpd="sng">
              <a:solidFill>
                <a:schemeClr val="hlink"/>
              </a:solidFill>
              <a:prstDash val="solid"/>
              <a:round/>
              <a:headEnd type="none" w="med" len="med"/>
              <a:tailEnd type="none" w="med" len="med"/>
            </a:ln>
          </p:spPr>
        </p:sp>
        <p:sp>
          <p:nvSpPr>
            <p:cNvPr id="122910" name="Line 32"/>
            <p:cNvSpPr/>
            <p:nvPr/>
          </p:nvSpPr>
          <p:spPr>
            <a:xfrm>
              <a:off x="1634" y="1920"/>
              <a:ext cx="0" cy="384"/>
            </a:xfrm>
            <a:prstGeom prst="line">
              <a:avLst/>
            </a:prstGeom>
            <a:ln w="9525" cap="flat" cmpd="sng">
              <a:solidFill>
                <a:schemeClr val="hlink"/>
              </a:solidFill>
              <a:prstDash val="solid"/>
              <a:round/>
              <a:headEnd type="none" w="med" len="med"/>
              <a:tailEnd type="none" w="med" len="med"/>
            </a:ln>
          </p:spPr>
        </p:sp>
        <p:sp>
          <p:nvSpPr>
            <p:cNvPr id="122911" name="Line 33"/>
            <p:cNvSpPr/>
            <p:nvPr/>
          </p:nvSpPr>
          <p:spPr>
            <a:xfrm flipH="1">
              <a:off x="1632" y="1920"/>
              <a:ext cx="228" cy="0"/>
            </a:xfrm>
            <a:prstGeom prst="line">
              <a:avLst/>
            </a:prstGeom>
            <a:ln w="9525" cap="flat" cmpd="sng">
              <a:solidFill>
                <a:schemeClr val="hlink"/>
              </a:solidFill>
              <a:prstDash val="solid"/>
              <a:round/>
              <a:headEnd type="none" w="med" len="med"/>
              <a:tailEnd type="none" w="med" len="med"/>
            </a:ln>
          </p:spPr>
        </p:sp>
      </p:grpSp>
      <p:sp>
        <p:nvSpPr>
          <p:cNvPr id="193570" name="Rectangle 34"/>
          <p:cNvSpPr/>
          <p:nvPr/>
        </p:nvSpPr>
        <p:spPr>
          <a:xfrm>
            <a:off x="1044575" y="4343400"/>
            <a:ext cx="7772400" cy="1778000"/>
          </a:xfrm>
          <a:prstGeom prst="rect">
            <a:avLst/>
          </a:prstGeom>
          <a:noFill/>
          <a:ln w="9525">
            <a:noFill/>
          </a:ln>
        </p:spPr>
        <p:txBody>
          <a:bodyPr anchor="t" anchorCtr="0"/>
          <a:p>
            <a:pPr marL="342900" indent="-342900">
              <a:lnSpc>
                <a:spcPct val="90000"/>
              </a:lnSpc>
              <a:spcBef>
                <a:spcPct val="20000"/>
              </a:spcBef>
              <a:buClrTx/>
              <a:buFontTx/>
            </a:pPr>
            <a:r>
              <a:rPr lang="zh-CN" altLang="en-US" b="0" dirty="0">
                <a:latin typeface="Times New Roman" panose="02020503050405090304" pitchFamily="18" charset="0"/>
                <a:ea typeface="黑体" panose="02010609060101010101" pitchFamily="49" charset="-122"/>
              </a:rPr>
              <a:t>说明：</a:t>
            </a:r>
            <a:endParaRPr lang="zh-CN" altLang="en-US" b="0" dirty="0">
              <a:latin typeface="Times New Roman" panose="02020503050405090304" pitchFamily="18" charset="0"/>
              <a:ea typeface="黑体" panose="02010609060101010101" pitchFamily="49" charset="-122"/>
            </a:endParaRPr>
          </a:p>
          <a:p>
            <a:pPr marL="342900" indent="-342900">
              <a:lnSpc>
                <a:spcPct val="90000"/>
              </a:lnSpc>
              <a:spcBef>
                <a:spcPct val="20000"/>
              </a:spcBef>
              <a:buClrTx/>
              <a:buFontTx/>
            </a:pPr>
            <a:r>
              <a:rPr lang="zh-CN" altLang="en-US" b="0" dirty="0">
                <a:latin typeface="Times New Roman" panose="02020503050405090304" pitchFamily="18" charset="0"/>
                <a:ea typeface="黑体" panose="02010609060101010101" pitchFamily="49" charset="-122"/>
              </a:rPr>
              <a:t>（</a:t>
            </a:r>
            <a:r>
              <a:rPr lang="en-US" altLang="zh-CN" b="0" dirty="0">
                <a:latin typeface="Times New Roman" panose="02020503050405090304" pitchFamily="18" charset="0"/>
                <a:ea typeface="黑体" panose="02010609060101010101" pitchFamily="49" charset="-122"/>
              </a:rPr>
              <a:t>1</a:t>
            </a:r>
            <a:r>
              <a:rPr lang="zh-CN" altLang="en-US" b="0" dirty="0">
                <a:latin typeface="Times New Roman" panose="02020503050405090304" pitchFamily="18" charset="0"/>
                <a:ea typeface="黑体" panose="02010609060101010101" pitchFamily="49" charset="-122"/>
              </a:rPr>
              <a:t>）每次只移动一位；</a:t>
            </a:r>
            <a:endParaRPr lang="zh-CN" altLang="en-US" b="0" dirty="0">
              <a:latin typeface="Times New Roman" panose="02020503050405090304" pitchFamily="18" charset="0"/>
              <a:ea typeface="黑体" panose="02010609060101010101" pitchFamily="49" charset="-122"/>
            </a:endParaRPr>
          </a:p>
          <a:p>
            <a:pPr marL="342900" indent="-342900">
              <a:lnSpc>
                <a:spcPct val="90000"/>
              </a:lnSpc>
              <a:spcBef>
                <a:spcPct val="20000"/>
              </a:spcBef>
              <a:buClrTx/>
              <a:buFontTx/>
            </a:pPr>
            <a:r>
              <a:rPr lang="zh-CN" altLang="en-US" b="0" dirty="0">
                <a:latin typeface="Times New Roman" panose="02020503050405090304" pitchFamily="18" charset="0"/>
                <a:ea typeface="黑体" panose="02010609060101010101" pitchFamily="49" charset="-122"/>
              </a:rPr>
              <a:t>（</a:t>
            </a:r>
            <a:r>
              <a:rPr lang="en-US" altLang="zh-CN" b="0" dirty="0">
                <a:latin typeface="Times New Roman" panose="02020503050405090304" pitchFamily="18" charset="0"/>
                <a:ea typeface="黑体" panose="02010609060101010101" pitchFamily="49" charset="-122"/>
              </a:rPr>
              <a:t>2</a:t>
            </a:r>
            <a:r>
              <a:rPr lang="zh-CN" altLang="en-US" b="0" dirty="0">
                <a:latin typeface="Times New Roman" panose="02020503050405090304" pitchFamily="18" charset="0"/>
                <a:ea typeface="黑体" panose="02010609060101010101" pitchFamily="49" charset="-122"/>
              </a:rPr>
              <a:t>）在</a:t>
            </a:r>
            <a:r>
              <a:rPr lang="en-US" altLang="zh-CN" b="0" dirty="0">
                <a:latin typeface="Times New Roman" panose="02020503050405090304" pitchFamily="18" charset="0"/>
                <a:ea typeface="黑体" panose="02010609060101010101" pitchFamily="49" charset="-122"/>
              </a:rPr>
              <a:t>(A)</a:t>
            </a:r>
            <a:r>
              <a:rPr lang="en-US" altLang="zh-CN" b="0" dirty="0">
                <a:latin typeface="Times New Roman" panose="02020503050405090304" pitchFamily="18" charset="0"/>
                <a:ea typeface="黑体" panose="02010609060101010101" pitchFamily="49" charset="-122"/>
                <a:sym typeface="Symbol" pitchFamily="18" charset="2"/>
              </a:rPr>
              <a:t>07FH</a:t>
            </a:r>
            <a:r>
              <a:rPr lang="zh-CN" altLang="en-US" b="0" dirty="0">
                <a:latin typeface="Times New Roman" panose="02020503050405090304" pitchFamily="18" charset="0"/>
                <a:ea typeface="黑体" panose="02010609060101010101" pitchFamily="49" charset="-122"/>
                <a:sym typeface="Symbol" pitchFamily="18" charset="2"/>
              </a:rPr>
              <a:t>时，</a:t>
            </a:r>
            <a:r>
              <a:rPr lang="zh-CN" altLang="en-US" b="0" dirty="0">
                <a:latin typeface="Times New Roman" panose="02020503050405090304" pitchFamily="18" charset="0"/>
                <a:ea typeface="黑体" panose="02010609060101010101" pitchFamily="49" charset="-122"/>
              </a:rPr>
              <a:t>左移一位相当于</a:t>
            </a:r>
            <a:r>
              <a:rPr lang="en-US" altLang="zh-CN" b="0" dirty="0">
                <a:latin typeface="Times New Roman" panose="02020503050405090304" pitchFamily="18" charset="0"/>
                <a:ea typeface="黑体" panose="02010609060101010101" pitchFamily="49" charset="-122"/>
              </a:rPr>
              <a:t>(A)</a:t>
            </a:r>
            <a:r>
              <a:rPr lang="zh-CN" altLang="en-US" b="0" dirty="0">
                <a:latin typeface="Times New Roman" panose="02020503050405090304" pitchFamily="18" charset="0"/>
                <a:ea typeface="黑体" panose="02010609060101010101" pitchFamily="49" charset="-122"/>
              </a:rPr>
              <a:t>乘以</a:t>
            </a:r>
            <a:r>
              <a:rPr lang="en-US" altLang="zh-CN" b="0" dirty="0">
                <a:latin typeface="Times New Roman" panose="02020503050405090304" pitchFamily="18" charset="0"/>
                <a:ea typeface="黑体" panose="02010609060101010101" pitchFamily="49" charset="-122"/>
              </a:rPr>
              <a:t>2</a:t>
            </a:r>
            <a:r>
              <a:rPr lang="zh-CN" altLang="en-US" b="0" dirty="0">
                <a:latin typeface="Times New Roman" panose="02020503050405090304" pitchFamily="18" charset="0"/>
                <a:ea typeface="黑体" panose="02010609060101010101" pitchFamily="49" charset="-122"/>
              </a:rPr>
              <a:t>；</a:t>
            </a:r>
            <a:endParaRPr lang="zh-CN" altLang="en-US" b="0" dirty="0">
              <a:latin typeface="Times New Roman" panose="02020503050405090304" pitchFamily="18" charset="0"/>
              <a:ea typeface="黑体" panose="02010609060101010101" pitchFamily="49" charset="-122"/>
            </a:endParaRPr>
          </a:p>
        </p:txBody>
      </p:sp>
      <p:sp>
        <p:nvSpPr>
          <p:cNvPr id="122913" name="Rectangle 35"/>
          <p:cNvSpPr/>
          <p:nvPr/>
        </p:nvSpPr>
        <p:spPr>
          <a:xfrm>
            <a:off x="611188" y="1071563"/>
            <a:ext cx="3463925" cy="579437"/>
          </a:xfrm>
          <a:prstGeom prst="rect">
            <a:avLst/>
          </a:prstGeom>
          <a:noFill/>
          <a:ln w="9525">
            <a:noFill/>
          </a:ln>
        </p:spPr>
        <p:txBody>
          <a:bodyPr wrap="none" lIns="360000" rIns="180000" anchor="t" anchorCtr="0">
            <a:spAutoFit/>
          </a:bodyPr>
          <a:p>
            <a:pPr indent="-342900" defTabSz="425450" eaLnBrk="0" hangingPunct="0"/>
            <a:r>
              <a:rPr lang="zh-CN" altLang="en-US" sz="3200" dirty="0">
                <a:solidFill>
                  <a:srgbClr val="FF3300"/>
                </a:solidFill>
                <a:latin typeface="黑体" panose="02010609060101010101" pitchFamily="49" charset="-122"/>
                <a:ea typeface="黑体" panose="02010609060101010101" pitchFamily="49" charset="-122"/>
              </a:rPr>
              <a:t> </a:t>
            </a:r>
            <a:r>
              <a:rPr lang="zh-CN" altLang="zh-CN" sz="3200" dirty="0">
                <a:solidFill>
                  <a:srgbClr val="FF3300"/>
                </a:solidFill>
                <a:latin typeface="黑体" panose="02010609060101010101" pitchFamily="49" charset="-122"/>
                <a:ea typeface="黑体" panose="02010609060101010101" pitchFamily="49" charset="-122"/>
              </a:rPr>
              <a:t>3. </a:t>
            </a:r>
            <a:r>
              <a:rPr lang="zh-CN" altLang="en-US" sz="3200" dirty="0">
                <a:solidFill>
                  <a:srgbClr val="FF3300"/>
                </a:solidFill>
                <a:latin typeface="黑体" panose="02010609060101010101" pitchFamily="49" charset="-122"/>
                <a:ea typeface="黑体" panose="02010609060101010101" pitchFamily="49" charset="-122"/>
              </a:rPr>
              <a:t>循环移位指令</a:t>
            </a:r>
            <a:endParaRPr lang="zh-CN" altLang="en-US" sz="3200" dirty="0">
              <a:solidFill>
                <a:srgbClr val="FF3300"/>
              </a:solidFill>
              <a:latin typeface="黑体" panose="02010609060101010101" pitchFamily="49" charset="-122"/>
              <a:ea typeface="黑体" panose="02010609060101010101" pitchFamily="49" charset="-122"/>
            </a:endParaRPr>
          </a:p>
        </p:txBody>
      </p:sp>
      <p:sp>
        <p:nvSpPr>
          <p:cNvPr id="87042" name="Rectangle 2"/>
          <p:cNvSpPr>
            <a:spLocks noChangeArrowheads="1"/>
          </p:cNvSpPr>
          <p:nvPr/>
        </p:nvSpPr>
        <p:spPr bwMode="auto">
          <a:xfrm>
            <a:off x="214313" y="214313"/>
            <a:ext cx="8763000" cy="609600"/>
          </a:xfrm>
          <a:prstGeom prst="rect">
            <a:avLst/>
          </a:prstGeom>
          <a:noFill/>
          <a:ln>
            <a:noFill/>
          </a:ln>
        </p:spPr>
        <p:txBody>
          <a:bodyPr anchor="ctr"/>
          <a:lstStyle>
            <a:lvl1pPr>
              <a:defRPr sz="3600">
                <a:solidFill>
                  <a:schemeClr val="tx2"/>
                </a:solidFill>
                <a:latin typeface="Times New Roman" panose="02020503050405090304" pitchFamily="18" charset="0"/>
                <a:ea typeface="宋体" pitchFamily="2" charset="-122"/>
              </a:defRPr>
            </a:lvl1pPr>
            <a:lvl2pPr>
              <a:defRPr sz="3600">
                <a:solidFill>
                  <a:schemeClr val="tx2"/>
                </a:solidFill>
                <a:latin typeface="Times New Roman" panose="02020503050405090304" pitchFamily="18" charset="0"/>
                <a:ea typeface="宋体" pitchFamily="2" charset="-122"/>
              </a:defRPr>
            </a:lvl2pPr>
            <a:lvl3pPr>
              <a:defRPr sz="3600">
                <a:solidFill>
                  <a:schemeClr val="tx2"/>
                </a:solidFill>
                <a:latin typeface="Times New Roman" panose="02020503050405090304" pitchFamily="18" charset="0"/>
                <a:ea typeface="宋体" pitchFamily="2" charset="-122"/>
              </a:defRPr>
            </a:lvl3pPr>
            <a:lvl4pPr>
              <a:defRPr sz="3600">
                <a:solidFill>
                  <a:schemeClr val="tx2"/>
                </a:solidFill>
                <a:latin typeface="Times New Roman" panose="02020503050405090304" pitchFamily="18" charset="0"/>
                <a:ea typeface="宋体" pitchFamily="2" charset="-122"/>
              </a:defRPr>
            </a:lvl4pPr>
            <a:lvl5pPr>
              <a:defRPr sz="3600">
                <a:solidFill>
                  <a:schemeClr val="tx2"/>
                </a:solidFill>
                <a:latin typeface="Times New Roman" panose="02020503050405090304" pitchFamily="18" charset="0"/>
                <a:ea typeface="宋体" pitchFamily="2" charset="-122"/>
              </a:defRPr>
            </a:lvl5pPr>
            <a:lvl6pPr marL="45720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fontAlgn="base">
              <a:spcBef>
                <a:spcPct val="0"/>
              </a:spcBef>
              <a:spcAft>
                <a:spcPct val="0"/>
              </a:spcAft>
              <a:defRPr sz="3600">
                <a:solidFill>
                  <a:schemeClr val="tx2"/>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第三章</a:t>
            </a:r>
            <a:r>
              <a:rPr kumimoji="0" lang="zh-CN" altLang="en-US" sz="28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zh-CN" altLang="en-US" sz="24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en-US" altLang="zh-CN"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MCS-51</a:t>
            </a: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指令系统</a:t>
            </a:r>
            <a:endParaRPr kumimoji="0" lang="zh-CN" altLang="en-US" sz="3600" b="0"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Times New Roman" panose="02020503050405090304" pitchFamily="18" charset="0"/>
              <a:ea typeface="宋体" pitchFamily="2" charset="-122"/>
              <a:cs typeface="+mn-cs"/>
            </a:endParaRPr>
          </a:p>
        </p:txBody>
      </p:sp>
      <p:sp>
        <p:nvSpPr>
          <p:cNvPr id="199682" name="矩形 199681"/>
          <p:cNvSpPr/>
          <p:nvPr/>
        </p:nvSpPr>
        <p:spPr>
          <a:xfrm>
            <a:off x="1474788" y="3224213"/>
            <a:ext cx="360362" cy="287337"/>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a:latin typeface="Times New Roman" panose="02020503050405090304" pitchFamily="18" charset="0"/>
              <a:ea typeface="宋体" pitchFamily="2" charset="-122"/>
            </a:endParaRPr>
          </a:p>
        </p:txBody>
      </p:sp>
      <p:sp>
        <p:nvSpPr>
          <p:cNvPr id="199683" name="矩形 199682"/>
          <p:cNvSpPr/>
          <p:nvPr/>
        </p:nvSpPr>
        <p:spPr>
          <a:xfrm>
            <a:off x="1835150" y="3224213"/>
            <a:ext cx="360363" cy="287337"/>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a:latin typeface="Times New Roman" panose="02020503050405090304" pitchFamily="18" charset="0"/>
              <a:ea typeface="宋体" pitchFamily="2" charset="-122"/>
            </a:endParaRPr>
          </a:p>
        </p:txBody>
      </p:sp>
      <p:sp>
        <p:nvSpPr>
          <p:cNvPr id="199684" name="矩形 199683"/>
          <p:cNvSpPr/>
          <p:nvPr/>
        </p:nvSpPr>
        <p:spPr>
          <a:xfrm>
            <a:off x="2193925" y="3224213"/>
            <a:ext cx="360363" cy="287337"/>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a:latin typeface="Times New Roman" panose="02020503050405090304" pitchFamily="18" charset="0"/>
              <a:ea typeface="宋体" pitchFamily="2" charset="-122"/>
            </a:endParaRPr>
          </a:p>
        </p:txBody>
      </p:sp>
      <p:sp>
        <p:nvSpPr>
          <p:cNvPr id="199685" name="矩形 199684"/>
          <p:cNvSpPr/>
          <p:nvPr/>
        </p:nvSpPr>
        <p:spPr>
          <a:xfrm>
            <a:off x="2554288" y="3224213"/>
            <a:ext cx="360362" cy="287337"/>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a:latin typeface="Times New Roman" panose="02020503050405090304" pitchFamily="18" charset="0"/>
              <a:ea typeface="宋体" pitchFamily="2" charset="-122"/>
            </a:endParaRPr>
          </a:p>
        </p:txBody>
      </p:sp>
      <p:sp>
        <p:nvSpPr>
          <p:cNvPr id="199686" name="矩形 199685"/>
          <p:cNvSpPr/>
          <p:nvPr/>
        </p:nvSpPr>
        <p:spPr>
          <a:xfrm>
            <a:off x="2916238" y="3224213"/>
            <a:ext cx="360362" cy="287337"/>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a:latin typeface="Times New Roman" panose="02020503050405090304" pitchFamily="18" charset="0"/>
              <a:ea typeface="宋体" pitchFamily="2" charset="-122"/>
            </a:endParaRPr>
          </a:p>
        </p:txBody>
      </p:sp>
      <p:sp>
        <p:nvSpPr>
          <p:cNvPr id="199687" name="矩形 199686"/>
          <p:cNvSpPr/>
          <p:nvPr/>
        </p:nvSpPr>
        <p:spPr>
          <a:xfrm>
            <a:off x="3276600" y="3224213"/>
            <a:ext cx="360363" cy="287337"/>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a:latin typeface="Times New Roman" panose="02020503050405090304" pitchFamily="18" charset="0"/>
              <a:ea typeface="宋体" pitchFamily="2" charset="-122"/>
            </a:endParaRPr>
          </a:p>
        </p:txBody>
      </p:sp>
      <p:sp>
        <p:nvSpPr>
          <p:cNvPr id="199688" name="矩形 199687"/>
          <p:cNvSpPr/>
          <p:nvPr/>
        </p:nvSpPr>
        <p:spPr>
          <a:xfrm>
            <a:off x="3635375" y="3224213"/>
            <a:ext cx="360363" cy="287337"/>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a:latin typeface="Times New Roman" panose="02020503050405090304" pitchFamily="18" charset="0"/>
              <a:ea typeface="宋体" pitchFamily="2" charset="-122"/>
            </a:endParaRPr>
          </a:p>
        </p:txBody>
      </p:sp>
      <p:sp>
        <p:nvSpPr>
          <p:cNvPr id="199689" name="矩形 199688"/>
          <p:cNvSpPr/>
          <p:nvPr/>
        </p:nvSpPr>
        <p:spPr>
          <a:xfrm>
            <a:off x="3995738" y="3224213"/>
            <a:ext cx="360362" cy="287337"/>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a:latin typeface="Times New Roman" panose="02020503050405090304" pitchFamily="18" charset="0"/>
              <a:ea typeface="宋体" pitchFamily="2" charset="-122"/>
            </a:endParaRPr>
          </a:p>
        </p:txBody>
      </p:sp>
      <p:sp>
        <p:nvSpPr>
          <p:cNvPr id="199690" name="直接连接符 199689"/>
          <p:cNvSpPr/>
          <p:nvPr/>
        </p:nvSpPr>
        <p:spPr>
          <a:xfrm flipH="1">
            <a:off x="3851275" y="3368675"/>
            <a:ext cx="287338" cy="0"/>
          </a:xfrm>
          <a:prstGeom prst="line">
            <a:avLst/>
          </a:prstGeom>
          <a:ln w="9525" cap="flat" cmpd="sng">
            <a:solidFill>
              <a:schemeClr val="tx1"/>
            </a:solidFill>
            <a:prstDash val="solid"/>
            <a:round/>
            <a:headEnd type="none" w="med" len="med"/>
            <a:tailEnd type="triangle" w="sm" len="lg"/>
          </a:ln>
        </p:spPr>
      </p:sp>
      <p:sp>
        <p:nvSpPr>
          <p:cNvPr id="199691" name="直接连接符 199690"/>
          <p:cNvSpPr/>
          <p:nvPr/>
        </p:nvSpPr>
        <p:spPr>
          <a:xfrm flipH="1">
            <a:off x="3490913" y="3368675"/>
            <a:ext cx="287337" cy="0"/>
          </a:xfrm>
          <a:prstGeom prst="line">
            <a:avLst/>
          </a:prstGeom>
          <a:ln w="9525" cap="flat" cmpd="sng">
            <a:solidFill>
              <a:schemeClr val="tx1"/>
            </a:solidFill>
            <a:prstDash val="solid"/>
            <a:round/>
            <a:headEnd type="none" w="med" len="med"/>
            <a:tailEnd type="triangle" w="sm" len="lg"/>
          </a:ln>
        </p:spPr>
      </p:sp>
      <p:sp>
        <p:nvSpPr>
          <p:cNvPr id="199692" name="直接连接符 199691"/>
          <p:cNvSpPr/>
          <p:nvPr/>
        </p:nvSpPr>
        <p:spPr>
          <a:xfrm flipH="1">
            <a:off x="3130550" y="3368675"/>
            <a:ext cx="287338" cy="0"/>
          </a:xfrm>
          <a:prstGeom prst="line">
            <a:avLst/>
          </a:prstGeom>
          <a:ln w="9525" cap="flat" cmpd="sng">
            <a:solidFill>
              <a:schemeClr val="tx1"/>
            </a:solidFill>
            <a:prstDash val="solid"/>
            <a:round/>
            <a:headEnd type="none" w="med" len="med"/>
            <a:tailEnd type="triangle" w="sm" len="lg"/>
          </a:ln>
        </p:spPr>
      </p:sp>
      <p:sp>
        <p:nvSpPr>
          <p:cNvPr id="199693" name="直接连接符 199692"/>
          <p:cNvSpPr/>
          <p:nvPr/>
        </p:nvSpPr>
        <p:spPr>
          <a:xfrm flipH="1">
            <a:off x="2770188" y="3368675"/>
            <a:ext cx="287337" cy="0"/>
          </a:xfrm>
          <a:prstGeom prst="line">
            <a:avLst/>
          </a:prstGeom>
          <a:ln w="9525" cap="flat" cmpd="sng">
            <a:solidFill>
              <a:schemeClr val="tx1"/>
            </a:solidFill>
            <a:prstDash val="solid"/>
            <a:round/>
            <a:headEnd type="none" w="med" len="med"/>
            <a:tailEnd type="triangle" w="sm" len="lg"/>
          </a:ln>
        </p:spPr>
      </p:sp>
      <p:sp>
        <p:nvSpPr>
          <p:cNvPr id="199694" name="直接连接符 199693"/>
          <p:cNvSpPr/>
          <p:nvPr/>
        </p:nvSpPr>
        <p:spPr>
          <a:xfrm flipH="1">
            <a:off x="2409825" y="3368675"/>
            <a:ext cx="287338" cy="0"/>
          </a:xfrm>
          <a:prstGeom prst="line">
            <a:avLst/>
          </a:prstGeom>
          <a:ln w="9525" cap="flat" cmpd="sng">
            <a:solidFill>
              <a:schemeClr val="tx1"/>
            </a:solidFill>
            <a:prstDash val="solid"/>
            <a:round/>
            <a:headEnd type="none" w="med" len="med"/>
            <a:tailEnd type="triangle" w="sm" len="lg"/>
          </a:ln>
        </p:spPr>
      </p:sp>
      <p:sp>
        <p:nvSpPr>
          <p:cNvPr id="199695" name="直接连接符 199694"/>
          <p:cNvSpPr/>
          <p:nvPr/>
        </p:nvSpPr>
        <p:spPr>
          <a:xfrm flipH="1">
            <a:off x="2051050" y="3368675"/>
            <a:ext cx="287338" cy="0"/>
          </a:xfrm>
          <a:prstGeom prst="line">
            <a:avLst/>
          </a:prstGeom>
          <a:ln w="9525" cap="flat" cmpd="sng">
            <a:solidFill>
              <a:schemeClr val="tx1"/>
            </a:solidFill>
            <a:prstDash val="solid"/>
            <a:round/>
            <a:headEnd type="none" w="med" len="med"/>
            <a:tailEnd type="triangle" w="sm" len="lg"/>
          </a:ln>
        </p:spPr>
      </p:sp>
      <p:sp>
        <p:nvSpPr>
          <p:cNvPr id="199696" name="直接连接符 199695"/>
          <p:cNvSpPr/>
          <p:nvPr/>
        </p:nvSpPr>
        <p:spPr>
          <a:xfrm flipH="1">
            <a:off x="1690688" y="3368675"/>
            <a:ext cx="287337" cy="0"/>
          </a:xfrm>
          <a:prstGeom prst="line">
            <a:avLst/>
          </a:prstGeom>
          <a:ln w="9525" cap="flat" cmpd="sng">
            <a:solidFill>
              <a:schemeClr val="tx1"/>
            </a:solidFill>
            <a:prstDash val="solid"/>
            <a:round/>
            <a:headEnd type="none" w="med" len="med"/>
            <a:tailEnd type="triangle" w="sm" len="lg"/>
          </a:ln>
        </p:spPr>
      </p:sp>
      <p:sp>
        <p:nvSpPr>
          <p:cNvPr id="199697" name="直接连接符 199696"/>
          <p:cNvSpPr/>
          <p:nvPr/>
        </p:nvSpPr>
        <p:spPr>
          <a:xfrm flipH="1">
            <a:off x="1330325" y="3368675"/>
            <a:ext cx="287338" cy="0"/>
          </a:xfrm>
          <a:prstGeom prst="line">
            <a:avLst/>
          </a:prstGeom>
          <a:ln w="9525" cap="flat" cmpd="sng">
            <a:solidFill>
              <a:schemeClr val="tx1"/>
            </a:solidFill>
            <a:prstDash val="solid"/>
            <a:round/>
            <a:headEnd type="none" w="med" len="med"/>
            <a:tailEnd type="triangle" w="sm" len="lg"/>
          </a:ln>
        </p:spPr>
      </p:sp>
      <p:sp>
        <p:nvSpPr>
          <p:cNvPr id="199698" name="直接连接符 199697"/>
          <p:cNvSpPr/>
          <p:nvPr/>
        </p:nvSpPr>
        <p:spPr>
          <a:xfrm flipH="1">
            <a:off x="4210050" y="3368675"/>
            <a:ext cx="287338" cy="0"/>
          </a:xfrm>
          <a:prstGeom prst="line">
            <a:avLst/>
          </a:prstGeom>
          <a:ln w="9525" cap="flat" cmpd="sng">
            <a:solidFill>
              <a:schemeClr val="tx1"/>
            </a:solidFill>
            <a:prstDash val="solid"/>
            <a:round/>
            <a:headEnd type="none" w="med" len="med"/>
            <a:tailEnd type="triangle" w="sm" len="lg"/>
          </a:ln>
        </p:spPr>
      </p:sp>
      <p:sp>
        <p:nvSpPr>
          <p:cNvPr id="199699" name="直接连接符 199698"/>
          <p:cNvSpPr/>
          <p:nvPr/>
        </p:nvSpPr>
        <p:spPr>
          <a:xfrm flipH="1">
            <a:off x="1042988" y="3368675"/>
            <a:ext cx="287337" cy="0"/>
          </a:xfrm>
          <a:prstGeom prst="line">
            <a:avLst/>
          </a:prstGeom>
          <a:ln w="9525" cap="flat" cmpd="sng">
            <a:solidFill>
              <a:schemeClr val="tx1"/>
            </a:solidFill>
            <a:prstDash val="solid"/>
            <a:round/>
            <a:headEnd type="none" w="med" len="med"/>
            <a:tailEnd type="none" w="med" len="med"/>
          </a:ln>
        </p:spPr>
      </p:sp>
      <p:sp>
        <p:nvSpPr>
          <p:cNvPr id="199700" name="直接连接符 199699"/>
          <p:cNvSpPr/>
          <p:nvPr/>
        </p:nvSpPr>
        <p:spPr>
          <a:xfrm>
            <a:off x="1042988" y="2936875"/>
            <a:ext cx="0" cy="431800"/>
          </a:xfrm>
          <a:prstGeom prst="line">
            <a:avLst/>
          </a:prstGeom>
          <a:ln w="9525" cap="flat" cmpd="sng">
            <a:solidFill>
              <a:schemeClr val="tx1"/>
            </a:solidFill>
            <a:prstDash val="solid"/>
            <a:round/>
            <a:headEnd type="none" w="med" len="med"/>
            <a:tailEnd type="none" w="med" len="med"/>
          </a:ln>
        </p:spPr>
      </p:sp>
      <p:sp>
        <p:nvSpPr>
          <p:cNvPr id="199701" name="直接连接符 199700"/>
          <p:cNvSpPr/>
          <p:nvPr/>
        </p:nvSpPr>
        <p:spPr>
          <a:xfrm>
            <a:off x="1042988" y="2936875"/>
            <a:ext cx="3600450" cy="0"/>
          </a:xfrm>
          <a:prstGeom prst="line">
            <a:avLst/>
          </a:prstGeom>
          <a:ln w="9525" cap="flat" cmpd="sng">
            <a:solidFill>
              <a:schemeClr val="tx1"/>
            </a:solidFill>
            <a:prstDash val="solid"/>
            <a:round/>
            <a:headEnd type="none" w="med" len="med"/>
            <a:tailEnd type="none" w="med" len="med"/>
          </a:ln>
        </p:spPr>
      </p:sp>
      <p:sp>
        <p:nvSpPr>
          <p:cNvPr id="199702" name="直接连接符 199701"/>
          <p:cNvSpPr/>
          <p:nvPr/>
        </p:nvSpPr>
        <p:spPr>
          <a:xfrm>
            <a:off x="4643438" y="2936875"/>
            <a:ext cx="0" cy="431800"/>
          </a:xfrm>
          <a:prstGeom prst="line">
            <a:avLst/>
          </a:prstGeom>
          <a:ln w="9525" cap="flat" cmpd="sng">
            <a:solidFill>
              <a:schemeClr val="tx1"/>
            </a:solidFill>
            <a:prstDash val="solid"/>
            <a:round/>
            <a:headEnd type="none" w="med" len="med"/>
            <a:tailEnd type="none" w="med" len="med"/>
          </a:ln>
        </p:spPr>
      </p:sp>
      <p:sp>
        <p:nvSpPr>
          <p:cNvPr id="199703" name="直接连接符 199702"/>
          <p:cNvSpPr/>
          <p:nvPr/>
        </p:nvSpPr>
        <p:spPr>
          <a:xfrm flipH="1">
            <a:off x="4498975" y="3368675"/>
            <a:ext cx="144463" cy="0"/>
          </a:xfrm>
          <a:prstGeom prst="line">
            <a:avLst/>
          </a:prstGeom>
          <a:ln w="9525" cap="flat" cmpd="sng">
            <a:solidFill>
              <a:schemeClr val="tx1"/>
            </a:solidFill>
            <a:prstDash val="solid"/>
            <a:round/>
            <a:headEnd type="none" w="med" len="med"/>
            <a:tailEnd type="none" w="med" len="med"/>
          </a:ln>
        </p:spPr>
      </p:sp>
      <p:sp>
        <p:nvSpPr>
          <p:cNvPr id="199706" name="椭圆 199705"/>
          <p:cNvSpPr>
            <a:spLocks noChangeAspect="1"/>
          </p:cNvSpPr>
          <p:nvPr/>
        </p:nvSpPr>
        <p:spPr>
          <a:xfrm>
            <a:off x="1296988" y="3332163"/>
            <a:ext cx="69850" cy="66675"/>
          </a:xfrm>
          <a:prstGeom prst="ellipse">
            <a:avLst/>
          </a:prstGeom>
          <a:solidFill>
            <a:srgbClr val="FF0000"/>
          </a:solidFill>
          <a:ln w="9525" cap="flat" cmpd="sng">
            <a:solidFill>
              <a:srgbClr val="FF3300"/>
            </a:solidFill>
            <a:prstDash val="solid"/>
            <a:headEnd type="none" w="med" len="med"/>
            <a:tailEnd type="none" w="med" len="med"/>
          </a:ln>
        </p:spPr>
        <p:txBody>
          <a:bodyPr wrap="none" anchor="ctr"/>
          <a:p>
            <a:pPr algn="ctr" fontAlgn="base"/>
            <a:endParaRPr lang="zh-CN" altLang="en-US" sz="2400" strike="noStrike" noProof="1" dirty="0">
              <a:solidFill>
                <a:srgbClr val="FF0000"/>
              </a:solidFill>
              <a:effectLst>
                <a:outerShdw blurRad="38100" dist="38100" dir="2700000">
                  <a:srgbClr val="C0C0C0"/>
                </a:outerShdw>
              </a:effectLst>
              <a:latin typeface="Times New Roman" panose="02020503050405090304" pitchFamily="18" charset="0"/>
              <a:ea typeface="创艺简黑体" pitchFamily="2" charset="-122"/>
            </a:endParaRPr>
          </a:p>
        </p:txBody>
      </p:sp>
      <p:sp>
        <p:nvSpPr>
          <p:cNvPr id="3" name="文本框 2"/>
          <p:cNvSpPr txBox="1"/>
          <p:nvPr/>
        </p:nvSpPr>
        <p:spPr>
          <a:xfrm>
            <a:off x="1258888" y="3578225"/>
            <a:ext cx="576262" cy="398463"/>
          </a:xfrm>
          <a:prstGeom prst="rect">
            <a:avLst/>
          </a:prstGeom>
          <a:noFill/>
          <a:ln w="9525">
            <a:noFill/>
          </a:ln>
        </p:spPr>
        <p:txBody>
          <a:bodyPr anchor="t" anchorCtr="0">
            <a:spAutoFit/>
          </a:bodyPr>
          <a:p>
            <a:pPr>
              <a:spcBef>
                <a:spcPct val="50000"/>
              </a:spcBef>
            </a:pPr>
            <a:r>
              <a:rPr lang="en-US" altLang="zh-CN" sz="2000" b="0">
                <a:latin typeface="Times New Roman" panose="02020503050405090304" pitchFamily="18" charset="0"/>
                <a:ea typeface="创艺简黑体" pitchFamily="2" charset="-122"/>
              </a:rPr>
              <a:t>A.7</a:t>
            </a:r>
            <a:endParaRPr lang="en-US" altLang="zh-CN" sz="2000" b="0">
              <a:latin typeface="Times New Roman" panose="02020503050405090304" pitchFamily="18" charset="0"/>
              <a:ea typeface="创艺简黑体" pitchFamily="2" charset="-122"/>
            </a:endParaRPr>
          </a:p>
        </p:txBody>
      </p:sp>
      <p:sp>
        <p:nvSpPr>
          <p:cNvPr id="199704" name="文本框 199703"/>
          <p:cNvSpPr txBox="1"/>
          <p:nvPr/>
        </p:nvSpPr>
        <p:spPr>
          <a:xfrm>
            <a:off x="3922713" y="3578225"/>
            <a:ext cx="576262" cy="398463"/>
          </a:xfrm>
          <a:prstGeom prst="rect">
            <a:avLst/>
          </a:prstGeom>
          <a:noFill/>
          <a:ln w="9525">
            <a:noFill/>
          </a:ln>
        </p:spPr>
        <p:txBody>
          <a:bodyPr anchor="t" anchorCtr="0">
            <a:spAutoFit/>
          </a:bodyPr>
          <a:p>
            <a:pPr>
              <a:spcBef>
                <a:spcPct val="50000"/>
              </a:spcBef>
            </a:pPr>
            <a:r>
              <a:rPr lang="en-US" altLang="zh-CN" sz="2000" b="0">
                <a:latin typeface="Times New Roman" panose="02020503050405090304" pitchFamily="18" charset="0"/>
                <a:ea typeface="创艺简黑体" pitchFamily="2" charset="-122"/>
              </a:rPr>
              <a:t>A.0</a:t>
            </a:r>
            <a:endParaRPr lang="en-US" altLang="zh-CN" sz="2000" b="0">
              <a:latin typeface="Times New Roman" panose="02020503050405090304" pitchFamily="18" charset="0"/>
              <a:ea typeface="创艺简黑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3539">
                                            <p:txEl>
                                              <p:charRg st="0" end="8"/>
                                            </p:txEl>
                                          </p:spTgt>
                                        </p:tgtEl>
                                        <p:attrNameLst>
                                          <p:attrName>style.visibility</p:attrName>
                                        </p:attrNameLst>
                                      </p:cBhvr>
                                      <p:to>
                                        <p:strVal val="visible"/>
                                      </p:to>
                                    </p:set>
                                    <p:anim calcmode="lin" valueType="num">
                                      <p:cBhvr additive="base">
                                        <p:cTn id="7" dur="500" fill="hold"/>
                                        <p:tgtEl>
                                          <p:spTgt spid="193539">
                                            <p:txEl>
                                              <p:charRg st="0" end="8"/>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93539">
                                            <p:txEl>
                                              <p:charRg st="0" end="8"/>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3539">
                                            <p:txEl>
                                              <p:charRg st="8" end="52"/>
                                            </p:txEl>
                                          </p:spTgt>
                                        </p:tgtEl>
                                        <p:attrNameLst>
                                          <p:attrName>style.visibility</p:attrName>
                                        </p:attrNameLst>
                                      </p:cBhvr>
                                      <p:to>
                                        <p:strVal val="visible"/>
                                      </p:to>
                                    </p:set>
                                    <p:anim calcmode="lin" valueType="num">
                                      <p:cBhvr additive="base">
                                        <p:cTn id="13" dur="500" fill="hold"/>
                                        <p:tgtEl>
                                          <p:spTgt spid="193539">
                                            <p:txEl>
                                              <p:charRg st="8" end="5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93539">
                                            <p:txEl>
                                              <p:charRg st="8" end="5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968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968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968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968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968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968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968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968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9969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969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9969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969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9969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9969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9969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9969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9969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9969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9970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9970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9970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99703"/>
                                        </p:tgtEl>
                                        <p:attrNameLst>
                                          <p:attrName>style.visibility</p:attrName>
                                        </p:attrNameLst>
                                      </p:cBhvr>
                                      <p:to>
                                        <p:strVal val="visible"/>
                                      </p:to>
                                    </p:set>
                                  </p:childTnLst>
                                </p:cTn>
                              </p:par>
                              <p:par>
                                <p:cTn id="61" presetID="1" presetClass="entr" presetSubtype="0" fill="hold" grpId="1" nodeType="withEffect">
                                  <p:stCondLst>
                                    <p:cond delay="0"/>
                                  </p:stCondLst>
                                  <p:childTnLst>
                                    <p:set>
                                      <p:cBhvr>
                                        <p:cTn id="62" dur="1" fill="hold">
                                          <p:stCondLst>
                                            <p:cond delay="0"/>
                                          </p:stCondLst>
                                        </p:cTn>
                                        <p:tgtEl>
                                          <p:spTgt spid="19970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99704"/>
                                        </p:tgtEl>
                                        <p:attrNameLst>
                                          <p:attrName>style.visibility</p:attrName>
                                        </p:attrNameLst>
                                      </p:cBhvr>
                                      <p:to>
                                        <p:strVal val="visible"/>
                                      </p:to>
                                    </p:set>
                                  </p:childTnLst>
                                </p:cTn>
                              </p:par>
                            </p:childTnLst>
                          </p:cTn>
                        </p:par>
                        <p:par>
                          <p:cTn id="67" fill="hold">
                            <p:stCondLst>
                              <p:cond delay="0"/>
                            </p:stCondLst>
                            <p:childTnLst>
                              <p:par>
                                <p:cTn id="68" presetID="12" presetClass="entr" presetSubtype="2" fill="hold" nodeType="afterEffect">
                                  <p:stCondLst>
                                    <p:cond delay="0"/>
                                  </p:stCondLst>
                                  <p:childTnLst>
                                    <p:set>
                                      <p:cBhvr>
                                        <p:cTn id="69" dur="1" fill="hold">
                                          <p:stCondLst>
                                            <p:cond delay="0"/>
                                          </p:stCondLst>
                                        </p:cTn>
                                        <p:tgtEl>
                                          <p:spTgt spid="199697"/>
                                        </p:tgtEl>
                                        <p:attrNameLst>
                                          <p:attrName>style.visibility</p:attrName>
                                        </p:attrNameLst>
                                      </p:cBhvr>
                                      <p:to>
                                        <p:strVal val="visible"/>
                                      </p:to>
                                    </p:set>
                                    <p:animEffect transition="in" filter="slide(fromRight)">
                                      <p:cBhvr>
                                        <p:cTn id="70" dur="500"/>
                                        <p:tgtEl>
                                          <p:spTgt spid="199697"/>
                                        </p:tgtEl>
                                      </p:cBhvr>
                                    </p:animEffect>
                                  </p:childTnLst>
                                </p:cTn>
                              </p:par>
                            </p:childTnLst>
                          </p:cTn>
                        </p:par>
                        <p:par>
                          <p:cTn id="71" fill="hold">
                            <p:stCondLst>
                              <p:cond delay="500"/>
                            </p:stCondLst>
                            <p:childTnLst>
                              <p:par>
                                <p:cTn id="72" presetID="0" presetClass="path" presetSubtype="0" accel="50000" decel="50000" fill="hold" grpId="0" nodeType="afterEffect">
                                  <p:stCondLst>
                                    <p:cond delay="0"/>
                                  </p:stCondLst>
                                  <p:childTnLst>
                                    <p:animMotion origin="layout" path="M -0.00017 -0.00069 L -0.03472 -0.00069 L -0.03472 -0.06505 L 0.36024 -0.06505 L 0.36024 -0.00069 L 0.34115 -0.00069 " pathEditMode="relative" ptsTypes="AAAAAA">
                                      <p:cBhvr>
                                        <p:cTn id="73" dur="2000" fill="hold"/>
                                        <p:tgtEl>
                                          <p:spTgt spid="199706"/>
                                        </p:tgtEl>
                                        <p:attrNameLst>
                                          <p:attrName>ppt_x</p:attrName>
                                          <p:attrName>ppt_y</p:attrName>
                                        </p:attrNameLst>
                                      </p:cBhvr>
                                    </p:animMotion>
                                  </p:childTnLst>
                                </p:cTn>
                              </p:par>
                            </p:childTnLst>
                          </p:cTn>
                        </p:par>
                        <p:par>
                          <p:cTn id="74" fill="hold">
                            <p:stCondLst>
                              <p:cond delay="2500"/>
                            </p:stCondLst>
                            <p:childTnLst>
                              <p:par>
                                <p:cTn id="75" presetID="12" presetClass="entr" presetSubtype="2" fill="hold" nodeType="afterEffect">
                                  <p:stCondLst>
                                    <p:cond delay="0"/>
                                  </p:stCondLst>
                                  <p:childTnLst>
                                    <p:set>
                                      <p:cBhvr>
                                        <p:cTn id="76" dur="1" fill="hold">
                                          <p:stCondLst>
                                            <p:cond delay="0"/>
                                          </p:stCondLst>
                                        </p:cTn>
                                        <p:tgtEl>
                                          <p:spTgt spid="199690"/>
                                        </p:tgtEl>
                                        <p:attrNameLst>
                                          <p:attrName>style.visibility</p:attrName>
                                        </p:attrNameLst>
                                      </p:cBhvr>
                                      <p:to>
                                        <p:strVal val="visible"/>
                                      </p:to>
                                    </p:set>
                                    <p:animEffect transition="in" filter="slide(fromRight)">
                                      <p:cBhvr>
                                        <p:cTn id="77" dur="500"/>
                                        <p:tgtEl>
                                          <p:spTgt spid="199690"/>
                                        </p:tgtEl>
                                      </p:cBhvr>
                                    </p:animEffect>
                                  </p:childTnLst>
                                </p:cTn>
                              </p:par>
                            </p:childTnLst>
                          </p:cTn>
                        </p:par>
                        <p:par>
                          <p:cTn id="78" fill="hold">
                            <p:stCondLst>
                              <p:cond delay="3000"/>
                            </p:stCondLst>
                            <p:childTnLst>
                              <p:par>
                                <p:cTn id="79" presetID="12" presetClass="entr" presetSubtype="2" fill="hold" nodeType="afterEffect">
                                  <p:stCondLst>
                                    <p:cond delay="0"/>
                                  </p:stCondLst>
                                  <p:childTnLst>
                                    <p:set>
                                      <p:cBhvr>
                                        <p:cTn id="80" dur="1" fill="hold">
                                          <p:stCondLst>
                                            <p:cond delay="0"/>
                                          </p:stCondLst>
                                        </p:cTn>
                                        <p:tgtEl>
                                          <p:spTgt spid="199691"/>
                                        </p:tgtEl>
                                        <p:attrNameLst>
                                          <p:attrName>style.visibility</p:attrName>
                                        </p:attrNameLst>
                                      </p:cBhvr>
                                      <p:to>
                                        <p:strVal val="visible"/>
                                      </p:to>
                                    </p:set>
                                    <p:animEffect transition="in" filter="slide(fromRight)">
                                      <p:cBhvr>
                                        <p:cTn id="81" dur="500"/>
                                        <p:tgtEl>
                                          <p:spTgt spid="199691"/>
                                        </p:tgtEl>
                                      </p:cBhvr>
                                    </p:animEffect>
                                  </p:childTnLst>
                                </p:cTn>
                              </p:par>
                            </p:childTnLst>
                          </p:cTn>
                        </p:par>
                        <p:par>
                          <p:cTn id="82" fill="hold">
                            <p:stCondLst>
                              <p:cond delay="3500"/>
                            </p:stCondLst>
                            <p:childTnLst>
                              <p:par>
                                <p:cTn id="83" presetID="12" presetClass="entr" presetSubtype="2" fill="hold" nodeType="afterEffect">
                                  <p:stCondLst>
                                    <p:cond delay="0"/>
                                  </p:stCondLst>
                                  <p:childTnLst>
                                    <p:set>
                                      <p:cBhvr>
                                        <p:cTn id="84" dur="1" fill="hold">
                                          <p:stCondLst>
                                            <p:cond delay="0"/>
                                          </p:stCondLst>
                                        </p:cTn>
                                        <p:tgtEl>
                                          <p:spTgt spid="199692"/>
                                        </p:tgtEl>
                                        <p:attrNameLst>
                                          <p:attrName>style.visibility</p:attrName>
                                        </p:attrNameLst>
                                      </p:cBhvr>
                                      <p:to>
                                        <p:strVal val="visible"/>
                                      </p:to>
                                    </p:set>
                                    <p:animEffect transition="in" filter="slide(fromRight)">
                                      <p:cBhvr>
                                        <p:cTn id="85" dur="500"/>
                                        <p:tgtEl>
                                          <p:spTgt spid="199692"/>
                                        </p:tgtEl>
                                      </p:cBhvr>
                                    </p:animEffect>
                                  </p:childTnLst>
                                </p:cTn>
                              </p:par>
                            </p:childTnLst>
                          </p:cTn>
                        </p:par>
                        <p:par>
                          <p:cTn id="86" fill="hold">
                            <p:stCondLst>
                              <p:cond delay="4000"/>
                            </p:stCondLst>
                            <p:childTnLst>
                              <p:par>
                                <p:cTn id="87" presetID="12" presetClass="entr" presetSubtype="2" fill="hold" nodeType="afterEffect">
                                  <p:stCondLst>
                                    <p:cond delay="0"/>
                                  </p:stCondLst>
                                  <p:childTnLst>
                                    <p:set>
                                      <p:cBhvr>
                                        <p:cTn id="88" dur="1" fill="hold">
                                          <p:stCondLst>
                                            <p:cond delay="0"/>
                                          </p:stCondLst>
                                        </p:cTn>
                                        <p:tgtEl>
                                          <p:spTgt spid="199693"/>
                                        </p:tgtEl>
                                        <p:attrNameLst>
                                          <p:attrName>style.visibility</p:attrName>
                                        </p:attrNameLst>
                                      </p:cBhvr>
                                      <p:to>
                                        <p:strVal val="visible"/>
                                      </p:to>
                                    </p:set>
                                    <p:animEffect transition="in" filter="slide(fromRight)">
                                      <p:cBhvr>
                                        <p:cTn id="89" dur="500"/>
                                        <p:tgtEl>
                                          <p:spTgt spid="199693"/>
                                        </p:tgtEl>
                                      </p:cBhvr>
                                    </p:animEffect>
                                  </p:childTnLst>
                                </p:cTn>
                              </p:par>
                            </p:childTnLst>
                          </p:cTn>
                        </p:par>
                        <p:par>
                          <p:cTn id="90" fill="hold">
                            <p:stCondLst>
                              <p:cond delay="4500"/>
                            </p:stCondLst>
                            <p:childTnLst>
                              <p:par>
                                <p:cTn id="91" presetID="12" presetClass="entr" presetSubtype="2" fill="hold" nodeType="afterEffect">
                                  <p:stCondLst>
                                    <p:cond delay="0"/>
                                  </p:stCondLst>
                                  <p:childTnLst>
                                    <p:set>
                                      <p:cBhvr>
                                        <p:cTn id="92" dur="1" fill="hold">
                                          <p:stCondLst>
                                            <p:cond delay="0"/>
                                          </p:stCondLst>
                                        </p:cTn>
                                        <p:tgtEl>
                                          <p:spTgt spid="199694"/>
                                        </p:tgtEl>
                                        <p:attrNameLst>
                                          <p:attrName>style.visibility</p:attrName>
                                        </p:attrNameLst>
                                      </p:cBhvr>
                                      <p:to>
                                        <p:strVal val="visible"/>
                                      </p:to>
                                    </p:set>
                                    <p:animEffect transition="in" filter="slide(fromRight)">
                                      <p:cBhvr>
                                        <p:cTn id="93" dur="500"/>
                                        <p:tgtEl>
                                          <p:spTgt spid="199694"/>
                                        </p:tgtEl>
                                      </p:cBhvr>
                                    </p:animEffect>
                                  </p:childTnLst>
                                </p:cTn>
                              </p:par>
                            </p:childTnLst>
                          </p:cTn>
                        </p:par>
                        <p:par>
                          <p:cTn id="94" fill="hold">
                            <p:stCondLst>
                              <p:cond delay="5000"/>
                            </p:stCondLst>
                            <p:childTnLst>
                              <p:par>
                                <p:cTn id="95" presetID="12" presetClass="entr" presetSubtype="2" fill="hold" nodeType="afterEffect">
                                  <p:stCondLst>
                                    <p:cond delay="0"/>
                                  </p:stCondLst>
                                  <p:childTnLst>
                                    <p:set>
                                      <p:cBhvr>
                                        <p:cTn id="96" dur="1" fill="hold">
                                          <p:stCondLst>
                                            <p:cond delay="0"/>
                                          </p:stCondLst>
                                        </p:cTn>
                                        <p:tgtEl>
                                          <p:spTgt spid="199695"/>
                                        </p:tgtEl>
                                        <p:attrNameLst>
                                          <p:attrName>style.visibility</p:attrName>
                                        </p:attrNameLst>
                                      </p:cBhvr>
                                      <p:to>
                                        <p:strVal val="visible"/>
                                      </p:to>
                                    </p:set>
                                    <p:animEffect transition="in" filter="slide(fromRight)">
                                      <p:cBhvr>
                                        <p:cTn id="97" dur="500"/>
                                        <p:tgtEl>
                                          <p:spTgt spid="199695"/>
                                        </p:tgtEl>
                                      </p:cBhvr>
                                    </p:animEffect>
                                  </p:childTnLst>
                                </p:cTn>
                              </p:par>
                            </p:childTnLst>
                          </p:cTn>
                        </p:par>
                        <p:par>
                          <p:cTn id="98" fill="hold">
                            <p:stCondLst>
                              <p:cond delay="5500"/>
                            </p:stCondLst>
                            <p:childTnLst>
                              <p:par>
                                <p:cTn id="99" presetID="12" presetClass="entr" presetSubtype="2" fill="hold" nodeType="afterEffect">
                                  <p:stCondLst>
                                    <p:cond delay="0"/>
                                  </p:stCondLst>
                                  <p:childTnLst>
                                    <p:set>
                                      <p:cBhvr>
                                        <p:cTn id="100" dur="1" fill="hold">
                                          <p:stCondLst>
                                            <p:cond delay="0"/>
                                          </p:stCondLst>
                                        </p:cTn>
                                        <p:tgtEl>
                                          <p:spTgt spid="199696"/>
                                        </p:tgtEl>
                                        <p:attrNameLst>
                                          <p:attrName>style.visibility</p:attrName>
                                        </p:attrNameLst>
                                      </p:cBhvr>
                                      <p:to>
                                        <p:strVal val="visible"/>
                                      </p:to>
                                    </p:set>
                                    <p:animEffect transition="in" filter="slide(fromRight)">
                                      <p:cBhvr>
                                        <p:cTn id="101" dur="500"/>
                                        <p:tgtEl>
                                          <p:spTgt spid="199696"/>
                                        </p:tgtEl>
                                      </p:cBhvr>
                                    </p:animEffect>
                                  </p:childTnLst>
                                </p:cTn>
                              </p:par>
                            </p:childTnLst>
                          </p:cTn>
                        </p:par>
                      </p:childTnLst>
                    </p:cTn>
                  </p:par>
                  <p:par>
                    <p:cTn id="102" fill="hold">
                      <p:stCondLst>
                        <p:cond delay="indefinite"/>
                      </p:stCondLst>
                      <p:childTnLst>
                        <p:par>
                          <p:cTn id="103" fill="hold">
                            <p:stCondLst>
                              <p:cond delay="0"/>
                            </p:stCondLst>
                            <p:childTnLst>
                              <p:par>
                                <p:cTn id="104" presetID="2" presetClass="entr" presetSubtype="4" fill="hold" nodeType="clickEffect">
                                  <p:stCondLst>
                                    <p:cond delay="0"/>
                                  </p:stCondLst>
                                  <p:childTnLst>
                                    <p:set>
                                      <p:cBhvr>
                                        <p:cTn id="105" dur="1" fill="hold">
                                          <p:stCondLst>
                                            <p:cond delay="0"/>
                                          </p:stCondLst>
                                        </p:cTn>
                                        <p:tgtEl>
                                          <p:spTgt spid="2"/>
                                        </p:tgtEl>
                                        <p:attrNameLst>
                                          <p:attrName>style.visibility</p:attrName>
                                        </p:attrNameLst>
                                      </p:cBhvr>
                                      <p:to>
                                        <p:strVal val="visible"/>
                                      </p:to>
                                    </p:set>
                                    <p:anim calcmode="lin" valueType="num">
                                      <p:cBhvr additive="base">
                                        <p:cTn id="106" dur="500" fill="hold"/>
                                        <p:tgtEl>
                                          <p:spTgt spid="2"/>
                                        </p:tgtEl>
                                        <p:attrNameLst>
                                          <p:attrName>ppt_x</p:attrName>
                                        </p:attrNameLst>
                                      </p:cBhvr>
                                      <p:tavLst>
                                        <p:tav tm="0">
                                          <p:val>
                                            <p:strVal val="#ppt_x"/>
                                          </p:val>
                                        </p:tav>
                                        <p:tav tm="100000">
                                          <p:val>
                                            <p:strVal val="#ppt_x"/>
                                          </p:val>
                                        </p:tav>
                                      </p:tavLst>
                                    </p:anim>
                                    <p:anim calcmode="lin" valueType="num">
                                      <p:cBhvr additive="base">
                                        <p:cTn id="107"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2" presetClass="entr" presetSubtype="4" fill="hold" grpId="0" nodeType="clickEffect">
                                  <p:stCondLst>
                                    <p:cond delay="0"/>
                                  </p:stCondLst>
                                  <p:childTnLst>
                                    <p:set>
                                      <p:cBhvr>
                                        <p:cTn id="111" dur="1" fill="hold">
                                          <p:stCondLst>
                                            <p:cond delay="0"/>
                                          </p:stCondLst>
                                        </p:cTn>
                                        <p:tgtEl>
                                          <p:spTgt spid="193570"/>
                                        </p:tgtEl>
                                        <p:attrNameLst>
                                          <p:attrName>style.visibility</p:attrName>
                                        </p:attrNameLst>
                                      </p:cBhvr>
                                      <p:to>
                                        <p:strVal val="visible"/>
                                      </p:to>
                                    </p:set>
                                    <p:anim calcmode="lin" valueType="num">
                                      <p:cBhvr additive="base">
                                        <p:cTn id="112" dur="500" fill="hold"/>
                                        <p:tgtEl>
                                          <p:spTgt spid="193570"/>
                                        </p:tgtEl>
                                        <p:attrNameLst>
                                          <p:attrName>ppt_x</p:attrName>
                                        </p:attrNameLst>
                                      </p:cBhvr>
                                      <p:tavLst>
                                        <p:tav tm="0">
                                          <p:val>
                                            <p:strVal val="#ppt_x"/>
                                          </p:val>
                                        </p:tav>
                                        <p:tav tm="100000">
                                          <p:val>
                                            <p:strVal val="#ppt_x"/>
                                          </p:val>
                                        </p:tav>
                                      </p:tavLst>
                                    </p:anim>
                                    <p:anim calcmode="lin" valueType="num">
                                      <p:cBhvr additive="base">
                                        <p:cTn id="113" dur="500" fill="hold"/>
                                        <p:tgtEl>
                                          <p:spTgt spid="1935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39" grpId="0" uiExpand="1" build="p"/>
      <p:bldP spid="199706" grpId="0" bldLvl="0" animBg="1"/>
      <p:bldP spid="199706" grpId="1" bldLvl="0" animBg="1"/>
      <p:bldP spid="193570" grpId="0"/>
      <p:bldP spid="3" grpId="0"/>
      <p:bldP spid="199704"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5" name="Rectangle 2"/>
          <p:cNvSpPr>
            <a:spLocks noGrp="1"/>
          </p:cNvSpPr>
          <p:nvPr>
            <p:ph type="title"/>
          </p:nvPr>
        </p:nvSpPr>
        <p:spPr>
          <a:xfrm>
            <a:off x="955675" y="323850"/>
            <a:ext cx="8153400" cy="571500"/>
          </a:xfrm>
        </p:spPr>
        <p:txBody>
          <a:bodyPr vert="horz" wrap="square" lIns="91440" tIns="45720" rIns="91440" bIns="45720" anchor="ctr" anchorCtr="0"/>
          <a:p>
            <a:pPr eaLnBrk="1" hangingPunct="1"/>
            <a:r>
              <a:rPr lang="en-US" altLang="zh-CN" dirty="0">
                <a:latin typeface="华文新魏" pitchFamily="2" charset="-122"/>
                <a:ea typeface="华文新魏" pitchFamily="2" charset="-122"/>
              </a:rPr>
              <a:t>3.3.4 </a:t>
            </a:r>
            <a:r>
              <a:rPr lang="zh-CN" altLang="en-US" dirty="0">
                <a:latin typeface="华文新魏" pitchFamily="2" charset="-122"/>
                <a:ea typeface="华文新魏" pitchFamily="2" charset="-122"/>
              </a:rPr>
              <a:t>逻辑运算指令</a:t>
            </a:r>
            <a:r>
              <a:rPr lang="en-US" altLang="zh-CN" dirty="0">
                <a:latin typeface="Arial" panose="020B0604020202090204" pitchFamily="34" charset="0"/>
                <a:ea typeface="华文新魏" pitchFamily="2" charset="-122"/>
              </a:rPr>
              <a:t>——</a:t>
            </a:r>
            <a:r>
              <a:rPr lang="zh-CN" altLang="en-US" dirty="0">
                <a:latin typeface="华文新魏" pitchFamily="2" charset="-122"/>
                <a:ea typeface="华文新魏" pitchFamily="2" charset="-122"/>
              </a:rPr>
              <a:t>逻辑操作指令</a:t>
            </a:r>
            <a:r>
              <a:rPr lang="zh-CN" altLang="en-US" dirty="0"/>
              <a:t> </a:t>
            </a:r>
            <a:endParaRPr lang="zh-CN" altLang="en-US" dirty="0"/>
          </a:p>
        </p:txBody>
      </p:sp>
      <p:sp>
        <p:nvSpPr>
          <p:cNvPr id="123906" name="Rectangle 3"/>
          <p:cNvSpPr>
            <a:spLocks noGrp="1"/>
          </p:cNvSpPr>
          <p:nvPr>
            <p:ph idx="1"/>
          </p:nvPr>
        </p:nvSpPr>
        <p:spPr>
          <a:xfrm>
            <a:off x="836613" y="1042988"/>
            <a:ext cx="7696200" cy="1165225"/>
          </a:xfrm>
        </p:spPr>
        <p:txBody>
          <a:bodyPr vert="horz" wrap="square" lIns="91440" tIns="45720" rIns="91440" bIns="45720" anchor="t" anchorCtr="0"/>
          <a:p>
            <a:pPr eaLnBrk="1" hangingPunct="1">
              <a:buNone/>
            </a:pPr>
            <a:r>
              <a:rPr lang="zh-CN" altLang="en-US" dirty="0"/>
              <a:t>（</a:t>
            </a:r>
            <a:r>
              <a:rPr lang="en-US" altLang="zh-CN" dirty="0"/>
              <a:t>2</a:t>
            </a:r>
            <a:r>
              <a:rPr lang="zh-CN" altLang="en-US" dirty="0"/>
              <a:t>）带进位位循环左移</a:t>
            </a:r>
            <a:endParaRPr lang="zh-CN" altLang="en-US" dirty="0"/>
          </a:p>
          <a:p>
            <a:pPr eaLnBrk="1" hangingPunct="1">
              <a:buNone/>
            </a:pPr>
            <a:r>
              <a:rPr lang="zh-CN" altLang="en-US" b="1" dirty="0"/>
              <a:t>          </a:t>
            </a:r>
            <a:r>
              <a:rPr lang="en-US" altLang="zh-CN" dirty="0"/>
              <a:t>RLC    A</a:t>
            </a:r>
            <a:r>
              <a:rPr lang="zh-CN" altLang="en-US" dirty="0"/>
              <a:t>；</a:t>
            </a:r>
            <a:endParaRPr lang="zh-CN" altLang="en-US" dirty="0"/>
          </a:p>
          <a:p>
            <a:pPr eaLnBrk="1" hangingPunct="1">
              <a:buNone/>
            </a:pPr>
            <a:endParaRPr lang="zh-CN" altLang="en-US" dirty="0"/>
          </a:p>
        </p:txBody>
      </p:sp>
      <p:sp>
        <p:nvSpPr>
          <p:cNvPr id="194564" name="Rectangle 4"/>
          <p:cNvSpPr/>
          <p:nvPr/>
        </p:nvSpPr>
        <p:spPr>
          <a:xfrm>
            <a:off x="1100138" y="5486400"/>
            <a:ext cx="7772400" cy="533400"/>
          </a:xfrm>
          <a:prstGeom prst="rect">
            <a:avLst/>
          </a:prstGeom>
          <a:noFill/>
          <a:ln w="9525">
            <a:noFill/>
          </a:ln>
        </p:spPr>
        <p:txBody>
          <a:bodyPr anchor="t" anchorCtr="0"/>
          <a:p>
            <a:pPr marL="342900" indent="-342900" eaLnBrk="0" hangingPunct="0">
              <a:buClrTx/>
              <a:buFontTx/>
            </a:pPr>
            <a:r>
              <a:rPr lang="zh-CN" altLang="en-US" b="0" dirty="0">
                <a:latin typeface="宋体" pitchFamily="2" charset="-122"/>
                <a:ea typeface="宋体" pitchFamily="2" charset="-122"/>
              </a:rPr>
              <a:t>例：多字节二进制数乘</a:t>
            </a:r>
            <a:r>
              <a:rPr lang="en-US" altLang="zh-CN" b="0" dirty="0">
                <a:latin typeface="宋体" pitchFamily="2" charset="-122"/>
                <a:ea typeface="宋体" pitchFamily="2" charset="-122"/>
              </a:rPr>
              <a:t>2</a:t>
            </a:r>
            <a:endParaRPr lang="en-US" altLang="zh-CN" b="0" dirty="0">
              <a:latin typeface="宋体" pitchFamily="2" charset="-122"/>
              <a:ea typeface="宋体" pitchFamily="2" charset="-122"/>
            </a:endParaRPr>
          </a:p>
        </p:txBody>
      </p:sp>
      <p:grpSp>
        <p:nvGrpSpPr>
          <p:cNvPr id="2" name="Group 5"/>
          <p:cNvGrpSpPr/>
          <p:nvPr/>
        </p:nvGrpSpPr>
        <p:grpSpPr>
          <a:xfrm>
            <a:off x="5307013" y="2274888"/>
            <a:ext cx="2971800" cy="1722437"/>
            <a:chOff x="1632" y="1555"/>
            <a:chExt cx="1872" cy="1085"/>
          </a:xfrm>
        </p:grpSpPr>
        <p:sp>
          <p:nvSpPr>
            <p:cNvPr id="123909" name="Rectangle 6"/>
            <p:cNvSpPr/>
            <p:nvPr/>
          </p:nvSpPr>
          <p:spPr>
            <a:xfrm flipH="1">
              <a:off x="1819" y="17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23910" name="Rectangle 7"/>
            <p:cNvSpPr/>
            <p:nvPr/>
          </p:nvSpPr>
          <p:spPr>
            <a:xfrm flipH="1">
              <a:off x="2002" y="17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23911" name="Rectangle 8"/>
            <p:cNvSpPr/>
            <p:nvPr/>
          </p:nvSpPr>
          <p:spPr>
            <a:xfrm flipH="1">
              <a:off x="2185" y="17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23912" name="Rectangle 9"/>
            <p:cNvSpPr/>
            <p:nvPr/>
          </p:nvSpPr>
          <p:spPr>
            <a:xfrm flipH="1">
              <a:off x="2368" y="17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23913" name="Rectangle 10"/>
            <p:cNvSpPr/>
            <p:nvPr/>
          </p:nvSpPr>
          <p:spPr>
            <a:xfrm flipH="1">
              <a:off x="2551" y="17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23914" name="Rectangle 11"/>
            <p:cNvSpPr/>
            <p:nvPr/>
          </p:nvSpPr>
          <p:spPr>
            <a:xfrm flipH="1">
              <a:off x="2734" y="17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23915" name="Rectangle 12"/>
            <p:cNvSpPr/>
            <p:nvPr/>
          </p:nvSpPr>
          <p:spPr>
            <a:xfrm flipH="1">
              <a:off x="2917" y="17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23916" name="Rectangle 13"/>
            <p:cNvSpPr/>
            <p:nvPr/>
          </p:nvSpPr>
          <p:spPr>
            <a:xfrm flipH="1">
              <a:off x="3100" y="17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grpSp>
          <p:nvGrpSpPr>
            <p:cNvPr id="123917" name="Group 14"/>
            <p:cNvGrpSpPr/>
            <p:nvPr/>
          </p:nvGrpSpPr>
          <p:grpSpPr>
            <a:xfrm>
              <a:off x="1776" y="1555"/>
              <a:ext cx="1549" cy="192"/>
              <a:chOff x="1514" y="1855"/>
              <a:chExt cx="1549" cy="192"/>
            </a:xfrm>
          </p:grpSpPr>
          <p:sp>
            <p:nvSpPr>
              <p:cNvPr id="123918" name="Text Box 15"/>
              <p:cNvSpPr txBox="1"/>
              <p:nvPr/>
            </p:nvSpPr>
            <p:spPr>
              <a:xfrm>
                <a:off x="2810"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D0</a:t>
                </a:r>
                <a:endParaRPr lang="en-US" altLang="zh-CN" sz="1400" b="0" dirty="0">
                  <a:latin typeface="Times New Roman" panose="02020503050405090304" pitchFamily="18" charset="0"/>
                  <a:ea typeface="宋体" pitchFamily="2" charset="-122"/>
                </a:endParaRPr>
              </a:p>
            </p:txBody>
          </p:sp>
          <p:sp>
            <p:nvSpPr>
              <p:cNvPr id="123919" name="Text Box 16"/>
              <p:cNvSpPr txBox="1"/>
              <p:nvPr/>
            </p:nvSpPr>
            <p:spPr>
              <a:xfrm>
                <a:off x="2626"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D1</a:t>
                </a:r>
                <a:endParaRPr lang="en-US" altLang="zh-CN" sz="1400" b="0" dirty="0">
                  <a:latin typeface="Times New Roman" panose="02020503050405090304" pitchFamily="18" charset="0"/>
                  <a:ea typeface="宋体" pitchFamily="2" charset="-122"/>
                </a:endParaRPr>
              </a:p>
            </p:txBody>
          </p:sp>
          <p:sp>
            <p:nvSpPr>
              <p:cNvPr id="123920" name="Text Box 17"/>
              <p:cNvSpPr txBox="1"/>
              <p:nvPr/>
            </p:nvSpPr>
            <p:spPr>
              <a:xfrm>
                <a:off x="2434"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D2</a:t>
                </a:r>
                <a:endParaRPr lang="en-US" altLang="zh-CN" sz="1400" b="0" dirty="0">
                  <a:latin typeface="Times New Roman" panose="02020503050405090304" pitchFamily="18" charset="0"/>
                  <a:ea typeface="宋体" pitchFamily="2" charset="-122"/>
                </a:endParaRPr>
              </a:p>
            </p:txBody>
          </p:sp>
          <p:sp>
            <p:nvSpPr>
              <p:cNvPr id="123921" name="Text Box 18"/>
              <p:cNvSpPr txBox="1"/>
              <p:nvPr/>
            </p:nvSpPr>
            <p:spPr>
              <a:xfrm>
                <a:off x="2250"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D3</a:t>
                </a:r>
                <a:endParaRPr lang="en-US" altLang="zh-CN" sz="1400" b="0" dirty="0">
                  <a:latin typeface="Times New Roman" panose="02020503050405090304" pitchFamily="18" charset="0"/>
                  <a:ea typeface="宋体" pitchFamily="2" charset="-122"/>
                </a:endParaRPr>
              </a:p>
            </p:txBody>
          </p:sp>
          <p:sp>
            <p:nvSpPr>
              <p:cNvPr id="123922" name="Text Box 19"/>
              <p:cNvSpPr txBox="1"/>
              <p:nvPr/>
            </p:nvSpPr>
            <p:spPr>
              <a:xfrm>
                <a:off x="2074"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D4</a:t>
                </a:r>
                <a:endParaRPr lang="en-US" altLang="zh-CN" sz="1400" b="0" dirty="0">
                  <a:latin typeface="Times New Roman" panose="02020503050405090304" pitchFamily="18" charset="0"/>
                  <a:ea typeface="宋体" pitchFamily="2" charset="-122"/>
                </a:endParaRPr>
              </a:p>
            </p:txBody>
          </p:sp>
          <p:sp>
            <p:nvSpPr>
              <p:cNvPr id="123923" name="Text Box 20"/>
              <p:cNvSpPr txBox="1"/>
              <p:nvPr/>
            </p:nvSpPr>
            <p:spPr>
              <a:xfrm>
                <a:off x="1890"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D5</a:t>
                </a:r>
                <a:endParaRPr lang="en-US" altLang="zh-CN" sz="1400" b="0" dirty="0">
                  <a:latin typeface="Times New Roman" panose="02020503050405090304" pitchFamily="18" charset="0"/>
                  <a:ea typeface="宋体" pitchFamily="2" charset="-122"/>
                </a:endParaRPr>
              </a:p>
            </p:txBody>
          </p:sp>
          <p:sp>
            <p:nvSpPr>
              <p:cNvPr id="123924" name="Text Box 21"/>
              <p:cNvSpPr txBox="1"/>
              <p:nvPr/>
            </p:nvSpPr>
            <p:spPr>
              <a:xfrm>
                <a:off x="1698"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D6</a:t>
                </a:r>
                <a:endParaRPr lang="en-US" altLang="zh-CN" sz="1400" b="0" dirty="0">
                  <a:latin typeface="Times New Roman" panose="02020503050405090304" pitchFamily="18" charset="0"/>
                  <a:ea typeface="宋体" pitchFamily="2" charset="-122"/>
                </a:endParaRPr>
              </a:p>
            </p:txBody>
          </p:sp>
          <p:sp>
            <p:nvSpPr>
              <p:cNvPr id="123925" name="Text Box 22"/>
              <p:cNvSpPr txBox="1"/>
              <p:nvPr/>
            </p:nvSpPr>
            <p:spPr>
              <a:xfrm>
                <a:off x="1514"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D7</a:t>
                </a:r>
                <a:endParaRPr lang="en-US" altLang="zh-CN" sz="1400" b="0" dirty="0">
                  <a:latin typeface="Times New Roman" panose="02020503050405090304" pitchFamily="18" charset="0"/>
                  <a:ea typeface="宋体" pitchFamily="2" charset="-122"/>
                </a:endParaRPr>
              </a:p>
            </p:txBody>
          </p:sp>
        </p:grpSp>
        <p:sp>
          <p:nvSpPr>
            <p:cNvPr id="123926" name="Line 23"/>
            <p:cNvSpPr/>
            <p:nvPr/>
          </p:nvSpPr>
          <p:spPr>
            <a:xfrm flipH="1">
              <a:off x="1872" y="1824"/>
              <a:ext cx="192" cy="0"/>
            </a:xfrm>
            <a:prstGeom prst="line">
              <a:avLst/>
            </a:prstGeom>
            <a:ln w="9525" cap="flat" cmpd="sng">
              <a:solidFill>
                <a:schemeClr val="hlink"/>
              </a:solidFill>
              <a:prstDash val="solid"/>
              <a:round/>
              <a:headEnd type="none" w="med" len="med"/>
              <a:tailEnd type="triangle" w="med" len="med"/>
            </a:ln>
          </p:spPr>
        </p:sp>
        <p:sp>
          <p:nvSpPr>
            <p:cNvPr id="123927" name="Line 24"/>
            <p:cNvSpPr/>
            <p:nvPr/>
          </p:nvSpPr>
          <p:spPr>
            <a:xfrm flipH="1">
              <a:off x="2064" y="1920"/>
              <a:ext cx="192" cy="0"/>
            </a:xfrm>
            <a:prstGeom prst="line">
              <a:avLst/>
            </a:prstGeom>
            <a:ln w="9525" cap="flat" cmpd="sng">
              <a:solidFill>
                <a:schemeClr val="hlink"/>
              </a:solidFill>
              <a:prstDash val="solid"/>
              <a:round/>
              <a:headEnd type="none" w="med" len="med"/>
              <a:tailEnd type="triangle" w="med" len="med"/>
            </a:ln>
          </p:spPr>
        </p:sp>
        <p:sp>
          <p:nvSpPr>
            <p:cNvPr id="123928" name="Line 25"/>
            <p:cNvSpPr/>
            <p:nvPr/>
          </p:nvSpPr>
          <p:spPr>
            <a:xfrm flipH="1">
              <a:off x="2256" y="1824"/>
              <a:ext cx="192" cy="0"/>
            </a:xfrm>
            <a:prstGeom prst="line">
              <a:avLst/>
            </a:prstGeom>
            <a:ln w="9525" cap="flat" cmpd="sng">
              <a:solidFill>
                <a:schemeClr val="hlink"/>
              </a:solidFill>
              <a:prstDash val="solid"/>
              <a:round/>
              <a:headEnd type="none" w="med" len="med"/>
              <a:tailEnd type="triangle" w="med" len="med"/>
            </a:ln>
          </p:spPr>
        </p:sp>
        <p:sp>
          <p:nvSpPr>
            <p:cNvPr id="123929" name="Line 26"/>
            <p:cNvSpPr/>
            <p:nvPr/>
          </p:nvSpPr>
          <p:spPr>
            <a:xfrm flipH="1">
              <a:off x="2448" y="1920"/>
              <a:ext cx="192" cy="0"/>
            </a:xfrm>
            <a:prstGeom prst="line">
              <a:avLst/>
            </a:prstGeom>
            <a:ln w="9525" cap="flat" cmpd="sng">
              <a:solidFill>
                <a:schemeClr val="hlink"/>
              </a:solidFill>
              <a:prstDash val="solid"/>
              <a:round/>
              <a:headEnd type="none" w="med" len="med"/>
              <a:tailEnd type="triangle" w="med" len="med"/>
            </a:ln>
          </p:spPr>
        </p:sp>
        <p:sp>
          <p:nvSpPr>
            <p:cNvPr id="123930" name="Line 27"/>
            <p:cNvSpPr/>
            <p:nvPr/>
          </p:nvSpPr>
          <p:spPr>
            <a:xfrm flipH="1">
              <a:off x="2592" y="1824"/>
              <a:ext cx="192" cy="0"/>
            </a:xfrm>
            <a:prstGeom prst="line">
              <a:avLst/>
            </a:prstGeom>
            <a:ln w="9525" cap="flat" cmpd="sng">
              <a:solidFill>
                <a:schemeClr val="hlink"/>
              </a:solidFill>
              <a:prstDash val="solid"/>
              <a:round/>
              <a:headEnd type="none" w="med" len="med"/>
              <a:tailEnd type="triangle" w="med" len="med"/>
            </a:ln>
          </p:spPr>
        </p:sp>
        <p:sp>
          <p:nvSpPr>
            <p:cNvPr id="123931" name="Line 28"/>
            <p:cNvSpPr/>
            <p:nvPr/>
          </p:nvSpPr>
          <p:spPr>
            <a:xfrm flipH="1">
              <a:off x="2784" y="1920"/>
              <a:ext cx="192" cy="0"/>
            </a:xfrm>
            <a:prstGeom prst="line">
              <a:avLst/>
            </a:prstGeom>
            <a:ln w="9525" cap="flat" cmpd="sng">
              <a:solidFill>
                <a:schemeClr val="hlink"/>
              </a:solidFill>
              <a:prstDash val="solid"/>
              <a:round/>
              <a:headEnd type="none" w="med" len="med"/>
              <a:tailEnd type="triangle" w="med" len="med"/>
            </a:ln>
          </p:spPr>
        </p:sp>
        <p:sp>
          <p:nvSpPr>
            <p:cNvPr id="123932" name="Line 29"/>
            <p:cNvSpPr/>
            <p:nvPr/>
          </p:nvSpPr>
          <p:spPr>
            <a:xfrm flipH="1">
              <a:off x="2976" y="1824"/>
              <a:ext cx="192" cy="0"/>
            </a:xfrm>
            <a:prstGeom prst="line">
              <a:avLst/>
            </a:prstGeom>
            <a:ln w="9525" cap="flat" cmpd="sng">
              <a:solidFill>
                <a:schemeClr val="hlink"/>
              </a:solidFill>
              <a:prstDash val="solid"/>
              <a:round/>
              <a:headEnd type="none" w="med" len="med"/>
              <a:tailEnd type="triangle" w="med" len="med"/>
            </a:ln>
          </p:spPr>
        </p:sp>
        <p:sp>
          <p:nvSpPr>
            <p:cNvPr id="123933" name="Line 30"/>
            <p:cNvSpPr/>
            <p:nvPr/>
          </p:nvSpPr>
          <p:spPr>
            <a:xfrm flipH="1" flipV="1">
              <a:off x="3168" y="1920"/>
              <a:ext cx="336" cy="0"/>
            </a:xfrm>
            <a:prstGeom prst="line">
              <a:avLst/>
            </a:prstGeom>
            <a:ln w="9525" cap="flat" cmpd="sng">
              <a:solidFill>
                <a:schemeClr val="hlink"/>
              </a:solidFill>
              <a:prstDash val="solid"/>
              <a:round/>
              <a:headEnd type="none" w="med" len="med"/>
              <a:tailEnd type="triangle" w="med" len="med"/>
            </a:ln>
          </p:spPr>
        </p:sp>
        <p:sp>
          <p:nvSpPr>
            <p:cNvPr id="123934" name="Line 31"/>
            <p:cNvSpPr/>
            <p:nvPr/>
          </p:nvSpPr>
          <p:spPr>
            <a:xfrm>
              <a:off x="3504" y="1920"/>
              <a:ext cx="0" cy="384"/>
            </a:xfrm>
            <a:prstGeom prst="line">
              <a:avLst/>
            </a:prstGeom>
            <a:ln w="9525" cap="flat" cmpd="sng">
              <a:solidFill>
                <a:schemeClr val="hlink"/>
              </a:solidFill>
              <a:prstDash val="solid"/>
              <a:round/>
              <a:headEnd type="none" w="med" len="med"/>
              <a:tailEnd type="none" w="med" len="med"/>
            </a:ln>
          </p:spPr>
        </p:sp>
        <p:sp>
          <p:nvSpPr>
            <p:cNvPr id="123935" name="Line 32"/>
            <p:cNvSpPr/>
            <p:nvPr/>
          </p:nvSpPr>
          <p:spPr>
            <a:xfrm flipH="1">
              <a:off x="1632" y="2304"/>
              <a:ext cx="919" cy="0"/>
            </a:xfrm>
            <a:prstGeom prst="line">
              <a:avLst/>
            </a:prstGeom>
            <a:ln w="9525" cap="flat" cmpd="sng">
              <a:solidFill>
                <a:schemeClr val="hlink"/>
              </a:solidFill>
              <a:prstDash val="solid"/>
              <a:round/>
              <a:headEnd type="triangle" w="med" len="med"/>
              <a:tailEnd type="none" w="med" len="med"/>
            </a:ln>
          </p:spPr>
        </p:sp>
        <p:sp>
          <p:nvSpPr>
            <p:cNvPr id="123936" name="Line 33"/>
            <p:cNvSpPr/>
            <p:nvPr/>
          </p:nvSpPr>
          <p:spPr>
            <a:xfrm>
              <a:off x="1634" y="1920"/>
              <a:ext cx="0" cy="384"/>
            </a:xfrm>
            <a:prstGeom prst="line">
              <a:avLst/>
            </a:prstGeom>
            <a:ln w="9525" cap="flat" cmpd="sng">
              <a:solidFill>
                <a:schemeClr val="hlink"/>
              </a:solidFill>
              <a:prstDash val="solid"/>
              <a:round/>
              <a:headEnd type="none" w="med" len="med"/>
              <a:tailEnd type="none" w="med" len="med"/>
            </a:ln>
          </p:spPr>
        </p:sp>
        <p:sp>
          <p:nvSpPr>
            <p:cNvPr id="123937" name="Line 34"/>
            <p:cNvSpPr/>
            <p:nvPr/>
          </p:nvSpPr>
          <p:spPr>
            <a:xfrm flipH="1">
              <a:off x="1632" y="1920"/>
              <a:ext cx="228" cy="0"/>
            </a:xfrm>
            <a:prstGeom prst="line">
              <a:avLst/>
            </a:prstGeom>
            <a:ln w="9525" cap="flat" cmpd="sng">
              <a:solidFill>
                <a:schemeClr val="hlink"/>
              </a:solidFill>
              <a:prstDash val="solid"/>
              <a:round/>
              <a:headEnd type="none" w="med" len="med"/>
              <a:tailEnd type="none" w="med" len="med"/>
            </a:ln>
          </p:spPr>
        </p:sp>
        <p:sp>
          <p:nvSpPr>
            <p:cNvPr id="123938" name="Rectangle 35"/>
            <p:cNvSpPr/>
            <p:nvPr/>
          </p:nvSpPr>
          <p:spPr>
            <a:xfrm flipH="1">
              <a:off x="2552" y="2171"/>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23939" name="Line 36"/>
            <p:cNvSpPr/>
            <p:nvPr/>
          </p:nvSpPr>
          <p:spPr>
            <a:xfrm flipH="1">
              <a:off x="2718" y="2304"/>
              <a:ext cx="786" cy="0"/>
            </a:xfrm>
            <a:prstGeom prst="line">
              <a:avLst/>
            </a:prstGeom>
            <a:ln w="9525" cap="flat" cmpd="sng">
              <a:solidFill>
                <a:schemeClr val="hlink"/>
              </a:solidFill>
              <a:prstDash val="solid"/>
              <a:round/>
              <a:headEnd type="none" w="med" len="med"/>
              <a:tailEnd type="none" w="med" len="med"/>
            </a:ln>
          </p:spPr>
        </p:sp>
        <p:sp>
          <p:nvSpPr>
            <p:cNvPr id="123940" name="Text Box 37"/>
            <p:cNvSpPr txBox="1"/>
            <p:nvPr/>
          </p:nvSpPr>
          <p:spPr>
            <a:xfrm>
              <a:off x="2537" y="2448"/>
              <a:ext cx="247"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Cy</a:t>
              </a:r>
              <a:endParaRPr lang="en-US" altLang="zh-CN" sz="1400" b="0" dirty="0">
                <a:latin typeface="Times New Roman" panose="02020503050405090304" pitchFamily="18" charset="0"/>
                <a:ea typeface="宋体" pitchFamily="2" charset="-122"/>
              </a:endParaRPr>
            </a:p>
          </p:txBody>
        </p:sp>
      </p:grpSp>
      <p:sp>
        <p:nvSpPr>
          <p:cNvPr id="194598" name="Rectangle 38"/>
          <p:cNvSpPr/>
          <p:nvPr/>
        </p:nvSpPr>
        <p:spPr>
          <a:xfrm>
            <a:off x="1143000" y="4114800"/>
            <a:ext cx="7772400" cy="1219200"/>
          </a:xfrm>
          <a:prstGeom prst="rect">
            <a:avLst/>
          </a:prstGeom>
          <a:noFill/>
          <a:ln w="9525">
            <a:noFill/>
          </a:ln>
        </p:spPr>
        <p:txBody>
          <a:bodyPr anchor="t" anchorCtr="0"/>
          <a:p>
            <a:pPr marL="342900" indent="-342900">
              <a:lnSpc>
                <a:spcPct val="90000"/>
              </a:lnSpc>
              <a:spcBef>
                <a:spcPct val="20000"/>
              </a:spcBef>
              <a:buClrTx/>
              <a:buFontTx/>
            </a:pPr>
            <a:r>
              <a:rPr lang="zh-CN" altLang="en-US" b="0" dirty="0">
                <a:latin typeface="Times New Roman" panose="02020503050405090304" pitchFamily="18" charset="0"/>
                <a:ea typeface="黑体" panose="02010609060101010101" pitchFamily="49" charset="-122"/>
              </a:rPr>
              <a:t>说明：</a:t>
            </a:r>
            <a:endParaRPr lang="zh-CN" altLang="en-US" b="0" dirty="0">
              <a:latin typeface="Times New Roman" panose="02020503050405090304" pitchFamily="18" charset="0"/>
              <a:ea typeface="黑体" panose="02010609060101010101" pitchFamily="49" charset="-122"/>
            </a:endParaRPr>
          </a:p>
          <a:p>
            <a:pPr marL="342900" indent="-342900">
              <a:lnSpc>
                <a:spcPct val="90000"/>
              </a:lnSpc>
              <a:spcBef>
                <a:spcPct val="20000"/>
              </a:spcBef>
              <a:buClrTx/>
              <a:buFontTx/>
            </a:pPr>
            <a:r>
              <a:rPr lang="zh-CN" altLang="en-US" b="0" dirty="0">
                <a:latin typeface="Times New Roman" panose="02020503050405090304" pitchFamily="18" charset="0"/>
                <a:ea typeface="黑体" panose="02010609060101010101" pitchFamily="49" charset="-122"/>
              </a:rPr>
              <a:t>（</a:t>
            </a:r>
            <a:r>
              <a:rPr lang="en-US" altLang="zh-CN" b="0" dirty="0">
                <a:latin typeface="Times New Roman" panose="02020503050405090304" pitchFamily="18" charset="0"/>
                <a:ea typeface="黑体" panose="02010609060101010101" pitchFamily="49" charset="-122"/>
              </a:rPr>
              <a:t>1</a:t>
            </a:r>
            <a:r>
              <a:rPr lang="zh-CN" altLang="en-US" b="0" dirty="0">
                <a:latin typeface="Times New Roman" panose="02020503050405090304" pitchFamily="18" charset="0"/>
                <a:ea typeface="黑体" panose="02010609060101010101" pitchFamily="49" charset="-122"/>
              </a:rPr>
              <a:t>）每次只移动一位；左移一位相当于</a:t>
            </a:r>
            <a:r>
              <a:rPr lang="en-US" altLang="zh-CN" b="0" dirty="0">
                <a:latin typeface="Times New Roman" panose="02020503050405090304" pitchFamily="18" charset="0"/>
                <a:ea typeface="黑体" panose="02010609060101010101" pitchFamily="49" charset="-122"/>
              </a:rPr>
              <a:t>(A)</a:t>
            </a:r>
            <a:r>
              <a:rPr lang="zh-CN" altLang="en-US" b="0" dirty="0">
                <a:latin typeface="Times New Roman" panose="02020503050405090304" pitchFamily="18" charset="0"/>
                <a:ea typeface="黑体" panose="02010609060101010101" pitchFamily="49" charset="-122"/>
              </a:rPr>
              <a:t>乘以</a:t>
            </a:r>
            <a:r>
              <a:rPr lang="en-US" altLang="zh-CN" b="0" dirty="0">
                <a:latin typeface="Times New Roman" panose="02020503050405090304" pitchFamily="18" charset="0"/>
                <a:ea typeface="黑体" panose="02010609060101010101" pitchFamily="49" charset="-122"/>
              </a:rPr>
              <a:t>2</a:t>
            </a:r>
            <a:r>
              <a:rPr lang="zh-CN" altLang="en-US" b="0" dirty="0">
                <a:latin typeface="Times New Roman" panose="02020503050405090304" pitchFamily="18" charset="0"/>
                <a:ea typeface="黑体" panose="02010609060101010101" pitchFamily="49" charset="-122"/>
              </a:rPr>
              <a:t>；</a:t>
            </a:r>
            <a:endParaRPr lang="zh-CN" altLang="en-US" b="0" dirty="0">
              <a:latin typeface="Times New Roman" panose="02020503050405090304" pitchFamily="18" charset="0"/>
              <a:ea typeface="黑体" panose="02010609060101010101" pitchFamily="49" charset="-122"/>
            </a:endParaRPr>
          </a:p>
          <a:p>
            <a:pPr marL="342900" indent="-342900">
              <a:lnSpc>
                <a:spcPct val="90000"/>
              </a:lnSpc>
              <a:spcBef>
                <a:spcPct val="20000"/>
              </a:spcBef>
              <a:buClrTx/>
              <a:buFontTx/>
            </a:pPr>
            <a:r>
              <a:rPr lang="zh-CN" altLang="en-US" b="0" dirty="0">
                <a:latin typeface="Times New Roman" panose="02020503050405090304" pitchFamily="18" charset="0"/>
                <a:ea typeface="黑体" panose="02010609060101010101" pitchFamily="49" charset="-122"/>
              </a:rPr>
              <a:t>（</a:t>
            </a:r>
            <a:r>
              <a:rPr lang="en-US" altLang="zh-CN" b="0" dirty="0">
                <a:latin typeface="Times New Roman" panose="02020503050405090304" pitchFamily="18" charset="0"/>
                <a:ea typeface="黑体" panose="02010609060101010101" pitchFamily="49" charset="-122"/>
              </a:rPr>
              <a:t>2</a:t>
            </a:r>
            <a:r>
              <a:rPr lang="zh-CN" altLang="en-US" b="0" dirty="0">
                <a:latin typeface="Times New Roman" panose="02020503050405090304" pitchFamily="18" charset="0"/>
                <a:ea typeface="黑体" panose="02010609060101010101" pitchFamily="49" charset="-122"/>
              </a:rPr>
              <a:t>）带进位位移动时，影响标志位</a:t>
            </a:r>
            <a:r>
              <a:rPr lang="en-US" altLang="zh-CN" b="0" dirty="0">
                <a:latin typeface="Times New Roman" panose="02020503050405090304" pitchFamily="18" charset="0"/>
                <a:ea typeface="黑体" panose="02010609060101010101" pitchFamily="49" charset="-122"/>
              </a:rPr>
              <a:t>Cy</a:t>
            </a:r>
            <a:r>
              <a:rPr lang="zh-CN" altLang="en-US" b="0" dirty="0">
                <a:latin typeface="Times New Roman" panose="02020503050405090304" pitchFamily="18" charset="0"/>
                <a:ea typeface="黑体" panose="02010609060101010101" pitchFamily="49" charset="-122"/>
              </a:rPr>
              <a:t>和</a:t>
            </a:r>
            <a:r>
              <a:rPr lang="en-US" altLang="zh-CN" b="0" dirty="0">
                <a:latin typeface="Times New Roman" panose="02020503050405090304" pitchFamily="18" charset="0"/>
                <a:ea typeface="黑体" panose="02010609060101010101" pitchFamily="49" charset="-122"/>
              </a:rPr>
              <a:t>P</a:t>
            </a:r>
            <a:r>
              <a:rPr lang="zh-CN" altLang="en-US" b="0" dirty="0">
                <a:latin typeface="Times New Roman" panose="02020503050405090304" pitchFamily="18" charset="0"/>
                <a:ea typeface="黑体" panose="02010609060101010101" pitchFamily="49" charset="-122"/>
              </a:rPr>
              <a:t>。</a:t>
            </a:r>
            <a:endParaRPr lang="zh-CN" altLang="en-US" b="0" dirty="0">
              <a:latin typeface="Times New Roman" panose="02020503050405090304" pitchFamily="18" charset="0"/>
              <a:ea typeface="黑体" panose="02010609060101010101" pitchFamily="49" charset="-122"/>
            </a:endParaRPr>
          </a:p>
        </p:txBody>
      </p:sp>
      <p:sp>
        <p:nvSpPr>
          <p:cNvPr id="199732" name="矩形 199731"/>
          <p:cNvSpPr/>
          <p:nvPr/>
        </p:nvSpPr>
        <p:spPr>
          <a:xfrm>
            <a:off x="1844675" y="2854325"/>
            <a:ext cx="360363" cy="287338"/>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sz="2000" b="0">
              <a:latin typeface="Times New Roman" panose="02020503050405090304" pitchFamily="18" charset="0"/>
              <a:ea typeface="宋体" pitchFamily="2" charset="-122"/>
            </a:endParaRPr>
          </a:p>
        </p:txBody>
      </p:sp>
      <p:sp>
        <p:nvSpPr>
          <p:cNvPr id="199733" name="矩形 199732"/>
          <p:cNvSpPr/>
          <p:nvPr/>
        </p:nvSpPr>
        <p:spPr>
          <a:xfrm>
            <a:off x="2205038" y="2854325"/>
            <a:ext cx="360362" cy="287338"/>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sz="2000" b="0">
              <a:latin typeface="Times New Roman" panose="02020503050405090304" pitchFamily="18" charset="0"/>
              <a:ea typeface="宋体" pitchFamily="2" charset="-122"/>
            </a:endParaRPr>
          </a:p>
        </p:txBody>
      </p:sp>
      <p:sp>
        <p:nvSpPr>
          <p:cNvPr id="199734" name="矩形 199733"/>
          <p:cNvSpPr/>
          <p:nvPr/>
        </p:nvSpPr>
        <p:spPr>
          <a:xfrm>
            <a:off x="2563813" y="2854325"/>
            <a:ext cx="360362" cy="287338"/>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sz="2000" b="0">
              <a:latin typeface="Times New Roman" panose="02020503050405090304" pitchFamily="18" charset="0"/>
              <a:ea typeface="宋体" pitchFamily="2" charset="-122"/>
            </a:endParaRPr>
          </a:p>
        </p:txBody>
      </p:sp>
      <p:sp>
        <p:nvSpPr>
          <p:cNvPr id="199735" name="矩形 199734"/>
          <p:cNvSpPr/>
          <p:nvPr/>
        </p:nvSpPr>
        <p:spPr>
          <a:xfrm>
            <a:off x="2924175" y="2854325"/>
            <a:ext cx="360363" cy="287338"/>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sz="2000" b="0">
              <a:latin typeface="Times New Roman" panose="02020503050405090304" pitchFamily="18" charset="0"/>
              <a:ea typeface="宋体" pitchFamily="2" charset="-122"/>
            </a:endParaRPr>
          </a:p>
        </p:txBody>
      </p:sp>
      <p:sp>
        <p:nvSpPr>
          <p:cNvPr id="199736" name="矩形 199735"/>
          <p:cNvSpPr/>
          <p:nvPr/>
        </p:nvSpPr>
        <p:spPr>
          <a:xfrm>
            <a:off x="3286125" y="2854325"/>
            <a:ext cx="360363" cy="287338"/>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sz="2000" b="0">
              <a:latin typeface="Times New Roman" panose="02020503050405090304" pitchFamily="18" charset="0"/>
              <a:ea typeface="宋体" pitchFamily="2" charset="-122"/>
            </a:endParaRPr>
          </a:p>
        </p:txBody>
      </p:sp>
      <p:sp>
        <p:nvSpPr>
          <p:cNvPr id="199737" name="矩形 199736"/>
          <p:cNvSpPr/>
          <p:nvPr/>
        </p:nvSpPr>
        <p:spPr>
          <a:xfrm>
            <a:off x="3646488" y="2854325"/>
            <a:ext cx="360362" cy="287338"/>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sz="2000" b="0">
              <a:latin typeface="Times New Roman" panose="02020503050405090304" pitchFamily="18" charset="0"/>
              <a:ea typeface="宋体" pitchFamily="2" charset="-122"/>
            </a:endParaRPr>
          </a:p>
        </p:txBody>
      </p:sp>
      <p:sp>
        <p:nvSpPr>
          <p:cNvPr id="199738" name="矩形 199737"/>
          <p:cNvSpPr/>
          <p:nvPr/>
        </p:nvSpPr>
        <p:spPr>
          <a:xfrm>
            <a:off x="4005263" y="2854325"/>
            <a:ext cx="360362" cy="287338"/>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sz="2000" b="0">
              <a:latin typeface="Times New Roman" panose="02020503050405090304" pitchFamily="18" charset="0"/>
              <a:ea typeface="宋体" pitchFamily="2" charset="-122"/>
            </a:endParaRPr>
          </a:p>
        </p:txBody>
      </p:sp>
      <p:sp>
        <p:nvSpPr>
          <p:cNvPr id="199739" name="矩形 199738"/>
          <p:cNvSpPr/>
          <p:nvPr/>
        </p:nvSpPr>
        <p:spPr>
          <a:xfrm>
            <a:off x="4365625" y="2854325"/>
            <a:ext cx="360363" cy="287338"/>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sz="2000" b="0">
              <a:latin typeface="Times New Roman" panose="02020503050405090304" pitchFamily="18" charset="0"/>
              <a:ea typeface="宋体" pitchFamily="2" charset="-122"/>
            </a:endParaRPr>
          </a:p>
        </p:txBody>
      </p:sp>
      <p:sp>
        <p:nvSpPr>
          <p:cNvPr id="199740" name="直接连接符 199739"/>
          <p:cNvSpPr/>
          <p:nvPr/>
        </p:nvSpPr>
        <p:spPr>
          <a:xfrm flipH="1">
            <a:off x="4221163" y="2998788"/>
            <a:ext cx="287337" cy="0"/>
          </a:xfrm>
          <a:prstGeom prst="line">
            <a:avLst/>
          </a:prstGeom>
          <a:ln w="9525" cap="flat" cmpd="sng">
            <a:solidFill>
              <a:schemeClr val="tx1"/>
            </a:solidFill>
            <a:prstDash val="solid"/>
            <a:round/>
            <a:headEnd type="none" w="med" len="med"/>
            <a:tailEnd type="triangle" w="sm" len="lg"/>
          </a:ln>
        </p:spPr>
      </p:sp>
      <p:sp>
        <p:nvSpPr>
          <p:cNvPr id="199741" name="直接连接符 199740"/>
          <p:cNvSpPr/>
          <p:nvPr/>
        </p:nvSpPr>
        <p:spPr>
          <a:xfrm flipH="1">
            <a:off x="3860800" y="2998788"/>
            <a:ext cx="287338" cy="0"/>
          </a:xfrm>
          <a:prstGeom prst="line">
            <a:avLst/>
          </a:prstGeom>
          <a:ln w="9525" cap="flat" cmpd="sng">
            <a:solidFill>
              <a:schemeClr val="tx1"/>
            </a:solidFill>
            <a:prstDash val="solid"/>
            <a:round/>
            <a:headEnd type="none" w="med" len="med"/>
            <a:tailEnd type="triangle" w="sm" len="lg"/>
          </a:ln>
        </p:spPr>
      </p:sp>
      <p:sp>
        <p:nvSpPr>
          <p:cNvPr id="199742" name="直接连接符 199741"/>
          <p:cNvSpPr/>
          <p:nvPr/>
        </p:nvSpPr>
        <p:spPr>
          <a:xfrm flipH="1">
            <a:off x="3500438" y="2998788"/>
            <a:ext cx="287337" cy="0"/>
          </a:xfrm>
          <a:prstGeom prst="line">
            <a:avLst/>
          </a:prstGeom>
          <a:ln w="9525" cap="flat" cmpd="sng">
            <a:solidFill>
              <a:schemeClr val="tx1"/>
            </a:solidFill>
            <a:prstDash val="solid"/>
            <a:round/>
            <a:headEnd type="none" w="med" len="med"/>
            <a:tailEnd type="triangle" w="sm" len="lg"/>
          </a:ln>
        </p:spPr>
      </p:sp>
      <p:sp>
        <p:nvSpPr>
          <p:cNvPr id="199743" name="直接连接符 199742"/>
          <p:cNvSpPr/>
          <p:nvPr/>
        </p:nvSpPr>
        <p:spPr>
          <a:xfrm flipH="1">
            <a:off x="3140075" y="2998788"/>
            <a:ext cx="287338" cy="0"/>
          </a:xfrm>
          <a:prstGeom prst="line">
            <a:avLst/>
          </a:prstGeom>
          <a:ln w="9525" cap="flat" cmpd="sng">
            <a:solidFill>
              <a:schemeClr val="tx1"/>
            </a:solidFill>
            <a:prstDash val="solid"/>
            <a:round/>
            <a:headEnd type="none" w="med" len="med"/>
            <a:tailEnd type="triangle" w="sm" len="lg"/>
          </a:ln>
        </p:spPr>
      </p:sp>
      <p:sp>
        <p:nvSpPr>
          <p:cNvPr id="199744" name="直接连接符 199743"/>
          <p:cNvSpPr/>
          <p:nvPr/>
        </p:nvSpPr>
        <p:spPr>
          <a:xfrm flipH="1">
            <a:off x="2779713" y="2998788"/>
            <a:ext cx="287337" cy="0"/>
          </a:xfrm>
          <a:prstGeom prst="line">
            <a:avLst/>
          </a:prstGeom>
          <a:ln w="9525" cap="flat" cmpd="sng">
            <a:solidFill>
              <a:schemeClr val="tx1"/>
            </a:solidFill>
            <a:prstDash val="solid"/>
            <a:round/>
            <a:headEnd type="none" w="med" len="med"/>
            <a:tailEnd type="triangle" w="sm" len="lg"/>
          </a:ln>
        </p:spPr>
      </p:sp>
      <p:sp>
        <p:nvSpPr>
          <p:cNvPr id="199745" name="直接连接符 199744"/>
          <p:cNvSpPr/>
          <p:nvPr/>
        </p:nvSpPr>
        <p:spPr>
          <a:xfrm flipH="1">
            <a:off x="2420938" y="2998788"/>
            <a:ext cx="287337" cy="0"/>
          </a:xfrm>
          <a:prstGeom prst="line">
            <a:avLst/>
          </a:prstGeom>
          <a:ln w="9525" cap="flat" cmpd="sng">
            <a:solidFill>
              <a:schemeClr val="tx1"/>
            </a:solidFill>
            <a:prstDash val="solid"/>
            <a:round/>
            <a:headEnd type="none" w="med" len="med"/>
            <a:tailEnd type="triangle" w="sm" len="lg"/>
          </a:ln>
        </p:spPr>
      </p:sp>
      <p:sp>
        <p:nvSpPr>
          <p:cNvPr id="199746" name="直接连接符 199745"/>
          <p:cNvSpPr/>
          <p:nvPr/>
        </p:nvSpPr>
        <p:spPr>
          <a:xfrm flipH="1">
            <a:off x="2058988" y="2998788"/>
            <a:ext cx="287337" cy="0"/>
          </a:xfrm>
          <a:prstGeom prst="line">
            <a:avLst/>
          </a:prstGeom>
          <a:ln w="9525" cap="flat" cmpd="sng">
            <a:solidFill>
              <a:schemeClr val="tx1"/>
            </a:solidFill>
            <a:prstDash val="solid"/>
            <a:round/>
            <a:headEnd type="none" w="med" len="med"/>
            <a:tailEnd type="triangle" w="sm" len="lg"/>
          </a:ln>
        </p:spPr>
      </p:sp>
      <p:sp>
        <p:nvSpPr>
          <p:cNvPr id="199747" name="直接连接符 199746"/>
          <p:cNvSpPr/>
          <p:nvPr/>
        </p:nvSpPr>
        <p:spPr>
          <a:xfrm flipH="1">
            <a:off x="1482725" y="2998788"/>
            <a:ext cx="504825" cy="0"/>
          </a:xfrm>
          <a:prstGeom prst="line">
            <a:avLst/>
          </a:prstGeom>
          <a:ln w="9525" cap="flat" cmpd="sng">
            <a:solidFill>
              <a:schemeClr val="tx1"/>
            </a:solidFill>
            <a:prstDash val="solid"/>
            <a:round/>
            <a:headEnd type="none" w="med" len="med"/>
            <a:tailEnd type="triangle" w="sm" len="lg"/>
          </a:ln>
        </p:spPr>
      </p:sp>
      <p:sp>
        <p:nvSpPr>
          <p:cNvPr id="199748" name="直接连接符 199747"/>
          <p:cNvSpPr/>
          <p:nvPr/>
        </p:nvSpPr>
        <p:spPr>
          <a:xfrm flipH="1">
            <a:off x="4579938" y="2998788"/>
            <a:ext cx="287337" cy="0"/>
          </a:xfrm>
          <a:prstGeom prst="line">
            <a:avLst/>
          </a:prstGeom>
          <a:ln w="9525" cap="flat" cmpd="sng">
            <a:solidFill>
              <a:schemeClr val="tx1"/>
            </a:solidFill>
            <a:prstDash val="solid"/>
            <a:round/>
            <a:headEnd type="none" w="med" len="med"/>
            <a:tailEnd type="triangle" w="sm" len="lg"/>
          </a:ln>
        </p:spPr>
      </p:sp>
      <p:sp>
        <p:nvSpPr>
          <p:cNvPr id="199749" name="直接连接符 199748"/>
          <p:cNvSpPr/>
          <p:nvPr/>
        </p:nvSpPr>
        <p:spPr>
          <a:xfrm flipH="1">
            <a:off x="763588" y="2998788"/>
            <a:ext cx="360362" cy="0"/>
          </a:xfrm>
          <a:prstGeom prst="line">
            <a:avLst/>
          </a:prstGeom>
          <a:ln w="9525" cap="flat" cmpd="sng">
            <a:solidFill>
              <a:schemeClr val="tx1"/>
            </a:solidFill>
            <a:prstDash val="solid"/>
            <a:round/>
            <a:headEnd type="none" w="med" len="med"/>
            <a:tailEnd type="triangle" w="sm" len="lg"/>
          </a:ln>
        </p:spPr>
      </p:sp>
      <p:sp>
        <p:nvSpPr>
          <p:cNvPr id="199750" name="直接连接符 199749"/>
          <p:cNvSpPr/>
          <p:nvPr/>
        </p:nvSpPr>
        <p:spPr>
          <a:xfrm flipH="1">
            <a:off x="763588" y="2566988"/>
            <a:ext cx="1587" cy="431800"/>
          </a:xfrm>
          <a:prstGeom prst="line">
            <a:avLst/>
          </a:prstGeom>
          <a:ln w="9525" cap="flat" cmpd="sng">
            <a:solidFill>
              <a:schemeClr val="tx1"/>
            </a:solidFill>
            <a:prstDash val="solid"/>
            <a:round/>
            <a:headEnd type="none" w="med" len="med"/>
            <a:tailEnd type="none" w="med" len="med"/>
          </a:ln>
        </p:spPr>
      </p:sp>
      <p:sp>
        <p:nvSpPr>
          <p:cNvPr id="199751" name="直接连接符 199750"/>
          <p:cNvSpPr/>
          <p:nvPr/>
        </p:nvSpPr>
        <p:spPr>
          <a:xfrm>
            <a:off x="763588" y="2566988"/>
            <a:ext cx="4249737" cy="0"/>
          </a:xfrm>
          <a:prstGeom prst="line">
            <a:avLst/>
          </a:prstGeom>
          <a:ln w="9525" cap="flat" cmpd="sng">
            <a:solidFill>
              <a:schemeClr val="tx1"/>
            </a:solidFill>
            <a:prstDash val="solid"/>
            <a:round/>
            <a:headEnd type="none" w="med" len="med"/>
            <a:tailEnd type="none" w="med" len="med"/>
          </a:ln>
        </p:spPr>
      </p:sp>
      <p:sp>
        <p:nvSpPr>
          <p:cNvPr id="199752" name="直接连接符 199751"/>
          <p:cNvSpPr/>
          <p:nvPr/>
        </p:nvSpPr>
        <p:spPr>
          <a:xfrm>
            <a:off x="5013325" y="2566988"/>
            <a:ext cx="0" cy="431800"/>
          </a:xfrm>
          <a:prstGeom prst="line">
            <a:avLst/>
          </a:prstGeom>
          <a:ln w="9525" cap="flat" cmpd="sng">
            <a:solidFill>
              <a:schemeClr val="tx1"/>
            </a:solidFill>
            <a:prstDash val="solid"/>
            <a:round/>
            <a:headEnd type="none" w="med" len="med"/>
            <a:tailEnd type="none" w="med" len="med"/>
          </a:ln>
        </p:spPr>
      </p:sp>
      <p:sp>
        <p:nvSpPr>
          <p:cNvPr id="199753" name="直接连接符 199752"/>
          <p:cNvSpPr/>
          <p:nvPr/>
        </p:nvSpPr>
        <p:spPr>
          <a:xfrm flipH="1">
            <a:off x="4868863" y="2998788"/>
            <a:ext cx="144462" cy="0"/>
          </a:xfrm>
          <a:prstGeom prst="line">
            <a:avLst/>
          </a:prstGeom>
          <a:ln w="9525" cap="flat" cmpd="sng">
            <a:solidFill>
              <a:schemeClr val="tx1"/>
            </a:solidFill>
            <a:prstDash val="solid"/>
            <a:round/>
            <a:headEnd type="none" w="med" len="med"/>
            <a:tailEnd type="none" w="med" len="med"/>
          </a:ln>
        </p:spPr>
      </p:sp>
      <p:sp>
        <p:nvSpPr>
          <p:cNvPr id="199754" name="文本框 199753"/>
          <p:cNvSpPr txBox="1"/>
          <p:nvPr/>
        </p:nvSpPr>
        <p:spPr>
          <a:xfrm>
            <a:off x="4292600" y="3070225"/>
            <a:ext cx="576263" cy="398463"/>
          </a:xfrm>
          <a:prstGeom prst="rect">
            <a:avLst/>
          </a:prstGeom>
          <a:noFill/>
          <a:ln w="9525">
            <a:noFill/>
          </a:ln>
        </p:spPr>
        <p:txBody>
          <a:bodyPr anchor="t" anchorCtr="0">
            <a:spAutoFit/>
          </a:bodyPr>
          <a:p>
            <a:pPr>
              <a:spcBef>
                <a:spcPct val="50000"/>
              </a:spcBef>
            </a:pPr>
            <a:r>
              <a:rPr lang="en-US" altLang="zh-CN" sz="2000" b="0">
                <a:latin typeface="Times New Roman" panose="02020503050405090304" pitchFamily="18" charset="0"/>
                <a:ea typeface="创艺简黑体" pitchFamily="2" charset="-122"/>
              </a:rPr>
              <a:t>A.0</a:t>
            </a:r>
            <a:endParaRPr lang="en-US" altLang="zh-CN" sz="2000" b="0">
              <a:latin typeface="Times New Roman" panose="02020503050405090304" pitchFamily="18" charset="0"/>
              <a:ea typeface="创艺简黑体" pitchFamily="2" charset="-122"/>
            </a:endParaRPr>
          </a:p>
        </p:txBody>
      </p:sp>
      <p:sp>
        <p:nvSpPr>
          <p:cNvPr id="199755" name="文本框 199754"/>
          <p:cNvSpPr txBox="1"/>
          <p:nvPr/>
        </p:nvSpPr>
        <p:spPr>
          <a:xfrm>
            <a:off x="1771650" y="3070225"/>
            <a:ext cx="576263" cy="398463"/>
          </a:xfrm>
          <a:prstGeom prst="rect">
            <a:avLst/>
          </a:prstGeom>
          <a:noFill/>
          <a:ln w="9525">
            <a:noFill/>
          </a:ln>
        </p:spPr>
        <p:txBody>
          <a:bodyPr anchor="t" anchorCtr="0">
            <a:spAutoFit/>
          </a:bodyPr>
          <a:p>
            <a:pPr>
              <a:spcBef>
                <a:spcPct val="50000"/>
              </a:spcBef>
            </a:pPr>
            <a:r>
              <a:rPr lang="en-US" altLang="zh-CN" sz="2000" b="0">
                <a:latin typeface="Times New Roman" panose="02020503050405090304" pitchFamily="18" charset="0"/>
                <a:ea typeface="创艺简黑体" pitchFamily="2" charset="-122"/>
              </a:rPr>
              <a:t>A.7</a:t>
            </a:r>
            <a:endParaRPr lang="en-US" altLang="zh-CN" sz="2000" b="0">
              <a:latin typeface="Times New Roman" panose="02020503050405090304" pitchFamily="18" charset="0"/>
              <a:ea typeface="创艺简黑体" pitchFamily="2" charset="-122"/>
            </a:endParaRPr>
          </a:p>
        </p:txBody>
      </p:sp>
      <p:sp>
        <p:nvSpPr>
          <p:cNvPr id="199756" name="椭圆 199755"/>
          <p:cNvSpPr>
            <a:spLocks noChangeAspect="1"/>
          </p:cNvSpPr>
          <p:nvPr/>
        </p:nvSpPr>
        <p:spPr>
          <a:xfrm>
            <a:off x="1054100" y="2962275"/>
            <a:ext cx="76200" cy="73025"/>
          </a:xfrm>
          <a:prstGeom prst="ellipse">
            <a:avLst/>
          </a:prstGeom>
          <a:solidFill>
            <a:srgbClr val="FF0000"/>
          </a:solidFill>
          <a:ln w="9525" cap="flat" cmpd="sng">
            <a:solidFill>
              <a:srgbClr val="FF3300"/>
            </a:solidFill>
            <a:prstDash val="solid"/>
            <a:headEnd type="none" w="med" len="med"/>
            <a:tailEnd type="none" w="med" len="med"/>
          </a:ln>
        </p:spPr>
        <p:txBody>
          <a:bodyPr wrap="none" anchor="ctr"/>
          <a:p>
            <a:pPr algn="ctr" fontAlgn="base"/>
            <a:endParaRPr lang="zh-CN" altLang="en-US" sz="2000" b="0" strike="noStrike" noProof="1" dirty="0">
              <a:solidFill>
                <a:srgbClr val="FF0000"/>
              </a:solidFill>
              <a:effectLst>
                <a:outerShdw blurRad="38100" dist="38100" dir="2700000">
                  <a:srgbClr val="C0C0C0"/>
                </a:outerShdw>
              </a:effectLst>
              <a:latin typeface="Times New Roman" panose="02020503050405090304" pitchFamily="18" charset="0"/>
              <a:ea typeface="创艺简黑体" pitchFamily="2" charset="-122"/>
            </a:endParaRPr>
          </a:p>
        </p:txBody>
      </p:sp>
      <p:sp>
        <p:nvSpPr>
          <p:cNvPr id="199782" name="矩形 199781"/>
          <p:cNvSpPr/>
          <p:nvPr/>
        </p:nvSpPr>
        <p:spPr>
          <a:xfrm>
            <a:off x="1123950" y="2855913"/>
            <a:ext cx="360363" cy="287337"/>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sz="2000" b="0">
              <a:latin typeface="Times New Roman" panose="02020503050405090304" pitchFamily="18" charset="0"/>
              <a:ea typeface="宋体" pitchFamily="2" charset="-122"/>
            </a:endParaRPr>
          </a:p>
        </p:txBody>
      </p:sp>
      <p:sp>
        <p:nvSpPr>
          <p:cNvPr id="199783" name="文本框 199782"/>
          <p:cNvSpPr txBox="1"/>
          <p:nvPr/>
        </p:nvSpPr>
        <p:spPr>
          <a:xfrm>
            <a:off x="1050925" y="3071813"/>
            <a:ext cx="576263" cy="398462"/>
          </a:xfrm>
          <a:prstGeom prst="rect">
            <a:avLst/>
          </a:prstGeom>
          <a:noFill/>
          <a:ln w="9525">
            <a:noFill/>
          </a:ln>
        </p:spPr>
        <p:txBody>
          <a:bodyPr anchor="t" anchorCtr="0">
            <a:spAutoFit/>
          </a:bodyPr>
          <a:p>
            <a:pPr>
              <a:spcBef>
                <a:spcPct val="50000"/>
              </a:spcBef>
            </a:pPr>
            <a:r>
              <a:rPr lang="en-US" altLang="zh-CN" sz="2000" b="0">
                <a:latin typeface="Times New Roman" panose="02020503050405090304" pitchFamily="18" charset="0"/>
                <a:ea typeface="创艺简黑体" pitchFamily="2" charset="-122"/>
              </a:rPr>
              <a:t>CY</a:t>
            </a:r>
            <a:endParaRPr lang="en-US" altLang="zh-CN" sz="2000" b="0">
              <a:latin typeface="Times New Roman" panose="02020503050405090304" pitchFamily="18" charset="0"/>
              <a:ea typeface="创艺简黑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97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973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973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973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973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973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973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973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974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974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974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974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974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974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9974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974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9974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974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9975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9975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9975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9975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9975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9975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99783"/>
                                        </p:tgtEl>
                                        <p:attrNameLst>
                                          <p:attrName>style.visibility</p:attrName>
                                        </p:attrNameLst>
                                      </p:cBhvr>
                                      <p:to>
                                        <p:strVal val="visible"/>
                                      </p:to>
                                    </p:set>
                                  </p:childTnLst>
                                </p:cTn>
                              </p:par>
                            </p:childTnLst>
                          </p:cTn>
                        </p:par>
                        <p:par>
                          <p:cTn id="55" fill="hold">
                            <p:stCondLst>
                              <p:cond delay="0"/>
                            </p:stCondLst>
                            <p:childTnLst>
                              <p:par>
                                <p:cTn id="56" presetID="12" presetClass="entr" presetSubtype="2" fill="hold" nodeType="afterEffect">
                                  <p:stCondLst>
                                    <p:cond delay="0"/>
                                  </p:stCondLst>
                                  <p:childTnLst>
                                    <p:set>
                                      <p:cBhvr>
                                        <p:cTn id="57" dur="1" fill="hold">
                                          <p:stCondLst>
                                            <p:cond delay="0"/>
                                          </p:stCondLst>
                                        </p:cTn>
                                        <p:tgtEl>
                                          <p:spTgt spid="199747"/>
                                        </p:tgtEl>
                                        <p:attrNameLst>
                                          <p:attrName>style.visibility</p:attrName>
                                        </p:attrNameLst>
                                      </p:cBhvr>
                                      <p:to>
                                        <p:strVal val="visible"/>
                                      </p:to>
                                    </p:set>
                                    <p:animEffect transition="in" filter="slide(fromRight)">
                                      <p:cBhvr>
                                        <p:cTn id="58" dur="500"/>
                                        <p:tgtEl>
                                          <p:spTgt spid="199747"/>
                                        </p:tgtEl>
                                      </p:cBhvr>
                                    </p:animEffect>
                                  </p:childTnLst>
                                </p:cTn>
                              </p:par>
                              <p:par>
                                <p:cTn id="59" presetID="1" presetClass="entr" presetSubtype="0" fill="hold" nodeType="withEffect">
                                  <p:stCondLst>
                                    <p:cond delay="0"/>
                                  </p:stCondLst>
                                  <p:childTnLst>
                                    <p:set>
                                      <p:cBhvr>
                                        <p:cTn id="60" dur="1" fill="hold">
                                          <p:stCondLst>
                                            <p:cond delay="0"/>
                                          </p:stCondLst>
                                        </p:cTn>
                                        <p:tgtEl>
                                          <p:spTgt spid="199782"/>
                                        </p:tgtEl>
                                        <p:attrNameLst>
                                          <p:attrName>style.visibility</p:attrName>
                                        </p:attrNameLst>
                                      </p:cBhvr>
                                      <p:to>
                                        <p:strVal val="visible"/>
                                      </p:to>
                                    </p:set>
                                  </p:childTnLst>
                                </p:cTn>
                              </p:par>
                            </p:childTnLst>
                          </p:cTn>
                        </p:par>
                        <p:par>
                          <p:cTn id="61" fill="hold">
                            <p:stCondLst>
                              <p:cond delay="500"/>
                            </p:stCondLst>
                            <p:childTnLst>
                              <p:par>
                                <p:cTn id="62" presetID="1" presetClass="entr" presetSubtype="0" fill="hold" grpId="0" nodeType="afterEffect">
                                  <p:stCondLst>
                                    <p:cond delay="0"/>
                                  </p:stCondLst>
                                  <p:childTnLst>
                                    <p:set>
                                      <p:cBhvr>
                                        <p:cTn id="63" dur="1" fill="hold">
                                          <p:stCondLst>
                                            <p:cond delay="0"/>
                                          </p:stCondLst>
                                        </p:cTn>
                                        <p:tgtEl>
                                          <p:spTgt spid="199756"/>
                                        </p:tgtEl>
                                        <p:attrNameLst>
                                          <p:attrName>style.visibility</p:attrName>
                                        </p:attrNameLst>
                                      </p:cBhvr>
                                      <p:to>
                                        <p:strVal val="visible"/>
                                      </p:to>
                                    </p:set>
                                  </p:childTnLst>
                                </p:cTn>
                              </p:par>
                            </p:childTnLst>
                          </p:cTn>
                        </p:par>
                        <p:par>
                          <p:cTn id="64" fill="hold">
                            <p:stCondLst>
                              <p:cond delay="500"/>
                            </p:stCondLst>
                            <p:childTnLst>
                              <p:par>
                                <p:cTn id="65" presetID="0" presetClass="path" presetSubtype="0" accel="50000" decel="50000" fill="hold" grpId="1" nodeType="afterEffect">
                                  <p:stCondLst>
                                    <p:cond delay="0"/>
                                  </p:stCondLst>
                                  <p:childTnLst>
                                    <p:animMotion origin="layout" path="M 0.0 0.0 L -0.03455 0.0 L -0.03281 -0.06436 L 0.43091 -0.06436 L 0.43091 0.0 L 0.41372 0.0 " pathEditMode="relative" ptsTypes="AAAAAA">
                                      <p:cBhvr>
                                        <p:cTn id="66" dur="2000" fill="hold"/>
                                        <p:tgtEl>
                                          <p:spTgt spid="199756"/>
                                        </p:tgtEl>
                                        <p:attrNameLst>
                                          <p:attrName>ppt_x</p:attrName>
                                          <p:attrName>ppt_y</p:attrName>
                                        </p:attrNameLst>
                                      </p:cBhvr>
                                    </p:animMotion>
                                  </p:childTnLst>
                                </p:cTn>
                              </p:par>
                            </p:childTnLst>
                          </p:cTn>
                        </p:par>
                        <p:par>
                          <p:cTn id="67" fill="hold">
                            <p:stCondLst>
                              <p:cond delay="2500"/>
                            </p:stCondLst>
                            <p:childTnLst>
                              <p:par>
                                <p:cTn id="68" presetID="12" presetClass="entr" presetSubtype="2" fill="hold" nodeType="afterEffect">
                                  <p:stCondLst>
                                    <p:cond delay="0"/>
                                  </p:stCondLst>
                                  <p:childTnLst>
                                    <p:set>
                                      <p:cBhvr>
                                        <p:cTn id="69" dur="1" fill="hold">
                                          <p:stCondLst>
                                            <p:cond delay="0"/>
                                          </p:stCondLst>
                                        </p:cTn>
                                        <p:tgtEl>
                                          <p:spTgt spid="199740"/>
                                        </p:tgtEl>
                                        <p:attrNameLst>
                                          <p:attrName>style.visibility</p:attrName>
                                        </p:attrNameLst>
                                      </p:cBhvr>
                                      <p:to>
                                        <p:strVal val="visible"/>
                                      </p:to>
                                    </p:set>
                                    <p:animEffect transition="in" filter="slide(fromRight)">
                                      <p:cBhvr>
                                        <p:cTn id="70" dur="500"/>
                                        <p:tgtEl>
                                          <p:spTgt spid="199740"/>
                                        </p:tgtEl>
                                      </p:cBhvr>
                                    </p:animEffect>
                                  </p:childTnLst>
                                </p:cTn>
                              </p:par>
                            </p:childTnLst>
                          </p:cTn>
                        </p:par>
                        <p:par>
                          <p:cTn id="71" fill="hold">
                            <p:stCondLst>
                              <p:cond delay="3000"/>
                            </p:stCondLst>
                            <p:childTnLst>
                              <p:par>
                                <p:cTn id="72" presetID="12" presetClass="entr" presetSubtype="2" fill="hold" nodeType="afterEffect">
                                  <p:stCondLst>
                                    <p:cond delay="0"/>
                                  </p:stCondLst>
                                  <p:childTnLst>
                                    <p:set>
                                      <p:cBhvr>
                                        <p:cTn id="73" dur="1" fill="hold">
                                          <p:stCondLst>
                                            <p:cond delay="0"/>
                                          </p:stCondLst>
                                        </p:cTn>
                                        <p:tgtEl>
                                          <p:spTgt spid="199741"/>
                                        </p:tgtEl>
                                        <p:attrNameLst>
                                          <p:attrName>style.visibility</p:attrName>
                                        </p:attrNameLst>
                                      </p:cBhvr>
                                      <p:to>
                                        <p:strVal val="visible"/>
                                      </p:to>
                                    </p:set>
                                    <p:animEffect transition="in" filter="slide(fromRight)">
                                      <p:cBhvr>
                                        <p:cTn id="74" dur="500"/>
                                        <p:tgtEl>
                                          <p:spTgt spid="199741"/>
                                        </p:tgtEl>
                                      </p:cBhvr>
                                    </p:animEffect>
                                  </p:childTnLst>
                                </p:cTn>
                              </p:par>
                            </p:childTnLst>
                          </p:cTn>
                        </p:par>
                        <p:par>
                          <p:cTn id="75" fill="hold">
                            <p:stCondLst>
                              <p:cond delay="3500"/>
                            </p:stCondLst>
                            <p:childTnLst>
                              <p:par>
                                <p:cTn id="76" presetID="12" presetClass="entr" presetSubtype="2" fill="hold" nodeType="afterEffect">
                                  <p:stCondLst>
                                    <p:cond delay="0"/>
                                  </p:stCondLst>
                                  <p:childTnLst>
                                    <p:set>
                                      <p:cBhvr>
                                        <p:cTn id="77" dur="1" fill="hold">
                                          <p:stCondLst>
                                            <p:cond delay="0"/>
                                          </p:stCondLst>
                                        </p:cTn>
                                        <p:tgtEl>
                                          <p:spTgt spid="199742"/>
                                        </p:tgtEl>
                                        <p:attrNameLst>
                                          <p:attrName>style.visibility</p:attrName>
                                        </p:attrNameLst>
                                      </p:cBhvr>
                                      <p:to>
                                        <p:strVal val="visible"/>
                                      </p:to>
                                    </p:set>
                                    <p:animEffect transition="in" filter="slide(fromRight)">
                                      <p:cBhvr>
                                        <p:cTn id="78" dur="500"/>
                                        <p:tgtEl>
                                          <p:spTgt spid="199742"/>
                                        </p:tgtEl>
                                      </p:cBhvr>
                                    </p:animEffect>
                                  </p:childTnLst>
                                </p:cTn>
                              </p:par>
                            </p:childTnLst>
                          </p:cTn>
                        </p:par>
                        <p:par>
                          <p:cTn id="79" fill="hold">
                            <p:stCondLst>
                              <p:cond delay="4000"/>
                            </p:stCondLst>
                            <p:childTnLst>
                              <p:par>
                                <p:cTn id="80" presetID="12" presetClass="entr" presetSubtype="2" fill="hold" nodeType="afterEffect">
                                  <p:stCondLst>
                                    <p:cond delay="0"/>
                                  </p:stCondLst>
                                  <p:childTnLst>
                                    <p:set>
                                      <p:cBhvr>
                                        <p:cTn id="81" dur="1" fill="hold">
                                          <p:stCondLst>
                                            <p:cond delay="0"/>
                                          </p:stCondLst>
                                        </p:cTn>
                                        <p:tgtEl>
                                          <p:spTgt spid="199743"/>
                                        </p:tgtEl>
                                        <p:attrNameLst>
                                          <p:attrName>style.visibility</p:attrName>
                                        </p:attrNameLst>
                                      </p:cBhvr>
                                      <p:to>
                                        <p:strVal val="visible"/>
                                      </p:to>
                                    </p:set>
                                    <p:animEffect transition="in" filter="slide(fromRight)">
                                      <p:cBhvr>
                                        <p:cTn id="82" dur="500"/>
                                        <p:tgtEl>
                                          <p:spTgt spid="199743"/>
                                        </p:tgtEl>
                                      </p:cBhvr>
                                    </p:animEffect>
                                  </p:childTnLst>
                                </p:cTn>
                              </p:par>
                            </p:childTnLst>
                          </p:cTn>
                        </p:par>
                        <p:par>
                          <p:cTn id="83" fill="hold">
                            <p:stCondLst>
                              <p:cond delay="4500"/>
                            </p:stCondLst>
                            <p:childTnLst>
                              <p:par>
                                <p:cTn id="84" presetID="12" presetClass="entr" presetSubtype="2" fill="hold" nodeType="afterEffect">
                                  <p:stCondLst>
                                    <p:cond delay="0"/>
                                  </p:stCondLst>
                                  <p:childTnLst>
                                    <p:set>
                                      <p:cBhvr>
                                        <p:cTn id="85" dur="1" fill="hold">
                                          <p:stCondLst>
                                            <p:cond delay="0"/>
                                          </p:stCondLst>
                                        </p:cTn>
                                        <p:tgtEl>
                                          <p:spTgt spid="199744"/>
                                        </p:tgtEl>
                                        <p:attrNameLst>
                                          <p:attrName>style.visibility</p:attrName>
                                        </p:attrNameLst>
                                      </p:cBhvr>
                                      <p:to>
                                        <p:strVal val="visible"/>
                                      </p:to>
                                    </p:set>
                                    <p:animEffect transition="in" filter="slide(fromRight)">
                                      <p:cBhvr>
                                        <p:cTn id="86" dur="500"/>
                                        <p:tgtEl>
                                          <p:spTgt spid="199744"/>
                                        </p:tgtEl>
                                      </p:cBhvr>
                                    </p:animEffect>
                                  </p:childTnLst>
                                </p:cTn>
                              </p:par>
                            </p:childTnLst>
                          </p:cTn>
                        </p:par>
                        <p:par>
                          <p:cTn id="87" fill="hold">
                            <p:stCondLst>
                              <p:cond delay="5000"/>
                            </p:stCondLst>
                            <p:childTnLst>
                              <p:par>
                                <p:cTn id="88" presetID="12" presetClass="entr" presetSubtype="2" fill="hold" nodeType="afterEffect">
                                  <p:stCondLst>
                                    <p:cond delay="0"/>
                                  </p:stCondLst>
                                  <p:childTnLst>
                                    <p:set>
                                      <p:cBhvr>
                                        <p:cTn id="89" dur="1" fill="hold">
                                          <p:stCondLst>
                                            <p:cond delay="0"/>
                                          </p:stCondLst>
                                        </p:cTn>
                                        <p:tgtEl>
                                          <p:spTgt spid="199745"/>
                                        </p:tgtEl>
                                        <p:attrNameLst>
                                          <p:attrName>style.visibility</p:attrName>
                                        </p:attrNameLst>
                                      </p:cBhvr>
                                      <p:to>
                                        <p:strVal val="visible"/>
                                      </p:to>
                                    </p:set>
                                    <p:animEffect transition="in" filter="slide(fromRight)">
                                      <p:cBhvr>
                                        <p:cTn id="90" dur="500"/>
                                        <p:tgtEl>
                                          <p:spTgt spid="199745"/>
                                        </p:tgtEl>
                                      </p:cBhvr>
                                    </p:animEffect>
                                  </p:childTnLst>
                                </p:cTn>
                              </p:par>
                            </p:childTnLst>
                          </p:cTn>
                        </p:par>
                        <p:par>
                          <p:cTn id="91" fill="hold">
                            <p:stCondLst>
                              <p:cond delay="5500"/>
                            </p:stCondLst>
                            <p:childTnLst>
                              <p:par>
                                <p:cTn id="92" presetID="12" presetClass="entr" presetSubtype="2" fill="hold" nodeType="afterEffect">
                                  <p:stCondLst>
                                    <p:cond delay="0"/>
                                  </p:stCondLst>
                                  <p:childTnLst>
                                    <p:set>
                                      <p:cBhvr>
                                        <p:cTn id="93" dur="1" fill="hold">
                                          <p:stCondLst>
                                            <p:cond delay="0"/>
                                          </p:stCondLst>
                                        </p:cTn>
                                        <p:tgtEl>
                                          <p:spTgt spid="199746"/>
                                        </p:tgtEl>
                                        <p:attrNameLst>
                                          <p:attrName>style.visibility</p:attrName>
                                        </p:attrNameLst>
                                      </p:cBhvr>
                                      <p:to>
                                        <p:strVal val="visible"/>
                                      </p:to>
                                    </p:set>
                                    <p:animEffect transition="in" filter="slide(fromRight)">
                                      <p:cBhvr>
                                        <p:cTn id="94" dur="500"/>
                                        <p:tgtEl>
                                          <p:spTgt spid="199746"/>
                                        </p:tgtEl>
                                      </p:cBhvr>
                                    </p:animEffect>
                                  </p:childTnLst>
                                </p:cTn>
                              </p:par>
                            </p:childTnLst>
                          </p:cTn>
                        </p:par>
                      </p:childTnLst>
                    </p:cTn>
                  </p:par>
                  <p:par>
                    <p:cTn id="95" fill="hold">
                      <p:stCondLst>
                        <p:cond delay="indefinite"/>
                      </p:stCondLst>
                      <p:childTnLst>
                        <p:par>
                          <p:cTn id="96" fill="hold">
                            <p:stCondLst>
                              <p:cond delay="0"/>
                            </p:stCondLst>
                            <p:childTnLst>
                              <p:par>
                                <p:cTn id="97" presetID="2" presetClass="entr" presetSubtype="4" fill="hold" nodeType="clickEffect">
                                  <p:stCondLst>
                                    <p:cond delay="0"/>
                                  </p:stCondLst>
                                  <p:childTnLst>
                                    <p:set>
                                      <p:cBhvr>
                                        <p:cTn id="98" dur="1" fill="hold">
                                          <p:stCondLst>
                                            <p:cond delay="0"/>
                                          </p:stCondLst>
                                        </p:cTn>
                                        <p:tgtEl>
                                          <p:spTgt spid="2"/>
                                        </p:tgtEl>
                                        <p:attrNameLst>
                                          <p:attrName>style.visibility</p:attrName>
                                        </p:attrNameLst>
                                      </p:cBhvr>
                                      <p:to>
                                        <p:strVal val="visible"/>
                                      </p:to>
                                    </p:set>
                                    <p:anim calcmode="lin" valueType="num">
                                      <p:cBhvr additive="base">
                                        <p:cTn id="99" dur="500" fill="hold"/>
                                        <p:tgtEl>
                                          <p:spTgt spid="2"/>
                                        </p:tgtEl>
                                        <p:attrNameLst>
                                          <p:attrName>ppt_x</p:attrName>
                                        </p:attrNameLst>
                                      </p:cBhvr>
                                      <p:tavLst>
                                        <p:tav tm="0">
                                          <p:val>
                                            <p:strVal val="#ppt_x"/>
                                          </p:val>
                                        </p:tav>
                                        <p:tav tm="100000">
                                          <p:val>
                                            <p:strVal val="#ppt_x"/>
                                          </p:val>
                                        </p:tav>
                                      </p:tavLst>
                                    </p:anim>
                                    <p:anim calcmode="lin" valueType="num">
                                      <p:cBhvr additive="base">
                                        <p:cTn id="10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2" presetClass="entr" presetSubtype="4" fill="hold" grpId="0" nodeType="clickEffect">
                                  <p:stCondLst>
                                    <p:cond delay="0"/>
                                  </p:stCondLst>
                                  <p:childTnLst>
                                    <p:set>
                                      <p:cBhvr>
                                        <p:cTn id="104" dur="1" fill="hold">
                                          <p:stCondLst>
                                            <p:cond delay="0"/>
                                          </p:stCondLst>
                                        </p:cTn>
                                        <p:tgtEl>
                                          <p:spTgt spid="194598"/>
                                        </p:tgtEl>
                                        <p:attrNameLst>
                                          <p:attrName>style.visibility</p:attrName>
                                        </p:attrNameLst>
                                      </p:cBhvr>
                                      <p:to>
                                        <p:strVal val="visible"/>
                                      </p:to>
                                    </p:set>
                                    <p:anim calcmode="lin" valueType="num">
                                      <p:cBhvr additive="base">
                                        <p:cTn id="105" dur="500" fill="hold"/>
                                        <p:tgtEl>
                                          <p:spTgt spid="194598"/>
                                        </p:tgtEl>
                                        <p:attrNameLst>
                                          <p:attrName>ppt_x</p:attrName>
                                        </p:attrNameLst>
                                      </p:cBhvr>
                                      <p:tavLst>
                                        <p:tav tm="0">
                                          <p:val>
                                            <p:strVal val="#ppt_x"/>
                                          </p:val>
                                        </p:tav>
                                        <p:tav tm="100000">
                                          <p:val>
                                            <p:strVal val="#ppt_x"/>
                                          </p:val>
                                        </p:tav>
                                      </p:tavLst>
                                    </p:anim>
                                    <p:anim calcmode="lin" valueType="num">
                                      <p:cBhvr additive="base">
                                        <p:cTn id="106" dur="500" fill="hold"/>
                                        <p:tgtEl>
                                          <p:spTgt spid="194598"/>
                                        </p:tgtEl>
                                        <p:attrNameLst>
                                          <p:attrName>ppt_y</p:attrName>
                                        </p:attrNameLst>
                                      </p:cBhvr>
                                      <p:tavLst>
                                        <p:tav tm="0">
                                          <p:val>
                                            <p:strVal val="1+#ppt_h/2"/>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2" presetClass="entr" presetSubtype="4" fill="hold" grpId="0" nodeType="clickEffect">
                                  <p:stCondLst>
                                    <p:cond delay="0"/>
                                  </p:stCondLst>
                                  <p:childTnLst>
                                    <p:set>
                                      <p:cBhvr>
                                        <p:cTn id="110" dur="1" fill="hold">
                                          <p:stCondLst>
                                            <p:cond delay="0"/>
                                          </p:stCondLst>
                                        </p:cTn>
                                        <p:tgtEl>
                                          <p:spTgt spid="194564"/>
                                        </p:tgtEl>
                                        <p:attrNameLst>
                                          <p:attrName>style.visibility</p:attrName>
                                        </p:attrNameLst>
                                      </p:cBhvr>
                                      <p:to>
                                        <p:strVal val="visible"/>
                                      </p:to>
                                    </p:set>
                                    <p:anim calcmode="lin" valueType="num">
                                      <p:cBhvr additive="base">
                                        <p:cTn id="111" dur="500" fill="hold"/>
                                        <p:tgtEl>
                                          <p:spTgt spid="194564"/>
                                        </p:tgtEl>
                                        <p:attrNameLst>
                                          <p:attrName>ppt_x</p:attrName>
                                        </p:attrNameLst>
                                      </p:cBhvr>
                                      <p:tavLst>
                                        <p:tav tm="0">
                                          <p:val>
                                            <p:strVal val="#ppt_x"/>
                                          </p:val>
                                        </p:tav>
                                        <p:tav tm="100000">
                                          <p:val>
                                            <p:strVal val="#ppt_x"/>
                                          </p:val>
                                        </p:tav>
                                      </p:tavLst>
                                    </p:anim>
                                    <p:anim calcmode="lin" valueType="num">
                                      <p:cBhvr additive="base">
                                        <p:cTn id="112" dur="500" fill="hold"/>
                                        <p:tgtEl>
                                          <p:spTgt spid="1945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754" grpId="0"/>
      <p:bldP spid="199755" grpId="0"/>
      <p:bldP spid="199756" grpId="0" bldLvl="0" animBg="1"/>
      <p:bldP spid="199756" grpId="1" bldLvl="0" animBg="1"/>
      <p:bldP spid="199783" grpId="0"/>
      <p:bldP spid="194598" grpId="0"/>
      <p:bldP spid="194564"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29" name="Rectangle 2"/>
          <p:cNvSpPr>
            <a:spLocks noGrp="1"/>
          </p:cNvSpPr>
          <p:nvPr>
            <p:ph type="title"/>
          </p:nvPr>
        </p:nvSpPr>
        <p:spPr>
          <a:xfrm>
            <a:off x="900113" y="333375"/>
            <a:ext cx="8153400" cy="571500"/>
          </a:xfrm>
        </p:spPr>
        <p:txBody>
          <a:bodyPr vert="horz" wrap="square" lIns="91440" tIns="45720" rIns="91440" bIns="45720" anchor="ctr" anchorCtr="0"/>
          <a:p>
            <a:pPr eaLnBrk="1" hangingPunct="1"/>
            <a:r>
              <a:rPr lang="en-US" altLang="zh-CN" dirty="0">
                <a:latin typeface="华文新魏" pitchFamily="2" charset="-122"/>
                <a:ea typeface="华文新魏" pitchFamily="2" charset="-122"/>
              </a:rPr>
              <a:t>3.3.4 </a:t>
            </a:r>
            <a:r>
              <a:rPr lang="zh-CN" altLang="en-US" dirty="0">
                <a:latin typeface="华文新魏" pitchFamily="2" charset="-122"/>
                <a:ea typeface="华文新魏" pitchFamily="2" charset="-122"/>
              </a:rPr>
              <a:t>逻辑运算指令</a:t>
            </a:r>
            <a:r>
              <a:rPr lang="en-US" altLang="zh-CN" dirty="0">
                <a:latin typeface="Arial" panose="020B0604020202090204" pitchFamily="34" charset="0"/>
                <a:ea typeface="华文新魏" pitchFamily="2" charset="-122"/>
              </a:rPr>
              <a:t>——</a:t>
            </a:r>
            <a:r>
              <a:rPr lang="zh-CN" altLang="en-US" dirty="0">
                <a:latin typeface="华文新魏" pitchFamily="2" charset="-122"/>
                <a:ea typeface="华文新魏" pitchFamily="2" charset="-122"/>
              </a:rPr>
              <a:t>逻辑操作指令</a:t>
            </a:r>
            <a:r>
              <a:rPr lang="zh-CN" altLang="en-US" dirty="0"/>
              <a:t> </a:t>
            </a:r>
            <a:endParaRPr lang="zh-CN" altLang="en-US" dirty="0"/>
          </a:p>
        </p:txBody>
      </p:sp>
      <p:sp>
        <p:nvSpPr>
          <p:cNvPr id="124930" name="Rectangle 3"/>
          <p:cNvSpPr>
            <a:spLocks noGrp="1"/>
          </p:cNvSpPr>
          <p:nvPr>
            <p:ph idx="1"/>
          </p:nvPr>
        </p:nvSpPr>
        <p:spPr>
          <a:xfrm>
            <a:off x="836613" y="1042988"/>
            <a:ext cx="7696200" cy="1165225"/>
          </a:xfrm>
        </p:spPr>
        <p:txBody>
          <a:bodyPr vert="horz" wrap="square" lIns="91440" tIns="45720" rIns="91440" bIns="45720" anchor="t" anchorCtr="0"/>
          <a:p>
            <a:pPr eaLnBrk="1" hangingPunct="1">
              <a:buNone/>
            </a:pPr>
            <a:r>
              <a:rPr lang="zh-CN" altLang="en-US" dirty="0"/>
              <a:t>（</a:t>
            </a:r>
            <a:r>
              <a:rPr lang="en-US" altLang="zh-CN" dirty="0"/>
              <a:t>3</a:t>
            </a:r>
            <a:r>
              <a:rPr lang="zh-CN" altLang="en-US" dirty="0"/>
              <a:t>）循环右移</a:t>
            </a:r>
            <a:endParaRPr lang="zh-CN" altLang="en-US" dirty="0"/>
          </a:p>
          <a:p>
            <a:pPr eaLnBrk="1" hangingPunct="1">
              <a:buNone/>
            </a:pPr>
            <a:r>
              <a:rPr lang="zh-CN" altLang="en-US" b="1" dirty="0"/>
              <a:t>          </a:t>
            </a:r>
            <a:r>
              <a:rPr lang="en-US" altLang="zh-CN" dirty="0"/>
              <a:t>RR    A</a:t>
            </a:r>
            <a:r>
              <a:rPr lang="zh-CN" altLang="en-US" dirty="0"/>
              <a:t>；</a:t>
            </a:r>
            <a:endParaRPr lang="zh-CN" altLang="en-US" dirty="0"/>
          </a:p>
          <a:p>
            <a:pPr eaLnBrk="1" hangingPunct="1">
              <a:buNone/>
            </a:pPr>
            <a:endParaRPr lang="zh-CN" altLang="en-US" dirty="0"/>
          </a:p>
        </p:txBody>
      </p:sp>
      <p:grpSp>
        <p:nvGrpSpPr>
          <p:cNvPr id="2" name="Group 4"/>
          <p:cNvGrpSpPr/>
          <p:nvPr/>
        </p:nvGrpSpPr>
        <p:grpSpPr>
          <a:xfrm>
            <a:off x="5368925" y="2273300"/>
            <a:ext cx="2971800" cy="1189038"/>
            <a:chOff x="1632" y="1440"/>
            <a:chExt cx="1872" cy="749"/>
          </a:xfrm>
        </p:grpSpPr>
        <p:sp>
          <p:nvSpPr>
            <p:cNvPr id="124932" name="Rectangle 5"/>
            <p:cNvSpPr/>
            <p:nvPr/>
          </p:nvSpPr>
          <p:spPr>
            <a:xfrm>
              <a:off x="1915" y="1632"/>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24933" name="Rectangle 6"/>
            <p:cNvSpPr/>
            <p:nvPr/>
          </p:nvSpPr>
          <p:spPr>
            <a:xfrm>
              <a:off x="2098" y="1632"/>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24934" name="Rectangle 7"/>
            <p:cNvSpPr/>
            <p:nvPr/>
          </p:nvSpPr>
          <p:spPr>
            <a:xfrm>
              <a:off x="2281" y="1632"/>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24935" name="Rectangle 8"/>
            <p:cNvSpPr/>
            <p:nvPr/>
          </p:nvSpPr>
          <p:spPr>
            <a:xfrm>
              <a:off x="2464" y="1632"/>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24936" name="Rectangle 9"/>
            <p:cNvSpPr/>
            <p:nvPr/>
          </p:nvSpPr>
          <p:spPr>
            <a:xfrm>
              <a:off x="2647" y="1632"/>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24937" name="Rectangle 10"/>
            <p:cNvSpPr/>
            <p:nvPr/>
          </p:nvSpPr>
          <p:spPr>
            <a:xfrm>
              <a:off x="2830" y="1632"/>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24938" name="Rectangle 11"/>
            <p:cNvSpPr/>
            <p:nvPr/>
          </p:nvSpPr>
          <p:spPr>
            <a:xfrm>
              <a:off x="3013" y="1632"/>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24939" name="Rectangle 12"/>
            <p:cNvSpPr/>
            <p:nvPr/>
          </p:nvSpPr>
          <p:spPr>
            <a:xfrm>
              <a:off x="3196" y="1632"/>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grpSp>
          <p:nvGrpSpPr>
            <p:cNvPr id="124940" name="Group 13"/>
            <p:cNvGrpSpPr/>
            <p:nvPr/>
          </p:nvGrpSpPr>
          <p:grpSpPr>
            <a:xfrm>
              <a:off x="1882" y="1440"/>
              <a:ext cx="1549" cy="192"/>
              <a:chOff x="1514" y="1855"/>
              <a:chExt cx="1549" cy="192"/>
            </a:xfrm>
          </p:grpSpPr>
          <p:sp>
            <p:nvSpPr>
              <p:cNvPr id="124941" name="Text Box 14"/>
              <p:cNvSpPr txBox="1"/>
              <p:nvPr/>
            </p:nvSpPr>
            <p:spPr>
              <a:xfrm>
                <a:off x="2810"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D0</a:t>
                </a:r>
                <a:endParaRPr lang="en-US" altLang="zh-CN" sz="1400" b="0" dirty="0">
                  <a:latin typeface="Times New Roman" panose="02020503050405090304" pitchFamily="18" charset="0"/>
                  <a:ea typeface="宋体" pitchFamily="2" charset="-122"/>
                </a:endParaRPr>
              </a:p>
            </p:txBody>
          </p:sp>
          <p:sp>
            <p:nvSpPr>
              <p:cNvPr id="124942" name="Text Box 15"/>
              <p:cNvSpPr txBox="1"/>
              <p:nvPr/>
            </p:nvSpPr>
            <p:spPr>
              <a:xfrm>
                <a:off x="2626"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D1</a:t>
                </a:r>
                <a:endParaRPr lang="en-US" altLang="zh-CN" sz="1400" b="0" dirty="0">
                  <a:latin typeface="Times New Roman" panose="02020503050405090304" pitchFamily="18" charset="0"/>
                  <a:ea typeface="宋体" pitchFamily="2" charset="-122"/>
                </a:endParaRPr>
              </a:p>
            </p:txBody>
          </p:sp>
          <p:sp>
            <p:nvSpPr>
              <p:cNvPr id="124943" name="Text Box 16"/>
              <p:cNvSpPr txBox="1"/>
              <p:nvPr/>
            </p:nvSpPr>
            <p:spPr>
              <a:xfrm>
                <a:off x="2434"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D2</a:t>
                </a:r>
                <a:endParaRPr lang="en-US" altLang="zh-CN" sz="1400" b="0" dirty="0">
                  <a:latin typeface="Times New Roman" panose="02020503050405090304" pitchFamily="18" charset="0"/>
                  <a:ea typeface="宋体" pitchFamily="2" charset="-122"/>
                </a:endParaRPr>
              </a:p>
            </p:txBody>
          </p:sp>
          <p:sp>
            <p:nvSpPr>
              <p:cNvPr id="124944" name="Text Box 17"/>
              <p:cNvSpPr txBox="1"/>
              <p:nvPr/>
            </p:nvSpPr>
            <p:spPr>
              <a:xfrm>
                <a:off x="2250"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D3</a:t>
                </a:r>
                <a:endParaRPr lang="en-US" altLang="zh-CN" sz="1400" b="0" dirty="0">
                  <a:latin typeface="Times New Roman" panose="02020503050405090304" pitchFamily="18" charset="0"/>
                  <a:ea typeface="宋体" pitchFamily="2" charset="-122"/>
                </a:endParaRPr>
              </a:p>
            </p:txBody>
          </p:sp>
          <p:sp>
            <p:nvSpPr>
              <p:cNvPr id="124945" name="Text Box 18"/>
              <p:cNvSpPr txBox="1"/>
              <p:nvPr/>
            </p:nvSpPr>
            <p:spPr>
              <a:xfrm>
                <a:off x="2074"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D4</a:t>
                </a:r>
                <a:endParaRPr lang="en-US" altLang="zh-CN" sz="1400" b="0" dirty="0">
                  <a:latin typeface="Times New Roman" panose="02020503050405090304" pitchFamily="18" charset="0"/>
                  <a:ea typeface="宋体" pitchFamily="2" charset="-122"/>
                </a:endParaRPr>
              </a:p>
            </p:txBody>
          </p:sp>
          <p:sp>
            <p:nvSpPr>
              <p:cNvPr id="124946" name="Text Box 19"/>
              <p:cNvSpPr txBox="1"/>
              <p:nvPr/>
            </p:nvSpPr>
            <p:spPr>
              <a:xfrm>
                <a:off x="1890"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D5</a:t>
                </a:r>
                <a:endParaRPr lang="en-US" altLang="zh-CN" sz="1400" b="0" dirty="0">
                  <a:latin typeface="Times New Roman" panose="02020503050405090304" pitchFamily="18" charset="0"/>
                  <a:ea typeface="宋体" pitchFamily="2" charset="-122"/>
                </a:endParaRPr>
              </a:p>
            </p:txBody>
          </p:sp>
          <p:sp>
            <p:nvSpPr>
              <p:cNvPr id="124947" name="Text Box 20"/>
              <p:cNvSpPr txBox="1"/>
              <p:nvPr/>
            </p:nvSpPr>
            <p:spPr>
              <a:xfrm>
                <a:off x="1698"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D6</a:t>
                </a:r>
                <a:endParaRPr lang="en-US" altLang="zh-CN" sz="1400" b="0" dirty="0">
                  <a:latin typeface="Times New Roman" panose="02020503050405090304" pitchFamily="18" charset="0"/>
                  <a:ea typeface="宋体" pitchFamily="2" charset="-122"/>
                </a:endParaRPr>
              </a:p>
            </p:txBody>
          </p:sp>
          <p:sp>
            <p:nvSpPr>
              <p:cNvPr id="124948" name="Text Box 21"/>
              <p:cNvSpPr txBox="1"/>
              <p:nvPr/>
            </p:nvSpPr>
            <p:spPr>
              <a:xfrm>
                <a:off x="1514"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D7</a:t>
                </a:r>
                <a:endParaRPr lang="en-US" altLang="zh-CN" sz="1400" b="0" dirty="0">
                  <a:latin typeface="Times New Roman" panose="02020503050405090304" pitchFamily="18" charset="0"/>
                  <a:ea typeface="宋体" pitchFamily="2" charset="-122"/>
                </a:endParaRPr>
              </a:p>
            </p:txBody>
          </p:sp>
        </p:grpSp>
        <p:sp>
          <p:nvSpPr>
            <p:cNvPr id="124949" name="Line 22"/>
            <p:cNvSpPr/>
            <p:nvPr/>
          </p:nvSpPr>
          <p:spPr>
            <a:xfrm>
              <a:off x="2016" y="1709"/>
              <a:ext cx="192" cy="0"/>
            </a:xfrm>
            <a:prstGeom prst="line">
              <a:avLst/>
            </a:prstGeom>
            <a:ln w="9525" cap="flat" cmpd="sng">
              <a:solidFill>
                <a:schemeClr val="hlink"/>
              </a:solidFill>
              <a:prstDash val="solid"/>
              <a:round/>
              <a:headEnd type="none" w="med" len="med"/>
              <a:tailEnd type="triangle" w="med" len="med"/>
            </a:ln>
          </p:spPr>
        </p:sp>
        <p:sp>
          <p:nvSpPr>
            <p:cNvPr id="124950" name="Line 23"/>
            <p:cNvSpPr/>
            <p:nvPr/>
          </p:nvSpPr>
          <p:spPr>
            <a:xfrm>
              <a:off x="2208" y="1805"/>
              <a:ext cx="192" cy="0"/>
            </a:xfrm>
            <a:prstGeom prst="line">
              <a:avLst/>
            </a:prstGeom>
            <a:ln w="9525" cap="flat" cmpd="sng">
              <a:solidFill>
                <a:schemeClr val="hlink"/>
              </a:solidFill>
              <a:prstDash val="solid"/>
              <a:round/>
              <a:headEnd type="none" w="med" len="med"/>
              <a:tailEnd type="triangle" w="med" len="med"/>
            </a:ln>
          </p:spPr>
        </p:sp>
        <p:sp>
          <p:nvSpPr>
            <p:cNvPr id="124951" name="Line 24"/>
            <p:cNvSpPr/>
            <p:nvPr/>
          </p:nvSpPr>
          <p:spPr>
            <a:xfrm>
              <a:off x="2400" y="1709"/>
              <a:ext cx="192" cy="0"/>
            </a:xfrm>
            <a:prstGeom prst="line">
              <a:avLst/>
            </a:prstGeom>
            <a:ln w="9525" cap="flat" cmpd="sng">
              <a:solidFill>
                <a:schemeClr val="hlink"/>
              </a:solidFill>
              <a:prstDash val="solid"/>
              <a:round/>
              <a:headEnd type="none" w="med" len="med"/>
              <a:tailEnd type="triangle" w="med" len="med"/>
            </a:ln>
          </p:spPr>
        </p:sp>
        <p:sp>
          <p:nvSpPr>
            <p:cNvPr id="124952" name="Line 25"/>
            <p:cNvSpPr/>
            <p:nvPr/>
          </p:nvSpPr>
          <p:spPr>
            <a:xfrm>
              <a:off x="2592" y="1805"/>
              <a:ext cx="192" cy="0"/>
            </a:xfrm>
            <a:prstGeom prst="line">
              <a:avLst/>
            </a:prstGeom>
            <a:ln w="9525" cap="flat" cmpd="sng">
              <a:solidFill>
                <a:schemeClr val="hlink"/>
              </a:solidFill>
              <a:prstDash val="solid"/>
              <a:round/>
              <a:headEnd type="none" w="med" len="med"/>
              <a:tailEnd type="triangle" w="med" len="med"/>
            </a:ln>
          </p:spPr>
        </p:sp>
        <p:sp>
          <p:nvSpPr>
            <p:cNvPr id="124953" name="Line 26"/>
            <p:cNvSpPr/>
            <p:nvPr/>
          </p:nvSpPr>
          <p:spPr>
            <a:xfrm>
              <a:off x="2736" y="1709"/>
              <a:ext cx="192" cy="0"/>
            </a:xfrm>
            <a:prstGeom prst="line">
              <a:avLst/>
            </a:prstGeom>
            <a:ln w="9525" cap="flat" cmpd="sng">
              <a:solidFill>
                <a:schemeClr val="hlink"/>
              </a:solidFill>
              <a:prstDash val="solid"/>
              <a:round/>
              <a:headEnd type="none" w="med" len="med"/>
              <a:tailEnd type="triangle" w="med" len="med"/>
            </a:ln>
          </p:spPr>
        </p:sp>
        <p:sp>
          <p:nvSpPr>
            <p:cNvPr id="124954" name="Line 27"/>
            <p:cNvSpPr/>
            <p:nvPr/>
          </p:nvSpPr>
          <p:spPr>
            <a:xfrm>
              <a:off x="2928" y="1805"/>
              <a:ext cx="192" cy="0"/>
            </a:xfrm>
            <a:prstGeom prst="line">
              <a:avLst/>
            </a:prstGeom>
            <a:ln w="9525" cap="flat" cmpd="sng">
              <a:solidFill>
                <a:schemeClr val="hlink"/>
              </a:solidFill>
              <a:prstDash val="solid"/>
              <a:round/>
              <a:headEnd type="none" w="med" len="med"/>
              <a:tailEnd type="triangle" w="med" len="med"/>
            </a:ln>
          </p:spPr>
        </p:sp>
        <p:sp>
          <p:nvSpPr>
            <p:cNvPr id="124955" name="Line 28"/>
            <p:cNvSpPr/>
            <p:nvPr/>
          </p:nvSpPr>
          <p:spPr>
            <a:xfrm>
              <a:off x="3120" y="1709"/>
              <a:ext cx="192" cy="0"/>
            </a:xfrm>
            <a:prstGeom prst="line">
              <a:avLst/>
            </a:prstGeom>
            <a:ln w="9525" cap="flat" cmpd="sng">
              <a:solidFill>
                <a:schemeClr val="hlink"/>
              </a:solidFill>
              <a:prstDash val="solid"/>
              <a:round/>
              <a:headEnd type="none" w="med" len="med"/>
              <a:tailEnd type="triangle" w="med" len="med"/>
            </a:ln>
          </p:spPr>
        </p:sp>
        <p:sp>
          <p:nvSpPr>
            <p:cNvPr id="124956" name="Line 29"/>
            <p:cNvSpPr/>
            <p:nvPr/>
          </p:nvSpPr>
          <p:spPr>
            <a:xfrm flipV="1">
              <a:off x="1642" y="1805"/>
              <a:ext cx="424" cy="0"/>
            </a:xfrm>
            <a:prstGeom prst="line">
              <a:avLst/>
            </a:prstGeom>
            <a:ln w="9525" cap="flat" cmpd="sng">
              <a:solidFill>
                <a:schemeClr val="hlink"/>
              </a:solidFill>
              <a:prstDash val="solid"/>
              <a:round/>
              <a:headEnd type="none" w="med" len="med"/>
              <a:tailEnd type="triangle" w="med" len="med"/>
            </a:ln>
          </p:spPr>
        </p:sp>
        <p:sp>
          <p:nvSpPr>
            <p:cNvPr id="124957" name="Line 30"/>
            <p:cNvSpPr/>
            <p:nvPr/>
          </p:nvSpPr>
          <p:spPr>
            <a:xfrm>
              <a:off x="3504" y="1805"/>
              <a:ext cx="0" cy="384"/>
            </a:xfrm>
            <a:prstGeom prst="line">
              <a:avLst/>
            </a:prstGeom>
            <a:ln w="9525" cap="flat" cmpd="sng">
              <a:solidFill>
                <a:schemeClr val="hlink"/>
              </a:solidFill>
              <a:prstDash val="solid"/>
              <a:round/>
              <a:headEnd type="none" w="med" len="med"/>
              <a:tailEnd type="none" w="med" len="med"/>
            </a:ln>
          </p:spPr>
        </p:sp>
        <p:sp>
          <p:nvSpPr>
            <p:cNvPr id="124958" name="Line 31"/>
            <p:cNvSpPr/>
            <p:nvPr/>
          </p:nvSpPr>
          <p:spPr>
            <a:xfrm flipH="1">
              <a:off x="1632" y="2189"/>
              <a:ext cx="1872" cy="0"/>
            </a:xfrm>
            <a:prstGeom prst="line">
              <a:avLst/>
            </a:prstGeom>
            <a:ln w="9525" cap="flat" cmpd="sng">
              <a:solidFill>
                <a:schemeClr val="hlink"/>
              </a:solidFill>
              <a:prstDash val="solid"/>
              <a:round/>
              <a:headEnd type="none" w="med" len="med"/>
              <a:tailEnd type="none" w="med" len="med"/>
            </a:ln>
          </p:spPr>
        </p:sp>
        <p:sp>
          <p:nvSpPr>
            <p:cNvPr id="124959" name="Line 32"/>
            <p:cNvSpPr/>
            <p:nvPr/>
          </p:nvSpPr>
          <p:spPr>
            <a:xfrm>
              <a:off x="1634" y="1805"/>
              <a:ext cx="0" cy="384"/>
            </a:xfrm>
            <a:prstGeom prst="line">
              <a:avLst/>
            </a:prstGeom>
            <a:ln w="9525" cap="flat" cmpd="sng">
              <a:solidFill>
                <a:schemeClr val="hlink"/>
              </a:solidFill>
              <a:prstDash val="solid"/>
              <a:round/>
              <a:headEnd type="none" w="med" len="med"/>
              <a:tailEnd type="none" w="med" len="med"/>
            </a:ln>
          </p:spPr>
        </p:sp>
        <p:sp>
          <p:nvSpPr>
            <p:cNvPr id="124960" name="Line 33"/>
            <p:cNvSpPr/>
            <p:nvPr/>
          </p:nvSpPr>
          <p:spPr>
            <a:xfrm flipH="1">
              <a:off x="3266" y="1805"/>
              <a:ext cx="228" cy="0"/>
            </a:xfrm>
            <a:prstGeom prst="line">
              <a:avLst/>
            </a:prstGeom>
            <a:ln w="9525" cap="flat" cmpd="sng">
              <a:solidFill>
                <a:schemeClr val="hlink"/>
              </a:solidFill>
              <a:prstDash val="solid"/>
              <a:round/>
              <a:headEnd type="none" w="med" len="med"/>
              <a:tailEnd type="none" w="med" len="med"/>
            </a:ln>
          </p:spPr>
        </p:sp>
      </p:grpSp>
      <p:sp>
        <p:nvSpPr>
          <p:cNvPr id="195618" name="Rectangle 34"/>
          <p:cNvSpPr/>
          <p:nvPr/>
        </p:nvSpPr>
        <p:spPr>
          <a:xfrm>
            <a:off x="952500" y="4203700"/>
            <a:ext cx="7772400" cy="1425575"/>
          </a:xfrm>
          <a:prstGeom prst="rect">
            <a:avLst/>
          </a:prstGeom>
          <a:noFill/>
          <a:ln w="9525">
            <a:noFill/>
          </a:ln>
        </p:spPr>
        <p:txBody>
          <a:bodyPr anchor="t" anchorCtr="0"/>
          <a:p>
            <a:pPr marL="342900" indent="-342900">
              <a:lnSpc>
                <a:spcPct val="90000"/>
              </a:lnSpc>
              <a:spcBef>
                <a:spcPct val="20000"/>
              </a:spcBef>
              <a:buClrTx/>
              <a:buFontTx/>
            </a:pPr>
            <a:r>
              <a:rPr lang="zh-CN" altLang="en-US" b="0" dirty="0">
                <a:latin typeface="Times New Roman" panose="02020503050405090304" pitchFamily="18" charset="0"/>
                <a:ea typeface="黑体" panose="02010609060101010101" pitchFamily="49" charset="-122"/>
              </a:rPr>
              <a:t>说明：</a:t>
            </a:r>
            <a:endParaRPr lang="zh-CN" altLang="en-US" b="0" dirty="0">
              <a:latin typeface="Times New Roman" panose="02020503050405090304" pitchFamily="18" charset="0"/>
              <a:ea typeface="黑体" panose="02010609060101010101" pitchFamily="49" charset="-122"/>
            </a:endParaRPr>
          </a:p>
          <a:p>
            <a:pPr marL="342900" indent="-342900">
              <a:lnSpc>
                <a:spcPct val="90000"/>
              </a:lnSpc>
              <a:spcBef>
                <a:spcPct val="20000"/>
              </a:spcBef>
              <a:buClrTx/>
              <a:buFontTx/>
            </a:pPr>
            <a:r>
              <a:rPr lang="zh-CN" altLang="en-US" b="0" dirty="0">
                <a:latin typeface="Times New Roman" panose="02020503050405090304" pitchFamily="18" charset="0"/>
                <a:ea typeface="黑体" panose="02010609060101010101" pitchFamily="49" charset="-122"/>
              </a:rPr>
              <a:t>（</a:t>
            </a:r>
            <a:r>
              <a:rPr lang="en-US" altLang="zh-CN" b="0" dirty="0">
                <a:latin typeface="Times New Roman" panose="02020503050405090304" pitchFamily="18" charset="0"/>
                <a:ea typeface="黑体" panose="02010609060101010101" pitchFamily="49" charset="-122"/>
              </a:rPr>
              <a:t>1</a:t>
            </a:r>
            <a:r>
              <a:rPr lang="zh-CN" altLang="en-US" b="0" dirty="0">
                <a:latin typeface="Times New Roman" panose="02020503050405090304" pitchFamily="18" charset="0"/>
                <a:ea typeface="黑体" panose="02010609060101010101" pitchFamily="49" charset="-122"/>
              </a:rPr>
              <a:t>）每次只移动一位；</a:t>
            </a:r>
            <a:endParaRPr lang="zh-CN" altLang="en-US" b="0" dirty="0">
              <a:latin typeface="Times New Roman" panose="02020503050405090304" pitchFamily="18" charset="0"/>
              <a:ea typeface="黑体" panose="02010609060101010101" pitchFamily="49" charset="-122"/>
            </a:endParaRPr>
          </a:p>
          <a:p>
            <a:pPr marL="342900" indent="-342900">
              <a:lnSpc>
                <a:spcPct val="90000"/>
              </a:lnSpc>
              <a:spcBef>
                <a:spcPct val="20000"/>
              </a:spcBef>
              <a:buClrTx/>
              <a:buFontTx/>
            </a:pPr>
            <a:r>
              <a:rPr lang="zh-CN" altLang="en-US" b="0" dirty="0">
                <a:latin typeface="Times New Roman" panose="02020503050405090304" pitchFamily="18" charset="0"/>
                <a:ea typeface="黑体" panose="02010609060101010101" pitchFamily="49" charset="-122"/>
              </a:rPr>
              <a:t>（</a:t>
            </a:r>
            <a:r>
              <a:rPr lang="en-US" altLang="zh-CN" b="0" dirty="0">
                <a:latin typeface="Times New Roman" panose="02020503050405090304" pitchFamily="18" charset="0"/>
                <a:ea typeface="黑体" panose="02010609060101010101" pitchFamily="49" charset="-122"/>
              </a:rPr>
              <a:t>2</a:t>
            </a:r>
            <a:r>
              <a:rPr lang="zh-CN" altLang="en-US" b="0" dirty="0">
                <a:latin typeface="Times New Roman" panose="02020503050405090304" pitchFamily="18" charset="0"/>
                <a:ea typeface="黑体" panose="02010609060101010101" pitchFamily="49" charset="-122"/>
              </a:rPr>
              <a:t>）在</a:t>
            </a:r>
            <a:r>
              <a:rPr lang="en-US" altLang="zh-CN" b="0" dirty="0">
                <a:latin typeface="Times New Roman" panose="02020503050405090304" pitchFamily="18" charset="0"/>
                <a:ea typeface="黑体" panose="02010609060101010101" pitchFamily="49" charset="-122"/>
              </a:rPr>
              <a:t>(A)</a:t>
            </a:r>
            <a:r>
              <a:rPr lang="zh-CN" altLang="en-US" b="0" dirty="0">
                <a:latin typeface="Times New Roman" panose="02020503050405090304" pitchFamily="18" charset="0"/>
                <a:ea typeface="黑体" panose="02010609060101010101" pitchFamily="49" charset="-122"/>
              </a:rPr>
              <a:t>为偶数</a:t>
            </a:r>
            <a:r>
              <a:rPr lang="zh-CN" altLang="en-US" b="0" dirty="0">
                <a:latin typeface="Times New Roman" panose="02020503050405090304" pitchFamily="18" charset="0"/>
                <a:ea typeface="黑体" panose="02010609060101010101" pitchFamily="49" charset="-122"/>
                <a:sym typeface="Symbol" pitchFamily="18" charset="2"/>
              </a:rPr>
              <a:t>时，右</a:t>
            </a:r>
            <a:r>
              <a:rPr lang="zh-CN" altLang="en-US" b="0" dirty="0">
                <a:latin typeface="Times New Roman" panose="02020503050405090304" pitchFamily="18" charset="0"/>
                <a:ea typeface="黑体" panose="02010609060101010101" pitchFamily="49" charset="-122"/>
              </a:rPr>
              <a:t>移一位相当于</a:t>
            </a:r>
            <a:r>
              <a:rPr lang="en-US" altLang="zh-CN" b="0" dirty="0">
                <a:latin typeface="Times New Roman" panose="02020503050405090304" pitchFamily="18" charset="0"/>
                <a:ea typeface="黑体" panose="02010609060101010101" pitchFamily="49" charset="-122"/>
              </a:rPr>
              <a:t>(A)</a:t>
            </a:r>
            <a:r>
              <a:rPr lang="zh-CN" altLang="en-US" b="0" dirty="0">
                <a:latin typeface="Times New Roman" panose="02020503050405090304" pitchFamily="18" charset="0"/>
                <a:ea typeface="黑体" panose="02010609060101010101" pitchFamily="49" charset="-122"/>
              </a:rPr>
              <a:t>除以</a:t>
            </a:r>
            <a:r>
              <a:rPr lang="en-US" altLang="zh-CN" b="0" dirty="0">
                <a:latin typeface="Times New Roman" panose="02020503050405090304" pitchFamily="18" charset="0"/>
                <a:ea typeface="黑体" panose="02010609060101010101" pitchFamily="49" charset="-122"/>
              </a:rPr>
              <a:t>2</a:t>
            </a:r>
            <a:r>
              <a:rPr lang="zh-CN" altLang="en-US" b="0" dirty="0">
                <a:latin typeface="Times New Roman" panose="02020503050405090304" pitchFamily="18" charset="0"/>
                <a:ea typeface="黑体" panose="02010609060101010101" pitchFamily="49" charset="-122"/>
              </a:rPr>
              <a:t>；</a:t>
            </a:r>
            <a:endParaRPr lang="zh-CN" altLang="en-US" b="0" dirty="0">
              <a:latin typeface="Times New Roman" panose="02020503050405090304" pitchFamily="18" charset="0"/>
              <a:ea typeface="黑体" panose="02010609060101010101" pitchFamily="49" charset="-122"/>
            </a:endParaRPr>
          </a:p>
        </p:txBody>
      </p:sp>
      <p:sp>
        <p:nvSpPr>
          <p:cNvPr id="3" name="矩形 2"/>
          <p:cNvSpPr/>
          <p:nvPr/>
        </p:nvSpPr>
        <p:spPr>
          <a:xfrm>
            <a:off x="1625600" y="2921000"/>
            <a:ext cx="360363" cy="287338"/>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sz="2000" b="0">
              <a:latin typeface="Times New Roman" panose="02020503050405090304" pitchFamily="18" charset="0"/>
              <a:ea typeface="宋体" pitchFamily="2" charset="-122"/>
            </a:endParaRPr>
          </a:p>
        </p:txBody>
      </p:sp>
      <p:sp>
        <p:nvSpPr>
          <p:cNvPr id="4" name="矩形 3"/>
          <p:cNvSpPr/>
          <p:nvPr/>
        </p:nvSpPr>
        <p:spPr>
          <a:xfrm>
            <a:off x="1985963" y="2921000"/>
            <a:ext cx="360362" cy="287338"/>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sz="2000" b="0">
              <a:latin typeface="Times New Roman" panose="02020503050405090304" pitchFamily="18" charset="0"/>
              <a:ea typeface="宋体" pitchFamily="2" charset="-122"/>
            </a:endParaRPr>
          </a:p>
        </p:txBody>
      </p:sp>
      <p:sp>
        <p:nvSpPr>
          <p:cNvPr id="5" name="矩形 4"/>
          <p:cNvSpPr/>
          <p:nvPr/>
        </p:nvSpPr>
        <p:spPr>
          <a:xfrm>
            <a:off x="2344738" y="2921000"/>
            <a:ext cx="360362" cy="287338"/>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sz="2000" b="0">
              <a:latin typeface="Times New Roman" panose="02020503050405090304" pitchFamily="18" charset="0"/>
              <a:ea typeface="宋体" pitchFamily="2" charset="-122"/>
            </a:endParaRPr>
          </a:p>
        </p:txBody>
      </p:sp>
      <p:sp>
        <p:nvSpPr>
          <p:cNvPr id="6" name="矩形 5"/>
          <p:cNvSpPr/>
          <p:nvPr/>
        </p:nvSpPr>
        <p:spPr>
          <a:xfrm>
            <a:off x="2705100" y="2921000"/>
            <a:ext cx="360363" cy="287338"/>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sz="2000" b="0">
              <a:latin typeface="Times New Roman" panose="02020503050405090304" pitchFamily="18" charset="0"/>
              <a:ea typeface="宋体" pitchFamily="2" charset="-122"/>
            </a:endParaRPr>
          </a:p>
        </p:txBody>
      </p:sp>
      <p:sp>
        <p:nvSpPr>
          <p:cNvPr id="7" name="矩形 6"/>
          <p:cNvSpPr/>
          <p:nvPr/>
        </p:nvSpPr>
        <p:spPr>
          <a:xfrm>
            <a:off x="3067050" y="2921000"/>
            <a:ext cx="360363" cy="287338"/>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sz="2000" b="0">
              <a:latin typeface="Times New Roman" panose="02020503050405090304" pitchFamily="18" charset="0"/>
              <a:ea typeface="宋体" pitchFamily="2" charset="-122"/>
            </a:endParaRPr>
          </a:p>
        </p:txBody>
      </p:sp>
      <p:sp>
        <p:nvSpPr>
          <p:cNvPr id="8" name="矩形 7"/>
          <p:cNvSpPr/>
          <p:nvPr/>
        </p:nvSpPr>
        <p:spPr>
          <a:xfrm>
            <a:off x="3427413" y="2921000"/>
            <a:ext cx="360362" cy="287338"/>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sz="2000" b="0">
              <a:latin typeface="Times New Roman" panose="02020503050405090304" pitchFamily="18" charset="0"/>
              <a:ea typeface="宋体" pitchFamily="2" charset="-122"/>
            </a:endParaRPr>
          </a:p>
        </p:txBody>
      </p:sp>
      <p:sp>
        <p:nvSpPr>
          <p:cNvPr id="9" name="矩形 8"/>
          <p:cNvSpPr/>
          <p:nvPr/>
        </p:nvSpPr>
        <p:spPr>
          <a:xfrm>
            <a:off x="3786188" y="2921000"/>
            <a:ext cx="360362" cy="287338"/>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sz="2000" b="0">
              <a:latin typeface="Times New Roman" panose="02020503050405090304" pitchFamily="18" charset="0"/>
              <a:ea typeface="宋体" pitchFamily="2" charset="-122"/>
            </a:endParaRPr>
          </a:p>
        </p:txBody>
      </p:sp>
      <p:sp>
        <p:nvSpPr>
          <p:cNvPr id="10" name="矩形 9"/>
          <p:cNvSpPr/>
          <p:nvPr/>
        </p:nvSpPr>
        <p:spPr>
          <a:xfrm>
            <a:off x="4146550" y="2921000"/>
            <a:ext cx="360363" cy="287338"/>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sz="2000" b="0">
              <a:latin typeface="Times New Roman" panose="02020503050405090304" pitchFamily="18" charset="0"/>
              <a:ea typeface="宋体" pitchFamily="2" charset="-122"/>
            </a:endParaRPr>
          </a:p>
        </p:txBody>
      </p:sp>
      <p:sp>
        <p:nvSpPr>
          <p:cNvPr id="11" name="直接连接符 10"/>
          <p:cNvSpPr/>
          <p:nvPr/>
        </p:nvSpPr>
        <p:spPr>
          <a:xfrm flipH="1">
            <a:off x="4002088" y="3065463"/>
            <a:ext cx="287337" cy="0"/>
          </a:xfrm>
          <a:prstGeom prst="line">
            <a:avLst/>
          </a:prstGeom>
          <a:ln w="9525" cap="flat" cmpd="sng">
            <a:solidFill>
              <a:schemeClr val="tx1"/>
            </a:solidFill>
            <a:prstDash val="solid"/>
            <a:round/>
            <a:headEnd type="triangle" w="sm" len="lg"/>
            <a:tailEnd type="none" w="sm" len="lg"/>
          </a:ln>
        </p:spPr>
      </p:sp>
      <p:sp>
        <p:nvSpPr>
          <p:cNvPr id="12" name="直接连接符 11"/>
          <p:cNvSpPr/>
          <p:nvPr/>
        </p:nvSpPr>
        <p:spPr>
          <a:xfrm flipH="1">
            <a:off x="3641725" y="3065463"/>
            <a:ext cx="287338" cy="0"/>
          </a:xfrm>
          <a:prstGeom prst="line">
            <a:avLst/>
          </a:prstGeom>
          <a:ln w="9525" cap="flat" cmpd="sng">
            <a:solidFill>
              <a:schemeClr val="tx1"/>
            </a:solidFill>
            <a:prstDash val="solid"/>
            <a:round/>
            <a:headEnd type="triangle" w="sm" len="lg"/>
            <a:tailEnd type="none" w="sm" len="lg"/>
          </a:ln>
        </p:spPr>
      </p:sp>
      <p:sp>
        <p:nvSpPr>
          <p:cNvPr id="13" name="直接连接符 12"/>
          <p:cNvSpPr/>
          <p:nvPr/>
        </p:nvSpPr>
        <p:spPr>
          <a:xfrm flipH="1">
            <a:off x="3281363" y="3065463"/>
            <a:ext cx="287337" cy="0"/>
          </a:xfrm>
          <a:prstGeom prst="line">
            <a:avLst/>
          </a:prstGeom>
          <a:ln w="9525" cap="flat" cmpd="sng">
            <a:solidFill>
              <a:schemeClr val="tx1"/>
            </a:solidFill>
            <a:prstDash val="solid"/>
            <a:round/>
            <a:headEnd type="triangle" w="sm" len="lg"/>
            <a:tailEnd type="none" w="sm" len="lg"/>
          </a:ln>
        </p:spPr>
      </p:sp>
      <p:sp>
        <p:nvSpPr>
          <p:cNvPr id="14" name="直接连接符 13"/>
          <p:cNvSpPr/>
          <p:nvPr/>
        </p:nvSpPr>
        <p:spPr>
          <a:xfrm flipH="1">
            <a:off x="2921000" y="3065463"/>
            <a:ext cx="287338" cy="0"/>
          </a:xfrm>
          <a:prstGeom prst="line">
            <a:avLst/>
          </a:prstGeom>
          <a:ln w="9525" cap="flat" cmpd="sng">
            <a:solidFill>
              <a:schemeClr val="tx1"/>
            </a:solidFill>
            <a:prstDash val="solid"/>
            <a:round/>
            <a:headEnd type="triangle" w="sm" len="lg"/>
            <a:tailEnd type="none" w="sm" len="lg"/>
          </a:ln>
        </p:spPr>
      </p:sp>
      <p:sp>
        <p:nvSpPr>
          <p:cNvPr id="15" name="直接连接符 14"/>
          <p:cNvSpPr/>
          <p:nvPr/>
        </p:nvSpPr>
        <p:spPr>
          <a:xfrm flipH="1">
            <a:off x="2560638" y="3065463"/>
            <a:ext cx="287337" cy="0"/>
          </a:xfrm>
          <a:prstGeom prst="line">
            <a:avLst/>
          </a:prstGeom>
          <a:ln w="9525" cap="flat" cmpd="sng">
            <a:solidFill>
              <a:schemeClr val="tx1"/>
            </a:solidFill>
            <a:prstDash val="solid"/>
            <a:round/>
            <a:headEnd type="triangle" w="sm" len="lg"/>
            <a:tailEnd type="none" w="sm" len="lg"/>
          </a:ln>
        </p:spPr>
      </p:sp>
      <p:sp>
        <p:nvSpPr>
          <p:cNvPr id="16" name="直接连接符 15"/>
          <p:cNvSpPr/>
          <p:nvPr/>
        </p:nvSpPr>
        <p:spPr>
          <a:xfrm flipH="1">
            <a:off x="2201863" y="3065463"/>
            <a:ext cx="287337" cy="0"/>
          </a:xfrm>
          <a:prstGeom prst="line">
            <a:avLst/>
          </a:prstGeom>
          <a:ln w="9525" cap="flat" cmpd="sng">
            <a:solidFill>
              <a:schemeClr val="tx1"/>
            </a:solidFill>
            <a:prstDash val="solid"/>
            <a:round/>
            <a:headEnd type="triangle" w="sm" len="lg"/>
            <a:tailEnd type="none" w="sm" len="lg"/>
          </a:ln>
        </p:spPr>
      </p:sp>
      <p:sp>
        <p:nvSpPr>
          <p:cNvPr id="17" name="直接连接符 16"/>
          <p:cNvSpPr/>
          <p:nvPr/>
        </p:nvSpPr>
        <p:spPr>
          <a:xfrm flipH="1">
            <a:off x="1841500" y="3065463"/>
            <a:ext cx="287338" cy="0"/>
          </a:xfrm>
          <a:prstGeom prst="line">
            <a:avLst/>
          </a:prstGeom>
          <a:ln w="9525" cap="flat" cmpd="sng">
            <a:solidFill>
              <a:schemeClr val="tx1"/>
            </a:solidFill>
            <a:prstDash val="solid"/>
            <a:round/>
            <a:headEnd type="triangle" w="sm" len="lg"/>
            <a:tailEnd type="none" w="sm" len="lg"/>
          </a:ln>
        </p:spPr>
      </p:sp>
      <p:sp>
        <p:nvSpPr>
          <p:cNvPr id="18" name="直接连接符 17"/>
          <p:cNvSpPr/>
          <p:nvPr/>
        </p:nvSpPr>
        <p:spPr>
          <a:xfrm flipH="1">
            <a:off x="1481138" y="3065463"/>
            <a:ext cx="287337" cy="0"/>
          </a:xfrm>
          <a:prstGeom prst="line">
            <a:avLst/>
          </a:prstGeom>
          <a:ln w="9525" cap="flat" cmpd="sng">
            <a:solidFill>
              <a:schemeClr val="tx1"/>
            </a:solidFill>
            <a:prstDash val="solid"/>
            <a:round/>
            <a:headEnd type="triangle" w="sm" len="lg"/>
            <a:tailEnd type="none" w="sm" len="lg"/>
          </a:ln>
        </p:spPr>
      </p:sp>
      <p:sp>
        <p:nvSpPr>
          <p:cNvPr id="19" name="直接连接符 18"/>
          <p:cNvSpPr/>
          <p:nvPr/>
        </p:nvSpPr>
        <p:spPr>
          <a:xfrm flipH="1">
            <a:off x="4360863" y="3065463"/>
            <a:ext cx="287337" cy="0"/>
          </a:xfrm>
          <a:prstGeom prst="line">
            <a:avLst/>
          </a:prstGeom>
          <a:ln w="9525" cap="flat" cmpd="sng">
            <a:solidFill>
              <a:schemeClr val="tx1"/>
            </a:solidFill>
            <a:prstDash val="solid"/>
            <a:round/>
            <a:headEnd type="triangle" w="sm" len="lg"/>
            <a:tailEnd type="none" w="sm" len="lg"/>
          </a:ln>
        </p:spPr>
      </p:sp>
      <p:sp>
        <p:nvSpPr>
          <p:cNvPr id="20" name="直接连接符 19"/>
          <p:cNvSpPr/>
          <p:nvPr/>
        </p:nvSpPr>
        <p:spPr>
          <a:xfrm flipH="1">
            <a:off x="1193800" y="3065463"/>
            <a:ext cx="287338" cy="0"/>
          </a:xfrm>
          <a:prstGeom prst="line">
            <a:avLst/>
          </a:prstGeom>
          <a:ln w="9525" cap="flat" cmpd="sng">
            <a:solidFill>
              <a:schemeClr val="tx1"/>
            </a:solidFill>
            <a:prstDash val="solid"/>
            <a:round/>
            <a:headEnd type="none" w="med" len="med"/>
            <a:tailEnd type="none" w="med" len="med"/>
          </a:ln>
        </p:spPr>
      </p:sp>
      <p:sp>
        <p:nvSpPr>
          <p:cNvPr id="21" name="直接连接符 20"/>
          <p:cNvSpPr/>
          <p:nvPr/>
        </p:nvSpPr>
        <p:spPr>
          <a:xfrm>
            <a:off x="1193800" y="2633663"/>
            <a:ext cx="0" cy="431800"/>
          </a:xfrm>
          <a:prstGeom prst="line">
            <a:avLst/>
          </a:prstGeom>
          <a:ln w="9525" cap="flat" cmpd="sng">
            <a:solidFill>
              <a:schemeClr val="tx1"/>
            </a:solidFill>
            <a:prstDash val="solid"/>
            <a:round/>
            <a:headEnd type="none" w="med" len="med"/>
            <a:tailEnd type="none" w="med" len="med"/>
          </a:ln>
        </p:spPr>
      </p:sp>
      <p:sp>
        <p:nvSpPr>
          <p:cNvPr id="22" name="直接连接符 21"/>
          <p:cNvSpPr/>
          <p:nvPr/>
        </p:nvSpPr>
        <p:spPr>
          <a:xfrm>
            <a:off x="1193800" y="2633663"/>
            <a:ext cx="3600450" cy="0"/>
          </a:xfrm>
          <a:prstGeom prst="line">
            <a:avLst/>
          </a:prstGeom>
          <a:ln w="9525" cap="flat" cmpd="sng">
            <a:solidFill>
              <a:schemeClr val="tx1"/>
            </a:solidFill>
            <a:prstDash val="solid"/>
            <a:round/>
            <a:headEnd type="none" w="med" len="med"/>
            <a:tailEnd type="none" w="med" len="med"/>
          </a:ln>
        </p:spPr>
      </p:sp>
      <p:sp>
        <p:nvSpPr>
          <p:cNvPr id="23" name="直接连接符 22"/>
          <p:cNvSpPr/>
          <p:nvPr/>
        </p:nvSpPr>
        <p:spPr>
          <a:xfrm>
            <a:off x="4794250" y="2633663"/>
            <a:ext cx="0" cy="431800"/>
          </a:xfrm>
          <a:prstGeom prst="line">
            <a:avLst/>
          </a:prstGeom>
          <a:ln w="9525" cap="flat" cmpd="sng">
            <a:solidFill>
              <a:schemeClr val="tx1"/>
            </a:solidFill>
            <a:prstDash val="solid"/>
            <a:round/>
            <a:headEnd type="none" w="med" len="med"/>
            <a:tailEnd type="none" w="med" len="med"/>
          </a:ln>
        </p:spPr>
      </p:sp>
      <p:sp>
        <p:nvSpPr>
          <p:cNvPr id="24" name="直接连接符 23"/>
          <p:cNvSpPr/>
          <p:nvPr/>
        </p:nvSpPr>
        <p:spPr>
          <a:xfrm flipH="1">
            <a:off x="4649788" y="3065463"/>
            <a:ext cx="144462" cy="0"/>
          </a:xfrm>
          <a:prstGeom prst="line">
            <a:avLst/>
          </a:prstGeom>
          <a:ln w="9525" cap="flat" cmpd="sng">
            <a:solidFill>
              <a:schemeClr val="tx1"/>
            </a:solidFill>
            <a:prstDash val="solid"/>
            <a:round/>
            <a:headEnd type="none" w="med" len="med"/>
            <a:tailEnd type="none" w="med" len="med"/>
          </a:ln>
        </p:spPr>
      </p:sp>
      <p:sp>
        <p:nvSpPr>
          <p:cNvPr id="25" name="文本框 24"/>
          <p:cNvSpPr txBox="1"/>
          <p:nvPr/>
        </p:nvSpPr>
        <p:spPr>
          <a:xfrm>
            <a:off x="4073525" y="3136900"/>
            <a:ext cx="576263" cy="398463"/>
          </a:xfrm>
          <a:prstGeom prst="rect">
            <a:avLst/>
          </a:prstGeom>
          <a:noFill/>
          <a:ln w="9525">
            <a:noFill/>
          </a:ln>
        </p:spPr>
        <p:txBody>
          <a:bodyPr anchor="t" anchorCtr="0">
            <a:spAutoFit/>
          </a:bodyPr>
          <a:p>
            <a:pPr>
              <a:spcBef>
                <a:spcPct val="50000"/>
              </a:spcBef>
            </a:pPr>
            <a:r>
              <a:rPr lang="en-US" altLang="zh-CN" sz="2000" b="0">
                <a:latin typeface="Times New Roman" panose="02020503050405090304" pitchFamily="18" charset="0"/>
                <a:ea typeface="创艺简黑体" pitchFamily="2" charset="-122"/>
              </a:rPr>
              <a:t>A.0</a:t>
            </a:r>
            <a:endParaRPr lang="en-US" altLang="zh-CN" sz="2000" b="0">
              <a:latin typeface="Times New Roman" panose="02020503050405090304" pitchFamily="18" charset="0"/>
              <a:ea typeface="创艺简黑体" pitchFamily="2" charset="-122"/>
            </a:endParaRPr>
          </a:p>
        </p:txBody>
      </p:sp>
      <p:sp>
        <p:nvSpPr>
          <p:cNvPr id="26" name="文本框 25"/>
          <p:cNvSpPr txBox="1"/>
          <p:nvPr/>
        </p:nvSpPr>
        <p:spPr>
          <a:xfrm>
            <a:off x="1552575" y="3136900"/>
            <a:ext cx="576263" cy="398463"/>
          </a:xfrm>
          <a:prstGeom prst="rect">
            <a:avLst/>
          </a:prstGeom>
          <a:noFill/>
          <a:ln w="9525">
            <a:noFill/>
          </a:ln>
        </p:spPr>
        <p:txBody>
          <a:bodyPr anchor="t" anchorCtr="0">
            <a:spAutoFit/>
          </a:bodyPr>
          <a:p>
            <a:pPr>
              <a:spcBef>
                <a:spcPct val="50000"/>
              </a:spcBef>
            </a:pPr>
            <a:r>
              <a:rPr lang="en-US" altLang="zh-CN" sz="2000" b="0">
                <a:latin typeface="Times New Roman" panose="02020503050405090304" pitchFamily="18" charset="0"/>
                <a:ea typeface="创艺简黑体" pitchFamily="2" charset="-122"/>
              </a:rPr>
              <a:t>A.7</a:t>
            </a:r>
            <a:endParaRPr lang="en-US" altLang="zh-CN" sz="2000" b="0">
              <a:latin typeface="Times New Roman" panose="02020503050405090304" pitchFamily="18" charset="0"/>
              <a:ea typeface="创艺简黑体" pitchFamily="2" charset="-122"/>
            </a:endParaRPr>
          </a:p>
        </p:txBody>
      </p:sp>
      <p:sp>
        <p:nvSpPr>
          <p:cNvPr id="27" name="椭圆 26"/>
          <p:cNvSpPr>
            <a:spLocks noChangeAspect="1"/>
          </p:cNvSpPr>
          <p:nvPr/>
        </p:nvSpPr>
        <p:spPr>
          <a:xfrm>
            <a:off x="1449388" y="3028950"/>
            <a:ext cx="68263" cy="65088"/>
          </a:xfrm>
          <a:prstGeom prst="ellipse">
            <a:avLst/>
          </a:prstGeom>
          <a:solidFill>
            <a:srgbClr val="FF0000"/>
          </a:solidFill>
          <a:ln w="9525" cap="flat" cmpd="sng">
            <a:solidFill>
              <a:srgbClr val="FF3300"/>
            </a:solidFill>
            <a:prstDash val="solid"/>
            <a:headEnd type="none" w="med" len="med"/>
            <a:tailEnd type="none" w="med" len="med"/>
          </a:ln>
        </p:spPr>
        <p:txBody>
          <a:bodyPr wrap="none" anchor="ctr"/>
          <a:p>
            <a:pPr algn="ctr" fontAlgn="base"/>
            <a:endParaRPr lang="zh-CN" altLang="en-US" sz="2000" b="0" strike="noStrike" noProof="1" dirty="0">
              <a:solidFill>
                <a:srgbClr val="FF0000"/>
              </a:solidFill>
              <a:effectLst>
                <a:outerShdw blurRad="38100" dist="38100" dir="2700000">
                  <a:srgbClr val="C0C0C0"/>
                </a:outerShdw>
              </a:effectLst>
              <a:latin typeface="Times New Roman" panose="02020503050405090304" pitchFamily="18" charset="0"/>
              <a:ea typeface="创艺简黑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childTnLst>
                                </p:cTn>
                              </p:par>
                              <p:par>
                                <p:cTn id="53" presetID="1" presetClass="entr" presetSubtype="0" fill="hold" grpId="1" nodeType="with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childTnLst>
                          </p:cTn>
                        </p:par>
                        <p:par>
                          <p:cTn id="55" fill="hold">
                            <p:stCondLst>
                              <p:cond delay="0"/>
                            </p:stCondLst>
                            <p:childTnLst>
                              <p:par>
                                <p:cTn id="56" presetID="0" presetClass="path" presetSubtype="0" accel="50000" decel="50000" fill="hold" grpId="0" nodeType="afterEffect">
                                  <p:stCondLst>
                                    <p:cond delay="0"/>
                                  </p:stCondLst>
                                  <p:childTnLst>
                                    <p:animMotion origin="layout" path="M -0.00017 -0.00069 L -0.03472 -0.00069 L -0.03472 -0.06505 L 0.36024 -0.06505 L 0.36024 -0.00069 L 0.34115 -0.00069 " pathEditMode="relative" ptsTypes="AAAAAA">
                                      <p:cBhvr>
                                        <p:cTn id="57" dur="2000" spd="-100000" fill="hold"/>
                                        <p:tgtEl>
                                          <p:spTgt spid="27"/>
                                        </p:tgtEl>
                                        <p:attrNameLst>
                                          <p:attrName>ppt_x</p:attrName>
                                          <p:attrName>ppt_y</p:attrName>
                                        </p:attrNameLst>
                                      </p:cBhvr>
                                    </p:animMotion>
                                  </p:childTnLst>
                                </p:cTn>
                              </p:par>
                            </p:childTnLst>
                          </p:cTn>
                        </p:par>
                        <p:par>
                          <p:cTn id="58" fill="hold">
                            <p:stCondLst>
                              <p:cond delay="2000"/>
                            </p:stCondLst>
                            <p:childTnLst>
                              <p:par>
                                <p:cTn id="59" presetID="12" presetClass="entr" presetSubtype="8" fill="hold" nodeType="after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slide(fromLeft)">
                                      <p:cBhvr>
                                        <p:cTn id="61" dur="500"/>
                                        <p:tgtEl>
                                          <p:spTgt spid="18"/>
                                        </p:tgtEl>
                                      </p:cBhvr>
                                    </p:animEffect>
                                  </p:childTnLst>
                                </p:cTn>
                              </p:par>
                            </p:childTnLst>
                          </p:cTn>
                        </p:par>
                        <p:par>
                          <p:cTn id="62" fill="hold">
                            <p:stCondLst>
                              <p:cond delay="2500"/>
                            </p:stCondLst>
                            <p:childTnLst>
                              <p:par>
                                <p:cTn id="63" presetID="12" presetClass="entr" presetSubtype="8" fill="hold" nodeType="after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slide(fromLeft)">
                                      <p:cBhvr>
                                        <p:cTn id="65" dur="500"/>
                                        <p:tgtEl>
                                          <p:spTgt spid="17"/>
                                        </p:tgtEl>
                                      </p:cBhvr>
                                    </p:animEffect>
                                  </p:childTnLst>
                                </p:cTn>
                              </p:par>
                            </p:childTnLst>
                          </p:cTn>
                        </p:par>
                        <p:par>
                          <p:cTn id="66" fill="hold">
                            <p:stCondLst>
                              <p:cond delay="3000"/>
                            </p:stCondLst>
                            <p:childTnLst>
                              <p:par>
                                <p:cTn id="67" presetID="12" presetClass="entr" presetSubtype="8" fill="hold" nodeType="after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slide(fromLeft)">
                                      <p:cBhvr>
                                        <p:cTn id="69" dur="500"/>
                                        <p:tgtEl>
                                          <p:spTgt spid="16"/>
                                        </p:tgtEl>
                                      </p:cBhvr>
                                    </p:animEffect>
                                  </p:childTnLst>
                                </p:cTn>
                              </p:par>
                            </p:childTnLst>
                          </p:cTn>
                        </p:par>
                        <p:par>
                          <p:cTn id="70" fill="hold">
                            <p:stCondLst>
                              <p:cond delay="3500"/>
                            </p:stCondLst>
                            <p:childTnLst>
                              <p:par>
                                <p:cTn id="71" presetID="12" presetClass="entr" presetSubtype="8" fill="hold" nodeType="afterEffect">
                                  <p:stCondLst>
                                    <p:cond delay="0"/>
                                  </p:stCondLst>
                                  <p:childTnLst>
                                    <p:set>
                                      <p:cBhvr>
                                        <p:cTn id="72" dur="1" fill="hold">
                                          <p:stCondLst>
                                            <p:cond delay="0"/>
                                          </p:stCondLst>
                                        </p:cTn>
                                        <p:tgtEl>
                                          <p:spTgt spid="15"/>
                                        </p:tgtEl>
                                        <p:attrNameLst>
                                          <p:attrName>style.visibility</p:attrName>
                                        </p:attrNameLst>
                                      </p:cBhvr>
                                      <p:to>
                                        <p:strVal val="visible"/>
                                      </p:to>
                                    </p:set>
                                    <p:animEffect transition="in" filter="slide(fromLeft)">
                                      <p:cBhvr>
                                        <p:cTn id="73" dur="500"/>
                                        <p:tgtEl>
                                          <p:spTgt spid="15"/>
                                        </p:tgtEl>
                                      </p:cBhvr>
                                    </p:animEffect>
                                  </p:childTnLst>
                                </p:cTn>
                              </p:par>
                            </p:childTnLst>
                          </p:cTn>
                        </p:par>
                        <p:par>
                          <p:cTn id="74" fill="hold">
                            <p:stCondLst>
                              <p:cond delay="4000"/>
                            </p:stCondLst>
                            <p:childTnLst>
                              <p:par>
                                <p:cTn id="75" presetID="12" presetClass="entr" presetSubtype="8" fill="hold" nodeType="afterEffect">
                                  <p:stCondLst>
                                    <p:cond delay="0"/>
                                  </p:stCondLst>
                                  <p:childTnLst>
                                    <p:set>
                                      <p:cBhvr>
                                        <p:cTn id="76" dur="1" fill="hold">
                                          <p:stCondLst>
                                            <p:cond delay="0"/>
                                          </p:stCondLst>
                                        </p:cTn>
                                        <p:tgtEl>
                                          <p:spTgt spid="14"/>
                                        </p:tgtEl>
                                        <p:attrNameLst>
                                          <p:attrName>style.visibility</p:attrName>
                                        </p:attrNameLst>
                                      </p:cBhvr>
                                      <p:to>
                                        <p:strVal val="visible"/>
                                      </p:to>
                                    </p:set>
                                    <p:animEffect transition="in" filter="slide(fromLeft)">
                                      <p:cBhvr>
                                        <p:cTn id="77" dur="500"/>
                                        <p:tgtEl>
                                          <p:spTgt spid="14"/>
                                        </p:tgtEl>
                                      </p:cBhvr>
                                    </p:animEffect>
                                  </p:childTnLst>
                                </p:cTn>
                              </p:par>
                            </p:childTnLst>
                          </p:cTn>
                        </p:par>
                        <p:par>
                          <p:cTn id="78" fill="hold">
                            <p:stCondLst>
                              <p:cond delay="4500"/>
                            </p:stCondLst>
                            <p:childTnLst>
                              <p:par>
                                <p:cTn id="79" presetID="12" presetClass="entr" presetSubtype="8" fill="hold" nodeType="afterEffect">
                                  <p:stCondLst>
                                    <p:cond delay="0"/>
                                  </p:stCondLst>
                                  <p:childTnLst>
                                    <p:set>
                                      <p:cBhvr>
                                        <p:cTn id="80" dur="1" fill="hold">
                                          <p:stCondLst>
                                            <p:cond delay="0"/>
                                          </p:stCondLst>
                                        </p:cTn>
                                        <p:tgtEl>
                                          <p:spTgt spid="13"/>
                                        </p:tgtEl>
                                        <p:attrNameLst>
                                          <p:attrName>style.visibility</p:attrName>
                                        </p:attrNameLst>
                                      </p:cBhvr>
                                      <p:to>
                                        <p:strVal val="visible"/>
                                      </p:to>
                                    </p:set>
                                    <p:animEffect transition="in" filter="slide(fromLeft)">
                                      <p:cBhvr>
                                        <p:cTn id="81" dur="500"/>
                                        <p:tgtEl>
                                          <p:spTgt spid="13"/>
                                        </p:tgtEl>
                                      </p:cBhvr>
                                    </p:animEffect>
                                  </p:childTnLst>
                                </p:cTn>
                              </p:par>
                            </p:childTnLst>
                          </p:cTn>
                        </p:par>
                        <p:par>
                          <p:cTn id="82" fill="hold">
                            <p:stCondLst>
                              <p:cond delay="5000"/>
                            </p:stCondLst>
                            <p:childTnLst>
                              <p:par>
                                <p:cTn id="83" presetID="12" presetClass="entr" presetSubtype="8" fill="hold" nodeType="afterEffect">
                                  <p:stCondLst>
                                    <p:cond delay="0"/>
                                  </p:stCondLst>
                                  <p:childTnLst>
                                    <p:set>
                                      <p:cBhvr>
                                        <p:cTn id="84" dur="1" fill="hold">
                                          <p:stCondLst>
                                            <p:cond delay="0"/>
                                          </p:stCondLst>
                                        </p:cTn>
                                        <p:tgtEl>
                                          <p:spTgt spid="12"/>
                                        </p:tgtEl>
                                        <p:attrNameLst>
                                          <p:attrName>style.visibility</p:attrName>
                                        </p:attrNameLst>
                                      </p:cBhvr>
                                      <p:to>
                                        <p:strVal val="visible"/>
                                      </p:to>
                                    </p:set>
                                    <p:animEffect transition="in" filter="slide(fromLeft)">
                                      <p:cBhvr>
                                        <p:cTn id="85" dur="500"/>
                                        <p:tgtEl>
                                          <p:spTgt spid="12"/>
                                        </p:tgtEl>
                                      </p:cBhvr>
                                    </p:animEffect>
                                  </p:childTnLst>
                                </p:cTn>
                              </p:par>
                            </p:childTnLst>
                          </p:cTn>
                        </p:par>
                        <p:par>
                          <p:cTn id="86" fill="hold">
                            <p:stCondLst>
                              <p:cond delay="5500"/>
                            </p:stCondLst>
                            <p:childTnLst>
                              <p:par>
                                <p:cTn id="87" presetID="12" presetClass="entr" presetSubtype="8" fill="hold" nodeType="afterEffect">
                                  <p:stCondLst>
                                    <p:cond delay="0"/>
                                  </p:stCondLst>
                                  <p:childTnLst>
                                    <p:set>
                                      <p:cBhvr>
                                        <p:cTn id="88" dur="1" fill="hold">
                                          <p:stCondLst>
                                            <p:cond delay="0"/>
                                          </p:stCondLst>
                                        </p:cTn>
                                        <p:tgtEl>
                                          <p:spTgt spid="11"/>
                                        </p:tgtEl>
                                        <p:attrNameLst>
                                          <p:attrName>style.visibility</p:attrName>
                                        </p:attrNameLst>
                                      </p:cBhvr>
                                      <p:to>
                                        <p:strVal val="visible"/>
                                      </p:to>
                                    </p:set>
                                    <p:animEffect transition="in" filter="slide(fromLeft)">
                                      <p:cBhvr>
                                        <p:cTn id="89" dur="500"/>
                                        <p:tgtEl>
                                          <p:spTgt spid="11"/>
                                        </p:tgtEl>
                                      </p:cBhvr>
                                    </p:animEffect>
                                  </p:childTnLst>
                                </p:cTn>
                              </p:par>
                            </p:childTnLst>
                          </p:cTn>
                        </p:par>
                      </p:childTnLst>
                    </p:cTn>
                  </p:par>
                  <p:par>
                    <p:cTn id="90" fill="hold">
                      <p:stCondLst>
                        <p:cond delay="indefinite"/>
                      </p:stCondLst>
                      <p:childTnLst>
                        <p:par>
                          <p:cTn id="91" fill="hold">
                            <p:stCondLst>
                              <p:cond delay="0"/>
                            </p:stCondLst>
                            <p:childTnLst>
                              <p:par>
                                <p:cTn id="92" presetID="2" presetClass="entr" presetSubtype="4" fill="hold" nodeType="clickEffect">
                                  <p:stCondLst>
                                    <p:cond delay="0"/>
                                  </p:stCondLst>
                                  <p:childTnLst>
                                    <p:set>
                                      <p:cBhvr>
                                        <p:cTn id="93" dur="1" fill="hold">
                                          <p:stCondLst>
                                            <p:cond delay="0"/>
                                          </p:stCondLst>
                                        </p:cTn>
                                        <p:tgtEl>
                                          <p:spTgt spid="2"/>
                                        </p:tgtEl>
                                        <p:attrNameLst>
                                          <p:attrName>style.visibility</p:attrName>
                                        </p:attrNameLst>
                                      </p:cBhvr>
                                      <p:to>
                                        <p:strVal val="visible"/>
                                      </p:to>
                                    </p:set>
                                    <p:anim calcmode="lin" valueType="num">
                                      <p:cBhvr additive="base">
                                        <p:cTn id="94" dur="500" fill="hold"/>
                                        <p:tgtEl>
                                          <p:spTgt spid="2"/>
                                        </p:tgtEl>
                                        <p:attrNameLst>
                                          <p:attrName>ppt_x</p:attrName>
                                        </p:attrNameLst>
                                      </p:cBhvr>
                                      <p:tavLst>
                                        <p:tav tm="0">
                                          <p:val>
                                            <p:strVal val="#ppt_x"/>
                                          </p:val>
                                        </p:tav>
                                        <p:tav tm="100000">
                                          <p:val>
                                            <p:strVal val="#ppt_x"/>
                                          </p:val>
                                        </p:tav>
                                      </p:tavLst>
                                    </p:anim>
                                    <p:anim calcmode="lin" valueType="num">
                                      <p:cBhvr additive="base">
                                        <p:cTn id="9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2" presetClass="entr" presetSubtype="4" fill="hold" grpId="0" nodeType="clickEffect">
                                  <p:stCondLst>
                                    <p:cond delay="0"/>
                                  </p:stCondLst>
                                  <p:childTnLst>
                                    <p:set>
                                      <p:cBhvr>
                                        <p:cTn id="99" dur="1" fill="hold">
                                          <p:stCondLst>
                                            <p:cond delay="0"/>
                                          </p:stCondLst>
                                        </p:cTn>
                                        <p:tgtEl>
                                          <p:spTgt spid="195618"/>
                                        </p:tgtEl>
                                        <p:attrNameLst>
                                          <p:attrName>style.visibility</p:attrName>
                                        </p:attrNameLst>
                                      </p:cBhvr>
                                      <p:to>
                                        <p:strVal val="visible"/>
                                      </p:to>
                                    </p:set>
                                    <p:anim calcmode="lin" valueType="num">
                                      <p:cBhvr additive="base">
                                        <p:cTn id="100" dur="500" fill="hold"/>
                                        <p:tgtEl>
                                          <p:spTgt spid="195618"/>
                                        </p:tgtEl>
                                        <p:attrNameLst>
                                          <p:attrName>ppt_x</p:attrName>
                                        </p:attrNameLst>
                                      </p:cBhvr>
                                      <p:tavLst>
                                        <p:tav tm="0">
                                          <p:val>
                                            <p:strVal val="#ppt_x"/>
                                          </p:val>
                                        </p:tav>
                                        <p:tav tm="100000">
                                          <p:val>
                                            <p:strVal val="#ppt_x"/>
                                          </p:val>
                                        </p:tav>
                                      </p:tavLst>
                                    </p:anim>
                                    <p:anim calcmode="lin" valueType="num">
                                      <p:cBhvr additive="base">
                                        <p:cTn id="101" dur="500" fill="hold"/>
                                        <p:tgtEl>
                                          <p:spTgt spid="1956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bldLvl="0" animBg="1"/>
      <p:bldP spid="27" grpId="1" bldLvl="0" animBg="1"/>
      <p:bldP spid="195618"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3" name="Rectangle 2"/>
          <p:cNvSpPr>
            <a:spLocks noGrp="1"/>
          </p:cNvSpPr>
          <p:nvPr>
            <p:ph type="title"/>
          </p:nvPr>
        </p:nvSpPr>
        <p:spPr>
          <a:xfrm>
            <a:off x="955675" y="404813"/>
            <a:ext cx="8153400" cy="571500"/>
          </a:xfrm>
        </p:spPr>
        <p:txBody>
          <a:bodyPr vert="horz" wrap="square" lIns="91440" tIns="45720" rIns="91440" bIns="45720" anchor="ctr" anchorCtr="0"/>
          <a:p>
            <a:pPr eaLnBrk="1" hangingPunct="1"/>
            <a:r>
              <a:rPr lang="en-US" altLang="zh-CN" dirty="0">
                <a:solidFill>
                  <a:schemeClr val="tx1"/>
                </a:solidFill>
                <a:latin typeface="华文新魏" pitchFamily="2" charset="-122"/>
                <a:ea typeface="华文新魏" pitchFamily="2" charset="-122"/>
              </a:rPr>
              <a:t>3.3.4 </a:t>
            </a:r>
            <a:r>
              <a:rPr lang="zh-CN" altLang="en-US" dirty="0">
                <a:solidFill>
                  <a:schemeClr val="tx1"/>
                </a:solidFill>
                <a:latin typeface="华文新魏" pitchFamily="2" charset="-122"/>
                <a:ea typeface="华文新魏" pitchFamily="2" charset="-122"/>
              </a:rPr>
              <a:t>逻辑运算指令</a:t>
            </a:r>
            <a:r>
              <a:rPr lang="en-US" altLang="zh-CN" dirty="0">
                <a:latin typeface="Arial" panose="020B0604020202090204" pitchFamily="34" charset="0"/>
                <a:ea typeface="华文新魏" pitchFamily="2" charset="-122"/>
              </a:rPr>
              <a:t>——</a:t>
            </a:r>
            <a:r>
              <a:rPr lang="zh-CN" altLang="en-US" dirty="0">
                <a:latin typeface="华文新魏" pitchFamily="2" charset="-122"/>
                <a:ea typeface="华文新魏" pitchFamily="2" charset="-122"/>
              </a:rPr>
              <a:t>逻辑操作指令</a:t>
            </a:r>
            <a:r>
              <a:rPr lang="zh-CN" altLang="en-US" dirty="0"/>
              <a:t> </a:t>
            </a:r>
            <a:endParaRPr lang="zh-CN" altLang="en-US" dirty="0"/>
          </a:p>
        </p:txBody>
      </p:sp>
      <p:sp>
        <p:nvSpPr>
          <p:cNvPr id="125954" name="Rectangle 3"/>
          <p:cNvSpPr>
            <a:spLocks noGrp="1"/>
          </p:cNvSpPr>
          <p:nvPr>
            <p:ph idx="1"/>
          </p:nvPr>
        </p:nvSpPr>
        <p:spPr>
          <a:xfrm>
            <a:off x="836613" y="1042988"/>
            <a:ext cx="7696200" cy="1165225"/>
          </a:xfrm>
        </p:spPr>
        <p:txBody>
          <a:bodyPr vert="horz" wrap="square" lIns="91440" tIns="45720" rIns="91440" bIns="45720" anchor="t" anchorCtr="0"/>
          <a:p>
            <a:pPr eaLnBrk="1" hangingPunct="1">
              <a:buNone/>
            </a:pPr>
            <a:r>
              <a:rPr lang="zh-CN" altLang="en-US" dirty="0"/>
              <a:t>（</a:t>
            </a:r>
            <a:r>
              <a:rPr lang="en-US" altLang="zh-CN" dirty="0"/>
              <a:t>4</a:t>
            </a:r>
            <a:r>
              <a:rPr lang="zh-CN" altLang="en-US" dirty="0"/>
              <a:t>）带进位位循环右移</a:t>
            </a:r>
            <a:endParaRPr lang="zh-CN" altLang="en-US" dirty="0"/>
          </a:p>
          <a:p>
            <a:pPr eaLnBrk="1" hangingPunct="1">
              <a:buNone/>
            </a:pPr>
            <a:r>
              <a:rPr lang="zh-CN" altLang="en-US" b="1" dirty="0"/>
              <a:t>          </a:t>
            </a:r>
            <a:r>
              <a:rPr lang="en-US" altLang="zh-CN" dirty="0"/>
              <a:t>RRC    A</a:t>
            </a:r>
            <a:r>
              <a:rPr lang="zh-CN" altLang="en-US" dirty="0"/>
              <a:t>；</a:t>
            </a:r>
            <a:endParaRPr lang="zh-CN" altLang="en-US" dirty="0"/>
          </a:p>
          <a:p>
            <a:pPr eaLnBrk="1" hangingPunct="1">
              <a:buNone/>
            </a:pPr>
            <a:endParaRPr lang="zh-CN" altLang="en-US" dirty="0"/>
          </a:p>
        </p:txBody>
      </p:sp>
      <p:sp>
        <p:nvSpPr>
          <p:cNvPr id="196612" name="Rectangle 4"/>
          <p:cNvSpPr/>
          <p:nvPr/>
        </p:nvSpPr>
        <p:spPr>
          <a:xfrm>
            <a:off x="1100138" y="5486400"/>
            <a:ext cx="7772400" cy="533400"/>
          </a:xfrm>
          <a:prstGeom prst="rect">
            <a:avLst/>
          </a:prstGeom>
          <a:noFill/>
          <a:ln w="9525">
            <a:noFill/>
          </a:ln>
        </p:spPr>
        <p:txBody>
          <a:bodyPr anchor="t" anchorCtr="0"/>
          <a:p>
            <a:pPr marL="342900" indent="-342900" eaLnBrk="0" hangingPunct="0">
              <a:buClrTx/>
              <a:buFontTx/>
            </a:pPr>
            <a:r>
              <a:rPr lang="zh-CN" altLang="en-US" b="0" dirty="0">
                <a:latin typeface="宋体" pitchFamily="2" charset="-122"/>
                <a:ea typeface="宋体" pitchFamily="2" charset="-122"/>
              </a:rPr>
              <a:t>例：多字节二进制数除以</a:t>
            </a:r>
            <a:r>
              <a:rPr lang="en-US" altLang="zh-CN" b="0" dirty="0">
                <a:latin typeface="宋体" pitchFamily="2" charset="-122"/>
                <a:ea typeface="宋体" pitchFamily="2" charset="-122"/>
              </a:rPr>
              <a:t>2</a:t>
            </a:r>
            <a:endParaRPr lang="en-US" altLang="zh-CN" b="0" dirty="0">
              <a:latin typeface="宋体" pitchFamily="2" charset="-122"/>
              <a:ea typeface="宋体" pitchFamily="2" charset="-122"/>
            </a:endParaRPr>
          </a:p>
        </p:txBody>
      </p:sp>
      <p:grpSp>
        <p:nvGrpSpPr>
          <p:cNvPr id="2" name="Group 5"/>
          <p:cNvGrpSpPr/>
          <p:nvPr/>
        </p:nvGrpSpPr>
        <p:grpSpPr>
          <a:xfrm>
            <a:off x="5353050" y="2262188"/>
            <a:ext cx="2968625" cy="1722437"/>
            <a:chOff x="1634" y="1555"/>
            <a:chExt cx="1870" cy="1085"/>
          </a:xfrm>
        </p:grpSpPr>
        <p:sp>
          <p:nvSpPr>
            <p:cNvPr id="125957" name="Rectangle 6"/>
            <p:cNvSpPr/>
            <p:nvPr/>
          </p:nvSpPr>
          <p:spPr>
            <a:xfrm flipH="1">
              <a:off x="1819" y="17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25958" name="Rectangle 7"/>
            <p:cNvSpPr/>
            <p:nvPr/>
          </p:nvSpPr>
          <p:spPr>
            <a:xfrm flipH="1">
              <a:off x="2002" y="17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25959" name="Rectangle 8"/>
            <p:cNvSpPr/>
            <p:nvPr/>
          </p:nvSpPr>
          <p:spPr>
            <a:xfrm flipH="1">
              <a:off x="2185" y="17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25960" name="Rectangle 9"/>
            <p:cNvSpPr/>
            <p:nvPr/>
          </p:nvSpPr>
          <p:spPr>
            <a:xfrm flipH="1">
              <a:off x="2368" y="17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25961" name="Rectangle 10"/>
            <p:cNvSpPr/>
            <p:nvPr/>
          </p:nvSpPr>
          <p:spPr>
            <a:xfrm flipH="1">
              <a:off x="2551" y="17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25962" name="Rectangle 11"/>
            <p:cNvSpPr/>
            <p:nvPr/>
          </p:nvSpPr>
          <p:spPr>
            <a:xfrm flipH="1">
              <a:off x="2734" y="17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25963" name="Rectangle 12"/>
            <p:cNvSpPr/>
            <p:nvPr/>
          </p:nvSpPr>
          <p:spPr>
            <a:xfrm flipH="1">
              <a:off x="2917" y="17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25964" name="Rectangle 13"/>
            <p:cNvSpPr/>
            <p:nvPr/>
          </p:nvSpPr>
          <p:spPr>
            <a:xfrm flipH="1">
              <a:off x="3100" y="1747"/>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grpSp>
          <p:nvGrpSpPr>
            <p:cNvPr id="125965" name="Group 14"/>
            <p:cNvGrpSpPr/>
            <p:nvPr/>
          </p:nvGrpSpPr>
          <p:grpSpPr>
            <a:xfrm>
              <a:off x="1776" y="1555"/>
              <a:ext cx="1549" cy="192"/>
              <a:chOff x="1514" y="1855"/>
              <a:chExt cx="1549" cy="192"/>
            </a:xfrm>
          </p:grpSpPr>
          <p:sp>
            <p:nvSpPr>
              <p:cNvPr id="125966" name="Text Box 15"/>
              <p:cNvSpPr txBox="1"/>
              <p:nvPr/>
            </p:nvSpPr>
            <p:spPr>
              <a:xfrm>
                <a:off x="2810"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D0</a:t>
                </a:r>
                <a:endParaRPr lang="en-US" altLang="zh-CN" sz="1400" b="0" dirty="0">
                  <a:latin typeface="Times New Roman" panose="02020503050405090304" pitchFamily="18" charset="0"/>
                  <a:ea typeface="宋体" pitchFamily="2" charset="-122"/>
                </a:endParaRPr>
              </a:p>
            </p:txBody>
          </p:sp>
          <p:sp>
            <p:nvSpPr>
              <p:cNvPr id="125967" name="Text Box 16"/>
              <p:cNvSpPr txBox="1"/>
              <p:nvPr/>
            </p:nvSpPr>
            <p:spPr>
              <a:xfrm>
                <a:off x="2626"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D1</a:t>
                </a:r>
                <a:endParaRPr lang="en-US" altLang="zh-CN" sz="1400" b="0" dirty="0">
                  <a:latin typeface="Times New Roman" panose="02020503050405090304" pitchFamily="18" charset="0"/>
                  <a:ea typeface="宋体" pitchFamily="2" charset="-122"/>
                </a:endParaRPr>
              </a:p>
            </p:txBody>
          </p:sp>
          <p:sp>
            <p:nvSpPr>
              <p:cNvPr id="125968" name="Text Box 17"/>
              <p:cNvSpPr txBox="1"/>
              <p:nvPr/>
            </p:nvSpPr>
            <p:spPr>
              <a:xfrm>
                <a:off x="2434"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D2</a:t>
                </a:r>
                <a:endParaRPr lang="en-US" altLang="zh-CN" sz="1400" b="0" dirty="0">
                  <a:latin typeface="Times New Roman" panose="02020503050405090304" pitchFamily="18" charset="0"/>
                  <a:ea typeface="宋体" pitchFamily="2" charset="-122"/>
                </a:endParaRPr>
              </a:p>
            </p:txBody>
          </p:sp>
          <p:sp>
            <p:nvSpPr>
              <p:cNvPr id="125969" name="Text Box 18"/>
              <p:cNvSpPr txBox="1"/>
              <p:nvPr/>
            </p:nvSpPr>
            <p:spPr>
              <a:xfrm>
                <a:off x="2250"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D3</a:t>
                </a:r>
                <a:endParaRPr lang="en-US" altLang="zh-CN" sz="1400" b="0" dirty="0">
                  <a:latin typeface="Times New Roman" panose="02020503050405090304" pitchFamily="18" charset="0"/>
                  <a:ea typeface="宋体" pitchFamily="2" charset="-122"/>
                </a:endParaRPr>
              </a:p>
            </p:txBody>
          </p:sp>
          <p:sp>
            <p:nvSpPr>
              <p:cNvPr id="125970" name="Text Box 19"/>
              <p:cNvSpPr txBox="1"/>
              <p:nvPr/>
            </p:nvSpPr>
            <p:spPr>
              <a:xfrm>
                <a:off x="2074"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D4</a:t>
                </a:r>
                <a:endParaRPr lang="en-US" altLang="zh-CN" sz="1400" b="0" dirty="0">
                  <a:latin typeface="Times New Roman" panose="02020503050405090304" pitchFamily="18" charset="0"/>
                  <a:ea typeface="宋体" pitchFamily="2" charset="-122"/>
                </a:endParaRPr>
              </a:p>
            </p:txBody>
          </p:sp>
          <p:sp>
            <p:nvSpPr>
              <p:cNvPr id="125971" name="Text Box 20"/>
              <p:cNvSpPr txBox="1"/>
              <p:nvPr/>
            </p:nvSpPr>
            <p:spPr>
              <a:xfrm>
                <a:off x="1890"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D5</a:t>
                </a:r>
                <a:endParaRPr lang="en-US" altLang="zh-CN" sz="1400" b="0" dirty="0">
                  <a:latin typeface="Times New Roman" panose="02020503050405090304" pitchFamily="18" charset="0"/>
                  <a:ea typeface="宋体" pitchFamily="2" charset="-122"/>
                </a:endParaRPr>
              </a:p>
            </p:txBody>
          </p:sp>
          <p:sp>
            <p:nvSpPr>
              <p:cNvPr id="125972" name="Text Box 21"/>
              <p:cNvSpPr txBox="1"/>
              <p:nvPr/>
            </p:nvSpPr>
            <p:spPr>
              <a:xfrm>
                <a:off x="1698"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D6</a:t>
                </a:r>
                <a:endParaRPr lang="en-US" altLang="zh-CN" sz="1400" b="0" dirty="0">
                  <a:latin typeface="Times New Roman" panose="02020503050405090304" pitchFamily="18" charset="0"/>
                  <a:ea typeface="宋体" pitchFamily="2" charset="-122"/>
                </a:endParaRPr>
              </a:p>
            </p:txBody>
          </p:sp>
          <p:sp>
            <p:nvSpPr>
              <p:cNvPr id="125973" name="Text Box 22"/>
              <p:cNvSpPr txBox="1"/>
              <p:nvPr/>
            </p:nvSpPr>
            <p:spPr>
              <a:xfrm>
                <a:off x="1514" y="1855"/>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D7</a:t>
                </a:r>
                <a:endParaRPr lang="en-US" altLang="zh-CN" sz="1400" b="0" dirty="0">
                  <a:latin typeface="Times New Roman" panose="02020503050405090304" pitchFamily="18" charset="0"/>
                  <a:ea typeface="宋体" pitchFamily="2" charset="-122"/>
                </a:endParaRPr>
              </a:p>
            </p:txBody>
          </p:sp>
        </p:grpSp>
        <p:sp>
          <p:nvSpPr>
            <p:cNvPr id="125974" name="Line 23"/>
            <p:cNvSpPr/>
            <p:nvPr/>
          </p:nvSpPr>
          <p:spPr>
            <a:xfrm>
              <a:off x="1920" y="1824"/>
              <a:ext cx="192" cy="0"/>
            </a:xfrm>
            <a:prstGeom prst="line">
              <a:avLst/>
            </a:prstGeom>
            <a:ln w="9525" cap="flat" cmpd="sng">
              <a:solidFill>
                <a:schemeClr val="hlink"/>
              </a:solidFill>
              <a:prstDash val="solid"/>
              <a:round/>
              <a:headEnd type="none" w="med" len="med"/>
              <a:tailEnd type="triangle" w="med" len="med"/>
            </a:ln>
          </p:spPr>
        </p:sp>
        <p:sp>
          <p:nvSpPr>
            <p:cNvPr id="125975" name="Line 24"/>
            <p:cNvSpPr/>
            <p:nvPr/>
          </p:nvSpPr>
          <p:spPr>
            <a:xfrm>
              <a:off x="2112" y="1920"/>
              <a:ext cx="192" cy="0"/>
            </a:xfrm>
            <a:prstGeom prst="line">
              <a:avLst/>
            </a:prstGeom>
            <a:ln w="9525" cap="flat" cmpd="sng">
              <a:solidFill>
                <a:schemeClr val="hlink"/>
              </a:solidFill>
              <a:prstDash val="solid"/>
              <a:round/>
              <a:headEnd type="none" w="med" len="med"/>
              <a:tailEnd type="triangle" w="med" len="med"/>
            </a:ln>
          </p:spPr>
        </p:sp>
        <p:sp>
          <p:nvSpPr>
            <p:cNvPr id="125976" name="Line 25"/>
            <p:cNvSpPr/>
            <p:nvPr/>
          </p:nvSpPr>
          <p:spPr>
            <a:xfrm>
              <a:off x="2304" y="1824"/>
              <a:ext cx="192" cy="0"/>
            </a:xfrm>
            <a:prstGeom prst="line">
              <a:avLst/>
            </a:prstGeom>
            <a:ln w="9525" cap="flat" cmpd="sng">
              <a:solidFill>
                <a:schemeClr val="hlink"/>
              </a:solidFill>
              <a:prstDash val="solid"/>
              <a:round/>
              <a:headEnd type="none" w="med" len="med"/>
              <a:tailEnd type="triangle" w="med" len="med"/>
            </a:ln>
          </p:spPr>
        </p:sp>
        <p:sp>
          <p:nvSpPr>
            <p:cNvPr id="125977" name="Line 26"/>
            <p:cNvSpPr/>
            <p:nvPr/>
          </p:nvSpPr>
          <p:spPr>
            <a:xfrm>
              <a:off x="2496" y="1920"/>
              <a:ext cx="192" cy="0"/>
            </a:xfrm>
            <a:prstGeom prst="line">
              <a:avLst/>
            </a:prstGeom>
            <a:ln w="9525" cap="flat" cmpd="sng">
              <a:solidFill>
                <a:schemeClr val="hlink"/>
              </a:solidFill>
              <a:prstDash val="solid"/>
              <a:round/>
              <a:headEnd type="none" w="med" len="med"/>
              <a:tailEnd type="triangle" w="med" len="med"/>
            </a:ln>
          </p:spPr>
        </p:sp>
        <p:sp>
          <p:nvSpPr>
            <p:cNvPr id="125978" name="Line 27"/>
            <p:cNvSpPr/>
            <p:nvPr/>
          </p:nvSpPr>
          <p:spPr>
            <a:xfrm>
              <a:off x="2640" y="1824"/>
              <a:ext cx="192" cy="0"/>
            </a:xfrm>
            <a:prstGeom prst="line">
              <a:avLst/>
            </a:prstGeom>
            <a:ln w="9525" cap="flat" cmpd="sng">
              <a:solidFill>
                <a:schemeClr val="hlink"/>
              </a:solidFill>
              <a:prstDash val="solid"/>
              <a:round/>
              <a:headEnd type="none" w="med" len="med"/>
              <a:tailEnd type="triangle" w="med" len="med"/>
            </a:ln>
          </p:spPr>
        </p:sp>
        <p:sp>
          <p:nvSpPr>
            <p:cNvPr id="125979" name="Line 28"/>
            <p:cNvSpPr/>
            <p:nvPr/>
          </p:nvSpPr>
          <p:spPr>
            <a:xfrm>
              <a:off x="2832" y="1920"/>
              <a:ext cx="192" cy="0"/>
            </a:xfrm>
            <a:prstGeom prst="line">
              <a:avLst/>
            </a:prstGeom>
            <a:ln w="9525" cap="flat" cmpd="sng">
              <a:solidFill>
                <a:schemeClr val="hlink"/>
              </a:solidFill>
              <a:prstDash val="solid"/>
              <a:round/>
              <a:headEnd type="none" w="med" len="med"/>
              <a:tailEnd type="triangle" w="med" len="med"/>
            </a:ln>
          </p:spPr>
        </p:sp>
        <p:sp>
          <p:nvSpPr>
            <p:cNvPr id="125980" name="Line 29"/>
            <p:cNvSpPr/>
            <p:nvPr/>
          </p:nvSpPr>
          <p:spPr>
            <a:xfrm>
              <a:off x="3024" y="1824"/>
              <a:ext cx="192" cy="0"/>
            </a:xfrm>
            <a:prstGeom prst="line">
              <a:avLst/>
            </a:prstGeom>
            <a:ln w="9525" cap="flat" cmpd="sng">
              <a:solidFill>
                <a:schemeClr val="hlink"/>
              </a:solidFill>
              <a:prstDash val="solid"/>
              <a:round/>
              <a:headEnd type="none" w="med" len="med"/>
              <a:tailEnd type="triangle" w="med" len="med"/>
            </a:ln>
          </p:spPr>
        </p:sp>
        <p:sp>
          <p:nvSpPr>
            <p:cNvPr id="125981" name="Line 30"/>
            <p:cNvSpPr/>
            <p:nvPr/>
          </p:nvSpPr>
          <p:spPr>
            <a:xfrm flipV="1">
              <a:off x="1651" y="1920"/>
              <a:ext cx="336" cy="0"/>
            </a:xfrm>
            <a:prstGeom prst="line">
              <a:avLst/>
            </a:prstGeom>
            <a:ln w="9525" cap="flat" cmpd="sng">
              <a:solidFill>
                <a:schemeClr val="hlink"/>
              </a:solidFill>
              <a:prstDash val="solid"/>
              <a:round/>
              <a:headEnd type="none" w="med" len="med"/>
              <a:tailEnd type="triangle" w="med" len="med"/>
            </a:ln>
          </p:spPr>
        </p:sp>
        <p:sp>
          <p:nvSpPr>
            <p:cNvPr id="125982" name="Line 31"/>
            <p:cNvSpPr/>
            <p:nvPr/>
          </p:nvSpPr>
          <p:spPr>
            <a:xfrm>
              <a:off x="3504" y="1920"/>
              <a:ext cx="0" cy="384"/>
            </a:xfrm>
            <a:prstGeom prst="line">
              <a:avLst/>
            </a:prstGeom>
            <a:ln w="9525" cap="flat" cmpd="sng">
              <a:solidFill>
                <a:schemeClr val="hlink"/>
              </a:solidFill>
              <a:prstDash val="solid"/>
              <a:round/>
              <a:headEnd type="none" w="med" len="med"/>
              <a:tailEnd type="none" w="med" len="med"/>
            </a:ln>
          </p:spPr>
        </p:sp>
        <p:sp>
          <p:nvSpPr>
            <p:cNvPr id="125983" name="Line 32"/>
            <p:cNvSpPr/>
            <p:nvPr/>
          </p:nvSpPr>
          <p:spPr>
            <a:xfrm>
              <a:off x="2640" y="2304"/>
              <a:ext cx="864" cy="0"/>
            </a:xfrm>
            <a:prstGeom prst="line">
              <a:avLst/>
            </a:prstGeom>
            <a:ln w="9525" cap="flat" cmpd="sng">
              <a:solidFill>
                <a:schemeClr val="hlink"/>
              </a:solidFill>
              <a:prstDash val="solid"/>
              <a:round/>
              <a:headEnd type="triangle" w="med" len="med"/>
              <a:tailEnd type="none" w="med" len="med"/>
            </a:ln>
          </p:spPr>
        </p:sp>
        <p:sp>
          <p:nvSpPr>
            <p:cNvPr id="125984" name="Line 33"/>
            <p:cNvSpPr/>
            <p:nvPr/>
          </p:nvSpPr>
          <p:spPr>
            <a:xfrm>
              <a:off x="1634" y="1920"/>
              <a:ext cx="0" cy="384"/>
            </a:xfrm>
            <a:prstGeom prst="line">
              <a:avLst/>
            </a:prstGeom>
            <a:ln w="9525" cap="flat" cmpd="sng">
              <a:solidFill>
                <a:schemeClr val="hlink"/>
              </a:solidFill>
              <a:prstDash val="solid"/>
              <a:round/>
              <a:headEnd type="none" w="med" len="med"/>
              <a:tailEnd type="none" w="med" len="med"/>
            </a:ln>
          </p:spPr>
        </p:sp>
        <p:sp>
          <p:nvSpPr>
            <p:cNvPr id="125985" name="Line 34"/>
            <p:cNvSpPr/>
            <p:nvPr/>
          </p:nvSpPr>
          <p:spPr>
            <a:xfrm>
              <a:off x="3216" y="1920"/>
              <a:ext cx="288" cy="0"/>
            </a:xfrm>
            <a:prstGeom prst="line">
              <a:avLst/>
            </a:prstGeom>
            <a:ln w="9525" cap="flat" cmpd="sng">
              <a:solidFill>
                <a:schemeClr val="hlink"/>
              </a:solidFill>
              <a:prstDash val="solid"/>
              <a:round/>
              <a:headEnd type="none" w="med" len="med"/>
              <a:tailEnd type="none" w="med" len="med"/>
            </a:ln>
          </p:spPr>
        </p:sp>
        <p:sp>
          <p:nvSpPr>
            <p:cNvPr id="125986" name="Rectangle 35"/>
            <p:cNvSpPr/>
            <p:nvPr/>
          </p:nvSpPr>
          <p:spPr>
            <a:xfrm flipH="1">
              <a:off x="2456" y="2171"/>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25987" name="Line 36"/>
            <p:cNvSpPr/>
            <p:nvPr/>
          </p:nvSpPr>
          <p:spPr>
            <a:xfrm flipH="1">
              <a:off x="1634" y="2304"/>
              <a:ext cx="786" cy="0"/>
            </a:xfrm>
            <a:prstGeom prst="line">
              <a:avLst/>
            </a:prstGeom>
            <a:ln w="9525" cap="flat" cmpd="sng">
              <a:solidFill>
                <a:schemeClr val="hlink"/>
              </a:solidFill>
              <a:prstDash val="solid"/>
              <a:round/>
              <a:headEnd type="none" w="med" len="med"/>
              <a:tailEnd type="none" w="med" len="med"/>
            </a:ln>
          </p:spPr>
        </p:sp>
        <p:sp>
          <p:nvSpPr>
            <p:cNvPr id="125988" name="Text Box 37"/>
            <p:cNvSpPr txBox="1"/>
            <p:nvPr/>
          </p:nvSpPr>
          <p:spPr>
            <a:xfrm>
              <a:off x="2441" y="2448"/>
              <a:ext cx="247"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Cy</a:t>
              </a:r>
              <a:endParaRPr lang="en-US" altLang="zh-CN" sz="1400" b="0" dirty="0">
                <a:latin typeface="Times New Roman" panose="02020503050405090304" pitchFamily="18" charset="0"/>
                <a:ea typeface="宋体" pitchFamily="2" charset="-122"/>
              </a:endParaRPr>
            </a:p>
          </p:txBody>
        </p:sp>
      </p:grpSp>
      <p:sp>
        <p:nvSpPr>
          <p:cNvPr id="196646" name="Rectangle 38"/>
          <p:cNvSpPr/>
          <p:nvPr/>
        </p:nvSpPr>
        <p:spPr>
          <a:xfrm>
            <a:off x="1143000" y="4038600"/>
            <a:ext cx="7772400" cy="1219200"/>
          </a:xfrm>
          <a:prstGeom prst="rect">
            <a:avLst/>
          </a:prstGeom>
          <a:noFill/>
          <a:ln w="9525">
            <a:noFill/>
          </a:ln>
        </p:spPr>
        <p:txBody>
          <a:bodyPr anchor="t" anchorCtr="0"/>
          <a:p>
            <a:pPr marL="342900" indent="-342900">
              <a:lnSpc>
                <a:spcPct val="90000"/>
              </a:lnSpc>
              <a:spcBef>
                <a:spcPct val="20000"/>
              </a:spcBef>
              <a:buClrTx/>
              <a:buFontTx/>
            </a:pPr>
            <a:r>
              <a:rPr lang="zh-CN" altLang="en-US" b="0" dirty="0">
                <a:latin typeface="Times New Roman" panose="02020503050405090304" pitchFamily="18" charset="0"/>
                <a:ea typeface="黑体" panose="02010609060101010101" pitchFamily="49" charset="-122"/>
              </a:rPr>
              <a:t>说明：</a:t>
            </a:r>
            <a:endParaRPr lang="zh-CN" altLang="en-US" b="0" dirty="0">
              <a:latin typeface="Times New Roman" panose="02020503050405090304" pitchFamily="18" charset="0"/>
              <a:ea typeface="黑体" panose="02010609060101010101" pitchFamily="49" charset="-122"/>
            </a:endParaRPr>
          </a:p>
          <a:p>
            <a:pPr marL="342900" indent="-342900">
              <a:lnSpc>
                <a:spcPct val="90000"/>
              </a:lnSpc>
              <a:spcBef>
                <a:spcPct val="20000"/>
              </a:spcBef>
              <a:buClrTx/>
              <a:buFontTx/>
            </a:pPr>
            <a:r>
              <a:rPr lang="zh-CN" altLang="en-US" b="0" dirty="0">
                <a:latin typeface="Times New Roman" panose="02020503050405090304" pitchFamily="18" charset="0"/>
                <a:ea typeface="黑体" panose="02010609060101010101" pitchFamily="49" charset="-122"/>
              </a:rPr>
              <a:t>（</a:t>
            </a:r>
            <a:r>
              <a:rPr lang="en-US" altLang="zh-CN" b="0" dirty="0">
                <a:latin typeface="Times New Roman" panose="02020503050405090304" pitchFamily="18" charset="0"/>
                <a:ea typeface="黑体" panose="02010609060101010101" pitchFamily="49" charset="-122"/>
              </a:rPr>
              <a:t>1</a:t>
            </a:r>
            <a:r>
              <a:rPr lang="zh-CN" altLang="en-US" b="0" dirty="0">
                <a:latin typeface="Times New Roman" panose="02020503050405090304" pitchFamily="18" charset="0"/>
                <a:ea typeface="黑体" panose="02010609060101010101" pitchFamily="49" charset="-122"/>
              </a:rPr>
              <a:t>）每次只移动一位；移一位相当于</a:t>
            </a:r>
            <a:r>
              <a:rPr lang="en-US" altLang="zh-CN" b="0" dirty="0">
                <a:latin typeface="Times New Roman" panose="02020503050405090304" pitchFamily="18" charset="0"/>
                <a:ea typeface="黑体" panose="02010609060101010101" pitchFamily="49" charset="-122"/>
              </a:rPr>
              <a:t>(A)</a:t>
            </a:r>
            <a:r>
              <a:rPr lang="zh-CN" altLang="en-US" b="0" dirty="0">
                <a:latin typeface="Times New Roman" panose="02020503050405090304" pitchFamily="18" charset="0"/>
                <a:ea typeface="黑体" panose="02010609060101010101" pitchFamily="49" charset="-122"/>
              </a:rPr>
              <a:t>除以</a:t>
            </a:r>
            <a:r>
              <a:rPr lang="en-US" altLang="zh-CN" b="0" dirty="0">
                <a:latin typeface="Times New Roman" panose="02020503050405090304" pitchFamily="18" charset="0"/>
                <a:ea typeface="黑体" panose="02010609060101010101" pitchFamily="49" charset="-122"/>
              </a:rPr>
              <a:t>2</a:t>
            </a:r>
            <a:r>
              <a:rPr lang="zh-CN" altLang="en-US" b="0" dirty="0">
                <a:latin typeface="Times New Roman" panose="02020503050405090304" pitchFamily="18" charset="0"/>
                <a:ea typeface="黑体" panose="02010609060101010101" pitchFamily="49" charset="-122"/>
              </a:rPr>
              <a:t>；</a:t>
            </a:r>
            <a:endParaRPr lang="zh-CN" altLang="en-US" b="0" dirty="0">
              <a:latin typeface="Times New Roman" panose="02020503050405090304" pitchFamily="18" charset="0"/>
              <a:ea typeface="黑体" panose="02010609060101010101" pitchFamily="49" charset="-122"/>
            </a:endParaRPr>
          </a:p>
          <a:p>
            <a:pPr marL="342900" indent="-342900">
              <a:lnSpc>
                <a:spcPct val="90000"/>
              </a:lnSpc>
              <a:spcBef>
                <a:spcPct val="20000"/>
              </a:spcBef>
              <a:buClrTx/>
              <a:buFontTx/>
            </a:pPr>
            <a:r>
              <a:rPr lang="zh-CN" altLang="en-US" b="0" dirty="0">
                <a:latin typeface="Times New Roman" panose="02020503050405090304" pitchFamily="18" charset="0"/>
                <a:ea typeface="黑体" panose="02010609060101010101" pitchFamily="49" charset="-122"/>
              </a:rPr>
              <a:t>（</a:t>
            </a:r>
            <a:r>
              <a:rPr lang="en-US" altLang="zh-CN" b="0" dirty="0">
                <a:latin typeface="Times New Roman" panose="02020503050405090304" pitchFamily="18" charset="0"/>
                <a:ea typeface="黑体" panose="02010609060101010101" pitchFamily="49" charset="-122"/>
              </a:rPr>
              <a:t>2</a:t>
            </a:r>
            <a:r>
              <a:rPr lang="zh-CN" altLang="en-US" b="0" dirty="0">
                <a:latin typeface="Times New Roman" panose="02020503050405090304" pitchFamily="18" charset="0"/>
                <a:ea typeface="黑体" panose="02010609060101010101" pitchFamily="49" charset="-122"/>
              </a:rPr>
              <a:t>）带进位位移动时，影响标志位</a:t>
            </a:r>
            <a:r>
              <a:rPr lang="en-US" altLang="zh-CN" b="0" dirty="0">
                <a:latin typeface="Times New Roman" panose="02020503050405090304" pitchFamily="18" charset="0"/>
                <a:ea typeface="黑体" panose="02010609060101010101" pitchFamily="49" charset="-122"/>
              </a:rPr>
              <a:t>Cy</a:t>
            </a:r>
            <a:r>
              <a:rPr lang="zh-CN" altLang="en-US" b="0" dirty="0">
                <a:latin typeface="Times New Roman" panose="02020503050405090304" pitchFamily="18" charset="0"/>
                <a:ea typeface="黑体" panose="02010609060101010101" pitchFamily="49" charset="-122"/>
              </a:rPr>
              <a:t>和</a:t>
            </a:r>
            <a:r>
              <a:rPr lang="en-US" altLang="zh-CN" b="0" dirty="0">
                <a:latin typeface="Times New Roman" panose="02020503050405090304" pitchFamily="18" charset="0"/>
                <a:ea typeface="黑体" panose="02010609060101010101" pitchFamily="49" charset="-122"/>
              </a:rPr>
              <a:t>P</a:t>
            </a:r>
            <a:r>
              <a:rPr lang="zh-CN" altLang="en-US" b="0" dirty="0">
                <a:latin typeface="Times New Roman" panose="02020503050405090304" pitchFamily="18" charset="0"/>
                <a:ea typeface="黑体" panose="02010609060101010101" pitchFamily="49" charset="-122"/>
              </a:rPr>
              <a:t>。</a:t>
            </a:r>
            <a:endParaRPr lang="zh-CN" altLang="en-US" b="0" dirty="0">
              <a:latin typeface="Times New Roman" panose="02020503050405090304" pitchFamily="18" charset="0"/>
              <a:ea typeface="黑体" panose="02010609060101010101" pitchFamily="49" charset="-122"/>
            </a:endParaRPr>
          </a:p>
        </p:txBody>
      </p:sp>
      <p:sp>
        <p:nvSpPr>
          <p:cNvPr id="53" name="矩形 52"/>
          <p:cNvSpPr/>
          <p:nvPr/>
        </p:nvSpPr>
        <p:spPr>
          <a:xfrm>
            <a:off x="1844675" y="2859088"/>
            <a:ext cx="360363" cy="287337"/>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a:latin typeface="Times New Roman" panose="02020503050405090304" pitchFamily="18" charset="0"/>
              <a:ea typeface="宋体" pitchFamily="2" charset="-122"/>
            </a:endParaRPr>
          </a:p>
        </p:txBody>
      </p:sp>
      <p:sp>
        <p:nvSpPr>
          <p:cNvPr id="54" name="矩形 53"/>
          <p:cNvSpPr/>
          <p:nvPr/>
        </p:nvSpPr>
        <p:spPr>
          <a:xfrm>
            <a:off x="2205038" y="2859088"/>
            <a:ext cx="360362" cy="287337"/>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a:latin typeface="Times New Roman" panose="02020503050405090304" pitchFamily="18" charset="0"/>
              <a:ea typeface="宋体" pitchFamily="2" charset="-122"/>
            </a:endParaRPr>
          </a:p>
        </p:txBody>
      </p:sp>
      <p:sp>
        <p:nvSpPr>
          <p:cNvPr id="55" name="矩形 54"/>
          <p:cNvSpPr/>
          <p:nvPr/>
        </p:nvSpPr>
        <p:spPr>
          <a:xfrm>
            <a:off x="2563813" y="2859088"/>
            <a:ext cx="360362" cy="287337"/>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a:latin typeface="Times New Roman" panose="02020503050405090304" pitchFamily="18" charset="0"/>
              <a:ea typeface="宋体" pitchFamily="2" charset="-122"/>
            </a:endParaRPr>
          </a:p>
        </p:txBody>
      </p:sp>
      <p:sp>
        <p:nvSpPr>
          <p:cNvPr id="56" name="矩形 55"/>
          <p:cNvSpPr/>
          <p:nvPr/>
        </p:nvSpPr>
        <p:spPr>
          <a:xfrm>
            <a:off x="2924175" y="2859088"/>
            <a:ext cx="360363" cy="287337"/>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a:latin typeface="Times New Roman" panose="02020503050405090304" pitchFamily="18" charset="0"/>
              <a:ea typeface="宋体" pitchFamily="2" charset="-122"/>
            </a:endParaRPr>
          </a:p>
        </p:txBody>
      </p:sp>
      <p:sp>
        <p:nvSpPr>
          <p:cNvPr id="57" name="矩形 56"/>
          <p:cNvSpPr/>
          <p:nvPr/>
        </p:nvSpPr>
        <p:spPr>
          <a:xfrm>
            <a:off x="3286125" y="2859088"/>
            <a:ext cx="360363" cy="287337"/>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a:latin typeface="Times New Roman" panose="02020503050405090304" pitchFamily="18" charset="0"/>
              <a:ea typeface="宋体" pitchFamily="2" charset="-122"/>
            </a:endParaRPr>
          </a:p>
        </p:txBody>
      </p:sp>
      <p:sp>
        <p:nvSpPr>
          <p:cNvPr id="58" name="矩形 57"/>
          <p:cNvSpPr/>
          <p:nvPr/>
        </p:nvSpPr>
        <p:spPr>
          <a:xfrm>
            <a:off x="3646488" y="2859088"/>
            <a:ext cx="360362" cy="287337"/>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a:latin typeface="Times New Roman" panose="02020503050405090304" pitchFamily="18" charset="0"/>
              <a:ea typeface="宋体" pitchFamily="2" charset="-122"/>
            </a:endParaRPr>
          </a:p>
        </p:txBody>
      </p:sp>
      <p:sp>
        <p:nvSpPr>
          <p:cNvPr id="59" name="矩形 58"/>
          <p:cNvSpPr/>
          <p:nvPr/>
        </p:nvSpPr>
        <p:spPr>
          <a:xfrm>
            <a:off x="4005263" y="2859088"/>
            <a:ext cx="360362" cy="287337"/>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a:latin typeface="Times New Roman" panose="02020503050405090304" pitchFamily="18" charset="0"/>
              <a:ea typeface="宋体" pitchFamily="2" charset="-122"/>
            </a:endParaRPr>
          </a:p>
        </p:txBody>
      </p:sp>
      <p:sp>
        <p:nvSpPr>
          <p:cNvPr id="60" name="矩形 59"/>
          <p:cNvSpPr/>
          <p:nvPr/>
        </p:nvSpPr>
        <p:spPr>
          <a:xfrm>
            <a:off x="4365625" y="2859088"/>
            <a:ext cx="360363" cy="287337"/>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a:latin typeface="Times New Roman" panose="02020503050405090304" pitchFamily="18" charset="0"/>
              <a:ea typeface="宋体" pitchFamily="2" charset="-122"/>
            </a:endParaRPr>
          </a:p>
        </p:txBody>
      </p:sp>
      <p:sp>
        <p:nvSpPr>
          <p:cNvPr id="61" name="直接连接符 60"/>
          <p:cNvSpPr/>
          <p:nvPr/>
        </p:nvSpPr>
        <p:spPr>
          <a:xfrm flipH="1">
            <a:off x="4221163" y="3003550"/>
            <a:ext cx="287337" cy="0"/>
          </a:xfrm>
          <a:prstGeom prst="line">
            <a:avLst/>
          </a:prstGeom>
          <a:ln w="9525" cap="flat" cmpd="sng">
            <a:solidFill>
              <a:schemeClr val="tx1"/>
            </a:solidFill>
            <a:prstDash val="solid"/>
            <a:round/>
            <a:headEnd type="triangle" w="sm" len="lg"/>
            <a:tailEnd type="none" w="sm" len="lg"/>
          </a:ln>
        </p:spPr>
      </p:sp>
      <p:sp>
        <p:nvSpPr>
          <p:cNvPr id="62" name="直接连接符 61"/>
          <p:cNvSpPr/>
          <p:nvPr/>
        </p:nvSpPr>
        <p:spPr>
          <a:xfrm flipH="1">
            <a:off x="3860800" y="3003550"/>
            <a:ext cx="287338" cy="0"/>
          </a:xfrm>
          <a:prstGeom prst="line">
            <a:avLst/>
          </a:prstGeom>
          <a:ln w="9525" cap="flat" cmpd="sng">
            <a:solidFill>
              <a:schemeClr val="tx1"/>
            </a:solidFill>
            <a:prstDash val="solid"/>
            <a:round/>
            <a:headEnd type="triangle" w="sm" len="lg"/>
            <a:tailEnd type="none" w="sm" len="lg"/>
          </a:ln>
        </p:spPr>
      </p:sp>
      <p:sp>
        <p:nvSpPr>
          <p:cNvPr id="63" name="直接连接符 62"/>
          <p:cNvSpPr/>
          <p:nvPr/>
        </p:nvSpPr>
        <p:spPr>
          <a:xfrm flipH="1">
            <a:off x="3500438" y="3003550"/>
            <a:ext cx="287337" cy="0"/>
          </a:xfrm>
          <a:prstGeom prst="line">
            <a:avLst/>
          </a:prstGeom>
          <a:ln w="9525" cap="flat" cmpd="sng">
            <a:solidFill>
              <a:schemeClr val="tx1"/>
            </a:solidFill>
            <a:prstDash val="solid"/>
            <a:round/>
            <a:headEnd type="triangle" w="sm" len="lg"/>
            <a:tailEnd type="none" w="sm" len="lg"/>
          </a:ln>
        </p:spPr>
      </p:sp>
      <p:sp>
        <p:nvSpPr>
          <p:cNvPr id="64" name="直接连接符 63"/>
          <p:cNvSpPr/>
          <p:nvPr/>
        </p:nvSpPr>
        <p:spPr>
          <a:xfrm flipH="1">
            <a:off x="3140075" y="3003550"/>
            <a:ext cx="287338" cy="0"/>
          </a:xfrm>
          <a:prstGeom prst="line">
            <a:avLst/>
          </a:prstGeom>
          <a:ln w="9525" cap="flat" cmpd="sng">
            <a:solidFill>
              <a:schemeClr val="tx1"/>
            </a:solidFill>
            <a:prstDash val="solid"/>
            <a:round/>
            <a:headEnd type="triangle" w="sm" len="lg"/>
            <a:tailEnd type="none" w="sm" len="lg"/>
          </a:ln>
        </p:spPr>
      </p:sp>
      <p:sp>
        <p:nvSpPr>
          <p:cNvPr id="65" name="直接连接符 64"/>
          <p:cNvSpPr/>
          <p:nvPr/>
        </p:nvSpPr>
        <p:spPr>
          <a:xfrm flipH="1">
            <a:off x="2779713" y="3003550"/>
            <a:ext cx="287337" cy="0"/>
          </a:xfrm>
          <a:prstGeom prst="line">
            <a:avLst/>
          </a:prstGeom>
          <a:ln w="9525" cap="flat" cmpd="sng">
            <a:solidFill>
              <a:schemeClr val="tx1"/>
            </a:solidFill>
            <a:prstDash val="solid"/>
            <a:round/>
            <a:headEnd type="triangle" w="sm" len="lg"/>
            <a:tailEnd type="none" w="sm" len="lg"/>
          </a:ln>
        </p:spPr>
      </p:sp>
      <p:sp>
        <p:nvSpPr>
          <p:cNvPr id="66" name="直接连接符 65"/>
          <p:cNvSpPr/>
          <p:nvPr/>
        </p:nvSpPr>
        <p:spPr>
          <a:xfrm flipH="1">
            <a:off x="2420938" y="3003550"/>
            <a:ext cx="287337" cy="0"/>
          </a:xfrm>
          <a:prstGeom prst="line">
            <a:avLst/>
          </a:prstGeom>
          <a:ln w="9525" cap="flat" cmpd="sng">
            <a:solidFill>
              <a:schemeClr val="tx1"/>
            </a:solidFill>
            <a:prstDash val="solid"/>
            <a:round/>
            <a:headEnd type="triangle" w="sm" len="lg"/>
            <a:tailEnd type="none" w="sm" len="lg"/>
          </a:ln>
        </p:spPr>
      </p:sp>
      <p:sp>
        <p:nvSpPr>
          <p:cNvPr id="67" name="直接连接符 66"/>
          <p:cNvSpPr/>
          <p:nvPr/>
        </p:nvSpPr>
        <p:spPr>
          <a:xfrm flipH="1">
            <a:off x="2060575" y="3003550"/>
            <a:ext cx="287338" cy="0"/>
          </a:xfrm>
          <a:prstGeom prst="line">
            <a:avLst/>
          </a:prstGeom>
          <a:ln w="9525" cap="flat" cmpd="sng">
            <a:solidFill>
              <a:schemeClr val="tx1"/>
            </a:solidFill>
            <a:prstDash val="solid"/>
            <a:round/>
            <a:headEnd type="triangle" w="sm" len="lg"/>
            <a:tailEnd type="none" w="sm" len="lg"/>
          </a:ln>
        </p:spPr>
      </p:sp>
      <p:sp>
        <p:nvSpPr>
          <p:cNvPr id="68" name="直接连接符 67"/>
          <p:cNvSpPr/>
          <p:nvPr/>
        </p:nvSpPr>
        <p:spPr>
          <a:xfrm flipH="1">
            <a:off x="1700213" y="3003550"/>
            <a:ext cx="287337" cy="0"/>
          </a:xfrm>
          <a:prstGeom prst="line">
            <a:avLst/>
          </a:prstGeom>
          <a:ln w="9525" cap="flat" cmpd="sng">
            <a:solidFill>
              <a:schemeClr val="tx1"/>
            </a:solidFill>
            <a:prstDash val="solid"/>
            <a:round/>
            <a:headEnd type="triangle" w="sm" len="lg"/>
            <a:tailEnd type="none" w="sm" len="lg"/>
          </a:ln>
        </p:spPr>
      </p:sp>
      <p:sp>
        <p:nvSpPr>
          <p:cNvPr id="69" name="直接连接符 68"/>
          <p:cNvSpPr/>
          <p:nvPr/>
        </p:nvSpPr>
        <p:spPr>
          <a:xfrm flipH="1">
            <a:off x="4579938" y="3003550"/>
            <a:ext cx="287337" cy="0"/>
          </a:xfrm>
          <a:prstGeom prst="line">
            <a:avLst/>
          </a:prstGeom>
          <a:ln w="9525" cap="flat" cmpd="sng">
            <a:solidFill>
              <a:schemeClr val="tx1"/>
            </a:solidFill>
            <a:prstDash val="solid"/>
            <a:round/>
            <a:headEnd type="triangle" w="sm" len="lg"/>
            <a:tailEnd type="none" w="sm" len="lg"/>
          </a:ln>
        </p:spPr>
      </p:sp>
      <p:sp>
        <p:nvSpPr>
          <p:cNvPr id="70" name="直接连接符 69"/>
          <p:cNvSpPr/>
          <p:nvPr/>
        </p:nvSpPr>
        <p:spPr>
          <a:xfrm flipH="1">
            <a:off x="1412875" y="3003550"/>
            <a:ext cx="287338" cy="0"/>
          </a:xfrm>
          <a:prstGeom prst="line">
            <a:avLst/>
          </a:prstGeom>
          <a:ln w="9525" cap="flat" cmpd="sng">
            <a:solidFill>
              <a:schemeClr val="tx1"/>
            </a:solidFill>
            <a:prstDash val="solid"/>
            <a:round/>
            <a:headEnd type="none" w="med" len="med"/>
            <a:tailEnd type="none" w="med" len="med"/>
          </a:ln>
        </p:spPr>
      </p:sp>
      <p:sp>
        <p:nvSpPr>
          <p:cNvPr id="71" name="直接连接符 70"/>
          <p:cNvSpPr/>
          <p:nvPr/>
        </p:nvSpPr>
        <p:spPr>
          <a:xfrm>
            <a:off x="765175" y="2571750"/>
            <a:ext cx="0" cy="431800"/>
          </a:xfrm>
          <a:prstGeom prst="line">
            <a:avLst/>
          </a:prstGeom>
          <a:ln w="9525" cap="flat" cmpd="sng">
            <a:solidFill>
              <a:schemeClr val="tx1"/>
            </a:solidFill>
            <a:prstDash val="solid"/>
            <a:round/>
            <a:headEnd type="none" w="med" len="med"/>
            <a:tailEnd type="none" w="med" len="med"/>
          </a:ln>
        </p:spPr>
      </p:sp>
      <p:sp>
        <p:nvSpPr>
          <p:cNvPr id="72" name="直接连接符 71"/>
          <p:cNvSpPr/>
          <p:nvPr/>
        </p:nvSpPr>
        <p:spPr>
          <a:xfrm>
            <a:off x="765175" y="2571750"/>
            <a:ext cx="4248150" cy="0"/>
          </a:xfrm>
          <a:prstGeom prst="line">
            <a:avLst/>
          </a:prstGeom>
          <a:ln w="9525" cap="flat" cmpd="sng">
            <a:solidFill>
              <a:schemeClr val="tx1"/>
            </a:solidFill>
            <a:prstDash val="solid"/>
            <a:round/>
            <a:headEnd type="none" w="med" len="med"/>
            <a:tailEnd type="none" w="med" len="med"/>
          </a:ln>
        </p:spPr>
      </p:sp>
      <p:sp>
        <p:nvSpPr>
          <p:cNvPr id="73" name="直接连接符 72"/>
          <p:cNvSpPr/>
          <p:nvPr/>
        </p:nvSpPr>
        <p:spPr>
          <a:xfrm>
            <a:off x="5013325" y="2571750"/>
            <a:ext cx="0" cy="431800"/>
          </a:xfrm>
          <a:prstGeom prst="line">
            <a:avLst/>
          </a:prstGeom>
          <a:ln w="9525" cap="flat" cmpd="sng">
            <a:solidFill>
              <a:schemeClr val="tx1"/>
            </a:solidFill>
            <a:prstDash val="solid"/>
            <a:round/>
            <a:headEnd type="none" w="med" len="med"/>
            <a:tailEnd type="none" w="med" len="med"/>
          </a:ln>
        </p:spPr>
      </p:sp>
      <p:sp>
        <p:nvSpPr>
          <p:cNvPr id="74" name="直接连接符 73"/>
          <p:cNvSpPr/>
          <p:nvPr/>
        </p:nvSpPr>
        <p:spPr>
          <a:xfrm flipH="1">
            <a:off x="4868863" y="3003550"/>
            <a:ext cx="144462" cy="0"/>
          </a:xfrm>
          <a:prstGeom prst="line">
            <a:avLst/>
          </a:prstGeom>
          <a:ln w="9525" cap="flat" cmpd="sng">
            <a:solidFill>
              <a:schemeClr val="tx1"/>
            </a:solidFill>
            <a:prstDash val="solid"/>
            <a:round/>
            <a:headEnd type="none" w="med" len="med"/>
            <a:tailEnd type="none" w="med" len="med"/>
          </a:ln>
        </p:spPr>
      </p:sp>
      <p:sp>
        <p:nvSpPr>
          <p:cNvPr id="199779" name="文本框 199778"/>
          <p:cNvSpPr txBox="1"/>
          <p:nvPr/>
        </p:nvSpPr>
        <p:spPr>
          <a:xfrm>
            <a:off x="4292600" y="3074988"/>
            <a:ext cx="576263" cy="398462"/>
          </a:xfrm>
          <a:prstGeom prst="rect">
            <a:avLst/>
          </a:prstGeom>
          <a:noFill/>
          <a:ln w="9525">
            <a:noFill/>
          </a:ln>
        </p:spPr>
        <p:txBody>
          <a:bodyPr anchor="t" anchorCtr="0">
            <a:spAutoFit/>
          </a:bodyPr>
          <a:p>
            <a:pPr>
              <a:spcBef>
                <a:spcPct val="50000"/>
              </a:spcBef>
            </a:pPr>
            <a:r>
              <a:rPr lang="en-US" altLang="zh-CN" sz="2000" b="0">
                <a:latin typeface="Times New Roman" panose="02020503050405090304" pitchFamily="18" charset="0"/>
                <a:ea typeface="创艺简黑体" pitchFamily="2" charset="-122"/>
              </a:rPr>
              <a:t>A.0</a:t>
            </a:r>
            <a:endParaRPr lang="en-US" altLang="zh-CN" sz="2000" b="0">
              <a:latin typeface="Times New Roman" panose="02020503050405090304" pitchFamily="18" charset="0"/>
              <a:ea typeface="创艺简黑体" pitchFamily="2" charset="-122"/>
            </a:endParaRPr>
          </a:p>
        </p:txBody>
      </p:sp>
      <p:sp>
        <p:nvSpPr>
          <p:cNvPr id="199780" name="文本框 199779"/>
          <p:cNvSpPr txBox="1"/>
          <p:nvPr/>
        </p:nvSpPr>
        <p:spPr>
          <a:xfrm>
            <a:off x="1771650" y="3074988"/>
            <a:ext cx="576263" cy="398462"/>
          </a:xfrm>
          <a:prstGeom prst="rect">
            <a:avLst/>
          </a:prstGeom>
          <a:noFill/>
          <a:ln w="9525">
            <a:noFill/>
          </a:ln>
        </p:spPr>
        <p:txBody>
          <a:bodyPr anchor="t" anchorCtr="0">
            <a:spAutoFit/>
          </a:bodyPr>
          <a:p>
            <a:pPr>
              <a:spcBef>
                <a:spcPct val="50000"/>
              </a:spcBef>
            </a:pPr>
            <a:r>
              <a:rPr lang="en-US" altLang="zh-CN" sz="2000" b="0">
                <a:latin typeface="Times New Roman" panose="02020503050405090304" pitchFamily="18" charset="0"/>
                <a:ea typeface="创艺简黑体" pitchFamily="2" charset="-122"/>
              </a:rPr>
              <a:t>A.7</a:t>
            </a:r>
            <a:endParaRPr lang="en-US" altLang="zh-CN" sz="2000" b="0">
              <a:latin typeface="Times New Roman" panose="02020503050405090304" pitchFamily="18" charset="0"/>
              <a:ea typeface="创艺简黑体" pitchFamily="2" charset="-122"/>
            </a:endParaRPr>
          </a:p>
        </p:txBody>
      </p:sp>
      <p:sp>
        <p:nvSpPr>
          <p:cNvPr id="75" name="椭圆 74"/>
          <p:cNvSpPr>
            <a:spLocks noChangeAspect="1"/>
          </p:cNvSpPr>
          <p:nvPr/>
        </p:nvSpPr>
        <p:spPr>
          <a:xfrm>
            <a:off x="4870450" y="3001963"/>
            <a:ext cx="73025" cy="69850"/>
          </a:xfrm>
          <a:prstGeom prst="ellipse">
            <a:avLst/>
          </a:prstGeom>
          <a:solidFill>
            <a:srgbClr val="FF0000"/>
          </a:solidFill>
          <a:ln w="9525" cap="flat" cmpd="sng">
            <a:solidFill>
              <a:srgbClr val="FF3300"/>
            </a:solidFill>
            <a:prstDash val="solid"/>
            <a:headEnd type="none" w="med" len="med"/>
            <a:tailEnd type="none" w="med" len="med"/>
          </a:ln>
        </p:spPr>
        <p:txBody>
          <a:bodyPr wrap="none" anchor="ctr"/>
          <a:p>
            <a:pPr algn="ctr" fontAlgn="base"/>
            <a:endParaRPr lang="zh-CN" altLang="en-US" sz="2400" strike="noStrike" noProof="1" dirty="0">
              <a:solidFill>
                <a:srgbClr val="FF0000"/>
              </a:solidFill>
              <a:effectLst>
                <a:outerShdw blurRad="38100" dist="38100" dir="2700000">
                  <a:srgbClr val="C0C0C0"/>
                </a:outerShdw>
              </a:effectLst>
              <a:latin typeface="Times New Roman" panose="02020503050405090304" pitchFamily="18" charset="0"/>
              <a:ea typeface="创艺简黑体" pitchFamily="2" charset="-122"/>
            </a:endParaRPr>
          </a:p>
        </p:txBody>
      </p:sp>
      <p:sp>
        <p:nvSpPr>
          <p:cNvPr id="76" name="直接连接符 75"/>
          <p:cNvSpPr/>
          <p:nvPr/>
        </p:nvSpPr>
        <p:spPr>
          <a:xfrm flipH="1">
            <a:off x="765175" y="3001963"/>
            <a:ext cx="360363" cy="0"/>
          </a:xfrm>
          <a:prstGeom prst="line">
            <a:avLst/>
          </a:prstGeom>
          <a:ln w="9525" cap="flat" cmpd="sng">
            <a:solidFill>
              <a:schemeClr val="tx1"/>
            </a:solidFill>
            <a:prstDash val="solid"/>
            <a:round/>
            <a:headEnd type="triangle" w="sm" len="lg"/>
            <a:tailEnd type="none" w="sm" len="lg"/>
          </a:ln>
        </p:spPr>
      </p:sp>
      <p:sp>
        <p:nvSpPr>
          <p:cNvPr id="77" name="矩形 76"/>
          <p:cNvSpPr/>
          <p:nvPr/>
        </p:nvSpPr>
        <p:spPr>
          <a:xfrm>
            <a:off x="1125538" y="2859088"/>
            <a:ext cx="360362" cy="287337"/>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p>
            <a:endParaRPr lang="zh-CN" altLang="en-US">
              <a:latin typeface="Times New Roman" panose="02020503050405090304" pitchFamily="18" charset="0"/>
              <a:ea typeface="宋体" pitchFamily="2" charset="-122"/>
            </a:endParaRPr>
          </a:p>
        </p:txBody>
      </p:sp>
      <p:sp>
        <p:nvSpPr>
          <p:cNvPr id="199786" name="文本框 199785"/>
          <p:cNvSpPr txBox="1"/>
          <p:nvPr/>
        </p:nvSpPr>
        <p:spPr>
          <a:xfrm>
            <a:off x="1052513" y="3074988"/>
            <a:ext cx="576262" cy="398462"/>
          </a:xfrm>
          <a:prstGeom prst="rect">
            <a:avLst/>
          </a:prstGeom>
          <a:noFill/>
          <a:ln w="9525">
            <a:noFill/>
          </a:ln>
        </p:spPr>
        <p:txBody>
          <a:bodyPr anchor="t" anchorCtr="0">
            <a:spAutoFit/>
          </a:bodyPr>
          <a:p>
            <a:pPr>
              <a:spcBef>
                <a:spcPct val="50000"/>
              </a:spcBef>
            </a:pPr>
            <a:r>
              <a:rPr lang="en-US" altLang="zh-CN" sz="2000" b="0">
                <a:latin typeface="Times New Roman" panose="02020503050405090304" pitchFamily="18" charset="0"/>
                <a:ea typeface="创艺简黑体" pitchFamily="2" charset="-122"/>
              </a:rPr>
              <a:t>CY</a:t>
            </a:r>
            <a:endParaRPr lang="en-US" altLang="zh-CN" sz="2000" b="0">
              <a:latin typeface="Times New Roman" panose="02020503050405090304" pitchFamily="18" charset="0"/>
              <a:ea typeface="创艺简黑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7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7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73"/>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7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9978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9977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9978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5"/>
                                        </p:tgtEl>
                                        <p:attrNameLst>
                                          <p:attrName>style.visibility</p:attrName>
                                        </p:attrNameLst>
                                      </p:cBhvr>
                                      <p:to>
                                        <p:strVal val="visible"/>
                                      </p:to>
                                    </p:set>
                                  </p:childTnLst>
                                </p:cTn>
                              </p:par>
                              <p:par>
                                <p:cTn id="61" presetID="0" presetClass="path" presetSubtype="0" accel="50000" decel="50000" fill="hold" grpId="1" nodeType="withEffect">
                                  <p:stCondLst>
                                    <p:cond delay="0"/>
                                  </p:stCondLst>
                                  <p:childTnLst>
                                    <p:animMotion origin="layout" path="M 0.0 0.0 L 0.01372 0.0 L 0.01372 -0.06435 L -0.45 -0.06435 L -0.45 -0.00231 " pathEditMode="relative" ptsTypes="AAAAA">
                                      <p:cBhvr>
                                        <p:cTn id="62" dur="2000" fill="hold"/>
                                        <p:tgtEl>
                                          <p:spTgt spid="75"/>
                                        </p:tgtEl>
                                        <p:attrNameLst>
                                          <p:attrName>ppt_x</p:attrName>
                                          <p:attrName>ppt_y</p:attrName>
                                        </p:attrNameLst>
                                      </p:cBhvr>
                                    </p:animMotion>
                                  </p:childTnLst>
                                </p:cTn>
                              </p:par>
                            </p:childTnLst>
                          </p:cTn>
                        </p:par>
                        <p:par>
                          <p:cTn id="63" fill="hold">
                            <p:stCondLst>
                              <p:cond delay="0"/>
                            </p:stCondLst>
                            <p:childTnLst>
                              <p:par>
                                <p:cTn id="64" presetID="12" presetClass="entr" presetSubtype="8" fill="hold" nodeType="afterEffect">
                                  <p:stCondLst>
                                    <p:cond delay="0"/>
                                  </p:stCondLst>
                                  <p:childTnLst>
                                    <p:set>
                                      <p:cBhvr>
                                        <p:cTn id="65" dur="1" fill="hold">
                                          <p:stCondLst>
                                            <p:cond delay="0"/>
                                          </p:stCondLst>
                                        </p:cTn>
                                        <p:tgtEl>
                                          <p:spTgt spid="76"/>
                                        </p:tgtEl>
                                        <p:attrNameLst>
                                          <p:attrName>style.visibility</p:attrName>
                                        </p:attrNameLst>
                                      </p:cBhvr>
                                      <p:to>
                                        <p:strVal val="visible"/>
                                      </p:to>
                                    </p:set>
                                    <p:animEffect transition="in" filter="slide(fromLeft)">
                                      <p:cBhvr>
                                        <p:cTn id="66" dur="500"/>
                                        <p:tgtEl>
                                          <p:spTgt spid="76"/>
                                        </p:tgtEl>
                                      </p:cBhvr>
                                    </p:animEffect>
                                  </p:childTnLst>
                                </p:cTn>
                              </p:par>
                            </p:childTnLst>
                          </p:cTn>
                        </p:par>
                        <p:par>
                          <p:cTn id="67" fill="hold">
                            <p:stCondLst>
                              <p:cond delay="500"/>
                            </p:stCondLst>
                            <p:childTnLst>
                              <p:par>
                                <p:cTn id="68" presetID="12" presetClass="entr" presetSubtype="8" fill="hold" nodeType="afterEffect">
                                  <p:stCondLst>
                                    <p:cond delay="0"/>
                                  </p:stCondLst>
                                  <p:childTnLst>
                                    <p:set>
                                      <p:cBhvr>
                                        <p:cTn id="69" dur="1" fill="hold">
                                          <p:stCondLst>
                                            <p:cond delay="0"/>
                                          </p:stCondLst>
                                        </p:cTn>
                                        <p:tgtEl>
                                          <p:spTgt spid="68"/>
                                        </p:tgtEl>
                                        <p:attrNameLst>
                                          <p:attrName>style.visibility</p:attrName>
                                        </p:attrNameLst>
                                      </p:cBhvr>
                                      <p:to>
                                        <p:strVal val="visible"/>
                                      </p:to>
                                    </p:set>
                                    <p:animEffect transition="in" filter="slide(fromLeft)">
                                      <p:cBhvr>
                                        <p:cTn id="70" dur="500"/>
                                        <p:tgtEl>
                                          <p:spTgt spid="68"/>
                                        </p:tgtEl>
                                      </p:cBhvr>
                                    </p:animEffect>
                                  </p:childTnLst>
                                </p:cTn>
                              </p:par>
                            </p:childTnLst>
                          </p:cTn>
                        </p:par>
                        <p:par>
                          <p:cTn id="71" fill="hold">
                            <p:stCondLst>
                              <p:cond delay="1000"/>
                            </p:stCondLst>
                            <p:childTnLst>
                              <p:par>
                                <p:cTn id="72" presetID="12" presetClass="entr" presetSubtype="8" fill="hold" nodeType="afterEffect">
                                  <p:stCondLst>
                                    <p:cond delay="0"/>
                                  </p:stCondLst>
                                  <p:childTnLst>
                                    <p:set>
                                      <p:cBhvr>
                                        <p:cTn id="73" dur="1" fill="hold">
                                          <p:stCondLst>
                                            <p:cond delay="0"/>
                                          </p:stCondLst>
                                        </p:cTn>
                                        <p:tgtEl>
                                          <p:spTgt spid="67"/>
                                        </p:tgtEl>
                                        <p:attrNameLst>
                                          <p:attrName>style.visibility</p:attrName>
                                        </p:attrNameLst>
                                      </p:cBhvr>
                                      <p:to>
                                        <p:strVal val="visible"/>
                                      </p:to>
                                    </p:set>
                                    <p:animEffect transition="in" filter="slide(fromLeft)">
                                      <p:cBhvr>
                                        <p:cTn id="74" dur="500"/>
                                        <p:tgtEl>
                                          <p:spTgt spid="67"/>
                                        </p:tgtEl>
                                      </p:cBhvr>
                                    </p:animEffect>
                                  </p:childTnLst>
                                </p:cTn>
                              </p:par>
                            </p:childTnLst>
                          </p:cTn>
                        </p:par>
                        <p:par>
                          <p:cTn id="75" fill="hold">
                            <p:stCondLst>
                              <p:cond delay="1500"/>
                            </p:stCondLst>
                            <p:childTnLst>
                              <p:par>
                                <p:cTn id="76" presetID="12" presetClass="entr" presetSubtype="8" fill="hold" nodeType="afterEffect">
                                  <p:stCondLst>
                                    <p:cond delay="0"/>
                                  </p:stCondLst>
                                  <p:childTnLst>
                                    <p:set>
                                      <p:cBhvr>
                                        <p:cTn id="77" dur="1" fill="hold">
                                          <p:stCondLst>
                                            <p:cond delay="0"/>
                                          </p:stCondLst>
                                        </p:cTn>
                                        <p:tgtEl>
                                          <p:spTgt spid="66"/>
                                        </p:tgtEl>
                                        <p:attrNameLst>
                                          <p:attrName>style.visibility</p:attrName>
                                        </p:attrNameLst>
                                      </p:cBhvr>
                                      <p:to>
                                        <p:strVal val="visible"/>
                                      </p:to>
                                    </p:set>
                                    <p:animEffect transition="in" filter="slide(fromLeft)">
                                      <p:cBhvr>
                                        <p:cTn id="78" dur="500"/>
                                        <p:tgtEl>
                                          <p:spTgt spid="66"/>
                                        </p:tgtEl>
                                      </p:cBhvr>
                                    </p:animEffect>
                                  </p:childTnLst>
                                </p:cTn>
                              </p:par>
                            </p:childTnLst>
                          </p:cTn>
                        </p:par>
                        <p:par>
                          <p:cTn id="79" fill="hold">
                            <p:stCondLst>
                              <p:cond delay="2000"/>
                            </p:stCondLst>
                            <p:childTnLst>
                              <p:par>
                                <p:cTn id="80" presetID="12" presetClass="entr" presetSubtype="8" fill="hold" nodeType="afterEffect">
                                  <p:stCondLst>
                                    <p:cond delay="0"/>
                                  </p:stCondLst>
                                  <p:childTnLst>
                                    <p:set>
                                      <p:cBhvr>
                                        <p:cTn id="81" dur="1" fill="hold">
                                          <p:stCondLst>
                                            <p:cond delay="0"/>
                                          </p:stCondLst>
                                        </p:cTn>
                                        <p:tgtEl>
                                          <p:spTgt spid="65"/>
                                        </p:tgtEl>
                                        <p:attrNameLst>
                                          <p:attrName>style.visibility</p:attrName>
                                        </p:attrNameLst>
                                      </p:cBhvr>
                                      <p:to>
                                        <p:strVal val="visible"/>
                                      </p:to>
                                    </p:set>
                                    <p:animEffect transition="in" filter="slide(fromLeft)">
                                      <p:cBhvr>
                                        <p:cTn id="82" dur="500"/>
                                        <p:tgtEl>
                                          <p:spTgt spid="65"/>
                                        </p:tgtEl>
                                      </p:cBhvr>
                                    </p:animEffect>
                                  </p:childTnLst>
                                </p:cTn>
                              </p:par>
                            </p:childTnLst>
                          </p:cTn>
                        </p:par>
                        <p:par>
                          <p:cTn id="83" fill="hold">
                            <p:stCondLst>
                              <p:cond delay="2500"/>
                            </p:stCondLst>
                            <p:childTnLst>
                              <p:par>
                                <p:cTn id="84" presetID="12" presetClass="entr" presetSubtype="8" fill="hold" nodeType="afterEffect">
                                  <p:stCondLst>
                                    <p:cond delay="0"/>
                                  </p:stCondLst>
                                  <p:childTnLst>
                                    <p:set>
                                      <p:cBhvr>
                                        <p:cTn id="85" dur="1" fill="hold">
                                          <p:stCondLst>
                                            <p:cond delay="0"/>
                                          </p:stCondLst>
                                        </p:cTn>
                                        <p:tgtEl>
                                          <p:spTgt spid="64"/>
                                        </p:tgtEl>
                                        <p:attrNameLst>
                                          <p:attrName>style.visibility</p:attrName>
                                        </p:attrNameLst>
                                      </p:cBhvr>
                                      <p:to>
                                        <p:strVal val="visible"/>
                                      </p:to>
                                    </p:set>
                                    <p:animEffect transition="in" filter="slide(fromLeft)">
                                      <p:cBhvr>
                                        <p:cTn id="86" dur="500"/>
                                        <p:tgtEl>
                                          <p:spTgt spid="64"/>
                                        </p:tgtEl>
                                      </p:cBhvr>
                                    </p:animEffect>
                                  </p:childTnLst>
                                </p:cTn>
                              </p:par>
                            </p:childTnLst>
                          </p:cTn>
                        </p:par>
                        <p:par>
                          <p:cTn id="87" fill="hold">
                            <p:stCondLst>
                              <p:cond delay="3000"/>
                            </p:stCondLst>
                            <p:childTnLst>
                              <p:par>
                                <p:cTn id="88" presetID="12" presetClass="entr" presetSubtype="8" fill="hold" nodeType="afterEffect">
                                  <p:stCondLst>
                                    <p:cond delay="0"/>
                                  </p:stCondLst>
                                  <p:childTnLst>
                                    <p:set>
                                      <p:cBhvr>
                                        <p:cTn id="89" dur="1" fill="hold">
                                          <p:stCondLst>
                                            <p:cond delay="0"/>
                                          </p:stCondLst>
                                        </p:cTn>
                                        <p:tgtEl>
                                          <p:spTgt spid="63"/>
                                        </p:tgtEl>
                                        <p:attrNameLst>
                                          <p:attrName>style.visibility</p:attrName>
                                        </p:attrNameLst>
                                      </p:cBhvr>
                                      <p:to>
                                        <p:strVal val="visible"/>
                                      </p:to>
                                    </p:set>
                                    <p:animEffect transition="in" filter="slide(fromLeft)">
                                      <p:cBhvr>
                                        <p:cTn id="90" dur="500"/>
                                        <p:tgtEl>
                                          <p:spTgt spid="63"/>
                                        </p:tgtEl>
                                      </p:cBhvr>
                                    </p:animEffect>
                                  </p:childTnLst>
                                </p:cTn>
                              </p:par>
                            </p:childTnLst>
                          </p:cTn>
                        </p:par>
                        <p:par>
                          <p:cTn id="91" fill="hold">
                            <p:stCondLst>
                              <p:cond delay="3500"/>
                            </p:stCondLst>
                            <p:childTnLst>
                              <p:par>
                                <p:cTn id="92" presetID="12" presetClass="entr" presetSubtype="8" fill="hold" nodeType="afterEffect">
                                  <p:stCondLst>
                                    <p:cond delay="0"/>
                                  </p:stCondLst>
                                  <p:childTnLst>
                                    <p:set>
                                      <p:cBhvr>
                                        <p:cTn id="93" dur="1" fill="hold">
                                          <p:stCondLst>
                                            <p:cond delay="0"/>
                                          </p:stCondLst>
                                        </p:cTn>
                                        <p:tgtEl>
                                          <p:spTgt spid="62"/>
                                        </p:tgtEl>
                                        <p:attrNameLst>
                                          <p:attrName>style.visibility</p:attrName>
                                        </p:attrNameLst>
                                      </p:cBhvr>
                                      <p:to>
                                        <p:strVal val="visible"/>
                                      </p:to>
                                    </p:set>
                                    <p:animEffect transition="in" filter="slide(fromLeft)">
                                      <p:cBhvr>
                                        <p:cTn id="94" dur="500"/>
                                        <p:tgtEl>
                                          <p:spTgt spid="62"/>
                                        </p:tgtEl>
                                      </p:cBhvr>
                                    </p:animEffect>
                                  </p:childTnLst>
                                </p:cTn>
                              </p:par>
                            </p:childTnLst>
                          </p:cTn>
                        </p:par>
                        <p:par>
                          <p:cTn id="95" fill="hold">
                            <p:stCondLst>
                              <p:cond delay="4000"/>
                            </p:stCondLst>
                            <p:childTnLst>
                              <p:par>
                                <p:cTn id="96" presetID="12" presetClass="entr" presetSubtype="8" fill="hold" nodeType="afterEffect">
                                  <p:stCondLst>
                                    <p:cond delay="0"/>
                                  </p:stCondLst>
                                  <p:childTnLst>
                                    <p:set>
                                      <p:cBhvr>
                                        <p:cTn id="97" dur="1" fill="hold">
                                          <p:stCondLst>
                                            <p:cond delay="0"/>
                                          </p:stCondLst>
                                        </p:cTn>
                                        <p:tgtEl>
                                          <p:spTgt spid="61"/>
                                        </p:tgtEl>
                                        <p:attrNameLst>
                                          <p:attrName>style.visibility</p:attrName>
                                        </p:attrNameLst>
                                      </p:cBhvr>
                                      <p:to>
                                        <p:strVal val="visible"/>
                                      </p:to>
                                    </p:set>
                                    <p:animEffect transition="in" filter="slide(fromLeft)">
                                      <p:cBhvr>
                                        <p:cTn id="98" dur="500"/>
                                        <p:tgtEl>
                                          <p:spTgt spid="61"/>
                                        </p:tgtEl>
                                      </p:cBhvr>
                                    </p:animEffect>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2"/>
                                        </p:tgtEl>
                                        <p:attrNameLst>
                                          <p:attrName>style.visibility</p:attrName>
                                        </p:attrNameLst>
                                      </p:cBhvr>
                                      <p:to>
                                        <p:strVal val="visible"/>
                                      </p:to>
                                    </p:set>
                                    <p:anim calcmode="lin" valueType="num">
                                      <p:cBhvr additive="base">
                                        <p:cTn id="103" dur="500" fill="hold"/>
                                        <p:tgtEl>
                                          <p:spTgt spid="2"/>
                                        </p:tgtEl>
                                        <p:attrNameLst>
                                          <p:attrName>ppt_x</p:attrName>
                                        </p:attrNameLst>
                                      </p:cBhvr>
                                      <p:tavLst>
                                        <p:tav tm="0">
                                          <p:val>
                                            <p:strVal val="#ppt_x"/>
                                          </p:val>
                                        </p:tav>
                                        <p:tav tm="100000">
                                          <p:val>
                                            <p:strVal val="#ppt_x"/>
                                          </p:val>
                                        </p:tav>
                                      </p:tavLst>
                                    </p:anim>
                                    <p:anim calcmode="lin" valueType="num">
                                      <p:cBhvr additive="base">
                                        <p:cTn id="10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196646"/>
                                        </p:tgtEl>
                                        <p:attrNameLst>
                                          <p:attrName>style.visibility</p:attrName>
                                        </p:attrNameLst>
                                      </p:cBhvr>
                                      <p:to>
                                        <p:strVal val="visible"/>
                                      </p:to>
                                    </p:set>
                                    <p:anim calcmode="lin" valueType="num">
                                      <p:cBhvr additive="base">
                                        <p:cTn id="109" dur="500" fill="hold"/>
                                        <p:tgtEl>
                                          <p:spTgt spid="196646"/>
                                        </p:tgtEl>
                                        <p:attrNameLst>
                                          <p:attrName>ppt_x</p:attrName>
                                        </p:attrNameLst>
                                      </p:cBhvr>
                                      <p:tavLst>
                                        <p:tav tm="0">
                                          <p:val>
                                            <p:strVal val="#ppt_x"/>
                                          </p:val>
                                        </p:tav>
                                        <p:tav tm="100000">
                                          <p:val>
                                            <p:strVal val="#ppt_x"/>
                                          </p:val>
                                        </p:tav>
                                      </p:tavLst>
                                    </p:anim>
                                    <p:anim calcmode="lin" valueType="num">
                                      <p:cBhvr additive="base">
                                        <p:cTn id="110" dur="500" fill="hold"/>
                                        <p:tgtEl>
                                          <p:spTgt spid="196646"/>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grpId="0" nodeType="clickEffect">
                                  <p:stCondLst>
                                    <p:cond delay="0"/>
                                  </p:stCondLst>
                                  <p:childTnLst>
                                    <p:set>
                                      <p:cBhvr>
                                        <p:cTn id="114" dur="1" fill="hold">
                                          <p:stCondLst>
                                            <p:cond delay="0"/>
                                          </p:stCondLst>
                                        </p:cTn>
                                        <p:tgtEl>
                                          <p:spTgt spid="196612"/>
                                        </p:tgtEl>
                                        <p:attrNameLst>
                                          <p:attrName>style.visibility</p:attrName>
                                        </p:attrNameLst>
                                      </p:cBhvr>
                                      <p:to>
                                        <p:strVal val="visible"/>
                                      </p:to>
                                    </p:set>
                                    <p:anim calcmode="lin" valueType="num">
                                      <p:cBhvr additive="base">
                                        <p:cTn id="115" dur="500" fill="hold"/>
                                        <p:tgtEl>
                                          <p:spTgt spid="196612"/>
                                        </p:tgtEl>
                                        <p:attrNameLst>
                                          <p:attrName>ppt_x</p:attrName>
                                        </p:attrNameLst>
                                      </p:cBhvr>
                                      <p:tavLst>
                                        <p:tav tm="0">
                                          <p:val>
                                            <p:strVal val="#ppt_x"/>
                                          </p:val>
                                        </p:tav>
                                        <p:tav tm="100000">
                                          <p:val>
                                            <p:strVal val="#ppt_x"/>
                                          </p:val>
                                        </p:tav>
                                      </p:tavLst>
                                    </p:anim>
                                    <p:anim calcmode="lin" valueType="num">
                                      <p:cBhvr additive="base">
                                        <p:cTn id="116" dur="500" fill="hold"/>
                                        <p:tgtEl>
                                          <p:spTgt spid="1966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779" grpId="0"/>
      <p:bldP spid="199780" grpId="0"/>
      <p:bldP spid="75" grpId="0" bldLvl="0" animBg="1"/>
      <p:bldP spid="75" grpId="1" bldLvl="0" animBg="1"/>
      <p:bldP spid="199786" grpId="0"/>
      <p:bldP spid="196646" grpId="0"/>
      <p:bldP spid="196612"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270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126978" name="Rectangle 3"/>
          <p:cNvSpPr>
            <a:spLocks noGrp="1"/>
          </p:cNvSpPr>
          <p:nvPr>
            <p:ph type="body" idx="4294967295"/>
          </p:nvPr>
        </p:nvSpPr>
        <p:spPr>
          <a:xfrm>
            <a:off x="714375" y="857250"/>
            <a:ext cx="8429625" cy="5572125"/>
          </a:xfrm>
        </p:spPr>
        <p:txBody>
          <a:bodyPr vert="horz" wrap="square" lIns="91440" tIns="45720" rIns="91440" bIns="45720" anchor="t" anchorCtr="0"/>
          <a:p>
            <a:pPr marL="0" latinLnBrk="0">
              <a:lnSpc>
                <a:spcPct val="120000"/>
              </a:lnSpc>
              <a:spcBef>
                <a:spcPts val="1200"/>
              </a:spcBef>
              <a:buNone/>
            </a:pPr>
            <a:r>
              <a:rPr lang="zh-CN" altLang="en-US" dirty="0">
                <a:solidFill>
                  <a:schemeClr val="folHlink"/>
                </a:solidFill>
                <a:latin typeface="宋体" pitchFamily="2" charset="-122"/>
              </a:rPr>
              <a:t>例：</a:t>
            </a:r>
            <a:r>
              <a:rPr lang="zh-CN" altLang="en-US" dirty="0">
                <a:latin typeface="宋体" pitchFamily="2" charset="-122"/>
              </a:rPr>
              <a:t>设</a:t>
            </a:r>
            <a:r>
              <a:rPr lang="zh-CN" altLang="en-US" dirty="0">
                <a:solidFill>
                  <a:schemeClr val="folHlink"/>
                </a:solidFill>
                <a:latin typeface="宋体" pitchFamily="2" charset="-122"/>
              </a:rPr>
              <a:t> </a:t>
            </a:r>
            <a:r>
              <a:rPr lang="en-US" altLang="zh-CN" dirty="0">
                <a:latin typeface="宋体" pitchFamily="2" charset="-122"/>
              </a:rPr>
              <a:t>A= 11000101，Cy= 0，</a:t>
            </a:r>
            <a:r>
              <a:rPr lang="zh-CN" altLang="en-US" dirty="0">
                <a:latin typeface="宋体" pitchFamily="2" charset="-122"/>
              </a:rPr>
              <a:t>分别执行下列单条指令：</a:t>
            </a:r>
            <a:endParaRPr lang="zh-CN" altLang="en-US" dirty="0">
              <a:latin typeface="宋体" pitchFamily="2" charset="-122"/>
            </a:endParaRPr>
          </a:p>
          <a:p>
            <a:pPr marL="0" latinLnBrk="0">
              <a:lnSpc>
                <a:spcPct val="150000"/>
              </a:lnSpc>
              <a:spcBef>
                <a:spcPts val="3000"/>
              </a:spcBef>
              <a:buNone/>
            </a:pPr>
            <a:r>
              <a:rPr lang="zh-CN" altLang="en-US" dirty="0">
                <a:latin typeface="宋体" pitchFamily="2" charset="-122"/>
              </a:rPr>
              <a:t>      	</a:t>
            </a:r>
            <a:r>
              <a:rPr lang="en-US" altLang="zh-CN" dirty="0">
                <a:solidFill>
                  <a:srgbClr val="FF0000"/>
                </a:solidFill>
                <a:latin typeface="宋体" pitchFamily="2" charset="-122"/>
              </a:rPr>
              <a:t>CPL  A	 </a:t>
            </a:r>
            <a:r>
              <a:rPr lang="zh-CN" altLang="en-US" dirty="0">
                <a:latin typeface="宋体" pitchFamily="2" charset="-122"/>
              </a:rPr>
              <a:t>；</a:t>
            </a:r>
            <a:r>
              <a:rPr lang="en-US" altLang="zh-CN" dirty="0">
                <a:latin typeface="宋体" pitchFamily="2" charset="-122"/>
              </a:rPr>
              <a:t>(A)= 			      ，Cy= </a:t>
            </a:r>
            <a:endParaRPr lang="zh-CN" altLang="en-US" dirty="0">
              <a:latin typeface="宋体" pitchFamily="2" charset="-122"/>
            </a:endParaRPr>
          </a:p>
          <a:p>
            <a:pPr marL="0" latinLnBrk="0">
              <a:lnSpc>
                <a:spcPct val="150000"/>
              </a:lnSpc>
              <a:spcBef>
                <a:spcPts val="600"/>
              </a:spcBef>
              <a:buNone/>
            </a:pPr>
            <a:r>
              <a:rPr lang="zh-CN" altLang="en-US" dirty="0">
                <a:latin typeface="宋体" pitchFamily="2" charset="-122"/>
              </a:rPr>
              <a:t>	     </a:t>
            </a:r>
            <a:r>
              <a:rPr lang="en-US" altLang="zh-CN" dirty="0">
                <a:solidFill>
                  <a:srgbClr val="FF0000"/>
                </a:solidFill>
                <a:latin typeface="宋体" pitchFamily="2" charset="-122"/>
              </a:rPr>
              <a:t>RL   A   </a:t>
            </a:r>
            <a:r>
              <a:rPr lang="zh-CN" altLang="en-US" dirty="0">
                <a:latin typeface="宋体" pitchFamily="2" charset="-122"/>
              </a:rPr>
              <a:t>；</a:t>
            </a:r>
            <a:r>
              <a:rPr lang="en-US" altLang="zh-CN" dirty="0">
                <a:latin typeface="宋体" pitchFamily="2" charset="-122"/>
              </a:rPr>
              <a:t>(A)=	         ，		Cy= </a:t>
            </a:r>
            <a:endParaRPr lang="en-US" altLang="zh-CN" dirty="0">
              <a:latin typeface="宋体" pitchFamily="2" charset="-122"/>
            </a:endParaRPr>
          </a:p>
          <a:p>
            <a:pPr marL="0" latinLnBrk="0">
              <a:lnSpc>
                <a:spcPct val="150000"/>
              </a:lnSpc>
              <a:spcBef>
                <a:spcPts val="600"/>
              </a:spcBef>
              <a:buNone/>
            </a:pPr>
            <a:r>
              <a:rPr lang="en-US" altLang="zh-CN" dirty="0">
                <a:latin typeface="宋体" pitchFamily="2" charset="-122"/>
              </a:rPr>
              <a:t>	     </a:t>
            </a:r>
            <a:r>
              <a:rPr lang="en-US" altLang="zh-CN" dirty="0">
                <a:solidFill>
                  <a:srgbClr val="FF0000"/>
                </a:solidFill>
                <a:latin typeface="宋体" pitchFamily="2" charset="-122"/>
              </a:rPr>
              <a:t>RLC  A</a:t>
            </a:r>
            <a:r>
              <a:rPr lang="zh-CN" altLang="en-US" dirty="0">
                <a:latin typeface="宋体" pitchFamily="2" charset="-122"/>
              </a:rPr>
              <a:t> 	；</a:t>
            </a:r>
            <a:r>
              <a:rPr lang="en-US" altLang="zh-CN" dirty="0">
                <a:latin typeface="宋体" pitchFamily="2" charset="-122"/>
              </a:rPr>
              <a:t>(A)=         ，		Cy= </a:t>
            </a:r>
            <a:endParaRPr lang="zh-CN" altLang="en-US" dirty="0">
              <a:latin typeface="宋体" pitchFamily="2" charset="-122"/>
            </a:endParaRPr>
          </a:p>
          <a:p>
            <a:pPr marL="0" algn="just">
              <a:lnSpc>
                <a:spcPct val="100000"/>
              </a:lnSpc>
              <a:spcBef>
                <a:spcPct val="0"/>
              </a:spcBef>
              <a:buNone/>
            </a:pPr>
            <a:endParaRPr lang="zh-CN" altLang="zh-CN" dirty="0">
              <a:solidFill>
                <a:srgbClr val="FFC000"/>
              </a:solidFill>
              <a:latin typeface="宋体" pitchFamily="2" charset="-122"/>
            </a:endParaRPr>
          </a:p>
        </p:txBody>
      </p:sp>
      <p:sp>
        <p:nvSpPr>
          <p:cNvPr id="52229" name="Rectangle 5"/>
          <p:cNvSpPr/>
          <p:nvPr/>
        </p:nvSpPr>
        <p:spPr>
          <a:xfrm>
            <a:off x="4067810" y="2420938"/>
            <a:ext cx="3411538" cy="557212"/>
          </a:xfrm>
          <a:prstGeom prst="rect">
            <a:avLst/>
          </a:prstGeom>
          <a:noFill/>
          <a:ln w="9525">
            <a:noFill/>
          </a:ln>
        </p:spPr>
        <p:txBody>
          <a:bodyPr anchor="t" anchorCtr="0"/>
          <a:p>
            <a:pPr eaLnBrk="0" hangingPunct="0">
              <a:lnSpc>
                <a:spcPct val="110000"/>
              </a:lnSpc>
              <a:buClrTx/>
              <a:buFontTx/>
            </a:pPr>
            <a:r>
              <a:rPr lang="zh-CN" altLang="en-US" sz="2800" dirty="0">
                <a:latin typeface="宋体" pitchFamily="2" charset="-122"/>
                <a:ea typeface="宋体" pitchFamily="2" charset="-122"/>
              </a:rPr>
              <a:t>00111010      </a:t>
            </a:r>
            <a:r>
              <a:rPr lang="en-US" altLang="zh-CN" sz="2800" dirty="0">
                <a:latin typeface="宋体" pitchFamily="2" charset="-122"/>
                <a:ea typeface="宋体" pitchFamily="2" charset="-122"/>
              </a:rPr>
              <a:t>	</a:t>
            </a:r>
            <a:r>
              <a:rPr lang="zh-CN" altLang="en-US" sz="2800" dirty="0">
                <a:latin typeface="宋体" pitchFamily="2" charset="-122"/>
                <a:ea typeface="宋体" pitchFamily="2" charset="-122"/>
              </a:rPr>
              <a:t>0</a:t>
            </a:r>
            <a:endParaRPr lang="zh-CN" altLang="en-US" sz="2800" dirty="0">
              <a:latin typeface="宋体" pitchFamily="2" charset="-122"/>
              <a:ea typeface="宋体" pitchFamily="2" charset="-122"/>
            </a:endParaRPr>
          </a:p>
        </p:txBody>
      </p:sp>
      <p:sp>
        <p:nvSpPr>
          <p:cNvPr id="52230" name="Rectangle 6"/>
          <p:cNvSpPr/>
          <p:nvPr/>
        </p:nvSpPr>
        <p:spPr>
          <a:xfrm>
            <a:off x="3995738" y="3140393"/>
            <a:ext cx="3411537" cy="557212"/>
          </a:xfrm>
          <a:prstGeom prst="rect">
            <a:avLst/>
          </a:prstGeom>
          <a:noFill/>
          <a:ln w="9525">
            <a:noFill/>
          </a:ln>
        </p:spPr>
        <p:txBody>
          <a:bodyPr anchor="t" anchorCtr="0"/>
          <a:p>
            <a:pPr eaLnBrk="0" hangingPunct="0">
              <a:lnSpc>
                <a:spcPct val="110000"/>
              </a:lnSpc>
              <a:buClrTx/>
              <a:buFontTx/>
            </a:pPr>
            <a:r>
              <a:rPr lang="zh-CN" altLang="en-US" sz="2800" dirty="0">
                <a:latin typeface="宋体" pitchFamily="2" charset="-122"/>
                <a:ea typeface="宋体" pitchFamily="2" charset="-122"/>
              </a:rPr>
              <a:t>10001011      </a:t>
            </a:r>
            <a:r>
              <a:rPr lang="en-US" altLang="zh-CN" sz="2800" dirty="0">
                <a:latin typeface="宋体" pitchFamily="2" charset="-122"/>
                <a:ea typeface="宋体" pitchFamily="2" charset="-122"/>
              </a:rPr>
              <a:t>	</a:t>
            </a:r>
            <a:r>
              <a:rPr lang="zh-CN" altLang="en-US" sz="2800" dirty="0">
                <a:latin typeface="宋体" pitchFamily="2" charset="-122"/>
                <a:ea typeface="宋体" pitchFamily="2" charset="-122"/>
              </a:rPr>
              <a:t>0</a:t>
            </a:r>
            <a:endParaRPr lang="zh-CN" altLang="en-US" sz="2800" dirty="0">
              <a:latin typeface="宋体" pitchFamily="2" charset="-122"/>
              <a:ea typeface="宋体" pitchFamily="2" charset="-122"/>
            </a:endParaRPr>
          </a:p>
        </p:txBody>
      </p:sp>
      <p:sp>
        <p:nvSpPr>
          <p:cNvPr id="52231" name="Rectangle 7"/>
          <p:cNvSpPr/>
          <p:nvPr/>
        </p:nvSpPr>
        <p:spPr>
          <a:xfrm>
            <a:off x="4067493" y="3860800"/>
            <a:ext cx="3411537" cy="557213"/>
          </a:xfrm>
          <a:prstGeom prst="rect">
            <a:avLst/>
          </a:prstGeom>
          <a:noFill/>
          <a:ln w="9525">
            <a:noFill/>
          </a:ln>
        </p:spPr>
        <p:txBody>
          <a:bodyPr anchor="t" anchorCtr="0"/>
          <a:p>
            <a:pPr eaLnBrk="0" hangingPunct="0">
              <a:lnSpc>
                <a:spcPct val="110000"/>
              </a:lnSpc>
              <a:buClrTx/>
              <a:buFontTx/>
            </a:pPr>
            <a:r>
              <a:rPr lang="zh-CN" altLang="en-US" sz="2800" dirty="0">
                <a:latin typeface="宋体" pitchFamily="2" charset="-122"/>
                <a:ea typeface="宋体" pitchFamily="2" charset="-122"/>
              </a:rPr>
              <a:t>10001010      </a:t>
            </a:r>
            <a:r>
              <a:rPr lang="en-US" altLang="zh-CN" sz="2800" dirty="0">
                <a:latin typeface="宋体" pitchFamily="2" charset="-122"/>
                <a:ea typeface="宋体" pitchFamily="2" charset="-122"/>
              </a:rPr>
              <a:t>	</a:t>
            </a:r>
            <a:r>
              <a:rPr lang="zh-CN" altLang="en-US" sz="2800" dirty="0">
                <a:latin typeface="宋体" pitchFamily="2" charset="-122"/>
                <a:ea typeface="宋体" pitchFamily="2" charset="-122"/>
              </a:rPr>
              <a:t>1</a:t>
            </a:r>
            <a:endParaRPr lang="zh-CN" altLang="en-US" sz="2800" dirty="0">
              <a:latin typeface="宋体" pitchFamily="2" charset="-122"/>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2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22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22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9" grpId="0"/>
      <p:bldP spid="52230" grpId="0"/>
      <p:bldP spid="52231"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128002" name="Rectangle 3"/>
          <p:cNvSpPr>
            <a:spLocks noGrp="1"/>
          </p:cNvSpPr>
          <p:nvPr>
            <p:ph idx="4294967295"/>
          </p:nvPr>
        </p:nvSpPr>
        <p:spPr>
          <a:xfrm>
            <a:off x="571500" y="857250"/>
            <a:ext cx="8572500" cy="928688"/>
          </a:xfrm>
        </p:spPr>
        <p:txBody>
          <a:bodyPr vert="horz" wrap="square" lIns="91440" tIns="45720" rIns="91440" bIns="45720" anchor="t" anchorCtr="0"/>
          <a:p>
            <a:pPr marL="0" algn="just">
              <a:lnSpc>
                <a:spcPct val="100000"/>
              </a:lnSpc>
              <a:spcBef>
                <a:spcPct val="0"/>
              </a:spcBef>
              <a:buNone/>
            </a:pPr>
            <a:r>
              <a:rPr lang="zh-CN" altLang="en-US" sz="2400" dirty="0">
                <a:latin typeface="宋体" pitchFamily="2" charset="-122"/>
              </a:rPr>
              <a:t> </a:t>
            </a:r>
            <a:r>
              <a:rPr lang="zh-CN" altLang="en-US" dirty="0">
                <a:latin typeface="宋体" pitchFamily="2" charset="-122"/>
              </a:rPr>
              <a:t>用移位循环指令实现多字节移位</a:t>
            </a:r>
            <a:endParaRPr lang="zh-CN" altLang="en-US" dirty="0">
              <a:latin typeface="宋体" pitchFamily="2" charset="-122"/>
            </a:endParaRPr>
          </a:p>
          <a:p>
            <a:pPr marL="0" algn="just">
              <a:lnSpc>
                <a:spcPct val="100000"/>
              </a:lnSpc>
              <a:spcBef>
                <a:spcPct val="80000"/>
              </a:spcBef>
              <a:buNone/>
            </a:pPr>
            <a:r>
              <a:rPr lang="zh-CN" altLang="en-US" dirty="0">
                <a:solidFill>
                  <a:schemeClr val="folHlink"/>
                </a:solidFill>
                <a:latin typeface="宋体" pitchFamily="2" charset="-122"/>
              </a:rPr>
              <a:t>例：</a:t>
            </a:r>
            <a:r>
              <a:rPr lang="zh-CN" altLang="en-US" dirty="0">
                <a:latin typeface="宋体" pitchFamily="2" charset="-122"/>
              </a:rPr>
              <a:t>编程将寄存器 </a:t>
            </a:r>
            <a:r>
              <a:rPr lang="en-US" altLang="zh-CN" dirty="0">
                <a:latin typeface="宋体" pitchFamily="2" charset="-122"/>
              </a:rPr>
              <a:t>R6R5 </a:t>
            </a:r>
            <a:r>
              <a:rPr lang="zh-CN" altLang="en-US" dirty="0">
                <a:latin typeface="宋体" pitchFamily="2" charset="-122"/>
              </a:rPr>
              <a:t>中的双字节数</a:t>
            </a:r>
            <a:r>
              <a:rPr lang="en-US" altLang="zh-CN" dirty="0">
                <a:latin typeface="宋体" pitchFamily="2" charset="-122"/>
              </a:rPr>
              <a:t>X</a:t>
            </a:r>
            <a:r>
              <a:rPr lang="zh-CN" altLang="en-US" dirty="0">
                <a:latin typeface="宋体" pitchFamily="2" charset="-122"/>
              </a:rPr>
              <a:t>左移一位。</a:t>
            </a:r>
            <a:endParaRPr lang="zh-CN" altLang="zh-CN" dirty="0">
              <a:solidFill>
                <a:srgbClr val="FFC000"/>
              </a:solidFill>
              <a:latin typeface="宋体" pitchFamily="2" charset="-122"/>
            </a:endParaRPr>
          </a:p>
        </p:txBody>
      </p:sp>
      <p:grpSp>
        <p:nvGrpSpPr>
          <p:cNvPr id="2" name="Group 40"/>
          <p:cNvGrpSpPr/>
          <p:nvPr/>
        </p:nvGrpSpPr>
        <p:grpSpPr>
          <a:xfrm>
            <a:off x="2000250" y="2060575"/>
            <a:ext cx="4992688" cy="863600"/>
            <a:chOff x="2468" y="858"/>
            <a:chExt cx="3145" cy="544"/>
          </a:xfrm>
        </p:grpSpPr>
        <p:sp>
          <p:nvSpPr>
            <p:cNvPr id="128004" name="Text Box 17"/>
            <p:cNvSpPr txBox="1"/>
            <p:nvPr/>
          </p:nvSpPr>
          <p:spPr>
            <a:xfrm>
              <a:off x="2510" y="1135"/>
              <a:ext cx="282" cy="267"/>
            </a:xfrm>
            <a:prstGeom prst="rect">
              <a:avLst/>
            </a:prstGeom>
            <a:noFill/>
            <a:ln w="28575" cap="flat" cmpd="sng">
              <a:solidFill>
                <a:schemeClr val="accent1"/>
              </a:solidFill>
              <a:prstDash val="solid"/>
              <a:miter/>
              <a:headEnd type="none" w="med" len="med"/>
              <a:tailEnd type="none" w="med" len="med"/>
            </a:ln>
          </p:spPr>
          <p:txBody>
            <a:bodyPr lIns="0" tIns="0" rIns="0" bIns="0" anchor="t" anchorCtr="0"/>
            <a:p>
              <a:pPr algn="just">
                <a:spcBef>
                  <a:spcPct val="50000"/>
                </a:spcBef>
                <a:buClrTx/>
                <a:buFontTx/>
              </a:pPr>
              <a:endParaRPr lang="zh-CN" altLang="en-US" sz="2000" dirty="0">
                <a:solidFill>
                  <a:srgbClr val="FF0000"/>
                </a:solidFill>
                <a:latin typeface="Times New Roman" panose="02020503050405090304" pitchFamily="18" charset="0"/>
                <a:ea typeface="仿宋_GB2312" pitchFamily="49" charset="-122"/>
              </a:endParaRPr>
            </a:p>
          </p:txBody>
        </p:sp>
        <p:sp>
          <p:nvSpPr>
            <p:cNvPr id="128005" name="Text Box 18"/>
            <p:cNvSpPr txBox="1"/>
            <p:nvPr/>
          </p:nvSpPr>
          <p:spPr>
            <a:xfrm>
              <a:off x="4150" y="1135"/>
              <a:ext cx="951" cy="267"/>
            </a:xfrm>
            <a:prstGeom prst="rect">
              <a:avLst/>
            </a:prstGeom>
            <a:noFill/>
            <a:ln w="28575" cap="flat" cmpd="sng">
              <a:solidFill>
                <a:schemeClr val="accent1"/>
              </a:solidFill>
              <a:prstDash val="solid"/>
              <a:miter/>
              <a:headEnd type="none" w="med" len="med"/>
              <a:tailEnd type="none" w="med" len="med"/>
            </a:ln>
          </p:spPr>
          <p:txBody>
            <a:bodyPr lIns="0" tIns="0" rIns="0" bIns="0" anchor="t" anchorCtr="0"/>
            <a:p>
              <a:pPr algn="just">
                <a:spcBef>
                  <a:spcPct val="50000"/>
                </a:spcBef>
                <a:buClrTx/>
                <a:buFontTx/>
              </a:pPr>
              <a:endParaRPr lang="zh-CN" altLang="en-US" sz="2000" dirty="0">
                <a:solidFill>
                  <a:srgbClr val="FF0000"/>
                </a:solidFill>
                <a:latin typeface="Times New Roman" panose="02020503050405090304" pitchFamily="18" charset="0"/>
                <a:ea typeface="仿宋_GB2312" pitchFamily="49" charset="-122"/>
              </a:endParaRPr>
            </a:p>
          </p:txBody>
        </p:sp>
        <p:sp>
          <p:nvSpPr>
            <p:cNvPr id="128006" name="Text Box 19"/>
            <p:cNvSpPr txBox="1"/>
            <p:nvPr/>
          </p:nvSpPr>
          <p:spPr>
            <a:xfrm>
              <a:off x="5310" y="1135"/>
              <a:ext cx="282" cy="267"/>
            </a:xfrm>
            <a:prstGeom prst="rect">
              <a:avLst/>
            </a:prstGeom>
            <a:noFill/>
            <a:ln w="28575" cap="flat" cmpd="sng">
              <a:solidFill>
                <a:schemeClr val="accent1"/>
              </a:solidFill>
              <a:prstDash val="solid"/>
              <a:miter/>
              <a:headEnd type="none" w="med" len="med"/>
              <a:tailEnd type="none" w="med" len="med"/>
            </a:ln>
          </p:spPr>
          <p:txBody>
            <a:bodyPr lIns="0" tIns="0" rIns="0" bIns="0" anchor="t" anchorCtr="0"/>
            <a:p>
              <a:pPr algn="ctr">
                <a:spcBef>
                  <a:spcPct val="50000"/>
                </a:spcBef>
                <a:buClrTx/>
                <a:buFontTx/>
              </a:pPr>
              <a:r>
                <a:rPr lang="zh-CN" altLang="en-US" sz="2000" dirty="0">
                  <a:solidFill>
                    <a:srgbClr val="FF0000"/>
                  </a:solidFill>
                  <a:latin typeface="Times New Roman" panose="02020503050405090304" pitchFamily="18" charset="0"/>
                  <a:ea typeface="仿宋_GB2312" pitchFamily="49" charset="-122"/>
                </a:rPr>
                <a:t>0</a:t>
              </a:r>
              <a:endParaRPr lang="zh-CN" altLang="en-US" sz="2000" dirty="0">
                <a:solidFill>
                  <a:srgbClr val="FF0000"/>
                </a:solidFill>
                <a:latin typeface="Times New Roman" panose="02020503050405090304" pitchFamily="18" charset="0"/>
                <a:ea typeface="仿宋_GB2312" pitchFamily="49" charset="-122"/>
              </a:endParaRPr>
            </a:p>
          </p:txBody>
        </p:sp>
        <p:sp>
          <p:nvSpPr>
            <p:cNvPr id="128007" name="Text Box 20"/>
            <p:cNvSpPr txBox="1"/>
            <p:nvPr/>
          </p:nvSpPr>
          <p:spPr>
            <a:xfrm>
              <a:off x="3001" y="1135"/>
              <a:ext cx="951" cy="267"/>
            </a:xfrm>
            <a:prstGeom prst="rect">
              <a:avLst/>
            </a:prstGeom>
            <a:noFill/>
            <a:ln w="28575" cap="flat" cmpd="sng">
              <a:solidFill>
                <a:schemeClr val="accent1"/>
              </a:solidFill>
              <a:prstDash val="solid"/>
              <a:miter/>
              <a:headEnd type="none" w="med" len="med"/>
              <a:tailEnd type="none" w="med" len="med"/>
            </a:ln>
          </p:spPr>
          <p:txBody>
            <a:bodyPr lIns="0" tIns="0" rIns="0" bIns="0" anchor="t" anchorCtr="0"/>
            <a:p>
              <a:pPr algn="ctr">
                <a:spcBef>
                  <a:spcPct val="50000"/>
                </a:spcBef>
                <a:buClrTx/>
                <a:buFontTx/>
              </a:pPr>
              <a:endParaRPr lang="zh-CN" altLang="en-US" sz="2000" dirty="0">
                <a:solidFill>
                  <a:srgbClr val="FF0000"/>
                </a:solidFill>
                <a:latin typeface="Times New Roman" panose="02020503050405090304" pitchFamily="18" charset="0"/>
                <a:ea typeface="仿宋_GB2312" pitchFamily="49" charset="-122"/>
              </a:endParaRPr>
            </a:p>
          </p:txBody>
        </p:sp>
        <p:sp>
          <p:nvSpPr>
            <p:cNvPr id="128008" name="Line 21"/>
            <p:cNvSpPr/>
            <p:nvPr/>
          </p:nvSpPr>
          <p:spPr>
            <a:xfrm>
              <a:off x="3262" y="1274"/>
              <a:ext cx="428" cy="0"/>
            </a:xfrm>
            <a:prstGeom prst="line">
              <a:avLst/>
            </a:prstGeom>
            <a:ln w="28575" cap="flat" cmpd="sng">
              <a:solidFill>
                <a:schemeClr val="accent1"/>
              </a:solidFill>
              <a:prstDash val="solid"/>
              <a:round/>
              <a:headEnd type="arrow" w="med" len="med"/>
              <a:tailEnd type="none" w="med" len="med"/>
            </a:ln>
          </p:spPr>
        </p:sp>
        <p:sp>
          <p:nvSpPr>
            <p:cNvPr id="128009" name="Line 22"/>
            <p:cNvSpPr/>
            <p:nvPr/>
          </p:nvSpPr>
          <p:spPr>
            <a:xfrm>
              <a:off x="4432" y="1274"/>
              <a:ext cx="429" cy="0"/>
            </a:xfrm>
            <a:prstGeom prst="line">
              <a:avLst/>
            </a:prstGeom>
            <a:ln w="28575" cap="flat" cmpd="sng">
              <a:solidFill>
                <a:schemeClr val="accent1"/>
              </a:solidFill>
              <a:prstDash val="solid"/>
              <a:round/>
              <a:headEnd type="arrow" w="med" len="med"/>
              <a:tailEnd type="none" w="med" len="med"/>
            </a:ln>
          </p:spPr>
        </p:sp>
        <p:sp>
          <p:nvSpPr>
            <p:cNvPr id="128010" name="Line 23"/>
            <p:cNvSpPr/>
            <p:nvPr/>
          </p:nvSpPr>
          <p:spPr>
            <a:xfrm>
              <a:off x="2792" y="1274"/>
              <a:ext cx="209" cy="0"/>
            </a:xfrm>
            <a:prstGeom prst="line">
              <a:avLst/>
            </a:prstGeom>
            <a:ln w="28575" cap="flat" cmpd="sng">
              <a:solidFill>
                <a:schemeClr val="accent1"/>
              </a:solidFill>
              <a:prstDash val="solid"/>
              <a:round/>
              <a:headEnd type="arrow" w="med" len="med"/>
              <a:tailEnd type="none" w="med" len="med"/>
            </a:ln>
          </p:spPr>
        </p:sp>
        <p:sp>
          <p:nvSpPr>
            <p:cNvPr id="128011" name="Line 24"/>
            <p:cNvSpPr/>
            <p:nvPr/>
          </p:nvSpPr>
          <p:spPr>
            <a:xfrm>
              <a:off x="3952" y="1263"/>
              <a:ext cx="209" cy="0"/>
            </a:xfrm>
            <a:prstGeom prst="line">
              <a:avLst/>
            </a:prstGeom>
            <a:ln w="28575" cap="flat" cmpd="sng">
              <a:solidFill>
                <a:schemeClr val="accent1"/>
              </a:solidFill>
              <a:prstDash val="solid"/>
              <a:round/>
              <a:headEnd type="arrow" w="med" len="med"/>
              <a:tailEnd type="none" w="med" len="med"/>
            </a:ln>
          </p:spPr>
        </p:sp>
        <p:sp>
          <p:nvSpPr>
            <p:cNvPr id="128012" name="Line 25"/>
            <p:cNvSpPr/>
            <p:nvPr/>
          </p:nvSpPr>
          <p:spPr>
            <a:xfrm>
              <a:off x="5101" y="1274"/>
              <a:ext cx="209" cy="0"/>
            </a:xfrm>
            <a:prstGeom prst="line">
              <a:avLst/>
            </a:prstGeom>
            <a:ln w="28575" cap="flat" cmpd="sng">
              <a:solidFill>
                <a:schemeClr val="accent1"/>
              </a:solidFill>
              <a:prstDash val="solid"/>
              <a:round/>
              <a:headEnd type="arrow" w="med" len="med"/>
              <a:tailEnd type="none" w="med" len="med"/>
            </a:ln>
          </p:spPr>
        </p:sp>
        <p:sp>
          <p:nvSpPr>
            <p:cNvPr id="128013" name="Text Box 26"/>
            <p:cNvSpPr txBox="1"/>
            <p:nvPr/>
          </p:nvSpPr>
          <p:spPr>
            <a:xfrm>
              <a:off x="2468" y="858"/>
              <a:ext cx="345" cy="235"/>
            </a:xfrm>
            <a:prstGeom prst="rect">
              <a:avLst/>
            </a:prstGeom>
            <a:noFill/>
            <a:ln w="28575">
              <a:noFill/>
            </a:ln>
          </p:spPr>
          <p:txBody>
            <a:bodyPr lIns="0" tIns="0" rIns="0" bIns="0" anchor="t" anchorCtr="0"/>
            <a:p>
              <a:pPr algn="ctr">
                <a:spcBef>
                  <a:spcPct val="50000"/>
                </a:spcBef>
                <a:buClrTx/>
                <a:buFontTx/>
              </a:pPr>
              <a:r>
                <a:rPr lang="en-US" altLang="zh-CN" sz="2000" dirty="0">
                  <a:solidFill>
                    <a:srgbClr val="FF0000"/>
                  </a:solidFill>
                  <a:latin typeface="Times New Roman" panose="02020503050405090304" pitchFamily="18" charset="0"/>
                  <a:ea typeface="仿宋_GB2312" pitchFamily="49" charset="-122"/>
                </a:rPr>
                <a:t>Cy</a:t>
              </a:r>
              <a:endParaRPr lang="en-US" altLang="zh-CN" sz="2000" dirty="0">
                <a:solidFill>
                  <a:srgbClr val="FF0000"/>
                </a:solidFill>
                <a:latin typeface="Times New Roman" panose="02020503050405090304" pitchFamily="18" charset="0"/>
                <a:ea typeface="仿宋_GB2312" pitchFamily="49" charset="-122"/>
              </a:endParaRPr>
            </a:p>
          </p:txBody>
        </p:sp>
        <p:sp>
          <p:nvSpPr>
            <p:cNvPr id="128014" name="Text Box 27"/>
            <p:cNvSpPr txBox="1"/>
            <p:nvPr/>
          </p:nvSpPr>
          <p:spPr>
            <a:xfrm>
              <a:off x="3314" y="869"/>
              <a:ext cx="345" cy="234"/>
            </a:xfrm>
            <a:prstGeom prst="rect">
              <a:avLst/>
            </a:prstGeom>
            <a:noFill/>
            <a:ln w="28575">
              <a:noFill/>
            </a:ln>
          </p:spPr>
          <p:txBody>
            <a:bodyPr lIns="0" tIns="0" rIns="0" bIns="0" anchor="t" anchorCtr="0"/>
            <a:p>
              <a:pPr algn="ctr">
                <a:spcBef>
                  <a:spcPct val="50000"/>
                </a:spcBef>
                <a:buClrTx/>
                <a:buFontTx/>
              </a:pPr>
              <a:r>
                <a:rPr lang="en-US" altLang="zh-CN" sz="2000" dirty="0">
                  <a:solidFill>
                    <a:srgbClr val="FF0000"/>
                  </a:solidFill>
                  <a:latin typeface="Times New Roman" panose="02020503050405090304" pitchFamily="18" charset="0"/>
                  <a:ea typeface="仿宋_GB2312" pitchFamily="49" charset="-122"/>
                </a:rPr>
                <a:t>R</a:t>
              </a:r>
              <a:r>
                <a:rPr lang="en-US" altLang="zh-CN" sz="2000" baseline="-25000" dirty="0">
                  <a:solidFill>
                    <a:srgbClr val="FF0000"/>
                  </a:solidFill>
                  <a:latin typeface="Times New Roman" panose="02020503050405090304" pitchFamily="18" charset="0"/>
                  <a:ea typeface="仿宋_GB2312" pitchFamily="49" charset="-122"/>
                </a:rPr>
                <a:t>6</a:t>
              </a:r>
              <a:endParaRPr lang="en-US" altLang="zh-CN" sz="2000" baseline="-25000" dirty="0">
                <a:solidFill>
                  <a:srgbClr val="FF0000"/>
                </a:solidFill>
                <a:latin typeface="Times New Roman" panose="02020503050405090304" pitchFamily="18" charset="0"/>
                <a:ea typeface="仿宋_GB2312" pitchFamily="49" charset="-122"/>
              </a:endParaRPr>
            </a:p>
          </p:txBody>
        </p:sp>
        <p:sp>
          <p:nvSpPr>
            <p:cNvPr id="128015" name="Text Box 28"/>
            <p:cNvSpPr txBox="1"/>
            <p:nvPr/>
          </p:nvSpPr>
          <p:spPr>
            <a:xfrm>
              <a:off x="4474" y="858"/>
              <a:ext cx="345" cy="235"/>
            </a:xfrm>
            <a:prstGeom prst="rect">
              <a:avLst/>
            </a:prstGeom>
            <a:noFill/>
            <a:ln w="28575">
              <a:noFill/>
            </a:ln>
          </p:spPr>
          <p:txBody>
            <a:bodyPr lIns="0" tIns="0" rIns="0" bIns="0" anchor="t" anchorCtr="0"/>
            <a:p>
              <a:pPr algn="ctr">
                <a:spcBef>
                  <a:spcPct val="50000"/>
                </a:spcBef>
                <a:buClrTx/>
                <a:buFontTx/>
              </a:pPr>
              <a:r>
                <a:rPr lang="en-US" altLang="zh-CN" sz="2000" dirty="0">
                  <a:solidFill>
                    <a:srgbClr val="FF0000"/>
                  </a:solidFill>
                  <a:latin typeface="Times New Roman" panose="02020503050405090304" pitchFamily="18" charset="0"/>
                  <a:ea typeface="仿宋_GB2312" pitchFamily="49" charset="-122"/>
                </a:rPr>
                <a:t>R</a:t>
              </a:r>
              <a:r>
                <a:rPr lang="en-US" altLang="zh-CN" sz="2000" baseline="-25000" dirty="0">
                  <a:solidFill>
                    <a:srgbClr val="FF0000"/>
                  </a:solidFill>
                  <a:latin typeface="Times New Roman" panose="02020503050405090304" pitchFamily="18" charset="0"/>
                  <a:ea typeface="仿宋_GB2312" pitchFamily="49" charset="-122"/>
                </a:rPr>
                <a:t>5</a:t>
              </a:r>
              <a:endParaRPr lang="en-US" altLang="zh-CN" sz="2000" baseline="-25000" dirty="0">
                <a:solidFill>
                  <a:srgbClr val="FF0000"/>
                </a:solidFill>
                <a:latin typeface="Times New Roman" panose="02020503050405090304" pitchFamily="18" charset="0"/>
                <a:ea typeface="仿宋_GB2312" pitchFamily="49" charset="-122"/>
              </a:endParaRPr>
            </a:p>
          </p:txBody>
        </p:sp>
        <p:sp>
          <p:nvSpPr>
            <p:cNvPr id="128016" name="Text Box 29"/>
            <p:cNvSpPr txBox="1"/>
            <p:nvPr/>
          </p:nvSpPr>
          <p:spPr>
            <a:xfrm>
              <a:off x="5268" y="858"/>
              <a:ext cx="345" cy="235"/>
            </a:xfrm>
            <a:prstGeom prst="rect">
              <a:avLst/>
            </a:prstGeom>
            <a:noFill/>
            <a:ln w="28575">
              <a:noFill/>
            </a:ln>
          </p:spPr>
          <p:txBody>
            <a:bodyPr lIns="0" tIns="0" rIns="0" bIns="0" anchor="t" anchorCtr="0"/>
            <a:p>
              <a:pPr algn="ctr">
                <a:spcBef>
                  <a:spcPct val="50000"/>
                </a:spcBef>
                <a:buClrTx/>
                <a:buFontTx/>
              </a:pPr>
              <a:r>
                <a:rPr lang="en-US" altLang="zh-CN" sz="2000" dirty="0">
                  <a:solidFill>
                    <a:srgbClr val="FF0000"/>
                  </a:solidFill>
                  <a:latin typeface="Times New Roman" panose="02020503050405090304" pitchFamily="18" charset="0"/>
                  <a:ea typeface="仿宋_GB2312" pitchFamily="49" charset="-122"/>
                </a:rPr>
                <a:t>Cy</a:t>
              </a:r>
              <a:endParaRPr lang="en-US" altLang="zh-CN" sz="2000" dirty="0">
                <a:solidFill>
                  <a:srgbClr val="FF0000"/>
                </a:solidFill>
                <a:latin typeface="Times New Roman" panose="02020503050405090304" pitchFamily="18" charset="0"/>
                <a:ea typeface="仿宋_GB2312" pitchFamily="49" charset="-122"/>
              </a:endParaRPr>
            </a:p>
          </p:txBody>
        </p:sp>
      </p:grpSp>
      <p:sp>
        <p:nvSpPr>
          <p:cNvPr id="91141" name="TextBox 18"/>
          <p:cNvSpPr txBox="1"/>
          <p:nvPr/>
        </p:nvSpPr>
        <p:spPr>
          <a:xfrm>
            <a:off x="785813" y="3143250"/>
            <a:ext cx="2571750" cy="2738438"/>
          </a:xfrm>
          <a:prstGeom prst="rect">
            <a:avLst/>
          </a:prstGeom>
          <a:noFill/>
          <a:ln w="9525">
            <a:noFill/>
          </a:ln>
        </p:spPr>
        <p:txBody>
          <a:bodyPr anchor="t" anchorCtr="0">
            <a:spAutoFit/>
          </a:bodyPr>
          <a:p>
            <a:pPr>
              <a:lnSpc>
                <a:spcPct val="80000"/>
              </a:lnSpc>
              <a:spcBef>
                <a:spcPct val="50000"/>
              </a:spcBef>
              <a:buClrTx/>
            </a:pPr>
            <a:r>
              <a:rPr lang="en-US" altLang="zh-CN" sz="2000" dirty="0">
                <a:latin typeface="Times New Roman" panose="02020503050405090304" pitchFamily="18" charset="0"/>
                <a:ea typeface="仿宋_GB2312" pitchFamily="49" charset="-122"/>
              </a:rPr>
              <a:t>CLR	 C</a:t>
            </a:r>
            <a:endParaRPr lang="en-US" altLang="zh-CN" sz="2000" dirty="0">
              <a:latin typeface="Times New Roman" panose="02020503050405090304" pitchFamily="18" charset="0"/>
              <a:ea typeface="仿宋_GB2312" pitchFamily="49" charset="-122"/>
            </a:endParaRPr>
          </a:p>
          <a:p>
            <a:pPr>
              <a:lnSpc>
                <a:spcPct val="80000"/>
              </a:lnSpc>
              <a:spcBef>
                <a:spcPct val="50000"/>
              </a:spcBef>
              <a:buClrTx/>
            </a:pPr>
            <a:r>
              <a:rPr lang="en-US" altLang="zh-CN" sz="2000" dirty="0">
                <a:latin typeface="Times New Roman" panose="02020503050405090304" pitchFamily="18" charset="0"/>
                <a:ea typeface="仿宋_GB2312" pitchFamily="49" charset="-122"/>
              </a:rPr>
              <a:t>MOV	 A，R5</a:t>
            </a:r>
            <a:endParaRPr lang="en-US" altLang="zh-CN" sz="2000" dirty="0">
              <a:latin typeface="Times New Roman" panose="02020503050405090304" pitchFamily="18" charset="0"/>
              <a:ea typeface="仿宋_GB2312" pitchFamily="49" charset="-122"/>
            </a:endParaRPr>
          </a:p>
          <a:p>
            <a:pPr>
              <a:lnSpc>
                <a:spcPct val="80000"/>
              </a:lnSpc>
              <a:spcBef>
                <a:spcPct val="50000"/>
              </a:spcBef>
              <a:buClrTx/>
            </a:pPr>
            <a:r>
              <a:rPr lang="en-US" altLang="zh-CN" sz="2000" dirty="0">
                <a:latin typeface="Times New Roman" panose="02020503050405090304" pitchFamily="18" charset="0"/>
                <a:ea typeface="仿宋_GB2312" pitchFamily="49" charset="-122"/>
              </a:rPr>
              <a:t>RLC	 A</a:t>
            </a:r>
            <a:endParaRPr lang="en-US" altLang="zh-CN" sz="2000" dirty="0">
              <a:latin typeface="Times New Roman" panose="02020503050405090304" pitchFamily="18" charset="0"/>
              <a:ea typeface="仿宋_GB2312" pitchFamily="49" charset="-122"/>
            </a:endParaRPr>
          </a:p>
          <a:p>
            <a:pPr>
              <a:lnSpc>
                <a:spcPct val="80000"/>
              </a:lnSpc>
              <a:spcBef>
                <a:spcPct val="50000"/>
              </a:spcBef>
              <a:buClrTx/>
            </a:pPr>
            <a:r>
              <a:rPr lang="en-US" altLang="zh-CN" sz="2000" dirty="0">
                <a:latin typeface="Times New Roman" panose="02020503050405090304" pitchFamily="18" charset="0"/>
                <a:ea typeface="仿宋_GB2312" pitchFamily="49" charset="-122"/>
              </a:rPr>
              <a:t>MOV	 R5，A</a:t>
            </a:r>
            <a:endParaRPr lang="en-US" altLang="zh-CN" sz="2000" dirty="0">
              <a:latin typeface="Times New Roman" panose="02020503050405090304" pitchFamily="18" charset="0"/>
              <a:ea typeface="仿宋_GB2312" pitchFamily="49" charset="-122"/>
            </a:endParaRPr>
          </a:p>
          <a:p>
            <a:pPr>
              <a:lnSpc>
                <a:spcPct val="80000"/>
              </a:lnSpc>
              <a:spcBef>
                <a:spcPct val="50000"/>
              </a:spcBef>
              <a:buClrTx/>
            </a:pPr>
            <a:r>
              <a:rPr lang="en-US" altLang="zh-CN" sz="2000" dirty="0">
                <a:latin typeface="Times New Roman" panose="02020503050405090304" pitchFamily="18" charset="0"/>
                <a:ea typeface="仿宋_GB2312" pitchFamily="49" charset="-122"/>
              </a:rPr>
              <a:t>MOV	 A，R6</a:t>
            </a:r>
            <a:endParaRPr lang="en-US" altLang="zh-CN" sz="2000" dirty="0">
              <a:latin typeface="Times New Roman" panose="02020503050405090304" pitchFamily="18" charset="0"/>
              <a:ea typeface="仿宋_GB2312" pitchFamily="49" charset="-122"/>
            </a:endParaRPr>
          </a:p>
          <a:p>
            <a:pPr>
              <a:lnSpc>
                <a:spcPct val="80000"/>
              </a:lnSpc>
              <a:spcBef>
                <a:spcPct val="50000"/>
              </a:spcBef>
              <a:buClrTx/>
            </a:pPr>
            <a:r>
              <a:rPr lang="en-US" altLang="zh-CN" sz="2000" dirty="0">
                <a:latin typeface="Times New Roman" panose="02020503050405090304" pitchFamily="18" charset="0"/>
                <a:ea typeface="仿宋_GB2312" pitchFamily="49" charset="-122"/>
              </a:rPr>
              <a:t>RLC	 A</a:t>
            </a:r>
            <a:endParaRPr lang="en-US" altLang="zh-CN" sz="2000" dirty="0">
              <a:latin typeface="Times New Roman" panose="02020503050405090304" pitchFamily="18" charset="0"/>
              <a:ea typeface="仿宋_GB2312" pitchFamily="49" charset="-122"/>
            </a:endParaRPr>
          </a:p>
          <a:p>
            <a:pPr>
              <a:lnSpc>
                <a:spcPct val="80000"/>
              </a:lnSpc>
              <a:spcBef>
                <a:spcPct val="50000"/>
              </a:spcBef>
              <a:buClrTx/>
            </a:pPr>
            <a:r>
              <a:rPr lang="en-US" altLang="zh-CN" sz="2000" dirty="0">
                <a:latin typeface="Times New Roman" panose="02020503050405090304" pitchFamily="18" charset="0"/>
                <a:ea typeface="仿宋_GB2312" pitchFamily="49" charset="-122"/>
              </a:rPr>
              <a:t>MOV	 R6，A</a:t>
            </a:r>
            <a:endParaRPr lang="zh-CN" altLang="en-US" sz="2000" dirty="0">
              <a:latin typeface="Times New Roman" panose="02020503050405090304" pitchFamily="18" charset="0"/>
              <a:ea typeface="仿宋_GB2312" pitchFamily="49" charset="-122"/>
            </a:endParaRPr>
          </a:p>
        </p:txBody>
      </p:sp>
      <p:sp>
        <p:nvSpPr>
          <p:cNvPr id="91142" name="TextBox 19"/>
          <p:cNvSpPr txBox="1"/>
          <p:nvPr/>
        </p:nvSpPr>
        <p:spPr>
          <a:xfrm>
            <a:off x="3357563" y="3065463"/>
            <a:ext cx="5888037" cy="3784600"/>
          </a:xfrm>
          <a:prstGeom prst="rect">
            <a:avLst/>
          </a:prstGeom>
          <a:noFill/>
          <a:ln w="9525">
            <a:noFill/>
          </a:ln>
        </p:spPr>
        <p:txBody>
          <a:bodyPr wrap="square" anchor="t" anchorCtr="0">
            <a:spAutoFit/>
          </a:bodyPr>
          <a:p>
            <a:pPr>
              <a:spcBef>
                <a:spcPct val="50000"/>
              </a:spcBef>
              <a:buClrTx/>
              <a:buFontTx/>
            </a:pPr>
            <a:r>
              <a:rPr lang="zh-CN" altLang="zh-CN" sz="2000" dirty="0">
                <a:latin typeface="宋体" pitchFamily="2" charset="-122"/>
                <a:ea typeface="仿宋_GB2312" pitchFamily="49" charset="-122"/>
              </a:rPr>
              <a:t>；</a:t>
            </a:r>
            <a:r>
              <a:rPr lang="en-US" altLang="zh-CN" sz="2000" dirty="0">
                <a:latin typeface="宋体" pitchFamily="2" charset="-122"/>
                <a:ea typeface="仿宋_GB2312" pitchFamily="49" charset="-122"/>
              </a:rPr>
              <a:t>Cy=0， </a:t>
            </a:r>
            <a:r>
              <a:rPr lang="zh-CN" altLang="en-US" sz="2000" dirty="0">
                <a:latin typeface="宋体" pitchFamily="2" charset="-122"/>
                <a:ea typeface="仿宋_GB2312" pitchFamily="49" charset="-122"/>
              </a:rPr>
              <a:t>设 </a:t>
            </a:r>
            <a:r>
              <a:rPr lang="en-US" altLang="zh-CN" sz="2000" dirty="0">
                <a:latin typeface="宋体" pitchFamily="2" charset="-122"/>
                <a:ea typeface="仿宋_GB2312" pitchFamily="49" charset="-122"/>
              </a:rPr>
              <a:t>(R6)= 55H ，(R5)= AAH</a:t>
            </a:r>
            <a:endParaRPr lang="en-US" altLang="zh-CN" sz="2000" dirty="0">
              <a:latin typeface="宋体" pitchFamily="2" charset="-122"/>
              <a:ea typeface="仿宋_GB2312" pitchFamily="49" charset="-122"/>
            </a:endParaRPr>
          </a:p>
          <a:p>
            <a:pPr>
              <a:lnSpc>
                <a:spcPct val="120000"/>
              </a:lnSpc>
              <a:buClrTx/>
              <a:buFontTx/>
            </a:pPr>
            <a:r>
              <a:rPr lang="zh-CN" altLang="en-US" sz="2000" dirty="0">
                <a:latin typeface="宋体" pitchFamily="2" charset="-122"/>
                <a:ea typeface="仿宋_GB2312" pitchFamily="49" charset="-122"/>
              </a:rPr>
              <a:t>；</a:t>
            </a:r>
            <a:r>
              <a:rPr lang="en-US" altLang="zh-CN" sz="2000" dirty="0">
                <a:latin typeface="宋体" pitchFamily="2" charset="-122"/>
                <a:ea typeface="仿宋_GB2312" pitchFamily="49" charset="-122"/>
              </a:rPr>
              <a:t>(R6)=01010101，(R5)=10101010，Cy=0</a:t>
            </a:r>
            <a:endParaRPr lang="en-US" altLang="zh-CN" sz="2000" dirty="0">
              <a:latin typeface="宋体" pitchFamily="2" charset="-122"/>
              <a:ea typeface="仿宋_GB2312" pitchFamily="49" charset="-122"/>
            </a:endParaRPr>
          </a:p>
          <a:p>
            <a:pPr>
              <a:lnSpc>
                <a:spcPct val="120000"/>
              </a:lnSpc>
              <a:buClrTx/>
              <a:buFontTx/>
            </a:pPr>
            <a:r>
              <a:rPr lang="en-US" altLang="zh-CN" sz="2000" dirty="0">
                <a:latin typeface="宋体" pitchFamily="2" charset="-122"/>
                <a:ea typeface="仿宋_GB2312" pitchFamily="49" charset="-122"/>
              </a:rPr>
              <a:t>;</a:t>
            </a:r>
            <a:r>
              <a:rPr lang="zh-CN" altLang="en-US" sz="2000" dirty="0">
                <a:latin typeface="Times New Roman" panose="02020503050405090304" pitchFamily="18" charset="0"/>
                <a:ea typeface="仿宋_GB2312" pitchFamily="49" charset="-122"/>
              </a:rPr>
              <a:t>低</a:t>
            </a:r>
            <a:r>
              <a:rPr lang="en-US" altLang="zh-CN" sz="2000">
                <a:latin typeface="Times New Roman" panose="02020503050405090304" pitchFamily="18" charset="0"/>
                <a:ea typeface="仿宋_GB2312" pitchFamily="49" charset="-122"/>
              </a:rPr>
              <a:t>8</a:t>
            </a:r>
            <a:r>
              <a:rPr lang="zh-CN" altLang="en-US" sz="2000" dirty="0">
                <a:latin typeface="Times New Roman" panose="02020503050405090304" pitchFamily="18" charset="0"/>
                <a:ea typeface="仿宋_GB2312" pitchFamily="49" charset="-122"/>
              </a:rPr>
              <a:t>位左移</a:t>
            </a:r>
            <a:endParaRPr lang="en-US" altLang="zh-CN" sz="2000" dirty="0">
              <a:latin typeface="宋体" pitchFamily="2" charset="-122"/>
              <a:ea typeface="仿宋_GB2312" pitchFamily="49" charset="-122"/>
            </a:endParaRPr>
          </a:p>
          <a:p>
            <a:pPr>
              <a:lnSpc>
                <a:spcPct val="120000"/>
              </a:lnSpc>
              <a:buClrTx/>
              <a:buFontTx/>
            </a:pPr>
            <a:r>
              <a:rPr lang="zh-CN" altLang="zh-CN" sz="2000" dirty="0">
                <a:latin typeface="宋体" pitchFamily="2" charset="-122"/>
                <a:ea typeface="仿宋_GB2312" pitchFamily="49" charset="-122"/>
              </a:rPr>
              <a:t>；</a:t>
            </a:r>
            <a:r>
              <a:rPr lang="en-US" altLang="zh-CN" sz="2000" dirty="0">
                <a:latin typeface="宋体" pitchFamily="2" charset="-122"/>
                <a:ea typeface="仿宋_GB2312" pitchFamily="49" charset="-122"/>
              </a:rPr>
              <a:t>(R6)=01010101，(R5)=01010100，Cy=1</a:t>
            </a:r>
            <a:endParaRPr lang="en-US" altLang="zh-CN" sz="2000" dirty="0">
              <a:latin typeface="宋体" pitchFamily="2" charset="-122"/>
              <a:ea typeface="仿宋_GB2312" pitchFamily="49" charset="-122"/>
            </a:endParaRPr>
          </a:p>
          <a:p>
            <a:pPr>
              <a:lnSpc>
                <a:spcPct val="110000"/>
              </a:lnSpc>
              <a:spcBef>
                <a:spcPct val="50000"/>
              </a:spcBef>
              <a:buClrTx/>
              <a:buFontTx/>
            </a:pPr>
            <a:r>
              <a:rPr lang="zh-CN" altLang="zh-CN" sz="2000" dirty="0">
                <a:latin typeface="宋体" pitchFamily="2" charset="-122"/>
                <a:ea typeface="仿宋_GB2312" pitchFamily="49" charset="-122"/>
              </a:rPr>
              <a:t>；</a:t>
            </a:r>
            <a:r>
              <a:rPr lang="zh-CN" altLang="en-US" sz="2000" dirty="0">
                <a:latin typeface="Times New Roman" panose="02020503050405090304" pitchFamily="18" charset="0"/>
                <a:ea typeface="仿宋_GB2312" pitchFamily="49" charset="-122"/>
              </a:rPr>
              <a:t>取高</a:t>
            </a:r>
            <a:r>
              <a:rPr lang="en-US" altLang="zh-CN" sz="2000">
                <a:latin typeface="Times New Roman" panose="02020503050405090304" pitchFamily="18" charset="0"/>
                <a:ea typeface="仿宋_GB2312" pitchFamily="49" charset="-122"/>
              </a:rPr>
              <a:t>8</a:t>
            </a:r>
            <a:r>
              <a:rPr lang="zh-CN" altLang="en-US" sz="2000" dirty="0">
                <a:latin typeface="Times New Roman" panose="02020503050405090304" pitchFamily="18" charset="0"/>
                <a:ea typeface="仿宋_GB2312" pitchFamily="49" charset="-122"/>
              </a:rPr>
              <a:t>位</a:t>
            </a:r>
            <a:endParaRPr lang="en-US" altLang="zh-CN" sz="2000" dirty="0">
              <a:latin typeface="宋体" pitchFamily="2" charset="-122"/>
              <a:ea typeface="仿宋_GB2312" pitchFamily="49" charset="-122"/>
            </a:endParaRPr>
          </a:p>
          <a:p>
            <a:pPr>
              <a:lnSpc>
                <a:spcPct val="130000"/>
              </a:lnSpc>
              <a:buClrTx/>
              <a:buFontTx/>
            </a:pPr>
            <a:r>
              <a:rPr lang="zh-CN" altLang="en-US" sz="2000" dirty="0">
                <a:latin typeface="Times New Roman" panose="02020503050405090304" pitchFamily="18" charset="0"/>
                <a:ea typeface="仿宋_GB2312" pitchFamily="49" charset="-122"/>
              </a:rPr>
              <a:t>；高</a:t>
            </a:r>
            <a:r>
              <a:rPr lang="en-US" altLang="zh-CN" sz="2000">
                <a:latin typeface="Times New Roman" panose="02020503050405090304" pitchFamily="18" charset="0"/>
                <a:ea typeface="仿宋_GB2312" pitchFamily="49" charset="-122"/>
              </a:rPr>
              <a:t>8</a:t>
            </a:r>
            <a:r>
              <a:rPr lang="zh-CN" altLang="en-US" sz="2000" dirty="0">
                <a:latin typeface="Times New Roman" panose="02020503050405090304" pitchFamily="18" charset="0"/>
                <a:ea typeface="仿宋_GB2312" pitchFamily="49" charset="-122"/>
              </a:rPr>
              <a:t>位左移，并带进低</a:t>
            </a:r>
            <a:r>
              <a:rPr lang="en-US" altLang="zh-CN" sz="2000">
                <a:latin typeface="Times New Roman" panose="02020503050405090304" pitchFamily="18" charset="0"/>
                <a:ea typeface="仿宋_GB2312" pitchFamily="49" charset="-122"/>
              </a:rPr>
              <a:t>8</a:t>
            </a:r>
            <a:r>
              <a:rPr lang="zh-CN" altLang="en-US" sz="2000" dirty="0">
                <a:latin typeface="Times New Roman" panose="02020503050405090304" pitchFamily="18" charset="0"/>
                <a:ea typeface="仿宋_GB2312" pitchFamily="49" charset="-122"/>
              </a:rPr>
              <a:t>位左移产生的进位位</a:t>
            </a:r>
            <a:endParaRPr lang="zh-CN" altLang="en-US" sz="2000" dirty="0">
              <a:latin typeface="Times New Roman" panose="02020503050405090304" pitchFamily="18" charset="0"/>
              <a:ea typeface="仿宋_GB2312" pitchFamily="49" charset="-122"/>
            </a:endParaRPr>
          </a:p>
          <a:p>
            <a:pPr>
              <a:lnSpc>
                <a:spcPct val="130000"/>
              </a:lnSpc>
              <a:buClrTx/>
              <a:buFontTx/>
            </a:pPr>
            <a:r>
              <a:rPr lang="zh-CN" altLang="en-US" sz="2000" dirty="0">
                <a:latin typeface="宋体" pitchFamily="2" charset="-122"/>
                <a:ea typeface="仿宋_GB2312" pitchFamily="49" charset="-122"/>
              </a:rPr>
              <a:t>；</a:t>
            </a:r>
            <a:r>
              <a:rPr lang="en-US" altLang="zh-CN" sz="2000" dirty="0">
                <a:latin typeface="宋体" pitchFamily="2" charset="-122"/>
                <a:ea typeface="仿宋_GB2312" pitchFamily="49" charset="-122"/>
              </a:rPr>
              <a:t>(R6)=10101011，</a:t>
            </a:r>
            <a:r>
              <a:rPr lang="en-US" altLang="zh-CN" sz="2000" dirty="0">
                <a:latin typeface="宋体" pitchFamily="2" charset="-122"/>
                <a:ea typeface="仿宋_GB2312" pitchFamily="49" charset="-122"/>
                <a:sym typeface="楷体_GB2312" pitchFamily="49" charset="-122"/>
              </a:rPr>
              <a:t>(R5)</a:t>
            </a:r>
            <a:r>
              <a:rPr lang="en-US" altLang="zh-CN" sz="2000" dirty="0">
                <a:latin typeface="宋体" pitchFamily="2" charset="-122"/>
                <a:ea typeface="仿宋_GB2312" pitchFamily="49" charset="-122"/>
              </a:rPr>
              <a:t>=01010100，Cy=0</a:t>
            </a:r>
            <a:endParaRPr lang="en-US" altLang="zh-CN" sz="2000" dirty="0">
              <a:latin typeface="宋体" pitchFamily="2" charset="-122"/>
              <a:ea typeface="仿宋_GB2312" pitchFamily="49" charset="-122"/>
            </a:endParaRPr>
          </a:p>
          <a:p>
            <a:pPr>
              <a:lnSpc>
                <a:spcPct val="110000"/>
              </a:lnSpc>
              <a:spcBef>
                <a:spcPct val="50000"/>
              </a:spcBef>
              <a:buClrTx/>
              <a:buFontTx/>
            </a:pPr>
            <a:endParaRPr lang="en-US" altLang="zh-CN" sz="2000" dirty="0">
              <a:latin typeface="宋体" pitchFamily="2" charset="-122"/>
              <a:ea typeface="仿宋_GB2312" pitchFamily="49" charset="-122"/>
            </a:endParaRPr>
          </a:p>
          <a:p>
            <a:pPr>
              <a:lnSpc>
                <a:spcPct val="110000"/>
              </a:lnSpc>
              <a:spcBef>
                <a:spcPct val="50000"/>
              </a:spcBef>
              <a:buClrTx/>
              <a:buFontTx/>
            </a:pPr>
            <a:endParaRPr lang="en-US" altLang="zh-CN" sz="2000" dirty="0">
              <a:latin typeface="宋体" pitchFamily="2" charset="-122"/>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0-#ppt_w/2"/>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1142">
                                            <p:txEl>
                                              <p:charRg st="0" end="2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1142">
                                            <p:txEl>
                                              <p:charRg st="26" end="5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1142">
                                            <p:txEl>
                                              <p:charRg st="56" end="6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1141">
                                            <p:txEl>
                                              <p:charRg st="0"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1141">
                                            <p:txEl>
                                              <p:charRg st="7" end="1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1141">
                                            <p:txEl>
                                              <p:charRg st="17" end="2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1141">
                                            <p:txEl>
                                              <p:charRg st="24" end="3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114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114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114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91141">
                                            <p:txEl>
                                              <p:charRg st="34" end="44"/>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1141">
                                            <p:txEl>
                                              <p:charRg st="44" end="51"/>
                                            </p:txEl>
                                          </p:spTgt>
                                        </p:tgtEl>
                                        <p:attrNameLst>
                                          <p:attrName>style.visibility</p:attrName>
                                        </p:attrNameLst>
                                      </p:cBhvr>
                                      <p:to>
                                        <p:strVal val="visible"/>
                                      </p:to>
                                    </p:set>
                                  </p:childTnLst>
                                </p:cTn>
                              </p:par>
                              <p:par>
                                <p:cTn id="43" presetID="2" presetClass="entr" presetSubtype="4" fill="hold" nodeType="withEffect">
                                  <p:stCondLst>
                                    <p:cond delay="0"/>
                                  </p:stCondLst>
                                  <p:childTnLst>
                                    <p:set>
                                      <p:cBhvr>
                                        <p:cTn id="44" dur="1" fill="hold">
                                          <p:stCondLst>
                                            <p:cond delay="0"/>
                                          </p:stCondLst>
                                        </p:cTn>
                                        <p:tgtEl>
                                          <p:spTgt spid="91141">
                                            <p:txEl>
                                              <p:charRg st="51" end="61"/>
                                            </p:txEl>
                                          </p:spTgt>
                                        </p:tgtEl>
                                        <p:attrNameLst>
                                          <p:attrName>style.visibility</p:attrName>
                                        </p:attrNameLst>
                                      </p:cBhvr>
                                      <p:to>
                                        <p:strVal val="visible"/>
                                      </p:to>
                                    </p:set>
                                    <p:anim calcmode="lin" valueType="num">
                                      <p:cBhvr additive="base">
                                        <p:cTn id="45" dur="500" fill="hold"/>
                                        <p:tgtEl>
                                          <p:spTgt spid="91141">
                                            <p:txEl>
                                              <p:charRg st="51" end="61"/>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91141">
                                            <p:txEl>
                                              <p:charRg st="51" end="61"/>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91142">
                                            <p:txEl>
                                              <p:charRg st="121" end="151"/>
                                            </p:txEl>
                                          </p:spTgt>
                                        </p:tgtEl>
                                        <p:attrNameLst>
                                          <p:attrName>style.visibility</p:attrName>
                                        </p:attrNameLst>
                                      </p:cBhvr>
                                      <p:to>
                                        <p:strVal val="visible"/>
                                      </p:to>
                                    </p:set>
                                    <p:anim calcmode="lin" valueType="num">
                                      <p:cBhvr additive="base">
                                        <p:cTn id="51" dur="500" fill="hold"/>
                                        <p:tgtEl>
                                          <p:spTgt spid="91142">
                                            <p:txEl>
                                              <p:charRg st="121" end="151"/>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91142">
                                            <p:txEl>
                                              <p:charRg st="121" end="15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3" name="Rectangle 3"/>
          <p:cNvSpPr>
            <a:spLocks noGrp="1"/>
          </p:cNvSpPr>
          <p:nvPr>
            <p:ph idx="1"/>
          </p:nvPr>
        </p:nvSpPr>
        <p:spPr>
          <a:xfrm>
            <a:off x="827088" y="1571625"/>
            <a:ext cx="7696200" cy="4824413"/>
          </a:xfrm>
        </p:spPr>
        <p:txBody>
          <a:bodyPr vert="horz" wrap="square" lIns="91440" tIns="45720" rIns="91440" bIns="45720" anchor="t" anchorCtr="0"/>
          <a:p>
            <a:pPr marL="0" eaLnBrk="1" hangingPunct="1">
              <a:lnSpc>
                <a:spcPct val="120000"/>
              </a:lnSpc>
              <a:spcBef>
                <a:spcPct val="0"/>
              </a:spcBef>
              <a:buClr>
                <a:schemeClr val="hlink"/>
              </a:buClr>
              <a:buNone/>
            </a:pP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、与逻辑操作指令</a:t>
            </a:r>
            <a:endParaRPr lang="zh-CN" altLang="en-US" b="1" dirty="0">
              <a:latin typeface="黑体" panose="02010609060101010101" pitchFamily="49" charset="-122"/>
              <a:ea typeface="黑体" panose="02010609060101010101" pitchFamily="49" charset="-122"/>
            </a:endParaRPr>
          </a:p>
          <a:p>
            <a:pPr marL="0" eaLnBrk="1" hangingPunct="1">
              <a:lnSpc>
                <a:spcPct val="120000"/>
              </a:lnSpc>
              <a:spcBef>
                <a:spcPct val="0"/>
              </a:spcBef>
              <a:buClr>
                <a:schemeClr val="hlink"/>
              </a:buClr>
              <a:buNone/>
            </a:pPr>
            <a:r>
              <a:rPr lang="zh-CN" altLang="en-US" sz="2000" dirty="0"/>
              <a:t>    		</a:t>
            </a:r>
            <a:r>
              <a:rPr lang="en-US" altLang="zh-CN" sz="2400" b="1" dirty="0">
                <a:solidFill>
                  <a:srgbClr val="FF0000"/>
                </a:solidFill>
              </a:rPr>
              <a:t>ANL</a:t>
            </a:r>
            <a:r>
              <a:rPr lang="en-US" altLang="zh-CN" sz="2400" b="1" dirty="0">
                <a:solidFill>
                  <a:schemeClr val="hlink"/>
                </a:solidFill>
                <a:latin typeface="Arial Black" panose="020B0A04020102020204" pitchFamily="34" charset="0"/>
              </a:rPr>
              <a:t>  </a:t>
            </a:r>
            <a:r>
              <a:rPr lang="zh-CN" altLang="en-US" sz="2400" b="1" dirty="0">
                <a:solidFill>
                  <a:schemeClr val="hlink"/>
                </a:solidFill>
                <a:latin typeface="Arial Black" panose="020B0A04020102020204" pitchFamily="34" charset="0"/>
              </a:rPr>
              <a:t>目的操作数，源操作数</a:t>
            </a:r>
            <a:r>
              <a:rPr lang="zh-CN" altLang="en-US" sz="2400" dirty="0"/>
              <a:t> </a:t>
            </a:r>
            <a:endParaRPr lang="zh-CN" altLang="en-US" sz="2400" dirty="0"/>
          </a:p>
          <a:p>
            <a:pPr marL="0" eaLnBrk="1" hangingPunct="1">
              <a:lnSpc>
                <a:spcPct val="120000"/>
              </a:lnSpc>
              <a:spcBef>
                <a:spcPct val="0"/>
              </a:spcBef>
              <a:buClr>
                <a:schemeClr val="hlink"/>
              </a:buClr>
              <a:buNone/>
            </a:pPr>
            <a:r>
              <a:rPr lang="zh-CN" altLang="en-US" sz="2000" b="1" dirty="0">
                <a:solidFill>
                  <a:schemeClr val="hlink"/>
                </a:solidFill>
              </a:rPr>
              <a:t>（</a:t>
            </a:r>
            <a:r>
              <a:rPr lang="en-US" altLang="zh-CN" sz="2000" b="1" dirty="0">
                <a:solidFill>
                  <a:schemeClr val="hlink"/>
                </a:solidFill>
              </a:rPr>
              <a:t>1</a:t>
            </a:r>
            <a:r>
              <a:rPr lang="zh-CN" altLang="en-US" sz="2000" b="1" dirty="0">
                <a:solidFill>
                  <a:schemeClr val="hlink"/>
                </a:solidFill>
              </a:rPr>
              <a:t>） 以累加器</a:t>
            </a:r>
            <a:r>
              <a:rPr lang="en-US" altLang="zh-CN" sz="2000" b="1" dirty="0">
                <a:solidFill>
                  <a:schemeClr val="hlink"/>
                </a:solidFill>
              </a:rPr>
              <a:t>A</a:t>
            </a:r>
            <a:r>
              <a:rPr lang="zh-CN" altLang="en-US" sz="2000" b="1" dirty="0">
                <a:solidFill>
                  <a:schemeClr val="hlink"/>
                </a:solidFill>
              </a:rPr>
              <a:t>为目的操作数的与逻辑运算指令</a:t>
            </a:r>
            <a:endParaRPr lang="zh-CN" altLang="en-US" sz="2000" b="1" dirty="0">
              <a:solidFill>
                <a:schemeClr val="hlink"/>
              </a:solidFill>
            </a:endParaRPr>
          </a:p>
          <a:p>
            <a:pPr marL="0" eaLnBrk="1" hangingPunct="1">
              <a:lnSpc>
                <a:spcPct val="120000"/>
              </a:lnSpc>
              <a:spcBef>
                <a:spcPct val="0"/>
              </a:spcBef>
              <a:buNone/>
            </a:pPr>
            <a:r>
              <a:rPr lang="zh-CN" altLang="en-US" sz="2000" dirty="0"/>
              <a:t>       </a:t>
            </a:r>
            <a:r>
              <a:rPr lang="en-US" altLang="zh-CN" sz="2000" dirty="0"/>
              <a:t>ANL  A</a:t>
            </a:r>
            <a:r>
              <a:rPr lang="zh-CN" altLang="en-US" sz="2000" dirty="0"/>
              <a:t>，</a:t>
            </a:r>
            <a:r>
              <a:rPr lang="en-US" altLang="zh-CN" sz="2000" dirty="0"/>
              <a:t>#data   </a:t>
            </a:r>
            <a:r>
              <a:rPr lang="zh-CN" altLang="en-US" sz="2000" dirty="0"/>
              <a:t>； </a:t>
            </a:r>
            <a:r>
              <a:rPr lang="en-US" altLang="zh-CN" sz="2000" dirty="0"/>
              <a:t>(A)∧data </a:t>
            </a:r>
            <a:r>
              <a:rPr lang="en-US" altLang="zh-CN" sz="2000" dirty="0">
                <a:sym typeface="Wingdings" panose="05000000000000000000" pitchFamily="2" charset="2"/>
              </a:rPr>
              <a:t></a:t>
            </a:r>
            <a:r>
              <a:rPr lang="en-US" altLang="zh-CN" sz="2000" dirty="0"/>
              <a:t>A</a:t>
            </a:r>
            <a:endParaRPr lang="en-US" altLang="zh-CN" sz="2000" dirty="0"/>
          </a:p>
          <a:p>
            <a:pPr marL="0" eaLnBrk="1" hangingPunct="1">
              <a:lnSpc>
                <a:spcPct val="120000"/>
              </a:lnSpc>
              <a:spcBef>
                <a:spcPct val="0"/>
              </a:spcBef>
              <a:buNone/>
            </a:pPr>
            <a:r>
              <a:rPr lang="en-US" altLang="zh-CN" sz="2000" dirty="0"/>
              <a:t>       ANL  A</a:t>
            </a:r>
            <a:r>
              <a:rPr lang="zh-CN" altLang="en-US" sz="2000" dirty="0"/>
              <a:t>，</a:t>
            </a:r>
            <a:r>
              <a:rPr lang="en-US" altLang="zh-CN" sz="2000" dirty="0"/>
              <a:t>Rn     </a:t>
            </a:r>
            <a:r>
              <a:rPr lang="zh-CN" altLang="en-US" sz="2000" dirty="0"/>
              <a:t>；</a:t>
            </a:r>
            <a:r>
              <a:rPr lang="en-US" altLang="zh-CN" sz="2000" dirty="0"/>
              <a:t>n=0~7</a:t>
            </a:r>
            <a:r>
              <a:rPr lang="zh-CN" altLang="en-US" sz="2000" dirty="0"/>
              <a:t>， </a:t>
            </a:r>
            <a:r>
              <a:rPr lang="en-US" altLang="zh-CN" sz="2000" dirty="0"/>
              <a:t>(A) ∧(Rn) </a:t>
            </a:r>
            <a:r>
              <a:rPr lang="en-US" altLang="zh-CN" sz="2000" dirty="0">
                <a:sym typeface="Wingdings" panose="05000000000000000000" pitchFamily="2" charset="2"/>
              </a:rPr>
              <a:t></a:t>
            </a:r>
            <a:r>
              <a:rPr lang="en-US" altLang="zh-CN" sz="2000" dirty="0"/>
              <a:t>A</a:t>
            </a:r>
            <a:endParaRPr lang="en-US" altLang="zh-CN" sz="2000" dirty="0"/>
          </a:p>
          <a:p>
            <a:pPr marL="0" eaLnBrk="1" hangingPunct="1">
              <a:lnSpc>
                <a:spcPct val="120000"/>
              </a:lnSpc>
              <a:spcBef>
                <a:spcPct val="0"/>
              </a:spcBef>
              <a:buNone/>
            </a:pPr>
            <a:r>
              <a:rPr lang="en-US" altLang="zh-CN" sz="2000" dirty="0"/>
              <a:t>       ANL  A</a:t>
            </a:r>
            <a:r>
              <a:rPr lang="zh-CN" altLang="en-US" sz="2000" dirty="0"/>
              <a:t>，</a:t>
            </a:r>
            <a:r>
              <a:rPr lang="en-US" altLang="zh-CN" sz="2000" dirty="0"/>
              <a:t>direct   </a:t>
            </a:r>
            <a:r>
              <a:rPr lang="zh-CN" altLang="en-US" sz="2000" dirty="0"/>
              <a:t>； </a:t>
            </a:r>
            <a:r>
              <a:rPr lang="en-US" altLang="zh-CN" sz="2000" dirty="0"/>
              <a:t>(A)∧(direct) </a:t>
            </a:r>
            <a:r>
              <a:rPr lang="en-US" altLang="zh-CN" sz="2000" dirty="0">
                <a:sym typeface="Wingdings" panose="05000000000000000000" pitchFamily="2" charset="2"/>
              </a:rPr>
              <a:t></a:t>
            </a:r>
            <a:r>
              <a:rPr lang="en-US" altLang="zh-CN" sz="2000" dirty="0"/>
              <a:t>A</a:t>
            </a:r>
            <a:endParaRPr lang="en-US" altLang="zh-CN" sz="2000" dirty="0"/>
          </a:p>
          <a:p>
            <a:pPr marL="0" eaLnBrk="1" hangingPunct="1">
              <a:lnSpc>
                <a:spcPct val="120000"/>
              </a:lnSpc>
              <a:spcBef>
                <a:spcPct val="0"/>
              </a:spcBef>
              <a:buNone/>
            </a:pPr>
            <a:r>
              <a:rPr lang="en-US" altLang="zh-CN" sz="2000" dirty="0"/>
              <a:t>       ANL  A</a:t>
            </a:r>
            <a:r>
              <a:rPr lang="zh-CN" altLang="en-US" sz="2000" dirty="0"/>
              <a:t>，</a:t>
            </a:r>
            <a:r>
              <a:rPr lang="en-US" altLang="zh-CN" sz="2000" dirty="0"/>
              <a:t>@Ri;   </a:t>
            </a:r>
            <a:r>
              <a:rPr lang="zh-CN" altLang="en-US" sz="2000" dirty="0"/>
              <a:t>；</a:t>
            </a:r>
            <a:r>
              <a:rPr lang="en-US" altLang="zh-CN" sz="2000" dirty="0"/>
              <a:t>i=0,1</a:t>
            </a:r>
            <a:r>
              <a:rPr lang="zh-CN" altLang="en-US" sz="2000" dirty="0"/>
              <a:t>，</a:t>
            </a:r>
            <a:r>
              <a:rPr lang="en-US" altLang="zh-CN" sz="2000" dirty="0"/>
              <a:t>(A)∧((Ri))</a:t>
            </a:r>
            <a:r>
              <a:rPr lang="en-US" altLang="zh-CN" sz="2000" dirty="0">
                <a:sym typeface="Wingdings" panose="05000000000000000000" pitchFamily="2" charset="2"/>
              </a:rPr>
              <a:t></a:t>
            </a:r>
            <a:r>
              <a:rPr lang="en-US" altLang="zh-CN" sz="2000" dirty="0"/>
              <a:t>A     </a:t>
            </a:r>
            <a:endParaRPr lang="en-US" altLang="zh-CN" sz="2000" dirty="0"/>
          </a:p>
          <a:p>
            <a:pPr marL="0" eaLnBrk="1" hangingPunct="1">
              <a:lnSpc>
                <a:spcPct val="120000"/>
              </a:lnSpc>
              <a:spcBef>
                <a:spcPct val="0"/>
              </a:spcBef>
              <a:buNone/>
            </a:pPr>
            <a:r>
              <a:rPr lang="en-US" altLang="zh-CN" sz="2000" dirty="0"/>
              <a:t>            </a:t>
            </a:r>
            <a:r>
              <a:rPr lang="zh-CN" altLang="en-US" sz="2000" dirty="0"/>
              <a:t>这</a:t>
            </a:r>
            <a:r>
              <a:rPr lang="en-US" altLang="zh-CN" sz="2000" dirty="0"/>
              <a:t>4</a:t>
            </a:r>
            <a:r>
              <a:rPr lang="zh-CN" altLang="en-US" sz="2000" dirty="0"/>
              <a:t>条指令执行时仅影响标志位</a:t>
            </a:r>
            <a:r>
              <a:rPr lang="en-US" altLang="zh-CN" sz="2000" dirty="0"/>
              <a:t>P </a:t>
            </a:r>
            <a:endParaRPr lang="en-US" altLang="zh-CN" sz="2000" dirty="0"/>
          </a:p>
          <a:p>
            <a:pPr marL="0" eaLnBrk="1" hangingPunct="1">
              <a:lnSpc>
                <a:spcPct val="120000"/>
              </a:lnSpc>
              <a:spcBef>
                <a:spcPct val="0"/>
              </a:spcBef>
              <a:buNone/>
            </a:pPr>
            <a:r>
              <a:rPr lang="zh-CN" altLang="en-US" sz="2000" b="1" dirty="0">
                <a:solidFill>
                  <a:schemeClr val="hlink"/>
                </a:solidFill>
              </a:rPr>
              <a:t>（</a:t>
            </a:r>
            <a:r>
              <a:rPr lang="en-US" altLang="zh-CN" sz="2000" b="1" dirty="0">
                <a:solidFill>
                  <a:schemeClr val="hlink"/>
                </a:solidFill>
              </a:rPr>
              <a:t>2</a:t>
            </a:r>
            <a:r>
              <a:rPr lang="zh-CN" altLang="en-US" sz="2000" b="1" dirty="0">
                <a:solidFill>
                  <a:schemeClr val="hlink"/>
                </a:solidFill>
              </a:rPr>
              <a:t>）以某个单元为目的操作数的与逻辑运算指令</a:t>
            </a:r>
            <a:endParaRPr lang="zh-CN" altLang="en-US" sz="2000" b="1" dirty="0">
              <a:solidFill>
                <a:schemeClr val="hlink"/>
              </a:solidFill>
            </a:endParaRPr>
          </a:p>
          <a:p>
            <a:pPr marL="0" eaLnBrk="1" hangingPunct="1">
              <a:lnSpc>
                <a:spcPct val="120000"/>
              </a:lnSpc>
              <a:spcBef>
                <a:spcPct val="0"/>
              </a:spcBef>
              <a:buNone/>
            </a:pPr>
            <a:r>
              <a:rPr lang="zh-CN" altLang="en-US" sz="2000" dirty="0"/>
              <a:t>      </a:t>
            </a:r>
            <a:r>
              <a:rPr lang="en-US" altLang="zh-CN" sz="2000" dirty="0"/>
              <a:t>ANL  direct</a:t>
            </a:r>
            <a:r>
              <a:rPr lang="zh-CN" altLang="en-US" sz="2000" dirty="0"/>
              <a:t>，</a:t>
            </a:r>
            <a:r>
              <a:rPr lang="en-US" altLang="zh-CN" sz="2000" dirty="0"/>
              <a:t>#data </a:t>
            </a:r>
            <a:r>
              <a:rPr lang="zh-CN" altLang="en-US" sz="2000" dirty="0"/>
              <a:t>；</a:t>
            </a:r>
            <a:r>
              <a:rPr lang="en-US" altLang="zh-CN" sz="2000" dirty="0"/>
              <a:t>(direct)∧data</a:t>
            </a:r>
            <a:r>
              <a:rPr lang="en-US" altLang="zh-CN" sz="2000" dirty="0">
                <a:sym typeface="Wingdings" panose="05000000000000000000" pitchFamily="2" charset="2"/>
              </a:rPr>
              <a:t></a:t>
            </a:r>
            <a:r>
              <a:rPr lang="en-US" altLang="zh-CN" sz="2000" dirty="0"/>
              <a:t> direct</a:t>
            </a:r>
            <a:endParaRPr lang="en-US" altLang="zh-CN" sz="2000" dirty="0"/>
          </a:p>
          <a:p>
            <a:pPr marL="0" eaLnBrk="1" hangingPunct="1">
              <a:lnSpc>
                <a:spcPct val="120000"/>
              </a:lnSpc>
              <a:spcBef>
                <a:spcPct val="0"/>
              </a:spcBef>
              <a:buNone/>
            </a:pPr>
            <a:r>
              <a:rPr lang="en-US" altLang="zh-CN" sz="2000" dirty="0"/>
              <a:t>      ANL  direct</a:t>
            </a:r>
            <a:r>
              <a:rPr lang="zh-CN" altLang="en-US" sz="2000" dirty="0"/>
              <a:t>，</a:t>
            </a:r>
            <a:r>
              <a:rPr lang="en-US" altLang="zh-CN" sz="2000" dirty="0"/>
              <a:t>A    </a:t>
            </a:r>
            <a:r>
              <a:rPr lang="zh-CN" altLang="en-US" sz="2000" dirty="0"/>
              <a:t>；</a:t>
            </a:r>
            <a:r>
              <a:rPr lang="en-US" altLang="zh-CN" sz="2000" dirty="0"/>
              <a:t>(direct)∧(A) </a:t>
            </a:r>
            <a:r>
              <a:rPr lang="en-US" altLang="zh-CN" sz="2000" dirty="0">
                <a:sym typeface="Wingdings" panose="05000000000000000000" pitchFamily="2" charset="2"/>
              </a:rPr>
              <a:t></a:t>
            </a:r>
            <a:r>
              <a:rPr lang="en-US" altLang="zh-CN" sz="2000" dirty="0"/>
              <a:t> direct</a:t>
            </a:r>
            <a:endParaRPr lang="en-US" altLang="zh-CN" sz="2000" dirty="0"/>
          </a:p>
          <a:p>
            <a:pPr marL="0" eaLnBrk="1" hangingPunct="1">
              <a:lnSpc>
                <a:spcPct val="120000"/>
              </a:lnSpc>
              <a:spcBef>
                <a:spcPct val="0"/>
              </a:spcBef>
              <a:buNone/>
            </a:pPr>
            <a:r>
              <a:rPr lang="en-US" altLang="zh-CN" sz="2000" dirty="0"/>
              <a:t>           </a:t>
            </a:r>
            <a:r>
              <a:rPr lang="zh-CN" altLang="en-US" sz="2000" dirty="0"/>
              <a:t>指令执行时不会影响任何标志位</a:t>
            </a:r>
            <a:endParaRPr lang="zh-CN" altLang="en-US" sz="2000" dirty="0"/>
          </a:p>
        </p:txBody>
      </p:sp>
      <p:sp>
        <p:nvSpPr>
          <p:cNvPr id="87042" name="Rectangle 2"/>
          <p:cNvSpPr>
            <a:spLocks noChangeArrowheads="1"/>
          </p:cNvSpPr>
          <p:nvPr/>
        </p:nvSpPr>
        <p:spPr bwMode="auto">
          <a:xfrm>
            <a:off x="214313" y="214313"/>
            <a:ext cx="8763000" cy="609600"/>
          </a:xfrm>
          <a:prstGeom prst="rect">
            <a:avLst/>
          </a:prstGeom>
          <a:noFill/>
          <a:ln>
            <a:noFill/>
          </a:ln>
        </p:spPr>
        <p:txBody>
          <a:bodyPr anchor="ctr"/>
          <a:lstStyle>
            <a:lvl1pPr>
              <a:defRPr sz="3600">
                <a:solidFill>
                  <a:schemeClr val="tx2"/>
                </a:solidFill>
                <a:latin typeface="Times New Roman" panose="02020503050405090304" pitchFamily="18" charset="0"/>
                <a:ea typeface="宋体" pitchFamily="2" charset="-122"/>
              </a:defRPr>
            </a:lvl1pPr>
            <a:lvl2pPr>
              <a:defRPr sz="3600">
                <a:solidFill>
                  <a:schemeClr val="tx2"/>
                </a:solidFill>
                <a:latin typeface="Times New Roman" panose="02020503050405090304" pitchFamily="18" charset="0"/>
                <a:ea typeface="宋体" pitchFamily="2" charset="-122"/>
              </a:defRPr>
            </a:lvl2pPr>
            <a:lvl3pPr>
              <a:defRPr sz="3600">
                <a:solidFill>
                  <a:schemeClr val="tx2"/>
                </a:solidFill>
                <a:latin typeface="Times New Roman" panose="02020503050405090304" pitchFamily="18" charset="0"/>
                <a:ea typeface="宋体" pitchFamily="2" charset="-122"/>
              </a:defRPr>
            </a:lvl3pPr>
            <a:lvl4pPr>
              <a:defRPr sz="3600">
                <a:solidFill>
                  <a:schemeClr val="tx2"/>
                </a:solidFill>
                <a:latin typeface="Times New Roman" panose="02020503050405090304" pitchFamily="18" charset="0"/>
                <a:ea typeface="宋体" pitchFamily="2" charset="-122"/>
              </a:defRPr>
            </a:lvl4pPr>
            <a:lvl5pPr>
              <a:defRPr sz="3600">
                <a:solidFill>
                  <a:schemeClr val="tx2"/>
                </a:solidFill>
                <a:latin typeface="Times New Roman" panose="02020503050405090304" pitchFamily="18" charset="0"/>
                <a:ea typeface="宋体" pitchFamily="2" charset="-122"/>
              </a:defRPr>
            </a:lvl5pPr>
            <a:lvl6pPr marL="45720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fontAlgn="base">
              <a:spcBef>
                <a:spcPct val="0"/>
              </a:spcBef>
              <a:spcAft>
                <a:spcPct val="0"/>
              </a:spcAft>
              <a:defRPr sz="3600">
                <a:solidFill>
                  <a:schemeClr val="tx2"/>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第三章</a:t>
            </a:r>
            <a:r>
              <a:rPr kumimoji="0" lang="zh-CN" altLang="en-US" sz="28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zh-CN" altLang="en-US" sz="24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en-US" altLang="zh-CN"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MCS-51</a:t>
            </a: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指令系统</a:t>
            </a:r>
            <a:endParaRPr kumimoji="0" lang="zh-CN" altLang="en-US" sz="3600" b="0"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Times New Roman" panose="02020503050405090304" pitchFamily="18" charset="0"/>
              <a:ea typeface="宋体" pitchFamily="2" charset="-122"/>
              <a:cs typeface="+mn-cs"/>
            </a:endParaRPr>
          </a:p>
        </p:txBody>
      </p:sp>
      <p:sp>
        <p:nvSpPr>
          <p:cNvPr id="129027" name="Text Box 8"/>
          <p:cNvSpPr txBox="1"/>
          <p:nvPr/>
        </p:nvSpPr>
        <p:spPr>
          <a:xfrm>
            <a:off x="684213" y="1031875"/>
            <a:ext cx="7632700" cy="523875"/>
          </a:xfrm>
          <a:prstGeom prst="rect">
            <a:avLst/>
          </a:prstGeom>
          <a:noFill/>
          <a:ln w="9525">
            <a:noFill/>
          </a:ln>
        </p:spPr>
        <p:txBody>
          <a:bodyPr lIns="360000" rIns="180000" anchor="t" anchorCtr="0">
            <a:spAutoFit/>
          </a:bodyPr>
          <a:p>
            <a:pPr indent="-342900" defTabSz="425450" eaLnBrk="0" hangingPunct="0">
              <a:spcBef>
                <a:spcPct val="50000"/>
              </a:spcBef>
            </a:pPr>
            <a:r>
              <a:rPr lang="zh-CN" altLang="en-US" sz="2800" dirty="0">
                <a:latin typeface="Times New Roman" panose="02020503050405090304" pitchFamily="18" charset="0"/>
                <a:ea typeface="仿宋_GB2312" pitchFamily="49" charset="-122"/>
              </a:rPr>
              <a:t>    二、双操作数逻辑运算指令</a:t>
            </a:r>
            <a:r>
              <a:rPr lang="en-US" altLang="zh-CN" sz="2800" dirty="0">
                <a:latin typeface="Times New Roman" panose="02020503050405090304" pitchFamily="18" charset="0"/>
                <a:ea typeface="仿宋_GB2312" pitchFamily="49" charset="-122"/>
              </a:rPr>
              <a:t>(</a:t>
            </a:r>
            <a:r>
              <a:rPr lang="zh-CN" altLang="en-US" sz="2800" dirty="0">
                <a:solidFill>
                  <a:schemeClr val="hlink"/>
                </a:solidFill>
                <a:latin typeface="Times New Roman" panose="02020503050405090304" pitchFamily="18" charset="0"/>
                <a:ea typeface="仿宋_GB2312" pitchFamily="49" charset="-122"/>
              </a:rPr>
              <a:t>对位逻辑运算</a:t>
            </a:r>
            <a:r>
              <a:rPr lang="en-US" altLang="zh-CN" sz="2800" dirty="0">
                <a:latin typeface="Times New Roman" panose="02020503050405090304" pitchFamily="18" charset="0"/>
                <a:ea typeface="仿宋_GB2312" pitchFamily="49" charset="-122"/>
              </a:rPr>
              <a:t>)</a:t>
            </a:r>
            <a:endParaRPr lang="en-US" altLang="zh-CN" dirty="0">
              <a:solidFill>
                <a:schemeClr val="hlink"/>
              </a:solidFill>
              <a:latin typeface="Times New Roman" panose="02020503050405090304" pitchFamily="18" charset="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5713">
                                            <p:txEl>
                                              <p:charRg st="230" end="259"/>
                                            </p:txEl>
                                          </p:spTgt>
                                        </p:tgtEl>
                                        <p:attrNameLst>
                                          <p:attrName>style.visibility</p:attrName>
                                        </p:attrNameLst>
                                      </p:cBhvr>
                                      <p:to>
                                        <p:strVal val="visible"/>
                                      </p:to>
                                    </p:set>
                                    <p:anim calcmode="lin" valueType="num">
                                      <p:cBhvr additive="base">
                                        <p:cTn id="7" dur="500" fill="hold"/>
                                        <p:tgtEl>
                                          <p:spTgt spid="115713">
                                            <p:txEl>
                                              <p:charRg st="230" end="25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5713">
                                            <p:txEl>
                                              <p:charRg st="230" end="259"/>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5713">
                                            <p:txEl>
                                              <p:charRg st="282" end="331"/>
                                            </p:txEl>
                                          </p:spTgt>
                                        </p:tgtEl>
                                        <p:attrNameLst>
                                          <p:attrName>style.visibility</p:attrName>
                                        </p:attrNameLst>
                                      </p:cBhvr>
                                      <p:to>
                                        <p:strVal val="visible"/>
                                      </p:to>
                                    </p:set>
                                    <p:anim calcmode="lin" valueType="num">
                                      <p:cBhvr additive="base">
                                        <p:cTn id="13" dur="500" fill="hold"/>
                                        <p:tgtEl>
                                          <p:spTgt spid="115713">
                                            <p:txEl>
                                              <p:charRg st="282" end="33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5713">
                                            <p:txEl>
                                              <p:charRg st="282" end="33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15713">
                                            <p:txEl>
                                              <p:charRg st="331" end="379"/>
                                            </p:txEl>
                                          </p:spTgt>
                                        </p:tgtEl>
                                        <p:attrNameLst>
                                          <p:attrName>style.visibility</p:attrName>
                                        </p:attrNameLst>
                                      </p:cBhvr>
                                      <p:to>
                                        <p:strVal val="visible"/>
                                      </p:to>
                                    </p:set>
                                    <p:anim calcmode="lin" valueType="num">
                                      <p:cBhvr additive="base">
                                        <p:cTn id="17" dur="500" fill="hold"/>
                                        <p:tgtEl>
                                          <p:spTgt spid="115713">
                                            <p:txEl>
                                              <p:charRg st="331" end="379"/>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15713">
                                            <p:txEl>
                                              <p:charRg st="331" end="379"/>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15713">
                                            <p:txEl>
                                              <p:charRg st="367" end="393"/>
                                            </p:txEl>
                                          </p:spTgt>
                                        </p:tgtEl>
                                        <p:attrNameLst>
                                          <p:attrName>style.visibility</p:attrName>
                                        </p:attrNameLst>
                                      </p:cBhvr>
                                      <p:to>
                                        <p:strVal val="visible"/>
                                      </p:to>
                                    </p:set>
                                    <p:anim calcmode="lin" valueType="num">
                                      <p:cBhvr additive="base">
                                        <p:cTn id="21" dur="500" fill="hold"/>
                                        <p:tgtEl>
                                          <p:spTgt spid="115713">
                                            <p:txEl>
                                              <p:charRg st="367" end="39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15713">
                                            <p:txEl>
                                              <p:charRg st="367" end="39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49" name="Rectangle 3"/>
          <p:cNvSpPr>
            <a:spLocks noGrp="1"/>
          </p:cNvSpPr>
          <p:nvPr>
            <p:ph type="body" sz="half" idx="1"/>
          </p:nvPr>
        </p:nvSpPr>
        <p:spPr>
          <a:xfrm>
            <a:off x="639763" y="908050"/>
            <a:ext cx="6019800" cy="488950"/>
          </a:xfrm>
        </p:spPr>
        <p:txBody>
          <a:bodyPr vert="horz" wrap="square" lIns="91440" tIns="45720" rIns="91440" bIns="45720" anchor="t" anchorCtr="0"/>
          <a:p>
            <a:pPr lvl="1" eaLnBrk="1" hangingPunct="1">
              <a:buClr>
                <a:schemeClr val="hlink"/>
              </a:buClr>
              <a:buSzPct val="55000"/>
              <a:buFont typeface="Wingdings" panose="05000000000000000000" pitchFamily="2" charset="2"/>
              <a:buNone/>
            </a:pPr>
            <a:r>
              <a:rPr lang="zh-CN" altLang="en-US" sz="2400" b="1" dirty="0">
                <a:solidFill>
                  <a:srgbClr val="FF3300"/>
                </a:solidFill>
                <a:latin typeface="黑体" panose="02010609060101010101" pitchFamily="49" charset="-122"/>
                <a:ea typeface="黑体" panose="02010609060101010101" pitchFamily="49" charset="-122"/>
              </a:rPr>
              <a:t>与</a:t>
            </a:r>
            <a:r>
              <a:rPr lang="zh-CN" altLang="en-US" sz="2400" b="1" dirty="0">
                <a:latin typeface="黑体" panose="02010609060101010101" pitchFamily="49" charset="-122"/>
                <a:ea typeface="黑体" panose="02010609060101010101" pitchFamily="49" charset="-122"/>
              </a:rPr>
              <a:t>逻辑操作指令用于</a:t>
            </a:r>
            <a:r>
              <a:rPr lang="zh-CN" altLang="en-US" sz="2400" b="1" dirty="0">
                <a:solidFill>
                  <a:srgbClr val="FF3300"/>
                </a:solidFill>
                <a:latin typeface="黑体" panose="02010609060101010101" pitchFamily="49" charset="-122"/>
                <a:ea typeface="黑体" panose="02010609060101010101" pitchFamily="49" charset="-122"/>
              </a:rPr>
              <a:t>实现屏蔽</a:t>
            </a:r>
            <a:r>
              <a:rPr lang="zh-CN" altLang="en-US" sz="2400" b="1" dirty="0">
                <a:latin typeface="黑体" panose="02010609060101010101" pitchFamily="49" charset="-122"/>
                <a:ea typeface="黑体" panose="02010609060101010101" pitchFamily="49" charset="-122"/>
              </a:rPr>
              <a:t>。</a:t>
            </a:r>
            <a:endParaRPr lang="zh-CN" altLang="en-US" sz="2400" b="1" dirty="0">
              <a:ea typeface="黑体" panose="02010609060101010101" pitchFamily="49" charset="-122"/>
            </a:endParaRPr>
          </a:p>
        </p:txBody>
      </p:sp>
      <p:grpSp>
        <p:nvGrpSpPr>
          <p:cNvPr id="2" name="Group 4"/>
          <p:cNvGrpSpPr/>
          <p:nvPr/>
        </p:nvGrpSpPr>
        <p:grpSpPr>
          <a:xfrm>
            <a:off x="1939925" y="2632075"/>
            <a:ext cx="4321175" cy="2030413"/>
            <a:chOff x="1292" y="2160"/>
            <a:chExt cx="2722" cy="1279"/>
          </a:xfrm>
        </p:grpSpPr>
        <p:sp>
          <p:nvSpPr>
            <p:cNvPr id="130051" name="Rectangle 5"/>
            <p:cNvSpPr/>
            <p:nvPr/>
          </p:nvSpPr>
          <p:spPr>
            <a:xfrm>
              <a:off x="1292" y="2762"/>
              <a:ext cx="599" cy="250"/>
            </a:xfrm>
            <a:prstGeom prst="rect">
              <a:avLst/>
            </a:prstGeom>
            <a:noFill/>
            <a:ln w="9525">
              <a:noFill/>
            </a:ln>
          </p:spPr>
          <p:txBody>
            <a:bodyPr wrap="none" anchor="t" anchorCtr="0">
              <a:spAutoFit/>
            </a:bodyPr>
            <a:p>
              <a:pPr eaLnBrk="0" hangingPunct="0">
                <a:buClrTx/>
                <a:buFontTx/>
              </a:pPr>
              <a:r>
                <a:rPr lang="zh-CN" altLang="en-US" sz="2000" dirty="0">
                  <a:solidFill>
                    <a:schemeClr val="hlink"/>
                  </a:solidFill>
                  <a:latin typeface="Arial" panose="020B0604020202090204" pitchFamily="34" charset="0"/>
                  <a:ea typeface="楷体_GB2312" pitchFamily="49" charset="-122"/>
                </a:rPr>
                <a:t>屏蔽码</a:t>
              </a:r>
              <a:endParaRPr lang="zh-CN" altLang="en-US" sz="2000" dirty="0">
                <a:solidFill>
                  <a:schemeClr val="hlink"/>
                </a:solidFill>
                <a:latin typeface="Arial" panose="020B0604020202090204" pitchFamily="34" charset="0"/>
                <a:ea typeface="楷体_GB2312" pitchFamily="49" charset="-122"/>
              </a:endParaRPr>
            </a:p>
          </p:txBody>
        </p:sp>
        <p:grpSp>
          <p:nvGrpSpPr>
            <p:cNvPr id="130052" name="Group 6"/>
            <p:cNvGrpSpPr/>
            <p:nvPr/>
          </p:nvGrpSpPr>
          <p:grpSpPr>
            <a:xfrm>
              <a:off x="1649" y="2160"/>
              <a:ext cx="2365" cy="1279"/>
              <a:chOff x="1776" y="2712"/>
              <a:chExt cx="2066" cy="1182"/>
            </a:xfrm>
          </p:grpSpPr>
          <p:sp>
            <p:nvSpPr>
              <p:cNvPr id="130053" name="Rectangle 7"/>
              <p:cNvSpPr/>
              <p:nvPr/>
            </p:nvSpPr>
            <p:spPr>
              <a:xfrm>
                <a:off x="2086" y="2904"/>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0054" name="Rectangle 8"/>
              <p:cNvSpPr/>
              <p:nvPr/>
            </p:nvSpPr>
            <p:spPr>
              <a:xfrm>
                <a:off x="2269" y="2904"/>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0055" name="Rectangle 9"/>
              <p:cNvSpPr/>
              <p:nvPr/>
            </p:nvSpPr>
            <p:spPr>
              <a:xfrm>
                <a:off x="2452" y="2904"/>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0056" name="Rectangle 10"/>
              <p:cNvSpPr/>
              <p:nvPr/>
            </p:nvSpPr>
            <p:spPr>
              <a:xfrm>
                <a:off x="2635" y="2904"/>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0057" name="Rectangle 11"/>
              <p:cNvSpPr/>
              <p:nvPr/>
            </p:nvSpPr>
            <p:spPr>
              <a:xfrm>
                <a:off x="2818" y="2904"/>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0058" name="Rectangle 12"/>
              <p:cNvSpPr/>
              <p:nvPr/>
            </p:nvSpPr>
            <p:spPr>
              <a:xfrm>
                <a:off x="3001" y="2904"/>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0059" name="Rectangle 13"/>
              <p:cNvSpPr/>
              <p:nvPr/>
            </p:nvSpPr>
            <p:spPr>
              <a:xfrm>
                <a:off x="3184" y="2904"/>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0060" name="Rectangle 14"/>
              <p:cNvSpPr/>
              <p:nvPr/>
            </p:nvSpPr>
            <p:spPr>
              <a:xfrm>
                <a:off x="3367" y="2904"/>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0061" name="Text Box 15"/>
              <p:cNvSpPr txBox="1"/>
              <p:nvPr/>
            </p:nvSpPr>
            <p:spPr>
              <a:xfrm>
                <a:off x="3362" y="2712"/>
                <a:ext cx="221" cy="177"/>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D0</a:t>
                </a:r>
                <a:endParaRPr lang="en-US" altLang="zh-CN" sz="1400" b="0" dirty="0">
                  <a:latin typeface="Times New Roman" panose="02020503050405090304" pitchFamily="18" charset="0"/>
                  <a:ea typeface="宋体" pitchFamily="2" charset="-122"/>
                </a:endParaRPr>
              </a:p>
            </p:txBody>
          </p:sp>
          <p:sp>
            <p:nvSpPr>
              <p:cNvPr id="130062" name="Text Box 16"/>
              <p:cNvSpPr txBox="1"/>
              <p:nvPr/>
            </p:nvSpPr>
            <p:spPr>
              <a:xfrm>
                <a:off x="3179" y="2712"/>
                <a:ext cx="221" cy="177"/>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D1</a:t>
                </a:r>
                <a:endParaRPr lang="en-US" altLang="zh-CN" sz="1400" b="0" dirty="0">
                  <a:latin typeface="Times New Roman" panose="02020503050405090304" pitchFamily="18" charset="0"/>
                  <a:ea typeface="宋体" pitchFamily="2" charset="-122"/>
                </a:endParaRPr>
              </a:p>
            </p:txBody>
          </p:sp>
          <p:sp>
            <p:nvSpPr>
              <p:cNvPr id="130063" name="Text Box 17"/>
              <p:cNvSpPr txBox="1"/>
              <p:nvPr/>
            </p:nvSpPr>
            <p:spPr>
              <a:xfrm>
                <a:off x="2987" y="2712"/>
                <a:ext cx="221" cy="177"/>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D2</a:t>
                </a:r>
                <a:endParaRPr lang="en-US" altLang="zh-CN" sz="1400" b="0" dirty="0">
                  <a:latin typeface="Times New Roman" panose="02020503050405090304" pitchFamily="18" charset="0"/>
                  <a:ea typeface="宋体" pitchFamily="2" charset="-122"/>
                </a:endParaRPr>
              </a:p>
            </p:txBody>
          </p:sp>
          <p:sp>
            <p:nvSpPr>
              <p:cNvPr id="130064" name="Text Box 18"/>
              <p:cNvSpPr txBox="1"/>
              <p:nvPr/>
            </p:nvSpPr>
            <p:spPr>
              <a:xfrm>
                <a:off x="2802" y="2712"/>
                <a:ext cx="221" cy="177"/>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D3</a:t>
                </a:r>
                <a:endParaRPr lang="en-US" altLang="zh-CN" sz="1400" b="0" dirty="0">
                  <a:latin typeface="Times New Roman" panose="02020503050405090304" pitchFamily="18" charset="0"/>
                  <a:ea typeface="宋体" pitchFamily="2" charset="-122"/>
                </a:endParaRPr>
              </a:p>
            </p:txBody>
          </p:sp>
          <p:sp>
            <p:nvSpPr>
              <p:cNvPr id="130065" name="Text Box 19"/>
              <p:cNvSpPr txBox="1"/>
              <p:nvPr/>
            </p:nvSpPr>
            <p:spPr>
              <a:xfrm>
                <a:off x="2627" y="2712"/>
                <a:ext cx="221" cy="177"/>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D4</a:t>
                </a:r>
                <a:endParaRPr lang="en-US" altLang="zh-CN" sz="1400" b="0" dirty="0">
                  <a:latin typeface="Times New Roman" panose="02020503050405090304" pitchFamily="18" charset="0"/>
                  <a:ea typeface="宋体" pitchFamily="2" charset="-122"/>
                </a:endParaRPr>
              </a:p>
            </p:txBody>
          </p:sp>
          <p:sp>
            <p:nvSpPr>
              <p:cNvPr id="130066" name="Text Box 20"/>
              <p:cNvSpPr txBox="1"/>
              <p:nvPr/>
            </p:nvSpPr>
            <p:spPr>
              <a:xfrm>
                <a:off x="2443" y="2712"/>
                <a:ext cx="221" cy="177"/>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D5</a:t>
                </a:r>
                <a:endParaRPr lang="en-US" altLang="zh-CN" sz="1400" b="0" dirty="0">
                  <a:latin typeface="Times New Roman" panose="02020503050405090304" pitchFamily="18" charset="0"/>
                  <a:ea typeface="宋体" pitchFamily="2" charset="-122"/>
                </a:endParaRPr>
              </a:p>
            </p:txBody>
          </p:sp>
          <p:sp>
            <p:nvSpPr>
              <p:cNvPr id="130067" name="Text Box 21"/>
              <p:cNvSpPr txBox="1"/>
              <p:nvPr/>
            </p:nvSpPr>
            <p:spPr>
              <a:xfrm>
                <a:off x="2250" y="2712"/>
                <a:ext cx="221" cy="177"/>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D6</a:t>
                </a:r>
                <a:endParaRPr lang="en-US" altLang="zh-CN" sz="1400" b="0" dirty="0">
                  <a:latin typeface="Times New Roman" panose="02020503050405090304" pitchFamily="18" charset="0"/>
                  <a:ea typeface="宋体" pitchFamily="2" charset="-122"/>
                </a:endParaRPr>
              </a:p>
            </p:txBody>
          </p:sp>
          <p:sp>
            <p:nvSpPr>
              <p:cNvPr id="130068" name="Text Box 22"/>
              <p:cNvSpPr txBox="1"/>
              <p:nvPr/>
            </p:nvSpPr>
            <p:spPr>
              <a:xfrm>
                <a:off x="2067" y="2712"/>
                <a:ext cx="221" cy="177"/>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D7</a:t>
                </a:r>
                <a:endParaRPr lang="en-US" altLang="zh-CN" sz="1400" b="0" dirty="0">
                  <a:latin typeface="Times New Roman" panose="02020503050405090304" pitchFamily="18" charset="0"/>
                  <a:ea typeface="宋体" pitchFamily="2" charset="-122"/>
                </a:endParaRPr>
              </a:p>
            </p:txBody>
          </p:sp>
          <p:sp>
            <p:nvSpPr>
              <p:cNvPr id="130069" name="Rectangle 23"/>
              <p:cNvSpPr/>
              <p:nvPr/>
            </p:nvSpPr>
            <p:spPr>
              <a:xfrm>
                <a:off x="2096" y="323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0</a:t>
                </a:r>
                <a:endParaRPr lang="en-US" altLang="zh-CN" sz="2000" b="0" dirty="0">
                  <a:latin typeface="Times New Roman" panose="02020503050405090304" pitchFamily="18" charset="0"/>
                  <a:ea typeface="宋体" pitchFamily="2" charset="-122"/>
                </a:endParaRPr>
              </a:p>
            </p:txBody>
          </p:sp>
          <p:sp>
            <p:nvSpPr>
              <p:cNvPr id="130070" name="Rectangle 24"/>
              <p:cNvSpPr/>
              <p:nvPr/>
            </p:nvSpPr>
            <p:spPr>
              <a:xfrm>
                <a:off x="2279" y="323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1</a:t>
                </a:r>
                <a:endParaRPr lang="en-US" altLang="zh-CN" sz="2000" b="0" dirty="0">
                  <a:latin typeface="Times New Roman" panose="02020503050405090304" pitchFamily="18" charset="0"/>
                  <a:ea typeface="宋体" pitchFamily="2" charset="-122"/>
                </a:endParaRPr>
              </a:p>
            </p:txBody>
          </p:sp>
          <p:sp>
            <p:nvSpPr>
              <p:cNvPr id="130071" name="Rectangle 25"/>
              <p:cNvSpPr/>
              <p:nvPr/>
            </p:nvSpPr>
            <p:spPr>
              <a:xfrm>
                <a:off x="2462" y="323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1</a:t>
                </a:r>
                <a:endParaRPr lang="en-US" altLang="zh-CN" sz="2000" b="0" dirty="0">
                  <a:latin typeface="Times New Roman" panose="02020503050405090304" pitchFamily="18" charset="0"/>
                  <a:ea typeface="宋体" pitchFamily="2" charset="-122"/>
                </a:endParaRPr>
              </a:p>
            </p:txBody>
          </p:sp>
          <p:sp>
            <p:nvSpPr>
              <p:cNvPr id="130072" name="Rectangle 26"/>
              <p:cNvSpPr/>
              <p:nvPr/>
            </p:nvSpPr>
            <p:spPr>
              <a:xfrm>
                <a:off x="2645" y="323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1</a:t>
                </a:r>
                <a:endParaRPr lang="en-US" altLang="zh-CN" sz="2000" b="0" dirty="0">
                  <a:latin typeface="Times New Roman" panose="02020503050405090304" pitchFamily="18" charset="0"/>
                  <a:ea typeface="宋体" pitchFamily="2" charset="-122"/>
                </a:endParaRPr>
              </a:p>
            </p:txBody>
          </p:sp>
          <p:sp>
            <p:nvSpPr>
              <p:cNvPr id="130073" name="Rectangle 27"/>
              <p:cNvSpPr/>
              <p:nvPr/>
            </p:nvSpPr>
            <p:spPr>
              <a:xfrm>
                <a:off x="2828" y="323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0</a:t>
                </a:r>
                <a:endParaRPr lang="en-US" altLang="zh-CN" sz="2000" b="0" dirty="0">
                  <a:latin typeface="Times New Roman" panose="02020503050405090304" pitchFamily="18" charset="0"/>
                  <a:ea typeface="宋体" pitchFamily="2" charset="-122"/>
                </a:endParaRPr>
              </a:p>
            </p:txBody>
          </p:sp>
          <p:sp>
            <p:nvSpPr>
              <p:cNvPr id="130074" name="Rectangle 28"/>
              <p:cNvSpPr/>
              <p:nvPr/>
            </p:nvSpPr>
            <p:spPr>
              <a:xfrm>
                <a:off x="3011" y="323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0</a:t>
                </a:r>
                <a:endParaRPr lang="en-US" altLang="zh-CN" sz="2000" b="0" dirty="0">
                  <a:latin typeface="Times New Roman" panose="02020503050405090304" pitchFamily="18" charset="0"/>
                  <a:ea typeface="宋体" pitchFamily="2" charset="-122"/>
                </a:endParaRPr>
              </a:p>
            </p:txBody>
          </p:sp>
          <p:sp>
            <p:nvSpPr>
              <p:cNvPr id="130075" name="Rectangle 29"/>
              <p:cNvSpPr/>
              <p:nvPr/>
            </p:nvSpPr>
            <p:spPr>
              <a:xfrm>
                <a:off x="3194" y="323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1</a:t>
                </a:r>
                <a:endParaRPr lang="en-US" altLang="zh-CN" sz="2000" b="0" dirty="0">
                  <a:latin typeface="Times New Roman" panose="02020503050405090304" pitchFamily="18" charset="0"/>
                  <a:ea typeface="宋体" pitchFamily="2" charset="-122"/>
                </a:endParaRPr>
              </a:p>
            </p:txBody>
          </p:sp>
          <p:sp>
            <p:nvSpPr>
              <p:cNvPr id="130076" name="Rectangle 30"/>
              <p:cNvSpPr/>
              <p:nvPr/>
            </p:nvSpPr>
            <p:spPr>
              <a:xfrm>
                <a:off x="3377" y="323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0</a:t>
                </a:r>
                <a:endParaRPr lang="en-US" altLang="zh-CN" sz="2000" b="0" dirty="0">
                  <a:latin typeface="Times New Roman" panose="02020503050405090304" pitchFamily="18" charset="0"/>
                  <a:ea typeface="宋体" pitchFamily="2" charset="-122"/>
                </a:endParaRPr>
              </a:p>
            </p:txBody>
          </p:sp>
          <p:sp>
            <p:nvSpPr>
              <p:cNvPr id="130077" name="Line 31"/>
              <p:cNvSpPr/>
              <p:nvPr/>
            </p:nvSpPr>
            <p:spPr>
              <a:xfrm>
                <a:off x="1776" y="3566"/>
                <a:ext cx="2066" cy="0"/>
              </a:xfrm>
              <a:prstGeom prst="line">
                <a:avLst/>
              </a:prstGeom>
              <a:ln w="9525" cap="flat" cmpd="sng">
                <a:solidFill>
                  <a:schemeClr val="tx1"/>
                </a:solidFill>
                <a:prstDash val="solid"/>
                <a:round/>
                <a:headEnd type="none" w="med" len="med"/>
                <a:tailEnd type="none" w="med" len="med"/>
              </a:ln>
            </p:spPr>
          </p:sp>
          <p:sp>
            <p:nvSpPr>
              <p:cNvPr id="130078" name="Rectangle 32"/>
              <p:cNvSpPr/>
              <p:nvPr/>
            </p:nvSpPr>
            <p:spPr>
              <a:xfrm>
                <a:off x="2096" y="362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0</a:t>
                </a:r>
                <a:endParaRPr lang="en-US" altLang="zh-CN" sz="2000" b="0" dirty="0">
                  <a:latin typeface="Times New Roman" panose="02020503050405090304" pitchFamily="18" charset="0"/>
                  <a:ea typeface="宋体" pitchFamily="2" charset="-122"/>
                </a:endParaRPr>
              </a:p>
            </p:txBody>
          </p:sp>
          <p:sp>
            <p:nvSpPr>
              <p:cNvPr id="130079" name="Rectangle 33"/>
              <p:cNvSpPr/>
              <p:nvPr/>
            </p:nvSpPr>
            <p:spPr>
              <a:xfrm>
                <a:off x="2279" y="362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0080" name="Rectangle 34"/>
              <p:cNvSpPr/>
              <p:nvPr/>
            </p:nvSpPr>
            <p:spPr>
              <a:xfrm>
                <a:off x="2462" y="362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0081" name="Rectangle 35"/>
              <p:cNvSpPr/>
              <p:nvPr/>
            </p:nvSpPr>
            <p:spPr>
              <a:xfrm>
                <a:off x="2645" y="362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0082" name="Rectangle 36"/>
              <p:cNvSpPr/>
              <p:nvPr/>
            </p:nvSpPr>
            <p:spPr>
              <a:xfrm>
                <a:off x="2828" y="362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0</a:t>
                </a:r>
                <a:endParaRPr lang="en-US" altLang="zh-CN" sz="2000" b="0" dirty="0">
                  <a:latin typeface="Times New Roman" panose="02020503050405090304" pitchFamily="18" charset="0"/>
                  <a:ea typeface="宋体" pitchFamily="2" charset="-122"/>
                </a:endParaRPr>
              </a:p>
            </p:txBody>
          </p:sp>
          <p:sp>
            <p:nvSpPr>
              <p:cNvPr id="130083" name="Rectangle 37"/>
              <p:cNvSpPr/>
              <p:nvPr/>
            </p:nvSpPr>
            <p:spPr>
              <a:xfrm>
                <a:off x="3011" y="362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0</a:t>
                </a:r>
                <a:endParaRPr lang="en-US" altLang="zh-CN" sz="2000" b="0" dirty="0">
                  <a:latin typeface="Times New Roman" panose="02020503050405090304" pitchFamily="18" charset="0"/>
                  <a:ea typeface="宋体" pitchFamily="2" charset="-122"/>
                </a:endParaRPr>
              </a:p>
            </p:txBody>
          </p:sp>
          <p:sp>
            <p:nvSpPr>
              <p:cNvPr id="130084" name="Rectangle 38"/>
              <p:cNvSpPr/>
              <p:nvPr/>
            </p:nvSpPr>
            <p:spPr>
              <a:xfrm>
                <a:off x="3194" y="362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0085" name="Rectangle 39"/>
              <p:cNvSpPr/>
              <p:nvPr/>
            </p:nvSpPr>
            <p:spPr>
              <a:xfrm>
                <a:off x="3377" y="362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0</a:t>
                </a:r>
                <a:endParaRPr lang="en-US" altLang="zh-CN" sz="2000" b="0" dirty="0">
                  <a:latin typeface="Times New Roman" panose="02020503050405090304" pitchFamily="18" charset="0"/>
                  <a:ea typeface="宋体" pitchFamily="2" charset="-122"/>
                </a:endParaRPr>
              </a:p>
            </p:txBody>
          </p:sp>
        </p:grpSp>
        <p:sp>
          <p:nvSpPr>
            <p:cNvPr id="130086" name="Rectangle 40"/>
            <p:cNvSpPr/>
            <p:nvPr/>
          </p:nvSpPr>
          <p:spPr>
            <a:xfrm>
              <a:off x="1342" y="2401"/>
              <a:ext cx="551" cy="250"/>
            </a:xfrm>
            <a:prstGeom prst="rect">
              <a:avLst/>
            </a:prstGeom>
            <a:noFill/>
            <a:ln w="9525">
              <a:noFill/>
            </a:ln>
          </p:spPr>
          <p:txBody>
            <a:bodyPr wrap="none" anchor="t" anchorCtr="0">
              <a:spAutoFit/>
            </a:bodyPr>
            <a:p>
              <a:pPr marL="179705" lvl="1" indent="0" eaLnBrk="0" hangingPunct="0">
                <a:buClrTx/>
                <a:buFontTx/>
              </a:pPr>
              <a:r>
                <a:rPr lang="zh-CN" altLang="en-US" sz="2000" dirty="0">
                  <a:solidFill>
                    <a:schemeClr val="hlink"/>
                  </a:solidFill>
                  <a:latin typeface="Arial" panose="020B0604020202090204" pitchFamily="34" charset="0"/>
                  <a:ea typeface="楷体_GB2312" pitchFamily="49" charset="-122"/>
                </a:rPr>
                <a:t>单元</a:t>
              </a:r>
              <a:endParaRPr lang="zh-CN" altLang="en-US" sz="2000" dirty="0">
                <a:solidFill>
                  <a:schemeClr val="hlink"/>
                </a:solidFill>
                <a:latin typeface="Arial" panose="020B0604020202090204" pitchFamily="34" charset="0"/>
                <a:ea typeface="楷体_GB2312" pitchFamily="49" charset="-122"/>
              </a:endParaRPr>
            </a:p>
          </p:txBody>
        </p:sp>
      </p:grpSp>
      <p:sp>
        <p:nvSpPr>
          <p:cNvPr id="205865" name="Rectangle 41"/>
          <p:cNvSpPr/>
          <p:nvPr/>
        </p:nvSpPr>
        <p:spPr>
          <a:xfrm>
            <a:off x="731838" y="1341438"/>
            <a:ext cx="6178550" cy="1333500"/>
          </a:xfrm>
          <a:prstGeom prst="rect">
            <a:avLst/>
          </a:prstGeom>
          <a:noFill/>
          <a:ln w="9525">
            <a:noFill/>
          </a:ln>
        </p:spPr>
        <p:txBody>
          <a:bodyPr wrap="none" anchor="t" anchorCtr="0">
            <a:spAutoFit/>
          </a:bodyPr>
          <a:p>
            <a:pPr marL="179705" lvl="1" indent="277495" eaLnBrk="1" hangingPunct="1">
              <a:spcBef>
                <a:spcPct val="20000"/>
              </a:spcBef>
              <a:buClr>
                <a:schemeClr val="hlink"/>
              </a:buClr>
              <a:buSzPct val="55000"/>
              <a:buNone/>
            </a:pPr>
            <a:r>
              <a:rPr lang="zh-CN" altLang="en-US" b="0" dirty="0">
                <a:solidFill>
                  <a:schemeClr val="folHlink"/>
                </a:solidFill>
                <a:latin typeface="Times New Roman" panose="02020503050405090304" pitchFamily="18" charset="0"/>
                <a:ea typeface="黑体" panose="02010609060101010101" pitchFamily="49" charset="-122"/>
              </a:rPr>
              <a:t>设某位数值为</a:t>
            </a:r>
            <a:r>
              <a:rPr lang="en-US" altLang="zh-CN" b="0" i="1" dirty="0">
                <a:solidFill>
                  <a:schemeClr val="folHlink"/>
                </a:solidFill>
                <a:latin typeface="Times New Roman" panose="02020503050405090304" pitchFamily="18" charset="0"/>
                <a:ea typeface="黑体" panose="02010609060101010101" pitchFamily="49" charset="-122"/>
              </a:rPr>
              <a:t>d</a:t>
            </a:r>
            <a:r>
              <a:rPr lang="en-US" altLang="zh-CN" b="0" i="1" baseline="-25000" dirty="0">
                <a:solidFill>
                  <a:schemeClr val="folHlink"/>
                </a:solidFill>
                <a:latin typeface="Times New Roman" panose="02020503050405090304" pitchFamily="18" charset="0"/>
                <a:ea typeface="黑体" panose="02010609060101010101" pitchFamily="49" charset="-122"/>
              </a:rPr>
              <a:t>i </a:t>
            </a:r>
            <a:r>
              <a:rPr lang="en-US" altLang="zh-CN" b="0" dirty="0">
                <a:solidFill>
                  <a:schemeClr val="folHlink"/>
                </a:solidFill>
                <a:latin typeface="Times New Roman" panose="02020503050405090304" pitchFamily="18" charset="0"/>
                <a:ea typeface="黑体" panose="02010609060101010101" pitchFamily="49" charset="-122"/>
              </a:rPr>
              <a:t>= 0, 1</a:t>
            </a:r>
            <a:r>
              <a:rPr lang="zh-CN" altLang="en-US" b="0" dirty="0">
                <a:solidFill>
                  <a:schemeClr val="folHlink"/>
                </a:solidFill>
                <a:latin typeface="Times New Roman" panose="02020503050405090304" pitchFamily="18" charset="0"/>
                <a:ea typeface="黑体" panose="02010609060101010101" pitchFamily="49" charset="-122"/>
              </a:rPr>
              <a:t>，与运算法则如下：</a:t>
            </a:r>
            <a:endParaRPr lang="zh-CN" altLang="en-US" b="0" dirty="0">
              <a:solidFill>
                <a:schemeClr val="folHlink"/>
              </a:solidFill>
              <a:latin typeface="Times New Roman" panose="02020503050405090304" pitchFamily="18" charset="0"/>
              <a:ea typeface="黑体" panose="02010609060101010101" pitchFamily="49" charset="-122"/>
            </a:endParaRPr>
          </a:p>
          <a:p>
            <a:pPr marL="179705" lvl="1" indent="277495" eaLnBrk="1" hangingPunct="1">
              <a:spcBef>
                <a:spcPct val="20000"/>
              </a:spcBef>
              <a:buClr>
                <a:schemeClr val="hlink"/>
              </a:buClr>
              <a:buSzPct val="55000"/>
              <a:buNone/>
            </a:pPr>
            <a:r>
              <a:rPr lang="zh-CN" altLang="en-US" b="0" dirty="0">
                <a:solidFill>
                  <a:schemeClr val="folHlink"/>
                </a:solidFill>
                <a:latin typeface="Times New Roman" panose="02020503050405090304" pitchFamily="18" charset="0"/>
                <a:ea typeface="黑体" panose="02010609060101010101" pitchFamily="49" charset="-122"/>
              </a:rPr>
              <a:t>	               </a:t>
            </a:r>
            <a:r>
              <a:rPr lang="en-US" altLang="zh-CN" b="0" i="1" dirty="0">
                <a:solidFill>
                  <a:schemeClr val="folHlink"/>
                </a:solidFill>
                <a:latin typeface="Times New Roman" panose="02020503050405090304" pitchFamily="18" charset="0"/>
                <a:ea typeface="黑体" panose="02010609060101010101" pitchFamily="49" charset="-122"/>
              </a:rPr>
              <a:t>d</a:t>
            </a:r>
            <a:r>
              <a:rPr lang="en-US" altLang="zh-CN" b="0" i="1" baseline="-25000" dirty="0">
                <a:solidFill>
                  <a:schemeClr val="folHlink"/>
                </a:solidFill>
                <a:latin typeface="Times New Roman" panose="02020503050405090304" pitchFamily="18" charset="0"/>
                <a:ea typeface="黑体" panose="02010609060101010101" pitchFamily="49" charset="-122"/>
              </a:rPr>
              <a:t>i</a:t>
            </a:r>
            <a:r>
              <a:rPr lang="en-US" altLang="zh-CN" b="0" dirty="0">
                <a:solidFill>
                  <a:schemeClr val="folHlink"/>
                </a:solidFill>
                <a:latin typeface="Times New Roman" panose="02020503050405090304" pitchFamily="18" charset="0"/>
                <a:ea typeface="黑体" panose="02010609060101010101" pitchFamily="49" charset="-122"/>
              </a:rPr>
              <a:t> </a:t>
            </a:r>
            <a:r>
              <a:rPr lang="en-US" altLang="zh-CN" b="0" dirty="0">
                <a:solidFill>
                  <a:schemeClr val="folHlink"/>
                </a:solidFill>
                <a:latin typeface="黑体" panose="02010609060101010101" pitchFamily="49" charset="-122"/>
                <a:ea typeface="黑体" panose="02010609060101010101" pitchFamily="49" charset="-122"/>
              </a:rPr>
              <a:t>∧</a:t>
            </a:r>
            <a:r>
              <a:rPr lang="en-US" altLang="zh-CN" b="0" dirty="0">
                <a:solidFill>
                  <a:schemeClr val="folHlink"/>
                </a:solidFill>
                <a:latin typeface="Times New Roman" panose="02020503050405090304" pitchFamily="18" charset="0"/>
                <a:ea typeface="黑体" panose="02010609060101010101" pitchFamily="49" charset="-122"/>
              </a:rPr>
              <a:t> 0 = 0       </a:t>
            </a:r>
            <a:r>
              <a:rPr lang="zh-CN" altLang="en-US" b="0" dirty="0">
                <a:solidFill>
                  <a:schemeClr val="folHlink"/>
                </a:solidFill>
                <a:latin typeface="Times New Roman" panose="02020503050405090304" pitchFamily="18" charset="0"/>
                <a:ea typeface="黑体" panose="02010609060101010101" pitchFamily="49" charset="-122"/>
              </a:rPr>
              <a:t>（屏蔽）</a:t>
            </a:r>
            <a:endParaRPr lang="zh-CN" altLang="en-US" b="0" dirty="0">
              <a:solidFill>
                <a:schemeClr val="folHlink"/>
              </a:solidFill>
              <a:latin typeface="Times New Roman" panose="02020503050405090304" pitchFamily="18" charset="0"/>
              <a:ea typeface="黑体" panose="02010609060101010101" pitchFamily="49" charset="-122"/>
            </a:endParaRPr>
          </a:p>
          <a:p>
            <a:pPr marL="179705" lvl="1" indent="277495" eaLnBrk="1" hangingPunct="1">
              <a:spcBef>
                <a:spcPct val="20000"/>
              </a:spcBef>
              <a:buClr>
                <a:schemeClr val="hlink"/>
              </a:buClr>
              <a:buSzPct val="55000"/>
              <a:buNone/>
            </a:pPr>
            <a:r>
              <a:rPr lang="zh-CN" altLang="en-US" b="0" dirty="0">
                <a:solidFill>
                  <a:schemeClr val="folHlink"/>
                </a:solidFill>
                <a:latin typeface="Times New Roman" panose="02020503050405090304" pitchFamily="18" charset="0"/>
                <a:ea typeface="黑体" panose="02010609060101010101" pitchFamily="49" charset="-122"/>
              </a:rPr>
              <a:t>		    </a:t>
            </a:r>
            <a:r>
              <a:rPr lang="en-US" altLang="zh-CN" b="0" i="1" dirty="0">
                <a:solidFill>
                  <a:schemeClr val="folHlink"/>
                </a:solidFill>
                <a:latin typeface="Times New Roman" panose="02020503050405090304" pitchFamily="18" charset="0"/>
                <a:ea typeface="黑体" panose="02010609060101010101" pitchFamily="49" charset="-122"/>
              </a:rPr>
              <a:t>d</a:t>
            </a:r>
            <a:r>
              <a:rPr lang="en-US" altLang="zh-CN" b="0" i="1" baseline="-25000" dirty="0">
                <a:solidFill>
                  <a:schemeClr val="folHlink"/>
                </a:solidFill>
                <a:latin typeface="Times New Roman" panose="02020503050405090304" pitchFamily="18" charset="0"/>
                <a:ea typeface="黑体" panose="02010609060101010101" pitchFamily="49" charset="-122"/>
              </a:rPr>
              <a:t>i</a:t>
            </a:r>
            <a:r>
              <a:rPr lang="en-US" altLang="zh-CN" b="0" dirty="0">
                <a:solidFill>
                  <a:schemeClr val="folHlink"/>
                </a:solidFill>
                <a:latin typeface="Times New Roman" panose="02020503050405090304" pitchFamily="18" charset="0"/>
                <a:ea typeface="黑体" panose="02010609060101010101" pitchFamily="49" charset="-122"/>
              </a:rPr>
              <a:t> ∧ 1 = </a:t>
            </a:r>
            <a:r>
              <a:rPr lang="en-US" altLang="zh-CN" b="0" i="1" dirty="0">
                <a:solidFill>
                  <a:schemeClr val="folHlink"/>
                </a:solidFill>
                <a:latin typeface="Times New Roman" panose="02020503050405090304" pitchFamily="18" charset="0"/>
                <a:ea typeface="黑体" panose="02010609060101010101" pitchFamily="49" charset="-122"/>
              </a:rPr>
              <a:t>d</a:t>
            </a:r>
            <a:r>
              <a:rPr lang="en-US" altLang="zh-CN" b="0" i="1" baseline="-25000" dirty="0">
                <a:solidFill>
                  <a:schemeClr val="folHlink"/>
                </a:solidFill>
                <a:latin typeface="Times New Roman" panose="02020503050405090304" pitchFamily="18" charset="0"/>
                <a:ea typeface="黑体" panose="02010609060101010101" pitchFamily="49" charset="-122"/>
              </a:rPr>
              <a:t>i</a:t>
            </a:r>
            <a:r>
              <a:rPr lang="en-US" altLang="zh-CN" b="0" dirty="0">
                <a:solidFill>
                  <a:schemeClr val="folHlink"/>
                </a:solidFill>
                <a:latin typeface="Times New Roman" panose="02020503050405090304" pitchFamily="18" charset="0"/>
                <a:ea typeface="黑体" panose="02010609060101010101" pitchFamily="49" charset="-122"/>
              </a:rPr>
              <a:t>      </a:t>
            </a:r>
            <a:r>
              <a:rPr lang="zh-CN" altLang="en-US" b="0" dirty="0">
                <a:solidFill>
                  <a:schemeClr val="folHlink"/>
                </a:solidFill>
                <a:latin typeface="Times New Roman" panose="02020503050405090304" pitchFamily="18" charset="0"/>
                <a:ea typeface="黑体" panose="02010609060101010101" pitchFamily="49" charset="-122"/>
              </a:rPr>
              <a:t>（保留）</a:t>
            </a:r>
            <a:endParaRPr lang="zh-CN" altLang="en-US" b="0" dirty="0">
              <a:solidFill>
                <a:schemeClr val="folHlink"/>
              </a:solidFill>
              <a:latin typeface="Times New Roman" panose="02020503050405090304" pitchFamily="18" charset="0"/>
              <a:ea typeface="黑体" panose="02010609060101010101" pitchFamily="49" charset="-122"/>
            </a:endParaRPr>
          </a:p>
        </p:txBody>
      </p:sp>
      <p:sp>
        <p:nvSpPr>
          <p:cNvPr id="205866" name="Rectangle 42"/>
          <p:cNvSpPr/>
          <p:nvPr/>
        </p:nvSpPr>
        <p:spPr>
          <a:xfrm>
            <a:off x="442913" y="4732338"/>
            <a:ext cx="7983537" cy="2030412"/>
          </a:xfrm>
          <a:prstGeom prst="rect">
            <a:avLst/>
          </a:prstGeom>
          <a:noFill/>
          <a:ln w="9525">
            <a:noFill/>
          </a:ln>
        </p:spPr>
        <p:txBody>
          <a:bodyPr anchor="t" anchorCtr="0"/>
          <a:p>
            <a:pPr marL="342900" indent="-342900">
              <a:spcBef>
                <a:spcPct val="20000"/>
              </a:spcBef>
              <a:buSzPct val="60000"/>
            </a:pPr>
            <a:r>
              <a:rPr lang="zh-CN" altLang="en-US" b="0" dirty="0">
                <a:solidFill>
                  <a:schemeClr val="folHlink"/>
                </a:solidFill>
                <a:latin typeface="Times New Roman" panose="02020503050405090304" pitchFamily="18" charset="0"/>
                <a:ea typeface="宋体" pitchFamily="2" charset="-122"/>
              </a:rPr>
              <a:t>	例</a:t>
            </a:r>
            <a:r>
              <a:rPr lang="en-US" altLang="zh-CN" b="0" dirty="0">
                <a:solidFill>
                  <a:schemeClr val="folHlink"/>
                </a:solidFill>
                <a:latin typeface="Times New Roman" panose="02020503050405090304" pitchFamily="18" charset="0"/>
                <a:ea typeface="宋体" pitchFamily="2" charset="-122"/>
              </a:rPr>
              <a:t>: </a:t>
            </a:r>
            <a:r>
              <a:rPr lang="zh-CN" altLang="en-US" b="0" dirty="0">
                <a:solidFill>
                  <a:schemeClr val="folHlink"/>
                </a:solidFill>
                <a:latin typeface="Times New Roman" panose="02020503050405090304" pitchFamily="18" charset="0"/>
                <a:ea typeface="宋体" pitchFamily="2" charset="-122"/>
              </a:rPr>
              <a:t>设累加器</a:t>
            </a:r>
            <a:r>
              <a:rPr lang="en-US" altLang="zh-CN" b="0" dirty="0">
                <a:solidFill>
                  <a:schemeClr val="folHlink"/>
                </a:solidFill>
                <a:latin typeface="Times New Roman" panose="02020503050405090304" pitchFamily="18" charset="0"/>
                <a:ea typeface="宋体" pitchFamily="2" charset="-122"/>
              </a:rPr>
              <a:t>A</a:t>
            </a:r>
            <a:r>
              <a:rPr lang="zh-CN" altLang="en-US" b="0" dirty="0">
                <a:solidFill>
                  <a:schemeClr val="folHlink"/>
                </a:solidFill>
                <a:latin typeface="Times New Roman" panose="02020503050405090304" pitchFamily="18" charset="0"/>
                <a:ea typeface="宋体" pitchFamily="2" charset="-122"/>
              </a:rPr>
              <a:t>的内容为</a:t>
            </a:r>
            <a:r>
              <a:rPr lang="en-US" altLang="zh-CN" b="0" dirty="0">
                <a:solidFill>
                  <a:schemeClr val="folHlink"/>
                </a:solidFill>
                <a:latin typeface="Times New Roman" panose="02020503050405090304" pitchFamily="18" charset="0"/>
                <a:ea typeface="宋体" pitchFamily="2" charset="-122"/>
              </a:rPr>
              <a:t>0CBH</a:t>
            </a:r>
            <a:r>
              <a:rPr lang="zh-CN" altLang="en-US" b="0" dirty="0">
                <a:solidFill>
                  <a:schemeClr val="folHlink"/>
                </a:solidFill>
                <a:latin typeface="Times New Roman" panose="02020503050405090304" pitchFamily="18" charset="0"/>
                <a:ea typeface="宋体" pitchFamily="2" charset="-122"/>
              </a:rPr>
              <a:t>（</a:t>
            </a:r>
            <a:r>
              <a:rPr lang="en-US" altLang="zh-CN" b="0" dirty="0">
                <a:solidFill>
                  <a:schemeClr val="folHlink"/>
                </a:solidFill>
                <a:latin typeface="Times New Roman" panose="02020503050405090304" pitchFamily="18" charset="0"/>
                <a:ea typeface="宋体" pitchFamily="2" charset="-122"/>
              </a:rPr>
              <a:t>11001011B</a:t>
            </a:r>
            <a:r>
              <a:rPr lang="zh-CN" altLang="en-US" b="0" dirty="0">
                <a:solidFill>
                  <a:schemeClr val="folHlink"/>
                </a:solidFill>
                <a:latin typeface="Times New Roman" panose="02020503050405090304" pitchFamily="18" charset="0"/>
                <a:ea typeface="宋体" pitchFamily="2" charset="-122"/>
              </a:rPr>
              <a:t>），内部</a:t>
            </a:r>
            <a:r>
              <a:rPr lang="en-US" altLang="zh-CN" b="0" dirty="0">
                <a:solidFill>
                  <a:schemeClr val="folHlink"/>
                </a:solidFill>
                <a:latin typeface="Times New Roman" panose="02020503050405090304" pitchFamily="18" charset="0"/>
                <a:ea typeface="宋体" pitchFamily="2" charset="-122"/>
              </a:rPr>
              <a:t>RAM30H</a:t>
            </a:r>
            <a:r>
              <a:rPr lang="zh-CN" altLang="en-US" b="0" dirty="0">
                <a:solidFill>
                  <a:schemeClr val="folHlink"/>
                </a:solidFill>
                <a:latin typeface="Times New Roman" panose="02020503050405090304" pitchFamily="18" charset="0"/>
                <a:ea typeface="宋体" pitchFamily="2" charset="-122"/>
              </a:rPr>
              <a:t>单元的内容为</a:t>
            </a:r>
            <a:r>
              <a:rPr lang="en-US" altLang="zh-CN" b="0" dirty="0">
                <a:solidFill>
                  <a:schemeClr val="folHlink"/>
                </a:solidFill>
                <a:latin typeface="Times New Roman" panose="02020503050405090304" pitchFamily="18" charset="0"/>
                <a:ea typeface="宋体" pitchFamily="2" charset="-122"/>
              </a:rPr>
              <a:t>0AAH</a:t>
            </a:r>
            <a:r>
              <a:rPr lang="zh-CN" altLang="en-US" b="0" dirty="0">
                <a:solidFill>
                  <a:schemeClr val="folHlink"/>
                </a:solidFill>
                <a:latin typeface="Times New Roman" panose="02020503050405090304" pitchFamily="18" charset="0"/>
                <a:ea typeface="宋体" pitchFamily="2" charset="-122"/>
              </a:rPr>
              <a:t>（</a:t>
            </a:r>
            <a:r>
              <a:rPr lang="en-US" altLang="zh-CN" b="0" dirty="0">
                <a:solidFill>
                  <a:schemeClr val="folHlink"/>
                </a:solidFill>
                <a:latin typeface="Times New Roman" panose="02020503050405090304" pitchFamily="18" charset="0"/>
                <a:ea typeface="宋体" pitchFamily="2" charset="-122"/>
              </a:rPr>
              <a:t>10101010B</a:t>
            </a:r>
            <a:r>
              <a:rPr lang="zh-CN" altLang="en-US" b="0" dirty="0">
                <a:solidFill>
                  <a:schemeClr val="folHlink"/>
                </a:solidFill>
                <a:latin typeface="Times New Roman" panose="02020503050405090304" pitchFamily="18" charset="0"/>
                <a:ea typeface="宋体" pitchFamily="2" charset="-122"/>
              </a:rPr>
              <a:t>），执行指令：</a:t>
            </a:r>
            <a:endParaRPr lang="zh-CN" altLang="en-US" b="0" dirty="0">
              <a:solidFill>
                <a:schemeClr val="folHlink"/>
              </a:solidFill>
              <a:latin typeface="Times New Roman" panose="02020503050405090304" pitchFamily="18" charset="0"/>
              <a:ea typeface="宋体" pitchFamily="2" charset="-122"/>
            </a:endParaRPr>
          </a:p>
          <a:p>
            <a:pPr marL="342900" indent="-342900">
              <a:spcBef>
                <a:spcPct val="20000"/>
              </a:spcBef>
              <a:buSzPct val="60000"/>
            </a:pPr>
            <a:r>
              <a:rPr lang="zh-CN" altLang="en-US" b="0" dirty="0">
                <a:solidFill>
                  <a:schemeClr val="folHlink"/>
                </a:solidFill>
                <a:latin typeface="Times New Roman" panose="02020503050405090304" pitchFamily="18" charset="0"/>
                <a:ea typeface="宋体" pitchFamily="2" charset="-122"/>
              </a:rPr>
              <a:t>             </a:t>
            </a:r>
            <a:r>
              <a:rPr lang="en-US" altLang="zh-CN" b="0" dirty="0">
                <a:solidFill>
                  <a:schemeClr val="folHlink"/>
                </a:solidFill>
                <a:latin typeface="Times New Roman" panose="02020503050405090304" pitchFamily="18" charset="0"/>
                <a:ea typeface="宋体" pitchFamily="2" charset="-122"/>
              </a:rPr>
              <a:t>ANL A</a:t>
            </a:r>
            <a:r>
              <a:rPr lang="zh-CN" altLang="en-US" b="0" dirty="0">
                <a:solidFill>
                  <a:schemeClr val="folHlink"/>
                </a:solidFill>
                <a:latin typeface="Times New Roman" panose="02020503050405090304" pitchFamily="18" charset="0"/>
                <a:ea typeface="宋体" pitchFamily="2" charset="-122"/>
              </a:rPr>
              <a:t>，</a:t>
            </a:r>
            <a:r>
              <a:rPr lang="en-US" altLang="zh-CN" b="0" dirty="0">
                <a:solidFill>
                  <a:schemeClr val="folHlink"/>
                </a:solidFill>
                <a:latin typeface="Times New Roman" panose="02020503050405090304" pitchFamily="18" charset="0"/>
                <a:ea typeface="宋体" pitchFamily="2" charset="-122"/>
              </a:rPr>
              <a:t>30H</a:t>
            </a:r>
            <a:endParaRPr lang="en-US" altLang="zh-CN" b="0" dirty="0">
              <a:solidFill>
                <a:schemeClr val="folHlink"/>
              </a:solidFill>
              <a:latin typeface="Times New Roman" panose="02020503050405090304" pitchFamily="18" charset="0"/>
              <a:ea typeface="宋体" pitchFamily="2" charset="-122"/>
            </a:endParaRPr>
          </a:p>
          <a:p>
            <a:pPr marL="342900" indent="-342900">
              <a:spcBef>
                <a:spcPct val="20000"/>
              </a:spcBef>
              <a:buSzPct val="60000"/>
            </a:pPr>
            <a:r>
              <a:rPr lang="en-US" altLang="zh-CN" b="0" dirty="0">
                <a:solidFill>
                  <a:schemeClr val="folHlink"/>
                </a:solidFill>
                <a:latin typeface="Times New Roman" panose="02020503050405090304" pitchFamily="18" charset="0"/>
                <a:ea typeface="宋体" pitchFamily="2" charset="-122"/>
              </a:rPr>
              <a:t>     	</a:t>
            </a:r>
            <a:r>
              <a:rPr lang="zh-CN" altLang="en-US" b="0" dirty="0">
                <a:solidFill>
                  <a:schemeClr val="folHlink"/>
                </a:solidFill>
                <a:latin typeface="Times New Roman" panose="02020503050405090304" pitchFamily="18" charset="0"/>
                <a:ea typeface="宋体" pitchFamily="2" charset="-122"/>
              </a:rPr>
              <a:t>则累加器</a:t>
            </a:r>
            <a:r>
              <a:rPr lang="en-US" altLang="zh-CN" b="0" dirty="0">
                <a:solidFill>
                  <a:schemeClr val="folHlink"/>
                </a:solidFill>
                <a:latin typeface="Times New Roman" panose="02020503050405090304" pitchFamily="18" charset="0"/>
                <a:ea typeface="宋体" pitchFamily="2" charset="-122"/>
              </a:rPr>
              <a:t>A</a:t>
            </a:r>
            <a:r>
              <a:rPr lang="zh-CN" altLang="en-US" b="0" dirty="0">
                <a:solidFill>
                  <a:schemeClr val="folHlink"/>
                </a:solidFill>
                <a:latin typeface="Times New Roman" panose="02020503050405090304" pitchFamily="18" charset="0"/>
                <a:ea typeface="宋体" pitchFamily="2" charset="-122"/>
              </a:rPr>
              <a:t>的内容为</a:t>
            </a:r>
            <a:r>
              <a:rPr lang="en-US" altLang="zh-CN" b="0" dirty="0">
                <a:solidFill>
                  <a:schemeClr val="folHlink"/>
                </a:solidFill>
                <a:latin typeface="Times New Roman" panose="02020503050405090304" pitchFamily="18" charset="0"/>
                <a:ea typeface="宋体" pitchFamily="2" charset="-122"/>
              </a:rPr>
              <a:t>8AH</a:t>
            </a:r>
            <a:r>
              <a:rPr lang="zh-CN" altLang="en-US" b="0" dirty="0">
                <a:solidFill>
                  <a:schemeClr val="folHlink"/>
                </a:solidFill>
                <a:latin typeface="Times New Roman" panose="02020503050405090304" pitchFamily="18" charset="0"/>
                <a:ea typeface="宋体" pitchFamily="2" charset="-122"/>
              </a:rPr>
              <a:t>（</a:t>
            </a:r>
            <a:r>
              <a:rPr lang="en-US" altLang="zh-CN" b="0" dirty="0">
                <a:solidFill>
                  <a:schemeClr val="folHlink"/>
                </a:solidFill>
                <a:latin typeface="Times New Roman" panose="02020503050405090304" pitchFamily="18" charset="0"/>
                <a:ea typeface="宋体" pitchFamily="2" charset="-122"/>
              </a:rPr>
              <a:t>10001010B</a:t>
            </a:r>
            <a:r>
              <a:rPr lang="zh-CN" altLang="en-US" b="0" dirty="0">
                <a:solidFill>
                  <a:schemeClr val="folHlink"/>
                </a:solidFill>
                <a:latin typeface="Times New Roman" panose="02020503050405090304" pitchFamily="18" charset="0"/>
                <a:ea typeface="宋体" pitchFamily="2" charset="-122"/>
              </a:rPr>
              <a:t>）</a:t>
            </a:r>
            <a:endParaRPr lang="zh-CN" altLang="en-US" b="0" dirty="0">
              <a:solidFill>
                <a:schemeClr val="hlink"/>
              </a:solidFill>
              <a:latin typeface="Times New Roman" panose="02020503050405090304" pitchFamily="18" charset="0"/>
              <a:ea typeface="宋体" pitchFamily="2" charset="-122"/>
            </a:endParaRPr>
          </a:p>
        </p:txBody>
      </p:sp>
      <p:sp>
        <p:nvSpPr>
          <p:cNvPr id="87042" name="Rectangle 2"/>
          <p:cNvSpPr>
            <a:spLocks noChangeArrowheads="1"/>
          </p:cNvSpPr>
          <p:nvPr/>
        </p:nvSpPr>
        <p:spPr bwMode="auto">
          <a:xfrm>
            <a:off x="214313" y="214313"/>
            <a:ext cx="8763000" cy="609600"/>
          </a:xfrm>
          <a:prstGeom prst="rect">
            <a:avLst/>
          </a:prstGeom>
          <a:noFill/>
          <a:ln>
            <a:noFill/>
          </a:ln>
        </p:spPr>
        <p:txBody>
          <a:bodyPr anchor="ctr"/>
          <a:lstStyle>
            <a:lvl1pPr>
              <a:defRPr sz="3600">
                <a:solidFill>
                  <a:schemeClr val="tx2"/>
                </a:solidFill>
                <a:latin typeface="Times New Roman" panose="02020503050405090304" pitchFamily="18" charset="0"/>
                <a:ea typeface="宋体" pitchFamily="2" charset="-122"/>
              </a:defRPr>
            </a:lvl1pPr>
            <a:lvl2pPr>
              <a:defRPr sz="3600">
                <a:solidFill>
                  <a:schemeClr val="tx2"/>
                </a:solidFill>
                <a:latin typeface="Times New Roman" panose="02020503050405090304" pitchFamily="18" charset="0"/>
                <a:ea typeface="宋体" pitchFamily="2" charset="-122"/>
              </a:defRPr>
            </a:lvl2pPr>
            <a:lvl3pPr>
              <a:defRPr sz="3600">
                <a:solidFill>
                  <a:schemeClr val="tx2"/>
                </a:solidFill>
                <a:latin typeface="Times New Roman" panose="02020503050405090304" pitchFamily="18" charset="0"/>
                <a:ea typeface="宋体" pitchFamily="2" charset="-122"/>
              </a:defRPr>
            </a:lvl3pPr>
            <a:lvl4pPr>
              <a:defRPr sz="3600">
                <a:solidFill>
                  <a:schemeClr val="tx2"/>
                </a:solidFill>
                <a:latin typeface="Times New Roman" panose="02020503050405090304" pitchFamily="18" charset="0"/>
                <a:ea typeface="宋体" pitchFamily="2" charset="-122"/>
              </a:defRPr>
            </a:lvl4pPr>
            <a:lvl5pPr>
              <a:defRPr sz="3600">
                <a:solidFill>
                  <a:schemeClr val="tx2"/>
                </a:solidFill>
                <a:latin typeface="Times New Roman" panose="02020503050405090304" pitchFamily="18" charset="0"/>
                <a:ea typeface="宋体" pitchFamily="2" charset="-122"/>
              </a:defRPr>
            </a:lvl5pPr>
            <a:lvl6pPr marL="45720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fontAlgn="base">
              <a:spcBef>
                <a:spcPct val="0"/>
              </a:spcBef>
              <a:spcAft>
                <a:spcPct val="0"/>
              </a:spcAft>
              <a:defRPr sz="3600">
                <a:solidFill>
                  <a:schemeClr val="tx2"/>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第三章</a:t>
            </a:r>
            <a:r>
              <a:rPr kumimoji="0" lang="zh-CN" altLang="en-US" sz="28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zh-CN" altLang="en-US" sz="24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en-US" altLang="zh-CN"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MCS-51</a:t>
            </a: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指令系统</a:t>
            </a:r>
            <a:endParaRPr kumimoji="0" lang="zh-CN" altLang="en-US" sz="3600" b="0"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Times New Roman" panose="02020503050405090304" pitchFamily="18" charset="0"/>
              <a:ea typeface="宋体"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205865"/>
                                        </p:tgtEl>
                                        <p:attrNameLst>
                                          <p:attrName>style.visibility</p:attrName>
                                        </p:attrNameLst>
                                      </p:cBhvr>
                                      <p:to>
                                        <p:strVal val="visible"/>
                                      </p:to>
                                    </p:set>
                                    <p:anim calcmode="lin" valueType="num">
                                      <p:cBhvr>
                                        <p:cTn id="7" dur="1000" fill="hold"/>
                                        <p:tgtEl>
                                          <p:spTgt spid="205865"/>
                                        </p:tgtEl>
                                        <p:attrNameLst>
                                          <p:attrName>ppt_x</p:attrName>
                                        </p:attrNameLst>
                                      </p:cBhvr>
                                      <p:tavLst>
                                        <p:tav tm="0">
                                          <p:val>
                                            <p:strVal val="#ppt_x-.2"/>
                                          </p:val>
                                        </p:tav>
                                        <p:tav tm="100000">
                                          <p:val>
                                            <p:strVal val="#ppt_x"/>
                                          </p:val>
                                        </p:tav>
                                      </p:tavLst>
                                    </p:anim>
                                    <p:anim calcmode="lin" valueType="num">
                                      <p:cBhvr>
                                        <p:cTn id="8" dur="1000" fill="hold"/>
                                        <p:tgtEl>
                                          <p:spTgt spid="205865"/>
                                        </p:tgtEl>
                                        <p:attrNameLst>
                                          <p:attrName>ppt_y</p:attrName>
                                        </p:attrNameLst>
                                      </p:cBhvr>
                                      <p:tavLst>
                                        <p:tav tm="0">
                                          <p:val>
                                            <p:strVal val="#ppt_y"/>
                                          </p:val>
                                        </p:tav>
                                        <p:tav tm="100000">
                                          <p:val>
                                            <p:strVal val="#ppt_y"/>
                                          </p:val>
                                        </p:tav>
                                      </p:tavLst>
                                    </p:anim>
                                    <p:animEffect transition="in" filter="wipe(right)" prLst="gradientSize: 0.1">
                                      <p:cBhvr>
                                        <p:cTn id="9" dur="1000"/>
                                        <p:tgtEl>
                                          <p:spTgt spid="205865"/>
                                        </p:tgtEl>
                                      </p:cBhvr>
                                    </p:animEffect>
                                  </p:childTnLst>
                                </p:cTn>
                              </p:par>
                            </p:childTnLst>
                          </p:cTn>
                        </p:par>
                      </p:childTnLst>
                    </p:cTn>
                  </p:par>
                  <p:par>
                    <p:cTn id="10" fill="hold">
                      <p:stCondLst>
                        <p:cond delay="indefinite"/>
                      </p:stCondLst>
                      <p:childTnLst>
                        <p:par>
                          <p:cTn id="11" fill="hold">
                            <p:stCondLst>
                              <p:cond delay="0"/>
                            </p:stCondLst>
                            <p:childTnLst>
                              <p:par>
                                <p:cTn id="12" presetID="8" presetClass="entr" presetSubtype="16"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diamond(in)">
                                      <p:cBhvr>
                                        <p:cTn id="14" dur="20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205866">
                                            <p:txEl>
                                              <p:charRg st="0" end="65"/>
                                            </p:txEl>
                                          </p:spTgt>
                                        </p:tgtEl>
                                        <p:attrNameLst>
                                          <p:attrName>style.visibility</p:attrName>
                                        </p:attrNameLst>
                                      </p:cBhvr>
                                      <p:to>
                                        <p:strVal val="visible"/>
                                      </p:to>
                                    </p:set>
                                    <p:animEffect transition="in" filter="blinds(horizontal)">
                                      <p:cBhvr>
                                        <p:cTn id="19" dur="500"/>
                                        <p:tgtEl>
                                          <p:spTgt spid="205866">
                                            <p:txEl>
                                              <p:charRg st="0" end="6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205866">
                                            <p:txEl>
                                              <p:charRg st="65" end="88"/>
                                            </p:txEl>
                                          </p:spTgt>
                                        </p:tgtEl>
                                        <p:attrNameLst>
                                          <p:attrName>style.visibility</p:attrName>
                                        </p:attrNameLst>
                                      </p:cBhvr>
                                      <p:to>
                                        <p:strVal val="visible"/>
                                      </p:to>
                                    </p:set>
                                    <p:animEffect transition="in" filter="blinds(horizontal)">
                                      <p:cBhvr>
                                        <p:cTn id="24" dur="500"/>
                                        <p:tgtEl>
                                          <p:spTgt spid="205866">
                                            <p:txEl>
                                              <p:charRg st="65" end="88"/>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205866">
                                            <p:txEl>
                                              <p:charRg st="88" end="118"/>
                                            </p:txEl>
                                          </p:spTgt>
                                        </p:tgtEl>
                                        <p:attrNameLst>
                                          <p:attrName>style.visibility</p:attrName>
                                        </p:attrNameLst>
                                      </p:cBhvr>
                                      <p:to>
                                        <p:strVal val="visible"/>
                                      </p:to>
                                    </p:set>
                                    <p:animEffect transition="in" filter="blinds(horizontal)">
                                      <p:cBhvr>
                                        <p:cTn id="29" dur="500"/>
                                        <p:tgtEl>
                                          <p:spTgt spid="205866">
                                            <p:txEl>
                                              <p:charRg st="88" end="1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65" grpId="0"/>
      <p:bldP spid="205866" grpId="0" uiExpand="1"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1" name="Rectangle 3"/>
          <p:cNvSpPr>
            <a:spLocks noGrp="1"/>
          </p:cNvSpPr>
          <p:nvPr>
            <p:ph idx="1"/>
          </p:nvPr>
        </p:nvSpPr>
        <p:spPr>
          <a:xfrm>
            <a:off x="836613" y="1052513"/>
            <a:ext cx="7696200" cy="5329238"/>
          </a:xfrm>
        </p:spPr>
        <p:txBody>
          <a:bodyPr vert="horz" wrap="square" lIns="91440" tIns="45720" rIns="91440" bIns="45720" anchor="t"/>
          <a:p>
            <a:pPr marL="342900" marR="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600" b="1" i="0" u="none" strike="noStrike" kern="0" cap="none" spc="0" normalizeH="0" baseline="0" noProof="1" dirty="0">
                <a:solidFill>
                  <a:schemeClr val="folHlink"/>
                </a:solidFill>
                <a:latin typeface="黑体" panose="02010609060101010101" pitchFamily="49" charset="-122"/>
                <a:ea typeface="黑体" panose="02010609060101010101" pitchFamily="49" charset="-122"/>
                <a:cs typeface="+mn-cs"/>
              </a:rPr>
              <a:t>2</a:t>
            </a:r>
            <a:r>
              <a:rPr kumimoji="0" lang="zh-CN" altLang="en-US" sz="2600" b="1" i="0" u="none" strike="noStrike" kern="0" cap="none" spc="0" normalizeH="0" baseline="0" noProof="1" dirty="0">
                <a:solidFill>
                  <a:schemeClr val="folHlink"/>
                </a:solidFill>
                <a:latin typeface="黑体" panose="02010609060101010101" pitchFamily="49" charset="-122"/>
                <a:ea typeface="黑体" panose="02010609060101010101" pitchFamily="49" charset="-122"/>
                <a:cs typeface="+mn-cs"/>
              </a:rPr>
              <a:t>、或逻辑运算指令</a:t>
            </a:r>
            <a:endParaRPr kumimoji="0" lang="zh-CN" altLang="en-US" sz="2400" b="0" i="0" u="none" strike="noStrike" kern="0" cap="none" spc="0" normalizeH="0" baseline="0" noProof="1" dirty="0">
              <a:solidFill>
                <a:schemeClr val="folHlink"/>
              </a:solidFill>
              <a:latin typeface="+mn-lt"/>
              <a:ea typeface="+mn-ea"/>
              <a:cs typeface="+mn-cs"/>
            </a:endParaRPr>
          </a:p>
          <a:p>
            <a:pPr marL="0" marR="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None/>
            </a:pPr>
            <a:r>
              <a:rPr kumimoji="0" lang="en-US" altLang="zh-CN" sz="2400" b="1" i="0" u="none" strike="noStrike" kern="0" cap="none" spc="0" normalizeH="0" baseline="0" noProof="1" dirty="0">
                <a:solidFill>
                  <a:schemeClr val="folHlink"/>
                </a:solidFill>
                <a:latin typeface="黑体" panose="02010609060101010101" pitchFamily="49" charset="-122"/>
                <a:ea typeface="黑体" panose="02010609060101010101" pitchFamily="49" charset="-122"/>
                <a:cs typeface="+mn-cs"/>
              </a:rPr>
              <a:t>      </a:t>
            </a:r>
            <a:r>
              <a:rPr kumimoji="0" lang="en-US" altLang="zh-CN" sz="2400" b="1" i="0" u="none" strike="noStrike" kern="0" cap="none" spc="0" normalizeH="0" baseline="0" noProof="1" dirty="0">
                <a:solidFill>
                  <a:srgbClr val="FF0000"/>
                </a:solidFill>
                <a:latin typeface="+mn-lt"/>
                <a:ea typeface="+mn-ea"/>
                <a:cs typeface="+mn-cs"/>
              </a:rPr>
              <a:t>ORL  目的操作数，源操作数</a:t>
            </a:r>
            <a:endParaRPr kumimoji="0" lang="en-US" altLang="zh-CN" sz="2400" b="1" i="0" u="none" strike="noStrike" kern="0" cap="none" spc="0" normalizeH="0" baseline="0" noProof="1" dirty="0">
              <a:solidFill>
                <a:srgbClr val="FF0000"/>
              </a:solidFill>
              <a:latin typeface="+mn-lt"/>
              <a:ea typeface="+mn-ea"/>
              <a:cs typeface="+mn-cs"/>
            </a:endParaRPr>
          </a:p>
          <a:p>
            <a:pPr marL="342900" marR="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1" i="0" u="none" strike="noStrike" kern="0" cap="none" spc="0" normalizeH="0" baseline="0" noProof="1" dirty="0">
                <a:solidFill>
                  <a:srgbClr val="FF3300"/>
                </a:solidFill>
                <a:latin typeface="+mn-lt"/>
                <a:ea typeface="+mn-ea"/>
                <a:cs typeface="+mn-cs"/>
              </a:rPr>
              <a:t>（</a:t>
            </a:r>
            <a:r>
              <a:rPr kumimoji="0" lang="en-US" altLang="zh-CN" sz="2400" b="1" i="0" u="none" strike="noStrike" kern="0" cap="none" spc="0" normalizeH="0" baseline="0" noProof="1" dirty="0">
                <a:solidFill>
                  <a:srgbClr val="FF3300"/>
                </a:solidFill>
                <a:latin typeface="+mn-lt"/>
                <a:ea typeface="+mn-ea"/>
                <a:cs typeface="+mn-cs"/>
              </a:rPr>
              <a:t>1</a:t>
            </a:r>
            <a:r>
              <a:rPr kumimoji="0" lang="zh-CN" altLang="en-US" sz="2400" b="1" i="0" u="none" strike="noStrike" kern="0" cap="none" spc="0" normalizeH="0" baseline="0" noProof="1" dirty="0">
                <a:solidFill>
                  <a:srgbClr val="FF3300"/>
                </a:solidFill>
                <a:latin typeface="+mn-lt"/>
                <a:ea typeface="+mn-ea"/>
                <a:cs typeface="+mn-cs"/>
              </a:rPr>
              <a:t>）以累加器</a:t>
            </a:r>
            <a:r>
              <a:rPr kumimoji="0" lang="en-US" altLang="zh-CN" sz="2400" b="1" i="0" u="none" strike="noStrike" kern="0" cap="none" spc="0" normalizeH="0" baseline="0" noProof="1" dirty="0">
                <a:solidFill>
                  <a:srgbClr val="FF3300"/>
                </a:solidFill>
                <a:latin typeface="+mn-lt"/>
                <a:ea typeface="+mn-ea"/>
                <a:cs typeface="+mn-cs"/>
              </a:rPr>
              <a:t>A</a:t>
            </a:r>
            <a:r>
              <a:rPr kumimoji="0" lang="zh-CN" altLang="en-US" sz="2400" b="1" i="0" u="none" strike="noStrike" kern="0" cap="none" spc="0" normalizeH="0" baseline="0" noProof="1" dirty="0">
                <a:solidFill>
                  <a:srgbClr val="FF3300"/>
                </a:solidFill>
                <a:latin typeface="+mn-lt"/>
                <a:ea typeface="+mn-ea"/>
                <a:cs typeface="+mn-cs"/>
              </a:rPr>
              <a:t>为目的操作数的或逻辑运算指令</a:t>
            </a:r>
            <a:endParaRPr kumimoji="0" lang="zh-CN" altLang="en-US" sz="2400" b="1" i="0" u="none" strike="noStrike" kern="0" cap="none" spc="0" normalizeH="0" baseline="0" noProof="1" dirty="0">
              <a:solidFill>
                <a:srgbClr val="FF3300"/>
              </a:solidFill>
              <a:latin typeface="+mn-lt"/>
              <a:ea typeface="+mn-ea"/>
              <a:cs typeface="+mn-cs"/>
            </a:endParaRPr>
          </a:p>
          <a:p>
            <a:pPr marL="342900" marR="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300" b="0" i="0" u="none" strike="noStrike" kern="0" cap="none" spc="0" normalizeH="0" baseline="0" noProof="1" dirty="0">
                <a:solidFill>
                  <a:schemeClr val="folHlink"/>
                </a:solidFill>
                <a:latin typeface="+mn-lt"/>
                <a:ea typeface="+mn-ea"/>
                <a:cs typeface="+mn-cs"/>
              </a:rPr>
              <a:t>           </a:t>
            </a:r>
            <a:r>
              <a:rPr kumimoji="0" lang="en-US" altLang="zh-CN" sz="2300" b="0" i="0" u="none" strike="noStrike" kern="0" cap="none" spc="0" normalizeH="0" baseline="0" noProof="1" dirty="0">
                <a:solidFill>
                  <a:schemeClr val="folHlink"/>
                </a:solidFill>
                <a:latin typeface="+mn-lt"/>
                <a:ea typeface="+mn-ea"/>
                <a:cs typeface="+mn-cs"/>
              </a:rPr>
              <a:t>ORL  A</a:t>
            </a:r>
            <a:r>
              <a:rPr kumimoji="0" lang="zh-CN" altLang="en-US" sz="2300" b="0" i="0" u="none" strike="noStrike" kern="0" cap="none" spc="0" normalizeH="0" baseline="0" noProof="1" dirty="0">
                <a:solidFill>
                  <a:schemeClr val="folHlink"/>
                </a:solidFill>
                <a:latin typeface="+mn-lt"/>
                <a:ea typeface="+mn-ea"/>
                <a:cs typeface="+mn-cs"/>
              </a:rPr>
              <a:t>，</a:t>
            </a:r>
            <a:r>
              <a:rPr kumimoji="0" lang="en-US" altLang="zh-CN" sz="2300" b="0" i="0" u="none" strike="noStrike" kern="0" cap="none" spc="0" normalizeH="0" baseline="0" noProof="1" dirty="0">
                <a:solidFill>
                  <a:schemeClr val="folHlink"/>
                </a:solidFill>
                <a:latin typeface="+mn-lt"/>
                <a:ea typeface="+mn-ea"/>
                <a:cs typeface="+mn-cs"/>
              </a:rPr>
              <a:t>#data   </a:t>
            </a:r>
            <a:r>
              <a:rPr kumimoji="0" lang="zh-CN" altLang="en-US" sz="2300" b="0" i="0" u="none" strike="noStrike" kern="0" cap="none" spc="0" normalizeH="0" baseline="0" noProof="1" dirty="0">
                <a:solidFill>
                  <a:schemeClr val="folHlink"/>
                </a:solidFill>
                <a:latin typeface="+mn-lt"/>
                <a:ea typeface="+mn-ea"/>
                <a:cs typeface="+mn-cs"/>
              </a:rPr>
              <a:t>；</a:t>
            </a:r>
            <a:r>
              <a:rPr kumimoji="0" lang="en-US" altLang="zh-CN" sz="2300" b="0" i="0" u="none" strike="noStrike" kern="0" cap="none" spc="0" normalizeH="0" baseline="0" noProof="1" dirty="0">
                <a:solidFill>
                  <a:schemeClr val="folHlink"/>
                </a:solidFill>
                <a:latin typeface="+mn-lt"/>
                <a:ea typeface="+mn-ea"/>
                <a:cs typeface="+mn-cs"/>
              </a:rPr>
              <a:t>(A) ∨data </a:t>
            </a:r>
            <a:r>
              <a:rPr kumimoji="0" lang="en-US" altLang="zh-CN" sz="2300" b="0" i="0" u="none" strike="noStrike" kern="0" cap="none" spc="0" normalizeH="0" baseline="0" noProof="1" dirty="0">
                <a:solidFill>
                  <a:schemeClr val="folHlink"/>
                </a:solidFill>
                <a:latin typeface="+mn-lt"/>
                <a:ea typeface="+mn-ea"/>
                <a:cs typeface="+mn-cs"/>
                <a:sym typeface="Wingdings" panose="05000000000000000000" pitchFamily="2" charset="2"/>
              </a:rPr>
              <a:t></a:t>
            </a:r>
            <a:r>
              <a:rPr kumimoji="0" lang="en-US" altLang="zh-CN" sz="2300" b="0" i="0" u="none" strike="noStrike" kern="0" cap="none" spc="0" normalizeH="0" baseline="0" noProof="1" dirty="0">
                <a:solidFill>
                  <a:schemeClr val="folHlink"/>
                </a:solidFill>
                <a:latin typeface="+mn-lt"/>
                <a:ea typeface="+mn-ea"/>
                <a:cs typeface="+mn-cs"/>
              </a:rPr>
              <a:t>A</a:t>
            </a:r>
            <a:endParaRPr kumimoji="0" lang="en-US" altLang="zh-CN" sz="2300" b="0" i="0" u="none" strike="noStrike" kern="0" cap="none" spc="0" normalizeH="0" baseline="0" noProof="1" dirty="0">
              <a:solidFill>
                <a:schemeClr val="folHlink"/>
              </a:solidFill>
              <a:latin typeface="+mn-lt"/>
              <a:ea typeface="+mn-ea"/>
              <a:cs typeface="+mn-cs"/>
            </a:endParaRPr>
          </a:p>
          <a:p>
            <a:pPr marL="342900" marR="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300" b="0" i="0" u="none" strike="noStrike" kern="0" cap="none" spc="0" normalizeH="0" baseline="0" noProof="1" dirty="0">
                <a:solidFill>
                  <a:schemeClr val="folHlink"/>
                </a:solidFill>
                <a:latin typeface="+mn-lt"/>
                <a:ea typeface="+mn-ea"/>
                <a:cs typeface="+mn-cs"/>
              </a:rPr>
              <a:t>           ORL  A</a:t>
            </a:r>
            <a:r>
              <a:rPr kumimoji="0" lang="zh-CN" altLang="en-US" sz="2300" b="0" i="0" u="none" strike="noStrike" kern="0" cap="none" spc="0" normalizeH="0" baseline="0" noProof="1" dirty="0">
                <a:solidFill>
                  <a:schemeClr val="folHlink"/>
                </a:solidFill>
                <a:latin typeface="+mn-lt"/>
                <a:ea typeface="+mn-ea"/>
                <a:cs typeface="+mn-cs"/>
              </a:rPr>
              <a:t>，</a:t>
            </a:r>
            <a:r>
              <a:rPr kumimoji="0" lang="en-US" altLang="zh-CN" sz="2300" b="0" i="0" u="none" strike="noStrike" kern="0" cap="none" spc="0" normalizeH="0" baseline="0" noProof="1" dirty="0">
                <a:solidFill>
                  <a:schemeClr val="folHlink"/>
                </a:solidFill>
                <a:latin typeface="+mn-lt"/>
                <a:ea typeface="+mn-ea"/>
                <a:cs typeface="+mn-cs"/>
              </a:rPr>
              <a:t>Rn       </a:t>
            </a:r>
            <a:r>
              <a:rPr kumimoji="0" lang="zh-CN" altLang="en-US" sz="2300" b="0" i="0" u="none" strike="noStrike" kern="0" cap="none" spc="0" normalizeH="0" baseline="0" noProof="1" dirty="0">
                <a:solidFill>
                  <a:schemeClr val="folHlink"/>
                </a:solidFill>
                <a:latin typeface="+mn-lt"/>
                <a:ea typeface="+mn-ea"/>
                <a:cs typeface="+mn-cs"/>
              </a:rPr>
              <a:t>；</a:t>
            </a:r>
            <a:r>
              <a:rPr kumimoji="0" lang="en-US" altLang="zh-CN" sz="2300" b="0" i="0" u="none" strike="noStrike" kern="0" cap="none" spc="0" normalizeH="0" baseline="0" noProof="1" dirty="0">
                <a:solidFill>
                  <a:schemeClr val="folHlink"/>
                </a:solidFill>
                <a:latin typeface="+mn-lt"/>
                <a:ea typeface="+mn-ea"/>
                <a:cs typeface="+mn-cs"/>
              </a:rPr>
              <a:t>n = 0~7</a:t>
            </a:r>
            <a:r>
              <a:rPr kumimoji="0" lang="zh-CN" altLang="en-US" sz="2300" b="0" i="0" u="none" strike="noStrike" kern="0" cap="none" spc="0" normalizeH="0" baseline="0" noProof="1" dirty="0">
                <a:solidFill>
                  <a:schemeClr val="folHlink"/>
                </a:solidFill>
                <a:latin typeface="+mn-lt"/>
                <a:ea typeface="+mn-ea"/>
                <a:cs typeface="+mn-cs"/>
              </a:rPr>
              <a:t>，</a:t>
            </a:r>
            <a:r>
              <a:rPr kumimoji="0" lang="en-US" altLang="zh-CN" sz="2300" b="0" i="0" u="none" strike="noStrike" kern="0" cap="none" spc="0" normalizeH="0" baseline="0" noProof="1" dirty="0">
                <a:solidFill>
                  <a:schemeClr val="folHlink"/>
                </a:solidFill>
                <a:latin typeface="+mn-lt"/>
                <a:ea typeface="+mn-ea"/>
                <a:cs typeface="+mn-cs"/>
              </a:rPr>
              <a:t>(A) ∨(Rn</a:t>
            </a:r>
            <a:r>
              <a:rPr kumimoji="0" lang="zh-CN" altLang="en-US" sz="2300" b="0" i="0" u="none" strike="noStrike" kern="0" cap="none" spc="0" normalizeH="0" baseline="0" noProof="1" dirty="0">
                <a:solidFill>
                  <a:schemeClr val="folHlink"/>
                </a:solidFill>
                <a:latin typeface="+mn-lt"/>
                <a:ea typeface="+mn-ea"/>
                <a:cs typeface="+mn-cs"/>
              </a:rPr>
              <a:t>）</a:t>
            </a:r>
            <a:r>
              <a:rPr kumimoji="0" lang="zh-CN" altLang="en-US" sz="2300" b="0" i="0" u="none" strike="noStrike" kern="0" cap="none" spc="0" normalizeH="0" baseline="0" noProof="1" dirty="0">
                <a:solidFill>
                  <a:schemeClr val="folHlink"/>
                </a:solidFill>
                <a:latin typeface="+mn-lt"/>
                <a:ea typeface="+mn-ea"/>
                <a:cs typeface="+mn-cs"/>
                <a:sym typeface="Wingdings" panose="05000000000000000000" pitchFamily="2" charset="2"/>
              </a:rPr>
              <a:t></a:t>
            </a:r>
            <a:r>
              <a:rPr kumimoji="0" lang="en-US" altLang="zh-CN" sz="2300" b="0" i="0" u="none" strike="noStrike" kern="0" cap="none" spc="0" normalizeH="0" baseline="0" noProof="1" dirty="0">
                <a:solidFill>
                  <a:schemeClr val="folHlink"/>
                </a:solidFill>
                <a:latin typeface="+mn-lt"/>
                <a:ea typeface="+mn-ea"/>
                <a:cs typeface="+mn-cs"/>
              </a:rPr>
              <a:t>A</a:t>
            </a:r>
            <a:endParaRPr kumimoji="0" lang="en-US" altLang="zh-CN" sz="2300" b="0" i="0" u="none" strike="noStrike" kern="0" cap="none" spc="0" normalizeH="0" baseline="0" noProof="1" dirty="0">
              <a:solidFill>
                <a:schemeClr val="folHlink"/>
              </a:solidFill>
              <a:latin typeface="+mn-lt"/>
              <a:ea typeface="+mn-ea"/>
              <a:cs typeface="+mn-cs"/>
            </a:endParaRPr>
          </a:p>
          <a:p>
            <a:pPr marL="342900" marR="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300" b="0" i="0" u="none" strike="noStrike" kern="0" cap="none" spc="0" normalizeH="0" baseline="0" noProof="1" dirty="0">
                <a:solidFill>
                  <a:schemeClr val="folHlink"/>
                </a:solidFill>
                <a:latin typeface="+mn-lt"/>
                <a:ea typeface="+mn-ea"/>
                <a:cs typeface="+mn-cs"/>
              </a:rPr>
              <a:t>           ORL  A</a:t>
            </a:r>
            <a:r>
              <a:rPr kumimoji="0" lang="zh-CN" altLang="en-US" sz="2300" b="0" i="0" u="none" strike="noStrike" kern="0" cap="none" spc="0" normalizeH="0" baseline="0" noProof="1" dirty="0">
                <a:solidFill>
                  <a:schemeClr val="folHlink"/>
                </a:solidFill>
                <a:latin typeface="+mn-lt"/>
                <a:ea typeface="+mn-ea"/>
                <a:cs typeface="+mn-cs"/>
              </a:rPr>
              <a:t>，</a:t>
            </a:r>
            <a:r>
              <a:rPr kumimoji="0" lang="en-US" altLang="zh-CN" sz="2300" b="0" i="0" u="none" strike="noStrike" kern="0" cap="none" spc="0" normalizeH="0" baseline="0" noProof="1" dirty="0">
                <a:solidFill>
                  <a:schemeClr val="folHlink"/>
                </a:solidFill>
                <a:latin typeface="+mn-lt"/>
                <a:ea typeface="+mn-ea"/>
                <a:cs typeface="+mn-cs"/>
              </a:rPr>
              <a:t>direct  </a:t>
            </a:r>
            <a:r>
              <a:rPr kumimoji="0" lang="zh-CN" altLang="en-US" sz="2300" b="0" i="0" u="none" strike="noStrike" kern="0" cap="none" spc="0" normalizeH="0" baseline="0" noProof="1" dirty="0">
                <a:solidFill>
                  <a:schemeClr val="folHlink"/>
                </a:solidFill>
                <a:latin typeface="+mn-lt"/>
                <a:ea typeface="+mn-ea"/>
                <a:cs typeface="+mn-cs"/>
              </a:rPr>
              <a:t>； </a:t>
            </a:r>
            <a:r>
              <a:rPr kumimoji="0" lang="en-US" altLang="zh-CN" sz="2300" b="0" i="0" u="none" strike="noStrike" kern="0" cap="none" spc="0" normalizeH="0" baseline="0" noProof="1" dirty="0">
                <a:solidFill>
                  <a:schemeClr val="folHlink"/>
                </a:solidFill>
                <a:latin typeface="+mn-lt"/>
                <a:ea typeface="+mn-ea"/>
                <a:cs typeface="+mn-cs"/>
              </a:rPr>
              <a:t>(A) ∨(direct) </a:t>
            </a:r>
            <a:r>
              <a:rPr kumimoji="0" lang="en-US" altLang="zh-CN" sz="2300" b="0" i="0" u="none" strike="noStrike" kern="0" cap="none" spc="0" normalizeH="0" baseline="0" noProof="1" dirty="0">
                <a:solidFill>
                  <a:schemeClr val="folHlink"/>
                </a:solidFill>
                <a:latin typeface="+mn-lt"/>
                <a:ea typeface="+mn-ea"/>
                <a:cs typeface="+mn-cs"/>
                <a:sym typeface="Wingdings" panose="05000000000000000000" pitchFamily="2" charset="2"/>
              </a:rPr>
              <a:t></a:t>
            </a:r>
            <a:r>
              <a:rPr kumimoji="0" lang="en-US" altLang="zh-CN" sz="2300" b="0" i="0" u="none" strike="noStrike" kern="0" cap="none" spc="0" normalizeH="0" baseline="0" noProof="1" dirty="0">
                <a:solidFill>
                  <a:schemeClr val="folHlink"/>
                </a:solidFill>
                <a:latin typeface="+mn-lt"/>
                <a:ea typeface="+mn-ea"/>
                <a:cs typeface="+mn-cs"/>
              </a:rPr>
              <a:t>A</a:t>
            </a:r>
            <a:endParaRPr kumimoji="0" lang="en-US" altLang="zh-CN" sz="2300" b="0" i="0" u="none" strike="noStrike" kern="0" cap="none" spc="0" normalizeH="0" baseline="0" noProof="1" dirty="0">
              <a:solidFill>
                <a:schemeClr val="folHlink"/>
              </a:solidFill>
              <a:latin typeface="+mn-lt"/>
              <a:ea typeface="+mn-ea"/>
              <a:cs typeface="+mn-cs"/>
            </a:endParaRPr>
          </a:p>
          <a:p>
            <a:pPr marL="342900" marR="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300" b="0" i="0" u="none" strike="noStrike" kern="0" cap="none" spc="0" normalizeH="0" baseline="0" noProof="1" dirty="0">
                <a:solidFill>
                  <a:schemeClr val="folHlink"/>
                </a:solidFill>
                <a:latin typeface="+mn-lt"/>
                <a:ea typeface="+mn-ea"/>
                <a:cs typeface="+mn-cs"/>
              </a:rPr>
              <a:t>           ORL  A</a:t>
            </a:r>
            <a:r>
              <a:rPr kumimoji="0" lang="zh-CN" altLang="en-US" sz="2300" b="0" i="0" u="none" strike="noStrike" kern="0" cap="none" spc="0" normalizeH="0" baseline="0" noProof="1" dirty="0">
                <a:solidFill>
                  <a:schemeClr val="folHlink"/>
                </a:solidFill>
                <a:latin typeface="+mn-lt"/>
                <a:ea typeface="+mn-ea"/>
                <a:cs typeface="+mn-cs"/>
              </a:rPr>
              <a:t>，</a:t>
            </a:r>
            <a:r>
              <a:rPr kumimoji="0" lang="en-US" altLang="zh-CN" sz="2300" b="0" i="0" u="none" strike="noStrike" kern="0" cap="none" spc="0" normalizeH="0" baseline="0" noProof="1" dirty="0">
                <a:solidFill>
                  <a:schemeClr val="folHlink"/>
                </a:solidFill>
                <a:latin typeface="+mn-lt"/>
                <a:ea typeface="+mn-ea"/>
                <a:cs typeface="+mn-cs"/>
              </a:rPr>
              <a:t>@Ri;   </a:t>
            </a:r>
            <a:r>
              <a:rPr kumimoji="0" lang="zh-CN" altLang="en-US" sz="2300" b="0" i="0" u="none" strike="noStrike" kern="0" cap="none" spc="0" normalizeH="0" baseline="0" noProof="1" dirty="0">
                <a:solidFill>
                  <a:schemeClr val="folHlink"/>
                </a:solidFill>
                <a:latin typeface="+mn-lt"/>
                <a:ea typeface="+mn-ea"/>
                <a:cs typeface="+mn-cs"/>
              </a:rPr>
              <a:t>；</a:t>
            </a:r>
            <a:r>
              <a:rPr kumimoji="0" lang="en-US" altLang="zh-CN" sz="2300" b="0" i="0" u="none" strike="noStrike" kern="0" cap="none" spc="0" normalizeH="0" baseline="0" noProof="1" dirty="0">
                <a:solidFill>
                  <a:schemeClr val="folHlink"/>
                </a:solidFill>
                <a:latin typeface="+mn-lt"/>
                <a:ea typeface="+mn-ea"/>
                <a:cs typeface="+mn-cs"/>
              </a:rPr>
              <a:t>i=0,1</a:t>
            </a:r>
            <a:r>
              <a:rPr kumimoji="0" lang="zh-CN" altLang="en-US" sz="2300" b="0" i="0" u="none" strike="noStrike" kern="0" cap="none" spc="0" normalizeH="0" baseline="0" noProof="1" dirty="0">
                <a:solidFill>
                  <a:schemeClr val="folHlink"/>
                </a:solidFill>
                <a:latin typeface="+mn-lt"/>
                <a:ea typeface="+mn-ea"/>
                <a:cs typeface="+mn-cs"/>
              </a:rPr>
              <a:t>，</a:t>
            </a:r>
            <a:r>
              <a:rPr kumimoji="0" lang="en-US" altLang="zh-CN" sz="2300" b="0" i="0" u="none" strike="noStrike" kern="0" cap="none" spc="0" normalizeH="0" baseline="0" noProof="1" dirty="0">
                <a:solidFill>
                  <a:schemeClr val="folHlink"/>
                </a:solidFill>
                <a:latin typeface="+mn-lt"/>
                <a:ea typeface="+mn-ea"/>
                <a:cs typeface="+mn-cs"/>
              </a:rPr>
              <a:t>(A) ∨((Ri)) </a:t>
            </a:r>
            <a:r>
              <a:rPr kumimoji="0" lang="en-US" altLang="zh-CN" sz="2300" b="0" i="0" u="none" strike="noStrike" kern="0" cap="none" spc="0" normalizeH="0" baseline="0" noProof="1" dirty="0">
                <a:solidFill>
                  <a:schemeClr val="folHlink"/>
                </a:solidFill>
                <a:latin typeface="+mn-lt"/>
                <a:ea typeface="+mn-ea"/>
                <a:cs typeface="+mn-cs"/>
                <a:sym typeface="Wingdings" panose="05000000000000000000" pitchFamily="2" charset="2"/>
              </a:rPr>
              <a:t></a:t>
            </a:r>
            <a:r>
              <a:rPr kumimoji="0" lang="en-US" altLang="zh-CN" sz="2300" b="0" i="0" u="none" strike="noStrike" kern="0" cap="none" spc="0" normalizeH="0" baseline="0" noProof="1" dirty="0">
                <a:solidFill>
                  <a:schemeClr val="folHlink"/>
                </a:solidFill>
                <a:latin typeface="+mn-lt"/>
                <a:ea typeface="+mn-ea"/>
                <a:cs typeface="+mn-cs"/>
              </a:rPr>
              <a:t>A</a:t>
            </a:r>
            <a:endParaRPr kumimoji="0" lang="en-US" altLang="zh-CN" sz="2300" b="0" i="0" u="none" strike="noStrike" kern="0" cap="none" spc="0" normalizeH="0" baseline="0" noProof="1" dirty="0">
              <a:solidFill>
                <a:schemeClr val="folHlink"/>
              </a:solidFill>
              <a:latin typeface="+mn-lt"/>
              <a:ea typeface="+mn-ea"/>
              <a:cs typeface="+mn-cs"/>
            </a:endParaRPr>
          </a:p>
          <a:p>
            <a:pPr marL="342900" marR="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en-US" altLang="zh-CN" sz="2400" b="0" i="0" u="none" strike="noStrike" kern="0" cap="none" spc="0" normalizeH="0" baseline="0" noProof="1" dirty="0">
                <a:solidFill>
                  <a:schemeClr val="folHlink"/>
                </a:solidFill>
                <a:latin typeface="+mn-lt"/>
                <a:ea typeface="+mn-ea"/>
                <a:cs typeface="+mn-cs"/>
              </a:rPr>
              <a:t>                    </a:t>
            </a:r>
            <a:r>
              <a:rPr kumimoji="0" lang="zh-CN" altLang="en-US" sz="2400" b="0" i="0" u="none" strike="noStrike" kern="0" cap="none" spc="0" normalizeH="0" baseline="0" noProof="1" dirty="0">
                <a:solidFill>
                  <a:schemeClr val="folHlink"/>
                </a:solidFill>
                <a:latin typeface="+mn-lt"/>
                <a:ea typeface="+mn-ea"/>
                <a:cs typeface="+mn-cs"/>
              </a:rPr>
              <a:t>指令执行时仅影响标志位</a:t>
            </a:r>
            <a:r>
              <a:rPr kumimoji="0" lang="en-US" altLang="zh-CN" sz="2400" b="0" i="0" u="none" strike="noStrike" kern="0" cap="none" spc="0" normalizeH="0" baseline="0" noProof="1" dirty="0">
                <a:solidFill>
                  <a:schemeClr val="folHlink"/>
                </a:solidFill>
                <a:latin typeface="+mn-lt"/>
                <a:ea typeface="+mn-ea"/>
                <a:cs typeface="+mn-cs"/>
              </a:rPr>
              <a:t>P</a:t>
            </a:r>
            <a:endParaRPr kumimoji="0" lang="en-US" altLang="zh-CN" sz="2400" b="0" i="0" u="none" strike="noStrike" kern="0" cap="none" spc="0" normalizeH="0" baseline="0" noProof="1" dirty="0">
              <a:solidFill>
                <a:schemeClr val="folHlink"/>
              </a:solidFill>
              <a:latin typeface="+mn-lt"/>
              <a:ea typeface="+mn-ea"/>
              <a:cs typeface="+mn-cs"/>
            </a:endParaRPr>
          </a:p>
          <a:p>
            <a:pPr marL="342900" marR="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pPr>
            <a:r>
              <a:rPr kumimoji="0" lang="zh-CN" altLang="en-US" sz="2400" b="1" i="0" u="none" strike="noStrike" kern="0" cap="none" spc="0" normalizeH="0" baseline="0" noProof="1" dirty="0">
                <a:solidFill>
                  <a:srgbClr val="FF3300"/>
                </a:solidFill>
                <a:latin typeface="+mn-lt"/>
                <a:ea typeface="+mn-ea"/>
                <a:cs typeface="+mn-cs"/>
              </a:rPr>
              <a:t>（</a:t>
            </a:r>
            <a:r>
              <a:rPr kumimoji="0" lang="en-US" altLang="zh-CN" sz="2400" b="1" i="0" u="none" strike="noStrike" kern="0" cap="none" spc="0" normalizeH="0" baseline="0" noProof="1" dirty="0">
                <a:solidFill>
                  <a:srgbClr val="FF3300"/>
                </a:solidFill>
                <a:latin typeface="+mn-lt"/>
                <a:ea typeface="+mn-ea"/>
                <a:cs typeface="+mn-cs"/>
              </a:rPr>
              <a:t>2</a:t>
            </a:r>
            <a:r>
              <a:rPr kumimoji="0" lang="zh-CN" altLang="en-US" sz="2400" b="1" i="0" u="none" strike="noStrike" kern="0" cap="none" spc="0" normalizeH="0" baseline="0" noProof="1" dirty="0">
                <a:solidFill>
                  <a:srgbClr val="FF3300"/>
                </a:solidFill>
                <a:latin typeface="+mn-lt"/>
                <a:ea typeface="+mn-ea"/>
                <a:cs typeface="+mn-cs"/>
              </a:rPr>
              <a:t>） 以某个单元为目的操作数的或逻辑运算指令</a:t>
            </a:r>
            <a:endParaRPr kumimoji="0" lang="zh-CN" altLang="en-US" sz="2400" b="1" i="0" u="none" strike="noStrike" kern="0" cap="none" spc="0" normalizeH="0" baseline="0" noProof="1" dirty="0">
              <a:solidFill>
                <a:srgbClr val="FF3300"/>
              </a:solidFill>
              <a:latin typeface="+mn-lt"/>
              <a:ea typeface="+mn-ea"/>
              <a:cs typeface="+mn-cs"/>
            </a:endParaRPr>
          </a:p>
          <a:p>
            <a:pPr marL="342900" marR="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300" b="0" i="0" u="none" strike="noStrike" kern="0" cap="none" spc="0" normalizeH="0" baseline="0" noProof="1" dirty="0">
                <a:solidFill>
                  <a:schemeClr val="folHlink"/>
                </a:solidFill>
                <a:latin typeface="+mn-lt"/>
                <a:ea typeface="+mn-ea"/>
                <a:cs typeface="+mn-cs"/>
              </a:rPr>
              <a:t>           </a:t>
            </a:r>
            <a:r>
              <a:rPr kumimoji="0" lang="en-US" altLang="zh-CN" sz="2300" b="0" i="0" u="none" strike="noStrike" kern="0" cap="none" spc="0" normalizeH="0" baseline="0" noProof="1" dirty="0">
                <a:solidFill>
                  <a:schemeClr val="folHlink"/>
                </a:solidFill>
                <a:latin typeface="+mn-lt"/>
                <a:ea typeface="+mn-ea"/>
                <a:cs typeface="+mn-cs"/>
              </a:rPr>
              <a:t>ORL   direct</a:t>
            </a:r>
            <a:r>
              <a:rPr kumimoji="0" lang="zh-CN" altLang="en-US" sz="2300" b="0" i="0" u="none" strike="noStrike" kern="0" cap="none" spc="0" normalizeH="0" baseline="0" noProof="1" dirty="0">
                <a:solidFill>
                  <a:schemeClr val="folHlink"/>
                </a:solidFill>
                <a:latin typeface="+mn-lt"/>
                <a:ea typeface="+mn-ea"/>
                <a:cs typeface="+mn-cs"/>
              </a:rPr>
              <a:t>，</a:t>
            </a:r>
            <a:r>
              <a:rPr kumimoji="0" lang="en-US" altLang="zh-CN" sz="2300" b="0" i="0" u="none" strike="noStrike" kern="0" cap="none" spc="0" normalizeH="0" baseline="0" noProof="1" dirty="0">
                <a:solidFill>
                  <a:schemeClr val="folHlink"/>
                </a:solidFill>
                <a:latin typeface="+mn-lt"/>
                <a:ea typeface="+mn-ea"/>
                <a:cs typeface="+mn-cs"/>
              </a:rPr>
              <a:t>#data    </a:t>
            </a:r>
            <a:r>
              <a:rPr kumimoji="0" lang="zh-CN" altLang="en-US" sz="2300" b="0" i="0" u="none" strike="noStrike" kern="0" cap="none" spc="0" normalizeH="0" baseline="0" noProof="1" dirty="0">
                <a:solidFill>
                  <a:schemeClr val="folHlink"/>
                </a:solidFill>
                <a:latin typeface="+mn-lt"/>
                <a:ea typeface="+mn-ea"/>
                <a:cs typeface="+mn-cs"/>
              </a:rPr>
              <a:t>；</a:t>
            </a:r>
            <a:r>
              <a:rPr kumimoji="0" lang="en-US" altLang="zh-CN" sz="2300" b="0" i="0" u="none" strike="noStrike" kern="0" cap="none" spc="0" normalizeH="0" baseline="0" noProof="1" dirty="0">
                <a:solidFill>
                  <a:schemeClr val="folHlink"/>
                </a:solidFill>
                <a:latin typeface="+mn-lt"/>
                <a:ea typeface="+mn-ea"/>
                <a:cs typeface="+mn-cs"/>
              </a:rPr>
              <a:t>(direct) ∨data</a:t>
            </a:r>
            <a:r>
              <a:rPr kumimoji="0" lang="en-US" altLang="zh-CN" sz="2300" b="0" i="0" u="none" strike="noStrike" kern="0" cap="none" spc="0" normalizeH="0" baseline="0" noProof="1" dirty="0">
                <a:solidFill>
                  <a:schemeClr val="folHlink"/>
                </a:solidFill>
                <a:latin typeface="+mn-lt"/>
                <a:ea typeface="+mn-ea"/>
                <a:cs typeface="+mn-cs"/>
                <a:sym typeface="Wingdings" panose="05000000000000000000" pitchFamily="2" charset="2"/>
              </a:rPr>
              <a:t></a:t>
            </a:r>
            <a:r>
              <a:rPr kumimoji="0" lang="en-US" altLang="zh-CN" sz="2300" b="0" i="0" u="none" strike="noStrike" kern="0" cap="none" spc="0" normalizeH="0" baseline="0" noProof="1" dirty="0">
                <a:solidFill>
                  <a:schemeClr val="folHlink"/>
                </a:solidFill>
                <a:latin typeface="+mn-lt"/>
                <a:ea typeface="+mn-ea"/>
                <a:cs typeface="+mn-cs"/>
              </a:rPr>
              <a:t>direct</a:t>
            </a:r>
            <a:endParaRPr kumimoji="0" lang="en-US" altLang="zh-CN" sz="2300" b="0" i="0" u="none" strike="noStrike" kern="0" cap="none" spc="0" normalizeH="0" baseline="0" noProof="1" dirty="0">
              <a:solidFill>
                <a:schemeClr val="folHlink"/>
              </a:solidFill>
              <a:latin typeface="+mn-lt"/>
              <a:ea typeface="+mn-ea"/>
              <a:cs typeface="+mn-cs"/>
            </a:endParaRPr>
          </a:p>
          <a:p>
            <a:pPr marL="342900" marR="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300" b="0" i="0" u="none" strike="noStrike" kern="0" cap="none" spc="0" normalizeH="0" baseline="0" noProof="1" dirty="0">
                <a:solidFill>
                  <a:schemeClr val="folHlink"/>
                </a:solidFill>
                <a:latin typeface="+mn-lt"/>
                <a:ea typeface="+mn-ea"/>
                <a:cs typeface="+mn-cs"/>
              </a:rPr>
              <a:t>           ORL   direct</a:t>
            </a:r>
            <a:r>
              <a:rPr kumimoji="0" lang="zh-CN" altLang="en-US" sz="2300" b="0" i="0" u="none" strike="noStrike" kern="0" cap="none" spc="0" normalizeH="0" baseline="0" noProof="1" dirty="0">
                <a:solidFill>
                  <a:schemeClr val="folHlink"/>
                </a:solidFill>
                <a:latin typeface="+mn-lt"/>
                <a:ea typeface="+mn-ea"/>
                <a:cs typeface="+mn-cs"/>
              </a:rPr>
              <a:t>，</a:t>
            </a:r>
            <a:r>
              <a:rPr kumimoji="0" lang="en-US" altLang="zh-CN" sz="2300" b="0" i="0" u="none" strike="noStrike" kern="0" cap="none" spc="0" normalizeH="0" baseline="0" noProof="1" dirty="0">
                <a:solidFill>
                  <a:schemeClr val="folHlink"/>
                </a:solidFill>
                <a:latin typeface="+mn-lt"/>
                <a:ea typeface="+mn-ea"/>
                <a:cs typeface="+mn-cs"/>
              </a:rPr>
              <a:t>A       </a:t>
            </a:r>
            <a:r>
              <a:rPr kumimoji="0" lang="zh-CN" altLang="en-US" sz="2300" b="0" i="0" u="none" strike="noStrike" kern="0" cap="none" spc="0" normalizeH="0" baseline="0" noProof="1" dirty="0">
                <a:solidFill>
                  <a:schemeClr val="folHlink"/>
                </a:solidFill>
                <a:latin typeface="+mn-lt"/>
                <a:ea typeface="+mn-ea"/>
                <a:cs typeface="+mn-cs"/>
              </a:rPr>
              <a:t>；</a:t>
            </a:r>
            <a:r>
              <a:rPr kumimoji="0" lang="en-US" altLang="zh-CN" sz="2300" b="0" i="0" u="none" strike="noStrike" kern="0" cap="none" spc="0" normalizeH="0" baseline="0" noProof="1" dirty="0">
                <a:solidFill>
                  <a:schemeClr val="folHlink"/>
                </a:solidFill>
                <a:latin typeface="+mn-lt"/>
                <a:ea typeface="+mn-ea"/>
                <a:cs typeface="+mn-cs"/>
              </a:rPr>
              <a:t>(direct)∨(A) </a:t>
            </a:r>
            <a:r>
              <a:rPr kumimoji="0" lang="en-US" altLang="zh-CN" sz="2300" b="0" i="0" u="none" strike="noStrike" kern="0" cap="none" spc="0" normalizeH="0" baseline="0" noProof="1" dirty="0">
                <a:solidFill>
                  <a:schemeClr val="folHlink"/>
                </a:solidFill>
                <a:latin typeface="+mn-lt"/>
                <a:ea typeface="+mn-ea"/>
                <a:cs typeface="+mn-cs"/>
                <a:sym typeface="Wingdings" panose="05000000000000000000" pitchFamily="2" charset="2"/>
              </a:rPr>
              <a:t></a:t>
            </a:r>
            <a:r>
              <a:rPr kumimoji="0" lang="en-US" altLang="zh-CN" sz="2300" b="0" i="0" u="none" strike="noStrike" kern="0" cap="none" spc="0" normalizeH="0" baseline="0" noProof="1" dirty="0">
                <a:solidFill>
                  <a:schemeClr val="folHlink"/>
                </a:solidFill>
                <a:latin typeface="+mn-lt"/>
                <a:ea typeface="+mn-ea"/>
                <a:cs typeface="+mn-cs"/>
              </a:rPr>
              <a:t>direct</a:t>
            </a:r>
            <a:endParaRPr kumimoji="0" lang="en-US" altLang="zh-CN" sz="2300" b="0" i="0" u="none" strike="noStrike" kern="0" cap="none" spc="0" normalizeH="0" baseline="0" noProof="1" dirty="0">
              <a:solidFill>
                <a:schemeClr val="folHlink"/>
              </a:solidFill>
              <a:latin typeface="+mn-lt"/>
              <a:ea typeface="+mn-ea"/>
              <a:cs typeface="+mn-cs"/>
            </a:endParaRPr>
          </a:p>
          <a:p>
            <a:pPr marL="342900" marR="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0" i="0" u="none" strike="noStrike" kern="0" cap="none" spc="0" normalizeH="0" baseline="0" noProof="1" dirty="0">
                <a:solidFill>
                  <a:schemeClr val="folHlink"/>
                </a:solidFill>
                <a:latin typeface="+mn-lt"/>
                <a:ea typeface="+mn-ea"/>
                <a:cs typeface="+mn-cs"/>
              </a:rPr>
              <a:t>         </a:t>
            </a:r>
            <a:r>
              <a:rPr kumimoji="0" lang="zh-CN" altLang="en-US" sz="2400" b="0" i="0" u="none" strike="noStrike" kern="0" cap="none" spc="0" normalizeH="0" baseline="0" noProof="1" dirty="0">
                <a:solidFill>
                  <a:schemeClr val="folHlink"/>
                </a:solidFill>
                <a:latin typeface="+mn-lt"/>
                <a:ea typeface="+mn-ea"/>
                <a:cs typeface="+mn-cs"/>
              </a:rPr>
              <a:t>指令执行时不会影响任何标志位</a:t>
            </a:r>
            <a:endParaRPr kumimoji="0" lang="zh-CN" altLang="en-US" sz="2400" b="0" i="0" u="none" strike="noStrike" kern="0" cap="none" spc="0" normalizeH="0" baseline="0" noProof="1" dirty="0">
              <a:solidFill>
                <a:schemeClr val="folHlink"/>
              </a:solidFill>
              <a:latin typeface="+mn-lt"/>
              <a:ea typeface="+mn-ea"/>
              <a:cs typeface="+mn-cs"/>
            </a:endParaRPr>
          </a:p>
        </p:txBody>
      </p:sp>
      <p:sp>
        <p:nvSpPr>
          <p:cNvPr id="87042" name="Rectangle 2"/>
          <p:cNvSpPr>
            <a:spLocks noChangeArrowheads="1"/>
          </p:cNvSpPr>
          <p:nvPr/>
        </p:nvSpPr>
        <p:spPr bwMode="auto">
          <a:xfrm>
            <a:off x="214313" y="214313"/>
            <a:ext cx="8763000" cy="609600"/>
          </a:xfrm>
          <a:prstGeom prst="rect">
            <a:avLst/>
          </a:prstGeom>
          <a:noFill/>
          <a:ln>
            <a:noFill/>
          </a:ln>
        </p:spPr>
        <p:txBody>
          <a:bodyPr anchor="ctr"/>
          <a:lstStyle>
            <a:lvl1pPr>
              <a:defRPr sz="3600">
                <a:solidFill>
                  <a:schemeClr val="tx2"/>
                </a:solidFill>
                <a:latin typeface="Times New Roman" panose="02020503050405090304" pitchFamily="18" charset="0"/>
                <a:ea typeface="宋体" pitchFamily="2" charset="-122"/>
              </a:defRPr>
            </a:lvl1pPr>
            <a:lvl2pPr>
              <a:defRPr sz="3600">
                <a:solidFill>
                  <a:schemeClr val="tx2"/>
                </a:solidFill>
                <a:latin typeface="Times New Roman" panose="02020503050405090304" pitchFamily="18" charset="0"/>
                <a:ea typeface="宋体" pitchFamily="2" charset="-122"/>
              </a:defRPr>
            </a:lvl2pPr>
            <a:lvl3pPr>
              <a:defRPr sz="3600">
                <a:solidFill>
                  <a:schemeClr val="tx2"/>
                </a:solidFill>
                <a:latin typeface="Times New Roman" panose="02020503050405090304" pitchFamily="18" charset="0"/>
                <a:ea typeface="宋体" pitchFamily="2" charset="-122"/>
              </a:defRPr>
            </a:lvl3pPr>
            <a:lvl4pPr>
              <a:defRPr sz="3600">
                <a:solidFill>
                  <a:schemeClr val="tx2"/>
                </a:solidFill>
                <a:latin typeface="Times New Roman" panose="02020503050405090304" pitchFamily="18" charset="0"/>
                <a:ea typeface="宋体" pitchFamily="2" charset="-122"/>
              </a:defRPr>
            </a:lvl4pPr>
            <a:lvl5pPr>
              <a:defRPr sz="3600">
                <a:solidFill>
                  <a:schemeClr val="tx2"/>
                </a:solidFill>
                <a:latin typeface="Times New Roman" panose="02020503050405090304" pitchFamily="18" charset="0"/>
                <a:ea typeface="宋体" pitchFamily="2" charset="-122"/>
              </a:defRPr>
            </a:lvl5pPr>
            <a:lvl6pPr marL="45720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fontAlgn="base">
              <a:spcBef>
                <a:spcPct val="0"/>
              </a:spcBef>
              <a:spcAft>
                <a:spcPct val="0"/>
              </a:spcAft>
              <a:defRPr sz="3600">
                <a:solidFill>
                  <a:schemeClr val="tx2"/>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第三章</a:t>
            </a:r>
            <a:r>
              <a:rPr kumimoji="0" lang="zh-CN" altLang="en-US" sz="28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zh-CN" altLang="en-US" sz="24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en-US" altLang="zh-CN"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MCS-51</a:t>
            </a: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指令系统</a:t>
            </a:r>
            <a:endParaRPr kumimoji="0" lang="zh-CN" altLang="en-US" sz="3600" b="0"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Times New Roman" panose="02020503050405090304" pitchFamily="18" charset="0"/>
              <a:ea typeface="宋体" pitchFamily="2" charset="-122"/>
              <a:cs typeface="+mn-cs"/>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Rectangle 3"/>
          <p:cNvSpPr/>
          <p:nvPr/>
        </p:nvSpPr>
        <p:spPr>
          <a:xfrm>
            <a:off x="639763" y="908050"/>
            <a:ext cx="6019800" cy="488950"/>
          </a:xfrm>
          <a:prstGeom prst="rect">
            <a:avLst/>
          </a:prstGeom>
          <a:noFill/>
          <a:ln w="9525">
            <a:noFill/>
          </a:ln>
        </p:spPr>
        <p:txBody>
          <a:bodyPr anchor="t" anchorCtr="0"/>
          <a:p>
            <a:pPr marL="742950" lvl="1" indent="-285750" eaLnBrk="1" hangingPunct="1">
              <a:spcBef>
                <a:spcPct val="20000"/>
              </a:spcBef>
              <a:buClr>
                <a:schemeClr val="hlink"/>
              </a:buClr>
              <a:buSzPct val="55000"/>
            </a:pPr>
            <a:r>
              <a:rPr lang="zh-CN" altLang="en-US" sz="2800" dirty="0">
                <a:solidFill>
                  <a:srgbClr val="FF3300"/>
                </a:solidFill>
                <a:latin typeface="黑体" panose="02010609060101010101" pitchFamily="49" charset="-122"/>
                <a:ea typeface="黑体" panose="02010609060101010101" pitchFamily="49" charset="-122"/>
              </a:rPr>
              <a:t>或</a:t>
            </a:r>
            <a:r>
              <a:rPr lang="zh-CN" altLang="en-US" sz="2800" dirty="0">
                <a:solidFill>
                  <a:schemeClr val="folHlink"/>
                </a:solidFill>
                <a:latin typeface="黑体" panose="02010609060101010101" pitchFamily="49" charset="-122"/>
                <a:ea typeface="黑体" panose="02010609060101010101" pitchFamily="49" charset="-122"/>
              </a:rPr>
              <a:t>逻辑操作指令用于</a:t>
            </a:r>
            <a:r>
              <a:rPr lang="zh-CN" altLang="en-US" sz="2800" dirty="0">
                <a:solidFill>
                  <a:srgbClr val="FF3300"/>
                </a:solidFill>
                <a:latin typeface="黑体" panose="02010609060101010101" pitchFamily="49" charset="-122"/>
                <a:ea typeface="黑体" panose="02010609060101010101" pitchFamily="49" charset="-122"/>
              </a:rPr>
              <a:t>实现置位</a:t>
            </a:r>
            <a:r>
              <a:rPr lang="zh-CN" altLang="en-US" sz="2800" dirty="0">
                <a:solidFill>
                  <a:schemeClr val="folHlink"/>
                </a:solidFill>
                <a:latin typeface="黑体" panose="02010609060101010101" pitchFamily="49" charset="-122"/>
                <a:ea typeface="黑体" panose="02010609060101010101" pitchFamily="49" charset="-122"/>
              </a:rPr>
              <a:t>。</a:t>
            </a:r>
            <a:endParaRPr lang="zh-CN" altLang="en-US" sz="2800" dirty="0">
              <a:latin typeface="Tahoma" panose="020B0604030504040204" pitchFamily="34" charset="0"/>
              <a:ea typeface="黑体" panose="02010609060101010101" pitchFamily="49" charset="-122"/>
            </a:endParaRPr>
          </a:p>
        </p:txBody>
      </p:sp>
      <p:sp>
        <p:nvSpPr>
          <p:cNvPr id="207876" name="Rectangle 4"/>
          <p:cNvSpPr/>
          <p:nvPr/>
        </p:nvSpPr>
        <p:spPr>
          <a:xfrm>
            <a:off x="731838" y="1341438"/>
            <a:ext cx="6178550" cy="1371600"/>
          </a:xfrm>
          <a:prstGeom prst="rect">
            <a:avLst/>
          </a:prstGeom>
          <a:noFill/>
          <a:ln w="9525">
            <a:noFill/>
          </a:ln>
        </p:spPr>
        <p:txBody>
          <a:bodyPr wrap="none" anchor="t" anchorCtr="0">
            <a:spAutoFit/>
          </a:bodyPr>
          <a:p>
            <a:pPr marL="179705" lvl="1" indent="277495" eaLnBrk="1" hangingPunct="1">
              <a:spcBef>
                <a:spcPct val="20000"/>
              </a:spcBef>
              <a:buClr>
                <a:schemeClr val="hlink"/>
              </a:buClr>
              <a:buSzPct val="55000"/>
              <a:buNone/>
            </a:pPr>
            <a:r>
              <a:rPr lang="zh-CN" altLang="en-US" b="0" dirty="0">
                <a:solidFill>
                  <a:schemeClr val="folHlink"/>
                </a:solidFill>
                <a:latin typeface="Times New Roman" panose="02020503050405090304" pitchFamily="18" charset="0"/>
                <a:ea typeface="黑体" panose="02010609060101010101" pitchFamily="49" charset="-122"/>
              </a:rPr>
              <a:t>设某位数值为</a:t>
            </a:r>
            <a:r>
              <a:rPr lang="en-US" altLang="zh-CN" b="0" i="1" dirty="0">
                <a:solidFill>
                  <a:schemeClr val="folHlink"/>
                </a:solidFill>
                <a:latin typeface="Times New Roman" panose="02020503050405090304" pitchFamily="18" charset="0"/>
                <a:ea typeface="黑体" panose="02010609060101010101" pitchFamily="49" charset="-122"/>
              </a:rPr>
              <a:t>d</a:t>
            </a:r>
            <a:r>
              <a:rPr lang="en-US" altLang="zh-CN" b="0" i="1" baseline="-25000" dirty="0">
                <a:solidFill>
                  <a:schemeClr val="folHlink"/>
                </a:solidFill>
                <a:latin typeface="Times New Roman" panose="02020503050405090304" pitchFamily="18" charset="0"/>
                <a:ea typeface="黑体" panose="02010609060101010101" pitchFamily="49" charset="-122"/>
              </a:rPr>
              <a:t>i </a:t>
            </a:r>
            <a:r>
              <a:rPr lang="en-US" altLang="zh-CN" b="0" dirty="0">
                <a:solidFill>
                  <a:schemeClr val="folHlink"/>
                </a:solidFill>
                <a:latin typeface="Times New Roman" panose="02020503050405090304" pitchFamily="18" charset="0"/>
                <a:ea typeface="黑体" panose="02010609060101010101" pitchFamily="49" charset="-122"/>
              </a:rPr>
              <a:t>= 0, 1</a:t>
            </a:r>
            <a:r>
              <a:rPr lang="zh-CN" altLang="en-US" b="0" dirty="0">
                <a:solidFill>
                  <a:schemeClr val="folHlink"/>
                </a:solidFill>
                <a:latin typeface="Times New Roman" panose="02020503050405090304" pitchFamily="18" charset="0"/>
                <a:ea typeface="黑体" panose="02010609060101010101" pitchFamily="49" charset="-122"/>
              </a:rPr>
              <a:t>，与运算法则如下：</a:t>
            </a:r>
            <a:endParaRPr lang="zh-CN" altLang="en-US" b="0" dirty="0">
              <a:solidFill>
                <a:schemeClr val="folHlink"/>
              </a:solidFill>
              <a:latin typeface="Times New Roman" panose="02020503050405090304" pitchFamily="18" charset="0"/>
              <a:ea typeface="黑体" panose="02010609060101010101" pitchFamily="49" charset="-122"/>
            </a:endParaRPr>
          </a:p>
          <a:p>
            <a:pPr marL="179705" lvl="1" indent="277495" eaLnBrk="1" hangingPunct="1">
              <a:spcBef>
                <a:spcPct val="20000"/>
              </a:spcBef>
              <a:buClr>
                <a:schemeClr val="hlink"/>
              </a:buClr>
              <a:buSzPct val="55000"/>
              <a:buNone/>
            </a:pPr>
            <a:r>
              <a:rPr lang="zh-CN" altLang="en-US" b="0" dirty="0">
                <a:solidFill>
                  <a:schemeClr val="folHlink"/>
                </a:solidFill>
                <a:latin typeface="Times New Roman" panose="02020503050405090304" pitchFamily="18" charset="0"/>
                <a:ea typeface="黑体" panose="02010609060101010101" pitchFamily="49" charset="-122"/>
              </a:rPr>
              <a:t>	               </a:t>
            </a:r>
            <a:r>
              <a:rPr lang="en-US" altLang="zh-CN" b="0" i="1" dirty="0">
                <a:solidFill>
                  <a:schemeClr val="folHlink"/>
                </a:solidFill>
                <a:latin typeface="Times New Roman" panose="02020503050405090304" pitchFamily="18" charset="0"/>
                <a:ea typeface="黑体" panose="02010609060101010101" pitchFamily="49" charset="-122"/>
              </a:rPr>
              <a:t>d</a:t>
            </a:r>
            <a:r>
              <a:rPr lang="en-US" altLang="zh-CN" b="0" i="1" baseline="-25000" dirty="0">
                <a:solidFill>
                  <a:schemeClr val="folHlink"/>
                </a:solidFill>
                <a:latin typeface="Times New Roman" panose="02020503050405090304" pitchFamily="18" charset="0"/>
                <a:ea typeface="黑体" panose="02010609060101010101" pitchFamily="49" charset="-122"/>
              </a:rPr>
              <a:t>i</a:t>
            </a:r>
            <a:r>
              <a:rPr lang="en-US" altLang="zh-CN" b="0" dirty="0">
                <a:solidFill>
                  <a:schemeClr val="folHlink"/>
                </a:solidFill>
                <a:latin typeface="Times New Roman" panose="02020503050405090304" pitchFamily="18" charset="0"/>
                <a:ea typeface="黑体" panose="02010609060101010101" pitchFamily="49" charset="-122"/>
              </a:rPr>
              <a:t> </a:t>
            </a:r>
            <a:r>
              <a:rPr lang="en-US" altLang="zh-CN" b="0" dirty="0">
                <a:solidFill>
                  <a:schemeClr val="folHlink"/>
                </a:solidFill>
                <a:latin typeface="黑体" panose="02010609060101010101" pitchFamily="49" charset="-122"/>
                <a:ea typeface="黑体" panose="02010609060101010101" pitchFamily="49" charset="-122"/>
              </a:rPr>
              <a:t>∨</a:t>
            </a:r>
            <a:r>
              <a:rPr lang="en-US" altLang="zh-CN" b="0" dirty="0">
                <a:solidFill>
                  <a:schemeClr val="folHlink"/>
                </a:solidFill>
                <a:latin typeface="Times New Roman" panose="02020503050405090304" pitchFamily="18" charset="0"/>
                <a:ea typeface="黑体" panose="02010609060101010101" pitchFamily="49" charset="-122"/>
              </a:rPr>
              <a:t> 0 = </a:t>
            </a:r>
            <a:r>
              <a:rPr lang="en-US" altLang="zh-CN" b="0" i="1" dirty="0">
                <a:solidFill>
                  <a:schemeClr val="folHlink"/>
                </a:solidFill>
                <a:latin typeface="Times New Roman" panose="02020503050405090304" pitchFamily="18" charset="0"/>
                <a:ea typeface="黑体" panose="02010609060101010101" pitchFamily="49" charset="-122"/>
              </a:rPr>
              <a:t>d</a:t>
            </a:r>
            <a:r>
              <a:rPr lang="en-US" altLang="zh-CN" b="0" i="1" baseline="-25000" dirty="0">
                <a:solidFill>
                  <a:schemeClr val="folHlink"/>
                </a:solidFill>
                <a:latin typeface="Times New Roman" panose="02020503050405090304" pitchFamily="18" charset="0"/>
                <a:ea typeface="黑体" panose="02010609060101010101" pitchFamily="49" charset="-122"/>
              </a:rPr>
              <a:t>i</a:t>
            </a:r>
            <a:r>
              <a:rPr lang="en-US" altLang="zh-CN" b="0" dirty="0">
                <a:solidFill>
                  <a:schemeClr val="folHlink"/>
                </a:solidFill>
                <a:latin typeface="Times New Roman" panose="02020503050405090304" pitchFamily="18" charset="0"/>
                <a:ea typeface="黑体" panose="02010609060101010101" pitchFamily="49" charset="-122"/>
              </a:rPr>
              <a:t> </a:t>
            </a:r>
            <a:r>
              <a:rPr lang="zh-CN" altLang="en-US" b="0" dirty="0">
                <a:solidFill>
                  <a:schemeClr val="folHlink"/>
                </a:solidFill>
                <a:latin typeface="Times New Roman" panose="02020503050405090304" pitchFamily="18" charset="0"/>
                <a:ea typeface="黑体" panose="02010609060101010101" pitchFamily="49" charset="-122"/>
              </a:rPr>
              <a:t>（保留）</a:t>
            </a:r>
            <a:endParaRPr lang="zh-CN" altLang="en-US" b="0" dirty="0">
              <a:solidFill>
                <a:schemeClr val="folHlink"/>
              </a:solidFill>
              <a:latin typeface="Times New Roman" panose="02020503050405090304" pitchFamily="18" charset="0"/>
              <a:ea typeface="黑体" panose="02010609060101010101" pitchFamily="49" charset="-122"/>
            </a:endParaRPr>
          </a:p>
          <a:p>
            <a:pPr marL="179705" lvl="1" indent="277495" eaLnBrk="1" hangingPunct="1">
              <a:spcBef>
                <a:spcPct val="20000"/>
              </a:spcBef>
              <a:buClr>
                <a:schemeClr val="hlink"/>
              </a:buClr>
              <a:buSzPct val="55000"/>
              <a:buNone/>
            </a:pPr>
            <a:r>
              <a:rPr lang="zh-CN" altLang="en-US" b="0" dirty="0">
                <a:solidFill>
                  <a:schemeClr val="folHlink"/>
                </a:solidFill>
                <a:latin typeface="Times New Roman" panose="02020503050405090304" pitchFamily="18" charset="0"/>
                <a:ea typeface="黑体" panose="02010609060101010101" pitchFamily="49" charset="-122"/>
              </a:rPr>
              <a:t>		    </a:t>
            </a:r>
            <a:r>
              <a:rPr lang="en-US" altLang="zh-CN" b="0" i="1" dirty="0">
                <a:solidFill>
                  <a:schemeClr val="folHlink"/>
                </a:solidFill>
                <a:latin typeface="Times New Roman" panose="02020503050405090304" pitchFamily="18" charset="0"/>
                <a:ea typeface="黑体" panose="02010609060101010101" pitchFamily="49" charset="-122"/>
              </a:rPr>
              <a:t>d</a:t>
            </a:r>
            <a:r>
              <a:rPr lang="en-US" altLang="zh-CN" b="0" i="1" baseline="-25000" dirty="0">
                <a:solidFill>
                  <a:schemeClr val="folHlink"/>
                </a:solidFill>
                <a:latin typeface="Times New Roman" panose="02020503050405090304" pitchFamily="18" charset="0"/>
                <a:ea typeface="黑体" panose="02010609060101010101" pitchFamily="49" charset="-122"/>
              </a:rPr>
              <a:t>i</a:t>
            </a:r>
            <a:r>
              <a:rPr lang="en-US" altLang="zh-CN" b="0" dirty="0">
                <a:solidFill>
                  <a:schemeClr val="folHlink"/>
                </a:solidFill>
                <a:latin typeface="Times New Roman" panose="02020503050405090304" pitchFamily="18" charset="0"/>
                <a:ea typeface="黑体" panose="02010609060101010101" pitchFamily="49" charset="-122"/>
              </a:rPr>
              <a:t> </a:t>
            </a:r>
            <a:r>
              <a:rPr lang="en-US" altLang="zh-CN" sz="2600" b="0" dirty="0">
                <a:solidFill>
                  <a:schemeClr val="folHlink"/>
                </a:solidFill>
                <a:latin typeface="Times New Roman" panose="02020503050405090304" pitchFamily="18" charset="0"/>
                <a:ea typeface="黑体" panose="02010609060101010101" pitchFamily="49" charset="-122"/>
              </a:rPr>
              <a:t>∨</a:t>
            </a:r>
            <a:r>
              <a:rPr lang="en-US" altLang="zh-CN" b="0" dirty="0">
                <a:solidFill>
                  <a:schemeClr val="folHlink"/>
                </a:solidFill>
                <a:latin typeface="Times New Roman" panose="02020503050405090304" pitchFamily="18" charset="0"/>
                <a:ea typeface="黑体" panose="02010609060101010101" pitchFamily="49" charset="-122"/>
              </a:rPr>
              <a:t> 1 = 1</a:t>
            </a:r>
            <a:r>
              <a:rPr lang="zh-CN" altLang="en-US" b="0" dirty="0">
                <a:solidFill>
                  <a:schemeClr val="folHlink"/>
                </a:solidFill>
                <a:latin typeface="Times New Roman" panose="02020503050405090304" pitchFamily="18" charset="0"/>
                <a:ea typeface="黑体" panose="02010609060101010101" pitchFamily="49" charset="-122"/>
              </a:rPr>
              <a:t>（置位）</a:t>
            </a:r>
            <a:endParaRPr lang="zh-CN" altLang="en-US" b="0" dirty="0">
              <a:solidFill>
                <a:schemeClr val="folHlink"/>
              </a:solidFill>
              <a:latin typeface="Times New Roman" panose="02020503050405090304" pitchFamily="18" charset="0"/>
              <a:ea typeface="黑体" panose="02010609060101010101" pitchFamily="49" charset="-122"/>
            </a:endParaRPr>
          </a:p>
        </p:txBody>
      </p:sp>
      <p:sp>
        <p:nvSpPr>
          <p:cNvPr id="207877" name="Rectangle 5"/>
          <p:cNvSpPr/>
          <p:nvPr/>
        </p:nvSpPr>
        <p:spPr>
          <a:xfrm>
            <a:off x="836613" y="4783138"/>
            <a:ext cx="7983537" cy="2030412"/>
          </a:xfrm>
          <a:prstGeom prst="rect">
            <a:avLst/>
          </a:prstGeom>
          <a:noFill/>
          <a:ln w="9525">
            <a:noFill/>
          </a:ln>
        </p:spPr>
        <p:txBody>
          <a:bodyPr anchor="t" anchorCtr="0"/>
          <a:p>
            <a:pPr marL="342900" indent="-342900">
              <a:spcBef>
                <a:spcPct val="20000"/>
              </a:spcBef>
              <a:buSzPct val="60000"/>
            </a:pPr>
            <a:r>
              <a:rPr lang="zh-CN" altLang="en-US" b="0" dirty="0">
                <a:solidFill>
                  <a:schemeClr val="folHlink"/>
                </a:solidFill>
                <a:latin typeface="Times New Roman" panose="02020503050405090304" pitchFamily="18" charset="0"/>
                <a:ea typeface="宋体" pitchFamily="2" charset="-122"/>
              </a:rPr>
              <a:t>	例：设累加器</a:t>
            </a:r>
            <a:r>
              <a:rPr lang="en-US" altLang="zh-CN" b="0" dirty="0">
                <a:solidFill>
                  <a:schemeClr val="folHlink"/>
                </a:solidFill>
                <a:latin typeface="Times New Roman" panose="02020503050405090304" pitchFamily="18" charset="0"/>
                <a:ea typeface="宋体" pitchFamily="2" charset="-122"/>
              </a:rPr>
              <a:t>A</a:t>
            </a:r>
            <a:r>
              <a:rPr lang="zh-CN" altLang="en-US" b="0" dirty="0">
                <a:solidFill>
                  <a:schemeClr val="folHlink"/>
                </a:solidFill>
                <a:latin typeface="Times New Roman" panose="02020503050405090304" pitchFamily="18" charset="0"/>
                <a:ea typeface="宋体" pitchFamily="2" charset="-122"/>
              </a:rPr>
              <a:t>的内容为</a:t>
            </a:r>
            <a:r>
              <a:rPr lang="en-US" altLang="zh-CN" b="0" dirty="0">
                <a:solidFill>
                  <a:schemeClr val="folHlink"/>
                </a:solidFill>
                <a:latin typeface="Times New Roman" panose="02020503050405090304" pitchFamily="18" charset="0"/>
                <a:ea typeface="宋体" pitchFamily="2" charset="-122"/>
              </a:rPr>
              <a:t>0D5H</a:t>
            </a:r>
            <a:r>
              <a:rPr lang="zh-CN" altLang="en-US" b="0" dirty="0">
                <a:solidFill>
                  <a:schemeClr val="folHlink"/>
                </a:solidFill>
                <a:latin typeface="Times New Roman" panose="02020503050405090304" pitchFamily="18" charset="0"/>
                <a:ea typeface="宋体" pitchFamily="2" charset="-122"/>
              </a:rPr>
              <a:t>，执行指令</a:t>
            </a:r>
            <a:endParaRPr lang="zh-CN" altLang="en-US" b="0" dirty="0">
              <a:solidFill>
                <a:schemeClr val="folHlink"/>
              </a:solidFill>
              <a:latin typeface="Times New Roman" panose="02020503050405090304" pitchFamily="18" charset="0"/>
              <a:ea typeface="宋体" pitchFamily="2" charset="-122"/>
            </a:endParaRPr>
          </a:p>
          <a:p>
            <a:pPr marL="342900" indent="-342900">
              <a:spcBef>
                <a:spcPct val="20000"/>
              </a:spcBef>
              <a:buSzPct val="60000"/>
            </a:pPr>
            <a:r>
              <a:rPr lang="zh-CN" altLang="en-US" b="0" dirty="0">
                <a:solidFill>
                  <a:schemeClr val="folHlink"/>
                </a:solidFill>
                <a:latin typeface="Times New Roman" panose="02020503050405090304" pitchFamily="18" charset="0"/>
                <a:ea typeface="宋体" pitchFamily="2" charset="-122"/>
              </a:rPr>
              <a:t>        </a:t>
            </a:r>
            <a:r>
              <a:rPr lang="en-US" altLang="zh-CN" b="0" dirty="0">
                <a:solidFill>
                  <a:schemeClr val="folHlink"/>
                </a:solidFill>
                <a:latin typeface="Times New Roman" panose="02020503050405090304" pitchFamily="18" charset="0"/>
                <a:ea typeface="宋体" pitchFamily="2" charset="-122"/>
              </a:rPr>
              <a:t>ORL A</a:t>
            </a:r>
            <a:r>
              <a:rPr lang="zh-CN" altLang="en-US" b="0" dirty="0">
                <a:solidFill>
                  <a:schemeClr val="folHlink"/>
                </a:solidFill>
                <a:latin typeface="Times New Roman" panose="02020503050405090304" pitchFamily="18" charset="0"/>
                <a:ea typeface="宋体" pitchFamily="2" charset="-122"/>
              </a:rPr>
              <a:t>，</a:t>
            </a:r>
            <a:r>
              <a:rPr lang="en-US" altLang="zh-CN" b="0" dirty="0">
                <a:solidFill>
                  <a:schemeClr val="folHlink"/>
                </a:solidFill>
                <a:latin typeface="Times New Roman" panose="02020503050405090304" pitchFamily="18" charset="0"/>
                <a:ea typeface="宋体" pitchFamily="2" charset="-122"/>
              </a:rPr>
              <a:t>#0FH</a:t>
            </a:r>
            <a:r>
              <a:rPr lang="zh-CN" altLang="en-US" b="0" dirty="0">
                <a:solidFill>
                  <a:schemeClr val="folHlink"/>
                </a:solidFill>
                <a:latin typeface="Times New Roman" panose="02020503050405090304" pitchFamily="18" charset="0"/>
                <a:ea typeface="宋体" pitchFamily="2" charset="-122"/>
              </a:rPr>
              <a:t>，则累加器</a:t>
            </a:r>
            <a:r>
              <a:rPr lang="en-US" altLang="zh-CN" b="0" dirty="0">
                <a:solidFill>
                  <a:schemeClr val="folHlink"/>
                </a:solidFill>
                <a:latin typeface="Times New Roman" panose="02020503050405090304" pitchFamily="18" charset="0"/>
                <a:ea typeface="宋体" pitchFamily="2" charset="-122"/>
              </a:rPr>
              <a:t>A</a:t>
            </a:r>
            <a:r>
              <a:rPr lang="zh-CN" altLang="en-US" b="0" dirty="0">
                <a:solidFill>
                  <a:schemeClr val="folHlink"/>
                </a:solidFill>
                <a:latin typeface="Times New Roman" panose="02020503050405090304" pitchFamily="18" charset="0"/>
                <a:ea typeface="宋体" pitchFamily="2" charset="-122"/>
              </a:rPr>
              <a:t>的内容为 </a:t>
            </a:r>
            <a:r>
              <a:rPr lang="en-US" altLang="zh-CN" b="0" dirty="0">
                <a:solidFill>
                  <a:schemeClr val="folHlink"/>
                </a:solidFill>
                <a:latin typeface="Times New Roman" panose="02020503050405090304" pitchFamily="18" charset="0"/>
                <a:ea typeface="宋体" pitchFamily="2" charset="-122"/>
              </a:rPr>
              <a:t>? </a:t>
            </a:r>
            <a:endParaRPr lang="en-US" altLang="zh-CN" b="0" dirty="0">
              <a:solidFill>
                <a:schemeClr val="folHlink"/>
              </a:solidFill>
              <a:latin typeface="Times New Roman" panose="02020503050405090304" pitchFamily="18" charset="0"/>
              <a:ea typeface="宋体" pitchFamily="2" charset="-122"/>
            </a:endParaRPr>
          </a:p>
          <a:p>
            <a:pPr marL="342900" indent="-342900">
              <a:spcBef>
                <a:spcPct val="20000"/>
              </a:spcBef>
              <a:buSzPct val="60000"/>
            </a:pPr>
            <a:r>
              <a:rPr lang="en-US" altLang="zh-CN" b="0" dirty="0">
                <a:solidFill>
                  <a:schemeClr val="folHlink"/>
                </a:solidFill>
                <a:latin typeface="Times New Roman" panose="02020503050405090304" pitchFamily="18" charset="0"/>
                <a:ea typeface="宋体" pitchFamily="2" charset="-122"/>
              </a:rPr>
              <a:t>	</a:t>
            </a:r>
            <a:r>
              <a:rPr lang="zh-CN" altLang="en-US" b="0" dirty="0">
                <a:solidFill>
                  <a:schemeClr val="folHlink"/>
                </a:solidFill>
                <a:latin typeface="Times New Roman" panose="02020503050405090304" pitchFamily="18" charset="0"/>
                <a:ea typeface="宋体" pitchFamily="2" charset="-122"/>
              </a:rPr>
              <a:t>则累加器</a:t>
            </a:r>
            <a:r>
              <a:rPr lang="en-US" altLang="zh-CN" b="0" dirty="0">
                <a:solidFill>
                  <a:schemeClr val="folHlink"/>
                </a:solidFill>
                <a:latin typeface="Times New Roman" panose="02020503050405090304" pitchFamily="18" charset="0"/>
                <a:ea typeface="宋体" pitchFamily="2" charset="-122"/>
              </a:rPr>
              <a:t>A</a:t>
            </a:r>
            <a:r>
              <a:rPr lang="zh-CN" altLang="en-US" b="0" dirty="0">
                <a:solidFill>
                  <a:schemeClr val="folHlink"/>
                </a:solidFill>
                <a:latin typeface="Times New Roman" panose="02020503050405090304" pitchFamily="18" charset="0"/>
                <a:ea typeface="宋体" pitchFamily="2" charset="-122"/>
              </a:rPr>
              <a:t>的内容为</a:t>
            </a:r>
            <a:r>
              <a:rPr lang="en-US" altLang="zh-CN" b="0" dirty="0">
                <a:solidFill>
                  <a:schemeClr val="folHlink"/>
                </a:solidFill>
                <a:latin typeface="Times New Roman" panose="02020503050405090304" pitchFamily="18" charset="0"/>
                <a:ea typeface="宋体" pitchFamily="2" charset="-122"/>
              </a:rPr>
              <a:t>0DFH</a:t>
            </a:r>
            <a:r>
              <a:rPr lang="zh-CN" altLang="en-US" b="0" dirty="0">
                <a:solidFill>
                  <a:schemeClr val="folHlink"/>
                </a:solidFill>
                <a:latin typeface="Times New Roman" panose="02020503050405090304" pitchFamily="18" charset="0"/>
                <a:ea typeface="宋体" pitchFamily="2" charset="-122"/>
              </a:rPr>
              <a:t>（</a:t>
            </a:r>
            <a:r>
              <a:rPr lang="en-US" altLang="zh-CN" b="0" dirty="0">
                <a:solidFill>
                  <a:schemeClr val="folHlink"/>
                </a:solidFill>
                <a:latin typeface="Times New Roman" panose="02020503050405090304" pitchFamily="18" charset="0"/>
                <a:ea typeface="宋体" pitchFamily="2" charset="-122"/>
              </a:rPr>
              <a:t>11011111B</a:t>
            </a:r>
            <a:r>
              <a:rPr lang="zh-CN" altLang="en-US" b="0" dirty="0">
                <a:solidFill>
                  <a:schemeClr val="folHlink"/>
                </a:solidFill>
                <a:latin typeface="Times New Roman" panose="02020503050405090304" pitchFamily="18" charset="0"/>
                <a:ea typeface="宋体" pitchFamily="2" charset="-122"/>
              </a:rPr>
              <a:t>）</a:t>
            </a:r>
            <a:endParaRPr lang="zh-CN" altLang="en-US" b="0" dirty="0">
              <a:solidFill>
                <a:schemeClr val="folHlink"/>
              </a:solidFill>
              <a:latin typeface="Times New Roman" panose="02020503050405090304" pitchFamily="18" charset="0"/>
              <a:ea typeface="宋体" pitchFamily="2" charset="-122"/>
            </a:endParaRPr>
          </a:p>
        </p:txBody>
      </p:sp>
      <p:grpSp>
        <p:nvGrpSpPr>
          <p:cNvPr id="2" name="Group 6"/>
          <p:cNvGrpSpPr/>
          <p:nvPr/>
        </p:nvGrpSpPr>
        <p:grpSpPr>
          <a:xfrm>
            <a:off x="1939925" y="2708275"/>
            <a:ext cx="3824288" cy="1876425"/>
            <a:chOff x="1222" y="1706"/>
            <a:chExt cx="2409" cy="1182"/>
          </a:xfrm>
        </p:grpSpPr>
        <p:sp>
          <p:nvSpPr>
            <p:cNvPr id="132101" name="Rectangle 7"/>
            <p:cNvSpPr/>
            <p:nvPr/>
          </p:nvSpPr>
          <p:spPr>
            <a:xfrm>
              <a:off x="1222" y="2260"/>
              <a:ext cx="599" cy="250"/>
            </a:xfrm>
            <a:prstGeom prst="rect">
              <a:avLst/>
            </a:prstGeom>
            <a:noFill/>
            <a:ln w="9525">
              <a:noFill/>
            </a:ln>
          </p:spPr>
          <p:txBody>
            <a:bodyPr wrap="none" anchor="t" anchorCtr="0">
              <a:spAutoFit/>
            </a:bodyPr>
            <a:p>
              <a:pPr eaLnBrk="0" hangingPunct="0">
                <a:buClrTx/>
                <a:buFontTx/>
              </a:pPr>
              <a:r>
                <a:rPr lang="zh-CN" altLang="en-US" sz="2000" dirty="0">
                  <a:solidFill>
                    <a:schemeClr val="hlink"/>
                  </a:solidFill>
                  <a:latin typeface="Arial" panose="020B0604020202090204" pitchFamily="34" charset="0"/>
                  <a:ea typeface="楷体_GB2312" pitchFamily="49" charset="-122"/>
                </a:rPr>
                <a:t>置位码</a:t>
              </a:r>
              <a:endParaRPr lang="zh-CN" altLang="en-US" sz="2000" dirty="0">
                <a:solidFill>
                  <a:schemeClr val="hlink"/>
                </a:solidFill>
                <a:latin typeface="Arial" panose="020B0604020202090204" pitchFamily="34" charset="0"/>
                <a:ea typeface="楷体_GB2312" pitchFamily="49" charset="-122"/>
              </a:endParaRPr>
            </a:p>
          </p:txBody>
        </p:sp>
        <p:sp>
          <p:nvSpPr>
            <p:cNvPr id="132102" name="Rectangle 8"/>
            <p:cNvSpPr/>
            <p:nvPr/>
          </p:nvSpPr>
          <p:spPr>
            <a:xfrm>
              <a:off x="1272" y="1899"/>
              <a:ext cx="551" cy="250"/>
            </a:xfrm>
            <a:prstGeom prst="rect">
              <a:avLst/>
            </a:prstGeom>
            <a:noFill/>
            <a:ln w="9525">
              <a:noFill/>
            </a:ln>
          </p:spPr>
          <p:txBody>
            <a:bodyPr wrap="none" anchor="t" anchorCtr="0">
              <a:spAutoFit/>
            </a:bodyPr>
            <a:p>
              <a:pPr marL="179705" lvl="1" indent="0" eaLnBrk="0" hangingPunct="0">
                <a:buClrTx/>
                <a:buFontTx/>
              </a:pPr>
              <a:r>
                <a:rPr lang="zh-CN" altLang="en-US" sz="2000" dirty="0">
                  <a:solidFill>
                    <a:schemeClr val="hlink"/>
                  </a:solidFill>
                  <a:latin typeface="Arial" panose="020B0604020202090204" pitchFamily="34" charset="0"/>
                  <a:ea typeface="楷体_GB2312" pitchFamily="49" charset="-122"/>
                </a:rPr>
                <a:t>单元</a:t>
              </a:r>
              <a:endParaRPr lang="zh-CN" altLang="en-US" sz="2000" dirty="0">
                <a:solidFill>
                  <a:schemeClr val="hlink"/>
                </a:solidFill>
                <a:latin typeface="Arial" panose="020B0604020202090204" pitchFamily="34" charset="0"/>
                <a:ea typeface="楷体_GB2312" pitchFamily="49" charset="-122"/>
              </a:endParaRPr>
            </a:p>
          </p:txBody>
        </p:sp>
        <p:grpSp>
          <p:nvGrpSpPr>
            <p:cNvPr id="132103" name="Group 9"/>
            <p:cNvGrpSpPr/>
            <p:nvPr/>
          </p:nvGrpSpPr>
          <p:grpSpPr>
            <a:xfrm>
              <a:off x="1565" y="1706"/>
              <a:ext cx="2066" cy="1182"/>
              <a:chOff x="1776" y="2712"/>
              <a:chExt cx="2066" cy="1182"/>
            </a:xfrm>
          </p:grpSpPr>
          <p:sp>
            <p:nvSpPr>
              <p:cNvPr id="132104" name="Rectangle 10"/>
              <p:cNvSpPr/>
              <p:nvPr/>
            </p:nvSpPr>
            <p:spPr>
              <a:xfrm>
                <a:off x="2086" y="2904"/>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2105" name="Rectangle 11"/>
              <p:cNvSpPr/>
              <p:nvPr/>
            </p:nvSpPr>
            <p:spPr>
              <a:xfrm>
                <a:off x="2269" y="2904"/>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2106" name="Rectangle 12"/>
              <p:cNvSpPr/>
              <p:nvPr/>
            </p:nvSpPr>
            <p:spPr>
              <a:xfrm>
                <a:off x="2452" y="2904"/>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2107" name="Rectangle 13"/>
              <p:cNvSpPr/>
              <p:nvPr/>
            </p:nvSpPr>
            <p:spPr>
              <a:xfrm>
                <a:off x="2635" y="2904"/>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2108" name="Rectangle 14"/>
              <p:cNvSpPr/>
              <p:nvPr/>
            </p:nvSpPr>
            <p:spPr>
              <a:xfrm>
                <a:off x="2818" y="2904"/>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2109" name="Rectangle 15"/>
              <p:cNvSpPr/>
              <p:nvPr/>
            </p:nvSpPr>
            <p:spPr>
              <a:xfrm>
                <a:off x="3001" y="2904"/>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2110" name="Rectangle 16"/>
              <p:cNvSpPr/>
              <p:nvPr/>
            </p:nvSpPr>
            <p:spPr>
              <a:xfrm>
                <a:off x="3184" y="2904"/>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2111" name="Rectangle 17"/>
              <p:cNvSpPr/>
              <p:nvPr/>
            </p:nvSpPr>
            <p:spPr>
              <a:xfrm>
                <a:off x="3367" y="2904"/>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2112" name="Text Box 18"/>
              <p:cNvSpPr txBox="1"/>
              <p:nvPr/>
            </p:nvSpPr>
            <p:spPr>
              <a:xfrm>
                <a:off x="3347" y="2712"/>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D0</a:t>
                </a:r>
                <a:endParaRPr lang="en-US" altLang="zh-CN" sz="1400" b="0" dirty="0">
                  <a:latin typeface="Times New Roman" panose="02020503050405090304" pitchFamily="18" charset="0"/>
                  <a:ea typeface="宋体" pitchFamily="2" charset="-122"/>
                </a:endParaRPr>
              </a:p>
            </p:txBody>
          </p:sp>
          <p:sp>
            <p:nvSpPr>
              <p:cNvPr id="132113" name="Text Box 19"/>
              <p:cNvSpPr txBox="1"/>
              <p:nvPr/>
            </p:nvSpPr>
            <p:spPr>
              <a:xfrm>
                <a:off x="3163" y="2712"/>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D1</a:t>
                </a:r>
                <a:endParaRPr lang="en-US" altLang="zh-CN" sz="1400" b="0" dirty="0">
                  <a:latin typeface="Times New Roman" panose="02020503050405090304" pitchFamily="18" charset="0"/>
                  <a:ea typeface="宋体" pitchFamily="2" charset="-122"/>
                </a:endParaRPr>
              </a:p>
            </p:txBody>
          </p:sp>
          <p:sp>
            <p:nvSpPr>
              <p:cNvPr id="132114" name="Text Box 20"/>
              <p:cNvSpPr txBox="1"/>
              <p:nvPr/>
            </p:nvSpPr>
            <p:spPr>
              <a:xfrm>
                <a:off x="2971" y="2712"/>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D2</a:t>
                </a:r>
                <a:endParaRPr lang="en-US" altLang="zh-CN" sz="1400" b="0" dirty="0">
                  <a:latin typeface="Times New Roman" panose="02020503050405090304" pitchFamily="18" charset="0"/>
                  <a:ea typeface="宋体" pitchFamily="2" charset="-122"/>
                </a:endParaRPr>
              </a:p>
            </p:txBody>
          </p:sp>
          <p:sp>
            <p:nvSpPr>
              <p:cNvPr id="132115" name="Text Box 21"/>
              <p:cNvSpPr txBox="1"/>
              <p:nvPr/>
            </p:nvSpPr>
            <p:spPr>
              <a:xfrm>
                <a:off x="2787" y="2712"/>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D3</a:t>
                </a:r>
                <a:endParaRPr lang="en-US" altLang="zh-CN" sz="1400" b="0" dirty="0">
                  <a:latin typeface="Times New Roman" panose="02020503050405090304" pitchFamily="18" charset="0"/>
                  <a:ea typeface="宋体" pitchFamily="2" charset="-122"/>
                </a:endParaRPr>
              </a:p>
            </p:txBody>
          </p:sp>
          <p:sp>
            <p:nvSpPr>
              <p:cNvPr id="132116" name="Text Box 22"/>
              <p:cNvSpPr txBox="1"/>
              <p:nvPr/>
            </p:nvSpPr>
            <p:spPr>
              <a:xfrm>
                <a:off x="2611" y="2712"/>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D4</a:t>
                </a:r>
                <a:endParaRPr lang="en-US" altLang="zh-CN" sz="1400" b="0" dirty="0">
                  <a:latin typeface="Times New Roman" panose="02020503050405090304" pitchFamily="18" charset="0"/>
                  <a:ea typeface="宋体" pitchFamily="2" charset="-122"/>
                </a:endParaRPr>
              </a:p>
            </p:txBody>
          </p:sp>
          <p:sp>
            <p:nvSpPr>
              <p:cNvPr id="132117" name="Text Box 23"/>
              <p:cNvSpPr txBox="1"/>
              <p:nvPr/>
            </p:nvSpPr>
            <p:spPr>
              <a:xfrm>
                <a:off x="2427" y="2712"/>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D5</a:t>
                </a:r>
                <a:endParaRPr lang="en-US" altLang="zh-CN" sz="1400" b="0" dirty="0">
                  <a:latin typeface="Times New Roman" panose="02020503050405090304" pitchFamily="18" charset="0"/>
                  <a:ea typeface="宋体" pitchFamily="2" charset="-122"/>
                </a:endParaRPr>
              </a:p>
            </p:txBody>
          </p:sp>
          <p:sp>
            <p:nvSpPr>
              <p:cNvPr id="132118" name="Text Box 24"/>
              <p:cNvSpPr txBox="1"/>
              <p:nvPr/>
            </p:nvSpPr>
            <p:spPr>
              <a:xfrm>
                <a:off x="2235" y="2712"/>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D6</a:t>
                </a:r>
                <a:endParaRPr lang="en-US" altLang="zh-CN" sz="1400" b="0" dirty="0">
                  <a:latin typeface="Times New Roman" panose="02020503050405090304" pitchFamily="18" charset="0"/>
                  <a:ea typeface="宋体" pitchFamily="2" charset="-122"/>
                </a:endParaRPr>
              </a:p>
            </p:txBody>
          </p:sp>
          <p:sp>
            <p:nvSpPr>
              <p:cNvPr id="132119" name="Text Box 25"/>
              <p:cNvSpPr txBox="1"/>
              <p:nvPr/>
            </p:nvSpPr>
            <p:spPr>
              <a:xfrm>
                <a:off x="2051" y="2712"/>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D7</a:t>
                </a:r>
                <a:endParaRPr lang="en-US" altLang="zh-CN" sz="1400" b="0" dirty="0">
                  <a:latin typeface="Times New Roman" panose="02020503050405090304" pitchFamily="18" charset="0"/>
                  <a:ea typeface="宋体" pitchFamily="2" charset="-122"/>
                </a:endParaRPr>
              </a:p>
            </p:txBody>
          </p:sp>
          <p:sp>
            <p:nvSpPr>
              <p:cNvPr id="132120" name="Rectangle 26"/>
              <p:cNvSpPr/>
              <p:nvPr/>
            </p:nvSpPr>
            <p:spPr>
              <a:xfrm>
                <a:off x="2096" y="323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0</a:t>
                </a:r>
                <a:endParaRPr lang="en-US" altLang="zh-CN" sz="2000" b="0" dirty="0">
                  <a:latin typeface="Times New Roman" panose="02020503050405090304" pitchFamily="18" charset="0"/>
                  <a:ea typeface="宋体" pitchFamily="2" charset="-122"/>
                </a:endParaRPr>
              </a:p>
            </p:txBody>
          </p:sp>
          <p:sp>
            <p:nvSpPr>
              <p:cNvPr id="132121" name="Rectangle 27"/>
              <p:cNvSpPr/>
              <p:nvPr/>
            </p:nvSpPr>
            <p:spPr>
              <a:xfrm>
                <a:off x="2279" y="323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1</a:t>
                </a:r>
                <a:endParaRPr lang="en-US" altLang="zh-CN" sz="2000" b="0" dirty="0">
                  <a:latin typeface="Times New Roman" panose="02020503050405090304" pitchFamily="18" charset="0"/>
                  <a:ea typeface="宋体" pitchFamily="2" charset="-122"/>
                </a:endParaRPr>
              </a:p>
            </p:txBody>
          </p:sp>
          <p:sp>
            <p:nvSpPr>
              <p:cNvPr id="132122" name="Rectangle 28"/>
              <p:cNvSpPr/>
              <p:nvPr/>
            </p:nvSpPr>
            <p:spPr>
              <a:xfrm>
                <a:off x="2462" y="323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1</a:t>
                </a:r>
                <a:endParaRPr lang="en-US" altLang="zh-CN" sz="2000" b="0" dirty="0">
                  <a:latin typeface="Times New Roman" panose="02020503050405090304" pitchFamily="18" charset="0"/>
                  <a:ea typeface="宋体" pitchFamily="2" charset="-122"/>
                </a:endParaRPr>
              </a:p>
            </p:txBody>
          </p:sp>
          <p:sp>
            <p:nvSpPr>
              <p:cNvPr id="132123" name="Rectangle 29"/>
              <p:cNvSpPr/>
              <p:nvPr/>
            </p:nvSpPr>
            <p:spPr>
              <a:xfrm>
                <a:off x="2645" y="323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1</a:t>
                </a:r>
                <a:endParaRPr lang="en-US" altLang="zh-CN" sz="2000" b="0" dirty="0">
                  <a:latin typeface="Times New Roman" panose="02020503050405090304" pitchFamily="18" charset="0"/>
                  <a:ea typeface="宋体" pitchFamily="2" charset="-122"/>
                </a:endParaRPr>
              </a:p>
            </p:txBody>
          </p:sp>
          <p:sp>
            <p:nvSpPr>
              <p:cNvPr id="132124" name="Rectangle 30"/>
              <p:cNvSpPr/>
              <p:nvPr/>
            </p:nvSpPr>
            <p:spPr>
              <a:xfrm>
                <a:off x="2828" y="323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0</a:t>
                </a:r>
                <a:endParaRPr lang="en-US" altLang="zh-CN" sz="2000" b="0" dirty="0">
                  <a:latin typeface="Times New Roman" panose="02020503050405090304" pitchFamily="18" charset="0"/>
                  <a:ea typeface="宋体" pitchFamily="2" charset="-122"/>
                </a:endParaRPr>
              </a:p>
            </p:txBody>
          </p:sp>
          <p:sp>
            <p:nvSpPr>
              <p:cNvPr id="132125" name="Rectangle 31"/>
              <p:cNvSpPr/>
              <p:nvPr/>
            </p:nvSpPr>
            <p:spPr>
              <a:xfrm>
                <a:off x="3011" y="323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0</a:t>
                </a:r>
                <a:endParaRPr lang="en-US" altLang="zh-CN" sz="2000" b="0" dirty="0">
                  <a:latin typeface="Times New Roman" panose="02020503050405090304" pitchFamily="18" charset="0"/>
                  <a:ea typeface="宋体" pitchFamily="2" charset="-122"/>
                </a:endParaRPr>
              </a:p>
            </p:txBody>
          </p:sp>
          <p:sp>
            <p:nvSpPr>
              <p:cNvPr id="132126" name="Rectangle 32"/>
              <p:cNvSpPr/>
              <p:nvPr/>
            </p:nvSpPr>
            <p:spPr>
              <a:xfrm>
                <a:off x="3194" y="323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1</a:t>
                </a:r>
                <a:endParaRPr lang="en-US" altLang="zh-CN" sz="2000" b="0" dirty="0">
                  <a:latin typeface="Times New Roman" panose="02020503050405090304" pitchFamily="18" charset="0"/>
                  <a:ea typeface="宋体" pitchFamily="2" charset="-122"/>
                </a:endParaRPr>
              </a:p>
            </p:txBody>
          </p:sp>
          <p:sp>
            <p:nvSpPr>
              <p:cNvPr id="132127" name="Rectangle 33"/>
              <p:cNvSpPr/>
              <p:nvPr/>
            </p:nvSpPr>
            <p:spPr>
              <a:xfrm>
                <a:off x="3377" y="323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0</a:t>
                </a:r>
                <a:endParaRPr lang="en-US" altLang="zh-CN" sz="2000" b="0" dirty="0">
                  <a:latin typeface="Times New Roman" panose="02020503050405090304" pitchFamily="18" charset="0"/>
                  <a:ea typeface="宋体" pitchFamily="2" charset="-122"/>
                </a:endParaRPr>
              </a:p>
            </p:txBody>
          </p:sp>
          <p:sp>
            <p:nvSpPr>
              <p:cNvPr id="132128" name="Line 34"/>
              <p:cNvSpPr/>
              <p:nvPr/>
            </p:nvSpPr>
            <p:spPr>
              <a:xfrm>
                <a:off x="1776" y="3566"/>
                <a:ext cx="2066" cy="0"/>
              </a:xfrm>
              <a:prstGeom prst="line">
                <a:avLst/>
              </a:prstGeom>
              <a:ln w="9525" cap="flat" cmpd="sng">
                <a:solidFill>
                  <a:schemeClr val="tx1"/>
                </a:solidFill>
                <a:prstDash val="solid"/>
                <a:round/>
                <a:headEnd type="none" w="med" len="med"/>
                <a:tailEnd type="none" w="med" len="med"/>
              </a:ln>
            </p:spPr>
          </p:sp>
          <p:sp>
            <p:nvSpPr>
              <p:cNvPr id="132129" name="Rectangle 35"/>
              <p:cNvSpPr/>
              <p:nvPr/>
            </p:nvSpPr>
            <p:spPr>
              <a:xfrm>
                <a:off x="2096" y="362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2130" name="Rectangle 36"/>
              <p:cNvSpPr/>
              <p:nvPr/>
            </p:nvSpPr>
            <p:spPr>
              <a:xfrm>
                <a:off x="2279" y="362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1</a:t>
                </a:r>
                <a:endParaRPr lang="en-US" altLang="zh-CN" sz="2000" b="0" dirty="0">
                  <a:latin typeface="Times New Roman" panose="02020503050405090304" pitchFamily="18" charset="0"/>
                  <a:ea typeface="宋体" pitchFamily="2" charset="-122"/>
                </a:endParaRPr>
              </a:p>
            </p:txBody>
          </p:sp>
          <p:sp>
            <p:nvSpPr>
              <p:cNvPr id="132131" name="Rectangle 37"/>
              <p:cNvSpPr/>
              <p:nvPr/>
            </p:nvSpPr>
            <p:spPr>
              <a:xfrm>
                <a:off x="2462" y="362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1</a:t>
                </a:r>
                <a:endParaRPr lang="en-US" altLang="zh-CN" sz="2000" b="0" dirty="0">
                  <a:latin typeface="Times New Roman" panose="02020503050405090304" pitchFamily="18" charset="0"/>
                  <a:ea typeface="宋体" pitchFamily="2" charset="-122"/>
                </a:endParaRPr>
              </a:p>
            </p:txBody>
          </p:sp>
          <p:sp>
            <p:nvSpPr>
              <p:cNvPr id="132132" name="Rectangle 38"/>
              <p:cNvSpPr/>
              <p:nvPr/>
            </p:nvSpPr>
            <p:spPr>
              <a:xfrm>
                <a:off x="2645" y="362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1</a:t>
                </a:r>
                <a:endParaRPr lang="en-US" altLang="zh-CN" sz="2000" b="0" dirty="0">
                  <a:latin typeface="Times New Roman" panose="02020503050405090304" pitchFamily="18" charset="0"/>
                  <a:ea typeface="宋体" pitchFamily="2" charset="-122"/>
                </a:endParaRPr>
              </a:p>
            </p:txBody>
          </p:sp>
          <p:sp>
            <p:nvSpPr>
              <p:cNvPr id="132133" name="Rectangle 39"/>
              <p:cNvSpPr/>
              <p:nvPr/>
            </p:nvSpPr>
            <p:spPr>
              <a:xfrm>
                <a:off x="2828" y="362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2134" name="Rectangle 40"/>
              <p:cNvSpPr/>
              <p:nvPr/>
            </p:nvSpPr>
            <p:spPr>
              <a:xfrm>
                <a:off x="3011" y="362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2135" name="Rectangle 41"/>
              <p:cNvSpPr/>
              <p:nvPr/>
            </p:nvSpPr>
            <p:spPr>
              <a:xfrm>
                <a:off x="3194" y="362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1</a:t>
                </a:r>
                <a:endParaRPr lang="en-US" altLang="zh-CN" sz="2000" b="0" dirty="0">
                  <a:latin typeface="Times New Roman" panose="02020503050405090304" pitchFamily="18" charset="0"/>
                  <a:ea typeface="宋体" pitchFamily="2" charset="-122"/>
                </a:endParaRPr>
              </a:p>
            </p:txBody>
          </p:sp>
          <p:sp>
            <p:nvSpPr>
              <p:cNvPr id="132136" name="Rectangle 42"/>
              <p:cNvSpPr/>
              <p:nvPr/>
            </p:nvSpPr>
            <p:spPr>
              <a:xfrm>
                <a:off x="3377" y="362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grpSp>
      </p:grpSp>
      <p:sp>
        <p:nvSpPr>
          <p:cNvPr id="87042" name="Rectangle 2"/>
          <p:cNvSpPr>
            <a:spLocks noChangeArrowheads="1"/>
          </p:cNvSpPr>
          <p:nvPr/>
        </p:nvSpPr>
        <p:spPr bwMode="auto">
          <a:xfrm>
            <a:off x="214313" y="214313"/>
            <a:ext cx="8763000" cy="609600"/>
          </a:xfrm>
          <a:prstGeom prst="rect">
            <a:avLst/>
          </a:prstGeom>
          <a:noFill/>
          <a:ln>
            <a:noFill/>
          </a:ln>
        </p:spPr>
        <p:txBody>
          <a:bodyPr anchor="ctr"/>
          <a:lstStyle>
            <a:lvl1pPr>
              <a:defRPr sz="3600">
                <a:solidFill>
                  <a:schemeClr val="tx2"/>
                </a:solidFill>
                <a:latin typeface="Times New Roman" panose="02020503050405090304" pitchFamily="18" charset="0"/>
                <a:ea typeface="宋体" pitchFamily="2" charset="-122"/>
              </a:defRPr>
            </a:lvl1pPr>
            <a:lvl2pPr>
              <a:defRPr sz="3600">
                <a:solidFill>
                  <a:schemeClr val="tx2"/>
                </a:solidFill>
                <a:latin typeface="Times New Roman" panose="02020503050405090304" pitchFamily="18" charset="0"/>
                <a:ea typeface="宋体" pitchFamily="2" charset="-122"/>
              </a:defRPr>
            </a:lvl2pPr>
            <a:lvl3pPr>
              <a:defRPr sz="3600">
                <a:solidFill>
                  <a:schemeClr val="tx2"/>
                </a:solidFill>
                <a:latin typeface="Times New Roman" panose="02020503050405090304" pitchFamily="18" charset="0"/>
                <a:ea typeface="宋体" pitchFamily="2" charset="-122"/>
              </a:defRPr>
            </a:lvl3pPr>
            <a:lvl4pPr>
              <a:defRPr sz="3600">
                <a:solidFill>
                  <a:schemeClr val="tx2"/>
                </a:solidFill>
                <a:latin typeface="Times New Roman" panose="02020503050405090304" pitchFamily="18" charset="0"/>
                <a:ea typeface="宋体" pitchFamily="2" charset="-122"/>
              </a:defRPr>
            </a:lvl4pPr>
            <a:lvl5pPr>
              <a:defRPr sz="3600">
                <a:solidFill>
                  <a:schemeClr val="tx2"/>
                </a:solidFill>
                <a:latin typeface="Times New Roman" panose="02020503050405090304" pitchFamily="18" charset="0"/>
                <a:ea typeface="宋体" pitchFamily="2" charset="-122"/>
              </a:defRPr>
            </a:lvl5pPr>
            <a:lvl6pPr marL="45720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fontAlgn="base">
              <a:spcBef>
                <a:spcPct val="0"/>
              </a:spcBef>
              <a:spcAft>
                <a:spcPct val="0"/>
              </a:spcAft>
              <a:defRPr sz="3600">
                <a:solidFill>
                  <a:schemeClr val="tx2"/>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第三章</a:t>
            </a:r>
            <a:r>
              <a:rPr kumimoji="0" lang="zh-CN" altLang="en-US" sz="28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zh-CN" altLang="en-US" sz="24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en-US" altLang="zh-CN"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MCS-51</a:t>
            </a: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指令系统</a:t>
            </a:r>
            <a:endParaRPr kumimoji="0" lang="zh-CN" altLang="en-US" sz="3600" b="0"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Times New Roman" panose="02020503050405090304" pitchFamily="18" charset="0"/>
              <a:ea typeface="宋体"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207876"/>
                                        </p:tgtEl>
                                        <p:attrNameLst>
                                          <p:attrName>style.visibility</p:attrName>
                                        </p:attrNameLst>
                                      </p:cBhvr>
                                      <p:to>
                                        <p:strVal val="visible"/>
                                      </p:to>
                                    </p:set>
                                    <p:anim calcmode="lin" valueType="num">
                                      <p:cBhvr>
                                        <p:cTn id="7" dur="1000" fill="hold"/>
                                        <p:tgtEl>
                                          <p:spTgt spid="207876"/>
                                        </p:tgtEl>
                                        <p:attrNameLst>
                                          <p:attrName>ppt_x</p:attrName>
                                        </p:attrNameLst>
                                      </p:cBhvr>
                                      <p:tavLst>
                                        <p:tav tm="0">
                                          <p:val>
                                            <p:strVal val="#ppt_x-.2"/>
                                          </p:val>
                                        </p:tav>
                                        <p:tav tm="100000">
                                          <p:val>
                                            <p:strVal val="#ppt_x"/>
                                          </p:val>
                                        </p:tav>
                                      </p:tavLst>
                                    </p:anim>
                                    <p:anim calcmode="lin" valueType="num">
                                      <p:cBhvr>
                                        <p:cTn id="8" dur="1000" fill="hold"/>
                                        <p:tgtEl>
                                          <p:spTgt spid="207876"/>
                                        </p:tgtEl>
                                        <p:attrNameLst>
                                          <p:attrName>ppt_y</p:attrName>
                                        </p:attrNameLst>
                                      </p:cBhvr>
                                      <p:tavLst>
                                        <p:tav tm="0">
                                          <p:val>
                                            <p:strVal val="#ppt_y"/>
                                          </p:val>
                                        </p:tav>
                                        <p:tav tm="100000">
                                          <p:val>
                                            <p:strVal val="#ppt_y"/>
                                          </p:val>
                                        </p:tav>
                                      </p:tavLst>
                                    </p:anim>
                                    <p:animEffect transition="in" filter="wipe(right)" prLst="gradientSize: 0.1">
                                      <p:cBhvr>
                                        <p:cTn id="9" dur="1000"/>
                                        <p:tgtEl>
                                          <p:spTgt spid="207876"/>
                                        </p:tgtEl>
                                      </p:cBhvr>
                                    </p:animEffect>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linds(horizontal)">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07877">
                                            <p:txEl>
                                              <p:charRg st="0" end="22"/>
                                            </p:txEl>
                                          </p:spTgt>
                                        </p:tgtEl>
                                        <p:attrNameLst>
                                          <p:attrName>style.visibility</p:attrName>
                                        </p:attrNameLst>
                                      </p:cBhvr>
                                      <p:to>
                                        <p:strVal val="visible"/>
                                      </p:to>
                                    </p:set>
                                    <p:anim calcmode="lin" valueType="num">
                                      <p:cBhvr additive="base">
                                        <p:cTn id="19" dur="500" fill="hold"/>
                                        <p:tgtEl>
                                          <p:spTgt spid="207877">
                                            <p:txEl>
                                              <p:charRg st="0" end="2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07877">
                                            <p:txEl>
                                              <p:charRg st="0" end="2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07877">
                                            <p:txEl>
                                              <p:charRg st="22" end="54"/>
                                            </p:txEl>
                                          </p:spTgt>
                                        </p:tgtEl>
                                        <p:attrNameLst>
                                          <p:attrName>style.visibility</p:attrName>
                                        </p:attrNameLst>
                                      </p:cBhvr>
                                      <p:to>
                                        <p:strVal val="visible"/>
                                      </p:to>
                                    </p:set>
                                    <p:anim calcmode="lin" valueType="num">
                                      <p:cBhvr additive="base">
                                        <p:cTn id="23" dur="500" fill="hold"/>
                                        <p:tgtEl>
                                          <p:spTgt spid="207877">
                                            <p:txEl>
                                              <p:charRg st="22" end="5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07877">
                                            <p:txEl>
                                              <p:charRg st="22" end="5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07877">
                                            <p:txEl>
                                              <p:charRg st="54" end="80"/>
                                            </p:txEl>
                                          </p:spTgt>
                                        </p:tgtEl>
                                        <p:attrNameLst>
                                          <p:attrName>style.visibility</p:attrName>
                                        </p:attrNameLst>
                                      </p:cBhvr>
                                      <p:to>
                                        <p:strVal val="visible"/>
                                      </p:to>
                                    </p:set>
                                    <p:anim calcmode="lin" valueType="num">
                                      <p:cBhvr additive="base">
                                        <p:cTn id="29" dur="500" fill="hold"/>
                                        <p:tgtEl>
                                          <p:spTgt spid="207877">
                                            <p:txEl>
                                              <p:charRg st="54" end="8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07877">
                                            <p:txEl>
                                              <p:charRg st="54" end="8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76"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1" name="Rectangle 3"/>
          <p:cNvSpPr>
            <a:spLocks noGrp="1"/>
          </p:cNvSpPr>
          <p:nvPr>
            <p:ph idx="1"/>
          </p:nvPr>
        </p:nvSpPr>
        <p:spPr/>
        <p:txBody>
          <a:bodyPr vert="horz" wrap="square" lIns="91440" tIns="45720" rIns="91440" bIns="45720" anchor="t" anchorCtr="0"/>
          <a:p>
            <a:pPr eaLnBrk="1" hangingPunct="1">
              <a:buClr>
                <a:schemeClr val="hlink"/>
              </a:buClr>
              <a:buNone/>
            </a:pPr>
            <a:r>
              <a:rPr lang="en-US" altLang="zh-CN" b="1" dirty="0">
                <a:latin typeface="黑体" panose="02010609060101010101" pitchFamily="49" charset="-122"/>
                <a:ea typeface="黑体" panose="02010609060101010101" pitchFamily="49" charset="-122"/>
              </a:rPr>
              <a:t>3</a:t>
            </a:r>
            <a:r>
              <a:rPr lang="zh-CN" altLang="en-US" b="1" dirty="0">
                <a:latin typeface="黑体" panose="02010609060101010101" pitchFamily="49" charset="-122"/>
                <a:ea typeface="黑体" panose="02010609060101010101" pitchFamily="49" charset="-122"/>
              </a:rPr>
              <a:t>、异或逻辑运算指令</a:t>
            </a:r>
            <a:endParaRPr lang="zh-CN" altLang="en-US" b="1" dirty="0">
              <a:latin typeface="黑体" panose="02010609060101010101" pitchFamily="49" charset="-122"/>
              <a:ea typeface="黑体" panose="02010609060101010101" pitchFamily="49" charset="-122"/>
            </a:endParaRPr>
          </a:p>
          <a:p>
            <a:pPr algn="ctr" eaLnBrk="1" hangingPunct="1">
              <a:buClr>
                <a:schemeClr val="hlink"/>
              </a:buClr>
              <a:buNone/>
            </a:pPr>
            <a:r>
              <a:rPr lang="zh-CN" altLang="en-US" sz="2400" dirty="0"/>
              <a:t>	 </a:t>
            </a:r>
            <a:r>
              <a:rPr lang="en-US" altLang="zh-CN" sz="2400" dirty="0">
                <a:solidFill>
                  <a:schemeClr val="hlink"/>
                </a:solidFill>
                <a:latin typeface="Arial Black" panose="020B0A04020102020204" pitchFamily="34" charset="0"/>
              </a:rPr>
              <a:t>XRL  </a:t>
            </a:r>
            <a:r>
              <a:rPr lang="zh-CN" altLang="en-US" sz="2400" dirty="0">
                <a:solidFill>
                  <a:schemeClr val="hlink"/>
                </a:solidFill>
                <a:latin typeface="Arial Black" panose="020B0A04020102020204" pitchFamily="34" charset="0"/>
              </a:rPr>
              <a:t>目的操作数，源操作数</a:t>
            </a:r>
            <a:endParaRPr lang="zh-CN" altLang="en-US" sz="2400" dirty="0">
              <a:solidFill>
                <a:schemeClr val="hlink"/>
              </a:solidFill>
              <a:latin typeface="Arial Black" panose="020B0A04020102020204" pitchFamily="34" charset="0"/>
            </a:endParaRPr>
          </a:p>
          <a:p>
            <a:pPr algn="ctr" eaLnBrk="1" hangingPunct="1">
              <a:buClr>
                <a:schemeClr val="hlink"/>
              </a:buClr>
              <a:buNone/>
            </a:pPr>
            <a:r>
              <a:rPr lang="zh-CN" altLang="en-US" sz="1800" b="1" dirty="0">
                <a:latin typeface="黑体" panose="02010609060101010101" pitchFamily="49" charset="-122"/>
                <a:ea typeface="黑体" panose="02010609060101010101" pitchFamily="49" charset="-122"/>
              </a:rPr>
              <a:t>（异或法则：相同为</a:t>
            </a:r>
            <a:r>
              <a:rPr lang="en-US" altLang="zh-CN" sz="1800" b="1" dirty="0">
                <a:latin typeface="黑体" panose="02010609060101010101" pitchFamily="49" charset="-122"/>
                <a:ea typeface="黑体" panose="02010609060101010101" pitchFamily="49" charset="-122"/>
              </a:rPr>
              <a:t>0</a:t>
            </a:r>
            <a:r>
              <a:rPr lang="zh-CN" altLang="en-US" sz="1800" b="1" dirty="0">
                <a:latin typeface="黑体" panose="02010609060101010101" pitchFamily="49" charset="-122"/>
                <a:ea typeface="黑体" panose="02010609060101010101" pitchFamily="49" charset="-122"/>
              </a:rPr>
              <a:t>，不同为</a:t>
            </a:r>
            <a:r>
              <a:rPr lang="en-US" altLang="zh-CN" sz="1800" b="1" dirty="0">
                <a:latin typeface="黑体" panose="02010609060101010101" pitchFamily="49" charset="-122"/>
                <a:ea typeface="黑体" panose="02010609060101010101" pitchFamily="49" charset="-122"/>
              </a:rPr>
              <a:t>1</a:t>
            </a:r>
            <a:r>
              <a:rPr lang="zh-CN" altLang="en-US" sz="1800" b="1" dirty="0">
                <a:latin typeface="黑体" panose="02010609060101010101" pitchFamily="49" charset="-122"/>
                <a:ea typeface="黑体" panose="02010609060101010101" pitchFamily="49" charset="-122"/>
              </a:rPr>
              <a:t>）</a:t>
            </a:r>
            <a:endParaRPr lang="zh-CN" altLang="en-US" sz="1800" b="1" dirty="0">
              <a:latin typeface="黑体" panose="02010609060101010101" pitchFamily="49" charset="-122"/>
              <a:ea typeface="黑体" panose="02010609060101010101" pitchFamily="49" charset="-122"/>
            </a:endParaRPr>
          </a:p>
          <a:p>
            <a:pPr eaLnBrk="1" hangingPunct="1">
              <a:buClr>
                <a:schemeClr val="hlink"/>
              </a:buClr>
              <a:buNone/>
            </a:pPr>
            <a:r>
              <a:rPr lang="zh-CN" altLang="en-US" sz="2400" b="1" dirty="0">
                <a:solidFill>
                  <a:srgbClr val="FF3300"/>
                </a:solidFill>
              </a:rPr>
              <a:t>    （</a:t>
            </a:r>
            <a:r>
              <a:rPr lang="en-US" altLang="zh-CN" sz="2400" b="1" dirty="0">
                <a:solidFill>
                  <a:srgbClr val="FF3300"/>
                </a:solidFill>
              </a:rPr>
              <a:t>1</a:t>
            </a:r>
            <a:r>
              <a:rPr lang="zh-CN" altLang="en-US" sz="2400" b="1" dirty="0">
                <a:solidFill>
                  <a:srgbClr val="FF3300"/>
                </a:solidFill>
              </a:rPr>
              <a:t>）以累加器</a:t>
            </a:r>
            <a:r>
              <a:rPr lang="en-US" altLang="zh-CN" sz="2400" b="1" dirty="0">
                <a:solidFill>
                  <a:srgbClr val="FF3300"/>
                </a:solidFill>
              </a:rPr>
              <a:t>A</a:t>
            </a:r>
            <a:r>
              <a:rPr lang="zh-CN" altLang="en-US" sz="2400" b="1" dirty="0">
                <a:solidFill>
                  <a:srgbClr val="FF3300"/>
                </a:solidFill>
              </a:rPr>
              <a:t>为目的操作数的异或逻辑运算指令</a:t>
            </a:r>
            <a:endParaRPr lang="zh-CN" altLang="en-US" sz="2400" b="1" dirty="0">
              <a:solidFill>
                <a:srgbClr val="FF3300"/>
              </a:solidFill>
            </a:endParaRPr>
          </a:p>
          <a:p>
            <a:pPr eaLnBrk="1" hangingPunct="1">
              <a:buNone/>
            </a:pPr>
            <a:r>
              <a:rPr lang="zh-CN" altLang="en-US" sz="2300" dirty="0"/>
              <a:t>                </a:t>
            </a:r>
            <a:r>
              <a:rPr lang="en-US" altLang="zh-CN" sz="2300" dirty="0"/>
              <a:t>XRL  A</a:t>
            </a:r>
            <a:r>
              <a:rPr lang="zh-CN" altLang="en-US" sz="2300" dirty="0"/>
              <a:t>，</a:t>
            </a:r>
            <a:r>
              <a:rPr lang="en-US" altLang="zh-CN" sz="2300" dirty="0"/>
              <a:t>#data   </a:t>
            </a:r>
            <a:r>
              <a:rPr lang="zh-CN" altLang="en-US" sz="2300" dirty="0"/>
              <a:t>；</a:t>
            </a:r>
            <a:r>
              <a:rPr lang="en-US" altLang="zh-CN" sz="2300" dirty="0"/>
              <a:t>(A)</a:t>
            </a:r>
            <a:r>
              <a:rPr lang="en-US" altLang="zh-CN" sz="2300" dirty="0">
                <a:sym typeface="Symbol" pitchFamily="18" charset="2"/>
              </a:rPr>
              <a:t></a:t>
            </a:r>
            <a:r>
              <a:rPr lang="en-US" altLang="zh-CN" sz="2300" dirty="0"/>
              <a:t>data</a:t>
            </a:r>
            <a:r>
              <a:rPr lang="en-US" altLang="zh-CN" sz="2300" dirty="0">
                <a:sym typeface="Wingdings" panose="05000000000000000000" pitchFamily="2" charset="2"/>
              </a:rPr>
              <a:t></a:t>
            </a:r>
            <a:r>
              <a:rPr lang="en-US" altLang="zh-CN" sz="2300" dirty="0"/>
              <a:t>A</a:t>
            </a:r>
            <a:endParaRPr lang="en-US" altLang="zh-CN" sz="2300" dirty="0"/>
          </a:p>
          <a:p>
            <a:pPr eaLnBrk="1" hangingPunct="1">
              <a:buNone/>
            </a:pPr>
            <a:r>
              <a:rPr lang="en-US" altLang="zh-CN" sz="2300" dirty="0"/>
              <a:t>                XRL  A</a:t>
            </a:r>
            <a:r>
              <a:rPr lang="zh-CN" altLang="en-US" sz="2300" dirty="0"/>
              <a:t>，</a:t>
            </a:r>
            <a:r>
              <a:rPr lang="en-US" altLang="zh-CN" sz="2300" dirty="0"/>
              <a:t>Rn     </a:t>
            </a:r>
            <a:r>
              <a:rPr lang="zh-CN" altLang="en-US" sz="2300" dirty="0"/>
              <a:t>；</a:t>
            </a:r>
            <a:r>
              <a:rPr lang="en-US" altLang="zh-CN" sz="2300" dirty="0"/>
              <a:t>n=0~7</a:t>
            </a:r>
            <a:r>
              <a:rPr lang="zh-CN" altLang="en-US" sz="2300" dirty="0"/>
              <a:t>，</a:t>
            </a:r>
            <a:r>
              <a:rPr lang="en-US" altLang="zh-CN" sz="2300" dirty="0"/>
              <a:t>(A) </a:t>
            </a:r>
            <a:r>
              <a:rPr lang="en-US" altLang="zh-CN" sz="2300" dirty="0">
                <a:sym typeface="Symbol" pitchFamily="18" charset="2"/>
              </a:rPr>
              <a:t></a:t>
            </a:r>
            <a:r>
              <a:rPr lang="en-US" altLang="zh-CN" sz="2300" dirty="0"/>
              <a:t> (Rn) </a:t>
            </a:r>
            <a:r>
              <a:rPr lang="en-US" altLang="zh-CN" sz="2300" dirty="0">
                <a:sym typeface="Wingdings" panose="05000000000000000000" pitchFamily="2" charset="2"/>
              </a:rPr>
              <a:t></a:t>
            </a:r>
            <a:r>
              <a:rPr lang="en-US" altLang="zh-CN" sz="2300" dirty="0"/>
              <a:t>A</a:t>
            </a:r>
            <a:endParaRPr lang="en-US" altLang="zh-CN" sz="2300" dirty="0"/>
          </a:p>
          <a:p>
            <a:pPr eaLnBrk="1" hangingPunct="1">
              <a:buNone/>
            </a:pPr>
            <a:r>
              <a:rPr lang="en-US" altLang="zh-CN" sz="2300" dirty="0"/>
              <a:t>                XRL  A</a:t>
            </a:r>
            <a:r>
              <a:rPr lang="zh-CN" altLang="en-US" sz="2300" dirty="0"/>
              <a:t>，</a:t>
            </a:r>
            <a:r>
              <a:rPr lang="en-US" altLang="zh-CN" sz="2300" dirty="0"/>
              <a:t>direct   </a:t>
            </a:r>
            <a:r>
              <a:rPr lang="zh-CN" altLang="en-US" sz="2300" dirty="0"/>
              <a:t>；</a:t>
            </a:r>
            <a:r>
              <a:rPr lang="en-US" altLang="zh-CN" sz="2300" dirty="0"/>
              <a:t>(A) </a:t>
            </a:r>
            <a:r>
              <a:rPr lang="en-US" altLang="zh-CN" sz="2300" dirty="0">
                <a:sym typeface="Symbol" pitchFamily="18" charset="2"/>
              </a:rPr>
              <a:t></a:t>
            </a:r>
            <a:r>
              <a:rPr lang="en-US" altLang="zh-CN" sz="2300" dirty="0"/>
              <a:t> (direct) </a:t>
            </a:r>
            <a:r>
              <a:rPr lang="en-US" altLang="zh-CN" sz="2300" dirty="0">
                <a:sym typeface="Wingdings" panose="05000000000000000000" pitchFamily="2" charset="2"/>
              </a:rPr>
              <a:t></a:t>
            </a:r>
            <a:r>
              <a:rPr lang="en-US" altLang="zh-CN" sz="2300" dirty="0"/>
              <a:t>A</a:t>
            </a:r>
            <a:endParaRPr lang="en-US" altLang="zh-CN" sz="2300" dirty="0"/>
          </a:p>
          <a:p>
            <a:pPr eaLnBrk="1" hangingPunct="1">
              <a:buNone/>
            </a:pPr>
            <a:r>
              <a:rPr lang="en-US" altLang="zh-CN" sz="2300" dirty="0"/>
              <a:t>                XRL  A</a:t>
            </a:r>
            <a:r>
              <a:rPr lang="zh-CN" altLang="en-US" sz="2300" dirty="0"/>
              <a:t>，</a:t>
            </a:r>
            <a:r>
              <a:rPr lang="en-US" altLang="zh-CN" sz="2300" dirty="0"/>
              <a:t>@Ri;   </a:t>
            </a:r>
            <a:r>
              <a:rPr lang="zh-CN" altLang="en-US" sz="2300" dirty="0"/>
              <a:t>；</a:t>
            </a:r>
            <a:r>
              <a:rPr lang="en-US" altLang="zh-CN" sz="2300" dirty="0"/>
              <a:t>i=0, 1</a:t>
            </a:r>
            <a:r>
              <a:rPr lang="zh-CN" altLang="en-US" sz="2300" dirty="0"/>
              <a:t>，</a:t>
            </a:r>
            <a:r>
              <a:rPr lang="en-US" altLang="zh-CN" sz="2300" dirty="0"/>
              <a:t>(A) </a:t>
            </a:r>
            <a:r>
              <a:rPr lang="en-US" altLang="zh-CN" sz="2300" dirty="0">
                <a:sym typeface="Symbol" pitchFamily="18" charset="2"/>
              </a:rPr>
              <a:t></a:t>
            </a:r>
            <a:r>
              <a:rPr lang="en-US" altLang="zh-CN" sz="2300" dirty="0"/>
              <a:t> ((Ri)) </a:t>
            </a:r>
            <a:r>
              <a:rPr lang="en-US" altLang="zh-CN" sz="2300" dirty="0">
                <a:sym typeface="Wingdings" panose="05000000000000000000" pitchFamily="2" charset="2"/>
              </a:rPr>
              <a:t></a:t>
            </a:r>
            <a:r>
              <a:rPr lang="en-US" altLang="zh-CN" sz="2300" dirty="0"/>
              <a:t>A</a:t>
            </a:r>
            <a:endParaRPr lang="en-US" altLang="zh-CN" sz="2300" dirty="0"/>
          </a:p>
          <a:p>
            <a:pPr eaLnBrk="1" hangingPunct="1">
              <a:spcBef>
                <a:spcPct val="0"/>
              </a:spcBef>
              <a:buClrTx/>
              <a:buFontTx/>
              <a:buNone/>
            </a:pPr>
            <a:r>
              <a:rPr lang="en-US" altLang="zh-CN" sz="2300" dirty="0"/>
              <a:t>                  </a:t>
            </a:r>
            <a:r>
              <a:rPr lang="zh-CN" altLang="en-US" sz="2300" dirty="0"/>
              <a:t>指令执行时仅影响标志位</a:t>
            </a:r>
            <a:r>
              <a:rPr lang="en-US" altLang="zh-CN" sz="2300" dirty="0"/>
              <a:t>P</a:t>
            </a:r>
            <a:r>
              <a:rPr lang="zh-CN" altLang="en-US" sz="2300" dirty="0"/>
              <a:t>。</a:t>
            </a:r>
            <a:endParaRPr lang="zh-CN" altLang="en-US" sz="2300" dirty="0"/>
          </a:p>
          <a:p>
            <a:pPr eaLnBrk="1" hangingPunct="1">
              <a:buNone/>
            </a:pPr>
            <a:r>
              <a:rPr lang="zh-CN" altLang="en-US" sz="2400" dirty="0"/>
              <a:t>	</a:t>
            </a:r>
            <a:r>
              <a:rPr lang="zh-CN" altLang="en-US" sz="2400" b="1" dirty="0">
                <a:solidFill>
                  <a:srgbClr val="FF3300"/>
                </a:solidFill>
              </a:rPr>
              <a:t>（</a:t>
            </a:r>
            <a:r>
              <a:rPr lang="en-US" altLang="zh-CN" sz="2400" b="1" dirty="0">
                <a:solidFill>
                  <a:srgbClr val="FF3300"/>
                </a:solidFill>
              </a:rPr>
              <a:t>2</a:t>
            </a:r>
            <a:r>
              <a:rPr lang="zh-CN" altLang="en-US" sz="2400" b="1" dirty="0">
                <a:solidFill>
                  <a:srgbClr val="FF3300"/>
                </a:solidFill>
              </a:rPr>
              <a:t>）以某个单元为目的操作数的异或逻辑运算指令</a:t>
            </a:r>
            <a:endParaRPr lang="zh-CN" altLang="en-US" sz="2400" b="1" dirty="0">
              <a:solidFill>
                <a:srgbClr val="FF3300"/>
              </a:solidFill>
            </a:endParaRPr>
          </a:p>
          <a:p>
            <a:pPr eaLnBrk="1" hangingPunct="1">
              <a:buNone/>
            </a:pPr>
            <a:r>
              <a:rPr lang="zh-CN" altLang="en-US" sz="2300" dirty="0"/>
              <a:t>                </a:t>
            </a:r>
            <a:r>
              <a:rPr lang="en-US" altLang="zh-CN" sz="2300" dirty="0"/>
              <a:t>XRL   direct</a:t>
            </a:r>
            <a:r>
              <a:rPr lang="zh-CN" altLang="en-US" sz="2300" dirty="0"/>
              <a:t>，</a:t>
            </a:r>
            <a:r>
              <a:rPr lang="en-US" altLang="zh-CN" sz="2300" dirty="0"/>
              <a:t>#data  </a:t>
            </a:r>
            <a:r>
              <a:rPr lang="zh-CN" altLang="en-US" sz="2300" dirty="0"/>
              <a:t>；</a:t>
            </a:r>
            <a:r>
              <a:rPr lang="en-US" altLang="zh-CN" sz="2300" dirty="0"/>
              <a:t>(direct) </a:t>
            </a:r>
            <a:r>
              <a:rPr lang="en-US" altLang="zh-CN" sz="2300" dirty="0">
                <a:sym typeface="Symbol" pitchFamily="18" charset="2"/>
              </a:rPr>
              <a:t></a:t>
            </a:r>
            <a:r>
              <a:rPr lang="en-US" altLang="zh-CN" sz="2300" dirty="0"/>
              <a:t>data</a:t>
            </a:r>
            <a:r>
              <a:rPr lang="en-US" altLang="zh-CN" sz="2300" dirty="0">
                <a:sym typeface="Wingdings" panose="05000000000000000000" pitchFamily="2" charset="2"/>
              </a:rPr>
              <a:t></a:t>
            </a:r>
            <a:r>
              <a:rPr lang="en-US" altLang="zh-CN" sz="2300" dirty="0"/>
              <a:t> direct</a:t>
            </a:r>
            <a:endParaRPr lang="en-US" altLang="zh-CN" sz="2300" dirty="0"/>
          </a:p>
          <a:p>
            <a:pPr eaLnBrk="1" hangingPunct="1">
              <a:buNone/>
            </a:pPr>
            <a:r>
              <a:rPr lang="en-US" altLang="zh-CN" sz="2300" dirty="0"/>
              <a:t>                 XRL   direct</a:t>
            </a:r>
            <a:r>
              <a:rPr lang="zh-CN" altLang="en-US" sz="2300" dirty="0"/>
              <a:t>，</a:t>
            </a:r>
            <a:r>
              <a:rPr lang="en-US" altLang="zh-CN" sz="2300" dirty="0"/>
              <a:t>A     </a:t>
            </a:r>
            <a:r>
              <a:rPr lang="zh-CN" altLang="en-US" sz="2300" dirty="0"/>
              <a:t>；</a:t>
            </a:r>
            <a:r>
              <a:rPr lang="en-US" altLang="zh-CN" sz="2300" dirty="0"/>
              <a:t>(direct) </a:t>
            </a:r>
            <a:r>
              <a:rPr lang="en-US" altLang="zh-CN" sz="2300" dirty="0">
                <a:sym typeface="Symbol" pitchFamily="18" charset="2"/>
              </a:rPr>
              <a:t></a:t>
            </a:r>
            <a:r>
              <a:rPr lang="en-US" altLang="zh-CN" sz="2300" dirty="0"/>
              <a:t> (A) </a:t>
            </a:r>
            <a:r>
              <a:rPr lang="en-US" altLang="zh-CN" sz="2300" dirty="0">
                <a:sym typeface="Wingdings" panose="05000000000000000000" pitchFamily="2" charset="2"/>
              </a:rPr>
              <a:t></a:t>
            </a:r>
            <a:r>
              <a:rPr lang="en-US" altLang="zh-CN" sz="2300" dirty="0"/>
              <a:t>direct</a:t>
            </a:r>
            <a:endParaRPr lang="en-US" altLang="zh-CN" sz="2300" dirty="0"/>
          </a:p>
          <a:p>
            <a:pPr eaLnBrk="1" hangingPunct="1">
              <a:buNone/>
            </a:pPr>
            <a:r>
              <a:rPr lang="en-US" altLang="zh-CN" sz="2300" dirty="0"/>
              <a:t>                 </a:t>
            </a:r>
            <a:r>
              <a:rPr lang="zh-CN" altLang="en-US" sz="2300" dirty="0"/>
              <a:t>指令执行时不会影响任何标志位</a:t>
            </a:r>
            <a:endParaRPr lang="zh-CN" altLang="en-US" sz="2300" dirty="0"/>
          </a:p>
        </p:txBody>
      </p:sp>
      <p:sp>
        <p:nvSpPr>
          <p:cNvPr id="87042" name="Rectangle 2"/>
          <p:cNvSpPr>
            <a:spLocks noChangeArrowheads="1"/>
          </p:cNvSpPr>
          <p:nvPr/>
        </p:nvSpPr>
        <p:spPr bwMode="auto">
          <a:xfrm>
            <a:off x="214313" y="214313"/>
            <a:ext cx="8763000" cy="609600"/>
          </a:xfrm>
          <a:prstGeom prst="rect">
            <a:avLst/>
          </a:prstGeom>
          <a:noFill/>
          <a:ln>
            <a:noFill/>
          </a:ln>
        </p:spPr>
        <p:txBody>
          <a:bodyPr anchor="ctr"/>
          <a:lstStyle>
            <a:lvl1pPr>
              <a:defRPr sz="3600">
                <a:solidFill>
                  <a:schemeClr val="tx2"/>
                </a:solidFill>
                <a:latin typeface="Times New Roman" panose="02020503050405090304" pitchFamily="18" charset="0"/>
                <a:ea typeface="宋体" pitchFamily="2" charset="-122"/>
              </a:defRPr>
            </a:lvl1pPr>
            <a:lvl2pPr>
              <a:defRPr sz="3600">
                <a:solidFill>
                  <a:schemeClr val="tx2"/>
                </a:solidFill>
                <a:latin typeface="Times New Roman" panose="02020503050405090304" pitchFamily="18" charset="0"/>
                <a:ea typeface="宋体" pitchFamily="2" charset="-122"/>
              </a:defRPr>
            </a:lvl2pPr>
            <a:lvl3pPr>
              <a:defRPr sz="3600">
                <a:solidFill>
                  <a:schemeClr val="tx2"/>
                </a:solidFill>
                <a:latin typeface="Times New Roman" panose="02020503050405090304" pitchFamily="18" charset="0"/>
                <a:ea typeface="宋体" pitchFamily="2" charset="-122"/>
              </a:defRPr>
            </a:lvl3pPr>
            <a:lvl4pPr>
              <a:defRPr sz="3600">
                <a:solidFill>
                  <a:schemeClr val="tx2"/>
                </a:solidFill>
                <a:latin typeface="Times New Roman" panose="02020503050405090304" pitchFamily="18" charset="0"/>
                <a:ea typeface="宋体" pitchFamily="2" charset="-122"/>
              </a:defRPr>
            </a:lvl4pPr>
            <a:lvl5pPr>
              <a:defRPr sz="3600">
                <a:solidFill>
                  <a:schemeClr val="tx2"/>
                </a:solidFill>
                <a:latin typeface="Times New Roman" panose="02020503050405090304" pitchFamily="18" charset="0"/>
                <a:ea typeface="宋体" pitchFamily="2" charset="-122"/>
              </a:defRPr>
            </a:lvl5pPr>
            <a:lvl6pPr marL="45720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fontAlgn="base">
              <a:spcBef>
                <a:spcPct val="0"/>
              </a:spcBef>
              <a:spcAft>
                <a:spcPct val="0"/>
              </a:spcAft>
              <a:defRPr sz="3600">
                <a:solidFill>
                  <a:schemeClr val="tx2"/>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第三章</a:t>
            </a:r>
            <a:r>
              <a:rPr kumimoji="0" lang="zh-CN" altLang="en-US" sz="28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zh-CN" altLang="en-US" sz="24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en-US" altLang="zh-CN"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MCS-51</a:t>
            </a: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指令系统</a:t>
            </a:r>
            <a:endParaRPr kumimoji="0" lang="zh-CN" altLang="en-US" sz="3600" b="0"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Times New Roman" panose="02020503050405090304" pitchFamily="18" charset="0"/>
              <a:ea typeface="宋体" pitchFamily="2" charset="-122"/>
              <a:cs typeface="+mn-cs"/>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5" name="Rectangle 2"/>
          <p:cNvSpPr/>
          <p:nvPr/>
        </p:nvSpPr>
        <p:spPr>
          <a:xfrm>
            <a:off x="903288" y="287338"/>
            <a:ext cx="7605712" cy="765175"/>
          </a:xfrm>
          <a:prstGeom prst="rect">
            <a:avLst/>
          </a:prstGeom>
          <a:noFill/>
          <a:ln w="9525">
            <a:noFill/>
          </a:ln>
        </p:spPr>
        <p:txBody>
          <a:bodyPr anchor="ctr" anchorCtr="0"/>
          <a:p>
            <a:pPr>
              <a:buClrTx/>
              <a:buFontTx/>
            </a:pPr>
            <a:r>
              <a:rPr lang="en-US" altLang="zh-CN" sz="3600" b="0" dirty="0">
                <a:latin typeface="华文新魏" pitchFamily="2" charset="-122"/>
                <a:ea typeface="华文新魏" pitchFamily="2" charset="-122"/>
              </a:rPr>
              <a:t>3.3.4 </a:t>
            </a:r>
            <a:r>
              <a:rPr lang="zh-CN" altLang="en-US" sz="3600" b="0" dirty="0">
                <a:latin typeface="华文新魏" pitchFamily="2" charset="-122"/>
                <a:ea typeface="华文新魏" pitchFamily="2" charset="-122"/>
              </a:rPr>
              <a:t>逻辑运算指令</a:t>
            </a:r>
            <a:r>
              <a:rPr lang="en-US" altLang="zh-CN" sz="3600" b="0" dirty="0">
                <a:latin typeface="Arial" panose="020B0604020202090204" pitchFamily="34" charset="0"/>
                <a:ea typeface="华文新魏" pitchFamily="2" charset="-122"/>
              </a:rPr>
              <a:t>—</a:t>
            </a:r>
            <a:r>
              <a:rPr lang="zh-CN" altLang="en-US" sz="3600" b="0" u="sng" dirty="0">
                <a:latin typeface="华文新魏" pitchFamily="2" charset="-122"/>
                <a:ea typeface="华文新魏" pitchFamily="2" charset="-122"/>
              </a:rPr>
              <a:t>与操作指令</a:t>
            </a:r>
            <a:endParaRPr lang="zh-CN" altLang="en-US" sz="3600" b="0" u="sng" dirty="0">
              <a:latin typeface="华文新魏" pitchFamily="2" charset="-122"/>
              <a:ea typeface="华文新魏" pitchFamily="2" charset="-122"/>
            </a:endParaRPr>
          </a:p>
        </p:txBody>
      </p:sp>
      <p:sp>
        <p:nvSpPr>
          <p:cNvPr id="134146" name="Rectangle 3"/>
          <p:cNvSpPr/>
          <p:nvPr/>
        </p:nvSpPr>
        <p:spPr>
          <a:xfrm>
            <a:off x="639763" y="908050"/>
            <a:ext cx="6019800" cy="488950"/>
          </a:xfrm>
          <a:prstGeom prst="rect">
            <a:avLst/>
          </a:prstGeom>
          <a:noFill/>
          <a:ln w="9525">
            <a:noFill/>
          </a:ln>
        </p:spPr>
        <p:txBody>
          <a:bodyPr anchor="t" anchorCtr="0"/>
          <a:p>
            <a:pPr marL="742950" lvl="1" indent="-285750" eaLnBrk="1" hangingPunct="1">
              <a:spcBef>
                <a:spcPct val="20000"/>
              </a:spcBef>
              <a:buClr>
                <a:schemeClr val="hlink"/>
              </a:buClr>
              <a:buSzPct val="55000"/>
            </a:pPr>
            <a:r>
              <a:rPr lang="zh-CN" altLang="en-US" sz="2800" dirty="0">
                <a:solidFill>
                  <a:srgbClr val="FF3300"/>
                </a:solidFill>
                <a:latin typeface="黑体" panose="02010609060101010101" pitchFamily="49" charset="-122"/>
                <a:ea typeface="黑体" panose="02010609060101010101" pitchFamily="49" charset="-122"/>
              </a:rPr>
              <a:t>异或</a:t>
            </a:r>
            <a:r>
              <a:rPr lang="zh-CN" altLang="en-US" sz="2800" dirty="0">
                <a:solidFill>
                  <a:schemeClr val="folHlink"/>
                </a:solidFill>
                <a:latin typeface="黑体" panose="02010609060101010101" pitchFamily="49" charset="-122"/>
                <a:ea typeface="黑体" panose="02010609060101010101" pitchFamily="49" charset="-122"/>
              </a:rPr>
              <a:t>逻辑操作指令用于</a:t>
            </a:r>
            <a:r>
              <a:rPr lang="zh-CN" altLang="en-US" sz="2800" dirty="0">
                <a:solidFill>
                  <a:srgbClr val="FF3300"/>
                </a:solidFill>
                <a:latin typeface="黑体" panose="02010609060101010101" pitchFamily="49" charset="-122"/>
                <a:ea typeface="黑体" panose="02010609060101010101" pitchFamily="49" charset="-122"/>
              </a:rPr>
              <a:t>实现取反</a:t>
            </a:r>
            <a:r>
              <a:rPr lang="zh-CN" altLang="en-US" sz="2800" dirty="0">
                <a:solidFill>
                  <a:schemeClr val="folHlink"/>
                </a:solidFill>
                <a:latin typeface="黑体" panose="02010609060101010101" pitchFamily="49" charset="-122"/>
                <a:ea typeface="黑体" panose="02010609060101010101" pitchFamily="49" charset="-122"/>
              </a:rPr>
              <a:t>。</a:t>
            </a:r>
            <a:endParaRPr lang="zh-CN" altLang="en-US" sz="2800" dirty="0">
              <a:latin typeface="Tahoma" panose="020B0604030504040204" pitchFamily="34" charset="0"/>
              <a:ea typeface="黑体" panose="02010609060101010101" pitchFamily="49" charset="-122"/>
            </a:endParaRPr>
          </a:p>
        </p:txBody>
      </p:sp>
      <p:sp>
        <p:nvSpPr>
          <p:cNvPr id="209924" name="Rectangle 4"/>
          <p:cNvSpPr/>
          <p:nvPr/>
        </p:nvSpPr>
        <p:spPr>
          <a:xfrm>
            <a:off x="317500" y="4702175"/>
            <a:ext cx="8345488" cy="2030413"/>
          </a:xfrm>
          <a:prstGeom prst="rect">
            <a:avLst/>
          </a:prstGeom>
          <a:noFill/>
          <a:ln w="9525">
            <a:noFill/>
          </a:ln>
        </p:spPr>
        <p:txBody>
          <a:bodyPr anchor="t" anchorCtr="0"/>
          <a:p>
            <a:pPr marL="342900" indent="-342900">
              <a:spcBef>
                <a:spcPct val="20000"/>
              </a:spcBef>
              <a:buSzPct val="60000"/>
            </a:pPr>
            <a:r>
              <a:rPr lang="zh-CN" altLang="en-US" b="0" dirty="0">
                <a:solidFill>
                  <a:schemeClr val="folHlink"/>
                </a:solidFill>
                <a:latin typeface="Times New Roman" panose="02020503050405090304" pitchFamily="18" charset="0"/>
                <a:ea typeface="宋体" pitchFamily="2" charset="-122"/>
              </a:rPr>
              <a:t>	</a:t>
            </a:r>
            <a:r>
              <a:rPr lang="zh-CN" altLang="en-US" sz="2600" b="0" dirty="0">
                <a:solidFill>
                  <a:schemeClr val="folHlink"/>
                </a:solidFill>
                <a:latin typeface="Times New Roman" panose="02020503050405090304" pitchFamily="18" charset="0"/>
                <a:ea typeface="宋体" pitchFamily="2" charset="-122"/>
              </a:rPr>
              <a:t>例：累加器</a:t>
            </a:r>
            <a:r>
              <a:rPr lang="en-US" altLang="zh-CN" sz="2600" b="0" dirty="0">
                <a:solidFill>
                  <a:schemeClr val="folHlink"/>
                </a:solidFill>
                <a:latin typeface="Times New Roman" panose="02020503050405090304" pitchFamily="18" charset="0"/>
                <a:ea typeface="宋体" pitchFamily="2" charset="-122"/>
              </a:rPr>
              <a:t>A</a:t>
            </a:r>
            <a:r>
              <a:rPr lang="zh-CN" altLang="en-US" sz="2600" b="0" dirty="0">
                <a:solidFill>
                  <a:schemeClr val="folHlink"/>
                </a:solidFill>
                <a:latin typeface="Times New Roman" panose="02020503050405090304" pitchFamily="18" charset="0"/>
                <a:ea typeface="宋体" pitchFamily="2" charset="-122"/>
              </a:rPr>
              <a:t>的内容为</a:t>
            </a:r>
            <a:r>
              <a:rPr lang="en-US" altLang="zh-CN" sz="2600" b="0" dirty="0">
                <a:solidFill>
                  <a:schemeClr val="folHlink"/>
                </a:solidFill>
                <a:latin typeface="Times New Roman" panose="02020503050405090304" pitchFamily="18" charset="0"/>
                <a:ea typeface="宋体" pitchFamily="2" charset="-122"/>
              </a:rPr>
              <a:t>90H</a:t>
            </a:r>
            <a:r>
              <a:rPr lang="zh-CN" altLang="en-US" sz="2600" b="0" dirty="0">
                <a:solidFill>
                  <a:schemeClr val="folHlink"/>
                </a:solidFill>
                <a:latin typeface="Times New Roman" panose="02020503050405090304" pitchFamily="18" charset="0"/>
                <a:ea typeface="宋体" pitchFamily="2" charset="-122"/>
              </a:rPr>
              <a:t>（</a:t>
            </a:r>
            <a:r>
              <a:rPr lang="en-US" altLang="zh-CN" sz="2600" b="0" dirty="0">
                <a:solidFill>
                  <a:schemeClr val="folHlink"/>
                </a:solidFill>
                <a:latin typeface="Times New Roman" panose="02020503050405090304" pitchFamily="18" charset="0"/>
                <a:ea typeface="宋体" pitchFamily="2" charset="-122"/>
              </a:rPr>
              <a:t>10010000B</a:t>
            </a:r>
            <a:r>
              <a:rPr lang="zh-CN" altLang="en-US" sz="2600" b="0" dirty="0">
                <a:solidFill>
                  <a:schemeClr val="folHlink"/>
                </a:solidFill>
                <a:latin typeface="Times New Roman" panose="02020503050405090304" pitchFamily="18" charset="0"/>
                <a:ea typeface="宋体" pitchFamily="2" charset="-122"/>
              </a:rPr>
              <a:t>），寄存器</a:t>
            </a:r>
            <a:r>
              <a:rPr lang="en-US" altLang="zh-CN" sz="2600" b="0" dirty="0">
                <a:solidFill>
                  <a:schemeClr val="folHlink"/>
                </a:solidFill>
                <a:latin typeface="Times New Roman" panose="02020503050405090304" pitchFamily="18" charset="0"/>
                <a:ea typeface="宋体" pitchFamily="2" charset="-122"/>
              </a:rPr>
              <a:t>R0</a:t>
            </a:r>
            <a:r>
              <a:rPr lang="zh-CN" altLang="en-US" sz="2600" b="0" dirty="0">
                <a:solidFill>
                  <a:schemeClr val="folHlink"/>
                </a:solidFill>
                <a:latin typeface="Times New Roman" panose="02020503050405090304" pitchFamily="18" charset="0"/>
                <a:ea typeface="宋体" pitchFamily="2" charset="-122"/>
              </a:rPr>
              <a:t>的内容为</a:t>
            </a:r>
            <a:r>
              <a:rPr lang="en-US" altLang="zh-CN" sz="2600" b="0" dirty="0">
                <a:solidFill>
                  <a:schemeClr val="folHlink"/>
                </a:solidFill>
                <a:latin typeface="Times New Roman" panose="02020503050405090304" pitchFamily="18" charset="0"/>
                <a:ea typeface="宋体" pitchFamily="2" charset="-122"/>
              </a:rPr>
              <a:t>73H</a:t>
            </a:r>
            <a:r>
              <a:rPr lang="zh-CN" altLang="en-US" sz="2600" b="0" dirty="0">
                <a:solidFill>
                  <a:schemeClr val="folHlink"/>
                </a:solidFill>
                <a:latin typeface="Times New Roman" panose="02020503050405090304" pitchFamily="18" charset="0"/>
                <a:ea typeface="宋体" pitchFamily="2" charset="-122"/>
              </a:rPr>
              <a:t>（</a:t>
            </a:r>
            <a:r>
              <a:rPr lang="en-US" altLang="zh-CN" sz="2600" b="0" dirty="0">
                <a:solidFill>
                  <a:schemeClr val="folHlink"/>
                </a:solidFill>
                <a:latin typeface="Times New Roman" panose="02020503050405090304" pitchFamily="18" charset="0"/>
                <a:ea typeface="宋体" pitchFamily="2" charset="-122"/>
              </a:rPr>
              <a:t>01110011B</a:t>
            </a:r>
            <a:r>
              <a:rPr lang="zh-CN" altLang="en-US" sz="2600" b="0" dirty="0">
                <a:solidFill>
                  <a:schemeClr val="folHlink"/>
                </a:solidFill>
                <a:latin typeface="Times New Roman" panose="02020503050405090304" pitchFamily="18" charset="0"/>
                <a:ea typeface="宋体" pitchFamily="2" charset="-122"/>
              </a:rPr>
              <a:t>），执行指令：</a:t>
            </a:r>
            <a:r>
              <a:rPr lang="en-US" altLang="zh-CN" sz="2600" b="0" dirty="0">
                <a:solidFill>
                  <a:srgbClr val="FF0000"/>
                </a:solidFill>
                <a:latin typeface="Times New Roman" panose="02020503050405090304" pitchFamily="18" charset="0"/>
                <a:ea typeface="宋体" pitchFamily="2" charset="-122"/>
              </a:rPr>
              <a:t>XRL  A,  R0</a:t>
            </a:r>
            <a:r>
              <a:rPr lang="zh-CN" altLang="en-US" sz="2600" b="0" dirty="0">
                <a:solidFill>
                  <a:schemeClr val="folHlink"/>
                </a:solidFill>
                <a:latin typeface="Times New Roman" panose="02020503050405090304" pitchFamily="18" charset="0"/>
                <a:ea typeface="宋体" pitchFamily="2" charset="-122"/>
              </a:rPr>
              <a:t>，则累加器</a:t>
            </a:r>
            <a:r>
              <a:rPr lang="en-US" altLang="zh-CN" sz="2600" b="0" dirty="0">
                <a:solidFill>
                  <a:schemeClr val="folHlink"/>
                </a:solidFill>
                <a:latin typeface="Times New Roman" panose="02020503050405090304" pitchFamily="18" charset="0"/>
                <a:ea typeface="宋体" pitchFamily="2" charset="-122"/>
              </a:rPr>
              <a:t>A</a:t>
            </a:r>
            <a:r>
              <a:rPr lang="zh-CN" altLang="en-US" sz="2600" b="0" dirty="0">
                <a:solidFill>
                  <a:schemeClr val="folHlink"/>
                </a:solidFill>
                <a:latin typeface="Times New Roman" panose="02020503050405090304" pitchFamily="18" charset="0"/>
                <a:ea typeface="宋体" pitchFamily="2" charset="-122"/>
              </a:rPr>
              <a:t>的内容为？</a:t>
            </a:r>
            <a:endParaRPr lang="zh-CN" altLang="en-US" sz="2600" b="0" dirty="0">
              <a:solidFill>
                <a:schemeClr val="folHlink"/>
              </a:solidFill>
              <a:latin typeface="Times New Roman" panose="02020503050405090304" pitchFamily="18" charset="0"/>
              <a:ea typeface="宋体" pitchFamily="2" charset="-122"/>
            </a:endParaRPr>
          </a:p>
          <a:p>
            <a:pPr marL="342900" indent="-342900">
              <a:spcBef>
                <a:spcPct val="20000"/>
              </a:spcBef>
              <a:buSzPct val="60000"/>
            </a:pPr>
            <a:r>
              <a:rPr lang="zh-CN" altLang="en-US" sz="2600" b="0" dirty="0">
                <a:solidFill>
                  <a:schemeClr val="folHlink"/>
                </a:solidFill>
                <a:latin typeface="Times New Roman" panose="02020503050405090304" pitchFamily="18" charset="0"/>
                <a:ea typeface="宋体" pitchFamily="2" charset="-122"/>
              </a:rPr>
              <a:t>    例：（</a:t>
            </a:r>
            <a:r>
              <a:rPr lang="en-US" altLang="zh-CN" sz="2600" b="0" dirty="0">
                <a:solidFill>
                  <a:schemeClr val="folHlink"/>
                </a:solidFill>
                <a:latin typeface="Times New Roman" panose="02020503050405090304" pitchFamily="18" charset="0"/>
                <a:ea typeface="宋体" pitchFamily="2" charset="-122"/>
              </a:rPr>
              <a:t>A</a:t>
            </a:r>
            <a:r>
              <a:rPr lang="zh-CN" altLang="en-US" sz="2600" b="0" dirty="0">
                <a:solidFill>
                  <a:schemeClr val="folHlink"/>
                </a:solidFill>
                <a:latin typeface="Times New Roman" panose="02020503050405090304" pitchFamily="18" charset="0"/>
                <a:ea typeface="宋体" pitchFamily="2" charset="-122"/>
              </a:rPr>
              <a:t>）</a:t>
            </a:r>
            <a:r>
              <a:rPr lang="en-US" altLang="zh-CN" sz="2600" b="0" dirty="0">
                <a:solidFill>
                  <a:schemeClr val="folHlink"/>
                </a:solidFill>
                <a:latin typeface="Times New Roman" panose="02020503050405090304" pitchFamily="18" charset="0"/>
                <a:ea typeface="宋体" pitchFamily="2" charset="-122"/>
              </a:rPr>
              <a:t>=11100011=E3H</a:t>
            </a:r>
            <a:r>
              <a:rPr lang="zh-CN" altLang="en-US" sz="2600" b="0" dirty="0">
                <a:solidFill>
                  <a:schemeClr val="folHlink"/>
                </a:solidFill>
                <a:latin typeface="Times New Roman" panose="02020503050405090304" pitchFamily="18" charset="0"/>
                <a:ea typeface="宋体" pitchFamily="2" charset="-122"/>
              </a:rPr>
              <a:t>。</a:t>
            </a:r>
            <a:endParaRPr lang="zh-CN" altLang="en-US" sz="2600" b="0" dirty="0">
              <a:solidFill>
                <a:schemeClr val="folHlink"/>
              </a:solidFill>
              <a:latin typeface="Times New Roman" panose="02020503050405090304" pitchFamily="18" charset="0"/>
              <a:ea typeface="宋体" pitchFamily="2" charset="-122"/>
            </a:endParaRPr>
          </a:p>
        </p:txBody>
      </p:sp>
      <p:grpSp>
        <p:nvGrpSpPr>
          <p:cNvPr id="134148" name="Group 5"/>
          <p:cNvGrpSpPr/>
          <p:nvPr/>
        </p:nvGrpSpPr>
        <p:grpSpPr>
          <a:xfrm>
            <a:off x="625475" y="1341438"/>
            <a:ext cx="6178550" cy="1409700"/>
            <a:chOff x="461" y="845"/>
            <a:chExt cx="3892" cy="888"/>
          </a:xfrm>
        </p:grpSpPr>
        <p:sp>
          <p:nvSpPr>
            <p:cNvPr id="134149" name="Rectangle 6"/>
            <p:cNvSpPr/>
            <p:nvPr/>
          </p:nvSpPr>
          <p:spPr>
            <a:xfrm>
              <a:off x="461" y="845"/>
              <a:ext cx="3892" cy="888"/>
            </a:xfrm>
            <a:prstGeom prst="rect">
              <a:avLst/>
            </a:prstGeom>
            <a:noFill/>
            <a:ln w="9525">
              <a:noFill/>
            </a:ln>
          </p:spPr>
          <p:txBody>
            <a:bodyPr wrap="none" anchor="t" anchorCtr="0">
              <a:spAutoFit/>
            </a:bodyPr>
            <a:p>
              <a:pPr marL="179705" lvl="1" indent="277495" eaLnBrk="1" hangingPunct="1">
                <a:spcBef>
                  <a:spcPct val="20000"/>
                </a:spcBef>
                <a:buClr>
                  <a:schemeClr val="hlink"/>
                </a:buClr>
                <a:buSzPct val="55000"/>
                <a:buNone/>
              </a:pPr>
              <a:r>
                <a:rPr lang="zh-CN" altLang="en-US" b="0" dirty="0">
                  <a:solidFill>
                    <a:schemeClr val="folHlink"/>
                  </a:solidFill>
                  <a:latin typeface="Times New Roman" panose="02020503050405090304" pitchFamily="18" charset="0"/>
                  <a:ea typeface="黑体" panose="02010609060101010101" pitchFamily="49" charset="-122"/>
                </a:rPr>
                <a:t>设某位数值为</a:t>
              </a:r>
              <a:r>
                <a:rPr lang="en-US" altLang="zh-CN" b="0" i="1" dirty="0">
                  <a:solidFill>
                    <a:schemeClr val="folHlink"/>
                  </a:solidFill>
                  <a:latin typeface="Times New Roman" panose="02020503050405090304" pitchFamily="18" charset="0"/>
                  <a:ea typeface="黑体" panose="02010609060101010101" pitchFamily="49" charset="-122"/>
                </a:rPr>
                <a:t>d</a:t>
              </a:r>
              <a:r>
                <a:rPr lang="en-US" altLang="zh-CN" b="0" i="1" baseline="-25000" dirty="0">
                  <a:solidFill>
                    <a:schemeClr val="folHlink"/>
                  </a:solidFill>
                  <a:latin typeface="Times New Roman" panose="02020503050405090304" pitchFamily="18" charset="0"/>
                  <a:ea typeface="黑体" panose="02010609060101010101" pitchFamily="49" charset="-122"/>
                </a:rPr>
                <a:t>i </a:t>
              </a:r>
              <a:r>
                <a:rPr lang="en-US" altLang="zh-CN" b="0" dirty="0">
                  <a:solidFill>
                    <a:schemeClr val="folHlink"/>
                  </a:solidFill>
                  <a:latin typeface="Times New Roman" panose="02020503050405090304" pitchFamily="18" charset="0"/>
                  <a:ea typeface="黑体" panose="02010609060101010101" pitchFamily="49" charset="-122"/>
                </a:rPr>
                <a:t>= 0, 1</a:t>
              </a:r>
              <a:r>
                <a:rPr lang="zh-CN" altLang="en-US" b="0" dirty="0">
                  <a:solidFill>
                    <a:schemeClr val="folHlink"/>
                  </a:solidFill>
                  <a:latin typeface="Times New Roman" panose="02020503050405090304" pitchFamily="18" charset="0"/>
                  <a:ea typeface="黑体" panose="02010609060101010101" pitchFamily="49" charset="-122"/>
                </a:rPr>
                <a:t>，与运算法则如下：</a:t>
              </a:r>
              <a:endParaRPr lang="zh-CN" altLang="en-US" b="0" dirty="0">
                <a:solidFill>
                  <a:schemeClr val="folHlink"/>
                </a:solidFill>
                <a:latin typeface="Times New Roman" panose="02020503050405090304" pitchFamily="18" charset="0"/>
                <a:ea typeface="黑体" panose="02010609060101010101" pitchFamily="49" charset="-122"/>
              </a:endParaRPr>
            </a:p>
            <a:p>
              <a:pPr marL="179705" lvl="1" indent="277495" eaLnBrk="1" hangingPunct="1">
                <a:spcBef>
                  <a:spcPct val="20000"/>
                </a:spcBef>
                <a:buClr>
                  <a:schemeClr val="hlink"/>
                </a:buClr>
                <a:buSzPct val="55000"/>
                <a:buNone/>
              </a:pPr>
              <a:r>
                <a:rPr lang="zh-CN" altLang="en-US" b="0" dirty="0">
                  <a:solidFill>
                    <a:schemeClr val="folHlink"/>
                  </a:solidFill>
                  <a:latin typeface="Times New Roman" panose="02020503050405090304" pitchFamily="18" charset="0"/>
                  <a:ea typeface="黑体" panose="02010609060101010101" pitchFamily="49" charset="-122"/>
                </a:rPr>
                <a:t>	               </a:t>
              </a:r>
              <a:r>
                <a:rPr lang="en-US" altLang="zh-CN" b="0" i="1" dirty="0">
                  <a:solidFill>
                    <a:schemeClr val="folHlink"/>
                  </a:solidFill>
                  <a:latin typeface="Times New Roman" panose="02020503050405090304" pitchFamily="18" charset="0"/>
                  <a:ea typeface="黑体" panose="02010609060101010101" pitchFamily="49" charset="-122"/>
                </a:rPr>
                <a:t>d</a:t>
              </a:r>
              <a:r>
                <a:rPr lang="en-US" altLang="zh-CN" b="0" i="1" baseline="-25000" dirty="0">
                  <a:solidFill>
                    <a:schemeClr val="folHlink"/>
                  </a:solidFill>
                  <a:latin typeface="Times New Roman" panose="02020503050405090304" pitchFamily="18" charset="0"/>
                  <a:ea typeface="黑体" panose="02010609060101010101" pitchFamily="49" charset="-122"/>
                </a:rPr>
                <a:t>i</a:t>
              </a:r>
              <a:r>
                <a:rPr lang="en-US" altLang="zh-CN" b="0" dirty="0">
                  <a:solidFill>
                    <a:schemeClr val="folHlink"/>
                  </a:solidFill>
                  <a:latin typeface="Times New Roman" panose="02020503050405090304" pitchFamily="18" charset="0"/>
                  <a:ea typeface="黑体" panose="02010609060101010101" pitchFamily="49" charset="-122"/>
                </a:rPr>
                <a:t> </a:t>
              </a:r>
              <a:r>
                <a:rPr lang="en-US" altLang="zh-CN" sz="2600" b="0" dirty="0">
                  <a:solidFill>
                    <a:schemeClr val="folHlink"/>
                  </a:solidFill>
                  <a:latin typeface="Times New Roman" panose="02020503050405090304" pitchFamily="18" charset="0"/>
                  <a:ea typeface="黑体" panose="02010609060101010101" pitchFamily="49" charset="-122"/>
                </a:rPr>
                <a:t> </a:t>
              </a:r>
              <a:r>
                <a:rPr lang="en-US" altLang="zh-CN" sz="2600" b="0" dirty="0">
                  <a:solidFill>
                    <a:schemeClr val="folHlink"/>
                  </a:solidFill>
                  <a:latin typeface="Times New Roman" panose="02020503050405090304" pitchFamily="18" charset="0"/>
                  <a:ea typeface="黑体" panose="02010609060101010101" pitchFamily="49" charset="-122"/>
                  <a:sym typeface="Symbol" pitchFamily="18" charset="2"/>
                </a:rPr>
                <a:t></a:t>
              </a:r>
              <a:r>
                <a:rPr lang="en-US" altLang="zh-CN" sz="2600" b="0" dirty="0">
                  <a:solidFill>
                    <a:schemeClr val="folHlink"/>
                  </a:solidFill>
                  <a:latin typeface="Times New Roman" panose="02020503050405090304" pitchFamily="18" charset="0"/>
                  <a:ea typeface="黑体" panose="02010609060101010101" pitchFamily="49" charset="-122"/>
                </a:rPr>
                <a:t> </a:t>
              </a:r>
              <a:r>
                <a:rPr lang="en-US" altLang="zh-CN" b="0" dirty="0">
                  <a:solidFill>
                    <a:schemeClr val="folHlink"/>
                  </a:solidFill>
                  <a:latin typeface="Times New Roman" panose="02020503050405090304" pitchFamily="18" charset="0"/>
                  <a:ea typeface="黑体" panose="02010609060101010101" pitchFamily="49" charset="-122"/>
                </a:rPr>
                <a:t>0 = </a:t>
              </a:r>
              <a:r>
                <a:rPr lang="en-US" altLang="zh-CN" b="0" i="1" dirty="0">
                  <a:solidFill>
                    <a:schemeClr val="folHlink"/>
                  </a:solidFill>
                  <a:latin typeface="Times New Roman" panose="02020503050405090304" pitchFamily="18" charset="0"/>
                  <a:ea typeface="黑体" panose="02010609060101010101" pitchFamily="49" charset="-122"/>
                </a:rPr>
                <a:t>d</a:t>
              </a:r>
              <a:r>
                <a:rPr lang="en-US" altLang="zh-CN" b="0" i="1" baseline="-25000" dirty="0">
                  <a:solidFill>
                    <a:schemeClr val="folHlink"/>
                  </a:solidFill>
                  <a:latin typeface="Times New Roman" panose="02020503050405090304" pitchFamily="18" charset="0"/>
                  <a:ea typeface="黑体" panose="02010609060101010101" pitchFamily="49" charset="-122"/>
                </a:rPr>
                <a:t>i</a:t>
              </a:r>
              <a:r>
                <a:rPr lang="en-US" altLang="zh-CN" b="0" dirty="0">
                  <a:solidFill>
                    <a:schemeClr val="folHlink"/>
                  </a:solidFill>
                  <a:latin typeface="Times New Roman" panose="02020503050405090304" pitchFamily="18" charset="0"/>
                  <a:ea typeface="黑体" panose="02010609060101010101" pitchFamily="49" charset="-122"/>
                </a:rPr>
                <a:t> </a:t>
              </a:r>
              <a:r>
                <a:rPr lang="zh-CN" altLang="en-US" b="0" dirty="0">
                  <a:solidFill>
                    <a:schemeClr val="folHlink"/>
                  </a:solidFill>
                  <a:latin typeface="Times New Roman" panose="02020503050405090304" pitchFamily="18" charset="0"/>
                  <a:ea typeface="黑体" panose="02010609060101010101" pitchFamily="49" charset="-122"/>
                </a:rPr>
                <a:t>（保留）</a:t>
              </a:r>
              <a:endParaRPr lang="zh-CN" altLang="en-US" b="0" dirty="0">
                <a:solidFill>
                  <a:schemeClr val="folHlink"/>
                </a:solidFill>
                <a:latin typeface="Times New Roman" panose="02020503050405090304" pitchFamily="18" charset="0"/>
                <a:ea typeface="黑体" panose="02010609060101010101" pitchFamily="49" charset="-122"/>
              </a:endParaRPr>
            </a:p>
            <a:p>
              <a:pPr marL="179705" lvl="1" indent="277495" eaLnBrk="1" hangingPunct="1">
                <a:spcBef>
                  <a:spcPct val="20000"/>
                </a:spcBef>
                <a:buClr>
                  <a:schemeClr val="hlink"/>
                </a:buClr>
                <a:buSzPct val="55000"/>
                <a:buNone/>
              </a:pPr>
              <a:r>
                <a:rPr lang="zh-CN" altLang="en-US" b="0" dirty="0">
                  <a:solidFill>
                    <a:schemeClr val="folHlink"/>
                  </a:solidFill>
                  <a:latin typeface="Times New Roman" panose="02020503050405090304" pitchFamily="18" charset="0"/>
                  <a:ea typeface="黑体" panose="02010609060101010101" pitchFamily="49" charset="-122"/>
                </a:rPr>
                <a:t>		    </a:t>
              </a:r>
              <a:r>
                <a:rPr lang="en-US" altLang="zh-CN" b="0" i="1" dirty="0">
                  <a:solidFill>
                    <a:schemeClr val="folHlink"/>
                  </a:solidFill>
                  <a:latin typeface="Times New Roman" panose="02020503050405090304" pitchFamily="18" charset="0"/>
                  <a:ea typeface="黑体" panose="02010609060101010101" pitchFamily="49" charset="-122"/>
                </a:rPr>
                <a:t>d</a:t>
              </a:r>
              <a:r>
                <a:rPr lang="en-US" altLang="zh-CN" b="0" i="1" baseline="-25000" dirty="0">
                  <a:solidFill>
                    <a:schemeClr val="folHlink"/>
                  </a:solidFill>
                  <a:latin typeface="Times New Roman" panose="02020503050405090304" pitchFamily="18" charset="0"/>
                  <a:ea typeface="黑体" panose="02010609060101010101" pitchFamily="49" charset="-122"/>
                </a:rPr>
                <a:t>i</a:t>
              </a:r>
              <a:r>
                <a:rPr lang="en-US" altLang="zh-CN" b="0" dirty="0">
                  <a:solidFill>
                    <a:schemeClr val="folHlink"/>
                  </a:solidFill>
                  <a:latin typeface="Times New Roman" panose="02020503050405090304" pitchFamily="18" charset="0"/>
                  <a:ea typeface="黑体" panose="02010609060101010101" pitchFamily="49" charset="-122"/>
                </a:rPr>
                <a:t> </a:t>
              </a:r>
              <a:r>
                <a:rPr lang="en-US" altLang="zh-CN" sz="2600" b="0" dirty="0">
                  <a:solidFill>
                    <a:schemeClr val="folHlink"/>
                  </a:solidFill>
                  <a:latin typeface="Times New Roman" panose="02020503050405090304" pitchFamily="18" charset="0"/>
                  <a:ea typeface="黑体" panose="02010609060101010101" pitchFamily="49" charset="-122"/>
                </a:rPr>
                <a:t> </a:t>
              </a:r>
              <a:r>
                <a:rPr lang="en-US" altLang="zh-CN" sz="2600" b="0" dirty="0">
                  <a:solidFill>
                    <a:schemeClr val="folHlink"/>
                  </a:solidFill>
                  <a:latin typeface="Times New Roman" panose="02020503050405090304" pitchFamily="18" charset="0"/>
                  <a:ea typeface="黑体" panose="02010609060101010101" pitchFamily="49" charset="-122"/>
                  <a:sym typeface="Symbol" pitchFamily="18" charset="2"/>
                </a:rPr>
                <a:t></a:t>
              </a:r>
              <a:r>
                <a:rPr lang="en-US" altLang="zh-CN" sz="2600" b="0" dirty="0">
                  <a:solidFill>
                    <a:schemeClr val="folHlink"/>
                  </a:solidFill>
                  <a:latin typeface="Times New Roman" panose="02020503050405090304" pitchFamily="18" charset="0"/>
                  <a:ea typeface="黑体" panose="02010609060101010101" pitchFamily="49" charset="-122"/>
                </a:rPr>
                <a:t> </a:t>
              </a:r>
              <a:r>
                <a:rPr lang="en-US" altLang="zh-CN" b="0" dirty="0">
                  <a:solidFill>
                    <a:schemeClr val="folHlink"/>
                  </a:solidFill>
                  <a:latin typeface="Times New Roman" panose="02020503050405090304" pitchFamily="18" charset="0"/>
                  <a:ea typeface="黑体" panose="02010609060101010101" pitchFamily="49" charset="-122"/>
                </a:rPr>
                <a:t> 1 = </a:t>
              </a:r>
              <a:r>
                <a:rPr lang="en-US" altLang="zh-CN" sz="2600" b="0" i="1" dirty="0">
                  <a:solidFill>
                    <a:schemeClr val="folHlink"/>
                  </a:solidFill>
                  <a:latin typeface="Times New Roman" panose="02020503050405090304" pitchFamily="18" charset="0"/>
                  <a:ea typeface="黑体" panose="02010609060101010101" pitchFamily="49" charset="-122"/>
                </a:rPr>
                <a:t>d</a:t>
              </a:r>
              <a:r>
                <a:rPr lang="en-US" altLang="zh-CN" sz="2600" b="0" i="1" baseline="-25000" dirty="0">
                  <a:solidFill>
                    <a:schemeClr val="folHlink"/>
                  </a:solidFill>
                  <a:latin typeface="Times New Roman" panose="02020503050405090304" pitchFamily="18" charset="0"/>
                  <a:ea typeface="黑体" panose="02010609060101010101" pitchFamily="49" charset="-122"/>
                </a:rPr>
                <a:t>i</a:t>
              </a:r>
              <a:r>
                <a:rPr lang="en-US" altLang="zh-CN" sz="2600" b="0" dirty="0">
                  <a:solidFill>
                    <a:schemeClr val="folHlink"/>
                  </a:solidFill>
                  <a:latin typeface="Times New Roman" panose="02020503050405090304" pitchFamily="18" charset="0"/>
                  <a:ea typeface="黑体" panose="02010609060101010101" pitchFamily="49" charset="-122"/>
                </a:rPr>
                <a:t> </a:t>
              </a:r>
              <a:r>
                <a:rPr lang="zh-CN" altLang="en-US" b="0" dirty="0">
                  <a:solidFill>
                    <a:schemeClr val="folHlink"/>
                  </a:solidFill>
                  <a:latin typeface="Times New Roman" panose="02020503050405090304" pitchFamily="18" charset="0"/>
                  <a:ea typeface="黑体" panose="02010609060101010101" pitchFamily="49" charset="-122"/>
                </a:rPr>
                <a:t>（取反）</a:t>
              </a:r>
              <a:endParaRPr lang="zh-CN" altLang="en-US" b="0" dirty="0">
                <a:solidFill>
                  <a:schemeClr val="folHlink"/>
                </a:solidFill>
                <a:latin typeface="Times New Roman" panose="02020503050405090304" pitchFamily="18" charset="0"/>
                <a:ea typeface="黑体" panose="02010609060101010101" pitchFamily="49" charset="-122"/>
              </a:endParaRPr>
            </a:p>
          </p:txBody>
        </p:sp>
        <p:sp>
          <p:nvSpPr>
            <p:cNvPr id="134150" name="Line 7"/>
            <p:cNvSpPr/>
            <p:nvPr/>
          </p:nvSpPr>
          <p:spPr>
            <a:xfrm>
              <a:off x="2653" y="1480"/>
              <a:ext cx="147" cy="0"/>
            </a:xfrm>
            <a:prstGeom prst="line">
              <a:avLst/>
            </a:prstGeom>
            <a:ln w="28575" cap="flat" cmpd="sng">
              <a:solidFill>
                <a:schemeClr val="tx2"/>
              </a:solidFill>
              <a:prstDash val="solid"/>
              <a:round/>
              <a:headEnd type="none" w="med" len="med"/>
              <a:tailEnd type="none" w="med" len="med"/>
            </a:ln>
          </p:spPr>
        </p:sp>
      </p:grpSp>
      <p:grpSp>
        <p:nvGrpSpPr>
          <p:cNvPr id="134151" name="Group 8"/>
          <p:cNvGrpSpPr/>
          <p:nvPr/>
        </p:nvGrpSpPr>
        <p:grpSpPr>
          <a:xfrm>
            <a:off x="1939925" y="2776538"/>
            <a:ext cx="3679825" cy="1876425"/>
            <a:chOff x="1222" y="1749"/>
            <a:chExt cx="2318" cy="1182"/>
          </a:xfrm>
        </p:grpSpPr>
        <p:sp>
          <p:nvSpPr>
            <p:cNvPr id="134152" name="Rectangle 9"/>
            <p:cNvSpPr/>
            <p:nvPr/>
          </p:nvSpPr>
          <p:spPr>
            <a:xfrm>
              <a:off x="1222" y="2260"/>
              <a:ext cx="599" cy="250"/>
            </a:xfrm>
            <a:prstGeom prst="rect">
              <a:avLst/>
            </a:prstGeom>
            <a:noFill/>
            <a:ln w="9525">
              <a:noFill/>
            </a:ln>
          </p:spPr>
          <p:txBody>
            <a:bodyPr wrap="none" anchor="t" anchorCtr="0">
              <a:spAutoFit/>
            </a:bodyPr>
            <a:p>
              <a:pPr eaLnBrk="0" hangingPunct="0">
                <a:buClrTx/>
                <a:buFontTx/>
              </a:pPr>
              <a:r>
                <a:rPr lang="zh-CN" altLang="en-US" sz="2000" dirty="0">
                  <a:solidFill>
                    <a:schemeClr val="hlink"/>
                  </a:solidFill>
                  <a:latin typeface="Arial" panose="020B0604020202090204" pitchFamily="34" charset="0"/>
                  <a:ea typeface="楷体_GB2312" pitchFamily="49" charset="-122"/>
                </a:rPr>
                <a:t>取反码</a:t>
              </a:r>
              <a:endParaRPr lang="zh-CN" altLang="en-US" sz="2000" dirty="0">
                <a:solidFill>
                  <a:schemeClr val="hlink"/>
                </a:solidFill>
                <a:latin typeface="Arial" panose="020B0604020202090204" pitchFamily="34" charset="0"/>
                <a:ea typeface="楷体_GB2312" pitchFamily="49" charset="-122"/>
              </a:endParaRPr>
            </a:p>
          </p:txBody>
        </p:sp>
        <p:sp>
          <p:nvSpPr>
            <p:cNvPr id="134153" name="Rectangle 10"/>
            <p:cNvSpPr/>
            <p:nvPr/>
          </p:nvSpPr>
          <p:spPr>
            <a:xfrm>
              <a:off x="1272" y="1899"/>
              <a:ext cx="551" cy="250"/>
            </a:xfrm>
            <a:prstGeom prst="rect">
              <a:avLst/>
            </a:prstGeom>
            <a:noFill/>
            <a:ln w="9525">
              <a:noFill/>
            </a:ln>
          </p:spPr>
          <p:txBody>
            <a:bodyPr wrap="none" anchor="t" anchorCtr="0">
              <a:spAutoFit/>
            </a:bodyPr>
            <a:p>
              <a:pPr marL="179705" lvl="1" indent="0" eaLnBrk="0" hangingPunct="0">
                <a:buClrTx/>
                <a:buFontTx/>
              </a:pPr>
              <a:r>
                <a:rPr lang="zh-CN" altLang="en-US" sz="2000" dirty="0">
                  <a:solidFill>
                    <a:schemeClr val="hlink"/>
                  </a:solidFill>
                  <a:latin typeface="Arial" panose="020B0604020202090204" pitchFamily="34" charset="0"/>
                  <a:ea typeface="楷体_GB2312" pitchFamily="49" charset="-122"/>
                </a:rPr>
                <a:t>单元</a:t>
              </a:r>
              <a:endParaRPr lang="zh-CN" altLang="en-US" sz="2000" dirty="0">
                <a:solidFill>
                  <a:schemeClr val="hlink"/>
                </a:solidFill>
                <a:latin typeface="Arial" panose="020B0604020202090204" pitchFamily="34" charset="0"/>
                <a:ea typeface="楷体_GB2312" pitchFamily="49" charset="-122"/>
              </a:endParaRPr>
            </a:p>
          </p:txBody>
        </p:sp>
        <p:grpSp>
          <p:nvGrpSpPr>
            <p:cNvPr id="134154" name="Group 11"/>
            <p:cNvGrpSpPr/>
            <p:nvPr/>
          </p:nvGrpSpPr>
          <p:grpSpPr>
            <a:xfrm>
              <a:off x="1474" y="1749"/>
              <a:ext cx="2066" cy="1182"/>
              <a:chOff x="1776" y="2712"/>
              <a:chExt cx="2066" cy="1182"/>
            </a:xfrm>
          </p:grpSpPr>
          <p:grpSp>
            <p:nvGrpSpPr>
              <p:cNvPr id="134155" name="Group 12"/>
              <p:cNvGrpSpPr/>
              <p:nvPr/>
            </p:nvGrpSpPr>
            <p:grpSpPr>
              <a:xfrm>
                <a:off x="1776" y="2712"/>
                <a:ext cx="2066" cy="1182"/>
                <a:chOff x="1776" y="2712"/>
                <a:chExt cx="2066" cy="1182"/>
              </a:xfrm>
            </p:grpSpPr>
            <p:sp>
              <p:nvSpPr>
                <p:cNvPr id="134156" name="Rectangle 13"/>
                <p:cNvSpPr/>
                <p:nvPr/>
              </p:nvSpPr>
              <p:spPr>
                <a:xfrm>
                  <a:off x="2086" y="2904"/>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4157" name="Rectangle 14"/>
                <p:cNvSpPr/>
                <p:nvPr/>
              </p:nvSpPr>
              <p:spPr>
                <a:xfrm>
                  <a:off x="2269" y="2904"/>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4158" name="Rectangle 15"/>
                <p:cNvSpPr/>
                <p:nvPr/>
              </p:nvSpPr>
              <p:spPr>
                <a:xfrm>
                  <a:off x="2452" y="2904"/>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4159" name="Rectangle 16"/>
                <p:cNvSpPr/>
                <p:nvPr/>
              </p:nvSpPr>
              <p:spPr>
                <a:xfrm>
                  <a:off x="2635" y="2904"/>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4160" name="Rectangle 17"/>
                <p:cNvSpPr/>
                <p:nvPr/>
              </p:nvSpPr>
              <p:spPr>
                <a:xfrm>
                  <a:off x="2818" y="2904"/>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4161" name="Rectangle 18"/>
                <p:cNvSpPr/>
                <p:nvPr/>
              </p:nvSpPr>
              <p:spPr>
                <a:xfrm>
                  <a:off x="3001" y="2904"/>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4162" name="Rectangle 19"/>
                <p:cNvSpPr/>
                <p:nvPr/>
              </p:nvSpPr>
              <p:spPr>
                <a:xfrm>
                  <a:off x="3184" y="2904"/>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4163" name="Rectangle 20"/>
                <p:cNvSpPr/>
                <p:nvPr/>
              </p:nvSpPr>
              <p:spPr>
                <a:xfrm>
                  <a:off x="3367" y="2904"/>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4164" name="Text Box 21"/>
                <p:cNvSpPr txBox="1"/>
                <p:nvPr/>
              </p:nvSpPr>
              <p:spPr>
                <a:xfrm>
                  <a:off x="3347" y="2712"/>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D0</a:t>
                  </a:r>
                  <a:endParaRPr lang="en-US" altLang="zh-CN" sz="1400" b="0" dirty="0">
                    <a:latin typeface="Times New Roman" panose="02020503050405090304" pitchFamily="18" charset="0"/>
                    <a:ea typeface="宋体" pitchFamily="2" charset="-122"/>
                  </a:endParaRPr>
                </a:p>
              </p:txBody>
            </p:sp>
            <p:sp>
              <p:nvSpPr>
                <p:cNvPr id="134165" name="Text Box 22"/>
                <p:cNvSpPr txBox="1"/>
                <p:nvPr/>
              </p:nvSpPr>
              <p:spPr>
                <a:xfrm>
                  <a:off x="3163" y="2712"/>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D1</a:t>
                  </a:r>
                  <a:endParaRPr lang="en-US" altLang="zh-CN" sz="1400" b="0" dirty="0">
                    <a:latin typeface="Times New Roman" panose="02020503050405090304" pitchFamily="18" charset="0"/>
                    <a:ea typeface="宋体" pitchFamily="2" charset="-122"/>
                  </a:endParaRPr>
                </a:p>
              </p:txBody>
            </p:sp>
            <p:sp>
              <p:nvSpPr>
                <p:cNvPr id="134166" name="Text Box 23"/>
                <p:cNvSpPr txBox="1"/>
                <p:nvPr/>
              </p:nvSpPr>
              <p:spPr>
                <a:xfrm>
                  <a:off x="2971" y="2712"/>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D2</a:t>
                  </a:r>
                  <a:endParaRPr lang="en-US" altLang="zh-CN" sz="1400" b="0" dirty="0">
                    <a:latin typeface="Times New Roman" panose="02020503050405090304" pitchFamily="18" charset="0"/>
                    <a:ea typeface="宋体" pitchFamily="2" charset="-122"/>
                  </a:endParaRPr>
                </a:p>
              </p:txBody>
            </p:sp>
            <p:sp>
              <p:nvSpPr>
                <p:cNvPr id="134167" name="Text Box 24"/>
                <p:cNvSpPr txBox="1"/>
                <p:nvPr/>
              </p:nvSpPr>
              <p:spPr>
                <a:xfrm>
                  <a:off x="2787" y="2712"/>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D3</a:t>
                  </a:r>
                  <a:endParaRPr lang="en-US" altLang="zh-CN" sz="1400" b="0" dirty="0">
                    <a:latin typeface="Times New Roman" panose="02020503050405090304" pitchFamily="18" charset="0"/>
                    <a:ea typeface="宋体" pitchFamily="2" charset="-122"/>
                  </a:endParaRPr>
                </a:p>
              </p:txBody>
            </p:sp>
            <p:sp>
              <p:nvSpPr>
                <p:cNvPr id="134168" name="Text Box 25"/>
                <p:cNvSpPr txBox="1"/>
                <p:nvPr/>
              </p:nvSpPr>
              <p:spPr>
                <a:xfrm>
                  <a:off x="2611" y="2712"/>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D4</a:t>
                  </a:r>
                  <a:endParaRPr lang="en-US" altLang="zh-CN" sz="1400" b="0" dirty="0">
                    <a:latin typeface="Times New Roman" panose="02020503050405090304" pitchFamily="18" charset="0"/>
                    <a:ea typeface="宋体" pitchFamily="2" charset="-122"/>
                  </a:endParaRPr>
                </a:p>
              </p:txBody>
            </p:sp>
            <p:sp>
              <p:nvSpPr>
                <p:cNvPr id="134169" name="Text Box 26"/>
                <p:cNvSpPr txBox="1"/>
                <p:nvPr/>
              </p:nvSpPr>
              <p:spPr>
                <a:xfrm>
                  <a:off x="2427" y="2712"/>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D5</a:t>
                  </a:r>
                  <a:endParaRPr lang="en-US" altLang="zh-CN" sz="1400" b="0" dirty="0">
                    <a:latin typeface="Times New Roman" panose="02020503050405090304" pitchFamily="18" charset="0"/>
                    <a:ea typeface="宋体" pitchFamily="2" charset="-122"/>
                  </a:endParaRPr>
                </a:p>
              </p:txBody>
            </p:sp>
            <p:sp>
              <p:nvSpPr>
                <p:cNvPr id="134170" name="Text Box 27"/>
                <p:cNvSpPr txBox="1"/>
                <p:nvPr/>
              </p:nvSpPr>
              <p:spPr>
                <a:xfrm>
                  <a:off x="2235" y="2712"/>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D6</a:t>
                  </a:r>
                  <a:endParaRPr lang="en-US" altLang="zh-CN" sz="1400" b="0" dirty="0">
                    <a:latin typeface="Times New Roman" panose="02020503050405090304" pitchFamily="18" charset="0"/>
                    <a:ea typeface="宋体" pitchFamily="2" charset="-122"/>
                  </a:endParaRPr>
                </a:p>
              </p:txBody>
            </p:sp>
            <p:sp>
              <p:nvSpPr>
                <p:cNvPr id="134171" name="Text Box 28"/>
                <p:cNvSpPr txBox="1"/>
                <p:nvPr/>
              </p:nvSpPr>
              <p:spPr>
                <a:xfrm>
                  <a:off x="2051" y="2712"/>
                  <a:ext cx="253" cy="192"/>
                </a:xfrm>
                <a:prstGeom prst="rect">
                  <a:avLst/>
                </a:prstGeom>
                <a:noFill/>
                <a:ln w="9525">
                  <a:noFill/>
                </a:ln>
              </p:spPr>
              <p:txBody>
                <a:bodyPr wrap="none" anchor="t" anchorCtr="0">
                  <a:spAutoFit/>
                </a:bodyPr>
                <a:p>
                  <a:pPr algn="ctr">
                    <a:buClrTx/>
                    <a:buFontTx/>
                  </a:pPr>
                  <a:r>
                    <a:rPr lang="en-US" altLang="zh-CN" sz="1400" b="0" dirty="0">
                      <a:latin typeface="Times New Roman" panose="02020503050405090304" pitchFamily="18" charset="0"/>
                      <a:ea typeface="宋体" pitchFamily="2" charset="-122"/>
                    </a:rPr>
                    <a:t>D7</a:t>
                  </a:r>
                  <a:endParaRPr lang="en-US" altLang="zh-CN" sz="1400" b="0" dirty="0">
                    <a:latin typeface="Times New Roman" panose="02020503050405090304" pitchFamily="18" charset="0"/>
                    <a:ea typeface="宋体" pitchFamily="2" charset="-122"/>
                  </a:endParaRPr>
                </a:p>
              </p:txBody>
            </p:sp>
            <p:sp>
              <p:nvSpPr>
                <p:cNvPr id="134172" name="Rectangle 29"/>
                <p:cNvSpPr/>
                <p:nvPr/>
              </p:nvSpPr>
              <p:spPr>
                <a:xfrm>
                  <a:off x="2096" y="323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0</a:t>
                  </a:r>
                  <a:endParaRPr lang="en-US" altLang="zh-CN" sz="2000" b="0" dirty="0">
                    <a:latin typeface="Times New Roman" panose="02020503050405090304" pitchFamily="18" charset="0"/>
                    <a:ea typeface="宋体" pitchFamily="2" charset="-122"/>
                  </a:endParaRPr>
                </a:p>
              </p:txBody>
            </p:sp>
            <p:sp>
              <p:nvSpPr>
                <p:cNvPr id="134173" name="Rectangle 30"/>
                <p:cNvSpPr/>
                <p:nvPr/>
              </p:nvSpPr>
              <p:spPr>
                <a:xfrm>
                  <a:off x="2279" y="323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1</a:t>
                  </a:r>
                  <a:endParaRPr lang="en-US" altLang="zh-CN" sz="2000" b="0" dirty="0">
                    <a:latin typeface="Times New Roman" panose="02020503050405090304" pitchFamily="18" charset="0"/>
                    <a:ea typeface="宋体" pitchFamily="2" charset="-122"/>
                  </a:endParaRPr>
                </a:p>
              </p:txBody>
            </p:sp>
            <p:sp>
              <p:nvSpPr>
                <p:cNvPr id="134174" name="Rectangle 31"/>
                <p:cNvSpPr/>
                <p:nvPr/>
              </p:nvSpPr>
              <p:spPr>
                <a:xfrm>
                  <a:off x="2462" y="323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1</a:t>
                  </a:r>
                  <a:endParaRPr lang="en-US" altLang="zh-CN" sz="2000" b="0" dirty="0">
                    <a:latin typeface="Times New Roman" panose="02020503050405090304" pitchFamily="18" charset="0"/>
                    <a:ea typeface="宋体" pitchFamily="2" charset="-122"/>
                  </a:endParaRPr>
                </a:p>
              </p:txBody>
            </p:sp>
            <p:sp>
              <p:nvSpPr>
                <p:cNvPr id="134175" name="Rectangle 32"/>
                <p:cNvSpPr/>
                <p:nvPr/>
              </p:nvSpPr>
              <p:spPr>
                <a:xfrm>
                  <a:off x="2645" y="323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1</a:t>
                  </a:r>
                  <a:endParaRPr lang="en-US" altLang="zh-CN" sz="2000" b="0" dirty="0">
                    <a:latin typeface="Times New Roman" panose="02020503050405090304" pitchFamily="18" charset="0"/>
                    <a:ea typeface="宋体" pitchFamily="2" charset="-122"/>
                  </a:endParaRPr>
                </a:p>
              </p:txBody>
            </p:sp>
            <p:sp>
              <p:nvSpPr>
                <p:cNvPr id="134176" name="Rectangle 33"/>
                <p:cNvSpPr/>
                <p:nvPr/>
              </p:nvSpPr>
              <p:spPr>
                <a:xfrm>
                  <a:off x="2828" y="323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0</a:t>
                  </a:r>
                  <a:endParaRPr lang="en-US" altLang="zh-CN" sz="2000" b="0" dirty="0">
                    <a:latin typeface="Times New Roman" panose="02020503050405090304" pitchFamily="18" charset="0"/>
                    <a:ea typeface="宋体" pitchFamily="2" charset="-122"/>
                  </a:endParaRPr>
                </a:p>
              </p:txBody>
            </p:sp>
            <p:sp>
              <p:nvSpPr>
                <p:cNvPr id="134177" name="Rectangle 34"/>
                <p:cNvSpPr/>
                <p:nvPr/>
              </p:nvSpPr>
              <p:spPr>
                <a:xfrm>
                  <a:off x="3011" y="323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0</a:t>
                  </a:r>
                  <a:endParaRPr lang="en-US" altLang="zh-CN" sz="2000" b="0" dirty="0">
                    <a:latin typeface="Times New Roman" panose="02020503050405090304" pitchFamily="18" charset="0"/>
                    <a:ea typeface="宋体" pitchFamily="2" charset="-122"/>
                  </a:endParaRPr>
                </a:p>
              </p:txBody>
            </p:sp>
            <p:sp>
              <p:nvSpPr>
                <p:cNvPr id="134178" name="Rectangle 35"/>
                <p:cNvSpPr/>
                <p:nvPr/>
              </p:nvSpPr>
              <p:spPr>
                <a:xfrm>
                  <a:off x="3194" y="323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1</a:t>
                  </a:r>
                  <a:endParaRPr lang="en-US" altLang="zh-CN" sz="2000" b="0" dirty="0">
                    <a:latin typeface="Times New Roman" panose="02020503050405090304" pitchFamily="18" charset="0"/>
                    <a:ea typeface="宋体" pitchFamily="2" charset="-122"/>
                  </a:endParaRPr>
                </a:p>
              </p:txBody>
            </p:sp>
            <p:sp>
              <p:nvSpPr>
                <p:cNvPr id="134179" name="Rectangle 36"/>
                <p:cNvSpPr/>
                <p:nvPr/>
              </p:nvSpPr>
              <p:spPr>
                <a:xfrm>
                  <a:off x="3377" y="323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0</a:t>
                  </a:r>
                  <a:endParaRPr lang="en-US" altLang="zh-CN" sz="2000" b="0" dirty="0">
                    <a:latin typeface="Times New Roman" panose="02020503050405090304" pitchFamily="18" charset="0"/>
                    <a:ea typeface="宋体" pitchFamily="2" charset="-122"/>
                  </a:endParaRPr>
                </a:p>
              </p:txBody>
            </p:sp>
            <p:sp>
              <p:nvSpPr>
                <p:cNvPr id="134180" name="Line 37"/>
                <p:cNvSpPr/>
                <p:nvPr/>
              </p:nvSpPr>
              <p:spPr>
                <a:xfrm>
                  <a:off x="1776" y="3566"/>
                  <a:ext cx="2066" cy="0"/>
                </a:xfrm>
                <a:prstGeom prst="line">
                  <a:avLst/>
                </a:prstGeom>
                <a:ln w="9525" cap="flat" cmpd="sng">
                  <a:solidFill>
                    <a:schemeClr val="tx1"/>
                  </a:solidFill>
                  <a:prstDash val="solid"/>
                  <a:round/>
                  <a:headEnd type="none" w="med" len="med"/>
                  <a:tailEnd type="none" w="med" len="med"/>
                </a:ln>
              </p:spPr>
            </p:sp>
            <p:sp>
              <p:nvSpPr>
                <p:cNvPr id="134181" name="Rectangle 38"/>
                <p:cNvSpPr/>
                <p:nvPr/>
              </p:nvSpPr>
              <p:spPr>
                <a:xfrm>
                  <a:off x="2096" y="362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4182" name="Rectangle 39"/>
                <p:cNvSpPr/>
                <p:nvPr/>
              </p:nvSpPr>
              <p:spPr>
                <a:xfrm>
                  <a:off x="2279" y="362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4183" name="Rectangle 40"/>
                <p:cNvSpPr/>
                <p:nvPr/>
              </p:nvSpPr>
              <p:spPr>
                <a:xfrm>
                  <a:off x="2462" y="362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4184" name="Rectangle 41"/>
                <p:cNvSpPr/>
                <p:nvPr/>
              </p:nvSpPr>
              <p:spPr>
                <a:xfrm>
                  <a:off x="2645" y="362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4185" name="Rectangle 42"/>
                <p:cNvSpPr/>
                <p:nvPr/>
              </p:nvSpPr>
              <p:spPr>
                <a:xfrm>
                  <a:off x="2828" y="362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4186" name="Rectangle 43"/>
                <p:cNvSpPr/>
                <p:nvPr/>
              </p:nvSpPr>
              <p:spPr>
                <a:xfrm>
                  <a:off x="3011" y="362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4187" name="Rectangle 44"/>
                <p:cNvSpPr/>
                <p:nvPr/>
              </p:nvSpPr>
              <p:spPr>
                <a:xfrm>
                  <a:off x="3194" y="362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sp>
              <p:nvSpPr>
                <p:cNvPr id="134188" name="Rectangle 45"/>
                <p:cNvSpPr/>
                <p:nvPr/>
              </p:nvSpPr>
              <p:spPr>
                <a:xfrm>
                  <a:off x="3377" y="3629"/>
                  <a:ext cx="184" cy="265"/>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b="0" dirty="0">
                      <a:latin typeface="Times New Roman" panose="02020503050405090304" pitchFamily="18" charset="0"/>
                      <a:ea typeface="宋体" pitchFamily="2" charset="-122"/>
                    </a:rPr>
                    <a:t>x</a:t>
                  </a:r>
                  <a:endParaRPr lang="en-US" altLang="zh-CN" sz="2000" b="0" dirty="0">
                    <a:latin typeface="Times New Roman" panose="02020503050405090304" pitchFamily="18" charset="0"/>
                    <a:ea typeface="宋体" pitchFamily="2" charset="-122"/>
                  </a:endParaRPr>
                </a:p>
              </p:txBody>
            </p:sp>
          </p:grpSp>
          <p:sp>
            <p:nvSpPr>
              <p:cNvPr id="134189" name="Line 46"/>
              <p:cNvSpPr/>
              <p:nvPr/>
            </p:nvSpPr>
            <p:spPr>
              <a:xfrm>
                <a:off x="3264" y="3696"/>
                <a:ext cx="96" cy="0"/>
              </a:xfrm>
              <a:prstGeom prst="line">
                <a:avLst/>
              </a:prstGeom>
              <a:ln w="9525" cap="flat" cmpd="sng">
                <a:solidFill>
                  <a:schemeClr val="tx1"/>
                </a:solidFill>
                <a:prstDash val="solid"/>
                <a:round/>
                <a:headEnd type="none" w="med" len="med"/>
                <a:tailEnd type="none" w="med" len="med"/>
              </a:ln>
            </p:spPr>
          </p:sp>
          <p:sp>
            <p:nvSpPr>
              <p:cNvPr id="134190" name="Line 47"/>
              <p:cNvSpPr/>
              <p:nvPr/>
            </p:nvSpPr>
            <p:spPr>
              <a:xfrm>
                <a:off x="2497" y="3701"/>
                <a:ext cx="96" cy="0"/>
              </a:xfrm>
              <a:prstGeom prst="line">
                <a:avLst/>
              </a:prstGeom>
              <a:ln w="9525" cap="flat" cmpd="sng">
                <a:solidFill>
                  <a:schemeClr val="tx1"/>
                </a:solidFill>
                <a:prstDash val="solid"/>
                <a:round/>
                <a:headEnd type="none" w="med" len="med"/>
                <a:tailEnd type="none" w="med" len="med"/>
              </a:ln>
            </p:spPr>
          </p:sp>
          <p:sp>
            <p:nvSpPr>
              <p:cNvPr id="134191" name="Line 48"/>
              <p:cNvSpPr/>
              <p:nvPr/>
            </p:nvSpPr>
            <p:spPr>
              <a:xfrm>
                <a:off x="2694" y="3696"/>
                <a:ext cx="96" cy="0"/>
              </a:xfrm>
              <a:prstGeom prst="line">
                <a:avLst/>
              </a:prstGeom>
              <a:ln w="9525" cap="flat" cmpd="sng">
                <a:solidFill>
                  <a:schemeClr val="tx1"/>
                </a:solidFill>
                <a:prstDash val="solid"/>
                <a:round/>
                <a:headEnd type="none" w="med" len="med"/>
                <a:tailEnd type="none" w="med" len="med"/>
              </a:ln>
            </p:spPr>
          </p:sp>
          <p:sp>
            <p:nvSpPr>
              <p:cNvPr id="134192" name="Line 49"/>
              <p:cNvSpPr/>
              <p:nvPr/>
            </p:nvSpPr>
            <p:spPr>
              <a:xfrm>
                <a:off x="2314" y="3701"/>
                <a:ext cx="96" cy="0"/>
              </a:xfrm>
              <a:prstGeom prst="line">
                <a:avLst/>
              </a:prstGeom>
              <a:ln w="9525" cap="flat" cmpd="sng">
                <a:solidFill>
                  <a:schemeClr val="tx1"/>
                </a:solidFill>
                <a:prstDash val="solid"/>
                <a:round/>
                <a:headEnd type="none" w="med" len="med"/>
                <a:tailEnd type="none" w="med" len="med"/>
              </a:ln>
            </p:spPr>
          </p:sp>
        </p:grpSp>
      </p:grpSp>
      <p:sp>
        <p:nvSpPr>
          <p:cNvPr id="134193" name="Rectangle 50"/>
          <p:cNvSpPr/>
          <p:nvPr/>
        </p:nvSpPr>
        <p:spPr>
          <a:xfrm>
            <a:off x="6156325" y="2708275"/>
            <a:ext cx="2649538" cy="822325"/>
          </a:xfrm>
          <a:prstGeom prst="rect">
            <a:avLst/>
          </a:prstGeom>
          <a:solidFill>
            <a:srgbClr val="FF00FF"/>
          </a:solidFill>
          <a:ln w="9525">
            <a:noFill/>
          </a:ln>
        </p:spPr>
        <p:txBody>
          <a:bodyPr wrap="none" lIns="360000" rIns="180000" anchor="t" anchorCtr="0">
            <a:spAutoFit/>
          </a:bodyPr>
          <a:p>
            <a:pPr indent="-342900" defTabSz="425450" eaLnBrk="0" hangingPunct="0"/>
            <a:r>
              <a:rPr lang="zh-CN" altLang="en-US" dirty="0">
                <a:latin typeface="黑体" panose="02010609060101010101" pitchFamily="49" charset="-122"/>
                <a:ea typeface="黑体" panose="02010609060101010101" pitchFamily="49" charset="-122"/>
              </a:rPr>
              <a:t>异或法则：</a:t>
            </a:r>
            <a:endParaRPr lang="zh-CN" altLang="en-US" dirty="0">
              <a:latin typeface="黑体" panose="02010609060101010101" pitchFamily="49" charset="-122"/>
              <a:ea typeface="黑体" panose="02010609060101010101" pitchFamily="49" charset="-122"/>
            </a:endParaRPr>
          </a:p>
          <a:p>
            <a:pPr indent="-342900" defTabSz="425450" eaLnBrk="0" hangingPunct="0"/>
            <a:r>
              <a:rPr lang="zh-CN" altLang="en-US" dirty="0">
                <a:latin typeface="黑体" panose="02010609060101010101" pitchFamily="49" charset="-122"/>
                <a:ea typeface="黑体" panose="02010609060101010101" pitchFamily="49" charset="-122"/>
              </a:rPr>
              <a:t>相同为</a:t>
            </a:r>
            <a:r>
              <a:rPr lang="en-US" altLang="zh-CN" dirty="0">
                <a:latin typeface="黑体" panose="02010609060101010101" pitchFamily="49" charset="-122"/>
                <a:ea typeface="黑体" panose="02010609060101010101" pitchFamily="49" charset="-122"/>
              </a:rPr>
              <a:t>0</a:t>
            </a:r>
            <a:r>
              <a:rPr lang="zh-CN" altLang="en-US" dirty="0">
                <a:latin typeface="黑体" panose="02010609060101010101" pitchFamily="49" charset="-122"/>
                <a:ea typeface="黑体" panose="02010609060101010101" pitchFamily="49" charset="-122"/>
              </a:rPr>
              <a:t>，不同为</a:t>
            </a:r>
            <a:r>
              <a:rPr lang="en-US" altLang="zh-CN" dirty="0">
                <a:latin typeface="黑体" panose="02010609060101010101" pitchFamily="49" charset="-122"/>
                <a:ea typeface="黑体" panose="02010609060101010101" pitchFamily="49" charset="-122"/>
              </a:rPr>
              <a:t>1</a:t>
            </a:r>
            <a:endParaRPr lang="zh-CN" altLang="en-US"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9924">
                                            <p:txEl>
                                              <p:charRg st="0" end="69"/>
                                            </p:txEl>
                                          </p:spTgt>
                                        </p:tgtEl>
                                        <p:attrNameLst>
                                          <p:attrName>style.visibility</p:attrName>
                                        </p:attrNameLst>
                                      </p:cBhvr>
                                      <p:to>
                                        <p:strVal val="visible"/>
                                      </p:to>
                                    </p:set>
                                    <p:animEffect transition="in" filter="blinds(horizontal)">
                                      <p:cBhvr>
                                        <p:cTn id="7" dur="500"/>
                                        <p:tgtEl>
                                          <p:spTgt spid="209924">
                                            <p:txEl>
                                              <p:charRg st="0" end="69"/>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9924">
                                            <p:txEl>
                                              <p:charRg st="69" end="98"/>
                                            </p:txEl>
                                          </p:spTgt>
                                        </p:tgtEl>
                                        <p:attrNameLst>
                                          <p:attrName>style.visibility</p:attrName>
                                        </p:attrNameLst>
                                      </p:cBhvr>
                                      <p:to>
                                        <p:strVal val="visible"/>
                                      </p:to>
                                    </p:set>
                                    <p:animEffect transition="in" filter="blinds(horizontal)">
                                      <p:cBhvr>
                                        <p:cTn id="12" dur="500"/>
                                        <p:tgtEl>
                                          <p:spTgt spid="209924">
                                            <p:txEl>
                                              <p:charRg st="69" end="9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4" grpId="0" uiExpand="1"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135170" name="Rectangle 2"/>
          <p:cNvSpPr/>
          <p:nvPr/>
        </p:nvSpPr>
        <p:spPr>
          <a:xfrm>
            <a:off x="525463" y="823913"/>
            <a:ext cx="8451850" cy="5519737"/>
          </a:xfrm>
          <a:prstGeom prst="rect">
            <a:avLst/>
          </a:prstGeom>
          <a:noFill/>
          <a:ln w="9525">
            <a:noFill/>
          </a:ln>
        </p:spPr>
        <p:txBody>
          <a:bodyPr wrap="square" anchor="ctr" anchorCtr="0">
            <a:spAutoFit/>
          </a:bodyPr>
          <a:p>
            <a:pPr eaLnBrk="0" hangingPunct="0">
              <a:lnSpc>
                <a:spcPct val="220000"/>
              </a:lnSpc>
              <a:buClrTx/>
              <a:buFontTx/>
            </a:pPr>
            <a:r>
              <a:rPr lang="en-US" altLang="zh-CN" dirty="0">
                <a:latin typeface="Times New Roman" panose="02020503050405090304" pitchFamily="18" charset="0"/>
                <a:ea typeface="仿宋_GB2312" pitchFamily="49" charset="-122"/>
              </a:rPr>
              <a:t>【</a:t>
            </a:r>
            <a:r>
              <a:rPr lang="zh-CN" altLang="en-US" dirty="0">
                <a:latin typeface="Times New Roman" panose="02020503050405090304" pitchFamily="18" charset="0"/>
                <a:ea typeface="仿宋_GB2312" pitchFamily="49" charset="-122"/>
              </a:rPr>
              <a:t>例</a:t>
            </a:r>
            <a:r>
              <a:rPr lang="en-US" altLang="zh-CN" dirty="0">
                <a:latin typeface="Times New Roman" panose="02020503050405090304" pitchFamily="18" charset="0"/>
                <a:ea typeface="仿宋_GB2312" pitchFamily="49" charset="-122"/>
              </a:rPr>
              <a:t>】</a:t>
            </a:r>
            <a:r>
              <a:rPr lang="en-US" altLang="zh-CN" dirty="0">
                <a:solidFill>
                  <a:schemeClr val="accent2"/>
                </a:solidFill>
                <a:latin typeface="Times New Roman" panose="02020503050405090304" pitchFamily="18" charset="0"/>
                <a:ea typeface="仿宋_GB2312" pitchFamily="49" charset="-122"/>
              </a:rPr>
              <a:t>A=01××××××B</a:t>
            </a:r>
            <a:r>
              <a:rPr lang="zh-CN" altLang="en-US" dirty="0">
                <a:solidFill>
                  <a:schemeClr val="accent2"/>
                </a:solidFill>
                <a:latin typeface="Times New Roman" panose="02020503050405090304" pitchFamily="18" charset="0"/>
                <a:ea typeface="仿宋_GB2312" pitchFamily="49" charset="-122"/>
              </a:rPr>
              <a:t>，</a:t>
            </a:r>
            <a:r>
              <a:rPr lang="en-US" altLang="zh-CN" dirty="0">
                <a:solidFill>
                  <a:schemeClr val="accent2"/>
                </a:solidFill>
                <a:latin typeface="Times New Roman" panose="02020503050405090304" pitchFamily="18" charset="0"/>
                <a:ea typeface="仿宋_GB2312" pitchFamily="49" charset="-122"/>
              </a:rPr>
              <a:t>×</a:t>
            </a:r>
            <a:r>
              <a:rPr lang="zh-CN" altLang="en-US" dirty="0">
                <a:solidFill>
                  <a:schemeClr val="accent2"/>
                </a:solidFill>
                <a:latin typeface="Times New Roman" panose="02020503050405090304" pitchFamily="18" charset="0"/>
                <a:ea typeface="仿宋_GB2312" pitchFamily="49" charset="-122"/>
              </a:rPr>
              <a:t>表示随机状态，为</a:t>
            </a:r>
            <a:r>
              <a:rPr lang="en-US" altLang="zh-CN" dirty="0">
                <a:solidFill>
                  <a:schemeClr val="accent2"/>
                </a:solidFill>
                <a:latin typeface="Times New Roman" panose="02020503050405090304" pitchFamily="18" charset="0"/>
                <a:ea typeface="仿宋_GB2312" pitchFamily="49" charset="-122"/>
              </a:rPr>
              <a:t>1</a:t>
            </a:r>
            <a:r>
              <a:rPr lang="zh-CN" altLang="en-US" dirty="0">
                <a:solidFill>
                  <a:schemeClr val="accent2"/>
                </a:solidFill>
                <a:latin typeface="Times New Roman" panose="02020503050405090304" pitchFamily="18" charset="0"/>
                <a:ea typeface="仿宋_GB2312" pitchFamily="49" charset="-122"/>
              </a:rPr>
              <a:t>或</a:t>
            </a:r>
            <a:r>
              <a:rPr lang="en-US" altLang="zh-CN" dirty="0">
                <a:solidFill>
                  <a:schemeClr val="accent2"/>
                </a:solidFill>
                <a:latin typeface="Times New Roman" panose="02020503050405090304" pitchFamily="18" charset="0"/>
                <a:ea typeface="仿宋_GB2312" pitchFamily="49" charset="-122"/>
              </a:rPr>
              <a:t>0</a:t>
            </a:r>
            <a:r>
              <a:rPr lang="zh-CN" altLang="en-US" dirty="0">
                <a:solidFill>
                  <a:schemeClr val="accent2"/>
                </a:solidFill>
                <a:latin typeface="Times New Roman" panose="02020503050405090304" pitchFamily="18" charset="0"/>
                <a:ea typeface="仿宋_GB2312" pitchFamily="49" charset="-122"/>
              </a:rPr>
              <a:t>，执行下述一组指令执行后</a:t>
            </a:r>
            <a:r>
              <a:rPr lang="en-US" altLang="zh-CN" dirty="0">
                <a:solidFill>
                  <a:schemeClr val="accent2"/>
                </a:solidFill>
                <a:latin typeface="Times New Roman" panose="02020503050405090304" pitchFamily="18" charset="0"/>
                <a:ea typeface="仿宋_GB2312" pitchFamily="49" charset="-122"/>
              </a:rPr>
              <a:t>A</a:t>
            </a:r>
            <a:r>
              <a:rPr lang="zh-CN" altLang="en-US" dirty="0">
                <a:solidFill>
                  <a:schemeClr val="accent2"/>
                </a:solidFill>
                <a:latin typeface="Times New Roman" panose="02020503050405090304" pitchFamily="18" charset="0"/>
                <a:ea typeface="仿宋_GB2312" pitchFamily="49" charset="-122"/>
              </a:rPr>
              <a:t>的值如何</a:t>
            </a:r>
            <a:r>
              <a:rPr lang="en-US" altLang="zh-CN" dirty="0">
                <a:solidFill>
                  <a:schemeClr val="accent2"/>
                </a:solidFill>
                <a:latin typeface="Times New Roman" panose="02020503050405090304" pitchFamily="18" charset="0"/>
                <a:ea typeface="仿宋_GB2312" pitchFamily="49" charset="-122"/>
              </a:rPr>
              <a:t>? </a:t>
            </a:r>
            <a:br>
              <a:rPr lang="en-US" altLang="zh-CN" dirty="0">
                <a:solidFill>
                  <a:schemeClr val="accent2"/>
                </a:solidFill>
                <a:latin typeface="Times New Roman" panose="02020503050405090304" pitchFamily="18" charset="0"/>
                <a:ea typeface="仿宋_GB2312" pitchFamily="49" charset="-122"/>
              </a:rPr>
            </a:br>
            <a:r>
              <a:rPr lang="en-US" altLang="zh-CN" dirty="0">
                <a:latin typeface="Times New Roman" panose="02020503050405090304" pitchFamily="18" charset="0"/>
                <a:ea typeface="仿宋_GB2312" pitchFamily="49" charset="-122"/>
                <a:sym typeface="楷体_GB2312" pitchFamily="49" charset="-122"/>
              </a:rPr>
              <a:t>XRL A</a:t>
            </a:r>
            <a:r>
              <a:rPr lang="zh-CN" altLang="en-US" dirty="0">
                <a:latin typeface="Times New Roman" panose="02020503050405090304" pitchFamily="18" charset="0"/>
                <a:ea typeface="仿宋_GB2312" pitchFamily="49" charset="-122"/>
                <a:sym typeface="楷体_GB2312" pitchFamily="49" charset="-122"/>
              </a:rPr>
              <a:t>，</a:t>
            </a:r>
            <a:r>
              <a:rPr lang="en-US" altLang="zh-CN" dirty="0">
                <a:latin typeface="Times New Roman" panose="02020503050405090304" pitchFamily="18" charset="0"/>
                <a:ea typeface="仿宋_GB2312" pitchFamily="49" charset="-122"/>
                <a:sym typeface="楷体_GB2312" pitchFamily="49" charset="-122"/>
              </a:rPr>
              <a:t>#0C0H</a:t>
            </a:r>
            <a:r>
              <a:rPr lang="zh-CN" altLang="en-US" dirty="0">
                <a:latin typeface="Times New Roman" panose="02020503050405090304" pitchFamily="18" charset="0"/>
                <a:ea typeface="仿宋_GB2312" pitchFamily="49" charset="-122"/>
                <a:sym typeface="楷体_GB2312" pitchFamily="49" charset="-122"/>
              </a:rPr>
              <a:t>；</a:t>
            </a:r>
            <a:endParaRPr lang="zh-CN" altLang="en-US" sz="2000" dirty="0">
              <a:latin typeface="Times New Roman" panose="02020503050405090304" pitchFamily="18" charset="0"/>
              <a:ea typeface="仿宋_GB2312" pitchFamily="49" charset="-122"/>
              <a:sym typeface="楷体_GB2312" pitchFamily="49" charset="-122"/>
            </a:endParaRPr>
          </a:p>
          <a:p>
            <a:pPr eaLnBrk="0" hangingPunct="0">
              <a:lnSpc>
                <a:spcPct val="220000"/>
              </a:lnSpc>
              <a:buClrTx/>
              <a:buFontTx/>
            </a:pPr>
            <a:r>
              <a:rPr lang="en-US" altLang="zh-CN" dirty="0">
                <a:latin typeface="Times New Roman" panose="02020503050405090304" pitchFamily="18" charset="0"/>
                <a:ea typeface="仿宋_GB2312" pitchFamily="49" charset="-122"/>
                <a:sym typeface="楷体_GB2312" pitchFamily="49" charset="-122"/>
              </a:rPr>
              <a:t>ORL A</a:t>
            </a:r>
            <a:r>
              <a:rPr lang="zh-CN" altLang="en-US" dirty="0">
                <a:latin typeface="Times New Roman" panose="02020503050405090304" pitchFamily="18" charset="0"/>
                <a:ea typeface="仿宋_GB2312" pitchFamily="49" charset="-122"/>
                <a:sym typeface="楷体_GB2312" pitchFamily="49" charset="-122"/>
              </a:rPr>
              <a:t>，</a:t>
            </a:r>
            <a:r>
              <a:rPr lang="en-US" altLang="zh-CN" dirty="0">
                <a:latin typeface="Times New Roman" panose="02020503050405090304" pitchFamily="18" charset="0"/>
                <a:ea typeface="仿宋_GB2312" pitchFamily="49" charset="-122"/>
                <a:sym typeface="楷体_GB2312" pitchFamily="49" charset="-122"/>
              </a:rPr>
              <a:t>#03H </a:t>
            </a:r>
            <a:r>
              <a:rPr lang="zh-CN" altLang="en-US" dirty="0">
                <a:latin typeface="Times New Roman" panose="02020503050405090304" pitchFamily="18" charset="0"/>
                <a:ea typeface="仿宋_GB2312" pitchFamily="49" charset="-122"/>
                <a:sym typeface="楷体_GB2312" pitchFamily="49" charset="-122"/>
              </a:rPr>
              <a:t>；</a:t>
            </a:r>
            <a:endParaRPr lang="en-US" altLang="zh-CN" dirty="0">
              <a:latin typeface="Times New Roman" panose="02020503050405090304" pitchFamily="18" charset="0"/>
              <a:ea typeface="仿宋_GB2312" pitchFamily="49" charset="-122"/>
            </a:endParaRPr>
          </a:p>
          <a:p>
            <a:pPr eaLnBrk="0" hangingPunct="0">
              <a:lnSpc>
                <a:spcPct val="220000"/>
              </a:lnSpc>
              <a:buClrTx/>
              <a:buFontTx/>
            </a:pPr>
            <a:r>
              <a:rPr lang="en-US" altLang="zh-CN" dirty="0">
                <a:latin typeface="Times New Roman" panose="02020503050405090304" pitchFamily="18" charset="0"/>
                <a:ea typeface="仿宋_GB2312" pitchFamily="49" charset="-122"/>
              </a:rPr>
              <a:t>ANL A</a:t>
            </a:r>
            <a:r>
              <a:rPr lang="zh-CN" altLang="en-US"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#0E7H</a:t>
            </a:r>
            <a:r>
              <a:rPr lang="zh-CN" altLang="en-US" dirty="0">
                <a:latin typeface="Times New Roman" panose="02020503050405090304" pitchFamily="18" charset="0"/>
                <a:ea typeface="仿宋_GB2312" pitchFamily="49" charset="-122"/>
              </a:rPr>
              <a:t>；</a:t>
            </a:r>
            <a:br>
              <a:rPr lang="en-US" altLang="zh-CN" dirty="0">
                <a:latin typeface="Times New Roman" panose="02020503050405090304" pitchFamily="18" charset="0"/>
                <a:ea typeface="仿宋_GB2312" pitchFamily="49" charset="-122"/>
              </a:rPr>
            </a:br>
            <a:r>
              <a:rPr lang="en-US" altLang="zh-CN" dirty="0">
                <a:latin typeface="Times New Roman" panose="02020503050405090304" pitchFamily="18" charset="0"/>
                <a:ea typeface="仿宋_GB2312" pitchFamily="49" charset="-122"/>
              </a:rPr>
              <a:t>  		</a:t>
            </a:r>
            <a:endParaRPr lang="zh-CN" altLang="en-US" dirty="0">
              <a:latin typeface="Times New Roman" panose="02020503050405090304" pitchFamily="18" charset="0"/>
              <a:ea typeface="仿宋_GB2312" pitchFamily="49" charset="-122"/>
            </a:endParaRPr>
          </a:p>
          <a:p>
            <a:pPr eaLnBrk="0" hangingPunct="0">
              <a:lnSpc>
                <a:spcPct val="150000"/>
              </a:lnSpc>
              <a:buClrTx/>
              <a:buFontTx/>
            </a:pPr>
            <a:endParaRPr lang="zh-CN" altLang="en-US" dirty="0">
              <a:latin typeface="Times New Roman" panose="02020503050405090304" pitchFamily="18" charset="0"/>
              <a:ea typeface="仿宋_GB2312" pitchFamily="49" charset="-122"/>
            </a:endParaRPr>
          </a:p>
        </p:txBody>
      </p:sp>
      <p:sp>
        <p:nvSpPr>
          <p:cNvPr id="103426" name="矩形 891910"/>
          <p:cNvSpPr/>
          <p:nvPr/>
        </p:nvSpPr>
        <p:spPr>
          <a:xfrm>
            <a:off x="452438" y="5389563"/>
            <a:ext cx="5564187" cy="460375"/>
          </a:xfrm>
          <a:prstGeom prst="rect">
            <a:avLst/>
          </a:prstGeom>
          <a:noFill/>
          <a:ln w="9525">
            <a:noFill/>
          </a:ln>
        </p:spPr>
        <p:txBody>
          <a:bodyPr wrap="square" anchor="t" anchorCtr="0">
            <a:spAutoFit/>
          </a:bodyPr>
          <a:p>
            <a:r>
              <a:rPr lang="zh-CN" altLang="en-US" sz="2000" dirty="0">
                <a:latin typeface="Times New Roman" panose="02020503050405090304" pitchFamily="18" charset="0"/>
                <a:ea typeface="仿宋_GB2312" pitchFamily="49" charset="-122"/>
              </a:rPr>
              <a:t> </a:t>
            </a:r>
            <a:r>
              <a:rPr lang="zh-CN" altLang="en-US" dirty="0">
                <a:latin typeface="Times New Roman" panose="02020503050405090304" pitchFamily="18" charset="0"/>
                <a:ea typeface="仿宋_GB2312" pitchFamily="49" charset="-122"/>
              </a:rPr>
              <a:t>解 ：执行指令后，（A）=10×00×11B</a:t>
            </a:r>
            <a:endParaRPr lang="zh-CN" altLang="en-US" dirty="0">
              <a:solidFill>
                <a:schemeClr val="accent2"/>
              </a:solidFill>
              <a:latin typeface="Times New Roman" panose="02020503050405090304" pitchFamily="18" charset="0"/>
              <a:ea typeface="仿宋_GB2312" pitchFamily="49" charset="-122"/>
            </a:endParaRPr>
          </a:p>
        </p:txBody>
      </p:sp>
      <p:sp>
        <p:nvSpPr>
          <p:cNvPr id="2" name="文本框 1"/>
          <p:cNvSpPr txBox="1"/>
          <p:nvPr/>
        </p:nvSpPr>
        <p:spPr>
          <a:xfrm>
            <a:off x="2930525" y="2700338"/>
            <a:ext cx="3284538" cy="552450"/>
          </a:xfrm>
          <a:prstGeom prst="rect">
            <a:avLst/>
          </a:prstGeom>
          <a:noFill/>
          <a:ln w="9525">
            <a:noFill/>
          </a:ln>
        </p:spPr>
        <p:txBody>
          <a:bodyPr wrap="none" anchor="t" anchorCtr="0">
            <a:spAutoFit/>
          </a:bodyPr>
          <a:p>
            <a:pPr eaLnBrk="0" hangingPunct="0">
              <a:lnSpc>
                <a:spcPct val="150000"/>
              </a:lnSpc>
              <a:buClrTx/>
              <a:buFontTx/>
            </a:pPr>
            <a:r>
              <a:rPr lang="zh-CN" altLang="en-US" sz="2000" dirty="0">
                <a:solidFill>
                  <a:srgbClr val="33CC33"/>
                </a:solidFill>
                <a:latin typeface="Times New Roman" panose="02020503050405090304" pitchFamily="18" charset="0"/>
                <a:ea typeface="仿宋_GB2312" pitchFamily="49" charset="-122"/>
                <a:sym typeface="楷体_GB2312" pitchFamily="49" charset="-122"/>
              </a:rPr>
              <a:t>累加器A的内容D7、D6取反</a:t>
            </a:r>
            <a:r>
              <a:rPr lang="zh-CN" altLang="en-US" sz="2000" dirty="0">
                <a:latin typeface="Times New Roman" panose="02020503050405090304" pitchFamily="18" charset="0"/>
                <a:ea typeface="仿宋_GB2312" pitchFamily="49" charset="-122"/>
                <a:sym typeface="楷体_GB2312" pitchFamily="49" charset="-122"/>
              </a:rPr>
              <a:t>   </a:t>
            </a:r>
            <a:endParaRPr lang="zh-CN" altLang="en-US" sz="2000">
              <a:latin typeface="Times New Roman" panose="02020503050405090304" pitchFamily="18" charset="0"/>
              <a:ea typeface="仿宋_GB2312" pitchFamily="49" charset="-122"/>
            </a:endParaRPr>
          </a:p>
        </p:txBody>
      </p:sp>
      <p:sp>
        <p:nvSpPr>
          <p:cNvPr id="3" name="文本框 2"/>
          <p:cNvSpPr txBox="1"/>
          <p:nvPr/>
        </p:nvSpPr>
        <p:spPr>
          <a:xfrm>
            <a:off x="2860675" y="3575050"/>
            <a:ext cx="3155950" cy="554038"/>
          </a:xfrm>
          <a:prstGeom prst="rect">
            <a:avLst/>
          </a:prstGeom>
          <a:noFill/>
          <a:ln w="9525">
            <a:noFill/>
          </a:ln>
        </p:spPr>
        <p:txBody>
          <a:bodyPr wrap="none" anchor="t" anchorCtr="0">
            <a:spAutoFit/>
          </a:bodyPr>
          <a:p>
            <a:pPr eaLnBrk="0" hangingPunct="0">
              <a:lnSpc>
                <a:spcPct val="150000"/>
              </a:lnSpc>
              <a:buClrTx/>
              <a:buFontTx/>
            </a:pPr>
            <a:r>
              <a:rPr lang="zh-CN" altLang="en-US" sz="2000" dirty="0">
                <a:solidFill>
                  <a:srgbClr val="9933FF"/>
                </a:solidFill>
                <a:latin typeface="Times New Roman" panose="02020503050405090304" pitchFamily="18" charset="0"/>
                <a:ea typeface="仿宋_GB2312" pitchFamily="49" charset="-122"/>
                <a:sym typeface="楷体_GB2312" pitchFamily="49" charset="-122"/>
              </a:rPr>
              <a:t>累加器A的内容D1、D0置1</a:t>
            </a:r>
            <a:r>
              <a:rPr lang="en-US" altLang="zh-CN" sz="2000" dirty="0">
                <a:latin typeface="Times New Roman" panose="02020503050405090304" pitchFamily="18" charset="0"/>
                <a:ea typeface="仿宋_GB2312" pitchFamily="49" charset="-122"/>
                <a:sym typeface="楷体_GB2312" pitchFamily="49" charset="-122"/>
              </a:rPr>
              <a:t>     </a:t>
            </a:r>
            <a:r>
              <a:rPr lang="zh-CN" altLang="en-US" sz="2000" dirty="0">
                <a:latin typeface="Times New Roman" panose="02020503050405090304" pitchFamily="18" charset="0"/>
                <a:ea typeface="仿宋_GB2312" pitchFamily="49" charset="-122"/>
                <a:sym typeface="楷体_GB2312" pitchFamily="49" charset="-122"/>
              </a:rPr>
              <a:t> </a:t>
            </a:r>
            <a:endParaRPr lang="zh-CN" altLang="en-US" sz="2000">
              <a:latin typeface="Times New Roman" panose="02020503050405090304" pitchFamily="18" charset="0"/>
              <a:ea typeface="仿宋_GB2312" pitchFamily="49" charset="-122"/>
            </a:endParaRPr>
          </a:p>
        </p:txBody>
      </p:sp>
      <p:sp>
        <p:nvSpPr>
          <p:cNvPr id="4" name="文本框 3"/>
          <p:cNvSpPr txBox="1"/>
          <p:nvPr/>
        </p:nvSpPr>
        <p:spPr>
          <a:xfrm>
            <a:off x="2860675" y="4468813"/>
            <a:ext cx="3155950" cy="554037"/>
          </a:xfrm>
          <a:prstGeom prst="rect">
            <a:avLst/>
          </a:prstGeom>
          <a:noFill/>
          <a:ln w="9525">
            <a:noFill/>
          </a:ln>
        </p:spPr>
        <p:txBody>
          <a:bodyPr wrap="none" anchor="t" anchorCtr="0">
            <a:spAutoFit/>
          </a:bodyPr>
          <a:p>
            <a:pPr eaLnBrk="0" hangingPunct="0">
              <a:lnSpc>
                <a:spcPct val="150000"/>
              </a:lnSpc>
              <a:buClrTx/>
              <a:buFontTx/>
            </a:pPr>
            <a:r>
              <a:rPr lang="zh-CN" altLang="en-US" sz="2000" dirty="0">
                <a:solidFill>
                  <a:srgbClr val="3366FF"/>
                </a:solidFill>
                <a:latin typeface="Times New Roman" panose="02020503050405090304" pitchFamily="18" charset="0"/>
                <a:ea typeface="仿宋_GB2312" pitchFamily="49" charset="-122"/>
                <a:sym typeface="楷体_GB2312" pitchFamily="49" charset="-122"/>
              </a:rPr>
              <a:t>累加器A的内容D4、D3清0  </a:t>
            </a:r>
            <a:r>
              <a:rPr lang="en-US" altLang="zh-CN" sz="2000" dirty="0">
                <a:latin typeface="Times New Roman" panose="02020503050405090304" pitchFamily="18" charset="0"/>
                <a:ea typeface="仿宋_GB2312" pitchFamily="49" charset="-122"/>
                <a:sym typeface="楷体_GB2312" pitchFamily="49" charset="-122"/>
              </a:rPr>
              <a:t> </a:t>
            </a:r>
            <a:endParaRPr lang="zh-CN" altLang="en-US" sz="2000">
              <a:latin typeface="Times New Roman" panose="02020503050405090304" pitchFamily="18" charset="0"/>
              <a:ea typeface="仿宋_GB2312" pitchFamily="49" charset="-122"/>
            </a:endParaRPr>
          </a:p>
        </p:txBody>
      </p:sp>
      <p:sp>
        <p:nvSpPr>
          <p:cNvPr id="5" name="文本框 4"/>
          <p:cNvSpPr txBox="1"/>
          <p:nvPr/>
        </p:nvSpPr>
        <p:spPr>
          <a:xfrm>
            <a:off x="6373813" y="2190750"/>
            <a:ext cx="2032000" cy="3322638"/>
          </a:xfrm>
          <a:prstGeom prst="rect">
            <a:avLst/>
          </a:prstGeom>
          <a:noFill/>
          <a:ln w="9525">
            <a:noFill/>
          </a:ln>
        </p:spPr>
        <p:txBody>
          <a:bodyPr wrap="none" anchor="t" anchorCtr="0">
            <a:spAutoFit/>
          </a:bodyPr>
          <a:p>
            <a:pPr eaLnBrk="0" hangingPunct="0">
              <a:lnSpc>
                <a:spcPct val="150000"/>
              </a:lnSpc>
              <a:buClrTx/>
              <a:buFontTx/>
            </a:pPr>
            <a:r>
              <a:rPr lang="zh-CN" altLang="en-US" sz="2000" dirty="0">
                <a:solidFill>
                  <a:srgbClr val="33CC33"/>
                </a:solidFill>
                <a:latin typeface="Times New Roman" panose="02020503050405090304" pitchFamily="18" charset="0"/>
                <a:ea typeface="仿宋_GB2312" pitchFamily="49" charset="-122"/>
              </a:rPr>
              <a:t>0 1××××××</a:t>
            </a:r>
            <a:r>
              <a:rPr lang="zh-CN" altLang="en-US" sz="2000" dirty="0">
                <a:latin typeface="Times New Roman" panose="02020503050405090304" pitchFamily="18" charset="0"/>
                <a:ea typeface="仿宋_GB2312" pitchFamily="49" charset="-122"/>
              </a:rPr>
              <a:t> </a:t>
            </a:r>
            <a:br>
              <a:rPr lang="zh-CN" altLang="en-US" sz="2000" dirty="0">
                <a:latin typeface="Times New Roman" panose="02020503050405090304" pitchFamily="18" charset="0"/>
                <a:ea typeface="仿宋_GB2312" pitchFamily="49" charset="-122"/>
              </a:rPr>
            </a:br>
            <a:r>
              <a:rPr lang="zh-CN" altLang="en-US" sz="2000" dirty="0">
                <a:solidFill>
                  <a:srgbClr val="33CC33"/>
                </a:solidFill>
                <a:latin typeface="Times New Roman" panose="02020503050405090304" pitchFamily="18" charset="0"/>
                <a:ea typeface="仿宋_GB2312" pitchFamily="49" charset="-122"/>
              </a:rPr>
              <a:t>1 1 0  0  0  0  0  0</a:t>
            </a:r>
            <a:r>
              <a:rPr lang="zh-CN" altLang="en-US" sz="2000" dirty="0">
                <a:latin typeface="Times New Roman" panose="02020503050405090304" pitchFamily="18" charset="0"/>
                <a:ea typeface="仿宋_GB2312" pitchFamily="49" charset="-122"/>
              </a:rPr>
              <a:t>  </a:t>
            </a:r>
            <a:br>
              <a:rPr lang="zh-CN" altLang="en-US" sz="2000" dirty="0">
                <a:latin typeface="Times New Roman" panose="02020503050405090304" pitchFamily="18" charset="0"/>
                <a:ea typeface="仿宋_GB2312" pitchFamily="49" charset="-122"/>
              </a:rPr>
            </a:br>
            <a:r>
              <a:rPr lang="zh-CN" altLang="en-US" sz="2000" dirty="0">
                <a:solidFill>
                  <a:srgbClr val="33CC33"/>
                </a:solidFill>
                <a:latin typeface="Times New Roman" panose="02020503050405090304" pitchFamily="18" charset="0"/>
                <a:ea typeface="仿宋_GB2312" pitchFamily="49" charset="-122"/>
              </a:rPr>
              <a:t>1 0××××××</a:t>
            </a:r>
            <a:endParaRPr lang="zh-CN" altLang="en-US" sz="2000" dirty="0">
              <a:solidFill>
                <a:srgbClr val="33CC33"/>
              </a:solidFill>
              <a:latin typeface="Times New Roman" panose="02020503050405090304" pitchFamily="18" charset="0"/>
              <a:ea typeface="仿宋_GB2312" pitchFamily="49" charset="-122"/>
            </a:endParaRPr>
          </a:p>
          <a:p>
            <a:pPr eaLnBrk="0" hangingPunct="0">
              <a:lnSpc>
                <a:spcPct val="150000"/>
              </a:lnSpc>
              <a:buClrTx/>
              <a:buFontTx/>
            </a:pPr>
            <a:r>
              <a:rPr lang="zh-CN" altLang="en-US" sz="2000" dirty="0">
                <a:solidFill>
                  <a:srgbClr val="9933FF"/>
                </a:solidFill>
                <a:latin typeface="Times New Roman" panose="02020503050405090304" pitchFamily="18" charset="0"/>
                <a:ea typeface="仿宋_GB2312" pitchFamily="49" charset="-122"/>
              </a:rPr>
              <a:t>0 0 0  0  0  0  1  1</a:t>
            </a:r>
            <a:r>
              <a:rPr lang="zh-CN" altLang="en-US" sz="2000" dirty="0">
                <a:latin typeface="Times New Roman" panose="02020503050405090304" pitchFamily="18" charset="0"/>
                <a:ea typeface="仿宋_GB2312" pitchFamily="49" charset="-122"/>
              </a:rPr>
              <a:t> </a:t>
            </a:r>
            <a:endParaRPr lang="zh-CN" altLang="en-US" sz="2000" dirty="0">
              <a:latin typeface="Times New Roman" panose="02020503050405090304" pitchFamily="18" charset="0"/>
              <a:ea typeface="仿宋_GB2312" pitchFamily="49" charset="-122"/>
            </a:endParaRPr>
          </a:p>
          <a:p>
            <a:pPr eaLnBrk="0" hangingPunct="0">
              <a:lnSpc>
                <a:spcPct val="150000"/>
              </a:lnSpc>
              <a:buClrTx/>
              <a:buFontTx/>
            </a:pPr>
            <a:r>
              <a:rPr lang="zh-CN" altLang="en-US" sz="2000" dirty="0">
                <a:solidFill>
                  <a:srgbClr val="9933FF"/>
                </a:solidFill>
                <a:latin typeface="Times New Roman" panose="02020503050405090304" pitchFamily="18" charset="0"/>
                <a:ea typeface="仿宋_GB2312" pitchFamily="49" charset="-122"/>
              </a:rPr>
              <a:t>1 0 ×××× 1  1</a:t>
            </a:r>
            <a:endParaRPr lang="zh-CN" altLang="en-US" sz="2000" dirty="0">
              <a:solidFill>
                <a:srgbClr val="9933FF"/>
              </a:solidFill>
              <a:latin typeface="Times New Roman" panose="02020503050405090304" pitchFamily="18" charset="0"/>
              <a:ea typeface="仿宋_GB2312" pitchFamily="49" charset="-122"/>
            </a:endParaRPr>
          </a:p>
          <a:p>
            <a:pPr eaLnBrk="0" hangingPunct="0">
              <a:lnSpc>
                <a:spcPct val="150000"/>
              </a:lnSpc>
              <a:buClrTx/>
              <a:buFontTx/>
            </a:pPr>
            <a:r>
              <a:rPr lang="zh-CN" altLang="en-US" sz="2000" dirty="0">
                <a:solidFill>
                  <a:srgbClr val="3366FF"/>
                </a:solidFill>
                <a:latin typeface="Times New Roman" panose="02020503050405090304" pitchFamily="18" charset="0"/>
                <a:ea typeface="仿宋_GB2312" pitchFamily="49" charset="-122"/>
              </a:rPr>
              <a:t>1 1  1  0  0  1  1  1</a:t>
            </a:r>
            <a:endParaRPr lang="zh-CN" altLang="en-US" sz="2000" dirty="0">
              <a:solidFill>
                <a:srgbClr val="3366FF"/>
              </a:solidFill>
              <a:latin typeface="Times New Roman" panose="02020503050405090304" pitchFamily="18" charset="0"/>
              <a:ea typeface="仿宋_GB2312" pitchFamily="49" charset="-122"/>
            </a:endParaRPr>
          </a:p>
          <a:p>
            <a:pPr eaLnBrk="0" hangingPunct="0">
              <a:lnSpc>
                <a:spcPct val="150000"/>
              </a:lnSpc>
              <a:buClrTx/>
              <a:buFontTx/>
            </a:pPr>
            <a:r>
              <a:rPr lang="zh-CN" altLang="en-US" sz="2000" dirty="0">
                <a:solidFill>
                  <a:srgbClr val="3366FF"/>
                </a:solidFill>
                <a:latin typeface="Times New Roman" panose="02020503050405090304" pitchFamily="18" charset="0"/>
                <a:ea typeface="仿宋_GB2312" pitchFamily="49" charset="-122"/>
              </a:rPr>
              <a:t>1 0 × 0  0 × 1  1</a:t>
            </a:r>
            <a:r>
              <a:rPr lang="en-US" altLang="zh-CN" sz="2000" dirty="0">
                <a:latin typeface="Times New Roman" panose="02020503050405090304" pitchFamily="18" charset="0"/>
                <a:ea typeface="仿宋_GB2312" pitchFamily="49" charset="-122"/>
                <a:sym typeface="楷体_GB2312" pitchFamily="49" charset="-122"/>
              </a:rPr>
              <a:t>   </a:t>
            </a:r>
            <a:endParaRPr lang="zh-CN" altLang="en-US" sz="2000">
              <a:latin typeface="Times New Roman" panose="02020503050405090304" pitchFamily="18" charset="0"/>
              <a:ea typeface="仿宋_GB2312" pitchFamily="49" charset="-122"/>
            </a:endParaRPr>
          </a:p>
        </p:txBody>
      </p:sp>
      <p:sp>
        <p:nvSpPr>
          <p:cNvPr id="6" name="矩形 5"/>
          <p:cNvSpPr/>
          <p:nvPr/>
        </p:nvSpPr>
        <p:spPr>
          <a:xfrm>
            <a:off x="452755" y="5949315"/>
            <a:ext cx="1305560" cy="768350"/>
          </a:xfrm>
          <a:prstGeom prst="rect">
            <a:avLst/>
          </a:prstGeom>
          <a:noFill/>
          <a:ln>
            <a:noFill/>
          </a:ln>
        </p:spPr>
        <p:txBody>
          <a:bodyPr wrap="none" rtlCol="0" anchor="t">
            <a:spAutoFit/>
          </a:bodyPr>
          <a:p>
            <a:pPr algn="ctr"/>
            <a:r>
              <a:rPr lang="zh-CN" altLang="en-US" sz="4400">
                <a:solidFill>
                  <a:schemeClr val="accent1"/>
                </a:solidFill>
                <a:effectLst>
                  <a:outerShdw blurRad="38100" dist="25400" dir="5400000" algn="ctr" rotWithShape="0">
                    <a:srgbClr val="6E747A">
                      <a:alpha val="43000"/>
                      <a:alpha val="43000"/>
                    </a:srgbClr>
                  </a:outerShdw>
                </a:effectLst>
                <a:hlinkClick r:id="rId1" action="ppaction://hlinkfile"/>
              </a:rPr>
              <a:t>示例</a:t>
            </a:r>
            <a:endParaRPr lang="zh-CN" altLang="en-US" sz="4400">
              <a:solidFill>
                <a:schemeClr val="accent1"/>
              </a:solidFill>
              <a:effectLst>
                <a:outerShdw blurRad="38100" dist="25400" dir="5400000" algn="ctr" rotWithShape="0">
                  <a:srgbClr val="6E747A">
                    <a:alpha val="43000"/>
                    <a:alpha val="43000"/>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charRg st="0" end="44"/>
                                            </p:txEl>
                                          </p:spTgt>
                                        </p:tgtEl>
                                        <p:attrNameLst>
                                          <p:attrName>style.visibility</p:attrName>
                                        </p:attrNameLst>
                                      </p:cBhvr>
                                      <p:to>
                                        <p:strVal val="visible"/>
                                      </p:to>
                                    </p:set>
                                    <p:anim calcmode="lin" valueType="num">
                                      <p:cBhvr additive="base">
                                        <p:cTn id="7" dur="500" fill="hold"/>
                                        <p:tgtEl>
                                          <p:spTgt spid="5">
                                            <p:txEl>
                                              <p:charRg st="0" end="4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charRg st="0" end="4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charRg st="0" end="18"/>
                                            </p:txEl>
                                          </p:spTgt>
                                        </p:tgtEl>
                                        <p:attrNameLst>
                                          <p:attrName>style.visibility</p:attrName>
                                        </p:attrNameLst>
                                      </p:cBhvr>
                                      <p:to>
                                        <p:strVal val="visible"/>
                                      </p:to>
                                    </p:set>
                                    <p:anim calcmode="lin" valueType="num">
                                      <p:cBhvr additive="base">
                                        <p:cTn id="13" dur="500" fill="hold"/>
                                        <p:tgtEl>
                                          <p:spTgt spid="2">
                                            <p:txEl>
                                              <p:charRg st="0" end="18"/>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charRg st="0" end="18"/>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charRg st="44" end="66"/>
                                            </p:txEl>
                                          </p:spTgt>
                                        </p:tgtEl>
                                        <p:attrNameLst>
                                          <p:attrName>style.visibility</p:attrName>
                                        </p:attrNameLst>
                                      </p:cBhvr>
                                      <p:to>
                                        <p:strVal val="visible"/>
                                      </p:to>
                                    </p:set>
                                    <p:anim calcmode="lin" valueType="num">
                                      <p:cBhvr additive="base">
                                        <p:cTn id="19" dur="500" fill="hold"/>
                                        <p:tgtEl>
                                          <p:spTgt spid="5">
                                            <p:txEl>
                                              <p:charRg st="44" end="6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charRg st="44" end="6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
                                            <p:txEl>
                                              <p:charRg st="66" end="80"/>
                                            </p:txEl>
                                          </p:spTgt>
                                        </p:tgtEl>
                                        <p:attrNameLst>
                                          <p:attrName>style.visibility</p:attrName>
                                        </p:attrNameLst>
                                      </p:cBhvr>
                                      <p:to>
                                        <p:strVal val="visible"/>
                                      </p:to>
                                    </p:set>
                                    <p:anim calcmode="lin" valueType="num">
                                      <p:cBhvr additive="base">
                                        <p:cTn id="23" dur="500" fill="hold"/>
                                        <p:tgtEl>
                                          <p:spTgt spid="5">
                                            <p:txEl>
                                              <p:charRg st="66" end="8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charRg st="66" end="80"/>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charRg st="0" end="21"/>
                                            </p:txEl>
                                          </p:spTgt>
                                        </p:tgtEl>
                                        <p:attrNameLst>
                                          <p:attrName>style.visibility</p:attrName>
                                        </p:attrNameLst>
                                      </p:cBhvr>
                                      <p:to>
                                        <p:strVal val="visible"/>
                                      </p:to>
                                    </p:set>
                                    <p:anim calcmode="lin" valueType="num">
                                      <p:cBhvr additive="base">
                                        <p:cTn id="29" dur="500" fill="hold"/>
                                        <p:tgtEl>
                                          <p:spTgt spid="3">
                                            <p:txEl>
                                              <p:charRg st="0" end="21"/>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charRg st="0" end="21"/>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5">
                                            <p:txEl>
                                              <p:charRg st="80" end="102"/>
                                            </p:txEl>
                                          </p:spTgt>
                                        </p:tgtEl>
                                        <p:attrNameLst>
                                          <p:attrName>style.visibility</p:attrName>
                                        </p:attrNameLst>
                                      </p:cBhvr>
                                      <p:to>
                                        <p:strVal val="visible"/>
                                      </p:to>
                                    </p:set>
                                    <p:anim calcmode="lin" valueType="num">
                                      <p:cBhvr additive="base">
                                        <p:cTn id="35" dur="500" fill="hold"/>
                                        <p:tgtEl>
                                          <p:spTgt spid="5">
                                            <p:txEl>
                                              <p:charRg st="80" end="10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
                                            <p:txEl>
                                              <p:charRg st="80" end="102"/>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5">
                                            <p:txEl>
                                              <p:charRg st="102" end="123"/>
                                            </p:txEl>
                                          </p:spTgt>
                                        </p:tgtEl>
                                        <p:attrNameLst>
                                          <p:attrName>style.visibility</p:attrName>
                                        </p:attrNameLst>
                                      </p:cBhvr>
                                      <p:to>
                                        <p:strVal val="visible"/>
                                      </p:to>
                                    </p:set>
                                    <p:anim calcmode="lin" valueType="num">
                                      <p:cBhvr additive="base">
                                        <p:cTn id="39" dur="500" fill="hold"/>
                                        <p:tgtEl>
                                          <p:spTgt spid="5">
                                            <p:txEl>
                                              <p:charRg st="102" end="123"/>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5">
                                            <p:txEl>
                                              <p:charRg st="102" end="123"/>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4">
                                            <p:txEl>
                                              <p:charRg st="0" end="18"/>
                                            </p:txEl>
                                          </p:spTgt>
                                        </p:tgtEl>
                                        <p:attrNameLst>
                                          <p:attrName>style.visibility</p:attrName>
                                        </p:attrNameLst>
                                      </p:cBhvr>
                                      <p:to>
                                        <p:strVal val="visible"/>
                                      </p:to>
                                    </p:set>
                                    <p:anim calcmode="lin" valueType="num">
                                      <p:cBhvr additive="base">
                                        <p:cTn id="45" dur="500" fill="hold"/>
                                        <p:tgtEl>
                                          <p:spTgt spid="4">
                                            <p:txEl>
                                              <p:charRg st="0" end="1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
                                            <p:txEl>
                                              <p:charRg st="0" end="18"/>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03426"/>
                                        </p:tgtEl>
                                        <p:attrNameLst>
                                          <p:attrName>style.visibility</p:attrName>
                                        </p:attrNameLst>
                                      </p:cBhvr>
                                      <p:to>
                                        <p:strVal val="visible"/>
                                      </p:to>
                                    </p:set>
                                    <p:anim calcmode="lin" valueType="num">
                                      <p:cBhvr additive="base">
                                        <p:cTn id="51" dur="500" fill="hold"/>
                                        <p:tgtEl>
                                          <p:spTgt spid="103426"/>
                                        </p:tgtEl>
                                        <p:attrNameLst>
                                          <p:attrName>ppt_x</p:attrName>
                                        </p:attrNameLst>
                                      </p:cBhvr>
                                      <p:tavLst>
                                        <p:tav tm="0">
                                          <p:val>
                                            <p:strVal val="#ppt_x"/>
                                          </p:val>
                                        </p:tav>
                                        <p:tav tm="100000">
                                          <p:val>
                                            <p:strVal val="#ppt_x"/>
                                          </p:val>
                                        </p:tav>
                                      </p:tavLst>
                                    </p:anim>
                                    <p:anim calcmode="lin" valueType="num">
                                      <p:cBhvr additive="base">
                                        <p:cTn id="52" dur="500" fill="hold"/>
                                        <p:tgtEl>
                                          <p:spTgt spid="1034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6"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921602" name="文本占位符 921601"/>
          <p:cNvSpPr>
            <a:spLocks noGrp="1"/>
          </p:cNvSpPr>
          <p:nvPr>
            <p:ph type="body" idx="4294967295"/>
          </p:nvPr>
        </p:nvSpPr>
        <p:spPr>
          <a:xfrm>
            <a:off x="377825" y="903288"/>
            <a:ext cx="7905750" cy="5600700"/>
          </a:xfrm>
        </p:spPr>
        <p:txBody>
          <a:bodyPr anchor="t"/>
          <a:p>
            <a:pPr marL="342900" marR="0" indent="-342900" algn="l" defTabSz="425450" rtl="0" eaLnBrk="0" fontAlgn="base" latinLnBrk="0" hangingPunct="0">
              <a:lnSpc>
                <a:spcPct val="130000"/>
              </a:lnSpc>
              <a:spcBef>
                <a:spcPct val="0"/>
              </a:spcBef>
              <a:spcAft>
                <a:spcPts val="1200"/>
              </a:spcAft>
              <a:buClr>
                <a:schemeClr val="folHlink"/>
              </a:buClr>
              <a:buSzTx/>
              <a:buFont typeface="Wingdings" panose="05000000000000000000" pitchFamily="2" charset="2"/>
              <a:buNone/>
            </a:pPr>
            <a:r>
              <a:rPr kumimoji="1" lang="en-US" altLang="zh-CN" sz="2400" b="1" i="0" u="none" strike="noStrike" kern="0" cap="none" spc="0" normalizeH="0" baseline="0" noProof="1">
                <a:solidFill>
                  <a:srgbClr val="000000"/>
                </a:solidFill>
                <a:latin typeface="+mn-lt"/>
                <a:ea typeface="+mn-ea"/>
                <a:cs typeface="+mn-cs"/>
              </a:rPr>
              <a:t>【</a:t>
            </a:r>
            <a:r>
              <a:rPr kumimoji="1" lang="zh-CN" altLang="en-US" sz="2400" b="1" i="0" u="none" strike="noStrike" kern="0" cap="none" spc="0" normalizeH="0" baseline="0" noProof="1" dirty="0">
                <a:solidFill>
                  <a:srgbClr val="000000"/>
                </a:solidFill>
                <a:latin typeface="+mn-lt"/>
                <a:ea typeface="+mn-ea"/>
                <a:cs typeface="+mn-cs"/>
              </a:rPr>
              <a:t>练习</a:t>
            </a:r>
            <a:r>
              <a:rPr kumimoji="1" lang="en-US" altLang="zh-CN" sz="2400" b="1" i="0" u="none" strike="noStrike" kern="0" cap="none" spc="0" normalizeH="0" baseline="0" noProof="1">
                <a:solidFill>
                  <a:srgbClr val="000000"/>
                </a:solidFill>
                <a:latin typeface="+mn-lt"/>
                <a:ea typeface="+mn-ea"/>
                <a:cs typeface="+mn-cs"/>
              </a:rPr>
              <a:t>】</a:t>
            </a:r>
            <a:endParaRPr kumimoji="1" lang="zh-CN" altLang="en-US" sz="2400" b="1" i="0" u="none" strike="noStrike" kern="0" cap="none" spc="0" normalizeH="0" baseline="0" noProof="1" dirty="0">
              <a:solidFill>
                <a:srgbClr val="000000"/>
              </a:solidFill>
              <a:latin typeface="+mn-lt"/>
              <a:ea typeface="+mn-ea"/>
              <a:cs typeface="+mn-cs"/>
            </a:endParaRPr>
          </a:p>
          <a:p>
            <a:pPr marL="342900" marR="0" indent="-342900" algn="l" defTabSz="425450" rtl="0" eaLnBrk="0" fontAlgn="base" latinLnBrk="0" hangingPunct="0">
              <a:lnSpc>
                <a:spcPct val="120000"/>
              </a:lnSpc>
              <a:spcBef>
                <a:spcPct val="0"/>
              </a:spcBef>
              <a:spcAft>
                <a:spcPct val="0"/>
              </a:spcAft>
              <a:buClr>
                <a:schemeClr val="folHlink"/>
              </a:buClr>
              <a:buSzTx/>
              <a:buFont typeface="Wingdings" panose="05000000000000000000" pitchFamily="2" charset="2"/>
              <a:buChar char="v"/>
            </a:pPr>
            <a:r>
              <a:rPr kumimoji="1" lang="zh-CN" altLang="en-US" sz="2400" b="1" i="0" u="none" strike="noStrike" kern="0" cap="none" spc="0" normalizeH="0" baseline="0" noProof="1" dirty="0">
                <a:solidFill>
                  <a:schemeClr val="tx1"/>
                </a:solidFill>
                <a:latin typeface="Times New Roman" panose="02020503050405090304" pitchFamily="18" charset="0"/>
                <a:ea typeface="+mn-ea"/>
                <a:cs typeface="+mn-cs"/>
                <a:sym typeface="+mn-ea"/>
              </a:rPr>
              <a:t>(</a:t>
            </a:r>
            <a:r>
              <a:rPr kumimoji="1" lang="en-US" altLang="zh-CN" sz="2400" b="1" i="0" u="none" strike="noStrike" kern="0" cap="none" spc="0" normalizeH="0" baseline="0" noProof="1">
                <a:solidFill>
                  <a:schemeClr val="tx1"/>
                </a:solidFill>
                <a:latin typeface="Times New Roman" panose="02020503050405090304" pitchFamily="18" charset="0"/>
                <a:ea typeface="+mn-ea"/>
                <a:cs typeface="+mn-cs"/>
                <a:sym typeface="+mn-ea"/>
              </a:rPr>
              <a:t>A)=0C3H,(R0)=0AAH</a:t>
            </a:r>
            <a:endParaRPr kumimoji="1" lang="en-US" altLang="zh-CN" sz="2400" b="1" i="0" u="none" strike="noStrike" kern="0" cap="none" spc="0" normalizeH="0" baseline="0" noProof="1">
              <a:solidFill>
                <a:schemeClr val="tx1"/>
              </a:solidFill>
              <a:latin typeface="Times New Roman" panose="02020503050405090304" pitchFamily="18" charset="0"/>
              <a:ea typeface="+mn-ea"/>
              <a:cs typeface="+mn-cs"/>
            </a:endParaRPr>
          </a:p>
          <a:p>
            <a:pPr marL="0" marR="0" indent="0" algn="l" defTabSz="425450" rtl="0" eaLnBrk="0" fontAlgn="base" latinLnBrk="0" hangingPunct="0">
              <a:lnSpc>
                <a:spcPct val="120000"/>
              </a:lnSpc>
              <a:spcBef>
                <a:spcPct val="0"/>
              </a:spcBef>
              <a:spcAft>
                <a:spcPct val="0"/>
              </a:spcAft>
              <a:buClr>
                <a:schemeClr val="folHlink"/>
              </a:buClr>
              <a:buSzTx/>
              <a:buFont typeface="Wingdings" panose="05000000000000000000" pitchFamily="2" charset="2"/>
              <a:buNone/>
            </a:pPr>
            <a:r>
              <a:rPr kumimoji="1" lang="zh-CN" altLang="en-US" sz="2400" b="1" i="0" u="none" strike="noStrike" kern="0" cap="none" spc="0" normalizeH="0" baseline="0" noProof="1" dirty="0">
                <a:solidFill>
                  <a:schemeClr val="tx1"/>
                </a:solidFill>
                <a:latin typeface="Times New Roman" panose="02020503050405090304" pitchFamily="18" charset="0"/>
                <a:ea typeface="+mn-ea"/>
                <a:cs typeface="+mn-cs"/>
                <a:sym typeface="+mn-ea"/>
              </a:rPr>
              <a:t>           执行</a:t>
            </a:r>
            <a:r>
              <a:rPr kumimoji="1" lang="en-US" altLang="zh-CN" sz="2400" b="1" i="0" u="none" strike="noStrike" kern="0" cap="none" spc="0" normalizeH="0" baseline="0" noProof="1">
                <a:solidFill>
                  <a:schemeClr val="tx1"/>
                </a:solidFill>
                <a:latin typeface="Times New Roman" panose="02020503050405090304" pitchFamily="18" charset="0"/>
                <a:ea typeface="+mn-ea"/>
                <a:cs typeface="+mn-cs"/>
                <a:sym typeface="+mn-ea"/>
              </a:rPr>
              <a:t>ANL 	A,R0</a:t>
            </a:r>
            <a:endParaRPr kumimoji="1" lang="en-US" altLang="zh-CN" sz="2400" b="1" i="0" u="none" strike="noStrike" kern="0" cap="none" spc="0" normalizeH="0" baseline="0" noProof="1">
              <a:solidFill>
                <a:schemeClr val="tx1"/>
              </a:solidFill>
              <a:latin typeface="Times New Roman" panose="02020503050405090304" pitchFamily="18" charset="0"/>
              <a:ea typeface="+mn-ea"/>
              <a:cs typeface="+mn-cs"/>
            </a:endParaRPr>
          </a:p>
          <a:p>
            <a:pPr marL="342900" marR="0" indent="-342900" algn="l" defTabSz="425450" rtl="0" eaLnBrk="0" fontAlgn="base" latinLnBrk="0" hangingPunct="0">
              <a:lnSpc>
                <a:spcPct val="150000"/>
              </a:lnSpc>
              <a:spcBef>
                <a:spcPct val="0"/>
              </a:spcBef>
              <a:spcAft>
                <a:spcPct val="0"/>
              </a:spcAft>
              <a:buClr>
                <a:schemeClr val="folHlink"/>
              </a:buClr>
              <a:buSzTx/>
              <a:buFont typeface="Wingdings" panose="05000000000000000000" charset="0"/>
              <a:buChar char="Ø"/>
            </a:pPr>
            <a:r>
              <a:rPr kumimoji="1" lang="zh-CN" altLang="en-US" sz="2400" b="1" i="0" u="none" strike="noStrike" kern="0" cap="none" spc="0" normalizeH="0" baseline="0" noProof="1">
                <a:solidFill>
                  <a:schemeClr val="tx1"/>
                </a:solidFill>
                <a:latin typeface="Times New Roman" panose="02020503050405090304" pitchFamily="18" charset="0"/>
                <a:ea typeface="+mn-ea"/>
                <a:cs typeface="+mn-cs"/>
                <a:sym typeface="+mn-ea"/>
              </a:rPr>
              <a:t>  </a:t>
            </a:r>
            <a:r>
              <a:rPr kumimoji="1" lang="zh-CN" altLang="en-US" sz="2400" b="1" i="0" u="none" strike="noStrike" kern="0" cap="none" spc="0" normalizeH="0" baseline="0" noProof="1" dirty="0">
                <a:solidFill>
                  <a:schemeClr val="tx1"/>
                </a:solidFill>
                <a:latin typeface="Times New Roman" panose="02020503050405090304" pitchFamily="18" charset="0"/>
                <a:ea typeface="+mn-ea"/>
                <a:cs typeface="+mn-cs"/>
                <a:sym typeface="+mn-ea"/>
              </a:rPr>
              <a:t>后得</a:t>
            </a:r>
            <a:r>
              <a:rPr kumimoji="1" lang="en-US" altLang="zh-CN" sz="2400" b="1" i="0" u="none" strike="noStrike" kern="0" cap="none" spc="0" normalizeH="0" baseline="0" noProof="1">
                <a:solidFill>
                  <a:schemeClr val="tx1"/>
                </a:solidFill>
                <a:latin typeface="Times New Roman" panose="02020503050405090304" pitchFamily="18" charset="0"/>
                <a:ea typeface="+mn-ea"/>
                <a:cs typeface="+mn-cs"/>
                <a:sym typeface="+mn-ea"/>
              </a:rPr>
              <a:t>A</a:t>
            </a:r>
            <a:r>
              <a:rPr kumimoji="1" lang="zh-CN" altLang="en-US" sz="2400" b="1" i="0" u="none" strike="noStrike" kern="0" cap="none" spc="0" normalizeH="0" baseline="0" noProof="1" dirty="0">
                <a:solidFill>
                  <a:schemeClr val="tx1"/>
                </a:solidFill>
                <a:latin typeface="Times New Roman" panose="02020503050405090304" pitchFamily="18" charset="0"/>
                <a:ea typeface="+mn-ea"/>
                <a:cs typeface="+mn-cs"/>
                <a:sym typeface="+mn-ea"/>
              </a:rPr>
              <a:t>中为82</a:t>
            </a:r>
            <a:r>
              <a:rPr kumimoji="1" lang="en-US" altLang="zh-CN" sz="2400" b="1" i="0" u="none" strike="noStrike" kern="0" cap="none" spc="0" normalizeH="0" baseline="0" noProof="1">
                <a:solidFill>
                  <a:schemeClr val="tx1"/>
                </a:solidFill>
                <a:latin typeface="Times New Roman" panose="02020503050405090304" pitchFamily="18" charset="0"/>
                <a:ea typeface="+mn-ea"/>
                <a:cs typeface="+mn-cs"/>
                <a:sym typeface="+mn-ea"/>
              </a:rPr>
              <a:t>H</a:t>
            </a:r>
            <a:endParaRPr kumimoji="1" lang="en-US" altLang="zh-CN" sz="2400" b="1" i="0" u="none" strike="noStrike" kern="0" cap="none" spc="0" normalizeH="0" baseline="0" noProof="1">
              <a:solidFill>
                <a:schemeClr val="tx1"/>
              </a:solidFill>
              <a:latin typeface="Times New Roman" panose="02020503050405090304" pitchFamily="18" charset="0"/>
              <a:ea typeface="+mn-ea"/>
              <a:cs typeface="+mn-cs"/>
            </a:endParaRPr>
          </a:p>
          <a:p>
            <a:pPr marL="342900" marR="0" indent="-342900" algn="l" defTabSz="425450" rtl="0" eaLnBrk="0" fontAlgn="base" latinLnBrk="0" hangingPunct="0">
              <a:lnSpc>
                <a:spcPct val="150000"/>
              </a:lnSpc>
              <a:spcBef>
                <a:spcPct val="0"/>
              </a:spcBef>
              <a:spcAft>
                <a:spcPct val="0"/>
              </a:spcAft>
              <a:buClr>
                <a:schemeClr val="folHlink"/>
              </a:buClr>
              <a:buSzTx/>
              <a:buFont typeface="Wingdings" panose="05000000000000000000" pitchFamily="2" charset="2"/>
              <a:buChar char="v"/>
            </a:pPr>
            <a:r>
              <a:rPr kumimoji="1" lang="zh-CN" altLang="en-US" sz="2400" b="1" i="0" u="none" strike="noStrike" kern="0" cap="none" spc="0" normalizeH="0" baseline="0" noProof="1" dirty="0">
                <a:solidFill>
                  <a:schemeClr val="tx1"/>
                </a:solidFill>
                <a:latin typeface="Times New Roman" panose="02020503050405090304" pitchFamily="18" charset="0"/>
                <a:ea typeface="+mn-ea"/>
                <a:cs typeface="+mn-cs"/>
                <a:sym typeface="+mn-ea"/>
              </a:rPr>
              <a:t>(</a:t>
            </a:r>
            <a:r>
              <a:rPr kumimoji="1" lang="en-US" altLang="zh-CN" sz="2400" b="1" i="0" u="none" strike="noStrike" kern="0" cap="none" spc="0" normalizeH="0" baseline="0" noProof="1">
                <a:solidFill>
                  <a:schemeClr val="tx1"/>
                </a:solidFill>
                <a:latin typeface="Times New Roman" panose="02020503050405090304" pitchFamily="18" charset="0"/>
                <a:ea typeface="+mn-ea"/>
                <a:cs typeface="+mn-cs"/>
                <a:sym typeface="+mn-ea"/>
              </a:rPr>
              <a:t>A)=0C3H,(R0)=0AAH</a:t>
            </a:r>
            <a:endParaRPr kumimoji="1" lang="en-US" altLang="zh-CN" sz="2400" b="1" i="0" u="none" strike="noStrike" kern="0" cap="none" spc="0" normalizeH="0" baseline="0" noProof="1">
              <a:solidFill>
                <a:schemeClr val="tx1"/>
              </a:solidFill>
              <a:latin typeface="Times New Roman" panose="02020503050405090304" pitchFamily="18" charset="0"/>
              <a:ea typeface="+mn-ea"/>
              <a:cs typeface="+mn-cs"/>
            </a:endParaRPr>
          </a:p>
          <a:p>
            <a:pPr marL="0" marR="0" indent="0" algn="l" defTabSz="425450" rtl="0" eaLnBrk="0" fontAlgn="base" latinLnBrk="0" hangingPunct="0">
              <a:lnSpc>
                <a:spcPct val="120000"/>
              </a:lnSpc>
              <a:spcBef>
                <a:spcPct val="0"/>
              </a:spcBef>
              <a:spcAft>
                <a:spcPct val="0"/>
              </a:spcAft>
              <a:buClr>
                <a:schemeClr val="folHlink"/>
              </a:buClr>
              <a:buSzTx/>
              <a:buFont typeface="Wingdings" panose="05000000000000000000" pitchFamily="2" charset="2"/>
              <a:buNone/>
            </a:pPr>
            <a:r>
              <a:rPr kumimoji="1" lang="zh-CN" altLang="en-US" sz="2400" b="1" i="0" u="none" strike="noStrike" kern="0" cap="none" spc="0" normalizeH="0" baseline="0" noProof="1" dirty="0">
                <a:solidFill>
                  <a:schemeClr val="tx1"/>
                </a:solidFill>
                <a:latin typeface="Times New Roman" panose="02020503050405090304" pitchFamily="18" charset="0"/>
                <a:ea typeface="+mn-ea"/>
                <a:cs typeface="+mn-cs"/>
                <a:sym typeface="+mn-ea"/>
              </a:rPr>
              <a:t> </a:t>
            </a:r>
            <a:r>
              <a:rPr kumimoji="1" lang="zh-CN" altLang="en-US" sz="2400" b="1" i="0" u="none" strike="noStrike" kern="0" cap="none" spc="0" normalizeH="0" baseline="0" noProof="1" dirty="0">
                <a:solidFill>
                  <a:schemeClr val="tx1"/>
                </a:solidFill>
                <a:latin typeface="Times New Roman" panose="02020503050405090304" pitchFamily="18" charset="0"/>
                <a:ea typeface="+mn-ea"/>
                <a:cs typeface="+mn-cs"/>
                <a:sym typeface="+mn-ea"/>
              </a:rPr>
              <a:t>           </a:t>
            </a:r>
            <a:r>
              <a:rPr kumimoji="1" lang="zh-CN" altLang="en-US" sz="2400" b="1" i="0" u="none" strike="noStrike" kern="0" cap="none" spc="0" normalizeH="0" baseline="0" noProof="1" dirty="0">
                <a:solidFill>
                  <a:schemeClr val="tx1"/>
                </a:solidFill>
                <a:latin typeface="Times New Roman" panose="02020503050405090304" pitchFamily="18" charset="0"/>
                <a:ea typeface="+mn-ea"/>
                <a:cs typeface="+mn-cs"/>
                <a:sym typeface="+mn-ea"/>
              </a:rPr>
              <a:t>执行</a:t>
            </a:r>
            <a:r>
              <a:rPr kumimoji="1" lang="en-US" altLang="zh-CN" sz="2400" b="1" i="0" u="none" strike="noStrike" kern="0" cap="none" spc="0" normalizeH="0" baseline="0" noProof="1">
                <a:solidFill>
                  <a:schemeClr val="tx1"/>
                </a:solidFill>
                <a:latin typeface="Times New Roman" panose="02020503050405090304" pitchFamily="18" charset="0"/>
                <a:ea typeface="+mn-ea"/>
                <a:cs typeface="+mn-cs"/>
                <a:sym typeface="+mn-ea"/>
              </a:rPr>
              <a:t>ORL 	A,R0</a:t>
            </a:r>
            <a:endParaRPr kumimoji="1" lang="en-US" altLang="zh-CN" sz="2400" b="1" i="0" u="none" strike="noStrike" kern="0" cap="none" spc="0" normalizeH="0" baseline="0" noProof="1">
              <a:solidFill>
                <a:schemeClr val="tx1"/>
              </a:solidFill>
              <a:latin typeface="Times New Roman" panose="02020503050405090304" pitchFamily="18" charset="0"/>
              <a:ea typeface="+mn-ea"/>
              <a:cs typeface="+mn-cs"/>
            </a:endParaRPr>
          </a:p>
          <a:p>
            <a:pPr marL="342900" marR="0" indent="-342900" algn="l" defTabSz="425450" rtl="0" eaLnBrk="0" fontAlgn="base" latinLnBrk="0" hangingPunct="0">
              <a:lnSpc>
                <a:spcPct val="150000"/>
              </a:lnSpc>
              <a:spcBef>
                <a:spcPct val="0"/>
              </a:spcBef>
              <a:spcAft>
                <a:spcPct val="0"/>
              </a:spcAft>
              <a:buClr>
                <a:schemeClr val="folHlink"/>
              </a:buClr>
              <a:buSzTx/>
              <a:buFont typeface="Wingdings" panose="05000000000000000000" charset="0"/>
              <a:buChar char="Ø"/>
            </a:pPr>
            <a:r>
              <a:rPr kumimoji="1" lang="zh-CN" altLang="en-US" sz="2400" b="1" i="0" u="none" strike="noStrike" kern="0" cap="none" spc="0" normalizeH="0" baseline="0" noProof="1">
                <a:solidFill>
                  <a:schemeClr val="tx1"/>
                </a:solidFill>
                <a:latin typeface="Times New Roman" panose="02020503050405090304" pitchFamily="18" charset="0"/>
                <a:ea typeface="+mn-ea"/>
                <a:cs typeface="+mn-cs"/>
                <a:sym typeface="+mn-ea"/>
              </a:rPr>
              <a:t>  </a:t>
            </a:r>
            <a:r>
              <a:rPr kumimoji="1" lang="zh-CN" altLang="en-US" sz="2400" b="1" i="0" u="none" strike="noStrike" kern="0" cap="none" spc="0" normalizeH="0" baseline="0" noProof="1" dirty="0">
                <a:solidFill>
                  <a:schemeClr val="tx1"/>
                </a:solidFill>
                <a:latin typeface="Times New Roman" panose="02020503050405090304" pitchFamily="18" charset="0"/>
                <a:ea typeface="+mn-ea"/>
                <a:cs typeface="+mn-cs"/>
                <a:sym typeface="+mn-ea"/>
              </a:rPr>
              <a:t>后得</a:t>
            </a:r>
            <a:r>
              <a:rPr kumimoji="1" lang="en-US" altLang="zh-CN" sz="2400" b="1" i="0" u="none" strike="noStrike" kern="0" cap="none" spc="0" normalizeH="0" baseline="0" noProof="1">
                <a:solidFill>
                  <a:schemeClr val="tx1"/>
                </a:solidFill>
                <a:latin typeface="Times New Roman" panose="02020503050405090304" pitchFamily="18" charset="0"/>
                <a:ea typeface="+mn-ea"/>
                <a:cs typeface="+mn-cs"/>
                <a:sym typeface="+mn-ea"/>
              </a:rPr>
              <a:t>A</a:t>
            </a:r>
            <a:r>
              <a:rPr kumimoji="1" lang="zh-CN" altLang="en-US" sz="2400" b="1" i="0" u="none" strike="noStrike" kern="0" cap="none" spc="0" normalizeH="0" baseline="0" noProof="1" dirty="0">
                <a:solidFill>
                  <a:schemeClr val="tx1"/>
                </a:solidFill>
                <a:latin typeface="Times New Roman" panose="02020503050405090304" pitchFamily="18" charset="0"/>
                <a:ea typeface="+mn-ea"/>
                <a:cs typeface="+mn-cs"/>
                <a:sym typeface="+mn-ea"/>
              </a:rPr>
              <a:t>中为0</a:t>
            </a:r>
            <a:r>
              <a:rPr kumimoji="1" lang="en-US" altLang="zh-CN" sz="2400" b="1" i="0" u="none" strike="noStrike" kern="0" cap="none" spc="0" normalizeH="0" baseline="0" noProof="1">
                <a:solidFill>
                  <a:schemeClr val="tx1"/>
                </a:solidFill>
                <a:latin typeface="Times New Roman" panose="02020503050405090304" pitchFamily="18" charset="0"/>
                <a:ea typeface="+mn-ea"/>
                <a:cs typeface="+mn-cs"/>
                <a:sym typeface="+mn-ea"/>
              </a:rPr>
              <a:t>EBH</a:t>
            </a:r>
            <a:endParaRPr kumimoji="1" lang="en-US" altLang="zh-CN" sz="2400" b="1" i="0" u="none" strike="noStrike" kern="0" cap="none" spc="0" normalizeH="0" baseline="0" noProof="1">
              <a:solidFill>
                <a:schemeClr val="tx1"/>
              </a:solidFill>
              <a:latin typeface="Times New Roman" panose="02020503050405090304" pitchFamily="18" charset="0"/>
              <a:ea typeface="+mn-ea"/>
              <a:cs typeface="+mn-cs"/>
            </a:endParaRPr>
          </a:p>
          <a:p>
            <a:pPr marL="342900" marR="0" indent="-342900" algn="l" defTabSz="425450" rtl="0" eaLnBrk="0" fontAlgn="base" latinLnBrk="0" hangingPunct="0">
              <a:lnSpc>
                <a:spcPct val="150000"/>
              </a:lnSpc>
              <a:spcBef>
                <a:spcPct val="0"/>
              </a:spcBef>
              <a:spcAft>
                <a:spcPct val="0"/>
              </a:spcAft>
              <a:buClr>
                <a:schemeClr val="folHlink"/>
              </a:buClr>
              <a:buSzTx/>
              <a:buFont typeface="Wingdings" panose="05000000000000000000" pitchFamily="2" charset="2"/>
              <a:buChar char="v"/>
            </a:pPr>
            <a:r>
              <a:rPr kumimoji="1" lang="zh-CN" altLang="en-US" sz="2400" b="1" i="0" u="none" strike="noStrike" kern="0" cap="none" spc="0" normalizeH="0" baseline="0" noProof="1" dirty="0">
                <a:solidFill>
                  <a:schemeClr val="tx1"/>
                </a:solidFill>
                <a:latin typeface="Times New Roman" panose="02020503050405090304" pitchFamily="18" charset="0"/>
                <a:ea typeface="+mn-ea"/>
                <a:cs typeface="+mn-cs"/>
                <a:sym typeface="+mn-ea"/>
              </a:rPr>
              <a:t>(</a:t>
            </a:r>
            <a:r>
              <a:rPr kumimoji="1" lang="en-US" altLang="zh-CN" sz="2400" b="1" i="0" u="none" strike="noStrike" kern="0" cap="none" spc="0" normalizeH="0" baseline="0" noProof="1">
                <a:solidFill>
                  <a:schemeClr val="tx1"/>
                </a:solidFill>
                <a:latin typeface="Times New Roman" panose="02020503050405090304" pitchFamily="18" charset="0"/>
                <a:ea typeface="+mn-ea"/>
                <a:cs typeface="+mn-cs"/>
                <a:sym typeface="+mn-ea"/>
              </a:rPr>
              <a:t>A)=0C3H,(R0)=0AAH</a:t>
            </a:r>
            <a:endParaRPr kumimoji="1" lang="en-US" altLang="zh-CN" sz="2400" b="1" i="0" u="none" strike="noStrike" kern="0" cap="none" spc="0" normalizeH="0" baseline="0" noProof="1">
              <a:solidFill>
                <a:schemeClr val="tx1"/>
              </a:solidFill>
              <a:latin typeface="Times New Roman" panose="02020503050405090304" pitchFamily="18" charset="0"/>
              <a:ea typeface="+mn-ea"/>
              <a:cs typeface="+mn-cs"/>
            </a:endParaRPr>
          </a:p>
          <a:p>
            <a:pPr marL="0" marR="0" indent="0" algn="l" defTabSz="425450" rtl="0" eaLnBrk="0" fontAlgn="base" latinLnBrk="0" hangingPunct="0">
              <a:lnSpc>
                <a:spcPct val="120000"/>
              </a:lnSpc>
              <a:spcBef>
                <a:spcPct val="0"/>
              </a:spcBef>
              <a:spcAft>
                <a:spcPct val="0"/>
              </a:spcAft>
              <a:buClr>
                <a:schemeClr val="folHlink"/>
              </a:buClr>
              <a:buSzTx/>
              <a:buFont typeface="Wingdings" panose="05000000000000000000" pitchFamily="2" charset="2"/>
              <a:buNone/>
            </a:pPr>
            <a:r>
              <a:rPr kumimoji="1" lang="zh-CN" altLang="en-US" sz="2400" b="1" i="0" u="none" strike="noStrike" kern="0" cap="none" spc="0" normalizeH="0" baseline="0" noProof="1" dirty="0">
                <a:solidFill>
                  <a:schemeClr val="tx1"/>
                </a:solidFill>
                <a:latin typeface="Times New Roman" panose="02020503050405090304" pitchFamily="18" charset="0"/>
                <a:ea typeface="+mn-ea"/>
                <a:cs typeface="+mn-cs"/>
                <a:sym typeface="+mn-ea"/>
              </a:rPr>
              <a:t>           </a:t>
            </a:r>
            <a:r>
              <a:rPr kumimoji="1" lang="zh-CN" altLang="en-US" sz="2400" b="1" i="0" u="none" strike="noStrike" kern="0" cap="none" spc="0" normalizeH="0" baseline="0" noProof="1" dirty="0">
                <a:solidFill>
                  <a:schemeClr val="tx1"/>
                </a:solidFill>
                <a:latin typeface="Times New Roman" panose="02020503050405090304" pitchFamily="18" charset="0"/>
                <a:ea typeface="+mn-ea"/>
                <a:cs typeface="+mn-cs"/>
                <a:sym typeface="+mn-ea"/>
              </a:rPr>
              <a:t>执行</a:t>
            </a:r>
            <a:r>
              <a:rPr kumimoji="1" lang="en-US" altLang="zh-CN" sz="2400" b="1" i="0" u="none" strike="noStrike" kern="0" cap="none" spc="0" normalizeH="0" baseline="0" noProof="1">
                <a:solidFill>
                  <a:schemeClr val="tx1"/>
                </a:solidFill>
                <a:latin typeface="Times New Roman" panose="02020503050405090304" pitchFamily="18" charset="0"/>
                <a:ea typeface="+mn-ea"/>
                <a:cs typeface="+mn-cs"/>
                <a:sym typeface="+mn-ea"/>
              </a:rPr>
              <a:t>XRL 	A,R0</a:t>
            </a:r>
            <a:endParaRPr kumimoji="1" lang="en-US" altLang="zh-CN" sz="2400" b="1" i="0" u="none" strike="noStrike" kern="0" cap="none" spc="0" normalizeH="0" baseline="0" noProof="1">
              <a:solidFill>
                <a:schemeClr val="tx1"/>
              </a:solidFill>
              <a:latin typeface="Times New Roman" panose="02020503050405090304" pitchFamily="18" charset="0"/>
              <a:ea typeface="+mn-ea"/>
              <a:cs typeface="+mn-cs"/>
            </a:endParaRPr>
          </a:p>
          <a:p>
            <a:pPr marL="342900" marR="0" indent="-342900" algn="l" defTabSz="425450" rtl="0" eaLnBrk="0" fontAlgn="base" latinLnBrk="0" hangingPunct="0">
              <a:lnSpc>
                <a:spcPct val="150000"/>
              </a:lnSpc>
              <a:spcBef>
                <a:spcPct val="0"/>
              </a:spcBef>
              <a:spcAft>
                <a:spcPct val="0"/>
              </a:spcAft>
              <a:buClr>
                <a:schemeClr val="folHlink"/>
              </a:buClr>
              <a:buSzTx/>
              <a:buFont typeface="Wingdings" panose="05000000000000000000" charset="0"/>
              <a:buChar char="Ø"/>
            </a:pPr>
            <a:r>
              <a:rPr kumimoji="1" lang="zh-CN" altLang="en-US" sz="2400" b="1" i="0" u="none" strike="noStrike" kern="0" cap="none" spc="0" normalizeH="0" baseline="0" noProof="1">
                <a:solidFill>
                  <a:schemeClr val="tx1"/>
                </a:solidFill>
                <a:latin typeface="Times New Roman" panose="02020503050405090304" pitchFamily="18" charset="0"/>
                <a:ea typeface="+mn-ea"/>
                <a:cs typeface="+mn-cs"/>
                <a:sym typeface="+mn-ea"/>
              </a:rPr>
              <a:t>  </a:t>
            </a:r>
            <a:r>
              <a:rPr kumimoji="1" lang="zh-CN" altLang="en-US" sz="2400" b="1" i="0" u="none" strike="noStrike" kern="0" cap="none" spc="0" normalizeH="0" baseline="0" noProof="1" dirty="0">
                <a:solidFill>
                  <a:schemeClr val="tx1"/>
                </a:solidFill>
                <a:latin typeface="Times New Roman" panose="02020503050405090304" pitchFamily="18" charset="0"/>
                <a:ea typeface="+mn-ea"/>
                <a:cs typeface="+mn-cs"/>
                <a:sym typeface="+mn-ea"/>
              </a:rPr>
              <a:t>后得</a:t>
            </a:r>
            <a:r>
              <a:rPr kumimoji="1" lang="en-US" altLang="zh-CN" sz="2400" b="1" i="0" u="none" strike="noStrike" kern="0" cap="none" spc="0" normalizeH="0" baseline="0" noProof="1">
                <a:solidFill>
                  <a:schemeClr val="tx1"/>
                </a:solidFill>
                <a:latin typeface="Times New Roman" panose="02020503050405090304" pitchFamily="18" charset="0"/>
                <a:ea typeface="+mn-ea"/>
                <a:cs typeface="+mn-cs"/>
                <a:sym typeface="+mn-ea"/>
              </a:rPr>
              <a:t>A</a:t>
            </a:r>
            <a:r>
              <a:rPr kumimoji="1" lang="zh-CN" altLang="en-US" sz="2400" b="1" i="0" u="none" strike="noStrike" kern="0" cap="none" spc="0" normalizeH="0" baseline="0" noProof="1" dirty="0">
                <a:solidFill>
                  <a:schemeClr val="tx1"/>
                </a:solidFill>
                <a:latin typeface="Times New Roman" panose="02020503050405090304" pitchFamily="18" charset="0"/>
                <a:ea typeface="+mn-ea"/>
                <a:cs typeface="+mn-cs"/>
                <a:sym typeface="+mn-ea"/>
              </a:rPr>
              <a:t>中为69</a:t>
            </a:r>
            <a:r>
              <a:rPr kumimoji="1" lang="en-US" altLang="zh-CN" sz="2400" b="1" i="0" u="none" strike="noStrike" kern="0" cap="none" spc="0" normalizeH="0" baseline="0" noProof="1">
                <a:solidFill>
                  <a:schemeClr val="tx1"/>
                </a:solidFill>
                <a:latin typeface="Times New Roman" panose="02020503050405090304" pitchFamily="18" charset="0"/>
                <a:ea typeface="+mn-ea"/>
                <a:cs typeface="+mn-cs"/>
                <a:sym typeface="+mn-ea"/>
              </a:rPr>
              <a:t>H</a:t>
            </a:r>
            <a:endParaRPr kumimoji="1" lang="en-US" altLang="zh-CN" sz="2400" b="1" i="0" u="none" strike="noStrike" kern="0" cap="none" spc="0" normalizeH="0" baseline="0" noProof="1">
              <a:solidFill>
                <a:srgbClr val="000000"/>
              </a:solidFill>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21602">
                                            <p:txEl>
                                              <p:charRg st="47" end="58"/>
                                            </p:txEl>
                                          </p:spTgt>
                                        </p:tgtEl>
                                        <p:attrNameLst>
                                          <p:attrName>style.visibility</p:attrName>
                                        </p:attrNameLst>
                                      </p:cBhvr>
                                      <p:to>
                                        <p:strVal val="visible"/>
                                      </p:to>
                                    </p:set>
                                    <p:anim calcmode="lin" valueType="num">
                                      <p:cBhvr additive="base">
                                        <p:cTn id="7" dur="500" fill="hold"/>
                                        <p:tgtEl>
                                          <p:spTgt spid="921602">
                                            <p:txEl>
                                              <p:charRg st="47" end="5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1602">
                                            <p:txEl>
                                              <p:charRg st="47" end="58"/>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21602">
                                            <p:txEl>
                                              <p:charRg st="101" end="113"/>
                                            </p:txEl>
                                          </p:spTgt>
                                        </p:tgtEl>
                                        <p:attrNameLst>
                                          <p:attrName>style.visibility</p:attrName>
                                        </p:attrNameLst>
                                      </p:cBhvr>
                                      <p:to>
                                        <p:strVal val="visible"/>
                                      </p:to>
                                    </p:set>
                                    <p:anim calcmode="lin" valueType="num">
                                      <p:cBhvr additive="base">
                                        <p:cTn id="13" dur="500" fill="hold"/>
                                        <p:tgtEl>
                                          <p:spTgt spid="921602">
                                            <p:txEl>
                                              <p:charRg st="101" end="11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21602">
                                            <p:txEl>
                                              <p:charRg st="101" end="11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21602">
                                            <p:txEl>
                                              <p:charRg st="155" end="166"/>
                                            </p:txEl>
                                          </p:spTgt>
                                        </p:tgtEl>
                                        <p:attrNameLst>
                                          <p:attrName>style.visibility</p:attrName>
                                        </p:attrNameLst>
                                      </p:cBhvr>
                                      <p:to>
                                        <p:strVal val="visible"/>
                                      </p:to>
                                    </p:set>
                                    <p:anim calcmode="lin" valueType="num">
                                      <p:cBhvr additive="base">
                                        <p:cTn id="19" dur="500" fill="hold"/>
                                        <p:tgtEl>
                                          <p:spTgt spid="921602">
                                            <p:txEl>
                                              <p:charRg st="155" end="16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21602">
                                            <p:txEl>
                                              <p:charRg st="155" end="16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137218" name="Rectangle 3"/>
          <p:cNvSpPr>
            <a:spLocks noGrp="1"/>
          </p:cNvSpPr>
          <p:nvPr>
            <p:ph type="body" idx="4294967295"/>
          </p:nvPr>
        </p:nvSpPr>
        <p:spPr>
          <a:xfrm>
            <a:off x="500063" y="857250"/>
            <a:ext cx="8643937" cy="5572125"/>
          </a:xfrm>
        </p:spPr>
        <p:txBody>
          <a:bodyPr vert="horz" wrap="square" lIns="91440" tIns="45720" rIns="91440" bIns="45720" anchor="t" anchorCtr="0"/>
          <a:p>
            <a:pPr marL="0">
              <a:lnSpc>
                <a:spcPct val="100000"/>
              </a:lnSpc>
              <a:spcBef>
                <a:spcPct val="0"/>
              </a:spcBef>
              <a:buNone/>
            </a:pPr>
            <a:r>
              <a:rPr lang="zh-CN" altLang="en-US" sz="3600" dirty="0">
                <a:latin typeface="宋体" pitchFamily="2" charset="-122"/>
              </a:rPr>
              <a:t>3-</a:t>
            </a:r>
            <a:r>
              <a:rPr lang="en-US" altLang="zh-CN" sz="3600" dirty="0">
                <a:latin typeface="宋体" pitchFamily="2" charset="-122"/>
              </a:rPr>
              <a:t>6</a:t>
            </a:r>
            <a:r>
              <a:rPr lang="zh-CN" altLang="en-US" sz="3600" dirty="0">
                <a:solidFill>
                  <a:schemeClr val="accent1"/>
                </a:solidFill>
                <a:latin typeface="宋体" pitchFamily="2" charset="-122"/>
              </a:rPr>
              <a:t>  </a:t>
            </a:r>
            <a:r>
              <a:rPr lang="zh-CN" altLang="en-US" sz="3600" dirty="0">
                <a:solidFill>
                  <a:srgbClr val="FF0000"/>
                </a:solidFill>
                <a:latin typeface="宋体" pitchFamily="2" charset="-122"/>
              </a:rPr>
              <a:t>控制转移指令</a:t>
            </a:r>
            <a:br>
              <a:rPr lang="zh-CN" altLang="en-US" sz="3200" dirty="0">
                <a:solidFill>
                  <a:schemeClr val="accent1"/>
                </a:solidFill>
                <a:latin typeface="宋体" pitchFamily="2" charset="-122"/>
              </a:rPr>
            </a:br>
            <a:r>
              <a:rPr lang="zh-CN" altLang="en-US" sz="3200" dirty="0">
                <a:solidFill>
                  <a:schemeClr val="accent1"/>
                </a:solidFill>
                <a:latin typeface="宋体" pitchFamily="2" charset="-122"/>
              </a:rPr>
              <a:t>    </a:t>
            </a:r>
            <a:r>
              <a:rPr lang="zh-CN" altLang="en-US" u="sng" dirty="0">
                <a:latin typeface="宋体" pitchFamily="2" charset="-122"/>
              </a:rPr>
              <a:t>转移指令通过改写</a:t>
            </a:r>
            <a:r>
              <a:rPr lang="en-US" altLang="zh-CN" u="sng" dirty="0">
                <a:latin typeface="宋体" pitchFamily="2" charset="-122"/>
              </a:rPr>
              <a:t>PC</a:t>
            </a:r>
            <a:r>
              <a:rPr lang="zh-CN" altLang="en-US" u="sng" dirty="0">
                <a:latin typeface="宋体" pitchFamily="2" charset="-122"/>
              </a:rPr>
              <a:t>的当前值，从而改变</a:t>
            </a:r>
            <a:r>
              <a:rPr lang="en-US" altLang="zh-CN" u="sng" dirty="0">
                <a:latin typeface="宋体" pitchFamily="2" charset="-122"/>
              </a:rPr>
              <a:t>CPU</a:t>
            </a:r>
            <a:r>
              <a:rPr lang="zh-CN" altLang="en-US" u="sng" dirty="0">
                <a:latin typeface="宋体" pitchFamily="2" charset="-122"/>
              </a:rPr>
              <a:t>执行程序的顺序，使程序发生跳转。</a:t>
            </a:r>
            <a:endParaRPr lang="zh-CN" altLang="en-US" u="sng" dirty="0">
              <a:latin typeface="宋体" pitchFamily="2" charset="-122"/>
            </a:endParaRPr>
          </a:p>
          <a:p>
            <a:pPr marL="0">
              <a:lnSpc>
                <a:spcPct val="100000"/>
              </a:lnSpc>
              <a:spcBef>
                <a:spcPct val="0"/>
              </a:spcBef>
              <a:buNone/>
            </a:pPr>
            <a:endParaRPr lang="en-US" altLang="zh-CN" i="1" u="sng" dirty="0">
              <a:latin typeface="宋体" pitchFamily="2" charset="-122"/>
            </a:endParaRPr>
          </a:p>
          <a:p>
            <a:pPr marL="0" algn="just">
              <a:lnSpc>
                <a:spcPct val="90000"/>
              </a:lnSpc>
              <a:buNone/>
            </a:pPr>
            <a:r>
              <a:rPr lang="zh-CN" altLang="en-US" dirty="0">
                <a:latin typeface="宋体" pitchFamily="2" charset="-122"/>
              </a:rPr>
              <a:t>	按转移条件分类：</a:t>
            </a:r>
            <a:endParaRPr lang="zh-CN" altLang="en-US" dirty="0">
              <a:latin typeface="宋体" pitchFamily="2" charset="-122"/>
            </a:endParaRPr>
          </a:p>
          <a:p>
            <a:pPr marL="0" algn="just">
              <a:lnSpc>
                <a:spcPct val="90000"/>
              </a:lnSpc>
              <a:buNone/>
            </a:pPr>
            <a:r>
              <a:rPr lang="zh-CN" altLang="en-US" dirty="0">
                <a:latin typeface="宋体" pitchFamily="2" charset="-122"/>
              </a:rPr>
              <a:t>1)</a:t>
            </a:r>
            <a:r>
              <a:rPr lang="zh-CN" altLang="en-US" dirty="0">
                <a:solidFill>
                  <a:schemeClr val="hlink"/>
                </a:solidFill>
                <a:latin typeface="宋体" pitchFamily="2" charset="-122"/>
              </a:rPr>
              <a:t>无条件转移：</a:t>
            </a:r>
            <a:endParaRPr lang="zh-CN" altLang="en-US" dirty="0">
              <a:solidFill>
                <a:schemeClr val="hlink"/>
              </a:solidFill>
              <a:latin typeface="宋体" pitchFamily="2" charset="-122"/>
            </a:endParaRPr>
          </a:p>
          <a:p>
            <a:pPr marL="0" algn="just">
              <a:lnSpc>
                <a:spcPct val="90000"/>
              </a:lnSpc>
              <a:buNone/>
            </a:pPr>
            <a:r>
              <a:rPr lang="zh-CN" altLang="en-US" dirty="0">
                <a:latin typeface="宋体" pitchFamily="2" charset="-122"/>
              </a:rPr>
              <a:t>	执行无条件转移指令，程序无条件转移到指定处。</a:t>
            </a:r>
            <a:endParaRPr lang="zh-CN" altLang="en-US" dirty="0">
              <a:latin typeface="宋体" pitchFamily="2" charset="-122"/>
            </a:endParaRPr>
          </a:p>
          <a:p>
            <a:pPr marL="0" algn="just">
              <a:lnSpc>
                <a:spcPct val="90000"/>
              </a:lnSpc>
              <a:buNone/>
            </a:pPr>
            <a:r>
              <a:rPr lang="zh-CN" altLang="en-US" dirty="0">
                <a:latin typeface="宋体" pitchFamily="2" charset="-122"/>
              </a:rPr>
              <a:t>2)</a:t>
            </a:r>
            <a:r>
              <a:rPr lang="zh-CN" altLang="en-US" dirty="0">
                <a:solidFill>
                  <a:schemeClr val="hlink"/>
                </a:solidFill>
                <a:latin typeface="宋体" pitchFamily="2" charset="-122"/>
              </a:rPr>
              <a:t>条件转移：</a:t>
            </a:r>
            <a:endParaRPr lang="zh-CN" altLang="en-US" dirty="0">
              <a:solidFill>
                <a:schemeClr val="hlink"/>
              </a:solidFill>
              <a:latin typeface="宋体" pitchFamily="2" charset="-122"/>
            </a:endParaRPr>
          </a:p>
          <a:p>
            <a:pPr marL="0" algn="just">
              <a:lnSpc>
                <a:spcPct val="110000"/>
              </a:lnSpc>
              <a:buNone/>
            </a:pPr>
            <a:r>
              <a:rPr lang="zh-CN" altLang="en-US" dirty="0">
                <a:latin typeface="宋体" pitchFamily="2" charset="-122"/>
              </a:rPr>
              <a:t>	指令中给出转移条件，执行指令时，先测试条件，</a:t>
            </a:r>
            <a:endParaRPr lang="zh-CN" altLang="en-US" dirty="0">
              <a:latin typeface="宋体" pitchFamily="2" charset="-122"/>
            </a:endParaRPr>
          </a:p>
          <a:p>
            <a:pPr marL="0" algn="just">
              <a:lnSpc>
                <a:spcPct val="110000"/>
              </a:lnSpc>
              <a:buNone/>
            </a:pPr>
            <a:r>
              <a:rPr lang="zh-CN" altLang="en-US" dirty="0">
                <a:latin typeface="宋体" pitchFamily="2" charset="-122"/>
              </a:rPr>
              <a:t>  若满足条件，则程序发生转移，否则，仍顺序执</a:t>
            </a:r>
            <a:endParaRPr lang="en-US" altLang="zh-CN" dirty="0">
              <a:latin typeface="宋体" pitchFamily="2" charset="-122"/>
            </a:endParaRPr>
          </a:p>
          <a:p>
            <a:pPr marL="0" algn="just">
              <a:lnSpc>
                <a:spcPct val="110000"/>
              </a:lnSpc>
              <a:buNone/>
            </a:pPr>
            <a:r>
              <a:rPr lang="en-US" altLang="zh-CN" dirty="0">
                <a:latin typeface="宋体" pitchFamily="2" charset="-122"/>
              </a:rPr>
              <a:t>  </a:t>
            </a:r>
            <a:r>
              <a:rPr lang="zh-CN" altLang="en-US" dirty="0">
                <a:latin typeface="宋体" pitchFamily="2" charset="-122"/>
              </a:rPr>
              <a:t>行程序。</a:t>
            </a:r>
            <a:endParaRPr lang="zh-CN" altLang="zh-CN" dirty="0">
              <a:latin typeface="宋体" pitchFamily="2" charset="-122"/>
            </a:endParaRPr>
          </a:p>
          <a:p>
            <a:pPr marL="0">
              <a:lnSpc>
                <a:spcPct val="100000"/>
              </a:lnSpc>
              <a:spcBef>
                <a:spcPct val="0"/>
              </a:spcBef>
              <a:buNone/>
            </a:pPr>
            <a:endParaRPr lang="zh-CN" altLang="zh-CN" dirty="0">
              <a:solidFill>
                <a:srgbClr val="FFC000"/>
              </a:solidFill>
              <a:latin typeface="宋体" pitchFamily="2" charset="-122"/>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138242" name="Rectangle 3"/>
          <p:cNvSpPr>
            <a:spLocks noGrp="1"/>
          </p:cNvSpPr>
          <p:nvPr>
            <p:ph type="body" idx="4294967295"/>
          </p:nvPr>
        </p:nvSpPr>
        <p:spPr>
          <a:xfrm>
            <a:off x="323850" y="857250"/>
            <a:ext cx="8758238" cy="3508375"/>
          </a:xfrm>
        </p:spPr>
        <p:txBody>
          <a:bodyPr vert="horz" wrap="square" lIns="91440" tIns="45720" rIns="91440" bIns="45720" anchor="t" anchorCtr="0"/>
          <a:p>
            <a:pPr marL="0">
              <a:lnSpc>
                <a:spcPct val="100000"/>
              </a:lnSpc>
              <a:spcBef>
                <a:spcPct val="0"/>
              </a:spcBef>
              <a:buNone/>
            </a:pPr>
            <a:r>
              <a:rPr lang="zh-CN" altLang="en-US" sz="2400" dirty="0">
                <a:latin typeface="宋体" pitchFamily="2" charset="-122"/>
              </a:rPr>
              <a:t>按转移方式分类：</a:t>
            </a:r>
            <a:endParaRPr lang="en-US" altLang="zh-CN" sz="2400" dirty="0">
              <a:latin typeface="宋体" pitchFamily="2" charset="-122"/>
            </a:endParaRPr>
          </a:p>
          <a:p>
            <a:pPr marL="0">
              <a:lnSpc>
                <a:spcPct val="100000"/>
              </a:lnSpc>
              <a:spcBef>
                <a:spcPct val="0"/>
              </a:spcBef>
              <a:buNone/>
            </a:pPr>
            <a:r>
              <a:rPr lang="zh-CN" altLang="en-US" sz="2400" dirty="0">
                <a:latin typeface="宋体" pitchFamily="2" charset="-122"/>
              </a:rPr>
              <a:t>1</a:t>
            </a:r>
            <a:r>
              <a:rPr lang="zh-CN" altLang="en-US" sz="2400" dirty="0"/>
              <a:t>)</a:t>
            </a:r>
            <a:r>
              <a:rPr lang="zh-CN" altLang="en-US" sz="2400" dirty="0">
                <a:solidFill>
                  <a:schemeClr val="tx2"/>
                </a:solidFill>
                <a:latin typeface="宋体" pitchFamily="2" charset="-122"/>
              </a:rPr>
              <a:t>绝对转移：</a:t>
            </a:r>
            <a:r>
              <a:rPr lang="zh-CN" altLang="en-US" sz="2400" dirty="0">
                <a:latin typeface="宋体" pitchFamily="2" charset="-122"/>
              </a:rPr>
              <a:t>指令给出转移目的的</a:t>
            </a:r>
            <a:r>
              <a:rPr lang="zh-CN" altLang="en-US" sz="2400" dirty="0">
                <a:solidFill>
                  <a:schemeClr val="accent2"/>
                </a:solidFill>
                <a:latin typeface="黑体" panose="02010609060101010101" pitchFamily="49" charset="-122"/>
                <a:ea typeface="黑体" panose="02010609060101010101" pitchFamily="49" charset="-122"/>
              </a:rPr>
              <a:t>绝对地址 </a:t>
            </a:r>
            <a:r>
              <a:rPr lang="en-US" altLang="zh-CN" sz="2400" dirty="0">
                <a:solidFill>
                  <a:schemeClr val="accent2"/>
                </a:solidFill>
                <a:latin typeface="黑体" panose="02010609060101010101" pitchFamily="49" charset="-122"/>
                <a:ea typeface="黑体" panose="02010609060101010101" pitchFamily="49" charset="-122"/>
              </a:rPr>
              <a:t>nn</a:t>
            </a:r>
            <a:r>
              <a:rPr lang="en-US" altLang="zh-CN" sz="2400" dirty="0">
                <a:latin typeface="宋体" pitchFamily="2" charset="-122"/>
              </a:rPr>
              <a:t>，</a:t>
            </a:r>
            <a:r>
              <a:rPr lang="zh-CN" altLang="en-US" sz="2400" dirty="0">
                <a:latin typeface="宋体" pitchFamily="2" charset="-122"/>
              </a:rPr>
              <a:t>执行指令后</a:t>
            </a:r>
            <a:endParaRPr lang="zh-CN" altLang="en-US" sz="2400" dirty="0">
              <a:latin typeface="宋体" pitchFamily="2" charset="-122"/>
            </a:endParaRPr>
          </a:p>
          <a:p>
            <a:pPr marL="0">
              <a:lnSpc>
                <a:spcPct val="100000"/>
              </a:lnSpc>
              <a:spcBef>
                <a:spcPct val="0"/>
              </a:spcBef>
              <a:buNone/>
            </a:pPr>
            <a:r>
              <a:rPr lang="en-US" altLang="zh-CN" sz="2400" dirty="0">
                <a:latin typeface="宋体" pitchFamily="2" charset="-122"/>
              </a:rPr>
              <a:t>            PC</a:t>
            </a:r>
            <a:r>
              <a:rPr lang="en-US" altLang="zh-CN" sz="2400" dirty="0">
                <a:latin typeface="Symbol" pitchFamily="18" charset="2"/>
              </a:rPr>
              <a:t>¬</a:t>
            </a:r>
            <a:r>
              <a:rPr lang="en-US" altLang="zh-CN" sz="2400" dirty="0">
                <a:latin typeface="宋体" pitchFamily="2" charset="-122"/>
              </a:rPr>
              <a:t>nn。</a:t>
            </a:r>
            <a:endParaRPr lang="en-US" altLang="zh-CN" sz="2400" dirty="0">
              <a:latin typeface="宋体" pitchFamily="2" charset="-122"/>
            </a:endParaRPr>
          </a:p>
          <a:p>
            <a:pPr marL="0">
              <a:lnSpc>
                <a:spcPct val="100000"/>
              </a:lnSpc>
              <a:spcBef>
                <a:spcPct val="0"/>
              </a:spcBef>
              <a:buNone/>
            </a:pPr>
            <a:r>
              <a:rPr lang="zh-CN" altLang="en-US" sz="2400" dirty="0">
                <a:solidFill>
                  <a:schemeClr val="folHlink"/>
                </a:solidFill>
                <a:latin typeface="宋体" pitchFamily="2" charset="-122"/>
              </a:rPr>
              <a:t>   例：</a:t>
            </a:r>
            <a:r>
              <a:rPr lang="zh-CN" altLang="en-US" sz="2400" dirty="0">
                <a:latin typeface="宋体" pitchFamily="2" charset="-122"/>
              </a:rPr>
              <a:t>	      地址		源程序</a:t>
            </a:r>
            <a:endParaRPr lang="zh-CN" altLang="en-US" sz="2400" dirty="0">
              <a:latin typeface="宋体" pitchFamily="2" charset="-122"/>
            </a:endParaRPr>
          </a:p>
          <a:p>
            <a:pPr marL="0">
              <a:lnSpc>
                <a:spcPct val="100000"/>
              </a:lnSpc>
              <a:spcBef>
                <a:spcPct val="0"/>
              </a:spcBef>
              <a:buNone/>
            </a:pPr>
            <a:r>
              <a:rPr lang="zh-CN" altLang="en-US" sz="2400" dirty="0">
                <a:latin typeface="宋体" pitchFamily="2" charset="-122"/>
              </a:rPr>
              <a:t>		       1000</a:t>
            </a:r>
            <a:r>
              <a:rPr lang="en-US" altLang="zh-CN" sz="2400" dirty="0">
                <a:latin typeface="宋体" pitchFamily="2" charset="-122"/>
              </a:rPr>
              <a:t>H   	LJMP  2000H	</a:t>
            </a:r>
            <a:endParaRPr lang="en-US" altLang="zh-CN" sz="2400" dirty="0">
              <a:latin typeface="宋体" pitchFamily="2" charset="-122"/>
            </a:endParaRPr>
          </a:p>
          <a:p>
            <a:pPr marL="0">
              <a:lnSpc>
                <a:spcPct val="100000"/>
              </a:lnSpc>
              <a:spcBef>
                <a:spcPct val="0"/>
              </a:spcBef>
              <a:buNone/>
            </a:pPr>
            <a:r>
              <a:rPr lang="en-US" altLang="zh-CN" sz="2400" dirty="0">
                <a:latin typeface="宋体" pitchFamily="2" charset="-122"/>
              </a:rPr>
              <a:t>	          1003H	  	 </a:t>
            </a:r>
            <a:r>
              <a:rPr lang="en-US" altLang="zh-CN" sz="2400" dirty="0">
                <a:latin typeface="Times New Roman" panose="02020503050405090304" pitchFamily="18" charset="0"/>
              </a:rPr>
              <a:t>…</a:t>
            </a:r>
            <a:r>
              <a:rPr lang="en-US" altLang="zh-CN" sz="2400" dirty="0">
                <a:latin typeface="宋体" pitchFamily="2" charset="-122"/>
              </a:rPr>
              <a:t>			</a:t>
            </a:r>
            <a:endParaRPr lang="en-US" altLang="zh-CN" sz="2400" dirty="0">
              <a:latin typeface="宋体" pitchFamily="2" charset="-122"/>
            </a:endParaRPr>
          </a:p>
          <a:p>
            <a:pPr marL="0">
              <a:lnSpc>
                <a:spcPct val="100000"/>
              </a:lnSpc>
              <a:spcBef>
                <a:spcPct val="0"/>
              </a:spcBef>
              <a:buNone/>
            </a:pPr>
            <a:r>
              <a:rPr lang="en-US" altLang="zh-CN" sz="2400" dirty="0">
                <a:latin typeface="宋体" pitchFamily="2" charset="-122"/>
              </a:rPr>
              <a:t>			               </a:t>
            </a:r>
            <a:r>
              <a:rPr lang="en-US" altLang="zh-CN" sz="2400" dirty="0">
                <a:latin typeface="Times New Roman" panose="02020503050405090304" pitchFamily="18" charset="0"/>
              </a:rPr>
              <a:t>…</a:t>
            </a:r>
            <a:r>
              <a:rPr lang="en-US" altLang="zh-CN" sz="2400" dirty="0">
                <a:latin typeface="宋体" pitchFamily="2" charset="-122"/>
              </a:rPr>
              <a:t>		</a:t>
            </a:r>
            <a:endParaRPr lang="en-US" altLang="zh-CN" sz="2400" dirty="0">
              <a:latin typeface="宋体" pitchFamily="2" charset="-122"/>
            </a:endParaRPr>
          </a:p>
          <a:p>
            <a:pPr marL="0">
              <a:lnSpc>
                <a:spcPct val="100000"/>
              </a:lnSpc>
              <a:spcBef>
                <a:spcPct val="0"/>
              </a:spcBef>
              <a:buNone/>
            </a:pPr>
            <a:r>
              <a:rPr lang="en-US" altLang="zh-CN" sz="2400" dirty="0">
                <a:latin typeface="宋体" pitchFamily="2" charset="-122"/>
              </a:rPr>
              <a:t>		       2000H		 </a:t>
            </a:r>
            <a:r>
              <a:rPr lang="en-US" altLang="zh-CN" sz="2400" dirty="0">
                <a:latin typeface="Times New Roman" panose="02020503050405090304" pitchFamily="18" charset="0"/>
              </a:rPr>
              <a:t>…</a:t>
            </a:r>
            <a:r>
              <a:rPr lang="en-US" altLang="zh-CN" sz="2400" dirty="0">
                <a:latin typeface="宋体" pitchFamily="2" charset="-122"/>
              </a:rPr>
              <a:t> 	；</a:t>
            </a:r>
            <a:r>
              <a:rPr lang="zh-CN" altLang="en-US" sz="2400" dirty="0">
                <a:latin typeface="宋体" pitchFamily="2" charset="-122"/>
              </a:rPr>
              <a:t>转移目的指令</a:t>
            </a:r>
            <a:endParaRPr lang="zh-CN" altLang="en-US" sz="2400" dirty="0">
              <a:latin typeface="宋体" pitchFamily="2" charset="-122"/>
            </a:endParaRPr>
          </a:p>
          <a:p>
            <a:pPr marL="0">
              <a:lnSpc>
                <a:spcPct val="100000"/>
              </a:lnSpc>
              <a:spcBef>
                <a:spcPct val="0"/>
              </a:spcBef>
              <a:buNone/>
            </a:pPr>
            <a:r>
              <a:rPr lang="zh-CN" altLang="zh-CN" sz="2400" dirty="0"/>
              <a:t>2)</a:t>
            </a:r>
            <a:r>
              <a:rPr lang="zh-CN" altLang="en-US" sz="2400" dirty="0">
                <a:solidFill>
                  <a:schemeClr val="tx2"/>
                </a:solidFill>
                <a:latin typeface="宋体" pitchFamily="2" charset="-122"/>
              </a:rPr>
              <a:t>相对转移：</a:t>
            </a:r>
            <a:r>
              <a:rPr lang="zh-CN" altLang="en-US" sz="2400" dirty="0">
                <a:latin typeface="宋体" pitchFamily="2" charset="-122"/>
              </a:rPr>
              <a:t>指令给出转移目的与转移指令的</a:t>
            </a:r>
            <a:r>
              <a:rPr lang="zh-CN" altLang="en-US" sz="2400" dirty="0">
                <a:solidFill>
                  <a:schemeClr val="accent2"/>
                </a:solidFill>
                <a:latin typeface="黑体" panose="02010609060101010101" pitchFamily="49" charset="-122"/>
                <a:ea typeface="黑体" panose="02010609060101010101" pitchFamily="49" charset="-122"/>
              </a:rPr>
              <a:t>相对偏移量</a:t>
            </a:r>
            <a:r>
              <a:rPr lang="en-US" altLang="zh-CN" sz="2400" dirty="0">
                <a:solidFill>
                  <a:schemeClr val="accent2"/>
                </a:solidFill>
                <a:latin typeface="黑体" panose="02010609060101010101" pitchFamily="49" charset="-122"/>
                <a:ea typeface="黑体" panose="02010609060101010101" pitchFamily="49" charset="-122"/>
              </a:rPr>
              <a:t>rel</a:t>
            </a:r>
            <a:r>
              <a:rPr lang="en-US" altLang="zh-CN" sz="2400" dirty="0">
                <a:solidFill>
                  <a:schemeClr val="accent2"/>
                </a:solidFill>
                <a:latin typeface="宋体" pitchFamily="2" charset="-122"/>
              </a:rPr>
              <a:t>，</a:t>
            </a:r>
            <a:r>
              <a:rPr lang="zh-CN" altLang="en-US" sz="2400" dirty="0">
                <a:latin typeface="宋体" pitchFamily="2" charset="-122"/>
              </a:rPr>
              <a:t>执行指令后，</a:t>
            </a:r>
            <a:r>
              <a:rPr lang="en-US" altLang="zh-CN" sz="2400" dirty="0">
                <a:latin typeface="宋体" pitchFamily="2" charset="-122"/>
              </a:rPr>
              <a:t>PC</a:t>
            </a:r>
            <a:r>
              <a:rPr lang="en-US" altLang="zh-CN" sz="2400" dirty="0">
                <a:latin typeface="Symbol" pitchFamily="18" charset="2"/>
              </a:rPr>
              <a:t>¬(</a:t>
            </a:r>
            <a:r>
              <a:rPr lang="en-US" altLang="zh-CN" sz="2400" dirty="0">
                <a:latin typeface="宋体" pitchFamily="2" charset="-122"/>
              </a:rPr>
              <a:t>PC)</a:t>
            </a:r>
            <a:r>
              <a:rPr lang="zh-CN" altLang="en-US" sz="2400" dirty="0">
                <a:latin typeface="宋体" pitchFamily="2" charset="-122"/>
              </a:rPr>
              <a:t> + </a:t>
            </a:r>
            <a:r>
              <a:rPr lang="en-US" altLang="zh-CN" sz="2400" dirty="0">
                <a:solidFill>
                  <a:schemeClr val="accent2"/>
                </a:solidFill>
                <a:latin typeface="黑体" panose="02010609060101010101" pitchFamily="49" charset="-122"/>
                <a:ea typeface="黑体" panose="02010609060101010101" pitchFamily="49" charset="-122"/>
              </a:rPr>
              <a:t>rel</a:t>
            </a:r>
            <a:r>
              <a:rPr lang="en-US" altLang="zh-CN" sz="2400" dirty="0">
                <a:latin typeface="宋体" pitchFamily="2" charset="-122"/>
              </a:rPr>
              <a:t> 。</a:t>
            </a:r>
            <a:endParaRPr lang="en-US" altLang="zh-CN" sz="2400" dirty="0">
              <a:latin typeface="宋体" pitchFamily="2" charset="-122"/>
            </a:endParaRPr>
          </a:p>
          <a:p>
            <a:pPr marL="0">
              <a:lnSpc>
                <a:spcPct val="100000"/>
              </a:lnSpc>
              <a:spcBef>
                <a:spcPct val="0"/>
              </a:spcBef>
              <a:buNone/>
            </a:pPr>
            <a:r>
              <a:rPr lang="en-US" altLang="zh-CN" sz="2400" dirty="0">
                <a:latin typeface="宋体" pitchFamily="2" charset="-122"/>
              </a:rPr>
              <a:t> </a:t>
            </a:r>
            <a:endParaRPr lang="en-US" altLang="zh-CN" sz="2400" dirty="0">
              <a:latin typeface="宋体" pitchFamily="2" charset="-122"/>
            </a:endParaRPr>
          </a:p>
          <a:p>
            <a:pPr marL="0" algn="just">
              <a:lnSpc>
                <a:spcPct val="100000"/>
              </a:lnSpc>
              <a:spcBef>
                <a:spcPct val="0"/>
              </a:spcBef>
              <a:buNone/>
            </a:pPr>
            <a:endParaRPr lang="zh-CN" altLang="zh-CN" dirty="0">
              <a:solidFill>
                <a:srgbClr val="FFC000"/>
              </a:solidFill>
              <a:latin typeface="宋体" pitchFamily="2" charset="-122"/>
            </a:endParaRPr>
          </a:p>
        </p:txBody>
      </p:sp>
      <p:sp>
        <p:nvSpPr>
          <p:cNvPr id="138243" name="TextBox 4"/>
          <p:cNvSpPr txBox="1"/>
          <p:nvPr/>
        </p:nvSpPr>
        <p:spPr>
          <a:xfrm>
            <a:off x="4175125" y="4786313"/>
            <a:ext cx="4968875" cy="1570037"/>
          </a:xfrm>
          <a:prstGeom prst="rect">
            <a:avLst/>
          </a:prstGeom>
          <a:noFill/>
          <a:ln w="9525">
            <a:noFill/>
          </a:ln>
        </p:spPr>
        <p:txBody>
          <a:bodyPr anchor="t" anchorCtr="0">
            <a:spAutoFit/>
          </a:bodyPr>
          <a:p>
            <a:pPr eaLnBrk="0" hangingPunct="0">
              <a:buClrTx/>
              <a:buFontTx/>
            </a:pPr>
            <a:r>
              <a:rPr lang="zh-CN" altLang="en-US" dirty="0">
                <a:solidFill>
                  <a:schemeClr val="folHlink"/>
                </a:solidFill>
                <a:latin typeface="楷体_GB2312" pitchFamily="49" charset="-122"/>
                <a:ea typeface="楷体_GB2312" pitchFamily="49" charset="-122"/>
              </a:rPr>
              <a:t>例：</a:t>
            </a:r>
            <a:r>
              <a:rPr lang="zh-CN" altLang="en-US" dirty="0">
                <a:latin typeface="楷体_GB2312" pitchFamily="49" charset="-122"/>
                <a:ea typeface="楷体_GB2312" pitchFamily="49" charset="-122"/>
              </a:rPr>
              <a:t>地址	    源程序</a:t>
            </a:r>
            <a:endParaRPr lang="zh-CN" altLang="en-US" dirty="0">
              <a:latin typeface="楷体_GB2312" pitchFamily="49" charset="-122"/>
              <a:ea typeface="楷体_GB2312" pitchFamily="49" charset="-122"/>
            </a:endParaRPr>
          </a:p>
          <a:p>
            <a:pPr eaLnBrk="0" hangingPunct="0">
              <a:buClrTx/>
              <a:buFontTx/>
            </a:pPr>
            <a:r>
              <a:rPr lang="zh-CN" altLang="en-US" dirty="0">
                <a:latin typeface="楷体_GB2312" pitchFamily="49" charset="-122"/>
                <a:ea typeface="楷体_GB2312" pitchFamily="49" charset="-122"/>
              </a:rPr>
              <a:t>    1000</a:t>
            </a:r>
            <a:r>
              <a:rPr lang="en-US" altLang="zh-CN" dirty="0">
                <a:latin typeface="楷体_GB2312" pitchFamily="49" charset="-122"/>
                <a:ea typeface="楷体_GB2312" pitchFamily="49" charset="-122"/>
              </a:rPr>
              <a:t>H    SJMP 02 	</a:t>
            </a:r>
            <a:endParaRPr lang="en-US" altLang="zh-CN" dirty="0">
              <a:latin typeface="楷体_GB2312" pitchFamily="49" charset="-122"/>
              <a:ea typeface="楷体_GB2312" pitchFamily="49" charset="-122"/>
            </a:endParaRPr>
          </a:p>
          <a:p>
            <a:pPr eaLnBrk="0" hangingPunct="0">
              <a:buClrTx/>
              <a:buFontTx/>
            </a:pPr>
            <a:r>
              <a:rPr lang="en-US" altLang="zh-CN" dirty="0">
                <a:latin typeface="楷体_GB2312" pitchFamily="49" charset="-122"/>
                <a:ea typeface="楷体_GB2312" pitchFamily="49" charset="-122"/>
              </a:rPr>
              <a:t>     </a:t>
            </a:r>
            <a:r>
              <a:rPr lang="en-US" altLang="zh-CN" dirty="0">
                <a:latin typeface="Times New Roman" panose="02020503050405090304" pitchFamily="18" charset="0"/>
                <a:ea typeface="楷体_GB2312" pitchFamily="49" charset="-122"/>
              </a:rPr>
              <a:t>…</a:t>
            </a:r>
            <a:r>
              <a:rPr lang="en-US" altLang="zh-CN" dirty="0">
                <a:latin typeface="楷体_GB2312" pitchFamily="49" charset="-122"/>
                <a:ea typeface="楷体_GB2312" pitchFamily="49" charset="-122"/>
              </a:rPr>
              <a:t>		</a:t>
            </a:r>
            <a:endParaRPr lang="en-US" altLang="zh-CN" dirty="0">
              <a:latin typeface="楷体_GB2312" pitchFamily="49" charset="-122"/>
              <a:ea typeface="楷体_GB2312" pitchFamily="49" charset="-122"/>
            </a:endParaRPr>
          </a:p>
          <a:p>
            <a:pPr eaLnBrk="0" hangingPunct="0">
              <a:buClrTx/>
              <a:buFontTx/>
            </a:pPr>
            <a:r>
              <a:rPr lang="en-US" altLang="zh-CN" dirty="0">
                <a:latin typeface="楷体_GB2312" pitchFamily="49" charset="-122"/>
                <a:ea typeface="楷体_GB2312" pitchFamily="49" charset="-122"/>
              </a:rPr>
              <a:t>    1004H ；</a:t>
            </a:r>
            <a:r>
              <a:rPr lang="zh-CN" altLang="en-US" dirty="0">
                <a:latin typeface="楷体_GB2312" pitchFamily="49" charset="-122"/>
                <a:ea typeface="楷体_GB2312" pitchFamily="49" charset="-122"/>
              </a:rPr>
              <a:t>转移目的指令</a:t>
            </a:r>
            <a:endParaRPr lang="zh-CN" altLang="en-US" dirty="0">
              <a:latin typeface="楷体_GB2312" pitchFamily="49" charset="-122"/>
              <a:ea typeface="楷体_GB2312" pitchFamily="49" charset="-122"/>
            </a:endParaRPr>
          </a:p>
        </p:txBody>
      </p:sp>
      <p:graphicFrame>
        <p:nvGraphicFramePr>
          <p:cNvPr id="138244" name="Object 2"/>
          <p:cNvGraphicFramePr>
            <a:graphicFrameLocks noChangeAspect="1"/>
          </p:cNvGraphicFramePr>
          <p:nvPr/>
        </p:nvGraphicFramePr>
        <p:xfrm>
          <a:off x="785813" y="4643438"/>
          <a:ext cx="3028950" cy="1733550"/>
        </p:xfrm>
        <a:graphic>
          <a:graphicData uri="http://schemas.openxmlformats.org/presentationml/2006/ole">
            <mc:AlternateContent xmlns:mc="http://schemas.openxmlformats.org/markup-compatibility/2006">
              <mc:Choice xmlns:v="urn:schemas-microsoft-com:vml" Requires="v">
                <p:oleObj spid="_x0000_s3090" name="" r:id="rId1" imgW="5933440" imgH="1615440" progId="Word.Document.8">
                  <p:embed/>
                </p:oleObj>
              </mc:Choice>
              <mc:Fallback>
                <p:oleObj name="" r:id="rId1" imgW="5933440" imgH="1615440" progId="Word.Document.8">
                  <p:embed/>
                  <p:pic>
                    <p:nvPicPr>
                      <p:cNvPr id="0" name="Picture 3089"/>
                      <p:cNvPicPr/>
                      <p:nvPr/>
                    </p:nvPicPr>
                    <p:blipFill>
                      <a:blip r:embed="rId2"/>
                      <a:srcRect l="63448" b="11404"/>
                      <a:stretch>
                        <a:fillRect/>
                      </a:stretch>
                    </p:blipFill>
                    <p:spPr>
                      <a:xfrm>
                        <a:off x="785813" y="4643438"/>
                        <a:ext cx="3028950" cy="1733550"/>
                      </a:xfrm>
                      <a:prstGeom prst="rect">
                        <a:avLst/>
                      </a:prstGeom>
                      <a:noFill/>
                      <a:ln w="38100">
                        <a:noFill/>
                        <a:miter/>
                      </a:ln>
                    </p:spPr>
                  </p:pic>
                </p:oleObj>
              </mc:Fallback>
            </mc:AlternateContent>
          </a:graphicData>
        </a:graphic>
      </p:graphicFrame>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139266" name="Rectangle 3"/>
          <p:cNvSpPr>
            <a:spLocks noGrp="1"/>
          </p:cNvSpPr>
          <p:nvPr>
            <p:ph type="body" idx="4294967295"/>
          </p:nvPr>
        </p:nvSpPr>
        <p:spPr>
          <a:xfrm>
            <a:off x="500063" y="857250"/>
            <a:ext cx="8643937" cy="5572125"/>
          </a:xfrm>
        </p:spPr>
        <p:txBody>
          <a:bodyPr vert="horz" wrap="square" lIns="91440" tIns="45720" rIns="91440" bIns="45720" anchor="t" anchorCtr="0"/>
          <a:p>
            <a:pPr marL="0">
              <a:spcBef>
                <a:spcPct val="0"/>
              </a:spcBef>
              <a:buNone/>
            </a:pPr>
            <a:r>
              <a:rPr lang="zh-CN" altLang="en-US" dirty="0">
                <a:latin typeface="宋体" pitchFamily="2" charset="-122"/>
              </a:rPr>
              <a:t>一.无条件转移指令</a:t>
            </a:r>
            <a:endParaRPr lang="en-US" altLang="zh-CN" sz="2400" dirty="0">
              <a:latin typeface="宋体" pitchFamily="2" charset="-122"/>
            </a:endParaRPr>
          </a:p>
          <a:p>
            <a:pPr marL="0">
              <a:buNone/>
            </a:pPr>
            <a:r>
              <a:rPr lang="zh-CN" altLang="en-US" sz="2400" dirty="0">
                <a:latin typeface="宋体" pitchFamily="2" charset="-122"/>
              </a:rPr>
              <a:t> </a:t>
            </a:r>
            <a:r>
              <a:rPr lang="en-US" altLang="zh-CN" dirty="0">
                <a:latin typeface="宋体" pitchFamily="2" charset="-122"/>
              </a:rPr>
              <a:t>1</a:t>
            </a:r>
            <a:r>
              <a:rPr lang="zh-CN" altLang="en-US" dirty="0">
                <a:latin typeface="宋体" pitchFamily="2" charset="-122"/>
              </a:rPr>
              <a:t>.绝对转移指令：</a:t>
            </a:r>
            <a:endParaRPr lang="zh-CN" altLang="en-US" dirty="0">
              <a:latin typeface="宋体" pitchFamily="2" charset="-122"/>
            </a:endParaRPr>
          </a:p>
          <a:p>
            <a:pPr marL="0">
              <a:buNone/>
            </a:pPr>
            <a:r>
              <a:rPr lang="zh-CN" altLang="en-US" dirty="0">
                <a:latin typeface="宋体" pitchFamily="2" charset="-122"/>
              </a:rPr>
              <a:t>		  </a:t>
            </a:r>
            <a:r>
              <a:rPr lang="en-US" altLang="zh-CN" dirty="0">
                <a:solidFill>
                  <a:srgbClr val="FF0000"/>
                </a:solidFill>
                <a:latin typeface="宋体" pitchFamily="2" charset="-122"/>
              </a:rPr>
              <a:t>AJMP</a:t>
            </a:r>
            <a:r>
              <a:rPr lang="en-US" altLang="zh-CN" dirty="0">
                <a:latin typeface="宋体" pitchFamily="2" charset="-122"/>
              </a:rPr>
              <a:t>  </a:t>
            </a:r>
            <a:r>
              <a:rPr lang="en-US" altLang="zh-CN" dirty="0">
                <a:solidFill>
                  <a:srgbClr val="FF0000"/>
                </a:solidFill>
                <a:latin typeface="宋体" pitchFamily="2" charset="-122"/>
              </a:rPr>
              <a:t>addr11</a:t>
            </a:r>
            <a:r>
              <a:rPr lang="en-US" altLang="zh-CN" dirty="0">
                <a:latin typeface="宋体" pitchFamily="2" charset="-122"/>
              </a:rPr>
              <a:t>	；PC</a:t>
            </a:r>
            <a:r>
              <a:rPr lang="en-US" altLang="zh-CN" dirty="0">
                <a:latin typeface="Symbol" pitchFamily="18" charset="2"/>
              </a:rPr>
              <a:t>¬(</a:t>
            </a:r>
            <a:r>
              <a:rPr lang="en-US" altLang="zh-CN" dirty="0">
                <a:latin typeface="宋体" pitchFamily="2" charset="-122"/>
              </a:rPr>
              <a:t>PC</a:t>
            </a:r>
            <a:r>
              <a:rPr lang="en-US" altLang="zh-CN" dirty="0">
                <a:latin typeface="Symbol" pitchFamily="18" charset="2"/>
              </a:rPr>
              <a:t>)</a:t>
            </a:r>
            <a:r>
              <a:rPr lang="en-US" altLang="zh-CN" dirty="0">
                <a:latin typeface="宋体" pitchFamily="2" charset="-122"/>
              </a:rPr>
              <a:t>+2；PC</a:t>
            </a:r>
            <a:r>
              <a:rPr lang="en-US" altLang="zh-CN" baseline="-25000" dirty="0">
                <a:latin typeface="宋体" pitchFamily="2" charset="-122"/>
              </a:rPr>
              <a:t>10～0</a:t>
            </a:r>
            <a:r>
              <a:rPr lang="en-US" altLang="zh-CN" dirty="0">
                <a:latin typeface="Symbol" pitchFamily="18" charset="2"/>
              </a:rPr>
              <a:t>¬</a:t>
            </a:r>
            <a:r>
              <a:rPr lang="en-US" altLang="zh-CN" dirty="0">
                <a:latin typeface="宋体" pitchFamily="2" charset="-122"/>
              </a:rPr>
              <a:t>adr11</a:t>
            </a:r>
            <a:endParaRPr lang="en-US" altLang="zh-CN" baseline="-25000" dirty="0">
              <a:latin typeface="宋体" pitchFamily="2" charset="-122"/>
            </a:endParaRPr>
          </a:p>
          <a:p>
            <a:pPr marL="0">
              <a:buNone/>
            </a:pPr>
            <a:r>
              <a:rPr lang="en-US" altLang="zh-CN" dirty="0">
                <a:latin typeface="宋体" pitchFamily="2" charset="-122"/>
              </a:rPr>
              <a:t>                   ；PC</a:t>
            </a:r>
            <a:r>
              <a:rPr lang="en-US" altLang="zh-CN" baseline="-25000" dirty="0">
                <a:latin typeface="宋体" pitchFamily="2" charset="-122"/>
              </a:rPr>
              <a:t>15～11</a:t>
            </a:r>
            <a:r>
              <a:rPr lang="zh-CN" altLang="en-US" dirty="0">
                <a:latin typeface="宋体" pitchFamily="2" charset="-122"/>
              </a:rPr>
              <a:t>不变</a:t>
            </a:r>
            <a:endParaRPr lang="zh-CN" altLang="en-US" dirty="0">
              <a:latin typeface="宋体" pitchFamily="2" charset="-122"/>
            </a:endParaRPr>
          </a:p>
          <a:p>
            <a:pPr marL="0">
              <a:buNone/>
            </a:pPr>
            <a:r>
              <a:rPr lang="zh-CN" altLang="en-US" sz="2400" dirty="0">
                <a:latin typeface="宋体" pitchFamily="2" charset="-122"/>
              </a:rPr>
              <a:t>      指令转移范围：2</a:t>
            </a:r>
            <a:r>
              <a:rPr lang="en-US" altLang="zh-CN" sz="2400" dirty="0">
                <a:latin typeface="宋体" pitchFamily="2" charset="-122"/>
              </a:rPr>
              <a:t>KB</a:t>
            </a:r>
            <a:endParaRPr lang="en-US" altLang="zh-CN" sz="2400" dirty="0">
              <a:latin typeface="宋体" pitchFamily="2" charset="-122"/>
            </a:endParaRPr>
          </a:p>
          <a:p>
            <a:pPr marL="0">
              <a:buNone/>
            </a:pPr>
            <a:r>
              <a:rPr lang="zh-CN" altLang="en-US" sz="2400" dirty="0">
                <a:latin typeface="宋体" pitchFamily="2" charset="-122"/>
              </a:rPr>
              <a:t>      转移时要求转移前后保持 </a:t>
            </a:r>
            <a:r>
              <a:rPr lang="en-US" altLang="zh-CN" sz="2400" dirty="0">
                <a:latin typeface="宋体" pitchFamily="2" charset="-122"/>
              </a:rPr>
              <a:t>PC</a:t>
            </a:r>
            <a:r>
              <a:rPr lang="en-US" altLang="zh-CN" sz="2400" baseline="-25000" dirty="0">
                <a:latin typeface="宋体" pitchFamily="2" charset="-122"/>
              </a:rPr>
              <a:t>15～11</a:t>
            </a:r>
            <a:r>
              <a:rPr lang="zh-CN" altLang="en-US" sz="2400" dirty="0">
                <a:latin typeface="宋体" pitchFamily="2" charset="-122"/>
              </a:rPr>
              <a:t>不变。</a:t>
            </a:r>
            <a:endParaRPr lang="zh-CN" altLang="en-US" sz="2400" dirty="0">
              <a:latin typeface="宋体" pitchFamily="2" charset="-122"/>
            </a:endParaRPr>
          </a:p>
          <a:p>
            <a:pPr marL="0">
              <a:buNone/>
            </a:pPr>
            <a:r>
              <a:rPr lang="zh-CN" altLang="en-US" dirty="0">
                <a:latin typeface="宋体" pitchFamily="2" charset="-122"/>
              </a:rPr>
              <a:t> </a:t>
            </a:r>
            <a:r>
              <a:rPr lang="en-US" altLang="zh-CN" dirty="0">
                <a:latin typeface="宋体" pitchFamily="2" charset="-122"/>
              </a:rPr>
              <a:t>2</a:t>
            </a:r>
            <a:r>
              <a:rPr lang="zh-CN" altLang="en-US" dirty="0">
                <a:latin typeface="宋体" pitchFamily="2" charset="-122"/>
              </a:rPr>
              <a:t>.长转移指令：</a:t>
            </a:r>
            <a:br>
              <a:rPr lang="zh-CN" altLang="en-US" dirty="0">
                <a:latin typeface="宋体" pitchFamily="2" charset="-122"/>
              </a:rPr>
            </a:br>
            <a:r>
              <a:rPr lang="zh-CN" altLang="en-US" dirty="0">
                <a:latin typeface="宋体" pitchFamily="2" charset="-122"/>
              </a:rPr>
              <a:t>		</a:t>
            </a:r>
            <a:r>
              <a:rPr lang="en-US" altLang="zh-CN" dirty="0">
                <a:solidFill>
                  <a:srgbClr val="F5171C"/>
                </a:solidFill>
                <a:latin typeface="宋体" pitchFamily="2" charset="-122"/>
              </a:rPr>
              <a:t>LJMP	 addr16</a:t>
            </a:r>
            <a:r>
              <a:rPr lang="en-US" altLang="zh-CN" dirty="0">
                <a:latin typeface="宋体" pitchFamily="2" charset="-122"/>
              </a:rPr>
              <a:t>	 </a:t>
            </a:r>
            <a:r>
              <a:rPr lang="zh-CN" altLang="en-US" dirty="0">
                <a:latin typeface="宋体" pitchFamily="2" charset="-122"/>
              </a:rPr>
              <a:t>；</a:t>
            </a:r>
            <a:r>
              <a:rPr lang="en-US" altLang="zh-CN" dirty="0">
                <a:latin typeface="宋体" pitchFamily="2" charset="-122"/>
              </a:rPr>
              <a:t>PC </a:t>
            </a:r>
            <a:r>
              <a:rPr lang="en-US" altLang="zh-CN" dirty="0">
                <a:latin typeface="Symbol" pitchFamily="18" charset="2"/>
              </a:rPr>
              <a:t>¬</a:t>
            </a:r>
            <a:r>
              <a:rPr lang="en-US" altLang="zh-CN" dirty="0">
                <a:latin typeface="宋体" pitchFamily="2" charset="-122"/>
              </a:rPr>
              <a:t> addr16 </a:t>
            </a:r>
            <a:br>
              <a:rPr lang="en-US" altLang="zh-CN" dirty="0">
                <a:latin typeface="宋体" pitchFamily="2" charset="-122"/>
              </a:rPr>
            </a:br>
            <a:r>
              <a:rPr lang="en-US" altLang="zh-CN" sz="2400" baseline="-25000" dirty="0">
                <a:latin typeface="宋体" pitchFamily="2" charset="-122"/>
              </a:rPr>
              <a:t>	 </a:t>
            </a:r>
            <a:r>
              <a:rPr lang="zh-CN" altLang="en-US" sz="2400" dirty="0">
                <a:latin typeface="宋体" pitchFamily="2" charset="-122"/>
              </a:rPr>
              <a:t>指令转移范围：64</a:t>
            </a:r>
            <a:r>
              <a:rPr lang="en-US" altLang="zh-CN" sz="2400" dirty="0">
                <a:latin typeface="宋体" pitchFamily="2" charset="-122"/>
              </a:rPr>
              <a:t>KB，</a:t>
            </a:r>
            <a:r>
              <a:rPr lang="zh-CN" altLang="en-US" sz="2400" dirty="0">
                <a:latin typeface="宋体" pitchFamily="2" charset="-122"/>
              </a:rPr>
              <a:t>无条件转移，不影响任何标志位</a:t>
            </a:r>
            <a:endParaRPr lang="zh-CN" altLang="zh-CN" sz="2400" dirty="0">
              <a:solidFill>
                <a:srgbClr val="FFC000"/>
              </a:solidFill>
              <a:latin typeface="宋体" pitchFamily="2" charset="-122"/>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140290" name="Rectangle 3"/>
          <p:cNvSpPr>
            <a:spLocks noGrp="1"/>
          </p:cNvSpPr>
          <p:nvPr>
            <p:ph type="body" idx="4294967295"/>
          </p:nvPr>
        </p:nvSpPr>
        <p:spPr>
          <a:xfrm>
            <a:off x="357188" y="857250"/>
            <a:ext cx="8786812" cy="5572125"/>
          </a:xfrm>
        </p:spPr>
        <p:txBody>
          <a:bodyPr vert="horz" wrap="square" lIns="91440" tIns="45720" rIns="91440" bIns="45720" anchor="t" anchorCtr="0"/>
          <a:p>
            <a:pPr marL="0" indent="0">
              <a:lnSpc>
                <a:spcPct val="100000"/>
              </a:lnSpc>
              <a:spcBef>
                <a:spcPct val="0"/>
              </a:spcBef>
              <a:buNone/>
            </a:pPr>
            <a:r>
              <a:rPr lang="zh-CN" altLang="en-US" dirty="0">
                <a:latin typeface="宋体" pitchFamily="2" charset="-122"/>
              </a:rPr>
              <a:t>3.短转移指令： </a:t>
            </a:r>
            <a:endParaRPr lang="zh-CN" altLang="en-US" dirty="0">
              <a:latin typeface="宋体" pitchFamily="2" charset="-122"/>
            </a:endParaRPr>
          </a:p>
          <a:p>
            <a:pPr marL="0" indent="0">
              <a:lnSpc>
                <a:spcPct val="100000"/>
              </a:lnSpc>
              <a:spcBef>
                <a:spcPct val="0"/>
              </a:spcBef>
              <a:buNone/>
            </a:pPr>
            <a:r>
              <a:rPr lang="zh-CN" altLang="en-US" dirty="0">
                <a:latin typeface="宋体" pitchFamily="2" charset="-122"/>
              </a:rPr>
              <a:t> 	</a:t>
            </a:r>
            <a:r>
              <a:rPr lang="en-US" altLang="zh-CN" dirty="0">
                <a:solidFill>
                  <a:srgbClr val="FF0000"/>
                </a:solidFill>
                <a:latin typeface="宋体" pitchFamily="2" charset="-122"/>
              </a:rPr>
              <a:t>SJMP</a:t>
            </a:r>
            <a:r>
              <a:rPr lang="en-US" altLang="zh-CN" dirty="0">
                <a:latin typeface="宋体" pitchFamily="2" charset="-122"/>
              </a:rPr>
              <a:t>   </a:t>
            </a:r>
            <a:r>
              <a:rPr lang="en-US" altLang="zh-CN" dirty="0">
                <a:solidFill>
                  <a:srgbClr val="FF0000"/>
                </a:solidFill>
                <a:latin typeface="宋体" pitchFamily="2" charset="-122"/>
              </a:rPr>
              <a:t>rel</a:t>
            </a:r>
            <a:r>
              <a:rPr lang="en-US" altLang="zh-CN" dirty="0">
                <a:latin typeface="宋体" pitchFamily="2" charset="-122"/>
              </a:rPr>
              <a:t> ；PC</a:t>
            </a:r>
            <a:r>
              <a:rPr lang="en-US" altLang="zh-CN" dirty="0">
                <a:latin typeface="Symbol" pitchFamily="18" charset="2"/>
              </a:rPr>
              <a:t>¬(</a:t>
            </a:r>
            <a:r>
              <a:rPr lang="en-US" altLang="zh-CN" dirty="0">
                <a:latin typeface="宋体" pitchFamily="2" charset="-122"/>
              </a:rPr>
              <a:t>PC)+2，PC</a:t>
            </a:r>
            <a:r>
              <a:rPr lang="en-US" altLang="zh-CN" dirty="0">
                <a:latin typeface="Symbol" pitchFamily="18" charset="2"/>
              </a:rPr>
              <a:t>¬(</a:t>
            </a:r>
            <a:r>
              <a:rPr lang="en-US" altLang="zh-CN" dirty="0">
                <a:latin typeface="宋体" pitchFamily="2" charset="-122"/>
              </a:rPr>
              <a:t>PC)+rel</a:t>
            </a:r>
            <a:endParaRPr lang="en-US" altLang="zh-CN" dirty="0">
              <a:latin typeface="宋体" pitchFamily="2" charset="-122"/>
            </a:endParaRPr>
          </a:p>
          <a:p>
            <a:pPr marL="0" indent="0">
              <a:lnSpc>
                <a:spcPct val="100000"/>
              </a:lnSpc>
              <a:spcBef>
                <a:spcPct val="0"/>
              </a:spcBef>
              <a:buNone/>
            </a:pPr>
            <a:r>
              <a:rPr lang="zh-CN" altLang="en-US" dirty="0">
                <a:latin typeface="宋体" pitchFamily="2" charset="-122"/>
              </a:rPr>
              <a:t>相对偏移量 </a:t>
            </a:r>
            <a:r>
              <a:rPr lang="en-US" altLang="zh-CN" dirty="0">
                <a:latin typeface="宋体" pitchFamily="2" charset="-122"/>
              </a:rPr>
              <a:t>rel</a:t>
            </a:r>
            <a:r>
              <a:rPr lang="zh-CN" altLang="en-US" dirty="0">
                <a:latin typeface="宋体" pitchFamily="2" charset="-122"/>
              </a:rPr>
              <a:t>为8位补码。</a:t>
            </a:r>
            <a:r>
              <a:rPr lang="zh-CN" altLang="en-US" dirty="0">
                <a:solidFill>
                  <a:srgbClr val="A40079"/>
                </a:solidFill>
                <a:latin typeface="宋体" pitchFamily="2" charset="-122"/>
              </a:rPr>
              <a:t> </a:t>
            </a:r>
            <a:endParaRPr lang="zh-CN" altLang="en-US" dirty="0">
              <a:latin typeface="宋体" pitchFamily="2" charset="-122"/>
            </a:endParaRPr>
          </a:p>
          <a:p>
            <a:pPr marL="0" indent="0">
              <a:lnSpc>
                <a:spcPct val="100000"/>
              </a:lnSpc>
              <a:spcBef>
                <a:spcPct val="0"/>
              </a:spcBef>
              <a:buNone/>
            </a:pPr>
            <a:r>
              <a:rPr lang="zh-CN" altLang="en-US" dirty="0">
                <a:latin typeface="宋体" pitchFamily="2" charset="-122"/>
              </a:rPr>
              <a:t>指令转移范围：前128～后127字节</a:t>
            </a:r>
            <a:endParaRPr lang="zh-CN" altLang="en-US" dirty="0">
              <a:latin typeface="宋体" pitchFamily="2" charset="-122"/>
            </a:endParaRPr>
          </a:p>
          <a:p>
            <a:pPr marL="0" indent="0">
              <a:lnSpc>
                <a:spcPct val="100000"/>
              </a:lnSpc>
              <a:spcBef>
                <a:spcPct val="0"/>
              </a:spcBef>
              <a:buNone/>
            </a:pPr>
            <a:endParaRPr lang="zh-CN" altLang="en-US" dirty="0">
              <a:latin typeface="宋体" pitchFamily="2" charset="-122"/>
            </a:endParaRPr>
          </a:p>
          <a:p>
            <a:pPr marL="0" indent="0">
              <a:lnSpc>
                <a:spcPct val="100000"/>
              </a:lnSpc>
              <a:spcBef>
                <a:spcPct val="0"/>
              </a:spcBef>
            </a:pPr>
            <a:r>
              <a:rPr lang="zh-CN" altLang="en-US" dirty="0">
                <a:solidFill>
                  <a:schemeClr val="hlink"/>
                </a:solidFill>
                <a:latin typeface="宋体" pitchFamily="2" charset="-122"/>
              </a:rPr>
              <a:t>相对偏移量 </a:t>
            </a:r>
            <a:r>
              <a:rPr lang="en-US" altLang="zh-CN" dirty="0">
                <a:solidFill>
                  <a:schemeClr val="hlink"/>
                </a:solidFill>
                <a:latin typeface="宋体" pitchFamily="2" charset="-122"/>
              </a:rPr>
              <a:t>rel </a:t>
            </a:r>
            <a:r>
              <a:rPr lang="zh-CN" altLang="en-US" dirty="0">
                <a:solidFill>
                  <a:schemeClr val="hlink"/>
                </a:solidFill>
                <a:latin typeface="宋体" pitchFamily="2" charset="-122"/>
              </a:rPr>
              <a:t>的计算式：</a:t>
            </a:r>
            <a:endParaRPr lang="zh-CN" altLang="en-US" dirty="0">
              <a:solidFill>
                <a:schemeClr val="hlink"/>
              </a:solidFill>
              <a:latin typeface="宋体" pitchFamily="2" charset="-122"/>
            </a:endParaRPr>
          </a:p>
          <a:p>
            <a:pPr marL="609600" lvl="2" indent="-228600">
              <a:spcBef>
                <a:spcPct val="0"/>
              </a:spcBef>
              <a:buNone/>
            </a:pPr>
            <a:r>
              <a:rPr lang="en-US" altLang="zh-CN" sz="2800" dirty="0">
                <a:latin typeface="宋体" pitchFamily="2" charset="-122"/>
              </a:rPr>
              <a:t>rel = </a:t>
            </a:r>
            <a:r>
              <a:rPr lang="zh-CN" altLang="en-US" sz="2800" dirty="0">
                <a:latin typeface="宋体" pitchFamily="2" charset="-122"/>
              </a:rPr>
              <a:t>目的指令地址 -(转移指令地址+指令字节数)         	= 目的地址 - </a:t>
            </a:r>
            <a:r>
              <a:rPr lang="en-US" altLang="zh-CN" sz="2800" dirty="0">
                <a:latin typeface="宋体" pitchFamily="2" charset="-122"/>
              </a:rPr>
              <a:t>PC</a:t>
            </a:r>
            <a:r>
              <a:rPr lang="zh-CN" altLang="en-US" sz="2800" dirty="0">
                <a:latin typeface="宋体" pitchFamily="2" charset="-122"/>
              </a:rPr>
              <a:t>当前值</a:t>
            </a:r>
            <a:endParaRPr lang="zh-CN" altLang="en-US" sz="2800" dirty="0">
              <a:latin typeface="宋体" pitchFamily="2" charset="-122"/>
            </a:endParaRPr>
          </a:p>
          <a:p>
            <a:pPr marL="0" indent="0">
              <a:lnSpc>
                <a:spcPct val="100000"/>
              </a:lnSpc>
              <a:spcBef>
                <a:spcPct val="0"/>
              </a:spcBef>
              <a:buNone/>
            </a:pPr>
            <a:r>
              <a:rPr lang="zh-CN" altLang="en-US" dirty="0">
                <a:solidFill>
                  <a:schemeClr val="accent2"/>
                </a:solidFill>
                <a:latin typeface="宋体" pitchFamily="2" charset="-122"/>
                <a:ea typeface="黑体" panose="02010609060101010101" pitchFamily="49" charset="-122"/>
              </a:rPr>
              <a:t>编程时，用</a:t>
            </a:r>
            <a:r>
              <a:rPr lang="zh-CN" altLang="en-US" dirty="0">
                <a:solidFill>
                  <a:srgbClr val="FF3300"/>
                </a:solidFill>
                <a:latin typeface="宋体" pitchFamily="2" charset="-122"/>
                <a:ea typeface="黑体" panose="02010609060101010101" pitchFamily="49" charset="-122"/>
              </a:rPr>
              <a:t>标号</a:t>
            </a:r>
            <a:r>
              <a:rPr lang="zh-CN" altLang="en-US" dirty="0">
                <a:solidFill>
                  <a:schemeClr val="accent2"/>
                </a:solidFill>
                <a:latin typeface="宋体" pitchFamily="2" charset="-122"/>
                <a:ea typeface="黑体" panose="02010609060101010101" pitchFamily="49" charset="-122"/>
              </a:rPr>
              <a:t>代替转移</a:t>
            </a:r>
            <a:r>
              <a:rPr lang="zh-CN" altLang="en-US" dirty="0">
                <a:solidFill>
                  <a:srgbClr val="FF3300"/>
                </a:solidFill>
                <a:latin typeface="宋体" pitchFamily="2" charset="-122"/>
                <a:ea typeface="黑体" panose="02010609060101010101" pitchFamily="49" charset="-122"/>
              </a:rPr>
              <a:t>目的地址</a:t>
            </a:r>
            <a:r>
              <a:rPr lang="zh-CN" altLang="en-US" dirty="0">
                <a:solidFill>
                  <a:schemeClr val="accent2"/>
                </a:solidFill>
                <a:latin typeface="宋体" pitchFamily="2" charset="-122"/>
                <a:ea typeface="黑体" panose="02010609060101010101" pitchFamily="49" charset="-122"/>
              </a:rPr>
              <a:t>，转移指令的操作数交给汇编程序计算。</a:t>
            </a:r>
            <a:br>
              <a:rPr lang="zh-CN" altLang="en-US" dirty="0">
                <a:latin typeface="宋体" pitchFamily="2" charset="-122"/>
              </a:rPr>
            </a:br>
            <a:r>
              <a:rPr lang="zh-CN" altLang="en-US" dirty="0">
                <a:latin typeface="宋体" pitchFamily="2" charset="-122"/>
              </a:rPr>
              <a:t>		</a:t>
            </a:r>
            <a:r>
              <a:rPr lang="en-US" altLang="zh-CN" dirty="0">
                <a:latin typeface="宋体" pitchFamily="2" charset="-122"/>
              </a:rPr>
              <a:t>LJMP  NEXT  </a:t>
            </a:r>
            <a:r>
              <a:rPr lang="en-US" altLang="zh-CN" dirty="0">
                <a:solidFill>
                  <a:schemeClr val="folHlink"/>
                </a:solidFill>
                <a:latin typeface="宋体" pitchFamily="2" charset="-122"/>
              </a:rPr>
              <a:t>[</a:t>
            </a:r>
            <a:r>
              <a:rPr lang="en-US" altLang="zh-CN" dirty="0">
                <a:solidFill>
                  <a:srgbClr val="12A103"/>
                </a:solidFill>
                <a:latin typeface="宋体" pitchFamily="2" charset="-122"/>
              </a:rPr>
              <a:t>AJMP  NEXT</a:t>
            </a:r>
            <a:r>
              <a:rPr lang="en-US" altLang="zh-CN" dirty="0">
                <a:solidFill>
                  <a:schemeClr val="accent1"/>
                </a:solidFill>
                <a:latin typeface="宋体" pitchFamily="2" charset="-122"/>
              </a:rPr>
              <a:t> </a:t>
            </a:r>
            <a:r>
              <a:rPr lang="en-US" altLang="zh-CN" dirty="0">
                <a:latin typeface="宋体" pitchFamily="2" charset="-122"/>
              </a:rPr>
              <a:t>SJMP  NEXT</a:t>
            </a:r>
            <a:r>
              <a:rPr lang="en-US" altLang="zh-CN" dirty="0">
                <a:solidFill>
                  <a:schemeClr val="folHlink"/>
                </a:solidFill>
                <a:latin typeface="宋体" pitchFamily="2" charset="-122"/>
              </a:rPr>
              <a:t>]</a:t>
            </a:r>
            <a:r>
              <a:rPr lang="en-US" altLang="zh-CN" dirty="0">
                <a:latin typeface="宋体" pitchFamily="2" charset="-122"/>
              </a:rPr>
              <a:t>			   </a:t>
            </a:r>
            <a:r>
              <a:rPr lang="en-US" altLang="zh-CN" dirty="0">
                <a:latin typeface="Times New Roman" panose="02020503050405090304" pitchFamily="18" charset="0"/>
              </a:rPr>
              <a:t>…</a:t>
            </a:r>
            <a:br>
              <a:rPr lang="en-US" altLang="zh-CN" dirty="0">
                <a:latin typeface="宋体" pitchFamily="2" charset="-122"/>
              </a:rPr>
            </a:br>
            <a:r>
              <a:rPr lang="en-US" altLang="zh-CN" dirty="0">
                <a:latin typeface="宋体" pitchFamily="2" charset="-122"/>
              </a:rPr>
              <a:t>     NEXT： </a:t>
            </a:r>
            <a:endParaRPr lang="zh-CN" altLang="zh-CN" dirty="0">
              <a:solidFill>
                <a:srgbClr val="FFC000"/>
              </a:solidFill>
              <a:latin typeface="宋体" pitchFamily="2" charset="-122"/>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107523" name="Rectangle 3"/>
          <p:cNvSpPr>
            <a:spLocks noGrp="1"/>
          </p:cNvSpPr>
          <p:nvPr>
            <p:ph type="body" idx="4294967295"/>
          </p:nvPr>
        </p:nvSpPr>
        <p:spPr>
          <a:xfrm>
            <a:off x="468313" y="1125538"/>
            <a:ext cx="8429625" cy="5572125"/>
          </a:xfrm>
        </p:spPr>
        <p:txBody>
          <a:bodyPr vert="horz" wrap="square" lIns="91440" tIns="45720" rIns="91440" bIns="45720" anchor="t" anchorCtr="0"/>
          <a:p>
            <a:pPr marL="0">
              <a:lnSpc>
                <a:spcPct val="100000"/>
              </a:lnSpc>
              <a:spcBef>
                <a:spcPct val="0"/>
              </a:spcBef>
              <a:buNone/>
            </a:pPr>
            <a:r>
              <a:rPr lang="zh-CN" altLang="en-US" dirty="0">
                <a:solidFill>
                  <a:schemeClr val="folHlink"/>
                </a:solidFill>
                <a:latin typeface="宋体" pitchFamily="2" charset="-122"/>
              </a:rPr>
              <a:t>例：</a:t>
            </a:r>
            <a:r>
              <a:rPr lang="zh-CN" altLang="en-US" dirty="0">
                <a:latin typeface="宋体" pitchFamily="2" charset="-122"/>
              </a:rPr>
              <a:t>计算转移指令的相对偏移量 </a:t>
            </a:r>
            <a:r>
              <a:rPr lang="en-US" altLang="zh-CN" dirty="0">
                <a:latin typeface="宋体" pitchFamily="2" charset="-122"/>
              </a:rPr>
              <a:t>e ，</a:t>
            </a:r>
            <a:r>
              <a:rPr lang="zh-CN" altLang="en-US" dirty="0">
                <a:latin typeface="宋体" pitchFamily="2" charset="-122"/>
              </a:rPr>
              <a:t>并判断是否超出转移范围。</a:t>
            </a:r>
            <a:endParaRPr lang="zh-CN" altLang="en-US" dirty="0">
              <a:latin typeface="宋体" pitchFamily="2" charset="-122"/>
            </a:endParaRPr>
          </a:p>
          <a:p>
            <a:pPr marL="0">
              <a:lnSpc>
                <a:spcPct val="100000"/>
              </a:lnSpc>
              <a:spcBef>
                <a:spcPct val="0"/>
              </a:spcBef>
              <a:buNone/>
            </a:pPr>
            <a:endParaRPr lang="en-US" altLang="zh-CN" dirty="0">
              <a:latin typeface="宋体" pitchFamily="2" charset="-122"/>
            </a:endParaRPr>
          </a:p>
          <a:p>
            <a:pPr marL="0">
              <a:lnSpc>
                <a:spcPct val="100000"/>
              </a:lnSpc>
              <a:spcBef>
                <a:spcPct val="0"/>
              </a:spcBef>
              <a:buNone/>
            </a:pPr>
            <a:r>
              <a:rPr lang="zh-CN" altLang="en-US" dirty="0">
                <a:latin typeface="宋体" pitchFamily="2" charset="-122"/>
              </a:rPr>
              <a:t>    指令地址		   </a:t>
            </a:r>
            <a:r>
              <a:rPr lang="zh-CN" altLang="en-US" dirty="0">
                <a:solidFill>
                  <a:srgbClr val="FF3300"/>
                </a:solidFill>
                <a:latin typeface="宋体" pitchFamily="2" charset="-122"/>
              </a:rPr>
              <a:t>源程序	</a:t>
            </a:r>
            <a:r>
              <a:rPr lang="zh-CN" altLang="en-US" dirty="0">
                <a:latin typeface="宋体" pitchFamily="2" charset="-122"/>
              </a:rPr>
              <a:t>			</a:t>
            </a:r>
            <a:endParaRPr lang="zh-CN" altLang="en-US" dirty="0">
              <a:latin typeface="宋体" pitchFamily="2" charset="-122"/>
            </a:endParaRPr>
          </a:p>
          <a:p>
            <a:pPr marL="0">
              <a:lnSpc>
                <a:spcPct val="100000"/>
              </a:lnSpc>
              <a:spcBef>
                <a:spcPct val="0"/>
              </a:spcBef>
              <a:buNone/>
            </a:pPr>
            <a:r>
              <a:rPr lang="zh-CN" altLang="en-US" dirty="0">
                <a:latin typeface="宋体" pitchFamily="2" charset="-122"/>
              </a:rPr>
              <a:t>    2130</a:t>
            </a:r>
            <a:r>
              <a:rPr lang="en-US" altLang="zh-CN" dirty="0">
                <a:latin typeface="宋体" pitchFamily="2" charset="-122"/>
              </a:rPr>
              <a:t>H			    </a:t>
            </a:r>
            <a:r>
              <a:rPr lang="en-US" altLang="zh-CN" dirty="0">
                <a:solidFill>
                  <a:srgbClr val="FF3300"/>
                </a:solidFill>
                <a:latin typeface="宋体" pitchFamily="2" charset="-122"/>
              </a:rPr>
              <a:t>SJMP  NEXT</a:t>
            </a:r>
            <a:endParaRPr lang="en-US" altLang="zh-CN" dirty="0">
              <a:solidFill>
                <a:srgbClr val="FF3300"/>
              </a:solidFill>
              <a:latin typeface="宋体" pitchFamily="2" charset="-122"/>
            </a:endParaRPr>
          </a:p>
          <a:p>
            <a:pPr marL="0">
              <a:lnSpc>
                <a:spcPct val="100000"/>
              </a:lnSpc>
              <a:spcBef>
                <a:spcPct val="0"/>
              </a:spcBef>
              <a:buNone/>
            </a:pPr>
            <a:r>
              <a:rPr lang="en-US" altLang="zh-CN" dirty="0">
                <a:latin typeface="宋体" pitchFamily="2" charset="-122"/>
              </a:rPr>
              <a:t>	                </a:t>
            </a:r>
            <a:r>
              <a:rPr lang="en-US" altLang="zh-CN" dirty="0">
                <a:solidFill>
                  <a:srgbClr val="FF3300"/>
                </a:solidFill>
                <a:latin typeface="宋体" pitchFamily="2" charset="-122"/>
              </a:rPr>
              <a:t> </a:t>
            </a:r>
            <a:r>
              <a:rPr lang="en-US" altLang="zh-CN" dirty="0">
                <a:solidFill>
                  <a:srgbClr val="FF3300"/>
                </a:solidFill>
                <a:latin typeface="Times New Roman" panose="02020503050405090304" pitchFamily="18" charset="0"/>
              </a:rPr>
              <a:t>…</a:t>
            </a:r>
            <a:r>
              <a:rPr lang="en-US" altLang="zh-CN" dirty="0">
                <a:latin typeface="宋体" pitchFamily="2" charset="-122"/>
              </a:rPr>
              <a:t> </a:t>
            </a:r>
            <a:endParaRPr lang="en-US" altLang="zh-CN" dirty="0">
              <a:latin typeface="宋体" pitchFamily="2" charset="-122"/>
            </a:endParaRPr>
          </a:p>
          <a:p>
            <a:pPr marL="0">
              <a:lnSpc>
                <a:spcPct val="100000"/>
              </a:lnSpc>
              <a:spcBef>
                <a:spcPct val="0"/>
              </a:spcBef>
              <a:buNone/>
            </a:pPr>
            <a:r>
              <a:rPr lang="zh-CN" altLang="en-US" dirty="0">
                <a:latin typeface="宋体" pitchFamily="2" charset="-122"/>
              </a:rPr>
              <a:t>    2150</a:t>
            </a:r>
            <a:r>
              <a:rPr lang="en-US" altLang="zh-CN" dirty="0">
                <a:latin typeface="宋体" pitchFamily="2" charset="-122"/>
              </a:rPr>
              <a:t>H	   </a:t>
            </a:r>
            <a:r>
              <a:rPr lang="en-US" altLang="zh-CN" dirty="0">
                <a:solidFill>
                  <a:srgbClr val="FF3300"/>
                </a:solidFill>
                <a:latin typeface="宋体" pitchFamily="2" charset="-122"/>
              </a:rPr>
              <a:t>NEXT：MOV  A，R2</a:t>
            </a:r>
            <a:endParaRPr lang="en-US" altLang="zh-CN" dirty="0">
              <a:solidFill>
                <a:srgbClr val="FF3300"/>
              </a:solidFill>
              <a:latin typeface="宋体" pitchFamily="2" charset="-122"/>
            </a:endParaRPr>
          </a:p>
          <a:p>
            <a:pPr marL="0">
              <a:lnSpc>
                <a:spcPct val="100000"/>
              </a:lnSpc>
              <a:spcBef>
                <a:spcPct val="0"/>
              </a:spcBef>
              <a:buNone/>
            </a:pPr>
            <a:endParaRPr lang="en-US" altLang="zh-CN" dirty="0">
              <a:latin typeface="宋体" pitchFamily="2" charset="-122"/>
            </a:endParaRPr>
          </a:p>
          <a:p>
            <a:pPr marL="0">
              <a:lnSpc>
                <a:spcPct val="100000"/>
              </a:lnSpc>
              <a:spcBef>
                <a:spcPct val="0"/>
              </a:spcBef>
              <a:buNone/>
            </a:pPr>
            <a:r>
              <a:rPr lang="zh-CN" altLang="en-US" dirty="0">
                <a:latin typeface="宋体" pitchFamily="2" charset="-122"/>
              </a:rPr>
              <a:t>  相对偏移量 = 2150</a:t>
            </a:r>
            <a:r>
              <a:rPr lang="en-US" altLang="zh-CN" dirty="0">
                <a:latin typeface="宋体" pitchFamily="2" charset="-122"/>
              </a:rPr>
              <a:t>H -(2130H+2)= 001EH，		</a:t>
            </a:r>
            <a:endParaRPr lang="en-US" altLang="zh-CN" dirty="0">
              <a:latin typeface="宋体" pitchFamily="2" charset="-122"/>
            </a:endParaRPr>
          </a:p>
          <a:p>
            <a:pPr marL="0">
              <a:lnSpc>
                <a:spcPct val="100000"/>
              </a:lnSpc>
              <a:spcBef>
                <a:spcPct val="0"/>
              </a:spcBef>
              <a:buNone/>
            </a:pPr>
            <a:r>
              <a:rPr lang="zh-CN" altLang="en-US" dirty="0">
                <a:latin typeface="宋体" pitchFamily="2" charset="-122"/>
              </a:rPr>
              <a:t>  只取低8位：</a:t>
            </a:r>
            <a:r>
              <a:rPr lang="en-US" altLang="zh-CN" dirty="0">
                <a:latin typeface="宋体" pitchFamily="2" charset="-122"/>
              </a:rPr>
              <a:t>e = 1EH	</a:t>
            </a:r>
            <a:endParaRPr lang="zh-CN" altLang="zh-CN" dirty="0">
              <a:solidFill>
                <a:srgbClr val="FFC000"/>
              </a:solidFill>
              <a:latin typeface="宋体" pitchFamily="2" charset="-122"/>
            </a:endParaRPr>
          </a:p>
        </p:txBody>
      </p:sp>
      <p:sp>
        <p:nvSpPr>
          <p:cNvPr id="141315" name="Text Box 5"/>
          <p:cNvSpPr txBox="1"/>
          <p:nvPr/>
        </p:nvSpPr>
        <p:spPr>
          <a:xfrm>
            <a:off x="3203575" y="5661025"/>
            <a:ext cx="2520950" cy="457200"/>
          </a:xfrm>
          <a:prstGeom prst="rect">
            <a:avLst/>
          </a:prstGeom>
          <a:noFill/>
          <a:ln w="9525">
            <a:noFill/>
          </a:ln>
        </p:spPr>
        <p:txBody>
          <a:bodyPr lIns="360000" rIns="180000" anchor="t" anchorCtr="0">
            <a:spAutoFit/>
          </a:bodyPr>
          <a:p>
            <a:pPr indent="-342900" defTabSz="425450" eaLnBrk="0" hangingPunct="0">
              <a:spcBef>
                <a:spcPct val="50000"/>
              </a:spcBef>
            </a:pPr>
            <a:endParaRPr lang="zh-CN" altLang="en-US" dirty="0">
              <a:latin typeface="Times New Roman" panose="02020503050405090304" pitchFamily="18" charset="0"/>
              <a:ea typeface="仿宋_GB2312" pitchFamily="49" charset="-122"/>
            </a:endParaRPr>
          </a:p>
        </p:txBody>
      </p:sp>
      <p:sp>
        <p:nvSpPr>
          <p:cNvPr id="106501" name="Text Box 6"/>
          <p:cNvSpPr txBox="1"/>
          <p:nvPr/>
        </p:nvSpPr>
        <p:spPr>
          <a:xfrm>
            <a:off x="2700338" y="5661025"/>
            <a:ext cx="5688012" cy="457200"/>
          </a:xfrm>
          <a:prstGeom prst="rect">
            <a:avLst/>
          </a:prstGeom>
          <a:noFill/>
          <a:ln w="9525">
            <a:noFill/>
          </a:ln>
        </p:spPr>
        <p:txBody>
          <a:bodyPr lIns="360000" rIns="180000" anchor="t" anchorCtr="0">
            <a:spAutoFit/>
          </a:bodyPr>
          <a:p>
            <a:pPr indent="-342900" defTabSz="425450" eaLnBrk="0" hangingPunct="0">
              <a:spcBef>
                <a:spcPct val="50000"/>
              </a:spcBef>
            </a:pPr>
            <a:r>
              <a:rPr lang="en-US" altLang="zh-CN" dirty="0">
                <a:latin typeface="Times New Roman" panose="02020503050405090304" pitchFamily="18" charset="0"/>
                <a:ea typeface="仿宋_GB2312" pitchFamily="49" charset="-122"/>
              </a:rPr>
              <a:t>      </a:t>
            </a:r>
            <a:r>
              <a:rPr lang="en-US" altLang="zh-CN" dirty="0">
                <a:solidFill>
                  <a:schemeClr val="accent2"/>
                </a:solidFill>
                <a:latin typeface="Times New Roman" panose="02020503050405090304" pitchFamily="18" charset="0"/>
                <a:ea typeface="仿宋_GB2312" pitchFamily="49" charset="-122"/>
              </a:rPr>
              <a:t>e=</a:t>
            </a:r>
            <a:r>
              <a:rPr lang="en-US" altLang="zh-CN" dirty="0">
                <a:solidFill>
                  <a:schemeClr val="accent2"/>
                </a:solidFill>
                <a:latin typeface="黑体" panose="02010609060101010101" pitchFamily="49" charset="-122"/>
                <a:ea typeface="黑体" panose="02010609060101010101" pitchFamily="49" charset="-122"/>
              </a:rPr>
              <a:t>1EH</a:t>
            </a:r>
            <a:r>
              <a:rPr lang="en-US" altLang="zh-CN" dirty="0">
                <a:solidFill>
                  <a:srgbClr val="FF3300"/>
                </a:solidFill>
                <a:latin typeface="黑体" panose="02010609060101010101" pitchFamily="49" charset="-122"/>
                <a:ea typeface="黑体" panose="02010609060101010101" pitchFamily="49" charset="-122"/>
              </a:rPr>
              <a:t>&lt;127,</a:t>
            </a:r>
            <a:r>
              <a:rPr lang="zh-CN" altLang="en-US" dirty="0">
                <a:solidFill>
                  <a:srgbClr val="FF3300"/>
                </a:solidFill>
                <a:latin typeface="黑体" panose="02010609060101010101" pitchFamily="49" charset="-122"/>
                <a:ea typeface="黑体" panose="02010609060101010101" pitchFamily="49" charset="-122"/>
              </a:rPr>
              <a:t>满足</a:t>
            </a:r>
            <a:r>
              <a:rPr lang="en-US" altLang="zh-CN" dirty="0">
                <a:solidFill>
                  <a:srgbClr val="FF3300"/>
                </a:solidFill>
                <a:latin typeface="黑体" panose="02010609060101010101" pitchFamily="49" charset="-122"/>
                <a:ea typeface="黑体" panose="02010609060101010101" pitchFamily="49" charset="-122"/>
              </a:rPr>
              <a:t>SJMP</a:t>
            </a:r>
            <a:r>
              <a:rPr lang="zh-CN" altLang="en-US" dirty="0">
                <a:solidFill>
                  <a:srgbClr val="FF3300"/>
                </a:solidFill>
                <a:latin typeface="黑体" panose="02010609060101010101" pitchFamily="49" charset="-122"/>
                <a:ea typeface="黑体" panose="02010609060101010101" pitchFamily="49" charset="-122"/>
              </a:rPr>
              <a:t>转移范围要求</a:t>
            </a:r>
            <a:endParaRPr lang="zh-CN" altLang="en-US" dirty="0">
              <a:solidFill>
                <a:srgbClr val="FF33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7523">
                                            <p:txEl>
                                              <p:charRg st="130" end="167"/>
                                            </p:txEl>
                                          </p:spTgt>
                                        </p:tgtEl>
                                        <p:attrNameLst>
                                          <p:attrName>style.visibility</p:attrName>
                                        </p:attrNameLst>
                                      </p:cBhvr>
                                      <p:to>
                                        <p:strVal val="visible"/>
                                      </p:to>
                                    </p:set>
                                    <p:animEffect transition="in" filter="blinds(horizontal)">
                                      <p:cBhvr>
                                        <p:cTn id="7" dur="500"/>
                                        <p:tgtEl>
                                          <p:spTgt spid="107523">
                                            <p:txEl>
                                              <p:charRg st="130" end="167"/>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7523">
                                            <p:txEl>
                                              <p:charRg st="167" end="184"/>
                                            </p:txEl>
                                          </p:spTgt>
                                        </p:tgtEl>
                                        <p:attrNameLst>
                                          <p:attrName>style.visibility</p:attrName>
                                        </p:attrNameLst>
                                      </p:cBhvr>
                                      <p:to>
                                        <p:strVal val="visible"/>
                                      </p:to>
                                    </p:set>
                                    <p:animEffect transition="in" filter="blinds(horizontal)">
                                      <p:cBhvr>
                                        <p:cTn id="12" dur="500"/>
                                        <p:tgtEl>
                                          <p:spTgt spid="107523">
                                            <p:txEl>
                                              <p:charRg st="167" end="18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65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3" grpId="0" uiExpand="1" build="p"/>
      <p:bldP spid="106501"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142338" name="Rectangle 3"/>
          <p:cNvSpPr>
            <a:spLocks noGrp="1"/>
          </p:cNvSpPr>
          <p:nvPr>
            <p:ph type="body" idx="4294967295"/>
          </p:nvPr>
        </p:nvSpPr>
        <p:spPr>
          <a:xfrm>
            <a:off x="571500" y="857250"/>
            <a:ext cx="8572500" cy="1500188"/>
          </a:xfrm>
        </p:spPr>
        <p:txBody>
          <a:bodyPr vert="horz" wrap="square" lIns="91440" tIns="45720" rIns="91440" bIns="45720" anchor="t" anchorCtr="0"/>
          <a:p>
            <a:pPr marL="0" indent="0">
              <a:lnSpc>
                <a:spcPct val="110000"/>
              </a:lnSpc>
              <a:buNone/>
            </a:pPr>
            <a:r>
              <a:rPr lang="zh-CN" altLang="en-US" dirty="0"/>
              <a:t>4．</a:t>
            </a:r>
            <a:r>
              <a:rPr lang="zh-CN" altLang="en-US" dirty="0">
                <a:latin typeface="宋体" pitchFamily="2" charset="-122"/>
              </a:rPr>
              <a:t>间接转移指令(多分支转移指令)				 </a:t>
            </a:r>
            <a:endParaRPr lang="zh-CN" altLang="en-US" dirty="0">
              <a:latin typeface="宋体" pitchFamily="2" charset="-122"/>
            </a:endParaRPr>
          </a:p>
          <a:p>
            <a:pPr marL="0" indent="0">
              <a:lnSpc>
                <a:spcPct val="110000"/>
              </a:lnSpc>
              <a:buNone/>
            </a:pPr>
            <a:r>
              <a:rPr lang="en-US" altLang="zh-CN" dirty="0">
                <a:latin typeface="宋体" pitchFamily="2" charset="-122"/>
              </a:rPr>
              <a:t>   </a:t>
            </a:r>
            <a:r>
              <a:rPr lang="en-US" altLang="zh-CN" dirty="0">
                <a:solidFill>
                  <a:srgbClr val="FF0000"/>
                </a:solidFill>
                <a:latin typeface="宋体" pitchFamily="2" charset="-122"/>
              </a:rPr>
              <a:t>JMP @A+DPTR. </a:t>
            </a:r>
            <a:r>
              <a:rPr lang="en-US" altLang="zh-CN" dirty="0">
                <a:latin typeface="宋体" pitchFamily="2" charset="-122"/>
              </a:rPr>
              <a:t>；PC</a:t>
            </a:r>
            <a:r>
              <a:rPr lang="en-US" altLang="zh-CN" dirty="0">
                <a:latin typeface="Symbol" pitchFamily="18" charset="2"/>
              </a:rPr>
              <a:t>¬(</a:t>
            </a:r>
            <a:r>
              <a:rPr lang="en-US" altLang="zh-CN" dirty="0">
                <a:latin typeface="宋体" pitchFamily="2" charset="-122"/>
              </a:rPr>
              <a:t>A)+(DPTR)</a:t>
            </a:r>
            <a:endParaRPr lang="en-US" altLang="zh-CN" dirty="0">
              <a:latin typeface="宋体" pitchFamily="2" charset="-122"/>
            </a:endParaRPr>
          </a:p>
          <a:p>
            <a:pPr marL="0" indent="0">
              <a:lnSpc>
                <a:spcPct val="110000"/>
              </a:lnSpc>
              <a:buNone/>
            </a:pPr>
            <a:r>
              <a:rPr lang="zh-CN" altLang="en-US" dirty="0">
                <a:latin typeface="宋体" pitchFamily="2" charset="-122"/>
              </a:rPr>
              <a:t>   </a:t>
            </a:r>
            <a:r>
              <a:rPr lang="zh-CN" altLang="en-US" dirty="0">
                <a:solidFill>
                  <a:schemeClr val="tx2"/>
                </a:solidFill>
                <a:latin typeface="宋体" pitchFamily="2" charset="-122"/>
              </a:rPr>
              <a:t>指令转移范围64</a:t>
            </a:r>
            <a:r>
              <a:rPr lang="en-US" altLang="zh-CN" dirty="0">
                <a:solidFill>
                  <a:schemeClr val="tx2"/>
                </a:solidFill>
                <a:latin typeface="宋体" pitchFamily="2" charset="-122"/>
              </a:rPr>
              <a:t>KB。</a:t>
            </a:r>
            <a:endParaRPr lang="zh-CN" altLang="en-US" dirty="0">
              <a:solidFill>
                <a:schemeClr val="tx2"/>
              </a:solidFill>
              <a:latin typeface="宋体" pitchFamily="2" charset="-122"/>
            </a:endParaRPr>
          </a:p>
          <a:p>
            <a:pPr marL="0" indent="0" algn="just">
              <a:lnSpc>
                <a:spcPct val="100000"/>
              </a:lnSpc>
              <a:spcBef>
                <a:spcPct val="0"/>
              </a:spcBef>
              <a:buNone/>
            </a:pPr>
            <a:endParaRPr lang="zh-CN" altLang="zh-CN" dirty="0">
              <a:solidFill>
                <a:srgbClr val="FFC000"/>
              </a:solidFill>
              <a:latin typeface="宋体" pitchFamily="2" charset="-122"/>
            </a:endParaRPr>
          </a:p>
        </p:txBody>
      </p:sp>
      <p:sp>
        <p:nvSpPr>
          <p:cNvPr id="142339" name="TextBox 3"/>
          <p:cNvSpPr txBox="1"/>
          <p:nvPr/>
        </p:nvSpPr>
        <p:spPr>
          <a:xfrm>
            <a:off x="571500" y="2678113"/>
            <a:ext cx="8245475" cy="830262"/>
          </a:xfrm>
          <a:prstGeom prst="rect">
            <a:avLst/>
          </a:prstGeom>
          <a:noFill/>
          <a:ln w="9525">
            <a:noFill/>
          </a:ln>
        </p:spPr>
        <p:txBody>
          <a:bodyPr wrap="square" anchor="t" anchorCtr="0">
            <a:spAutoFit/>
          </a:bodyPr>
          <a:p>
            <a:pPr eaLnBrk="0" hangingPunct="0">
              <a:buClrTx/>
              <a:buFontTx/>
            </a:pPr>
            <a:r>
              <a:rPr lang="zh-CN" altLang="en-US" dirty="0">
                <a:latin typeface="宋体" pitchFamily="2" charset="-122"/>
                <a:ea typeface="仿宋_GB2312" pitchFamily="49" charset="-122"/>
              </a:rPr>
              <a:t> </a:t>
            </a:r>
            <a:r>
              <a:rPr lang="zh-CN" altLang="en-US" dirty="0">
                <a:solidFill>
                  <a:srgbClr val="12A103"/>
                </a:solidFill>
                <a:latin typeface="楷体_GB2312" pitchFamily="49" charset="-122"/>
                <a:ea typeface="楷体_GB2312" pitchFamily="49" charset="-122"/>
              </a:rPr>
              <a:t>应用：</a:t>
            </a:r>
            <a:r>
              <a:rPr lang="zh-CN" altLang="en-US" dirty="0">
                <a:latin typeface="楷体_GB2312" pitchFamily="49" charset="-122"/>
                <a:ea typeface="楷体_GB2312" pitchFamily="49" charset="-122"/>
              </a:rPr>
              <a:t>处理功能键。</a:t>
            </a:r>
            <a:endParaRPr lang="zh-CN" altLang="en-US" dirty="0">
              <a:latin typeface="楷体_GB2312" pitchFamily="49" charset="-122"/>
              <a:ea typeface="楷体_GB2312" pitchFamily="49" charset="-122"/>
            </a:endParaRPr>
          </a:p>
          <a:p>
            <a:pPr eaLnBrk="0" hangingPunct="0">
              <a:buClrTx/>
              <a:buFontTx/>
            </a:pPr>
            <a:r>
              <a:rPr lang="zh-CN" altLang="en-US" dirty="0">
                <a:latin typeface="楷体_GB2312" pitchFamily="49" charset="-122"/>
                <a:ea typeface="楷体_GB2312" pitchFamily="49" charset="-122"/>
              </a:rPr>
              <a:t>根据累加器</a:t>
            </a:r>
            <a:r>
              <a:rPr lang="en-US" altLang="zh-CN">
                <a:latin typeface="楷体_GB2312" pitchFamily="49" charset="-122"/>
                <a:ea typeface="楷体_GB2312" pitchFamily="49" charset="-122"/>
              </a:rPr>
              <a:t>A</a:t>
            </a:r>
            <a:r>
              <a:rPr lang="zh-CN" altLang="en-US" dirty="0">
                <a:latin typeface="楷体_GB2312" pitchFamily="49" charset="-122"/>
                <a:ea typeface="楷体_GB2312" pitchFamily="49" charset="-122"/>
              </a:rPr>
              <a:t>中键值的不同跳转到相应的程序。</a:t>
            </a:r>
            <a:endParaRPr lang="zh-CN" altLang="en-US" dirty="0">
              <a:latin typeface="Times New Roman" panose="02020503050405090304" pitchFamily="18" charset="0"/>
              <a:ea typeface="仿宋_GB2312" pitchFamily="49" charset="-122"/>
            </a:endParaRPr>
          </a:p>
        </p:txBody>
      </p:sp>
      <p:sp>
        <p:nvSpPr>
          <p:cNvPr id="142340" name="TextBox 4"/>
          <p:cNvSpPr txBox="1"/>
          <p:nvPr/>
        </p:nvSpPr>
        <p:spPr>
          <a:xfrm>
            <a:off x="1092200" y="3446463"/>
            <a:ext cx="8334375" cy="3046412"/>
          </a:xfrm>
          <a:prstGeom prst="rect">
            <a:avLst/>
          </a:prstGeom>
          <a:noFill/>
          <a:ln w="9525">
            <a:noFill/>
          </a:ln>
        </p:spPr>
        <p:txBody>
          <a:bodyPr wrap="square" anchor="t" anchorCtr="0">
            <a:spAutoFit/>
          </a:bodyPr>
          <a:p>
            <a:pPr eaLnBrk="0" hangingPunct="0">
              <a:buClrTx/>
              <a:buFontTx/>
            </a:pPr>
            <a:r>
              <a:rPr lang="en-US" altLang="zh-CN" dirty="0">
                <a:latin typeface="宋体" pitchFamily="2" charset="-122"/>
                <a:ea typeface="仿宋_GB2312" pitchFamily="49" charset="-122"/>
              </a:rPr>
              <a:t>KEY:	 CLR C  ;</a:t>
            </a:r>
            <a:r>
              <a:rPr lang="zh-CN" altLang="en-US" dirty="0">
                <a:latin typeface="宋体" pitchFamily="2" charset="-122"/>
                <a:ea typeface="仿宋_GB2312" pitchFamily="49" charset="-122"/>
              </a:rPr>
              <a:t>清进位</a:t>
            </a:r>
            <a:endParaRPr lang="zh-CN" altLang="en-US" dirty="0">
              <a:latin typeface="宋体" pitchFamily="2" charset="-122"/>
              <a:ea typeface="仿宋_GB2312" pitchFamily="49" charset="-122"/>
            </a:endParaRPr>
          </a:p>
          <a:p>
            <a:pPr marL="381000" lvl="2" indent="533400" eaLnBrk="0" hangingPunct="0">
              <a:buClrTx/>
              <a:buFontTx/>
            </a:pPr>
            <a:r>
              <a:rPr lang="en-US" altLang="zh-CN" dirty="0">
                <a:latin typeface="宋体" pitchFamily="2" charset="-122"/>
                <a:ea typeface="仿宋_GB2312" pitchFamily="49" charset="-122"/>
              </a:rPr>
              <a:t> </a:t>
            </a:r>
            <a:r>
              <a:rPr lang="en-US" altLang="zh-CN">
                <a:latin typeface="楷体_GB2312" pitchFamily="49" charset="-122"/>
                <a:ea typeface="楷体_GB2312" pitchFamily="49" charset="-122"/>
              </a:rPr>
              <a:t>RLC A  </a:t>
            </a:r>
            <a:r>
              <a:rPr lang="zh-CN" altLang="en-US" dirty="0">
                <a:latin typeface="楷体_GB2312" pitchFamily="49" charset="-122"/>
                <a:ea typeface="楷体_GB2312" pitchFamily="49" charset="-122"/>
              </a:rPr>
              <a:t>；将</a:t>
            </a:r>
            <a:r>
              <a:rPr lang="en-US" altLang="zh-CN">
                <a:latin typeface="楷体_GB2312" pitchFamily="49" charset="-122"/>
                <a:ea typeface="楷体_GB2312" pitchFamily="49" charset="-122"/>
              </a:rPr>
              <a:t>A</a:t>
            </a:r>
            <a:r>
              <a:rPr lang="zh-CN" altLang="en-US" dirty="0">
                <a:latin typeface="楷体_GB2312" pitchFamily="49" charset="-122"/>
                <a:ea typeface="楷体_GB2312" pitchFamily="49" charset="-122"/>
              </a:rPr>
              <a:t>值乘</a:t>
            </a:r>
            <a:r>
              <a:rPr lang="en-US" altLang="zh-CN">
                <a:latin typeface="楷体_GB2312" pitchFamily="49" charset="-122"/>
                <a:ea typeface="楷体_GB2312" pitchFamily="49" charset="-122"/>
              </a:rPr>
              <a:t>2</a:t>
            </a:r>
            <a:r>
              <a:rPr lang="zh-CN" altLang="en-US" dirty="0">
                <a:latin typeface="楷体_GB2312" pitchFamily="49" charset="-122"/>
                <a:ea typeface="楷体_GB2312" pitchFamily="49" charset="-122"/>
              </a:rPr>
              <a:t>，因为</a:t>
            </a:r>
            <a:r>
              <a:rPr lang="en-US" altLang="zh-CN">
                <a:latin typeface="楷体_GB2312" pitchFamily="49" charset="-122"/>
                <a:ea typeface="楷体_GB2312" pitchFamily="49" charset="-122"/>
              </a:rPr>
              <a:t>AJMP </a:t>
            </a:r>
            <a:r>
              <a:rPr lang="zh-CN" altLang="en-US" dirty="0">
                <a:latin typeface="楷体_GB2312" pitchFamily="49" charset="-122"/>
                <a:ea typeface="楷体_GB2312" pitchFamily="49" charset="-122"/>
              </a:rPr>
              <a:t>指令为双字节指令</a:t>
            </a:r>
            <a:endParaRPr lang="zh-CN" altLang="en-US" dirty="0">
              <a:latin typeface="楷体_GB2312" pitchFamily="49" charset="-122"/>
              <a:ea typeface="楷体_GB2312" pitchFamily="49" charset="-122"/>
            </a:endParaRPr>
          </a:p>
          <a:p>
            <a:pPr marL="381000" lvl="2" indent="533400" eaLnBrk="0" hangingPunct="0">
              <a:buClrTx/>
              <a:buFontTx/>
            </a:pPr>
            <a:r>
              <a:rPr lang="en-US" altLang="zh-CN" dirty="0">
                <a:latin typeface="宋体" pitchFamily="2" charset="-122"/>
                <a:ea typeface="仿宋_GB2312" pitchFamily="49" charset="-122"/>
              </a:rPr>
              <a:t> MOV DPTR,#KTAB</a:t>
            </a:r>
            <a:endParaRPr lang="en-US" altLang="zh-CN" dirty="0">
              <a:latin typeface="宋体" pitchFamily="2" charset="-122"/>
              <a:ea typeface="仿宋_GB2312" pitchFamily="49" charset="-122"/>
            </a:endParaRPr>
          </a:p>
          <a:p>
            <a:pPr marL="381000" lvl="2" indent="533400" eaLnBrk="0" hangingPunct="0">
              <a:buClrTx/>
              <a:buFontTx/>
            </a:pPr>
            <a:r>
              <a:rPr lang="en-US" altLang="zh-CN" dirty="0">
                <a:latin typeface="宋体" pitchFamily="2" charset="-122"/>
                <a:ea typeface="仿宋_GB2312" pitchFamily="49" charset="-122"/>
              </a:rPr>
              <a:t> JMP @A+DPTR</a:t>
            </a:r>
            <a:endParaRPr lang="zh-CN" altLang="en-US" dirty="0">
              <a:latin typeface="宋体" pitchFamily="2" charset="-122"/>
              <a:ea typeface="仿宋_GB2312" pitchFamily="49" charset="-122"/>
            </a:endParaRPr>
          </a:p>
          <a:p>
            <a:pPr eaLnBrk="0" hangingPunct="0">
              <a:buClrTx/>
              <a:buFontTx/>
            </a:pPr>
            <a:r>
              <a:rPr lang="en-US" altLang="zh-CN" dirty="0">
                <a:latin typeface="宋体" pitchFamily="2" charset="-122"/>
                <a:ea typeface="仿宋_GB2312" pitchFamily="49" charset="-122"/>
              </a:rPr>
              <a:t>KTAB:	 AJMP FUNC0	 </a:t>
            </a:r>
            <a:endParaRPr lang="zh-CN" altLang="en-US" dirty="0">
              <a:latin typeface="宋体" pitchFamily="2" charset="-122"/>
              <a:ea typeface="仿宋_GB2312" pitchFamily="49" charset="-122"/>
            </a:endParaRPr>
          </a:p>
          <a:p>
            <a:pPr eaLnBrk="0" hangingPunct="0">
              <a:buClrTx/>
              <a:buFontTx/>
            </a:pPr>
            <a:r>
              <a:rPr lang="zh-CN" altLang="en-US" dirty="0">
                <a:latin typeface="宋体" pitchFamily="2" charset="-122"/>
                <a:ea typeface="仿宋_GB2312" pitchFamily="49" charset="-122"/>
              </a:rPr>
              <a:t>	 </a:t>
            </a:r>
            <a:r>
              <a:rPr lang="en-US" altLang="zh-CN" dirty="0">
                <a:latin typeface="宋体" pitchFamily="2" charset="-122"/>
                <a:ea typeface="仿宋_GB2312" pitchFamily="49" charset="-122"/>
              </a:rPr>
              <a:t>AJMP FUNC1</a:t>
            </a:r>
            <a:endParaRPr lang="en-US" altLang="zh-CN" dirty="0">
              <a:latin typeface="宋体" pitchFamily="2" charset="-122"/>
              <a:ea typeface="仿宋_GB2312" pitchFamily="49" charset="-122"/>
            </a:endParaRPr>
          </a:p>
          <a:p>
            <a:pPr eaLnBrk="0" hangingPunct="0">
              <a:buClrTx/>
              <a:buFontTx/>
            </a:pPr>
            <a:r>
              <a:rPr lang="en-US" altLang="zh-CN" dirty="0">
                <a:latin typeface="宋体" pitchFamily="2" charset="-122"/>
                <a:ea typeface="仿宋_GB2312" pitchFamily="49" charset="-122"/>
              </a:rPr>
              <a:t>	   </a:t>
            </a:r>
            <a:r>
              <a:rPr lang="en-US" altLang="zh-CN" dirty="0">
                <a:latin typeface="Times New Roman" panose="02020503050405090304" pitchFamily="18" charset="0"/>
                <a:ea typeface="仿宋_GB2312" pitchFamily="49" charset="-122"/>
              </a:rPr>
              <a:t>…</a:t>
            </a:r>
            <a:endParaRPr lang="en-US" altLang="zh-CN" dirty="0">
              <a:latin typeface="宋体" pitchFamily="2" charset="-122"/>
              <a:ea typeface="仿宋_GB2312" pitchFamily="49" charset="-122"/>
            </a:endParaRPr>
          </a:p>
          <a:p>
            <a:pPr eaLnBrk="0" hangingPunct="0">
              <a:buClrTx/>
              <a:buFontTx/>
            </a:pPr>
            <a:r>
              <a:rPr lang="en-US" altLang="zh-CN" dirty="0">
                <a:latin typeface="宋体" pitchFamily="2" charset="-122"/>
                <a:ea typeface="仿宋_GB2312" pitchFamily="49" charset="-122"/>
              </a:rPr>
              <a:t>FUNC0:  </a:t>
            </a:r>
            <a:r>
              <a:rPr lang="en-US" altLang="zh-CN" dirty="0">
                <a:latin typeface="Times New Roman" panose="02020503050405090304" pitchFamily="18" charset="0"/>
                <a:ea typeface="仿宋_GB2312" pitchFamily="49" charset="-122"/>
              </a:rPr>
              <a:t>…</a:t>
            </a:r>
            <a:r>
              <a:rPr lang="en-US" altLang="zh-CN" dirty="0">
                <a:latin typeface="宋体" pitchFamily="2" charset="-122"/>
                <a:ea typeface="仿宋_GB2312" pitchFamily="49" charset="-122"/>
              </a:rPr>
              <a:t>	</a:t>
            </a:r>
            <a:endParaRPr lang="zh-CN" altLang="en-US" dirty="0">
              <a:latin typeface="Times New Roman" panose="02020503050405090304" pitchFamily="18" charset="0"/>
              <a:ea typeface="仿宋_GB2312" pitchFamily="49" charset="-122"/>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143362" name="Rectangle 3"/>
          <p:cNvSpPr>
            <a:spLocks noGrp="1"/>
          </p:cNvSpPr>
          <p:nvPr>
            <p:ph type="body" idx="4294967295"/>
          </p:nvPr>
        </p:nvSpPr>
        <p:spPr>
          <a:xfrm>
            <a:off x="428625" y="928688"/>
            <a:ext cx="8715375" cy="5572125"/>
          </a:xfrm>
        </p:spPr>
        <p:txBody>
          <a:bodyPr vert="horz" wrap="square" lIns="91440" tIns="45720" rIns="91440" bIns="45720" anchor="t" anchorCtr="0"/>
          <a:p>
            <a:pPr marL="0" algn="just">
              <a:lnSpc>
                <a:spcPct val="90000"/>
              </a:lnSpc>
              <a:spcBef>
                <a:spcPct val="0"/>
              </a:spcBef>
              <a:buNone/>
            </a:pPr>
            <a:r>
              <a:rPr lang="zh-CN" altLang="en-US" dirty="0">
                <a:latin typeface="宋体" pitchFamily="2" charset="-122"/>
              </a:rPr>
              <a:t>二．条件转移指令</a:t>
            </a:r>
            <a:endParaRPr lang="en-US" altLang="zh-CN" dirty="0">
              <a:latin typeface="宋体" pitchFamily="2" charset="-122"/>
            </a:endParaRPr>
          </a:p>
          <a:p>
            <a:pPr marL="0" algn="just">
              <a:lnSpc>
                <a:spcPct val="90000"/>
              </a:lnSpc>
              <a:spcBef>
                <a:spcPct val="0"/>
              </a:spcBef>
              <a:buNone/>
            </a:pPr>
            <a:r>
              <a:rPr lang="zh-CN" altLang="en-US" sz="2400" dirty="0">
                <a:latin typeface="宋体" pitchFamily="2" charset="-122"/>
              </a:rPr>
              <a:t>    根据给出的条件进行检测, 若条件满足, 则程序转向指定的目的地址(目的地址是以下一条指令的起始地址为中心的- 128～ + 127 共 256 字节范围)去执行。</a:t>
            </a:r>
            <a:endParaRPr lang="zh-CN" altLang="en-US" sz="2400" dirty="0">
              <a:latin typeface="宋体" pitchFamily="2" charset="-122"/>
            </a:endParaRPr>
          </a:p>
          <a:p>
            <a:pPr marL="0">
              <a:lnSpc>
                <a:spcPct val="90000"/>
              </a:lnSpc>
              <a:buNone/>
            </a:pPr>
            <a:r>
              <a:rPr lang="en-US" altLang="zh-CN" dirty="0">
                <a:latin typeface="宋体" pitchFamily="2" charset="-122"/>
              </a:rPr>
              <a:t>  1.</a:t>
            </a:r>
            <a:r>
              <a:rPr lang="zh-CN" altLang="en-US" dirty="0">
                <a:latin typeface="宋体" pitchFamily="2" charset="-122"/>
              </a:rPr>
              <a:t>判零转移指令			</a:t>
            </a:r>
            <a:endParaRPr lang="en-US" altLang="zh-CN" dirty="0">
              <a:latin typeface="宋体" pitchFamily="2" charset="-122"/>
            </a:endParaRPr>
          </a:p>
          <a:p>
            <a:pPr marL="0">
              <a:lnSpc>
                <a:spcPct val="90000"/>
              </a:lnSpc>
              <a:spcBef>
                <a:spcPct val="0"/>
              </a:spcBef>
              <a:buNone/>
            </a:pPr>
            <a:r>
              <a:rPr lang="zh-CN" altLang="en-US" dirty="0">
                <a:latin typeface="宋体" pitchFamily="2" charset="-122"/>
              </a:rPr>
              <a:t>		   </a:t>
            </a:r>
            <a:r>
              <a:rPr lang="en-US" altLang="zh-CN" dirty="0">
                <a:solidFill>
                  <a:srgbClr val="FF0000"/>
                </a:solidFill>
                <a:latin typeface="宋体" pitchFamily="2" charset="-122"/>
              </a:rPr>
              <a:t>JZ   rel  	</a:t>
            </a:r>
            <a:r>
              <a:rPr lang="en-US" altLang="zh-CN" dirty="0">
                <a:latin typeface="宋体" pitchFamily="2" charset="-122"/>
              </a:rPr>
              <a:t>；PC←PC+2，</a:t>
            </a:r>
            <a:endParaRPr lang="en-US" altLang="zh-CN" dirty="0">
              <a:latin typeface="宋体" pitchFamily="2" charset="-122"/>
            </a:endParaRPr>
          </a:p>
          <a:p>
            <a:pPr marL="0">
              <a:lnSpc>
                <a:spcPct val="90000"/>
              </a:lnSpc>
              <a:spcBef>
                <a:spcPct val="0"/>
              </a:spcBef>
              <a:buNone/>
            </a:pPr>
            <a:r>
              <a:rPr lang="en-US" altLang="zh-CN" dirty="0">
                <a:latin typeface="宋体" pitchFamily="2" charset="-122"/>
              </a:rPr>
              <a:t>				         ；</a:t>
            </a:r>
            <a:r>
              <a:rPr lang="zh-CN" altLang="en-US" dirty="0">
                <a:latin typeface="宋体" pitchFamily="2" charset="-122"/>
              </a:rPr>
              <a:t>若</a:t>
            </a:r>
            <a:r>
              <a:rPr lang="en-US" altLang="zh-CN" dirty="0">
                <a:latin typeface="宋体" pitchFamily="2" charset="-122"/>
              </a:rPr>
              <a:t>A=00H，PC←PC+</a:t>
            </a:r>
            <a:r>
              <a:rPr lang="en-US" altLang="zh-CN" dirty="0">
                <a:solidFill>
                  <a:srgbClr val="FF0000"/>
                </a:solidFill>
                <a:latin typeface="宋体" pitchFamily="2" charset="-122"/>
              </a:rPr>
              <a:t>rel</a:t>
            </a:r>
            <a:r>
              <a:rPr lang="en-US" altLang="zh-CN" dirty="0">
                <a:latin typeface="宋体" pitchFamily="2" charset="-122"/>
              </a:rPr>
              <a:t>(</a:t>
            </a:r>
            <a:r>
              <a:rPr lang="zh-CN" altLang="zh-CN" dirty="0">
                <a:latin typeface="宋体" pitchFamily="2" charset="-122"/>
              </a:rPr>
              <a:t>转移</a:t>
            </a:r>
            <a:r>
              <a:rPr lang="zh-CN" altLang="en-US" dirty="0">
                <a:latin typeface="宋体" pitchFamily="2" charset="-122"/>
              </a:rPr>
              <a:t>)，			              ；若</a:t>
            </a:r>
            <a:r>
              <a:rPr lang="en-US" altLang="zh-CN" dirty="0">
                <a:latin typeface="宋体" pitchFamily="2" charset="-122"/>
              </a:rPr>
              <a:t>A≠00H，PC</a:t>
            </a:r>
            <a:r>
              <a:rPr lang="zh-CN" altLang="en-US" dirty="0">
                <a:latin typeface="宋体" pitchFamily="2" charset="-122"/>
              </a:rPr>
              <a:t>不变(不转移)</a:t>
            </a:r>
            <a:endParaRPr lang="en-US" altLang="zh-CN" dirty="0">
              <a:latin typeface="宋体" pitchFamily="2" charset="-122"/>
            </a:endParaRPr>
          </a:p>
          <a:p>
            <a:pPr marL="0">
              <a:lnSpc>
                <a:spcPct val="90000"/>
              </a:lnSpc>
              <a:spcBef>
                <a:spcPct val="0"/>
              </a:spcBef>
              <a:buNone/>
            </a:pPr>
            <a:r>
              <a:rPr lang="en-US" altLang="zh-CN" dirty="0">
                <a:solidFill>
                  <a:srgbClr val="FF0000"/>
                </a:solidFill>
                <a:latin typeface="宋体" pitchFamily="2" charset="-122"/>
              </a:rPr>
              <a:t>        JNZ  rel	  </a:t>
            </a:r>
            <a:r>
              <a:rPr lang="en-US" altLang="zh-CN" dirty="0">
                <a:latin typeface="宋体" pitchFamily="2" charset="-122"/>
              </a:rPr>
              <a:t>；PC←PC+2</a:t>
            </a:r>
            <a:endParaRPr lang="en-US" altLang="zh-CN" dirty="0">
              <a:latin typeface="宋体" pitchFamily="2" charset="-122"/>
            </a:endParaRPr>
          </a:p>
          <a:p>
            <a:pPr marL="0" algn="ctr">
              <a:lnSpc>
                <a:spcPct val="90000"/>
              </a:lnSpc>
              <a:spcBef>
                <a:spcPct val="0"/>
              </a:spcBef>
              <a:buNone/>
            </a:pPr>
            <a:r>
              <a:rPr lang="zh-CN" altLang="en-US" dirty="0">
                <a:latin typeface="宋体" pitchFamily="2" charset="-122"/>
              </a:rPr>
              <a:t>                ；若</a:t>
            </a:r>
            <a:r>
              <a:rPr lang="en-US" altLang="zh-CN" dirty="0">
                <a:latin typeface="宋体" pitchFamily="2" charset="-122"/>
              </a:rPr>
              <a:t>A≠00H，PC←PC+</a:t>
            </a:r>
            <a:r>
              <a:rPr lang="en-US" altLang="zh-CN" dirty="0">
                <a:solidFill>
                  <a:srgbClr val="FF0000"/>
                </a:solidFill>
                <a:latin typeface="宋体" pitchFamily="2" charset="-122"/>
              </a:rPr>
              <a:t>rel</a:t>
            </a:r>
            <a:r>
              <a:rPr lang="en-US" altLang="zh-CN" dirty="0">
                <a:latin typeface="宋体" pitchFamily="2" charset="-122"/>
              </a:rPr>
              <a:t>(</a:t>
            </a:r>
            <a:r>
              <a:rPr lang="zh-CN" altLang="en-US" dirty="0">
                <a:latin typeface="宋体" pitchFamily="2" charset="-122"/>
              </a:rPr>
              <a:t>转移)</a:t>
            </a:r>
            <a:endParaRPr lang="zh-CN" altLang="en-US" dirty="0">
              <a:latin typeface="宋体" pitchFamily="2" charset="-122"/>
            </a:endParaRPr>
          </a:p>
          <a:p>
            <a:pPr marL="0" algn="ctr">
              <a:lnSpc>
                <a:spcPct val="90000"/>
              </a:lnSpc>
              <a:spcBef>
                <a:spcPct val="0"/>
              </a:spcBef>
              <a:buNone/>
            </a:pPr>
            <a:r>
              <a:rPr lang="zh-CN" altLang="en-US" dirty="0">
                <a:latin typeface="宋体" pitchFamily="2" charset="-122"/>
              </a:rPr>
              <a:t>	            ；若</a:t>
            </a:r>
            <a:r>
              <a:rPr lang="en-US" altLang="zh-CN" dirty="0">
                <a:latin typeface="宋体" pitchFamily="2" charset="-122"/>
              </a:rPr>
              <a:t>A=00H，PC</a:t>
            </a:r>
            <a:r>
              <a:rPr lang="zh-CN" altLang="en-US" dirty="0">
                <a:latin typeface="宋体" pitchFamily="2" charset="-122"/>
              </a:rPr>
              <a:t>不变(不转移) </a:t>
            </a:r>
            <a:endParaRPr lang="en-US" altLang="zh-CN" dirty="0">
              <a:latin typeface="宋体" pitchFamily="2" charset="-122"/>
            </a:endParaRPr>
          </a:p>
          <a:p>
            <a:pPr marL="0">
              <a:lnSpc>
                <a:spcPct val="90000"/>
              </a:lnSpc>
              <a:spcBef>
                <a:spcPct val="0"/>
              </a:spcBef>
              <a:buNone/>
            </a:pPr>
            <a:r>
              <a:rPr lang="zh-CN" altLang="en-US" dirty="0">
                <a:latin typeface="宋体" pitchFamily="2" charset="-122"/>
              </a:rPr>
              <a:t>  </a:t>
            </a:r>
            <a:endParaRPr lang="zh-CN" altLang="en-US" dirty="0">
              <a:latin typeface="宋体" pitchFamily="2" charset="-122"/>
            </a:endParaRPr>
          </a:p>
          <a:p>
            <a:pPr marL="0">
              <a:buNone/>
            </a:pPr>
            <a:endParaRPr lang="zh-CN" altLang="en-US" dirty="0">
              <a:latin typeface="宋体" pitchFamily="2" charset="-122"/>
            </a:endParaRPr>
          </a:p>
          <a:p>
            <a:pPr marL="0" algn="just">
              <a:lnSpc>
                <a:spcPct val="100000"/>
              </a:lnSpc>
              <a:spcBef>
                <a:spcPct val="0"/>
              </a:spcBef>
              <a:buNone/>
            </a:pPr>
            <a:endParaRPr lang="zh-CN" altLang="en-US" sz="3600" dirty="0">
              <a:latin typeface="宋体" pitchFamily="2" charset="-122"/>
            </a:endParaRPr>
          </a:p>
          <a:p>
            <a:pPr marL="0" algn="just">
              <a:lnSpc>
                <a:spcPct val="100000"/>
              </a:lnSpc>
              <a:spcBef>
                <a:spcPct val="0"/>
              </a:spcBef>
              <a:buNone/>
            </a:pPr>
            <a:endParaRPr lang="zh-CN" altLang="zh-CN" dirty="0">
              <a:solidFill>
                <a:srgbClr val="FFC000"/>
              </a:solidFill>
              <a:latin typeface="宋体" pitchFamily="2" charset="-122"/>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133122" name="Rectangle 3"/>
          <p:cNvSpPr>
            <a:spLocks noGrp="1"/>
          </p:cNvSpPr>
          <p:nvPr>
            <p:ph type="body" idx="4294967295"/>
          </p:nvPr>
        </p:nvSpPr>
        <p:spPr>
          <a:xfrm>
            <a:off x="428625" y="928688"/>
            <a:ext cx="8715375" cy="5572125"/>
          </a:xfrm>
        </p:spPr>
        <p:txBody>
          <a:bodyPr vert="horz" wrap="square" lIns="91440" tIns="45720" rIns="91440" bIns="45720" anchor="t"/>
          <a:p>
            <a:pPr marL="0" marR="0" indent="-342900" algn="just" defTabSz="425450" rtl="0" eaLnBrk="0" fontAlgn="base" latinLnBrk="0" hangingPunct="0">
              <a:lnSpc>
                <a:spcPct val="90000"/>
              </a:lnSpc>
              <a:spcBef>
                <a:spcPct val="0"/>
              </a:spcBef>
              <a:spcAft>
                <a:spcPct val="0"/>
              </a:spcAft>
              <a:buClr>
                <a:schemeClr val="folHlink"/>
              </a:buClr>
              <a:buSzTx/>
              <a:buFont typeface="Wingdings" panose="05000000000000000000" pitchFamily="2" charset="2"/>
              <a:buNone/>
            </a:pPr>
            <a:r>
              <a:rPr kumimoji="1" lang="zh-CN" altLang="en-US" sz="2800" b="1" i="0" u="none" strike="noStrike" kern="0" cap="none" spc="0" normalizeH="0" baseline="0" noProof="1" dirty="0">
                <a:solidFill>
                  <a:schemeClr val="tx1"/>
                </a:solidFill>
                <a:latin typeface="宋体" pitchFamily="2" charset="-122"/>
                <a:ea typeface="+mn-ea"/>
                <a:cs typeface="+mn-cs"/>
              </a:rPr>
              <a:t>二．条件转移指令</a:t>
            </a:r>
            <a:endParaRPr kumimoji="1" lang="zh-CN" altLang="en-US" sz="2800" b="1" i="0" u="none" strike="noStrike" kern="0" cap="none" spc="0" normalizeH="0" baseline="0" noProof="1" dirty="0">
              <a:solidFill>
                <a:schemeClr val="tx1"/>
              </a:solidFill>
              <a:latin typeface="宋体" pitchFamily="2" charset="-122"/>
              <a:ea typeface="+mn-ea"/>
              <a:cs typeface="+mn-cs"/>
            </a:endParaRPr>
          </a:p>
          <a:p>
            <a:pPr marL="0" marR="0" indent="-342900" algn="just" defTabSz="425450" rtl="0" eaLnBrk="0" fontAlgn="base" latinLnBrk="0" hangingPunct="0">
              <a:lnSpc>
                <a:spcPct val="90000"/>
              </a:lnSpc>
              <a:spcBef>
                <a:spcPct val="0"/>
              </a:spcBef>
              <a:spcAft>
                <a:spcPct val="0"/>
              </a:spcAft>
              <a:buClr>
                <a:schemeClr val="folHlink"/>
              </a:buClr>
              <a:buSzTx/>
              <a:buFont typeface="Wingdings" panose="05000000000000000000" pitchFamily="2" charset="2"/>
              <a:buNone/>
            </a:pPr>
            <a:endParaRPr kumimoji="1" lang="en-US" altLang="zh-CN" sz="2400" b="1" i="0" u="none" strike="noStrike" kern="0" cap="none" spc="0" normalizeH="0" baseline="0" noProof="1" dirty="0">
              <a:solidFill>
                <a:schemeClr val="tx1"/>
              </a:solidFill>
              <a:latin typeface="宋体" pitchFamily="2" charset="-122"/>
              <a:ea typeface="+mn-ea"/>
              <a:cs typeface="+mn-cs"/>
            </a:endParaRPr>
          </a:p>
          <a:p>
            <a:pPr marL="0" marR="0" indent="-342900" algn="l" defTabSz="425450" rtl="0" eaLnBrk="0" fontAlgn="base" latinLnBrk="0" hangingPunct="0">
              <a:lnSpc>
                <a:spcPct val="90000"/>
              </a:lnSpc>
              <a:spcBef>
                <a:spcPct val="20000"/>
              </a:spcBef>
              <a:spcAft>
                <a:spcPct val="0"/>
              </a:spcAft>
              <a:buClr>
                <a:schemeClr val="folHlink"/>
              </a:buClr>
              <a:buSzTx/>
              <a:buFont typeface="Wingdings" panose="05000000000000000000" pitchFamily="2" charset="2"/>
              <a:buNone/>
            </a:pPr>
            <a:r>
              <a:rPr kumimoji="1" lang="en-US" altLang="zh-CN" sz="2800" b="1" i="0" u="none" strike="noStrike" kern="0" cap="none" spc="0" normalizeH="0" baseline="0" noProof="1" dirty="0">
                <a:solidFill>
                  <a:schemeClr val="tx1"/>
                </a:solidFill>
                <a:latin typeface="宋体" pitchFamily="2" charset="-122"/>
                <a:ea typeface="+mn-ea"/>
                <a:cs typeface="+mn-cs"/>
              </a:rPr>
              <a:t>  2.</a:t>
            </a:r>
            <a:r>
              <a:rPr kumimoji="0" lang="zh-CN" altLang="en-US" sz="2800" b="1" i="0" u="none" strike="noStrike" kern="0" cap="none" spc="0" normalizeH="0" baseline="0" noProof="0" dirty="0" smtClean="0">
                <a:ln>
                  <a:noFill/>
                </a:ln>
                <a:solidFill>
                  <a:schemeClr val="tx1"/>
                </a:solidFill>
                <a:effectLst/>
                <a:uLnTx/>
                <a:uFillTx/>
                <a:latin typeface="宋体" pitchFamily="2" charset="-122"/>
                <a:ea typeface="+mn-ea"/>
                <a:cs typeface="+mn-cs"/>
                <a:sym typeface="+mn-ea"/>
              </a:rPr>
              <a:t>比较</a:t>
            </a:r>
            <a:r>
              <a:rPr kumimoji="0" lang="zh-CN" altLang="en-US" sz="2800" b="1" i="0" u="none" strike="noStrike" kern="0" cap="none" spc="0" normalizeH="0" baseline="0" noProof="0" dirty="0" smtClean="0">
                <a:ln>
                  <a:noFill/>
                </a:ln>
                <a:solidFill>
                  <a:schemeClr val="accent2"/>
                </a:solidFill>
                <a:effectLst/>
                <a:uLnTx/>
                <a:uFillTx/>
                <a:latin typeface="宋体" pitchFamily="2" charset="-122"/>
                <a:ea typeface="黑体" panose="02010609060101010101" pitchFamily="49" charset="-122"/>
                <a:cs typeface="+mn-cs"/>
                <a:sym typeface="+mn-ea"/>
              </a:rPr>
              <a:t>不相等</a:t>
            </a:r>
            <a:r>
              <a:rPr kumimoji="0" lang="zh-CN" altLang="en-US" sz="2800" b="1" i="0" u="none" strike="noStrike" kern="0" cap="none" spc="0" normalizeH="0" baseline="0" noProof="0" dirty="0" smtClean="0">
                <a:ln>
                  <a:noFill/>
                </a:ln>
                <a:solidFill>
                  <a:schemeClr val="tx1"/>
                </a:solidFill>
                <a:effectLst/>
                <a:uLnTx/>
                <a:uFillTx/>
                <a:latin typeface="宋体" pitchFamily="2" charset="-122"/>
                <a:ea typeface="+mn-ea"/>
                <a:cs typeface="+mn-cs"/>
                <a:sym typeface="+mn-ea"/>
              </a:rPr>
              <a:t>转移指令</a:t>
            </a:r>
            <a:r>
              <a:rPr kumimoji="1" lang="zh-CN" altLang="en-US" sz="2800" b="1" i="0" u="none" strike="noStrike" kern="0" cap="none" spc="0" normalizeH="0" baseline="0" noProof="1" dirty="0">
                <a:solidFill>
                  <a:schemeClr val="tx1"/>
                </a:solidFill>
                <a:latin typeface="宋体" pitchFamily="2" charset="-122"/>
                <a:ea typeface="+mn-ea"/>
                <a:cs typeface="+mn-cs"/>
              </a:rPr>
              <a:t>			</a:t>
            </a:r>
            <a:endParaRPr kumimoji="1" lang="en-US" altLang="zh-CN" sz="2800" b="1" i="0" u="none" strike="noStrike" kern="0" cap="none" spc="0" normalizeH="0" baseline="0" noProof="1" dirty="0">
              <a:solidFill>
                <a:schemeClr val="tx1"/>
              </a:solidFill>
              <a:latin typeface="宋体" pitchFamily="2" charset="-122"/>
              <a:ea typeface="+mn-ea"/>
              <a:cs typeface="+mn-cs"/>
            </a:endParaRPr>
          </a:p>
          <a:p>
            <a:pPr marL="19050" marR="0" lvl="0" indent="-19050" algn="ctr" defTabSz="425450" rtl="0" eaLnBrk="0" fontAlgn="base" latinLnBrk="0" hangingPunct="0">
              <a:lnSpc>
                <a:spcPct val="120000"/>
              </a:lnSpc>
              <a:spcBef>
                <a:spcPct val="0"/>
              </a:spcBef>
              <a:spcAft>
                <a:spcPct val="0"/>
              </a:spcAft>
              <a:buClr>
                <a:schemeClr val="folHlink"/>
              </a:buClr>
              <a:buSzTx/>
              <a:buFont typeface="Wingdings" panose="05000000000000000000" pitchFamily="2" charset="2"/>
              <a:buNone/>
              <a:defRPr/>
            </a:pPr>
            <a:r>
              <a:rPr kumimoji="0" lang="en-US" altLang="zh-CN" sz="2400" b="1" i="0" u="none" strike="noStrike" kern="0" cap="none" spc="0" normalizeH="0" baseline="0" noProof="0" dirty="0" smtClean="0">
                <a:ln>
                  <a:noFill/>
                </a:ln>
                <a:solidFill>
                  <a:srgbClr val="FF0000"/>
                </a:solidFill>
                <a:effectLst/>
                <a:uLnTx/>
                <a:uFillTx/>
                <a:latin typeface="宋体" pitchFamily="2" charset="-122"/>
                <a:ea typeface="+mn-ea"/>
                <a:cs typeface="+mn-cs"/>
                <a:sym typeface="+mn-ea"/>
              </a:rPr>
              <a:t>CJNE</a:t>
            </a:r>
            <a:r>
              <a:rPr kumimoji="0" lang="en-US" altLang="zh-CN" sz="2400" b="1" i="0" u="none" strike="noStrike" kern="0" cap="none" spc="0" normalizeH="0" baseline="0" noProof="0" dirty="0" smtClean="0">
                <a:ln>
                  <a:noFill/>
                </a:ln>
                <a:solidFill>
                  <a:schemeClr val="tx1"/>
                </a:solidFill>
                <a:effectLst/>
                <a:uLnTx/>
                <a:uFillTx/>
                <a:latin typeface="宋体" pitchFamily="2" charset="-122"/>
                <a:ea typeface="+mn-ea"/>
                <a:cs typeface="+mn-cs"/>
                <a:sym typeface="+mn-ea"/>
              </a:rPr>
              <a:t>  </a:t>
            </a:r>
            <a:r>
              <a:rPr kumimoji="0" lang="zh-CN" altLang="en-US" sz="2400" b="1" i="0" u="none" strike="noStrike" kern="0" cap="none" spc="0" normalizeH="0" baseline="0" noProof="0" dirty="0" smtClean="0">
                <a:ln>
                  <a:noFill/>
                </a:ln>
                <a:solidFill>
                  <a:srgbClr val="FF0000"/>
                </a:solidFill>
                <a:effectLst/>
                <a:uLnTx/>
                <a:uFillTx/>
                <a:latin typeface="宋体" pitchFamily="2" charset="-122"/>
                <a:ea typeface="+mn-ea"/>
                <a:cs typeface="+mn-cs"/>
                <a:sym typeface="+mn-ea"/>
              </a:rPr>
              <a:t>操作数1，操作数2，</a:t>
            </a:r>
            <a:r>
              <a:rPr kumimoji="0" lang="en-US" altLang="zh-CN" sz="2400" b="1" i="0" u="none" strike="noStrike" kern="0" cap="none" spc="0" normalizeH="0" baseline="0" noProof="0" dirty="0" smtClean="0">
                <a:ln>
                  <a:noFill/>
                </a:ln>
                <a:solidFill>
                  <a:srgbClr val="FF0000"/>
                </a:solidFill>
                <a:effectLst/>
                <a:uLnTx/>
                <a:uFillTx/>
                <a:latin typeface="宋体" pitchFamily="2" charset="-122"/>
                <a:ea typeface="+mn-ea"/>
                <a:cs typeface="+mn-cs"/>
                <a:sym typeface="+mn-ea"/>
              </a:rPr>
              <a:t>rel</a:t>
            </a:r>
            <a:endParaRPr kumimoji="0" lang="en-US" altLang="zh-CN" sz="2400" b="1" i="0" u="none" strike="noStrike" kern="0" cap="none" spc="0" normalizeH="0" baseline="0" noProof="0" dirty="0" smtClean="0">
              <a:ln>
                <a:noFill/>
              </a:ln>
              <a:solidFill>
                <a:srgbClr val="FF0000"/>
              </a:solidFill>
              <a:effectLst/>
              <a:uLnTx/>
              <a:uFillTx/>
              <a:latin typeface="宋体" pitchFamily="2" charset="-122"/>
              <a:ea typeface="+mn-ea"/>
              <a:cs typeface="+mn-cs"/>
              <a:sym typeface="+mn-ea"/>
            </a:endParaRPr>
          </a:p>
          <a:p>
            <a:pPr marL="19050" marR="0" lvl="0" indent="-19050" algn="just" defTabSz="425450" rtl="0" eaLnBrk="0" fontAlgn="base" latinLnBrk="0" hangingPunct="0">
              <a:lnSpc>
                <a:spcPct val="120000"/>
              </a:lnSpc>
              <a:spcBef>
                <a:spcPct val="0"/>
              </a:spcBef>
              <a:spcAft>
                <a:spcPct val="0"/>
              </a:spcAft>
              <a:buClr>
                <a:schemeClr val="folHlink"/>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sym typeface="+mn-ea"/>
              </a:rPr>
              <a:t>；</a:t>
            </a:r>
            <a:r>
              <a:rPr kumimoji="0" lang="en-US" altLang="zh-CN" sz="2400" b="1" i="0" u="none" strike="noStrike" kern="0" cap="none" spc="0" normalizeH="0" baseline="0" noProof="0" dirty="0" smtClean="0">
                <a:ln>
                  <a:noFill/>
                </a:ln>
                <a:solidFill>
                  <a:schemeClr val="tx1"/>
                </a:solidFill>
                <a:effectLst/>
                <a:uLnTx/>
                <a:uFillTx/>
                <a:latin typeface="宋体" pitchFamily="2" charset="-122"/>
                <a:ea typeface="+mn-ea"/>
                <a:cs typeface="+mn-cs"/>
                <a:sym typeface="+mn-ea"/>
              </a:rPr>
              <a:t>PC←PC+3,</a:t>
            </a:r>
            <a:r>
              <a:rPr kumimoji="0" lang="zh-CN" altLang="en-US" sz="2400" b="1" i="0" u="none" strike="noStrike" kern="0" cap="none" spc="0" normalizeH="0" baseline="0" noProof="0" dirty="0" smtClean="0">
                <a:ln>
                  <a:noFill/>
                </a:ln>
                <a:solidFill>
                  <a:schemeClr val="tx1"/>
                </a:solidFill>
                <a:effectLst/>
                <a:uLnTx/>
                <a:uFillTx/>
                <a:latin typeface="宋体" pitchFamily="2" charset="-122"/>
                <a:ea typeface="+mn-ea"/>
                <a:cs typeface="+mn-cs"/>
                <a:sym typeface="+mn-ea"/>
              </a:rPr>
              <a:t>若</a:t>
            </a:r>
            <a:r>
              <a:rPr kumimoji="0" lang="en-US" altLang="zh-CN" sz="2400" b="1" i="0" u="none" strike="noStrike" kern="0" cap="none" spc="0" normalizeH="0" baseline="0" noProof="0" dirty="0" smtClean="0">
                <a:ln>
                  <a:noFill/>
                </a:ln>
                <a:solidFill>
                  <a:schemeClr val="tx1"/>
                </a:solidFill>
                <a:effectLst/>
                <a:uLnTx/>
                <a:uFillTx/>
                <a:latin typeface="宋体" pitchFamily="2" charset="-122"/>
                <a:ea typeface="+mn-ea"/>
                <a:cs typeface="+mn-cs"/>
                <a:sym typeface="+mn-ea"/>
              </a:rPr>
              <a:t>A≠(n)，</a:t>
            </a:r>
            <a:r>
              <a:rPr kumimoji="0" lang="zh-CN" altLang="en-US" sz="2400" b="1" i="0" u="none" strike="noStrike" kern="0" cap="none" spc="0" normalizeH="0" baseline="0" noProof="0" dirty="0" smtClean="0">
                <a:ln>
                  <a:noFill/>
                </a:ln>
                <a:solidFill>
                  <a:schemeClr val="tx1"/>
                </a:solidFill>
                <a:effectLst/>
                <a:uLnTx/>
                <a:uFillTx/>
                <a:latin typeface="宋体" pitchFamily="2" charset="-122"/>
                <a:ea typeface="+mn-ea"/>
                <a:cs typeface="+mn-cs"/>
                <a:sym typeface="+mn-ea"/>
              </a:rPr>
              <a:t>则</a:t>
            </a:r>
            <a:r>
              <a:rPr kumimoji="0" lang="en-US" altLang="zh-CN" sz="2400" b="1" i="0" u="none" strike="noStrike" kern="0" cap="none" spc="0" normalizeH="0" baseline="0" noProof="0" dirty="0" err="1" smtClean="0">
                <a:ln>
                  <a:noFill/>
                </a:ln>
                <a:solidFill>
                  <a:schemeClr val="tx1"/>
                </a:solidFill>
                <a:effectLst/>
                <a:uLnTx/>
                <a:uFillTx/>
                <a:latin typeface="宋体" pitchFamily="2" charset="-122"/>
                <a:ea typeface="+mn-ea"/>
                <a:cs typeface="+mn-cs"/>
                <a:sym typeface="+mn-ea"/>
              </a:rPr>
              <a:t>PC←PC+e</a:t>
            </a:r>
            <a:r>
              <a:rPr kumimoji="0" lang="en-US" altLang="zh-CN" sz="2400" b="1" i="0" u="none" strike="noStrike" kern="0" cap="none" spc="0" normalizeH="0" baseline="0" noProof="0" dirty="0" smtClean="0">
                <a:ln>
                  <a:noFill/>
                </a:ln>
                <a:solidFill>
                  <a:schemeClr val="tx1"/>
                </a:solidFill>
                <a:effectLst/>
                <a:uLnTx/>
                <a:uFillTx/>
                <a:latin typeface="宋体" pitchFamily="2" charset="-122"/>
                <a:ea typeface="+mn-ea"/>
                <a:cs typeface="+mn-cs"/>
                <a:sym typeface="+mn-ea"/>
              </a:rPr>
              <a:t>		     </a:t>
            </a:r>
            <a:endParaRPr kumimoji="0" lang="en-US" altLang="zh-CN" sz="24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107950" marR="0" lvl="0" indent="-342900" algn="just" defTabSz="425450" rtl="0" eaLnBrk="0" fontAlgn="base" latinLnBrk="0" hangingPunct="0">
              <a:lnSpc>
                <a:spcPct val="120000"/>
              </a:lnSpc>
              <a:spcBef>
                <a:spcPct val="0"/>
              </a:spcBef>
              <a:spcAft>
                <a:spcPct val="0"/>
              </a:spcAft>
              <a:buClr>
                <a:schemeClr val="folHlink"/>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宋体" pitchFamily="2" charset="-122"/>
                <a:ea typeface="+mn-ea"/>
                <a:cs typeface="+mn-cs"/>
                <a:sym typeface="+mn-ea"/>
              </a:rPr>
              <a:t>；</a:t>
            </a:r>
            <a:r>
              <a:rPr kumimoji="0" lang="zh-CN" altLang="en-US" sz="2400" b="1" i="0" u="none" strike="noStrike" kern="0" cap="none" spc="0" normalizeH="0" baseline="0" noProof="0" dirty="0" smtClean="0">
                <a:ln>
                  <a:noFill/>
                </a:ln>
                <a:solidFill>
                  <a:schemeClr val="tx1"/>
                </a:solidFill>
                <a:effectLst/>
                <a:uLnTx/>
                <a:uFillTx/>
                <a:latin typeface="宋体" pitchFamily="2" charset="-122"/>
                <a:ea typeface="+mn-ea"/>
                <a:cs typeface="+mn-cs"/>
                <a:sym typeface="+mn-ea"/>
              </a:rPr>
              <a:t>当</a:t>
            </a:r>
            <a:r>
              <a:rPr kumimoji="0" lang="en-US" altLang="zh-CN" sz="2400" b="1" i="0" u="none" strike="noStrike" kern="0" cap="none" spc="0" normalizeH="0" baseline="0" noProof="0" dirty="0" smtClean="0">
                <a:ln>
                  <a:noFill/>
                </a:ln>
                <a:solidFill>
                  <a:schemeClr val="tx1"/>
                </a:solidFill>
                <a:effectLst/>
                <a:uLnTx/>
                <a:uFillTx/>
                <a:latin typeface="宋体" pitchFamily="2" charset="-122"/>
                <a:ea typeface="+mn-ea"/>
                <a:cs typeface="+mn-cs"/>
                <a:sym typeface="+mn-ea"/>
              </a:rPr>
              <a:t>A&gt;(n)，C=0;</a:t>
            </a:r>
            <a:r>
              <a:rPr kumimoji="0" lang="zh-CN" altLang="en-US" sz="2400" b="1" i="0" u="none" strike="noStrike" kern="0" cap="none" spc="0" normalizeH="0" baseline="0" noProof="0" dirty="0" smtClean="0">
                <a:ln>
                  <a:noFill/>
                </a:ln>
                <a:solidFill>
                  <a:schemeClr val="tx1"/>
                </a:solidFill>
                <a:effectLst/>
                <a:uLnTx/>
                <a:uFillTx/>
                <a:latin typeface="宋体" pitchFamily="2" charset="-122"/>
                <a:ea typeface="+mn-ea"/>
                <a:cs typeface="+mn-cs"/>
                <a:sym typeface="+mn-ea"/>
              </a:rPr>
              <a:t>当</a:t>
            </a:r>
            <a:r>
              <a:rPr kumimoji="0" lang="en-US" altLang="zh-CN" sz="2400" b="1" i="0" u="none" strike="noStrike" kern="0" cap="none" spc="0" normalizeH="0" baseline="0" noProof="0" dirty="0" smtClean="0">
                <a:ln>
                  <a:noFill/>
                </a:ln>
                <a:solidFill>
                  <a:schemeClr val="tx1"/>
                </a:solidFill>
                <a:effectLst/>
                <a:uLnTx/>
                <a:uFillTx/>
                <a:latin typeface="宋体" pitchFamily="2" charset="-122"/>
                <a:ea typeface="+mn-ea"/>
                <a:cs typeface="+mn-cs"/>
                <a:sym typeface="+mn-ea"/>
              </a:rPr>
              <a:t>A&lt;(n)，C=1;</a:t>
            </a:r>
            <a:r>
              <a:rPr kumimoji="0" lang="zh-CN" altLang="en-US" sz="2400" b="1" i="0" u="none" strike="noStrike" kern="0" cap="none" spc="0" normalizeH="0" baseline="0" noProof="0" dirty="0" smtClean="0">
                <a:ln>
                  <a:noFill/>
                </a:ln>
                <a:solidFill>
                  <a:schemeClr val="tx1"/>
                </a:solidFill>
                <a:effectLst/>
                <a:uLnTx/>
                <a:uFillTx/>
                <a:latin typeface="宋体" pitchFamily="2" charset="-122"/>
                <a:ea typeface="+mn-ea"/>
                <a:cs typeface="+mn-cs"/>
                <a:sym typeface="+mn-ea"/>
              </a:rPr>
              <a:t>若</a:t>
            </a:r>
            <a:r>
              <a:rPr kumimoji="0" lang="en-US" altLang="zh-CN" sz="2400" b="1" i="0" u="none" strike="noStrike" kern="0" cap="none" spc="0" normalizeH="0" baseline="0" noProof="0" dirty="0" smtClean="0">
                <a:ln>
                  <a:noFill/>
                </a:ln>
                <a:solidFill>
                  <a:schemeClr val="tx1"/>
                </a:solidFill>
                <a:effectLst/>
                <a:uLnTx/>
                <a:uFillTx/>
                <a:latin typeface="宋体" pitchFamily="2" charset="-122"/>
                <a:ea typeface="+mn-ea"/>
                <a:cs typeface="+mn-cs"/>
                <a:sym typeface="+mn-ea"/>
              </a:rPr>
              <a:t>A =(n)，PC</a:t>
            </a:r>
            <a:r>
              <a:rPr kumimoji="0" lang="zh-CN" altLang="en-US" sz="2400" b="1" i="0" u="none" strike="noStrike" kern="0" cap="none" spc="0" normalizeH="0" baseline="0" noProof="0" dirty="0" smtClean="0">
                <a:ln>
                  <a:noFill/>
                </a:ln>
                <a:solidFill>
                  <a:schemeClr val="tx1"/>
                </a:solidFill>
                <a:effectLst/>
                <a:uLnTx/>
                <a:uFillTx/>
                <a:latin typeface="宋体" pitchFamily="2" charset="-122"/>
                <a:ea typeface="+mn-ea"/>
                <a:cs typeface="+mn-cs"/>
                <a:sym typeface="+mn-ea"/>
              </a:rPr>
              <a:t>不变，且</a:t>
            </a:r>
            <a:r>
              <a:rPr kumimoji="0" lang="en-US" altLang="zh-CN" sz="2400" b="1" i="0" u="none" strike="noStrike" kern="0" cap="none" spc="0" normalizeH="0" baseline="0" noProof="0" dirty="0" smtClean="0">
                <a:ln>
                  <a:noFill/>
                </a:ln>
                <a:solidFill>
                  <a:schemeClr val="tx1"/>
                </a:solidFill>
                <a:effectLst/>
                <a:uLnTx/>
                <a:uFillTx/>
                <a:latin typeface="宋体" pitchFamily="2" charset="-122"/>
                <a:ea typeface="+mn-ea"/>
                <a:cs typeface="+mn-cs"/>
                <a:sym typeface="+mn-ea"/>
              </a:rPr>
              <a:t>Cy=0</a:t>
            </a:r>
            <a:r>
              <a:rPr kumimoji="0" lang="zh-CN" altLang="en-US" sz="2400" b="1" i="0" u="none" strike="noStrike" kern="0" cap="none" spc="0" normalizeH="0" baseline="0" noProof="0" dirty="0" smtClean="0">
                <a:ln>
                  <a:noFill/>
                </a:ln>
                <a:solidFill>
                  <a:schemeClr val="tx1"/>
                </a:solidFill>
                <a:effectLst/>
                <a:uLnTx/>
                <a:uFillTx/>
                <a:latin typeface="宋体" pitchFamily="2" charset="-122"/>
                <a:ea typeface="+mn-ea"/>
                <a:cs typeface="+mn-cs"/>
                <a:sym typeface="+mn-ea"/>
              </a:rPr>
              <a:t>。</a:t>
            </a:r>
            <a:endPar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sym typeface="+mn-ea"/>
            </a:endParaRPr>
          </a:p>
          <a:p>
            <a:pPr marL="107950" marR="0" lvl="0" indent="-342900" algn="ctr" defTabSz="425450" rtl="0" eaLnBrk="0" fontAlgn="base" latinLnBrk="0" hangingPunct="0">
              <a:lnSpc>
                <a:spcPct val="120000"/>
              </a:lnSpc>
              <a:spcBef>
                <a:spcPct val="0"/>
              </a:spcBef>
              <a:spcAft>
                <a:spcPct val="0"/>
              </a:spcAft>
              <a:buClr>
                <a:schemeClr val="folHlink"/>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rgbClr val="FF0000"/>
                </a:solidFill>
                <a:effectLst/>
                <a:uLnTx/>
                <a:uFillTx/>
                <a:latin typeface="宋体" pitchFamily="2" charset="-122"/>
                <a:ea typeface="+mn-ea"/>
                <a:cs typeface="+mn-cs"/>
              </a:rPr>
              <a:t>CJNE A,direct,rel</a:t>
            </a:r>
            <a:endParaRPr kumimoji="0" lang="en-US" altLang="zh-CN" sz="2800" b="1" i="0" u="none" strike="noStrike" kern="0" cap="none" spc="0" normalizeH="0" baseline="0" noProof="0" dirty="0" smtClean="0">
              <a:ln>
                <a:noFill/>
              </a:ln>
              <a:solidFill>
                <a:srgbClr val="FF0000"/>
              </a:solidFill>
              <a:effectLst/>
              <a:uLnTx/>
              <a:uFillTx/>
              <a:latin typeface="宋体" pitchFamily="2" charset="-122"/>
              <a:ea typeface="+mn-ea"/>
              <a:cs typeface="+mn-cs"/>
            </a:endParaRPr>
          </a:p>
          <a:p>
            <a:pPr marL="107950" marR="0" lvl="0" indent="-342900" algn="ctr" defTabSz="425450" rtl="0" eaLnBrk="0" fontAlgn="base" latinLnBrk="0" hangingPunct="0">
              <a:lnSpc>
                <a:spcPct val="120000"/>
              </a:lnSpc>
              <a:spcBef>
                <a:spcPct val="0"/>
              </a:spcBef>
              <a:spcAft>
                <a:spcPct val="0"/>
              </a:spcAft>
              <a:buClr>
                <a:schemeClr val="folHlink"/>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rgbClr val="FF0000"/>
                </a:solidFill>
                <a:effectLst/>
                <a:uLnTx/>
                <a:uFillTx/>
                <a:latin typeface="宋体" pitchFamily="2" charset="-122"/>
                <a:ea typeface="+mn-ea"/>
                <a:cs typeface="+mn-cs"/>
              </a:rPr>
              <a:t>CJNE A,#data,rel</a:t>
            </a:r>
            <a:endParaRPr kumimoji="0" lang="en-US" altLang="zh-CN" sz="2800" b="1" i="0" u="none" strike="noStrike" kern="0" cap="none" spc="0" normalizeH="0" baseline="0" noProof="0" dirty="0" smtClean="0">
              <a:ln>
                <a:noFill/>
              </a:ln>
              <a:solidFill>
                <a:srgbClr val="FF0000"/>
              </a:solidFill>
              <a:effectLst/>
              <a:uLnTx/>
              <a:uFillTx/>
              <a:latin typeface="宋体" pitchFamily="2" charset="-122"/>
              <a:ea typeface="+mn-ea"/>
              <a:cs typeface="+mn-cs"/>
            </a:endParaRPr>
          </a:p>
          <a:p>
            <a:pPr marL="107950" marR="0" lvl="0" indent="-342900" algn="ctr" defTabSz="425450" rtl="0" eaLnBrk="0" fontAlgn="base" latinLnBrk="0" hangingPunct="0">
              <a:lnSpc>
                <a:spcPct val="120000"/>
              </a:lnSpc>
              <a:spcBef>
                <a:spcPct val="0"/>
              </a:spcBef>
              <a:spcAft>
                <a:spcPct val="0"/>
              </a:spcAft>
              <a:buClr>
                <a:schemeClr val="folHlink"/>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rgbClr val="FF0000"/>
                </a:solidFill>
                <a:effectLst/>
                <a:uLnTx/>
                <a:uFillTx/>
                <a:latin typeface="宋体" pitchFamily="2" charset="-122"/>
                <a:ea typeface="+mn-ea"/>
                <a:cs typeface="+mn-cs"/>
              </a:rPr>
              <a:t>CJNE Rn,#data,rel</a:t>
            </a:r>
            <a:endParaRPr kumimoji="0" lang="en-US" altLang="zh-CN" sz="2800" b="1" i="0" u="none" strike="noStrike" kern="0" cap="none" spc="0" normalizeH="0" baseline="0" noProof="0" dirty="0" smtClean="0">
              <a:ln>
                <a:noFill/>
              </a:ln>
              <a:solidFill>
                <a:srgbClr val="FF0000"/>
              </a:solidFill>
              <a:effectLst/>
              <a:uLnTx/>
              <a:uFillTx/>
              <a:latin typeface="宋体" pitchFamily="2" charset="-122"/>
              <a:ea typeface="+mn-ea"/>
              <a:cs typeface="+mn-cs"/>
            </a:endParaRPr>
          </a:p>
          <a:p>
            <a:pPr marL="107950" marR="0" lvl="0" indent="-342900" algn="ctr" defTabSz="425450" rtl="0" eaLnBrk="0" fontAlgn="base" latinLnBrk="0" hangingPunct="0">
              <a:lnSpc>
                <a:spcPct val="120000"/>
              </a:lnSpc>
              <a:spcBef>
                <a:spcPct val="0"/>
              </a:spcBef>
              <a:spcAft>
                <a:spcPct val="0"/>
              </a:spcAft>
              <a:buClr>
                <a:schemeClr val="folHlink"/>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rgbClr val="FF0000"/>
                </a:solidFill>
                <a:effectLst/>
                <a:uLnTx/>
                <a:uFillTx/>
                <a:latin typeface="宋体" pitchFamily="2" charset="-122"/>
                <a:ea typeface="+mn-ea"/>
                <a:cs typeface="+mn-cs"/>
              </a:rPr>
              <a:t>CJNE @Ri,#data,rel</a:t>
            </a:r>
            <a:endPar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107950" marR="0" lvl="0" indent="-342900" algn="just" defTabSz="425450" rtl="0" eaLnBrk="0" fontAlgn="base" latinLnBrk="0" hangingPunct="0">
              <a:lnSpc>
                <a:spcPct val="120000"/>
              </a:lnSpc>
              <a:spcBef>
                <a:spcPct val="0"/>
              </a:spcBef>
              <a:spcAft>
                <a:spcPct val="0"/>
              </a:spcAft>
              <a:buClr>
                <a:schemeClr val="folHlink"/>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宋体" pitchFamily="2" charset="-122"/>
                <a:ea typeface="+mn-ea"/>
                <a:cs typeface="+mn-cs"/>
                <a:sym typeface="+mn-ea"/>
              </a:rPr>
              <a:t>  相当于两个操作数相减，仅影响</a:t>
            </a: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sym typeface="+mn-ea"/>
              </a:rPr>
              <a:t>PSW</a:t>
            </a:r>
            <a:r>
              <a:rPr kumimoji="0" lang="zh-CN" altLang="en-US" sz="2800" b="1" i="0" u="none" strike="noStrike" kern="0" cap="none" spc="0" normalizeH="0" baseline="0" noProof="0" dirty="0" smtClean="0">
                <a:ln>
                  <a:noFill/>
                </a:ln>
                <a:solidFill>
                  <a:schemeClr val="tx1"/>
                </a:solidFill>
                <a:effectLst/>
                <a:uLnTx/>
                <a:uFillTx/>
                <a:latin typeface="宋体" pitchFamily="2" charset="-122"/>
                <a:ea typeface="+mn-ea"/>
                <a:cs typeface="+mn-cs"/>
                <a:sym typeface="+mn-ea"/>
              </a:rPr>
              <a:t>，不保存结果</a:t>
            </a:r>
            <a:endParaRPr kumimoji="0" lang="zh-CN" altLang="en-US" sz="28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0" marR="0" indent="-342900" algn="l" defTabSz="425450" rtl="0" eaLnBrk="0" fontAlgn="base" latinLnBrk="0" hangingPunct="0">
              <a:lnSpc>
                <a:spcPct val="90000"/>
              </a:lnSpc>
              <a:spcBef>
                <a:spcPct val="0"/>
              </a:spcBef>
              <a:spcAft>
                <a:spcPct val="0"/>
              </a:spcAft>
              <a:buClr>
                <a:schemeClr val="folHlink"/>
              </a:buClr>
              <a:buSzTx/>
              <a:buFont typeface="Wingdings" panose="05000000000000000000" pitchFamily="2" charset="2"/>
              <a:buNone/>
            </a:pPr>
            <a:r>
              <a:rPr kumimoji="1" lang="zh-CN" altLang="en-US" sz="2800" b="1" i="0" u="none" strike="noStrike" kern="0" cap="none" spc="0" normalizeH="0" baseline="0" noProof="1" dirty="0">
                <a:solidFill>
                  <a:schemeClr val="tx1"/>
                </a:solidFill>
                <a:latin typeface="宋体" pitchFamily="2" charset="-122"/>
                <a:ea typeface="+mn-ea"/>
                <a:cs typeface="+mn-cs"/>
              </a:rPr>
              <a:t>  </a:t>
            </a:r>
            <a:endParaRPr kumimoji="1" lang="zh-CN" altLang="en-US" sz="2800" b="1" i="0" u="none" strike="noStrike" kern="0" cap="none" spc="0" normalizeH="0" baseline="0" noProof="1" dirty="0">
              <a:solidFill>
                <a:schemeClr val="tx1"/>
              </a:solidFill>
              <a:latin typeface="宋体" pitchFamily="2" charset="-122"/>
              <a:ea typeface="+mn-ea"/>
              <a:cs typeface="+mn-cs"/>
            </a:endParaRPr>
          </a:p>
          <a:p>
            <a:pPr marL="0" marR="0" indent="-342900" algn="l" defTabSz="425450" rtl="0" eaLnBrk="0" fontAlgn="base" latinLnBrk="0" hangingPunct="0">
              <a:lnSpc>
                <a:spcPct val="130000"/>
              </a:lnSpc>
              <a:spcBef>
                <a:spcPct val="20000"/>
              </a:spcBef>
              <a:spcAft>
                <a:spcPct val="0"/>
              </a:spcAft>
              <a:buClr>
                <a:schemeClr val="folHlink"/>
              </a:buClr>
              <a:buSzTx/>
              <a:buFont typeface="Wingdings" panose="05000000000000000000" pitchFamily="2" charset="2"/>
              <a:buNone/>
            </a:pPr>
            <a:endParaRPr kumimoji="1" lang="zh-CN" altLang="en-US" sz="2800" b="1" i="0" u="none" strike="noStrike" kern="0" cap="none" spc="0" normalizeH="0" baseline="0" noProof="1" dirty="0">
              <a:solidFill>
                <a:schemeClr val="tx1"/>
              </a:solidFill>
              <a:latin typeface="宋体" pitchFamily="2" charset="-122"/>
              <a:ea typeface="+mn-ea"/>
              <a:cs typeface="+mn-cs"/>
            </a:endParaRPr>
          </a:p>
          <a:p>
            <a:pPr marL="0" marR="0" indent="-342900" algn="just" defTabSz="425450" rtl="0" eaLnBrk="0" fontAlgn="base" latinLnBrk="0" hangingPunct="0">
              <a:lnSpc>
                <a:spcPct val="100000"/>
              </a:lnSpc>
              <a:spcBef>
                <a:spcPct val="0"/>
              </a:spcBef>
              <a:spcAft>
                <a:spcPct val="0"/>
              </a:spcAft>
              <a:buClr>
                <a:schemeClr val="folHlink"/>
              </a:buClr>
              <a:buSzTx/>
              <a:buFont typeface="Wingdings" panose="05000000000000000000" pitchFamily="2" charset="2"/>
              <a:buNone/>
            </a:pPr>
            <a:endParaRPr kumimoji="1" lang="zh-CN" altLang="en-US" sz="3600" b="1" i="0" u="none" strike="noStrike" kern="0" cap="none" spc="0" normalizeH="0" baseline="0" noProof="1" dirty="0">
              <a:solidFill>
                <a:schemeClr val="tx1"/>
              </a:solidFill>
              <a:latin typeface="宋体" pitchFamily="2" charset="-122"/>
              <a:ea typeface="+mn-ea"/>
              <a:cs typeface="+mn-cs"/>
            </a:endParaRPr>
          </a:p>
          <a:p>
            <a:pPr marL="0" marR="0" indent="-342900" algn="just" defTabSz="425450" rtl="0" eaLnBrk="0" fontAlgn="base" latinLnBrk="0" hangingPunct="0">
              <a:lnSpc>
                <a:spcPct val="100000"/>
              </a:lnSpc>
              <a:spcBef>
                <a:spcPct val="0"/>
              </a:spcBef>
              <a:spcAft>
                <a:spcPct val="0"/>
              </a:spcAft>
              <a:buClr>
                <a:schemeClr val="folHlink"/>
              </a:buClr>
              <a:buSzTx/>
              <a:buFont typeface="Wingdings" panose="05000000000000000000" pitchFamily="2" charset="2"/>
              <a:buNone/>
            </a:pPr>
            <a:endParaRPr kumimoji="1" lang="zh-CN" altLang="zh-CN" sz="2800" b="1" i="0" u="none" strike="noStrike" kern="0" cap="none" spc="0" normalizeH="0" baseline="0" noProof="1" dirty="0">
              <a:solidFill>
                <a:srgbClr val="FFC000"/>
              </a:solidFill>
              <a:latin typeface="宋体" pitchFamily="2" charset="-122"/>
              <a:ea typeface="+mn-ea"/>
              <a:cs typeface="+mn-cs"/>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145410" name="Rectangle 3"/>
          <p:cNvSpPr>
            <a:spLocks noGrp="1"/>
          </p:cNvSpPr>
          <p:nvPr>
            <p:ph type="body" idx="4294967295"/>
          </p:nvPr>
        </p:nvSpPr>
        <p:spPr>
          <a:xfrm>
            <a:off x="714375" y="857250"/>
            <a:ext cx="8429625" cy="5572125"/>
          </a:xfrm>
        </p:spPr>
        <p:txBody>
          <a:bodyPr vert="horz" wrap="square" lIns="91440" tIns="45720" rIns="91440" bIns="45720" anchor="t" anchorCtr="0"/>
          <a:p>
            <a:pPr marL="6350" indent="-6350">
              <a:lnSpc>
                <a:spcPct val="120000"/>
              </a:lnSpc>
              <a:spcBef>
                <a:spcPct val="0"/>
              </a:spcBef>
              <a:buNone/>
            </a:pPr>
            <a:r>
              <a:rPr lang="en-US" altLang="zh-CN" dirty="0">
                <a:latin typeface="宋体" pitchFamily="2" charset="-122"/>
              </a:rPr>
              <a:t>3</a:t>
            </a:r>
            <a:r>
              <a:rPr lang="zh-CN" altLang="en-US" dirty="0"/>
              <a:t>．</a:t>
            </a:r>
            <a:r>
              <a:rPr lang="zh-CN" altLang="en-US" dirty="0">
                <a:latin typeface="宋体" pitchFamily="2" charset="-122"/>
              </a:rPr>
              <a:t>循环转移指令</a:t>
            </a:r>
            <a:r>
              <a:rPr lang="en-US" altLang="zh-CN" dirty="0">
                <a:latin typeface="宋体" pitchFamily="2" charset="-122"/>
              </a:rPr>
              <a:t>(</a:t>
            </a:r>
            <a:r>
              <a:rPr lang="zh-CN" altLang="en-US" sz="2000" dirty="0">
                <a:solidFill>
                  <a:schemeClr val="accent2"/>
                </a:solidFill>
                <a:latin typeface="黑体" panose="02010609060101010101" pitchFamily="49" charset="-122"/>
                <a:ea typeface="黑体" panose="02010609060101010101" pitchFamily="49" charset="-122"/>
              </a:rPr>
              <a:t>减</a:t>
            </a:r>
            <a:r>
              <a:rPr lang="en-US" altLang="zh-CN" sz="2000" dirty="0">
                <a:solidFill>
                  <a:schemeClr val="accent2"/>
                </a:solidFill>
                <a:latin typeface="黑体" panose="02010609060101010101" pitchFamily="49" charset="-122"/>
                <a:ea typeface="黑体" panose="02010609060101010101" pitchFamily="49" charset="-122"/>
              </a:rPr>
              <a:t>1</a:t>
            </a:r>
            <a:r>
              <a:rPr lang="zh-CN" altLang="en-US" sz="2000" dirty="0">
                <a:solidFill>
                  <a:schemeClr val="accent2"/>
                </a:solidFill>
                <a:latin typeface="黑体" panose="02010609060101010101" pitchFamily="49" charset="-122"/>
                <a:ea typeface="黑体" panose="02010609060101010101" pitchFamily="49" charset="-122"/>
              </a:rPr>
              <a:t>不为</a:t>
            </a:r>
            <a:r>
              <a:rPr lang="en-US" altLang="zh-CN" sz="2000" dirty="0">
                <a:solidFill>
                  <a:schemeClr val="accent2"/>
                </a:solidFill>
                <a:latin typeface="黑体" panose="02010609060101010101" pitchFamily="49" charset="-122"/>
                <a:ea typeface="黑体" panose="02010609060101010101" pitchFamily="49" charset="-122"/>
              </a:rPr>
              <a:t>0</a:t>
            </a:r>
            <a:r>
              <a:rPr lang="zh-CN" altLang="en-US" sz="2000" dirty="0">
                <a:solidFill>
                  <a:schemeClr val="accent2"/>
                </a:solidFill>
                <a:latin typeface="黑体" panose="02010609060101010101" pitchFamily="49" charset="-122"/>
                <a:ea typeface="黑体" panose="02010609060101010101" pitchFamily="49" charset="-122"/>
              </a:rPr>
              <a:t>转移指令</a:t>
            </a:r>
            <a:r>
              <a:rPr lang="en-US" altLang="zh-CN" dirty="0">
                <a:latin typeface="宋体" pitchFamily="2" charset="-122"/>
              </a:rPr>
              <a:t>)</a:t>
            </a:r>
            <a:r>
              <a:rPr lang="zh-CN" altLang="en-US" dirty="0">
                <a:latin typeface="宋体" pitchFamily="2" charset="-122"/>
              </a:rPr>
              <a:t>：</a:t>
            </a:r>
            <a:endParaRPr lang="zh-CN" altLang="en-US" dirty="0">
              <a:latin typeface="宋体" pitchFamily="2" charset="-122"/>
            </a:endParaRPr>
          </a:p>
          <a:p>
            <a:pPr marL="6350" indent="-6350">
              <a:lnSpc>
                <a:spcPct val="120000"/>
              </a:lnSpc>
              <a:spcBef>
                <a:spcPct val="0"/>
              </a:spcBef>
              <a:buNone/>
            </a:pPr>
            <a:r>
              <a:rPr lang="zh-CN" altLang="en-US" dirty="0">
                <a:latin typeface="宋体" pitchFamily="2" charset="-122"/>
              </a:rPr>
              <a:t>		</a:t>
            </a:r>
            <a:endParaRPr lang="en-US" altLang="zh-CN" dirty="0">
              <a:latin typeface="宋体" pitchFamily="2" charset="-122"/>
            </a:endParaRPr>
          </a:p>
          <a:p>
            <a:pPr marL="6350" indent="-6350">
              <a:lnSpc>
                <a:spcPct val="120000"/>
              </a:lnSpc>
              <a:spcBef>
                <a:spcPct val="0"/>
              </a:spcBef>
              <a:buNone/>
            </a:pPr>
            <a:endParaRPr lang="en-US" altLang="zh-CN" dirty="0">
              <a:latin typeface="宋体" pitchFamily="2" charset="-122"/>
            </a:endParaRPr>
          </a:p>
          <a:p>
            <a:pPr marL="6350" indent="-6350">
              <a:lnSpc>
                <a:spcPct val="120000"/>
              </a:lnSpc>
              <a:spcBef>
                <a:spcPct val="0"/>
              </a:spcBef>
              <a:buNone/>
            </a:pPr>
            <a:endParaRPr lang="en-US" altLang="zh-CN" dirty="0">
              <a:latin typeface="宋体" pitchFamily="2" charset="-122"/>
            </a:endParaRPr>
          </a:p>
          <a:p>
            <a:pPr marL="6350" indent="-6350">
              <a:lnSpc>
                <a:spcPct val="120000"/>
              </a:lnSpc>
              <a:spcBef>
                <a:spcPct val="0"/>
              </a:spcBef>
              <a:buNone/>
            </a:pPr>
            <a:endParaRPr lang="en-US" altLang="zh-CN" dirty="0">
              <a:latin typeface="宋体" pitchFamily="2" charset="-122"/>
            </a:endParaRPr>
          </a:p>
          <a:p>
            <a:pPr marL="6350" indent="-6350">
              <a:lnSpc>
                <a:spcPct val="120000"/>
              </a:lnSpc>
              <a:spcBef>
                <a:spcPct val="0"/>
              </a:spcBef>
              <a:buNone/>
            </a:pPr>
            <a:endParaRPr lang="en-US" altLang="zh-CN" dirty="0">
              <a:latin typeface="宋体" pitchFamily="2" charset="-122"/>
            </a:endParaRPr>
          </a:p>
          <a:p>
            <a:pPr marL="6350" indent="-6350">
              <a:lnSpc>
                <a:spcPct val="120000"/>
              </a:lnSpc>
              <a:spcBef>
                <a:spcPct val="0"/>
              </a:spcBef>
              <a:buNone/>
            </a:pPr>
            <a:endParaRPr lang="en-US" altLang="zh-CN" sz="2400" dirty="0">
              <a:latin typeface="宋体" pitchFamily="2" charset="-122"/>
            </a:endParaRPr>
          </a:p>
          <a:p>
            <a:pPr marL="6350" indent="-6350">
              <a:lnSpc>
                <a:spcPct val="120000"/>
              </a:lnSpc>
              <a:spcBef>
                <a:spcPct val="0"/>
              </a:spcBef>
              <a:buNone/>
            </a:pPr>
            <a:r>
              <a:rPr lang="zh-CN" altLang="en-US" sz="2400" dirty="0">
                <a:latin typeface="宋体" pitchFamily="2" charset="-122"/>
              </a:rPr>
              <a:t>例：用于循环结构程序。设要求程序循环执行100次</a:t>
            </a:r>
            <a:endParaRPr lang="zh-CN" altLang="en-US" sz="2400" dirty="0">
              <a:latin typeface="宋体" pitchFamily="2" charset="-122"/>
            </a:endParaRPr>
          </a:p>
          <a:p>
            <a:pPr marL="6350" indent="-6350">
              <a:lnSpc>
                <a:spcPct val="120000"/>
              </a:lnSpc>
              <a:spcBef>
                <a:spcPct val="0"/>
              </a:spcBef>
              <a:buNone/>
            </a:pPr>
            <a:r>
              <a:rPr lang="zh-CN" altLang="zh-CN" sz="2400" dirty="0">
                <a:latin typeface="宋体" pitchFamily="2" charset="-122"/>
              </a:rPr>
              <a:t>			</a:t>
            </a:r>
            <a:r>
              <a:rPr lang="en-US" altLang="zh-CN" sz="2400" dirty="0">
                <a:latin typeface="宋体" pitchFamily="2" charset="-122"/>
              </a:rPr>
              <a:t>MOV R2，#100 	；</a:t>
            </a:r>
            <a:r>
              <a:rPr lang="zh-CN" altLang="en-US" sz="2400" dirty="0">
                <a:latin typeface="宋体" pitchFamily="2" charset="-122"/>
              </a:rPr>
              <a:t>设循环计数器初值</a:t>
            </a:r>
            <a:endParaRPr lang="zh-CN" altLang="en-US" sz="2400" dirty="0">
              <a:latin typeface="宋体" pitchFamily="2" charset="-122"/>
            </a:endParaRPr>
          </a:p>
          <a:p>
            <a:pPr marL="6350" indent="-6350">
              <a:lnSpc>
                <a:spcPct val="120000"/>
              </a:lnSpc>
              <a:spcBef>
                <a:spcPct val="0"/>
              </a:spcBef>
              <a:buNone/>
            </a:pPr>
            <a:r>
              <a:rPr lang="en-US" altLang="zh-CN" sz="2400" dirty="0">
                <a:latin typeface="宋体" pitchFamily="2" charset="-122"/>
              </a:rPr>
              <a:t>LOOP：	 	</a:t>
            </a:r>
            <a:r>
              <a:rPr lang="en-US" altLang="zh-CN" sz="2400" dirty="0">
                <a:latin typeface="Times New Roman" panose="02020503050405090304" pitchFamily="18" charset="0"/>
              </a:rPr>
              <a:t>…</a:t>
            </a:r>
            <a:r>
              <a:rPr lang="en-US" altLang="zh-CN" sz="2400" dirty="0">
                <a:latin typeface="宋体" pitchFamily="2" charset="-122"/>
              </a:rPr>
              <a:t>	 	     ；</a:t>
            </a:r>
            <a:r>
              <a:rPr lang="zh-CN" altLang="en-US" sz="2400" dirty="0">
                <a:latin typeface="宋体" pitchFamily="2" charset="-122"/>
              </a:rPr>
              <a:t>多次循环程序段</a:t>
            </a:r>
            <a:endParaRPr lang="zh-CN" altLang="en-US" sz="2400" dirty="0">
              <a:latin typeface="宋体" pitchFamily="2" charset="-122"/>
            </a:endParaRPr>
          </a:p>
          <a:p>
            <a:pPr marL="6350" indent="-6350">
              <a:lnSpc>
                <a:spcPct val="120000"/>
              </a:lnSpc>
              <a:spcBef>
                <a:spcPct val="0"/>
              </a:spcBef>
              <a:buNone/>
            </a:pPr>
            <a:r>
              <a:rPr lang="zh-CN" altLang="en-US" sz="2400" dirty="0">
                <a:latin typeface="宋体" pitchFamily="2" charset="-122"/>
              </a:rPr>
              <a:t> 		</a:t>
            </a:r>
            <a:r>
              <a:rPr lang="en-US" altLang="zh-CN" sz="2400" dirty="0">
                <a:latin typeface="宋体" pitchFamily="2" charset="-122"/>
              </a:rPr>
              <a:t>DJNZ R2，LOOP	；</a:t>
            </a:r>
            <a:r>
              <a:rPr lang="zh-CN" altLang="en-US" sz="2400" dirty="0">
                <a:latin typeface="宋体" pitchFamily="2" charset="-122"/>
              </a:rPr>
              <a:t>循环控制					 	</a:t>
            </a:r>
            <a:endParaRPr lang="zh-CN" altLang="en-US" sz="2400" dirty="0">
              <a:latin typeface="宋体" pitchFamily="2" charset="-122"/>
            </a:endParaRPr>
          </a:p>
          <a:p>
            <a:pPr marL="6350" indent="-6350">
              <a:lnSpc>
                <a:spcPct val="120000"/>
              </a:lnSpc>
              <a:spcBef>
                <a:spcPct val="0"/>
              </a:spcBef>
              <a:buNone/>
            </a:pPr>
            <a:r>
              <a:rPr lang="zh-CN" altLang="en-US" sz="2400" dirty="0">
                <a:latin typeface="宋体" pitchFamily="2" charset="-122"/>
              </a:rPr>
              <a:t>          </a:t>
            </a:r>
            <a:r>
              <a:rPr lang="zh-CN" altLang="en-US" sz="2400" dirty="0">
                <a:latin typeface="Times New Roman" panose="02020503050405090304" pitchFamily="18" charset="0"/>
              </a:rPr>
              <a:t>…</a:t>
            </a:r>
            <a:r>
              <a:rPr lang="zh-CN" altLang="en-US" sz="2400" dirty="0">
                <a:latin typeface="宋体" pitchFamily="2" charset="-122"/>
              </a:rPr>
              <a:t>		  ；循环结束</a:t>
            </a:r>
            <a:endParaRPr lang="zh-CN" altLang="zh-CN" sz="2400" dirty="0">
              <a:latin typeface="宋体" pitchFamily="2" charset="-122"/>
            </a:endParaRPr>
          </a:p>
          <a:p>
            <a:pPr marL="6350" indent="-6350" algn="just">
              <a:lnSpc>
                <a:spcPct val="100000"/>
              </a:lnSpc>
              <a:spcBef>
                <a:spcPct val="0"/>
              </a:spcBef>
              <a:buNone/>
            </a:pPr>
            <a:endParaRPr lang="zh-CN" altLang="zh-CN" dirty="0">
              <a:solidFill>
                <a:srgbClr val="FFC000"/>
              </a:solidFill>
              <a:latin typeface="宋体" pitchFamily="2" charset="-122"/>
            </a:endParaRPr>
          </a:p>
        </p:txBody>
      </p:sp>
      <p:graphicFrame>
        <p:nvGraphicFramePr>
          <p:cNvPr id="145411" name="Object 3"/>
          <p:cNvGraphicFramePr/>
          <p:nvPr/>
        </p:nvGraphicFramePr>
        <p:xfrm>
          <a:off x="785813" y="1460500"/>
          <a:ext cx="7099300" cy="1238250"/>
        </p:xfrm>
        <a:graphic>
          <a:graphicData uri="http://schemas.openxmlformats.org/presentationml/2006/ole">
            <mc:AlternateContent xmlns:mc="http://schemas.openxmlformats.org/markup-compatibility/2006">
              <mc:Choice xmlns:v="urn:schemas-microsoft-com:vml" Requires="v">
                <p:oleObj spid="_x0000_s3092" name="" r:id="rId1" imgW="3960495" imgH="673100" progId="Equation.3">
                  <p:embed/>
                </p:oleObj>
              </mc:Choice>
              <mc:Fallback>
                <p:oleObj name="" r:id="rId1" imgW="3960495" imgH="673100" progId="Equation.3">
                  <p:embed/>
                  <p:pic>
                    <p:nvPicPr>
                      <p:cNvPr id="0" name="Picture 3091"/>
                      <p:cNvPicPr/>
                      <p:nvPr/>
                    </p:nvPicPr>
                    <p:blipFill>
                      <a:blip r:embed="rId2"/>
                      <a:stretch>
                        <a:fillRect/>
                      </a:stretch>
                    </p:blipFill>
                    <p:spPr>
                      <a:xfrm>
                        <a:off x="785813" y="1460500"/>
                        <a:ext cx="7099300" cy="1238250"/>
                      </a:xfrm>
                      <a:prstGeom prst="rect">
                        <a:avLst/>
                      </a:prstGeom>
                      <a:noFill/>
                      <a:ln w="38100">
                        <a:noFill/>
                        <a:miter/>
                      </a:ln>
                    </p:spPr>
                  </p:pic>
                </p:oleObj>
              </mc:Fallback>
            </mc:AlternateContent>
          </a:graphicData>
        </a:graphic>
      </p:graphicFrame>
      <p:graphicFrame>
        <p:nvGraphicFramePr>
          <p:cNvPr id="145412" name="Object 4"/>
          <p:cNvGraphicFramePr/>
          <p:nvPr/>
        </p:nvGraphicFramePr>
        <p:xfrm>
          <a:off x="785813" y="2905125"/>
          <a:ext cx="7689850" cy="1238250"/>
        </p:xfrm>
        <a:graphic>
          <a:graphicData uri="http://schemas.openxmlformats.org/presentationml/2006/ole">
            <mc:AlternateContent xmlns:mc="http://schemas.openxmlformats.org/markup-compatibility/2006">
              <mc:Choice xmlns:v="urn:schemas-microsoft-com:vml" Requires="v">
                <p:oleObj spid="_x0000_s3091" name="" r:id="rId3" imgW="4290695" imgH="673100" progId="Equation.3">
                  <p:embed/>
                </p:oleObj>
              </mc:Choice>
              <mc:Fallback>
                <p:oleObj name="" r:id="rId3" imgW="4290695" imgH="673100" progId="Equation.3">
                  <p:embed/>
                  <p:pic>
                    <p:nvPicPr>
                      <p:cNvPr id="0" name="Picture 3090"/>
                      <p:cNvPicPr/>
                      <p:nvPr/>
                    </p:nvPicPr>
                    <p:blipFill>
                      <a:blip r:embed="rId4"/>
                      <a:stretch>
                        <a:fillRect/>
                      </a:stretch>
                    </p:blipFill>
                    <p:spPr>
                      <a:xfrm>
                        <a:off x="785813" y="2905125"/>
                        <a:ext cx="7689850" cy="1238250"/>
                      </a:xfrm>
                      <a:prstGeom prst="rect">
                        <a:avLst/>
                      </a:prstGeom>
                      <a:noFill/>
                      <a:ln w="38100">
                        <a:noFill/>
                        <a:miter/>
                      </a:ln>
                    </p:spPr>
                  </p:pic>
                </p:oleObj>
              </mc:Fallback>
            </mc:AlternateContent>
          </a:graphicData>
        </a:graphic>
      </p:graphicFrame>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3" name="Rectangle 2"/>
          <p:cNvSpPr/>
          <p:nvPr/>
        </p:nvSpPr>
        <p:spPr>
          <a:xfrm>
            <a:off x="611188" y="1268413"/>
            <a:ext cx="7416800" cy="946150"/>
          </a:xfrm>
          <a:prstGeom prst="rect">
            <a:avLst/>
          </a:prstGeom>
          <a:noFill/>
          <a:ln w="9525">
            <a:noFill/>
          </a:ln>
        </p:spPr>
        <p:txBody>
          <a:bodyPr anchor="ctr" anchorCtr="0">
            <a:spAutoFit/>
          </a:bodyPr>
          <a:p>
            <a:pPr>
              <a:buClrTx/>
              <a:buFontTx/>
            </a:pPr>
            <a:r>
              <a:rPr lang="en-US" altLang="zh-CN" sz="2800" dirty="0">
                <a:solidFill>
                  <a:srgbClr val="000000"/>
                </a:solidFill>
                <a:latin typeface="黑体" panose="02010609060101010101" pitchFamily="49" charset="-122"/>
                <a:ea typeface="黑体" panose="02010609060101010101" pitchFamily="49" charset="-122"/>
              </a:rPr>
              <a:t>【</a:t>
            </a:r>
            <a:r>
              <a:rPr lang="zh-CN" altLang="en-US" sz="2800" dirty="0">
                <a:solidFill>
                  <a:srgbClr val="000000"/>
                </a:solidFill>
                <a:latin typeface="黑体" panose="02010609060101010101" pitchFamily="49" charset="-122"/>
                <a:ea typeface="黑体" panose="02010609060101010101" pitchFamily="49" charset="-122"/>
              </a:rPr>
              <a:t>例</a:t>
            </a:r>
            <a:r>
              <a:rPr lang="en-US" altLang="zh-CN" sz="2800" dirty="0">
                <a:solidFill>
                  <a:srgbClr val="000000"/>
                </a:solidFill>
                <a:latin typeface="黑体" panose="02010609060101010101" pitchFamily="49" charset="-122"/>
                <a:ea typeface="黑体" panose="02010609060101010101" pitchFamily="49" charset="-122"/>
              </a:rPr>
              <a:t>】</a:t>
            </a:r>
            <a:r>
              <a:rPr lang="zh-CN" altLang="en-US" sz="2800" dirty="0">
                <a:solidFill>
                  <a:srgbClr val="000000"/>
                </a:solidFill>
                <a:latin typeface="黑体" panose="02010609060101010101" pitchFamily="49" charset="-122"/>
                <a:ea typeface="黑体" panose="02010609060101010101" pitchFamily="49" charset="-122"/>
              </a:rPr>
              <a:t>有一段程序如下，该程序执行后，</a:t>
            </a:r>
            <a:endParaRPr lang="zh-CN" altLang="en-US" sz="2800" dirty="0">
              <a:solidFill>
                <a:srgbClr val="000000"/>
              </a:solidFill>
              <a:latin typeface="黑体" panose="02010609060101010101" pitchFamily="49" charset="-122"/>
              <a:ea typeface="黑体" panose="02010609060101010101" pitchFamily="49" charset="-122"/>
            </a:endParaRPr>
          </a:p>
          <a:p>
            <a:pPr>
              <a:buClrTx/>
              <a:buFontTx/>
            </a:pPr>
            <a:r>
              <a:rPr lang="zh-CN" altLang="en-US" sz="2800" dirty="0">
                <a:solidFill>
                  <a:srgbClr val="000000"/>
                </a:solidFill>
                <a:latin typeface="黑体" panose="02010609060101010101" pitchFamily="49" charset="-122"/>
                <a:ea typeface="黑体" panose="02010609060101010101" pitchFamily="49" charset="-122"/>
              </a:rPr>
              <a:t>（</a:t>
            </a:r>
            <a:r>
              <a:rPr lang="en-US" altLang="zh-CN" sz="2800" dirty="0">
                <a:solidFill>
                  <a:srgbClr val="000000"/>
                </a:solidFill>
                <a:latin typeface="黑体" panose="02010609060101010101" pitchFamily="49" charset="-122"/>
                <a:ea typeface="黑体" panose="02010609060101010101" pitchFamily="49" charset="-122"/>
              </a:rPr>
              <a:t>A</a:t>
            </a:r>
            <a:r>
              <a:rPr lang="zh-CN" altLang="en-US" sz="2800" dirty="0">
                <a:solidFill>
                  <a:srgbClr val="000000"/>
                </a:solidFill>
                <a:latin typeface="黑体" panose="02010609060101010101" pitchFamily="49" charset="-122"/>
                <a:ea typeface="黑体" panose="02010609060101010101" pitchFamily="49" charset="-122"/>
              </a:rPr>
              <a:t>）</a:t>
            </a:r>
            <a:r>
              <a:rPr lang="en-US" altLang="zh-CN" sz="2800" dirty="0">
                <a:solidFill>
                  <a:srgbClr val="000000"/>
                </a:solidFill>
                <a:latin typeface="黑体" panose="02010609060101010101" pitchFamily="49" charset="-122"/>
                <a:ea typeface="黑体" panose="02010609060101010101" pitchFamily="49" charset="-122"/>
              </a:rPr>
              <a:t>=10+9+8+7+6+5+4+3+2+1=37H </a:t>
            </a:r>
            <a:endParaRPr lang="en-US" altLang="zh-CN" sz="2800" dirty="0">
              <a:solidFill>
                <a:srgbClr val="000000"/>
              </a:solidFill>
              <a:latin typeface="黑体" panose="02010609060101010101" pitchFamily="49" charset="-122"/>
              <a:ea typeface="黑体" panose="02010609060101010101" pitchFamily="49" charset="-122"/>
            </a:endParaRPr>
          </a:p>
        </p:txBody>
      </p:sp>
      <p:sp>
        <p:nvSpPr>
          <p:cNvPr id="279555" name="Rectangle 3"/>
          <p:cNvSpPr/>
          <p:nvPr/>
        </p:nvSpPr>
        <p:spPr>
          <a:xfrm>
            <a:off x="1357313" y="2643188"/>
            <a:ext cx="4451350" cy="2670175"/>
          </a:xfrm>
          <a:prstGeom prst="rect">
            <a:avLst/>
          </a:prstGeom>
          <a:noFill/>
          <a:ln w="9525">
            <a:noFill/>
          </a:ln>
        </p:spPr>
        <p:txBody>
          <a:bodyPr wrap="none" anchor="ctr" anchorCtr="0">
            <a:spAutoFit/>
          </a:bodyPr>
          <a:p>
            <a:pPr indent="284480"/>
            <a:r>
              <a:rPr lang="en-US" altLang="zh-CN" sz="3200" b="0" dirty="0">
                <a:solidFill>
                  <a:srgbClr val="0A10F8"/>
                </a:solidFill>
                <a:latin typeface="黑体" panose="02010609060101010101" pitchFamily="49" charset="-122"/>
                <a:ea typeface="黑体" panose="02010609060101010101" pitchFamily="49" charset="-122"/>
              </a:rPr>
              <a:t>      MOV   23H,#0AH</a:t>
            </a:r>
            <a:endParaRPr lang="en-US" altLang="zh-CN" sz="3200" b="0" dirty="0">
              <a:solidFill>
                <a:srgbClr val="0A10F8"/>
              </a:solidFill>
              <a:latin typeface="黑体" panose="02010609060101010101" pitchFamily="49" charset="-122"/>
              <a:ea typeface="黑体" panose="02010609060101010101" pitchFamily="49" charset="-122"/>
            </a:endParaRPr>
          </a:p>
          <a:p>
            <a:pPr indent="284480"/>
            <a:r>
              <a:rPr lang="en-US" altLang="zh-CN" sz="3200" b="0" dirty="0">
                <a:solidFill>
                  <a:srgbClr val="0A10F8"/>
                </a:solidFill>
                <a:latin typeface="黑体" panose="02010609060101010101" pitchFamily="49" charset="-122"/>
                <a:ea typeface="黑体" panose="02010609060101010101" pitchFamily="49" charset="-122"/>
              </a:rPr>
              <a:t>      CLR   A</a:t>
            </a:r>
            <a:endParaRPr lang="en-US" altLang="zh-CN" sz="3200" b="0" dirty="0">
              <a:solidFill>
                <a:srgbClr val="0A10F8"/>
              </a:solidFill>
              <a:latin typeface="黑体" panose="02010609060101010101" pitchFamily="49" charset="-122"/>
              <a:ea typeface="黑体" panose="02010609060101010101" pitchFamily="49" charset="-122"/>
            </a:endParaRPr>
          </a:p>
          <a:p>
            <a:pPr indent="284480"/>
            <a:r>
              <a:rPr lang="en-US" altLang="zh-CN" sz="3200" b="0" dirty="0">
                <a:solidFill>
                  <a:srgbClr val="0A10F8"/>
                </a:solidFill>
                <a:latin typeface="黑体" panose="02010609060101010101" pitchFamily="49" charset="-122"/>
                <a:ea typeface="黑体" panose="02010609060101010101" pitchFamily="49" charset="-122"/>
              </a:rPr>
              <a:t>LOOPX:ADD   A,23H</a:t>
            </a:r>
            <a:endParaRPr lang="en-US" altLang="zh-CN" sz="3200" b="0" dirty="0">
              <a:solidFill>
                <a:srgbClr val="0A10F8"/>
              </a:solidFill>
              <a:latin typeface="黑体" panose="02010609060101010101" pitchFamily="49" charset="-122"/>
              <a:ea typeface="黑体" panose="02010609060101010101" pitchFamily="49" charset="-122"/>
            </a:endParaRPr>
          </a:p>
          <a:p>
            <a:pPr indent="284480"/>
            <a:r>
              <a:rPr lang="en-US" altLang="zh-CN" sz="3200" b="0" dirty="0">
                <a:solidFill>
                  <a:srgbClr val="0A10F8"/>
                </a:solidFill>
                <a:latin typeface="黑体" panose="02010609060101010101" pitchFamily="49" charset="-122"/>
                <a:ea typeface="黑体" panose="02010609060101010101" pitchFamily="49" charset="-122"/>
              </a:rPr>
              <a:t>      DJNZ  23H,LOOPX</a:t>
            </a:r>
            <a:endParaRPr lang="en-US" altLang="zh-CN" sz="3200" b="0" dirty="0">
              <a:solidFill>
                <a:srgbClr val="0A10F8"/>
              </a:solidFill>
              <a:latin typeface="黑体" panose="02010609060101010101" pitchFamily="49" charset="-122"/>
              <a:ea typeface="黑体" panose="02010609060101010101" pitchFamily="49" charset="-122"/>
            </a:endParaRPr>
          </a:p>
          <a:p>
            <a:pPr indent="284480"/>
            <a:r>
              <a:rPr lang="en-US" altLang="zh-CN" sz="3200" b="0" dirty="0">
                <a:solidFill>
                  <a:srgbClr val="0A10F8"/>
                </a:solidFill>
                <a:latin typeface="黑体" panose="02010609060101010101" pitchFamily="49" charset="-122"/>
                <a:ea typeface="黑体" panose="02010609060101010101" pitchFamily="49" charset="-122"/>
              </a:rPr>
              <a:t>      SJMP  $</a:t>
            </a:r>
            <a:endParaRPr lang="en-US" altLang="zh-CN" sz="3200" b="0" dirty="0">
              <a:solidFill>
                <a:srgbClr val="0A10F8"/>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9555"/>
                                        </p:tgtEl>
                                        <p:attrNameLst>
                                          <p:attrName>style.visibility</p:attrName>
                                        </p:attrNameLst>
                                      </p:cBhvr>
                                      <p:to>
                                        <p:strVal val="visible"/>
                                      </p:to>
                                    </p:set>
                                    <p:anim calcmode="lin" valueType="num">
                                      <p:cBhvr additive="base">
                                        <p:cTn id="7" dur="500" fill="hold"/>
                                        <p:tgtEl>
                                          <p:spTgt spid="279555"/>
                                        </p:tgtEl>
                                        <p:attrNameLst>
                                          <p:attrName>ppt_x</p:attrName>
                                        </p:attrNameLst>
                                      </p:cBhvr>
                                      <p:tavLst>
                                        <p:tav tm="0">
                                          <p:val>
                                            <p:strVal val="#ppt_x"/>
                                          </p:val>
                                        </p:tav>
                                        <p:tav tm="100000">
                                          <p:val>
                                            <p:strVal val="#ppt_x"/>
                                          </p:val>
                                        </p:tav>
                                      </p:tavLst>
                                    </p:anim>
                                    <p:anim calcmode="lin" valueType="num">
                                      <p:cBhvr additive="base">
                                        <p:cTn id="8" dur="500" fill="hold"/>
                                        <p:tgtEl>
                                          <p:spTgt spid="2795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555"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16388" name="Rectangle 3"/>
          <p:cNvSpPr>
            <a:spLocks noGrp="1" noChangeArrowheads="1"/>
          </p:cNvSpPr>
          <p:nvPr>
            <p:ph type="body" idx="1"/>
          </p:nvPr>
        </p:nvSpPr>
        <p:spPr>
          <a:xfrm>
            <a:off x="0" y="857250"/>
            <a:ext cx="9144000" cy="1857375"/>
          </a:xfrm>
        </p:spPr>
        <p:txBody>
          <a:bodyPr vert="horz" wrap="square" lIns="91440" tIns="45720" rIns="91440" bIns="45720" numCol="1" anchor="t" anchorCtr="0" compatLnSpc="1"/>
          <a:lstStyle/>
          <a:p>
            <a:pPr marL="0" marR="0" lvl="0" indent="-342900" algn="just" defTabSz="42545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r>
              <a:rPr kumimoji="1" lang="zh-CN" altLang="en-US" sz="2800" b="1" i="0" u="none" strike="noStrike" kern="0" cap="none" spc="0" normalizeH="0" baseline="0" noProof="0" dirty="0" smtClean="0">
                <a:ln>
                  <a:noFill/>
                </a:ln>
                <a:solidFill>
                  <a:schemeClr val="tx1"/>
                </a:solidFill>
                <a:effectLst/>
                <a:uLnTx/>
                <a:uFillTx/>
                <a:latin typeface="宋体" pitchFamily="2" charset="-122"/>
                <a:ea typeface="+mn-ea"/>
                <a:cs typeface="+mn-cs"/>
              </a:rPr>
              <a:t>   3-7-3</a:t>
            </a:r>
            <a:r>
              <a:rPr kumimoji="1" lang="zh-CN" altLang="en-US" sz="2400" b="1" i="0" u="none" strike="noStrike" kern="0" cap="none" spc="0" normalizeH="0" baseline="0" noProof="0" dirty="0" smtClean="0">
                <a:ln>
                  <a:noFill/>
                </a:ln>
                <a:solidFill>
                  <a:schemeClr val="folHlink"/>
                </a:solidFill>
                <a:effectLst/>
                <a:uLnTx/>
                <a:uFillTx/>
                <a:latin typeface="宋体" pitchFamily="2" charset="-122"/>
                <a:ea typeface="+mn-ea"/>
                <a:cs typeface="+mn-cs"/>
              </a:rPr>
              <a:t>  </a:t>
            </a:r>
            <a:r>
              <a:rPr kumimoji="1" lang="zh-CN" altLang="en-US" sz="2800" b="1" i="0" u="none" strike="noStrike" kern="0" cap="none" spc="0" normalizeH="0" baseline="0" noProof="0" dirty="0" smtClean="0">
                <a:ln>
                  <a:noFill/>
                </a:ln>
                <a:solidFill>
                  <a:srgbClr val="FF0000"/>
                </a:solidFill>
                <a:effectLst/>
                <a:uLnTx/>
                <a:uFillTx/>
                <a:latin typeface="宋体" pitchFamily="2" charset="-122"/>
                <a:ea typeface="+mn-ea"/>
                <a:cs typeface="+mn-cs"/>
              </a:rPr>
              <a:t>子程序调用和返回指令</a:t>
            </a:r>
            <a:endParaRPr kumimoji="1" lang="en-US" altLang="zh-CN" sz="2800" b="1" i="0" u="none" strike="noStrike" kern="0" cap="none" spc="0" normalizeH="0" baseline="0" noProof="0" dirty="0" smtClean="0">
              <a:ln>
                <a:noFill/>
              </a:ln>
              <a:solidFill>
                <a:srgbClr val="FF0000"/>
              </a:solidFill>
              <a:effectLst/>
              <a:uLnTx/>
              <a:uFillTx/>
              <a:latin typeface="宋体" pitchFamily="2" charset="-122"/>
              <a:ea typeface="+mn-ea"/>
              <a:cs typeface="+mn-cs"/>
            </a:endParaRPr>
          </a:p>
          <a:p>
            <a:pPr marL="0" marR="0" lvl="0" indent="-342900" algn="just" defTabSz="425450" rtl="0" eaLnBrk="0" fontAlgn="base" latinLnBrk="0" hangingPunct="0">
              <a:lnSpc>
                <a:spcPct val="120000"/>
              </a:lnSpc>
              <a:spcBef>
                <a:spcPct val="0"/>
              </a:spcBef>
              <a:spcAft>
                <a:spcPct val="0"/>
              </a:spcAft>
              <a:buClr>
                <a:schemeClr val="folHlink"/>
              </a:buClr>
              <a:buSzTx/>
              <a:buFont typeface="Wingdings" panose="05000000000000000000" pitchFamily="2" charset="2"/>
              <a:buNone/>
              <a:defRPr/>
            </a:pPr>
            <a:r>
              <a:rPr kumimoji="1" lang="zh-CN" altLang="en-US" sz="2800" b="1" i="0" u="none" strike="noStrike" kern="0" cap="none" spc="0" normalizeH="0" baseline="0" noProof="0" dirty="0" smtClean="0">
                <a:ln>
                  <a:noFill/>
                </a:ln>
                <a:solidFill>
                  <a:schemeClr val="tx1"/>
                </a:solidFill>
                <a:effectLst/>
                <a:uLnTx/>
                <a:uFillTx/>
                <a:latin typeface="宋体" pitchFamily="2" charset="-122"/>
                <a:ea typeface="+mn-ea"/>
                <a:cs typeface="+mn-cs"/>
              </a:rPr>
              <a:t>  </a:t>
            </a:r>
            <a:r>
              <a:rPr kumimoji="1" lang="zh-CN" altLang="en-US" sz="2400" b="1" i="0" u="none" strike="noStrike" kern="0" cap="none" spc="0" normalizeH="0" baseline="0" noProof="0" dirty="0" smtClean="0">
                <a:ln>
                  <a:noFill/>
                </a:ln>
                <a:solidFill>
                  <a:schemeClr val="tx1"/>
                </a:solidFill>
                <a:effectLst/>
                <a:uLnTx/>
                <a:uFillTx/>
                <a:latin typeface="宋体" pitchFamily="2" charset="-122"/>
                <a:ea typeface="+mn-ea"/>
                <a:cs typeface="+mn-cs"/>
              </a:rPr>
              <a:t>子程序调用和返回指令也使程序发生转移。</a:t>
            </a:r>
            <a:endParaRPr kumimoji="1" lang="en-US" altLang="zh-CN" sz="24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0" marR="0" lvl="0" indent="355600" algn="just" defTabSz="425450" rtl="0" eaLnBrk="0" fontAlgn="base" latinLnBrk="0" hangingPunct="0">
              <a:lnSpc>
                <a:spcPct val="120000"/>
              </a:lnSpc>
              <a:spcBef>
                <a:spcPct val="0"/>
              </a:spcBef>
              <a:spcAft>
                <a:spcPct val="0"/>
              </a:spcAft>
              <a:buClr>
                <a:schemeClr val="folHlink"/>
              </a:buClr>
              <a:buSzTx/>
              <a:buFont typeface="Wingdings" panose="05000000000000000000" pitchFamily="2" charset="2"/>
              <a:buNone/>
              <a:defRPr/>
            </a:pPr>
            <a:r>
              <a:rPr kumimoji="1" lang="zh-CN" altLang="en-US" sz="2400" b="1" i="0" u="none" strike="noStrike" kern="0" cap="none" spc="0" normalizeH="0" baseline="0" noProof="0" dirty="0" smtClean="0">
                <a:ln>
                  <a:noFill/>
                </a:ln>
                <a:solidFill>
                  <a:srgbClr val="FF0000"/>
                </a:solidFill>
                <a:effectLst/>
                <a:uLnTx/>
                <a:uFillTx/>
                <a:latin typeface="宋体" pitchFamily="2" charset="-122"/>
                <a:ea typeface="+mn-ea"/>
                <a:cs typeface="+mn-cs"/>
              </a:rPr>
              <a:t>程序设计中为了简化程序结构、减少程序占用的存储空间，往往将需要反复调用的某段程序编写出子程序，供主程序随时调用。</a:t>
            </a:r>
            <a:endParaRPr kumimoji="1" lang="zh-CN" altLang="zh-CN" sz="2800" b="1" i="0" u="none" strike="noStrike" kern="0" cap="none" spc="0" normalizeH="0" baseline="0" noProof="0" dirty="0" smtClean="0">
              <a:ln>
                <a:noFill/>
              </a:ln>
              <a:solidFill>
                <a:srgbClr val="FF0000"/>
              </a:solidFill>
              <a:effectLst/>
              <a:uLnTx/>
              <a:uFillTx/>
              <a:latin typeface="宋体" pitchFamily="2" charset="-122"/>
              <a:ea typeface="+mn-ea"/>
              <a:cs typeface="+mn-cs"/>
            </a:endParaRPr>
          </a:p>
        </p:txBody>
      </p:sp>
      <p:graphicFrame>
        <p:nvGraphicFramePr>
          <p:cNvPr id="147459" name="Object 2"/>
          <p:cNvGraphicFramePr>
            <a:graphicFrameLocks noChangeAspect="1"/>
          </p:cNvGraphicFramePr>
          <p:nvPr/>
        </p:nvGraphicFramePr>
        <p:xfrm>
          <a:off x="4572000" y="2786063"/>
          <a:ext cx="4364038" cy="2692400"/>
        </p:xfrm>
        <a:graphic>
          <a:graphicData uri="http://schemas.openxmlformats.org/presentationml/2006/ole">
            <mc:AlternateContent xmlns:mc="http://schemas.openxmlformats.org/markup-compatibility/2006">
              <mc:Choice xmlns:v="urn:schemas-microsoft-com:vml" Requires="v">
                <p:oleObj spid="_x0000_s3093" name="" r:id="rId1" imgW="2717800" imgH="1168400" progId="Word.Document.8">
                  <p:embed/>
                </p:oleObj>
              </mc:Choice>
              <mc:Fallback>
                <p:oleObj name="" r:id="rId1" imgW="2717800" imgH="1168400" progId="Word.Document.8">
                  <p:embed/>
                  <p:pic>
                    <p:nvPicPr>
                      <p:cNvPr id="0" name="Picture 3092"/>
                      <p:cNvPicPr/>
                      <p:nvPr/>
                    </p:nvPicPr>
                    <p:blipFill>
                      <a:blip r:embed="rId2"/>
                      <a:stretch>
                        <a:fillRect/>
                      </a:stretch>
                    </p:blipFill>
                    <p:spPr>
                      <a:xfrm>
                        <a:off x="4572000" y="2786063"/>
                        <a:ext cx="4364038" cy="2692400"/>
                      </a:xfrm>
                      <a:prstGeom prst="rect">
                        <a:avLst/>
                      </a:prstGeom>
                      <a:noFill/>
                      <a:ln w="38100">
                        <a:noFill/>
                        <a:miter/>
                      </a:ln>
                    </p:spPr>
                  </p:pic>
                </p:oleObj>
              </mc:Fallback>
            </mc:AlternateContent>
          </a:graphicData>
        </a:graphic>
      </p:graphicFrame>
      <p:sp>
        <p:nvSpPr>
          <p:cNvPr id="147460" name="TextBox 5"/>
          <p:cNvSpPr txBox="1"/>
          <p:nvPr/>
        </p:nvSpPr>
        <p:spPr>
          <a:xfrm>
            <a:off x="357188" y="2857500"/>
            <a:ext cx="5715000" cy="1001713"/>
          </a:xfrm>
          <a:prstGeom prst="rect">
            <a:avLst/>
          </a:prstGeom>
          <a:noFill/>
          <a:ln w="9525">
            <a:noFill/>
          </a:ln>
        </p:spPr>
        <p:txBody>
          <a:bodyPr anchor="t" anchorCtr="0">
            <a:spAutoFit/>
          </a:bodyPr>
          <a:p>
            <a:pPr indent="457200" eaLnBrk="0" hangingPunct="0">
              <a:lnSpc>
                <a:spcPct val="130000"/>
              </a:lnSpc>
            </a:pPr>
            <a:r>
              <a:rPr lang="zh-CN" altLang="en-US" dirty="0">
                <a:latin typeface="Times New Roman" panose="02020503050405090304" pitchFamily="18" charset="0"/>
                <a:ea typeface="仿宋_GB2312" pitchFamily="49" charset="-122"/>
              </a:rPr>
              <a:t>子程序调用指令和子程序返回指令是成对使用的</a:t>
            </a:r>
            <a:endParaRPr lang="zh-CN" altLang="en-US" dirty="0">
              <a:latin typeface="Times New Roman" panose="02020503050405090304" pitchFamily="18" charset="0"/>
              <a:ea typeface="仿宋_GB2312" pitchFamily="49" charset="-122"/>
            </a:endParaRPr>
          </a:p>
        </p:txBody>
      </p:sp>
      <p:sp>
        <p:nvSpPr>
          <p:cNvPr id="147461" name="TextBox 6"/>
          <p:cNvSpPr txBox="1"/>
          <p:nvPr/>
        </p:nvSpPr>
        <p:spPr>
          <a:xfrm>
            <a:off x="285750" y="3929063"/>
            <a:ext cx="6215063" cy="1379537"/>
          </a:xfrm>
          <a:prstGeom prst="rect">
            <a:avLst/>
          </a:prstGeom>
          <a:noFill/>
          <a:ln w="9525">
            <a:noFill/>
          </a:ln>
        </p:spPr>
        <p:txBody>
          <a:bodyPr anchor="t" anchorCtr="0">
            <a:spAutoFit/>
          </a:bodyPr>
          <a:p>
            <a:pPr indent="457200" eaLnBrk="0" hangingPunct="0">
              <a:lnSpc>
                <a:spcPct val="120000"/>
              </a:lnSpc>
            </a:pPr>
            <a:r>
              <a:rPr lang="zh-CN" altLang="en-US" dirty="0">
                <a:latin typeface="Times New Roman" panose="02020503050405090304" pitchFamily="18" charset="0"/>
                <a:ea typeface="仿宋_GB2312" pitchFamily="49" charset="-122"/>
              </a:rPr>
              <a:t>当执行子程序调用指令时，自动把程序计数器</a:t>
            </a:r>
            <a:r>
              <a:rPr lang="en-US" altLang="zh-CN" dirty="0">
                <a:latin typeface="Times New Roman" panose="02020503050405090304" pitchFamily="18" charset="0"/>
                <a:ea typeface="仿宋_GB2312" pitchFamily="49" charset="-122"/>
              </a:rPr>
              <a:t>PC</a:t>
            </a:r>
            <a:r>
              <a:rPr lang="zh-CN" altLang="en-US" dirty="0">
                <a:latin typeface="Times New Roman" panose="02020503050405090304" pitchFamily="18" charset="0"/>
                <a:ea typeface="仿宋_GB2312" pitchFamily="49" charset="-122"/>
              </a:rPr>
              <a:t>中的断点地址压入堆栈中，并自动将子程序的入口地址送入程序计数器</a:t>
            </a:r>
            <a:r>
              <a:rPr lang="en-US" altLang="zh-CN" dirty="0">
                <a:latin typeface="Times New Roman" panose="02020503050405090304" pitchFamily="18" charset="0"/>
                <a:ea typeface="仿宋_GB2312" pitchFamily="49" charset="-122"/>
              </a:rPr>
              <a:t>PC</a:t>
            </a:r>
            <a:r>
              <a:rPr lang="zh-CN" altLang="en-US" dirty="0">
                <a:latin typeface="Times New Roman" panose="02020503050405090304" pitchFamily="18" charset="0"/>
                <a:ea typeface="仿宋_GB2312" pitchFamily="49" charset="-122"/>
              </a:rPr>
              <a:t>中；</a:t>
            </a:r>
            <a:endParaRPr lang="zh-CN" altLang="en-US" dirty="0">
              <a:latin typeface="Times New Roman" panose="02020503050405090304" pitchFamily="18" charset="0"/>
              <a:ea typeface="仿宋_GB2312" pitchFamily="49" charset="-122"/>
            </a:endParaRPr>
          </a:p>
        </p:txBody>
      </p:sp>
      <p:sp>
        <p:nvSpPr>
          <p:cNvPr id="147462" name="TextBox 7"/>
          <p:cNvSpPr txBox="1"/>
          <p:nvPr/>
        </p:nvSpPr>
        <p:spPr>
          <a:xfrm>
            <a:off x="357188" y="5500688"/>
            <a:ext cx="8501062" cy="936625"/>
          </a:xfrm>
          <a:prstGeom prst="rect">
            <a:avLst/>
          </a:prstGeom>
          <a:noFill/>
          <a:ln w="9525">
            <a:noFill/>
          </a:ln>
        </p:spPr>
        <p:txBody>
          <a:bodyPr anchor="t" anchorCtr="0">
            <a:spAutoFit/>
          </a:bodyPr>
          <a:p>
            <a:pPr indent="457200" eaLnBrk="0" hangingPunct="0">
              <a:lnSpc>
                <a:spcPct val="120000"/>
              </a:lnSpc>
            </a:pPr>
            <a:r>
              <a:rPr lang="zh-CN" altLang="en-US" dirty="0">
                <a:latin typeface="Times New Roman" panose="02020503050405090304" pitchFamily="18" charset="0"/>
                <a:ea typeface="仿宋_GB2312" pitchFamily="49" charset="-122"/>
              </a:rPr>
              <a:t>当执行子程序返回指令时，自动把堆栈中的断点地址恢复到程序计数器</a:t>
            </a:r>
            <a:r>
              <a:rPr lang="en-US" altLang="zh-CN" dirty="0">
                <a:latin typeface="Times New Roman" panose="02020503050405090304" pitchFamily="18" charset="0"/>
                <a:ea typeface="仿宋_GB2312" pitchFamily="49" charset="-122"/>
              </a:rPr>
              <a:t>PC</a:t>
            </a:r>
            <a:r>
              <a:rPr lang="zh-CN" altLang="en-US" dirty="0">
                <a:latin typeface="Times New Roman" panose="02020503050405090304" pitchFamily="18" charset="0"/>
                <a:ea typeface="仿宋_GB2312" pitchFamily="49" charset="-122"/>
              </a:rPr>
              <a:t>中。</a:t>
            </a:r>
            <a:endParaRPr lang="zh-CN" altLang="en-US" dirty="0">
              <a:latin typeface="Times New Roman" panose="02020503050405090304" pitchFamily="18" charset="0"/>
              <a:ea typeface="仿宋_GB2312" pitchFamily="49" charset="-122"/>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113667" name="Rectangle 3"/>
          <p:cNvSpPr>
            <a:spLocks noGrp="1" noChangeArrowheads="1"/>
          </p:cNvSpPr>
          <p:nvPr>
            <p:ph type="body" idx="1"/>
          </p:nvPr>
        </p:nvSpPr>
        <p:spPr>
          <a:xfrm>
            <a:off x="714375" y="857250"/>
            <a:ext cx="8429625" cy="2857500"/>
          </a:xfrm>
        </p:spPr>
        <p:txBody>
          <a:bodyPr vert="horz" wrap="square" lIns="91440" tIns="45720" rIns="91440" bIns="45720" numCol="1" anchor="t" anchorCtr="0" compatLnSpc="1"/>
          <a:lstStyle/>
          <a:p>
            <a:pPr marL="34925" marR="0" lvl="0" indent="-342900" algn="l" defTabSz="425450" rtl="0" eaLnBrk="0" fontAlgn="base" latinLnBrk="0" hangingPunct="0">
              <a:lnSpc>
                <a:spcPct val="110000"/>
              </a:lnSpc>
              <a:spcBef>
                <a:spcPct val="0"/>
              </a:spcBef>
              <a:spcAft>
                <a:spcPct val="0"/>
              </a:spcAft>
              <a:buClr>
                <a:schemeClr val="folHlink"/>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accent2"/>
                </a:solidFill>
                <a:effectLst/>
                <a:uLnTx/>
                <a:uFillTx/>
                <a:latin typeface="黑体" panose="02010609060101010101" pitchFamily="49" charset="-122"/>
                <a:ea typeface="黑体" panose="02010609060101010101" pitchFamily="49" charset="-122"/>
                <a:cs typeface="+mn-cs"/>
              </a:rPr>
              <a:t>一</a:t>
            </a:r>
            <a:r>
              <a:rPr kumimoji="0" lang="zh-CN" altLang="en-US" sz="2800" b="1" i="0" u="none" strike="noStrike" kern="0" cap="none" spc="0" normalizeH="0" baseline="0" noProof="0" dirty="0" smtClean="0">
                <a:ln>
                  <a:noFill/>
                </a:ln>
                <a:solidFill>
                  <a:schemeClr val="accent2"/>
                </a:solidFill>
                <a:effectLst/>
                <a:uLnTx/>
                <a:uFillTx/>
                <a:latin typeface="黑体" panose="02010609060101010101" pitchFamily="49" charset="-122"/>
                <a:ea typeface="黑体" panose="02010609060101010101" pitchFamily="49" charset="-122"/>
                <a:cs typeface="+mn-cs"/>
              </a:rPr>
              <a:t>．绝对(短)调用指令</a:t>
            </a:r>
            <a:r>
              <a:rPr kumimoji="0" lang="zh-CN" altLang="en-US" sz="2800" b="1" i="0" u="none" strike="noStrike" kern="0" cap="none" spc="0" normalizeH="0" baseline="0" noProof="0" dirty="0" smtClean="0">
                <a:ln>
                  <a:noFill/>
                </a:ln>
                <a:solidFill>
                  <a:schemeClr val="tx1"/>
                </a:solidFill>
                <a:effectLst/>
                <a:uLnTx/>
                <a:uFillTx/>
                <a:latin typeface="宋体" pitchFamily="2" charset="-122"/>
                <a:ea typeface="+mn-ea"/>
                <a:cs typeface="+mn-cs"/>
              </a:rPr>
              <a:t>		</a:t>
            </a:r>
            <a:endParaRPr kumimoji="0" lang="zh-CN" altLang="en-US" sz="28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34925" marR="0" lvl="0" indent="-342900" algn="l" defTabSz="425450" rtl="0" eaLnBrk="0" fontAlgn="base" latinLnBrk="0" hangingPunct="0">
              <a:lnSpc>
                <a:spcPct val="110000"/>
              </a:lnSpc>
              <a:spcBef>
                <a:spcPct val="0"/>
              </a:spcBef>
              <a:spcAft>
                <a:spcPct val="0"/>
              </a:spcAft>
              <a:buClr>
                <a:schemeClr val="folHlink"/>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rgbClr val="FF0000"/>
                </a:solidFill>
                <a:effectLst/>
                <a:uLnTx/>
                <a:uFillTx/>
                <a:latin typeface="宋体" pitchFamily="2" charset="-122"/>
                <a:ea typeface="+mn-ea"/>
                <a:cs typeface="+mn-cs"/>
              </a:rPr>
              <a:t>     ACALL  addr11	 </a:t>
            </a: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；PC</a:t>
            </a:r>
            <a:r>
              <a:rPr kumimoji="0" lang="en-US" altLang="zh-CN" sz="2800" b="1" i="0" u="none" strike="noStrike" kern="0" cap="none" spc="0" normalizeH="0" baseline="0" noProof="0" dirty="0" smtClean="0">
                <a:ln>
                  <a:noFill/>
                </a:ln>
                <a:solidFill>
                  <a:schemeClr val="tx1"/>
                </a:solidFill>
                <a:effectLst/>
                <a:uLnTx/>
                <a:uFillTx/>
                <a:latin typeface="Symbol" pitchFamily="18" charset="2"/>
                <a:ea typeface="+mn-ea"/>
                <a:cs typeface="+mn-cs"/>
              </a:rPr>
              <a:t>¬</a:t>
            </a: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PC+2</a:t>
            </a:r>
            <a:endPar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3679825" marR="0" lvl="0" indent="-34925" algn="l" defTabSz="425450" rtl="0" eaLnBrk="0" fontAlgn="base" latinLnBrk="0" hangingPunct="0">
              <a:lnSpc>
                <a:spcPct val="110000"/>
              </a:lnSpc>
              <a:spcBef>
                <a:spcPct val="0"/>
              </a:spcBef>
              <a:spcAft>
                <a:spcPct val="0"/>
              </a:spcAft>
              <a:buClr>
                <a:schemeClr val="folHlink"/>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SP</a:t>
            </a:r>
            <a:r>
              <a:rPr kumimoji="0" lang="en-US" altLang="zh-CN" sz="2800" b="1" i="0" u="none" strike="noStrike" kern="0" cap="none" spc="0" normalizeH="0" baseline="0" noProof="0" dirty="0" smtClean="0">
                <a:ln>
                  <a:noFill/>
                </a:ln>
                <a:solidFill>
                  <a:schemeClr val="tx1"/>
                </a:solidFill>
                <a:effectLst/>
                <a:uLnTx/>
                <a:uFillTx/>
                <a:latin typeface="Symbol" pitchFamily="18" charset="2"/>
                <a:ea typeface="+mn-ea"/>
                <a:cs typeface="+mn-cs"/>
              </a:rPr>
              <a:t>¬</a:t>
            </a: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SP+1，(SP)</a:t>
            </a:r>
            <a:r>
              <a:rPr kumimoji="0" lang="en-US" altLang="zh-CN" sz="2800" b="1" i="0" u="none" strike="noStrike" kern="0" cap="none" spc="0" normalizeH="0" baseline="0" noProof="0" dirty="0" smtClean="0">
                <a:ln>
                  <a:noFill/>
                </a:ln>
                <a:solidFill>
                  <a:schemeClr val="tx1"/>
                </a:solidFill>
                <a:effectLst/>
                <a:uLnTx/>
                <a:uFillTx/>
                <a:latin typeface="Symbol" pitchFamily="18" charset="2"/>
                <a:ea typeface="+mn-ea"/>
                <a:cs typeface="+mn-cs"/>
              </a:rPr>
              <a:t>¬</a:t>
            </a: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PC</a:t>
            </a:r>
            <a:r>
              <a:rPr kumimoji="0" lang="en-US" altLang="zh-CN" sz="2800" b="1" i="0" u="none" strike="noStrike" kern="0" cap="none" spc="0" normalizeH="0" baseline="-25000" noProof="0" dirty="0" smtClean="0">
                <a:ln>
                  <a:noFill/>
                </a:ln>
                <a:solidFill>
                  <a:schemeClr val="tx1"/>
                </a:solidFill>
                <a:effectLst/>
                <a:uLnTx/>
                <a:uFillTx/>
                <a:latin typeface="宋体" pitchFamily="2" charset="-122"/>
                <a:ea typeface="+mn-ea"/>
                <a:cs typeface="+mn-cs"/>
              </a:rPr>
              <a:t>L</a:t>
            </a: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，SP</a:t>
            </a:r>
            <a:r>
              <a:rPr kumimoji="0" lang="en-US" altLang="zh-CN" sz="2800" b="1" i="0" u="none" strike="noStrike" kern="0" cap="none" spc="0" normalizeH="0" baseline="0" noProof="0" dirty="0" smtClean="0">
                <a:ln>
                  <a:noFill/>
                </a:ln>
                <a:solidFill>
                  <a:schemeClr val="tx1"/>
                </a:solidFill>
                <a:effectLst/>
                <a:uLnTx/>
                <a:uFillTx/>
                <a:latin typeface="Symbol" pitchFamily="18" charset="2"/>
                <a:ea typeface="+mn-ea"/>
                <a:cs typeface="+mn-cs"/>
              </a:rPr>
              <a:t>¬</a:t>
            </a: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SP+1，(SP)</a:t>
            </a:r>
            <a:r>
              <a:rPr kumimoji="0" lang="en-US" altLang="zh-CN" sz="2800" b="1" i="0" u="none" strike="noStrike" kern="0" cap="none" spc="0" normalizeH="0" baseline="0" noProof="0" dirty="0" smtClean="0">
                <a:ln>
                  <a:noFill/>
                </a:ln>
                <a:solidFill>
                  <a:schemeClr val="tx1"/>
                </a:solidFill>
                <a:effectLst/>
                <a:uLnTx/>
                <a:uFillTx/>
                <a:latin typeface="Symbol" pitchFamily="18" charset="2"/>
                <a:ea typeface="+mn-ea"/>
                <a:cs typeface="+mn-cs"/>
              </a:rPr>
              <a:t>¬</a:t>
            </a: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PC</a:t>
            </a:r>
            <a:r>
              <a:rPr kumimoji="0" lang="en-US" altLang="zh-CN" sz="2800" b="1" i="0" u="none" strike="noStrike" kern="0" cap="none" spc="0" normalizeH="0" baseline="-25000" noProof="0" dirty="0" smtClean="0">
                <a:ln>
                  <a:noFill/>
                </a:ln>
                <a:solidFill>
                  <a:schemeClr val="tx1"/>
                </a:solidFill>
                <a:effectLst/>
                <a:uLnTx/>
                <a:uFillTx/>
                <a:latin typeface="宋体" pitchFamily="2" charset="-122"/>
                <a:ea typeface="+mn-ea"/>
                <a:cs typeface="+mn-cs"/>
              </a:rPr>
              <a:t>H</a:t>
            </a:r>
            <a:r>
              <a:rPr kumimoji="0" lang="zh-CN" altLang="en-US" sz="2800" b="1" i="0" u="none" strike="noStrike" kern="0" cap="none" spc="0" normalizeH="0" baseline="0" noProof="0" dirty="0" smtClean="0">
                <a:ln>
                  <a:noFill/>
                </a:ln>
                <a:solidFill>
                  <a:schemeClr val="tx1"/>
                </a:solidFill>
                <a:effectLst/>
                <a:uLnTx/>
                <a:uFillTx/>
                <a:latin typeface="宋体" pitchFamily="2" charset="-122"/>
                <a:ea typeface="+mn-ea"/>
                <a:cs typeface="+mn-cs"/>
              </a:rPr>
              <a:t>，</a:t>
            </a:r>
            <a:endPar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3679825" marR="0" lvl="0" indent="-34925" algn="l" defTabSz="425450" rtl="0" eaLnBrk="0" fontAlgn="base" latinLnBrk="0" hangingPunct="0">
              <a:lnSpc>
                <a:spcPct val="110000"/>
              </a:lnSpc>
              <a:spcBef>
                <a:spcPct val="0"/>
              </a:spcBef>
              <a:spcAft>
                <a:spcPct val="0"/>
              </a:spcAft>
              <a:buClr>
                <a:schemeClr val="folHlink"/>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PC</a:t>
            </a:r>
            <a:r>
              <a:rPr kumimoji="0" lang="en-US" altLang="zh-CN" sz="2800" b="1" i="0" u="none" strike="noStrike" kern="0" cap="none" spc="0" normalizeH="0" baseline="-25000" noProof="0" dirty="0" smtClean="0">
                <a:ln>
                  <a:noFill/>
                </a:ln>
                <a:solidFill>
                  <a:schemeClr val="tx1"/>
                </a:solidFill>
                <a:effectLst/>
                <a:uLnTx/>
                <a:uFillTx/>
                <a:latin typeface="宋体" pitchFamily="2" charset="-122"/>
                <a:ea typeface="+mn-ea"/>
                <a:cs typeface="+mn-cs"/>
              </a:rPr>
              <a:t>10～0</a:t>
            </a:r>
            <a:r>
              <a:rPr kumimoji="0" lang="en-US" altLang="zh-CN" sz="2800" b="1" i="0" u="none" strike="noStrike" kern="0" cap="none" spc="0" normalizeH="0" baseline="0" noProof="0" dirty="0" smtClean="0">
                <a:ln>
                  <a:noFill/>
                </a:ln>
                <a:solidFill>
                  <a:schemeClr val="tx1"/>
                </a:solidFill>
                <a:effectLst/>
                <a:uLnTx/>
                <a:uFillTx/>
                <a:latin typeface="Symbol" pitchFamily="18" charset="2"/>
                <a:ea typeface="+mn-ea"/>
                <a:cs typeface="+mn-cs"/>
              </a:rPr>
              <a:t>¬</a:t>
            </a: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adr11</a:t>
            </a:r>
            <a:r>
              <a:rPr kumimoji="0" lang="en-US" altLang="zh-CN" sz="2800" b="1" i="0" u="none" strike="noStrike" kern="0" cap="none" spc="0" normalizeH="0" baseline="-25000" noProof="0" dirty="0" smtClean="0">
                <a:ln>
                  <a:noFill/>
                </a:ln>
                <a:solidFill>
                  <a:schemeClr val="tx1"/>
                </a:solidFill>
                <a:effectLst/>
                <a:uLnTx/>
                <a:uFillTx/>
                <a:latin typeface="宋体" pitchFamily="2" charset="-122"/>
                <a:ea typeface="+mn-ea"/>
                <a:cs typeface="+mn-cs"/>
              </a:rPr>
              <a:t>10～0</a:t>
            </a: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	</a:t>
            </a:r>
            <a:endPar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3679825" marR="0" lvl="0" indent="-34925" algn="l" defTabSz="425450" rtl="0" eaLnBrk="0" fontAlgn="base" latinLnBrk="0" hangingPunct="0">
              <a:lnSpc>
                <a:spcPct val="110000"/>
              </a:lnSpc>
              <a:spcBef>
                <a:spcPct val="0"/>
              </a:spcBef>
              <a:spcAft>
                <a:spcPct val="0"/>
              </a:spcAft>
              <a:buClr>
                <a:schemeClr val="folHlink"/>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PC</a:t>
            </a:r>
            <a:r>
              <a:rPr kumimoji="0" lang="en-US" altLang="zh-CN" sz="2800" b="1" i="0" u="none" strike="noStrike" kern="0" cap="none" spc="0" normalizeH="0" baseline="-25000" noProof="0" dirty="0" smtClean="0">
                <a:ln>
                  <a:noFill/>
                </a:ln>
                <a:solidFill>
                  <a:schemeClr val="tx1"/>
                </a:solidFill>
                <a:effectLst/>
                <a:uLnTx/>
                <a:uFillTx/>
                <a:latin typeface="宋体" pitchFamily="2" charset="-122"/>
                <a:ea typeface="+mn-ea"/>
                <a:cs typeface="+mn-cs"/>
              </a:rPr>
              <a:t>15～11</a:t>
            </a:r>
            <a:r>
              <a:rPr kumimoji="0" lang="zh-CN" altLang="en-US" sz="2800" b="1" i="0" u="none" strike="noStrike" kern="0" cap="none" spc="0" normalizeH="0" baseline="0" noProof="0" dirty="0" smtClean="0">
                <a:ln>
                  <a:noFill/>
                </a:ln>
                <a:solidFill>
                  <a:schemeClr val="tx1"/>
                </a:solidFill>
                <a:effectLst/>
                <a:uLnTx/>
                <a:uFillTx/>
                <a:latin typeface="宋体" pitchFamily="2" charset="-122"/>
                <a:ea typeface="+mn-ea"/>
                <a:cs typeface="+mn-cs"/>
              </a:rPr>
              <a:t>不变</a:t>
            </a:r>
            <a:r>
              <a:rPr kumimoji="0" lang="zh-CN" altLang="zh-CN" sz="2800" b="1" i="0" u="none" strike="noStrike" kern="0" cap="none" spc="0" normalizeH="0" baseline="0" noProof="0" dirty="0" smtClean="0">
                <a:ln>
                  <a:noFill/>
                </a:ln>
                <a:solidFill>
                  <a:schemeClr val="tx1"/>
                </a:solidFill>
                <a:effectLst/>
                <a:uLnTx/>
                <a:uFillTx/>
                <a:latin typeface="宋体" pitchFamily="2" charset="-122"/>
                <a:ea typeface="+mn-ea"/>
                <a:cs typeface="+mn-cs"/>
              </a:rPr>
              <a:t>	</a:t>
            </a:r>
            <a:endParaRPr kumimoji="0" lang="zh-CN" altLang="zh-CN" sz="2800" b="1" i="0" u="none" strike="noStrike" kern="0" cap="none" spc="0" normalizeH="0" baseline="0" noProof="0" dirty="0" smtClean="0">
              <a:ln>
                <a:noFill/>
              </a:ln>
              <a:solidFill>
                <a:schemeClr val="tx1"/>
              </a:solidFill>
              <a:effectLst/>
              <a:uLnTx/>
              <a:uFillTx/>
              <a:latin typeface="宋体" pitchFamily="2" charset="-122"/>
              <a:ea typeface="+mn-ea"/>
              <a:cs typeface="+mn-cs"/>
            </a:endParaRPr>
          </a:p>
          <a:p>
            <a:pPr marL="34925" marR="0" lvl="0" indent="-342900" algn="just" defTabSz="425450" rtl="0" eaLnBrk="0" fontAlgn="base" latinLnBrk="0" hangingPunct="0">
              <a:lnSpc>
                <a:spcPct val="100000"/>
              </a:lnSpc>
              <a:spcBef>
                <a:spcPct val="0"/>
              </a:spcBef>
              <a:spcAft>
                <a:spcPct val="0"/>
              </a:spcAft>
              <a:buClr>
                <a:schemeClr val="folHlink"/>
              </a:buClr>
              <a:buSzTx/>
              <a:buFont typeface="Wingdings" panose="05000000000000000000" pitchFamily="2" charset="2"/>
              <a:buNone/>
              <a:defRPr/>
            </a:pPr>
            <a:endParaRPr kumimoji="1" lang="zh-CN" altLang="zh-CN" sz="2800" b="1" i="0" u="none" strike="noStrike" kern="0" cap="none" spc="0" normalizeH="0" baseline="0" noProof="0" dirty="0" smtClean="0">
              <a:ln>
                <a:noFill/>
              </a:ln>
              <a:solidFill>
                <a:srgbClr val="FFC000"/>
              </a:solidFill>
              <a:effectLst/>
              <a:uLnTx/>
              <a:uFillTx/>
              <a:latin typeface="宋体" pitchFamily="2" charset="-122"/>
              <a:ea typeface="+mn-ea"/>
              <a:cs typeface="+mn-cs"/>
            </a:endParaRPr>
          </a:p>
        </p:txBody>
      </p:sp>
      <p:sp>
        <p:nvSpPr>
          <p:cNvPr id="4" name="TextBox 3"/>
          <p:cNvSpPr txBox="1"/>
          <p:nvPr/>
        </p:nvSpPr>
        <p:spPr>
          <a:xfrm>
            <a:off x="642938" y="3857625"/>
            <a:ext cx="8286750" cy="2308225"/>
          </a:xfrm>
          <a:prstGeom prst="rect">
            <a:avLst/>
          </a:prstGeom>
          <a:noFill/>
        </p:spPr>
        <p:txBody>
          <a:bodyPr>
            <a:spAutoFit/>
          </a:bodyPr>
          <a:lstStyle/>
          <a:p>
            <a:pPr marR="0" defTabSz="914400" eaLnBrk="0" hangingPunct="0">
              <a:buSzTx/>
              <a:defRPr/>
            </a:pPr>
            <a:r>
              <a:rPr kumimoji="1" lang="en-US" altLang="zh-CN" kern="1200" cap="none" spc="0" normalizeH="0" baseline="0" noProof="0" dirty="0">
                <a:latin typeface="Times New Roman" panose="02020503050405090304" pitchFamily="18" charset="0"/>
                <a:ea typeface="仿宋_GB2312" pitchFamily="49" charset="-122"/>
                <a:cs typeface="+mn-cs"/>
              </a:rPr>
              <a:t>ACALL</a:t>
            </a:r>
            <a:r>
              <a:rPr kumimoji="1" lang="zh-CN" altLang="en-US" kern="1200" cap="none" spc="0" normalizeH="0" baseline="0" noProof="0" dirty="0">
                <a:latin typeface="Times New Roman" panose="02020503050405090304" pitchFamily="18" charset="0"/>
                <a:ea typeface="仿宋_GB2312" pitchFamily="49" charset="-122"/>
                <a:cs typeface="+mn-cs"/>
              </a:rPr>
              <a:t>指令的执行分为</a:t>
            </a:r>
            <a:r>
              <a:rPr kumimoji="1" lang="en-US" altLang="zh-CN" kern="1200" cap="none" spc="0" normalizeH="0" baseline="0" noProof="0" dirty="0">
                <a:latin typeface="Times New Roman" panose="02020503050405090304" pitchFamily="18" charset="0"/>
                <a:ea typeface="仿宋_GB2312" pitchFamily="49" charset="-122"/>
                <a:cs typeface="+mn-cs"/>
              </a:rPr>
              <a:t>3</a:t>
            </a:r>
            <a:r>
              <a:rPr kumimoji="1" lang="zh-CN" altLang="en-US" kern="1200" cap="none" spc="0" normalizeH="0" baseline="0" noProof="0" dirty="0">
                <a:latin typeface="Times New Roman" panose="02020503050405090304" pitchFamily="18" charset="0"/>
                <a:ea typeface="仿宋_GB2312" pitchFamily="49" charset="-122"/>
                <a:cs typeface="+mn-cs"/>
              </a:rPr>
              <a:t>步：</a:t>
            </a:r>
            <a:endParaRPr kumimoji="1" lang="en-US" altLang="zh-CN" kern="1200" cap="none" spc="0" normalizeH="0" baseline="0" noProof="0" dirty="0">
              <a:latin typeface="Times New Roman" panose="02020503050405090304" pitchFamily="18" charset="0"/>
              <a:ea typeface="仿宋_GB2312" pitchFamily="49" charset="-122"/>
              <a:cs typeface="+mn-cs"/>
            </a:endParaRPr>
          </a:p>
          <a:p>
            <a:pPr marL="990600" marR="0" defTabSz="914400" eaLnBrk="0" hangingPunct="0">
              <a:buSzTx/>
              <a:defRPr/>
            </a:pPr>
            <a:r>
              <a:rPr kumimoji="1" lang="zh-CN" altLang="en-US" kern="1200" cap="none" spc="0" normalizeH="0" baseline="0" noProof="0" dirty="0">
                <a:latin typeface="Times New Roman" panose="02020503050405090304" pitchFamily="18" charset="0"/>
                <a:ea typeface="仿宋_GB2312" pitchFamily="49" charset="-122"/>
                <a:cs typeface="+mn-cs"/>
              </a:rPr>
              <a:t>首先，将</a:t>
            </a:r>
            <a:r>
              <a:rPr kumimoji="1" lang="en-US" altLang="zh-CN" kern="1200" cap="none" spc="0" normalizeH="0" baseline="0" noProof="0" dirty="0">
                <a:latin typeface="Times New Roman" panose="02020503050405090304" pitchFamily="18" charset="0"/>
                <a:ea typeface="仿宋_GB2312" pitchFamily="49" charset="-122"/>
                <a:cs typeface="+mn-cs"/>
              </a:rPr>
              <a:t>PC</a:t>
            </a:r>
            <a:r>
              <a:rPr kumimoji="1" lang="zh-CN" altLang="en-US" kern="1200" cap="none" spc="0" normalizeH="0" baseline="0" noProof="0" dirty="0">
                <a:latin typeface="Times New Roman" panose="02020503050405090304" pitchFamily="18" charset="0"/>
                <a:ea typeface="仿宋_GB2312" pitchFamily="49" charset="-122"/>
                <a:cs typeface="+mn-cs"/>
              </a:rPr>
              <a:t>值加</a:t>
            </a:r>
            <a:r>
              <a:rPr kumimoji="1" lang="en-US" altLang="zh-CN" kern="1200" cap="none" spc="0" normalizeH="0" baseline="0" noProof="0" dirty="0">
                <a:latin typeface="Times New Roman" panose="02020503050405090304" pitchFamily="18" charset="0"/>
                <a:ea typeface="仿宋_GB2312" pitchFamily="49" charset="-122"/>
                <a:cs typeface="+mn-cs"/>
              </a:rPr>
              <a:t>2</a:t>
            </a:r>
            <a:r>
              <a:rPr kumimoji="1" lang="zh-CN" altLang="en-US" kern="1200" cap="none" spc="0" normalizeH="0" baseline="0" noProof="0" dirty="0">
                <a:latin typeface="Times New Roman" panose="02020503050405090304" pitchFamily="18" charset="0"/>
                <a:ea typeface="仿宋_GB2312" pitchFamily="49" charset="-122"/>
                <a:cs typeface="+mn-cs"/>
              </a:rPr>
              <a:t>，得到断点地址；</a:t>
            </a:r>
            <a:endParaRPr kumimoji="1" lang="en-US" altLang="zh-CN" kern="1200" cap="none" spc="0" normalizeH="0" baseline="0" noProof="0" dirty="0">
              <a:latin typeface="Times New Roman" panose="02020503050405090304" pitchFamily="18" charset="0"/>
              <a:ea typeface="仿宋_GB2312" pitchFamily="49" charset="-122"/>
              <a:cs typeface="+mn-cs"/>
            </a:endParaRPr>
          </a:p>
          <a:p>
            <a:pPr marL="990600" marR="0" defTabSz="914400" eaLnBrk="0" hangingPunct="0">
              <a:buSzTx/>
              <a:defRPr/>
            </a:pPr>
            <a:r>
              <a:rPr kumimoji="1" lang="zh-CN" altLang="en-US" kern="1200" cap="none" spc="0" normalizeH="0" baseline="0" noProof="0" dirty="0">
                <a:latin typeface="Times New Roman" panose="02020503050405090304" pitchFamily="18" charset="0"/>
                <a:ea typeface="仿宋_GB2312" pitchFamily="49" charset="-122"/>
                <a:cs typeface="+mn-cs"/>
              </a:rPr>
              <a:t>然后，自动通过</a:t>
            </a:r>
            <a:r>
              <a:rPr kumimoji="1" lang="en-US" altLang="zh-CN" kern="1200" cap="none" spc="0" normalizeH="0" baseline="0" noProof="0" dirty="0">
                <a:latin typeface="Times New Roman" panose="02020503050405090304" pitchFamily="18" charset="0"/>
                <a:ea typeface="仿宋_GB2312" pitchFamily="49" charset="-122"/>
                <a:cs typeface="+mn-cs"/>
              </a:rPr>
              <a:t>2</a:t>
            </a:r>
            <a:r>
              <a:rPr kumimoji="1" lang="zh-CN" altLang="en-US" kern="1200" cap="none" spc="0" normalizeH="0" baseline="0" noProof="0" dirty="0">
                <a:latin typeface="Times New Roman" panose="02020503050405090304" pitchFamily="18" charset="0"/>
                <a:ea typeface="仿宋_GB2312" pitchFamily="49" charset="-122"/>
                <a:cs typeface="+mn-cs"/>
              </a:rPr>
              <a:t>次进栈操作，实现断点保护；</a:t>
            </a:r>
            <a:endParaRPr kumimoji="1" lang="en-US" altLang="zh-CN" kern="1200" cap="none" spc="0" normalizeH="0" baseline="0" noProof="0" dirty="0">
              <a:latin typeface="Times New Roman" panose="02020503050405090304" pitchFamily="18" charset="0"/>
              <a:ea typeface="仿宋_GB2312" pitchFamily="49" charset="-122"/>
              <a:cs typeface="+mn-cs"/>
            </a:endParaRPr>
          </a:p>
          <a:p>
            <a:pPr marL="990600" marR="0" defTabSz="914400" eaLnBrk="0" hangingPunct="0">
              <a:buSzTx/>
              <a:defRPr/>
            </a:pPr>
            <a:r>
              <a:rPr kumimoji="1" lang="zh-CN" altLang="en-US" kern="1200" cap="none" spc="0" normalizeH="0" baseline="0" noProof="0" dirty="0">
                <a:latin typeface="Times New Roman" panose="02020503050405090304" pitchFamily="18" charset="0"/>
                <a:ea typeface="仿宋_GB2312" pitchFamily="49" charset="-122"/>
                <a:cs typeface="+mn-cs"/>
              </a:rPr>
              <a:t>最后，将</a:t>
            </a:r>
            <a:r>
              <a:rPr kumimoji="1" lang="en-US" altLang="zh-CN" kern="1200" cap="none" spc="0" normalizeH="0" baseline="0" noProof="0" dirty="0">
                <a:latin typeface="Times New Roman" panose="02020503050405090304" pitchFamily="18" charset="0"/>
                <a:ea typeface="仿宋_GB2312" pitchFamily="49" charset="-122"/>
                <a:cs typeface="+mn-cs"/>
              </a:rPr>
              <a:t>11</a:t>
            </a:r>
            <a:r>
              <a:rPr kumimoji="1" lang="zh-CN" altLang="en-US" kern="1200" cap="none" spc="0" normalizeH="0" baseline="0" noProof="0" dirty="0">
                <a:latin typeface="Times New Roman" panose="02020503050405090304" pitchFamily="18" charset="0"/>
                <a:ea typeface="仿宋_GB2312" pitchFamily="49" charset="-122"/>
                <a:cs typeface="+mn-cs"/>
              </a:rPr>
              <a:t>位目的地址送入</a:t>
            </a:r>
            <a:r>
              <a:rPr kumimoji="1" lang="en-US" altLang="zh-CN" kern="1200" cap="none" spc="0" normalizeH="0" baseline="0" noProof="0" dirty="0">
                <a:latin typeface="Times New Roman" panose="02020503050405090304" pitchFamily="18" charset="0"/>
                <a:ea typeface="仿宋_GB2312" pitchFamily="49" charset="-122"/>
                <a:cs typeface="+mn-cs"/>
              </a:rPr>
              <a:t>PC</a:t>
            </a:r>
            <a:r>
              <a:rPr kumimoji="1" lang="zh-CN" altLang="en-US" kern="1200" cap="none" spc="0" normalizeH="0" baseline="0" noProof="0" dirty="0">
                <a:latin typeface="Times New Roman" panose="02020503050405090304" pitchFamily="18" charset="0"/>
                <a:ea typeface="仿宋_GB2312" pitchFamily="49" charset="-122"/>
                <a:cs typeface="+mn-cs"/>
              </a:rPr>
              <a:t>低</a:t>
            </a:r>
            <a:r>
              <a:rPr kumimoji="1" lang="en-US" altLang="zh-CN" kern="1200" cap="none" spc="0" normalizeH="0" baseline="0" noProof="0" dirty="0">
                <a:latin typeface="Times New Roman" panose="02020503050405090304" pitchFamily="18" charset="0"/>
                <a:ea typeface="仿宋_GB2312" pitchFamily="49" charset="-122"/>
                <a:cs typeface="+mn-cs"/>
              </a:rPr>
              <a:t>11</a:t>
            </a:r>
            <a:r>
              <a:rPr kumimoji="1" lang="zh-CN" altLang="en-US" kern="1200" cap="none" spc="0" normalizeH="0" baseline="0" noProof="0" dirty="0">
                <a:latin typeface="Times New Roman" panose="02020503050405090304" pitchFamily="18" charset="0"/>
                <a:ea typeface="仿宋_GB2312" pitchFamily="49" charset="-122"/>
                <a:cs typeface="+mn-cs"/>
              </a:rPr>
              <a:t>位中。</a:t>
            </a:r>
            <a:endParaRPr kumimoji="1" lang="en-US" altLang="zh-CN" kern="1200" cap="none" spc="0" normalizeH="0" baseline="0" noProof="0" dirty="0">
              <a:latin typeface="Times New Roman" panose="02020503050405090304" pitchFamily="18" charset="0"/>
              <a:ea typeface="仿宋_GB2312" pitchFamily="49" charset="-122"/>
              <a:cs typeface="+mn-cs"/>
            </a:endParaRPr>
          </a:p>
          <a:p>
            <a:pPr marR="0" defTabSz="914400" eaLnBrk="0" hangingPunct="0">
              <a:buSzTx/>
              <a:defRPr/>
            </a:pPr>
            <a:endParaRPr kumimoji="1" lang="en-US" altLang="zh-CN" kern="1200" cap="none" spc="0" normalizeH="0" baseline="0" noProof="0" dirty="0">
              <a:latin typeface="Times New Roman" panose="02020503050405090304" pitchFamily="18" charset="0"/>
              <a:ea typeface="仿宋_GB2312" pitchFamily="49" charset="-122"/>
              <a:cs typeface="+mn-cs"/>
            </a:endParaRPr>
          </a:p>
          <a:p>
            <a:pPr marR="0" defTabSz="914400" eaLnBrk="0" hangingPunct="0">
              <a:buSzTx/>
              <a:defRPr/>
            </a:pPr>
            <a:endParaRPr kumimoji="1" lang="zh-CN" altLang="en-US" kern="1200" cap="none" spc="0" normalizeH="0" baseline="0" noProof="0" dirty="0">
              <a:latin typeface="Times New Roman" panose="02020503050405090304" pitchFamily="18" charset="0"/>
              <a:ea typeface="仿宋_GB2312" pitchFamily="49" charset="-122"/>
              <a:cs typeface="+mn-cs"/>
            </a:endParaRPr>
          </a:p>
        </p:txBody>
      </p:sp>
      <p:sp>
        <p:nvSpPr>
          <p:cNvPr id="5" name="TextBox 4"/>
          <p:cNvSpPr txBox="1"/>
          <p:nvPr/>
        </p:nvSpPr>
        <p:spPr>
          <a:xfrm>
            <a:off x="1571625" y="5429250"/>
            <a:ext cx="7358063" cy="449263"/>
          </a:xfrm>
          <a:prstGeom prst="rect">
            <a:avLst/>
          </a:prstGeom>
          <a:noFill/>
          <a:ln w="9525">
            <a:noFill/>
          </a:ln>
        </p:spPr>
        <p:txBody>
          <a:bodyPr anchor="t" anchorCtr="0">
            <a:spAutoFit/>
          </a:bodyPr>
          <a:p>
            <a:pPr marL="34925" eaLnBrk="0" hangingPunct="0">
              <a:lnSpc>
                <a:spcPct val="110000"/>
              </a:lnSpc>
            </a:pPr>
            <a:r>
              <a:rPr lang="zh-CN" altLang="en-US" dirty="0">
                <a:solidFill>
                  <a:schemeClr val="tx2"/>
                </a:solidFill>
                <a:latin typeface="宋体" pitchFamily="2" charset="-122"/>
                <a:ea typeface="仿宋_GB2312" pitchFamily="49" charset="-122"/>
              </a:rPr>
              <a:t>指令调用范围 2</a:t>
            </a:r>
            <a:r>
              <a:rPr lang="en-US" altLang="zh-CN" dirty="0">
                <a:solidFill>
                  <a:schemeClr val="tx2"/>
                </a:solidFill>
                <a:latin typeface="宋体" pitchFamily="2" charset="-122"/>
                <a:ea typeface="仿宋_GB2312" pitchFamily="49" charset="-122"/>
              </a:rPr>
              <a:t>KB</a:t>
            </a:r>
            <a:r>
              <a:rPr lang="en-US" altLang="zh-CN" dirty="0">
                <a:latin typeface="宋体" pitchFamily="2" charset="-122"/>
                <a:ea typeface="仿宋_GB2312" pitchFamily="49" charset="-122"/>
              </a:rPr>
              <a:t>。</a:t>
            </a:r>
            <a:endParaRPr lang="en-US" altLang="zh-CN" dirty="0">
              <a:latin typeface="宋体" pitchFamily="2" charset="-122"/>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17414" name="TextBox 5"/>
          <p:cNvSpPr txBox="1">
            <a:spLocks noChangeArrowheads="1"/>
          </p:cNvSpPr>
          <p:nvPr/>
        </p:nvSpPr>
        <p:spPr bwMode="auto">
          <a:xfrm>
            <a:off x="428625" y="1000125"/>
            <a:ext cx="8358188" cy="2306638"/>
          </a:xfrm>
          <a:prstGeom prst="rect">
            <a:avLst/>
          </a:prstGeom>
          <a:noFill/>
          <a:ln w="9525">
            <a:noFill/>
            <a:miter lim="800000"/>
          </a:ln>
        </p:spPr>
        <p:txBody>
          <a:bodyPr>
            <a:spAutoFit/>
          </a:bodyPr>
          <a:lstStyle/>
          <a:p>
            <a:pPr marR="0" algn="just" defTabSz="914400" eaLnBrk="0" hangingPunct="0">
              <a:buClrTx/>
              <a:buSzTx/>
              <a:buFontTx/>
              <a:defRPr/>
            </a:pPr>
            <a:r>
              <a:rPr kumimoji="0" lang="zh-CN" altLang="en-US" kern="1200" cap="none" spc="0" normalizeH="0" baseline="0" noProof="0" dirty="0">
                <a:solidFill>
                  <a:schemeClr val="accent2"/>
                </a:solidFill>
                <a:latin typeface="黑体" panose="02010609060101010101" pitchFamily="49" charset="-122"/>
                <a:ea typeface="黑体" panose="02010609060101010101" pitchFamily="49" charset="-122"/>
                <a:cs typeface="+mn-cs"/>
              </a:rPr>
              <a:t> 二．长调用指令</a:t>
            </a:r>
            <a:r>
              <a:rPr kumimoji="0" lang="zh-CN" altLang="en-US" kern="1200" cap="none" spc="0" normalizeH="0" baseline="0" noProof="0" dirty="0">
                <a:latin typeface="宋体" pitchFamily="2" charset="-122"/>
                <a:ea typeface="仿宋_GB2312" pitchFamily="49" charset="-122"/>
                <a:cs typeface="+mn-cs"/>
              </a:rPr>
              <a:t>						</a:t>
            </a:r>
            <a:endParaRPr kumimoji="0" lang="zh-CN" altLang="en-US" kern="1200" cap="none" spc="0" normalizeH="0" baseline="0" noProof="0" dirty="0">
              <a:latin typeface="宋体" pitchFamily="2" charset="-122"/>
              <a:ea typeface="仿宋_GB2312" pitchFamily="49" charset="-122"/>
              <a:cs typeface="+mn-cs"/>
            </a:endParaRPr>
          </a:p>
          <a:p>
            <a:pPr marR="0" algn="just" defTabSz="914400" eaLnBrk="0" hangingPunct="0">
              <a:buClrTx/>
              <a:buSzTx/>
              <a:buFontTx/>
              <a:defRPr/>
            </a:pPr>
            <a:r>
              <a:rPr kumimoji="0" lang="en-US" altLang="zh-CN" kern="1200" cap="none" spc="0" normalizeH="0" baseline="0" noProof="0" dirty="0">
                <a:solidFill>
                  <a:srgbClr val="FF0000"/>
                </a:solidFill>
                <a:latin typeface="宋体" pitchFamily="2" charset="-122"/>
                <a:ea typeface="仿宋_GB2312" pitchFamily="49" charset="-122"/>
                <a:cs typeface="+mn-cs"/>
              </a:rPr>
              <a:t> LCALL  addr16</a:t>
            </a:r>
            <a:r>
              <a:rPr kumimoji="0" lang="en-US" altLang="zh-CN" kern="1200" cap="none" spc="0" normalizeH="0" baseline="0" noProof="0" dirty="0">
                <a:latin typeface="宋体" pitchFamily="2" charset="-122"/>
                <a:ea typeface="仿宋_GB2312" pitchFamily="49" charset="-122"/>
                <a:cs typeface="+mn-cs"/>
              </a:rPr>
              <a:t> ；PC</a:t>
            </a:r>
            <a:r>
              <a:rPr kumimoji="0" lang="en-US" altLang="zh-CN" kern="1200" cap="none" spc="0" normalizeH="0" baseline="0" noProof="0" dirty="0">
                <a:latin typeface="Symbol" pitchFamily="18" charset="2"/>
                <a:ea typeface="仿宋_GB2312" pitchFamily="49" charset="-122"/>
                <a:cs typeface="+mn-cs"/>
              </a:rPr>
              <a:t>¬</a:t>
            </a:r>
            <a:r>
              <a:rPr kumimoji="0" lang="en-US" altLang="zh-CN" kern="1200" cap="none" spc="0" normalizeH="0" baseline="0" noProof="0" dirty="0">
                <a:latin typeface="宋体" pitchFamily="2" charset="-122"/>
                <a:ea typeface="仿宋_GB2312" pitchFamily="49" charset="-122"/>
                <a:cs typeface="+mn-cs"/>
              </a:rPr>
              <a:t>PC+3</a:t>
            </a:r>
            <a:r>
              <a:rPr kumimoji="0" lang="zh-CN" altLang="en-US" kern="1200" cap="none" spc="0" normalizeH="0" baseline="0" noProof="0" dirty="0">
                <a:latin typeface="宋体" pitchFamily="2" charset="-122"/>
                <a:ea typeface="仿宋_GB2312" pitchFamily="49" charset="-122"/>
                <a:cs typeface="+mn-cs"/>
              </a:rPr>
              <a:t>, </a:t>
            </a:r>
            <a:endParaRPr kumimoji="0" lang="en-US" altLang="zh-CN" kern="1200" cap="none" spc="0" normalizeH="0" baseline="0" noProof="0" dirty="0">
              <a:latin typeface="宋体" pitchFamily="2" charset="-122"/>
              <a:ea typeface="仿宋_GB2312" pitchFamily="49" charset="-122"/>
              <a:cs typeface="+mn-cs"/>
            </a:endParaRPr>
          </a:p>
          <a:p>
            <a:pPr marL="2603500" marR="0" algn="just" defTabSz="914400" eaLnBrk="0" hangingPunct="0">
              <a:buClrTx/>
              <a:buSzTx/>
              <a:buFontTx/>
              <a:defRPr/>
            </a:pPr>
            <a:r>
              <a:rPr kumimoji="0" lang="en-US" altLang="zh-CN" kern="1200" cap="none" spc="0" normalizeH="0" baseline="0" noProof="0" dirty="0">
                <a:latin typeface="宋体" pitchFamily="2" charset="-122"/>
                <a:ea typeface="仿宋_GB2312" pitchFamily="49" charset="-122"/>
                <a:cs typeface="+mn-cs"/>
              </a:rPr>
              <a:t>SP</a:t>
            </a:r>
            <a:r>
              <a:rPr kumimoji="0" lang="en-US" altLang="zh-CN" kern="1200" cap="none" spc="0" normalizeH="0" baseline="0" noProof="0" dirty="0">
                <a:latin typeface="Symbol" pitchFamily="18" charset="2"/>
                <a:ea typeface="仿宋_GB2312" pitchFamily="49" charset="-122"/>
                <a:cs typeface="+mn-cs"/>
              </a:rPr>
              <a:t>¬(</a:t>
            </a:r>
            <a:r>
              <a:rPr kumimoji="0" lang="en-US" altLang="zh-CN" kern="1200" cap="none" spc="0" normalizeH="0" baseline="0" noProof="0" dirty="0">
                <a:latin typeface="宋体" pitchFamily="2" charset="-122"/>
                <a:ea typeface="仿宋_GB2312" pitchFamily="49" charset="-122"/>
                <a:cs typeface="+mn-cs"/>
              </a:rPr>
              <a:t>SP)+1，(SP)</a:t>
            </a:r>
            <a:r>
              <a:rPr kumimoji="0" lang="en-US" altLang="zh-CN" kern="1200" cap="none" spc="0" normalizeH="0" baseline="0" noProof="0" dirty="0">
                <a:latin typeface="Symbol" pitchFamily="18" charset="2"/>
                <a:ea typeface="仿宋_GB2312" pitchFamily="49" charset="-122"/>
                <a:cs typeface="+mn-cs"/>
              </a:rPr>
              <a:t>¬</a:t>
            </a:r>
            <a:r>
              <a:rPr kumimoji="0" lang="en-US" altLang="zh-CN" kern="1200" cap="none" spc="0" normalizeH="0" baseline="0" noProof="0" dirty="0">
                <a:latin typeface="宋体" pitchFamily="2" charset="-122"/>
                <a:ea typeface="仿宋_GB2312" pitchFamily="49" charset="-122"/>
                <a:cs typeface="+mn-cs"/>
              </a:rPr>
              <a:t>PC</a:t>
            </a:r>
            <a:r>
              <a:rPr kumimoji="0" lang="en-US" altLang="zh-CN" kern="1200" cap="none" spc="0" normalizeH="0" baseline="-25000" noProof="0" dirty="0">
                <a:latin typeface="宋体" pitchFamily="2" charset="-122"/>
                <a:ea typeface="仿宋_GB2312" pitchFamily="49" charset="-122"/>
                <a:cs typeface="+mn-cs"/>
              </a:rPr>
              <a:t>L</a:t>
            </a:r>
            <a:endParaRPr kumimoji="0" lang="en-US" altLang="zh-CN" kern="1200" cap="none" spc="0" normalizeH="0" baseline="-25000" noProof="0" dirty="0">
              <a:latin typeface="宋体" pitchFamily="2" charset="-122"/>
              <a:ea typeface="仿宋_GB2312" pitchFamily="49" charset="-122"/>
              <a:cs typeface="+mn-cs"/>
            </a:endParaRPr>
          </a:p>
          <a:p>
            <a:pPr marL="2603500" marR="0" algn="just" defTabSz="914400" eaLnBrk="0" hangingPunct="0">
              <a:buClrTx/>
              <a:buSzTx/>
              <a:buFontTx/>
              <a:defRPr/>
            </a:pPr>
            <a:r>
              <a:rPr kumimoji="0" lang="en-US" altLang="zh-CN" kern="1200" cap="none" spc="0" normalizeH="0" baseline="0" noProof="0" dirty="0">
                <a:latin typeface="宋体" pitchFamily="2" charset="-122"/>
                <a:ea typeface="仿宋_GB2312" pitchFamily="49" charset="-122"/>
                <a:cs typeface="+mn-cs"/>
              </a:rPr>
              <a:t>SP</a:t>
            </a:r>
            <a:r>
              <a:rPr kumimoji="0" lang="en-US" altLang="zh-CN" kern="1200" cap="none" spc="0" normalizeH="0" baseline="0" noProof="0" dirty="0">
                <a:latin typeface="Symbol" pitchFamily="18" charset="2"/>
                <a:ea typeface="仿宋_GB2312" pitchFamily="49" charset="-122"/>
                <a:cs typeface="+mn-cs"/>
              </a:rPr>
              <a:t>¬(</a:t>
            </a:r>
            <a:r>
              <a:rPr kumimoji="0" lang="en-US" altLang="zh-CN" kern="1200" cap="none" spc="0" normalizeH="0" baseline="0" noProof="0" dirty="0">
                <a:latin typeface="宋体" pitchFamily="2" charset="-122"/>
                <a:ea typeface="仿宋_GB2312" pitchFamily="49" charset="-122"/>
                <a:cs typeface="+mn-cs"/>
              </a:rPr>
              <a:t>SP)+1 ，(SP)</a:t>
            </a:r>
            <a:r>
              <a:rPr kumimoji="0" lang="en-US" altLang="zh-CN" kern="1200" cap="none" spc="0" normalizeH="0" baseline="0" noProof="0" dirty="0">
                <a:latin typeface="Symbol" pitchFamily="18" charset="2"/>
                <a:ea typeface="仿宋_GB2312" pitchFamily="49" charset="-122"/>
                <a:cs typeface="+mn-cs"/>
              </a:rPr>
              <a:t>¬</a:t>
            </a:r>
            <a:r>
              <a:rPr kumimoji="0" lang="en-US" altLang="zh-CN" kern="1200" cap="none" spc="0" normalizeH="0" baseline="0" noProof="0" dirty="0">
                <a:latin typeface="宋体" pitchFamily="2" charset="-122"/>
                <a:ea typeface="仿宋_GB2312" pitchFamily="49" charset="-122"/>
                <a:cs typeface="+mn-cs"/>
              </a:rPr>
              <a:t>PC</a:t>
            </a:r>
            <a:r>
              <a:rPr kumimoji="0" lang="en-US" altLang="zh-CN" kern="1200" cap="none" spc="0" normalizeH="0" baseline="-25000" noProof="0" dirty="0">
                <a:latin typeface="宋体" pitchFamily="2" charset="-122"/>
                <a:ea typeface="仿宋_GB2312" pitchFamily="49" charset="-122"/>
                <a:cs typeface="+mn-cs"/>
              </a:rPr>
              <a:t>H</a:t>
            </a:r>
            <a:endParaRPr kumimoji="0" lang="en-US" altLang="zh-CN" kern="1200" cap="none" spc="0" normalizeH="0" baseline="-25000" noProof="0" dirty="0">
              <a:latin typeface="宋体" pitchFamily="2" charset="-122"/>
              <a:ea typeface="仿宋_GB2312" pitchFamily="49" charset="-122"/>
              <a:cs typeface="+mn-cs"/>
            </a:endParaRPr>
          </a:p>
          <a:p>
            <a:pPr marL="2603500" marR="0" algn="just" defTabSz="914400" eaLnBrk="0" hangingPunct="0">
              <a:buClrTx/>
              <a:buSzTx/>
              <a:buFontTx/>
              <a:defRPr/>
            </a:pPr>
            <a:r>
              <a:rPr kumimoji="0" lang="en-US" altLang="zh-CN" kern="1200" cap="none" spc="0" normalizeH="0" baseline="0" noProof="0" dirty="0">
                <a:latin typeface="宋体" pitchFamily="2" charset="-122"/>
                <a:ea typeface="仿宋_GB2312" pitchFamily="49" charset="-122"/>
                <a:cs typeface="+mn-cs"/>
              </a:rPr>
              <a:t>PC</a:t>
            </a:r>
            <a:r>
              <a:rPr kumimoji="0" lang="en-US" altLang="zh-CN" kern="1200" cap="none" spc="0" normalizeH="0" baseline="0" noProof="0" dirty="0">
                <a:latin typeface="Symbol" pitchFamily="18" charset="2"/>
                <a:ea typeface="仿宋_GB2312" pitchFamily="49" charset="-122"/>
                <a:cs typeface="+mn-cs"/>
              </a:rPr>
              <a:t>¬ </a:t>
            </a:r>
            <a:r>
              <a:rPr kumimoji="0" lang="en-US" altLang="zh-CN" kern="1200" cap="none" spc="0" normalizeH="0" baseline="0" noProof="0" dirty="0">
                <a:latin typeface="宋体" pitchFamily="2" charset="-122"/>
                <a:ea typeface="仿宋_GB2312" pitchFamily="49" charset="-122"/>
                <a:cs typeface="+mn-cs"/>
              </a:rPr>
              <a:t>addr16 		</a:t>
            </a:r>
            <a:endParaRPr kumimoji="0" lang="en-US" altLang="zh-CN" kern="1200" cap="none" spc="0" normalizeH="0" baseline="0" noProof="0" dirty="0">
              <a:latin typeface="宋体" pitchFamily="2" charset="-122"/>
              <a:ea typeface="仿宋_GB2312" pitchFamily="49" charset="-122"/>
              <a:cs typeface="+mn-cs"/>
            </a:endParaRPr>
          </a:p>
          <a:p>
            <a:pPr marR="0" algn="just" defTabSz="914400" eaLnBrk="0" hangingPunct="0">
              <a:buClrTx/>
              <a:buSzTx/>
              <a:buFontTx/>
              <a:defRPr/>
            </a:pPr>
            <a:r>
              <a:rPr kumimoji="0" lang="en-US" altLang="zh-CN" kern="1200" cap="none" spc="0" normalizeH="0" baseline="0" noProof="0" dirty="0">
                <a:latin typeface="宋体" pitchFamily="2" charset="-122"/>
                <a:ea typeface="仿宋_GB2312" pitchFamily="49" charset="-122"/>
                <a:cs typeface="+mn-cs"/>
              </a:rPr>
              <a:t>	</a:t>
            </a:r>
            <a:endParaRPr kumimoji="1" lang="zh-CN" altLang="en-US" kern="1200" cap="none" spc="0" normalizeH="0" baseline="0" noProof="0" dirty="0">
              <a:latin typeface="Times New Roman" panose="02020503050405090304" pitchFamily="18" charset="0"/>
              <a:ea typeface="仿宋_GB2312" pitchFamily="49" charset="-122"/>
              <a:cs typeface="+mn-cs"/>
            </a:endParaRPr>
          </a:p>
        </p:txBody>
      </p:sp>
      <p:sp>
        <p:nvSpPr>
          <p:cNvPr id="5" name="TextBox 4"/>
          <p:cNvSpPr txBox="1"/>
          <p:nvPr/>
        </p:nvSpPr>
        <p:spPr>
          <a:xfrm>
            <a:off x="571500" y="3143250"/>
            <a:ext cx="7858125" cy="1938338"/>
          </a:xfrm>
          <a:prstGeom prst="rect">
            <a:avLst/>
          </a:prstGeom>
          <a:noFill/>
        </p:spPr>
        <p:txBody>
          <a:bodyPr>
            <a:spAutoFit/>
          </a:bodyPr>
          <a:lstStyle/>
          <a:p>
            <a:pPr marR="0" defTabSz="914400" eaLnBrk="0" hangingPunct="0">
              <a:buSzTx/>
              <a:defRPr/>
            </a:pPr>
            <a:r>
              <a:rPr kumimoji="1" lang="en-US" altLang="zh-CN" kern="1200" cap="none" spc="0" normalizeH="0" baseline="0" noProof="0" dirty="0">
                <a:latin typeface="Times New Roman" panose="02020503050405090304" pitchFamily="18" charset="0"/>
                <a:ea typeface="仿宋_GB2312" pitchFamily="49" charset="-122"/>
                <a:cs typeface="+mn-cs"/>
              </a:rPr>
              <a:t>LCALL</a:t>
            </a:r>
            <a:r>
              <a:rPr kumimoji="1" lang="zh-CN" altLang="en-US" kern="1200" cap="none" spc="0" normalizeH="0" baseline="0" noProof="0" dirty="0">
                <a:latin typeface="Times New Roman" panose="02020503050405090304" pitchFamily="18" charset="0"/>
                <a:ea typeface="仿宋_GB2312" pitchFamily="49" charset="-122"/>
                <a:cs typeface="+mn-cs"/>
              </a:rPr>
              <a:t>指令执行分为</a:t>
            </a:r>
            <a:r>
              <a:rPr kumimoji="1" lang="en-US" altLang="zh-CN" kern="1200" cap="none" spc="0" normalizeH="0" baseline="0" noProof="0" dirty="0">
                <a:latin typeface="Times New Roman" panose="02020503050405090304" pitchFamily="18" charset="0"/>
                <a:ea typeface="仿宋_GB2312" pitchFamily="49" charset="-122"/>
                <a:cs typeface="+mn-cs"/>
              </a:rPr>
              <a:t>3</a:t>
            </a:r>
            <a:r>
              <a:rPr kumimoji="1" lang="zh-CN" altLang="en-US" kern="1200" cap="none" spc="0" normalizeH="0" baseline="0" noProof="0" dirty="0">
                <a:latin typeface="Times New Roman" panose="02020503050405090304" pitchFamily="18" charset="0"/>
                <a:ea typeface="仿宋_GB2312" pitchFamily="49" charset="-122"/>
                <a:cs typeface="+mn-cs"/>
              </a:rPr>
              <a:t>步：</a:t>
            </a:r>
            <a:endParaRPr kumimoji="1" lang="en-US" altLang="zh-CN" kern="1200" cap="none" spc="0" normalizeH="0" baseline="0" noProof="0" dirty="0">
              <a:latin typeface="Times New Roman" panose="02020503050405090304" pitchFamily="18" charset="0"/>
              <a:ea typeface="仿宋_GB2312" pitchFamily="49" charset="-122"/>
              <a:cs typeface="+mn-cs"/>
            </a:endParaRPr>
          </a:p>
          <a:p>
            <a:pPr marL="723900" marR="0" defTabSz="914400" eaLnBrk="0" hangingPunct="0">
              <a:buSzTx/>
              <a:defRPr/>
            </a:pPr>
            <a:r>
              <a:rPr kumimoji="1" lang="en-US" altLang="zh-CN" kern="1200" cap="none" spc="0" normalizeH="0" baseline="0" noProof="0" dirty="0">
                <a:latin typeface="Times New Roman" panose="02020503050405090304" pitchFamily="18" charset="0"/>
                <a:ea typeface="仿宋_GB2312" pitchFamily="49" charset="-122"/>
                <a:cs typeface="+mn-cs"/>
              </a:rPr>
              <a:t>1</a:t>
            </a:r>
            <a:r>
              <a:rPr kumimoji="1" lang="zh-CN" altLang="en-US" kern="1200" cap="none" spc="0" normalizeH="0" baseline="0" noProof="0" dirty="0">
                <a:latin typeface="Times New Roman" panose="02020503050405090304" pitchFamily="18" charset="0"/>
                <a:ea typeface="仿宋_GB2312" pitchFamily="49" charset="-122"/>
                <a:cs typeface="+mn-cs"/>
              </a:rPr>
              <a:t>、</a:t>
            </a:r>
            <a:r>
              <a:rPr kumimoji="1" lang="en-US" altLang="zh-CN" kern="1200" cap="none" spc="0" normalizeH="0" baseline="0" noProof="0" dirty="0">
                <a:latin typeface="Times New Roman" panose="02020503050405090304" pitchFamily="18" charset="0"/>
                <a:ea typeface="仿宋_GB2312" pitchFamily="49" charset="-122"/>
                <a:cs typeface="+mn-cs"/>
              </a:rPr>
              <a:t>PC</a:t>
            </a:r>
            <a:r>
              <a:rPr kumimoji="1" lang="zh-CN" altLang="en-US" kern="1200" cap="none" spc="0" normalizeH="0" baseline="0" noProof="0" dirty="0">
                <a:latin typeface="Times New Roman" panose="02020503050405090304" pitchFamily="18" charset="0"/>
                <a:ea typeface="仿宋_GB2312" pitchFamily="49" charset="-122"/>
                <a:cs typeface="+mn-cs"/>
              </a:rPr>
              <a:t>值加</a:t>
            </a:r>
            <a:r>
              <a:rPr kumimoji="1" lang="en-US" altLang="zh-CN" kern="1200" cap="none" spc="0" normalizeH="0" baseline="0" noProof="0" dirty="0">
                <a:latin typeface="Times New Roman" panose="02020503050405090304" pitchFamily="18" charset="0"/>
                <a:ea typeface="仿宋_GB2312" pitchFamily="49" charset="-122"/>
                <a:cs typeface="+mn-cs"/>
              </a:rPr>
              <a:t>3</a:t>
            </a:r>
            <a:r>
              <a:rPr kumimoji="1" lang="zh-CN" altLang="en-US" kern="1200" cap="none" spc="0" normalizeH="0" baseline="0" noProof="0" dirty="0">
                <a:latin typeface="Times New Roman" panose="02020503050405090304" pitchFamily="18" charset="0"/>
                <a:ea typeface="仿宋_GB2312" pitchFamily="49" charset="-122"/>
                <a:cs typeface="+mn-cs"/>
              </a:rPr>
              <a:t>，得到断点地址；</a:t>
            </a:r>
            <a:endParaRPr kumimoji="1" lang="en-US" altLang="zh-CN" kern="1200" cap="none" spc="0" normalizeH="0" baseline="0" noProof="0" dirty="0">
              <a:latin typeface="Times New Roman" panose="02020503050405090304" pitchFamily="18" charset="0"/>
              <a:ea typeface="仿宋_GB2312" pitchFamily="49" charset="-122"/>
              <a:cs typeface="+mn-cs"/>
            </a:endParaRPr>
          </a:p>
          <a:p>
            <a:pPr marL="723900" marR="0" defTabSz="914400" eaLnBrk="0" hangingPunct="0">
              <a:buSzTx/>
              <a:defRPr/>
            </a:pPr>
            <a:r>
              <a:rPr kumimoji="1" lang="en-US" altLang="zh-CN" kern="1200" cap="none" spc="0" normalizeH="0" baseline="0" noProof="0" dirty="0">
                <a:latin typeface="Times New Roman" panose="02020503050405090304" pitchFamily="18" charset="0"/>
                <a:ea typeface="仿宋_GB2312" pitchFamily="49" charset="-122"/>
                <a:cs typeface="+mn-cs"/>
              </a:rPr>
              <a:t>2</a:t>
            </a:r>
            <a:r>
              <a:rPr kumimoji="1" lang="zh-CN" altLang="en-US" kern="1200" cap="none" spc="0" normalizeH="0" baseline="0" noProof="0" dirty="0">
                <a:latin typeface="Times New Roman" panose="02020503050405090304" pitchFamily="18" charset="0"/>
                <a:ea typeface="仿宋_GB2312" pitchFamily="49" charset="-122"/>
                <a:cs typeface="+mn-cs"/>
              </a:rPr>
              <a:t>、自动通过</a:t>
            </a:r>
            <a:r>
              <a:rPr kumimoji="1" lang="en-US" altLang="zh-CN" kern="1200" cap="none" spc="0" normalizeH="0" baseline="0" noProof="0" dirty="0">
                <a:latin typeface="Times New Roman" panose="02020503050405090304" pitchFamily="18" charset="0"/>
                <a:ea typeface="仿宋_GB2312" pitchFamily="49" charset="-122"/>
                <a:cs typeface="+mn-cs"/>
              </a:rPr>
              <a:t>2</a:t>
            </a:r>
            <a:r>
              <a:rPr kumimoji="1" lang="zh-CN" altLang="en-US" kern="1200" cap="none" spc="0" normalizeH="0" baseline="0" noProof="0" dirty="0">
                <a:latin typeface="Times New Roman" panose="02020503050405090304" pitchFamily="18" charset="0"/>
                <a:ea typeface="仿宋_GB2312" pitchFamily="49" charset="-122"/>
                <a:cs typeface="+mn-cs"/>
              </a:rPr>
              <a:t>次进栈操作，实现断点保护；</a:t>
            </a:r>
            <a:endParaRPr kumimoji="1" lang="en-US" altLang="zh-CN" kern="1200" cap="none" spc="0" normalizeH="0" baseline="0" noProof="0" dirty="0">
              <a:latin typeface="Times New Roman" panose="02020503050405090304" pitchFamily="18" charset="0"/>
              <a:ea typeface="仿宋_GB2312" pitchFamily="49" charset="-122"/>
              <a:cs typeface="+mn-cs"/>
            </a:endParaRPr>
          </a:p>
          <a:p>
            <a:pPr marL="1168400" marR="0" indent="-444500" defTabSz="914400" eaLnBrk="0" hangingPunct="0">
              <a:buSzTx/>
              <a:defRPr/>
            </a:pPr>
            <a:r>
              <a:rPr kumimoji="1" lang="en-US" altLang="zh-CN" kern="1200" cap="none" spc="0" normalizeH="0" baseline="0" noProof="0" dirty="0">
                <a:latin typeface="Times New Roman" panose="02020503050405090304" pitchFamily="18" charset="0"/>
                <a:ea typeface="仿宋_GB2312" pitchFamily="49" charset="-122"/>
                <a:cs typeface="+mn-cs"/>
              </a:rPr>
              <a:t>3</a:t>
            </a:r>
            <a:r>
              <a:rPr kumimoji="1" lang="zh-CN" altLang="en-US" kern="1200" cap="none" spc="0" normalizeH="0" baseline="0" noProof="0" dirty="0">
                <a:latin typeface="Times New Roman" panose="02020503050405090304" pitchFamily="18" charset="0"/>
                <a:ea typeface="仿宋_GB2312" pitchFamily="49" charset="-122"/>
                <a:cs typeface="+mn-cs"/>
              </a:rPr>
              <a:t>、用指令中提供的</a:t>
            </a:r>
            <a:r>
              <a:rPr kumimoji="1" lang="en-US" altLang="zh-CN" kern="1200" cap="none" spc="0" normalizeH="0" baseline="0" noProof="0" dirty="0">
                <a:latin typeface="Times New Roman" panose="02020503050405090304" pitchFamily="18" charset="0"/>
                <a:ea typeface="仿宋_GB2312" pitchFamily="49" charset="-122"/>
                <a:cs typeface="+mn-cs"/>
              </a:rPr>
              <a:t>16</a:t>
            </a:r>
            <a:r>
              <a:rPr kumimoji="1" lang="zh-CN" altLang="en-US" kern="1200" cap="none" spc="0" normalizeH="0" baseline="0" noProof="0" dirty="0">
                <a:latin typeface="Times New Roman" panose="02020503050405090304" pitchFamily="18" charset="0"/>
                <a:ea typeface="仿宋_GB2312" pitchFamily="49" charset="-122"/>
                <a:cs typeface="+mn-cs"/>
              </a:rPr>
              <a:t>位目的地址重新对</a:t>
            </a:r>
            <a:r>
              <a:rPr kumimoji="1" lang="en-US" altLang="zh-CN" kern="1200" cap="none" spc="0" normalizeH="0" baseline="0" noProof="0" dirty="0">
                <a:latin typeface="Times New Roman" panose="02020503050405090304" pitchFamily="18" charset="0"/>
                <a:ea typeface="仿宋_GB2312" pitchFamily="49" charset="-122"/>
                <a:cs typeface="+mn-cs"/>
              </a:rPr>
              <a:t>PC</a:t>
            </a:r>
            <a:r>
              <a:rPr kumimoji="1" lang="zh-CN" altLang="en-US" kern="1200" cap="none" spc="0" normalizeH="0" baseline="0" noProof="0" dirty="0">
                <a:latin typeface="Times New Roman" panose="02020503050405090304" pitchFamily="18" charset="0"/>
                <a:ea typeface="仿宋_GB2312" pitchFamily="49" charset="-122"/>
                <a:cs typeface="+mn-cs"/>
              </a:rPr>
              <a:t>赋值，转到子程序。</a:t>
            </a:r>
            <a:endParaRPr kumimoji="1" lang="zh-CN" altLang="en-US" kern="1200" cap="none" spc="0" normalizeH="0" baseline="0" noProof="0" dirty="0">
              <a:latin typeface="Times New Roman" panose="02020503050405090304" pitchFamily="18" charset="0"/>
              <a:ea typeface="仿宋_GB2312" pitchFamily="49" charset="-122"/>
              <a:cs typeface="+mn-cs"/>
            </a:endParaRPr>
          </a:p>
        </p:txBody>
      </p:sp>
      <p:sp>
        <p:nvSpPr>
          <p:cNvPr id="149508" name="TextBox 5"/>
          <p:cNvSpPr txBox="1"/>
          <p:nvPr/>
        </p:nvSpPr>
        <p:spPr>
          <a:xfrm>
            <a:off x="571500" y="5229225"/>
            <a:ext cx="8001000" cy="1200150"/>
          </a:xfrm>
          <a:prstGeom prst="rect">
            <a:avLst/>
          </a:prstGeom>
          <a:noFill/>
          <a:ln w="9525">
            <a:noFill/>
          </a:ln>
        </p:spPr>
        <p:txBody>
          <a:bodyPr anchor="t" anchorCtr="0">
            <a:spAutoFit/>
          </a:bodyPr>
          <a:p>
            <a:pPr algn="just" eaLnBrk="0" hangingPunct="0">
              <a:buClrTx/>
              <a:buFontTx/>
            </a:pPr>
            <a:r>
              <a:rPr lang="en-US" altLang="zh-CN" dirty="0">
                <a:latin typeface="宋体" pitchFamily="2" charset="-122"/>
                <a:ea typeface="仿宋_GB2312" pitchFamily="49" charset="-122"/>
              </a:rPr>
              <a:t>addr16 </a:t>
            </a:r>
            <a:r>
              <a:rPr lang="zh-CN" altLang="en-US" dirty="0">
                <a:latin typeface="宋体" pitchFamily="2" charset="-122"/>
                <a:ea typeface="仿宋_GB2312" pitchFamily="49" charset="-122"/>
              </a:rPr>
              <a:t>为子程序起始地址，编程时可用标号代替。</a:t>
            </a:r>
            <a:endParaRPr lang="zh-CN" altLang="zh-CN" dirty="0">
              <a:latin typeface="宋体" pitchFamily="2" charset="-122"/>
              <a:ea typeface="仿宋_GB2312" pitchFamily="49" charset="-122"/>
            </a:endParaRPr>
          </a:p>
          <a:p>
            <a:pPr algn="just" eaLnBrk="0" hangingPunct="0">
              <a:buClrTx/>
              <a:buFontTx/>
            </a:pPr>
            <a:r>
              <a:rPr lang="zh-CN" altLang="en-US" dirty="0">
                <a:solidFill>
                  <a:schemeClr val="tx2"/>
                </a:solidFill>
                <a:latin typeface="宋体" pitchFamily="2" charset="-122"/>
                <a:ea typeface="仿宋_GB2312" pitchFamily="49" charset="-122"/>
              </a:rPr>
              <a:t>指令调用范围：64</a:t>
            </a:r>
            <a:r>
              <a:rPr lang="en-US" altLang="zh-CN" dirty="0">
                <a:solidFill>
                  <a:schemeClr val="tx2"/>
                </a:solidFill>
                <a:latin typeface="宋体" pitchFamily="2" charset="-122"/>
                <a:ea typeface="仿宋_GB2312" pitchFamily="49" charset="-122"/>
              </a:rPr>
              <a:t>KB</a:t>
            </a:r>
            <a:endParaRPr lang="en-US" altLang="zh-CN" dirty="0">
              <a:solidFill>
                <a:schemeClr val="tx2"/>
              </a:solidFill>
              <a:latin typeface="宋体" pitchFamily="2" charset="-122"/>
              <a:ea typeface="仿宋_GB2312" pitchFamily="49" charset="-122"/>
            </a:endParaRPr>
          </a:p>
          <a:p>
            <a:pPr eaLnBrk="0" hangingPunct="0"/>
            <a:endParaRPr lang="zh-CN" altLang="en-US" dirty="0">
              <a:latin typeface="Times New Roman" panose="02020503050405090304" pitchFamily="18" charset="0"/>
              <a:ea typeface="仿宋_GB2312" pitchFamily="49" charset="-122"/>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150530" name="Rectangle 3"/>
          <p:cNvSpPr>
            <a:spLocks noGrp="1"/>
          </p:cNvSpPr>
          <p:nvPr>
            <p:ph type="body" idx="4294967295"/>
          </p:nvPr>
        </p:nvSpPr>
        <p:spPr>
          <a:xfrm>
            <a:off x="714375" y="857250"/>
            <a:ext cx="8429625" cy="928688"/>
          </a:xfrm>
        </p:spPr>
        <p:txBody>
          <a:bodyPr vert="horz" wrap="square" lIns="91440" tIns="45720" rIns="91440" bIns="45720" anchor="t" anchorCtr="0"/>
          <a:p>
            <a:pPr marL="34925">
              <a:lnSpc>
                <a:spcPct val="110000"/>
              </a:lnSpc>
              <a:spcBef>
                <a:spcPct val="0"/>
              </a:spcBef>
              <a:buNone/>
            </a:pPr>
            <a:r>
              <a:rPr lang="zh-CN" altLang="en-US" dirty="0">
                <a:solidFill>
                  <a:schemeClr val="accent2"/>
                </a:solidFill>
                <a:latin typeface="黑体" panose="02010609060101010101" pitchFamily="49" charset="-122"/>
                <a:ea typeface="黑体" panose="02010609060101010101" pitchFamily="49" charset="-122"/>
              </a:rPr>
              <a:t>三． 返回指令</a:t>
            </a:r>
            <a:r>
              <a:rPr lang="zh-CN" altLang="en-US" dirty="0">
                <a:latin typeface="宋体" pitchFamily="2" charset="-122"/>
              </a:rPr>
              <a:t>					</a:t>
            </a:r>
            <a:endParaRPr lang="zh-CN" altLang="en-US" dirty="0">
              <a:latin typeface="宋体" pitchFamily="2" charset="-122"/>
            </a:endParaRPr>
          </a:p>
          <a:p>
            <a:pPr marL="34925" algn="just">
              <a:lnSpc>
                <a:spcPct val="100000"/>
              </a:lnSpc>
              <a:spcBef>
                <a:spcPct val="0"/>
              </a:spcBef>
              <a:buNone/>
            </a:pPr>
            <a:endParaRPr lang="zh-CN" altLang="zh-CN" dirty="0">
              <a:solidFill>
                <a:srgbClr val="FFC000"/>
              </a:solidFill>
              <a:latin typeface="宋体" pitchFamily="2" charset="-122"/>
            </a:endParaRPr>
          </a:p>
        </p:txBody>
      </p:sp>
      <p:graphicFrame>
        <p:nvGraphicFramePr>
          <p:cNvPr id="150531" name="Object 3"/>
          <p:cNvGraphicFramePr/>
          <p:nvPr/>
        </p:nvGraphicFramePr>
        <p:xfrm>
          <a:off x="1474788" y="1500188"/>
          <a:ext cx="4995862" cy="857250"/>
        </p:xfrm>
        <a:graphic>
          <a:graphicData uri="http://schemas.openxmlformats.org/presentationml/2006/ole">
            <mc:AlternateContent xmlns:mc="http://schemas.openxmlformats.org/markup-compatibility/2006">
              <mc:Choice xmlns:v="urn:schemas-microsoft-com:vml" Requires="v">
                <p:oleObj spid="_x0000_s3095" name="" r:id="rId1" imgW="2705100" imgH="419100" progId="Equation.DSMT4">
                  <p:embed/>
                </p:oleObj>
              </mc:Choice>
              <mc:Fallback>
                <p:oleObj name="" r:id="rId1" imgW="2705100" imgH="419100" progId="Equation.DSMT4">
                  <p:embed/>
                  <p:pic>
                    <p:nvPicPr>
                      <p:cNvPr id="0" name="Picture 3094"/>
                      <p:cNvPicPr/>
                      <p:nvPr/>
                    </p:nvPicPr>
                    <p:blipFill>
                      <a:blip r:embed="rId2"/>
                      <a:stretch>
                        <a:fillRect/>
                      </a:stretch>
                    </p:blipFill>
                    <p:spPr>
                      <a:xfrm>
                        <a:off x="1474788" y="1500188"/>
                        <a:ext cx="4995862" cy="857250"/>
                      </a:xfrm>
                      <a:prstGeom prst="rect">
                        <a:avLst/>
                      </a:prstGeom>
                      <a:noFill/>
                      <a:ln w="38100">
                        <a:noFill/>
                        <a:miter/>
                      </a:ln>
                    </p:spPr>
                  </p:pic>
                </p:oleObj>
              </mc:Fallback>
            </mc:AlternateContent>
          </a:graphicData>
        </a:graphic>
      </p:graphicFrame>
      <p:graphicFrame>
        <p:nvGraphicFramePr>
          <p:cNvPr id="150532" name="Object 4"/>
          <p:cNvGraphicFramePr/>
          <p:nvPr/>
        </p:nvGraphicFramePr>
        <p:xfrm>
          <a:off x="1485900" y="2614613"/>
          <a:ext cx="4995863" cy="855662"/>
        </p:xfrm>
        <a:graphic>
          <a:graphicData uri="http://schemas.openxmlformats.org/presentationml/2006/ole">
            <mc:AlternateContent xmlns:mc="http://schemas.openxmlformats.org/markup-compatibility/2006">
              <mc:Choice xmlns:v="urn:schemas-microsoft-com:vml" Requires="v">
                <p:oleObj spid="_x0000_s3094" name="" r:id="rId3" imgW="2705100" imgH="419100" progId="Equation.DSMT4">
                  <p:embed/>
                </p:oleObj>
              </mc:Choice>
              <mc:Fallback>
                <p:oleObj name="" r:id="rId3" imgW="2705100" imgH="419100" progId="Equation.DSMT4">
                  <p:embed/>
                  <p:pic>
                    <p:nvPicPr>
                      <p:cNvPr id="0" name="Picture 3093"/>
                      <p:cNvPicPr/>
                      <p:nvPr/>
                    </p:nvPicPr>
                    <p:blipFill>
                      <a:blip r:embed="rId4"/>
                      <a:stretch>
                        <a:fillRect/>
                      </a:stretch>
                    </p:blipFill>
                    <p:spPr>
                      <a:xfrm>
                        <a:off x="1485900" y="2614613"/>
                        <a:ext cx="4995863" cy="855662"/>
                      </a:xfrm>
                      <a:prstGeom prst="rect">
                        <a:avLst/>
                      </a:prstGeom>
                      <a:noFill/>
                      <a:ln w="38100">
                        <a:noFill/>
                        <a:miter/>
                      </a:ln>
                    </p:spPr>
                  </p:pic>
                </p:oleObj>
              </mc:Fallback>
            </mc:AlternateContent>
          </a:graphicData>
        </a:graphic>
      </p:graphicFrame>
      <p:sp>
        <p:nvSpPr>
          <p:cNvPr id="150533" name="Rectangle 5"/>
          <p:cNvSpPr/>
          <p:nvPr/>
        </p:nvSpPr>
        <p:spPr>
          <a:xfrm>
            <a:off x="857250" y="3757613"/>
            <a:ext cx="7715250" cy="830262"/>
          </a:xfrm>
          <a:prstGeom prst="rect">
            <a:avLst/>
          </a:prstGeom>
          <a:noFill/>
          <a:ln w="9525">
            <a:noFill/>
          </a:ln>
        </p:spPr>
        <p:txBody>
          <a:bodyPr anchor="ctr" anchorCtr="0">
            <a:spAutoFit/>
          </a:bodyPr>
          <a:p>
            <a:pPr eaLnBrk="0" hangingPunct="0">
              <a:buClrTx/>
              <a:buFontTx/>
            </a:pPr>
            <a:r>
              <a:rPr lang="en-US" altLang="zh-CN" dirty="0">
                <a:solidFill>
                  <a:srgbClr val="CC0000"/>
                </a:solidFill>
                <a:latin typeface="Times New Roman" panose="02020503050405090304" pitchFamily="18" charset="0"/>
                <a:ea typeface="仿宋_GB2312" pitchFamily="49" charset="-122"/>
              </a:rPr>
              <a:t>RETI</a:t>
            </a:r>
            <a:r>
              <a:rPr lang="zh-CN" altLang="en-US" dirty="0">
                <a:solidFill>
                  <a:srgbClr val="666633"/>
                </a:solidFill>
                <a:latin typeface="Times New Roman" panose="02020503050405090304" pitchFamily="18" charset="0"/>
                <a:ea typeface="仿宋_GB2312" pitchFamily="49" charset="-122"/>
              </a:rPr>
              <a:t>专用于中断服务程序返回，它具有清除内部相应的中断状态触发器（以保证正确的中断逻辑）的功能。 </a:t>
            </a:r>
            <a:endParaRPr lang="zh-CN" altLang="en-US" dirty="0">
              <a:solidFill>
                <a:srgbClr val="666633"/>
              </a:solidFill>
              <a:latin typeface="Times New Roman" panose="02020503050405090304" pitchFamily="18" charset="0"/>
              <a:ea typeface="仿宋_GB2312" pitchFamily="49" charset="-122"/>
            </a:endParaRPr>
          </a:p>
        </p:txBody>
      </p:sp>
      <p:sp>
        <p:nvSpPr>
          <p:cNvPr id="150534" name="矩形 6"/>
          <p:cNvSpPr/>
          <p:nvPr/>
        </p:nvSpPr>
        <p:spPr>
          <a:xfrm>
            <a:off x="500063" y="4564063"/>
            <a:ext cx="7643812" cy="1865312"/>
          </a:xfrm>
          <a:prstGeom prst="rect">
            <a:avLst/>
          </a:prstGeom>
          <a:noFill/>
          <a:ln w="9525">
            <a:noFill/>
          </a:ln>
        </p:spPr>
        <p:txBody>
          <a:bodyPr anchor="t" anchorCtr="0">
            <a:spAutoFit/>
          </a:bodyPr>
          <a:p>
            <a:pPr marL="323850" eaLnBrk="0" hangingPunct="0">
              <a:lnSpc>
                <a:spcPct val="120000"/>
              </a:lnSpc>
            </a:pPr>
            <a:r>
              <a:rPr lang="zh-CN" altLang="en-US" dirty="0">
                <a:solidFill>
                  <a:schemeClr val="accent2"/>
                </a:solidFill>
                <a:latin typeface="黑体" panose="02010609060101010101" pitchFamily="49" charset="-122"/>
                <a:ea typeface="黑体" panose="02010609060101010101" pitchFamily="49" charset="-122"/>
              </a:rPr>
              <a:t>四．空操作指令	</a:t>
            </a:r>
            <a:r>
              <a:rPr lang="zh-CN" altLang="en-US" dirty="0">
                <a:latin typeface="宋体" pitchFamily="2" charset="-122"/>
                <a:ea typeface="仿宋_GB2312" pitchFamily="49" charset="-122"/>
              </a:rPr>
              <a:t>				</a:t>
            </a:r>
            <a:endParaRPr lang="zh-CN" altLang="en-US" dirty="0">
              <a:latin typeface="宋体" pitchFamily="2" charset="-122"/>
              <a:ea typeface="仿宋_GB2312" pitchFamily="49" charset="-122"/>
            </a:endParaRPr>
          </a:p>
          <a:p>
            <a:pPr marL="323850" eaLnBrk="0" hangingPunct="0">
              <a:lnSpc>
                <a:spcPct val="120000"/>
              </a:lnSpc>
            </a:pPr>
            <a:r>
              <a:rPr lang="zh-CN" altLang="en-US" dirty="0">
                <a:latin typeface="宋体" pitchFamily="2" charset="-122"/>
                <a:ea typeface="仿宋_GB2312" pitchFamily="49" charset="-122"/>
              </a:rPr>
              <a:t>	</a:t>
            </a:r>
            <a:r>
              <a:rPr lang="en-US" altLang="zh-CN" dirty="0">
                <a:solidFill>
                  <a:srgbClr val="FF0000"/>
                </a:solidFill>
                <a:latin typeface="宋体" pitchFamily="2" charset="-122"/>
                <a:ea typeface="仿宋_GB2312" pitchFamily="49" charset="-122"/>
              </a:rPr>
              <a:t>NOP   </a:t>
            </a:r>
            <a:r>
              <a:rPr lang="en-US" altLang="zh-CN" dirty="0">
                <a:latin typeface="宋体" pitchFamily="2" charset="-122"/>
                <a:ea typeface="仿宋_GB2312" pitchFamily="49" charset="-122"/>
              </a:rPr>
              <a:t>； PC</a:t>
            </a:r>
            <a:r>
              <a:rPr lang="en-US" altLang="zh-CN" dirty="0">
                <a:latin typeface="Symbol" pitchFamily="18" charset="2"/>
                <a:ea typeface="仿宋_GB2312" pitchFamily="49" charset="-122"/>
              </a:rPr>
              <a:t>¬</a:t>
            </a:r>
            <a:r>
              <a:rPr lang="en-US" altLang="zh-CN" dirty="0">
                <a:latin typeface="宋体" pitchFamily="2" charset="-122"/>
                <a:ea typeface="仿宋_GB2312" pitchFamily="49" charset="-122"/>
              </a:rPr>
              <a:t>PC+1</a:t>
            </a:r>
            <a:endParaRPr lang="en-US" altLang="zh-CN" dirty="0">
              <a:latin typeface="宋体" pitchFamily="2" charset="-122"/>
              <a:ea typeface="仿宋_GB2312" pitchFamily="49" charset="-122"/>
            </a:endParaRPr>
          </a:p>
          <a:p>
            <a:pPr marL="323850" eaLnBrk="0" hangingPunct="0">
              <a:lnSpc>
                <a:spcPct val="120000"/>
              </a:lnSpc>
            </a:pPr>
            <a:r>
              <a:rPr lang="en-US" altLang="zh-CN" dirty="0">
                <a:solidFill>
                  <a:srgbClr val="FF0000"/>
                </a:solidFill>
                <a:latin typeface="宋体" pitchFamily="2" charset="-122"/>
                <a:ea typeface="仿宋_GB2312" pitchFamily="49" charset="-122"/>
              </a:rPr>
              <a:t>  </a:t>
            </a:r>
            <a:r>
              <a:rPr lang="zh-CN" altLang="en-US" dirty="0">
                <a:latin typeface="宋体" pitchFamily="2" charset="-122"/>
                <a:ea typeface="仿宋_GB2312" pitchFamily="49" charset="-122"/>
              </a:rPr>
              <a:t>调整</a:t>
            </a:r>
            <a:r>
              <a:rPr lang="en-US" altLang="zh-CN" dirty="0">
                <a:latin typeface="宋体" pitchFamily="2" charset="-122"/>
                <a:ea typeface="仿宋_GB2312" pitchFamily="49" charset="-122"/>
              </a:rPr>
              <a:t>CPU</a:t>
            </a:r>
            <a:r>
              <a:rPr lang="zh-CN" altLang="en-US" dirty="0">
                <a:latin typeface="宋体" pitchFamily="2" charset="-122"/>
                <a:ea typeface="仿宋_GB2312" pitchFamily="49" charset="-122"/>
              </a:rPr>
              <a:t>的时间，做一个机器周期的延时，不影响任何状态。</a:t>
            </a:r>
            <a:endParaRPr lang="zh-CN" altLang="en-US" dirty="0">
              <a:latin typeface="宋体" pitchFamily="2" charset="-122"/>
              <a:ea typeface="仿宋_GB2312" pitchFamily="49" charset="-122"/>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3" name="Rectangle 3"/>
          <p:cNvSpPr>
            <a:spLocks noGrp="1"/>
          </p:cNvSpPr>
          <p:nvPr>
            <p:ph idx="1"/>
          </p:nvPr>
        </p:nvSpPr>
        <p:spPr>
          <a:xfrm>
            <a:off x="836613" y="1700213"/>
            <a:ext cx="7696200" cy="5086350"/>
          </a:xfrm>
        </p:spPr>
        <p:txBody>
          <a:bodyPr vert="horz" wrap="square" lIns="91440" tIns="45720" rIns="91440" bIns="45720" anchor="t" anchorCtr="0"/>
          <a:p>
            <a:pPr eaLnBrk="1" hangingPunct="1">
              <a:lnSpc>
                <a:spcPct val="130000"/>
              </a:lnSpc>
              <a:buNone/>
            </a:pPr>
            <a:r>
              <a:rPr lang="zh-CN" altLang="en-US" sz="2400" dirty="0">
                <a:latin typeface="黑体" panose="02010609060101010101" pitchFamily="49" charset="-122"/>
              </a:rPr>
              <a:t>		</a:t>
            </a:r>
            <a:r>
              <a:rPr lang="zh-CN" altLang="en-US" sz="2400" dirty="0"/>
              <a:t>位操作指令包括位变量传送、逻辑运算、控制转移等指令，共</a:t>
            </a:r>
            <a:r>
              <a:rPr lang="en-US" altLang="zh-CN" sz="2400" dirty="0"/>
              <a:t>17</a:t>
            </a:r>
            <a:r>
              <a:rPr lang="zh-CN" altLang="en-US" sz="2400" dirty="0"/>
              <a:t>条。</a:t>
            </a:r>
            <a:endParaRPr lang="zh-CN" altLang="en-US" sz="2400" dirty="0"/>
          </a:p>
          <a:p>
            <a:pPr lvl="1" eaLnBrk="1" hangingPunct="1">
              <a:lnSpc>
                <a:spcPct val="130000"/>
              </a:lnSpc>
              <a:buFont typeface="Wingdings" panose="05000000000000000000" pitchFamily="2" charset="2"/>
              <a:buChar char="Ø"/>
            </a:pPr>
            <a:r>
              <a:rPr lang="zh-CN" altLang="en-US" b="1" dirty="0">
                <a:latin typeface="Times New Roman" panose="02020503050405090304" pitchFamily="18" charset="0"/>
              </a:rPr>
              <a:t>适用范围：位地址空间</a:t>
            </a:r>
            <a:r>
              <a:rPr lang="zh-CN" altLang="en-US" b="1" dirty="0">
                <a:solidFill>
                  <a:srgbClr val="FF00FF"/>
                </a:solidFill>
                <a:latin typeface="Times New Roman" panose="02020503050405090304" pitchFamily="18" charset="0"/>
              </a:rPr>
              <a:t>  </a:t>
            </a:r>
            <a:endParaRPr lang="zh-CN" altLang="en-US" b="1" dirty="0">
              <a:solidFill>
                <a:srgbClr val="FF00FF"/>
              </a:solidFill>
              <a:latin typeface="Times New Roman" panose="02020503050405090304" pitchFamily="18" charset="0"/>
            </a:endParaRPr>
          </a:p>
          <a:p>
            <a:pPr lvl="1" eaLnBrk="1" hangingPunct="1">
              <a:lnSpc>
                <a:spcPct val="130000"/>
              </a:lnSpc>
              <a:buFont typeface="Wingdings" panose="05000000000000000000" pitchFamily="2" charset="2"/>
              <a:buChar char="Ø"/>
            </a:pPr>
            <a:r>
              <a:rPr lang="zh-CN" altLang="en-US" b="1" dirty="0">
                <a:latin typeface="Times New Roman" panose="02020503050405090304" pitchFamily="18" charset="0"/>
              </a:rPr>
              <a:t>指令中，位地址的表示方法：</a:t>
            </a:r>
            <a:endParaRPr lang="zh-CN" altLang="en-US" b="1" dirty="0">
              <a:latin typeface="Times New Roman" panose="02020503050405090304" pitchFamily="18" charset="0"/>
            </a:endParaRPr>
          </a:p>
          <a:p>
            <a:pPr eaLnBrk="1" hangingPunct="1">
              <a:lnSpc>
                <a:spcPct val="130000"/>
              </a:lnSpc>
              <a:buNone/>
            </a:pPr>
            <a:r>
              <a:rPr lang="zh-CN" altLang="en-US" sz="2400" dirty="0"/>
              <a:t>	  （</a:t>
            </a:r>
            <a:r>
              <a:rPr lang="en-US" altLang="zh-CN" sz="2400" dirty="0"/>
              <a:t>1</a:t>
            </a:r>
            <a:r>
              <a:rPr lang="zh-CN" altLang="en-US" sz="2400" dirty="0"/>
              <a:t>）直接用位地址               如：</a:t>
            </a:r>
            <a:r>
              <a:rPr lang="en-US" altLang="zh-CN" sz="2400" dirty="0">
                <a:solidFill>
                  <a:srgbClr val="FF0000"/>
                </a:solidFill>
              </a:rPr>
              <a:t>D4H</a:t>
            </a:r>
            <a:endParaRPr lang="en-US" altLang="zh-CN" sz="2400" dirty="0"/>
          </a:p>
          <a:p>
            <a:pPr eaLnBrk="1" hangingPunct="1">
              <a:lnSpc>
                <a:spcPct val="130000"/>
              </a:lnSpc>
              <a:buNone/>
            </a:pPr>
            <a:r>
              <a:rPr lang="en-US" altLang="zh-CN" sz="2400" dirty="0"/>
              <a:t>	  </a:t>
            </a:r>
            <a:r>
              <a:rPr lang="zh-CN" altLang="en-US" sz="2400" dirty="0"/>
              <a:t>（</a:t>
            </a:r>
            <a:r>
              <a:rPr lang="en-US" altLang="zh-CN" sz="2400" dirty="0"/>
              <a:t>2</a:t>
            </a:r>
            <a:r>
              <a:rPr lang="zh-CN" altLang="en-US" sz="2400" dirty="0"/>
              <a:t>）用特殊功能寄存器名加位数   如：</a:t>
            </a:r>
            <a:r>
              <a:rPr lang="en-US" altLang="zh-CN" sz="2400" dirty="0">
                <a:solidFill>
                  <a:srgbClr val="FF0000"/>
                </a:solidFill>
              </a:rPr>
              <a:t>PSW.4</a:t>
            </a:r>
            <a:endParaRPr lang="en-US" altLang="zh-CN" sz="2400" dirty="0"/>
          </a:p>
          <a:p>
            <a:pPr eaLnBrk="1" hangingPunct="1">
              <a:lnSpc>
                <a:spcPct val="130000"/>
              </a:lnSpc>
              <a:buNone/>
            </a:pPr>
            <a:r>
              <a:rPr lang="en-US" altLang="zh-CN" sz="2400" dirty="0"/>
              <a:t>	  </a:t>
            </a:r>
            <a:r>
              <a:rPr lang="zh-CN" altLang="en-US" sz="2400" dirty="0"/>
              <a:t>（</a:t>
            </a:r>
            <a:r>
              <a:rPr lang="en-US" altLang="zh-CN" sz="2400" dirty="0"/>
              <a:t>3</a:t>
            </a:r>
            <a:r>
              <a:rPr lang="zh-CN" altLang="en-US" sz="2400" dirty="0"/>
              <a:t>）用位名称                   如：</a:t>
            </a:r>
            <a:r>
              <a:rPr lang="en-US" altLang="zh-CN" sz="2400" dirty="0">
                <a:solidFill>
                  <a:srgbClr val="FF0000"/>
                </a:solidFill>
              </a:rPr>
              <a:t>RS1</a:t>
            </a:r>
            <a:endParaRPr lang="en-US" altLang="zh-CN" sz="2400" dirty="0"/>
          </a:p>
          <a:p>
            <a:pPr eaLnBrk="1" hangingPunct="1">
              <a:lnSpc>
                <a:spcPct val="130000"/>
              </a:lnSpc>
              <a:buNone/>
            </a:pPr>
            <a:r>
              <a:rPr lang="en-US" altLang="zh-CN" sz="2400" dirty="0"/>
              <a:t>	  </a:t>
            </a:r>
            <a:r>
              <a:rPr lang="zh-CN" altLang="en-US" sz="2400" dirty="0"/>
              <a:t>（</a:t>
            </a:r>
            <a:r>
              <a:rPr lang="en-US" altLang="zh-CN" sz="2400" dirty="0"/>
              <a:t>4</a:t>
            </a:r>
            <a:r>
              <a:rPr lang="zh-CN" altLang="en-US" sz="2400" dirty="0"/>
              <a:t>）用</a:t>
            </a:r>
            <a:r>
              <a:rPr lang="zh-CN" altLang="en-US" sz="2400" b="1" dirty="0">
                <a:solidFill>
                  <a:srgbClr val="FF3300"/>
                </a:solidFill>
              </a:rPr>
              <a:t>伪指令</a:t>
            </a:r>
            <a:r>
              <a:rPr lang="en-US" altLang="zh-CN" sz="2400" b="1" dirty="0">
                <a:solidFill>
                  <a:srgbClr val="FF3300"/>
                </a:solidFill>
              </a:rPr>
              <a:t>bit</a:t>
            </a:r>
            <a:r>
              <a:rPr lang="zh-CN" altLang="en-US" sz="2400" b="1" dirty="0">
                <a:solidFill>
                  <a:srgbClr val="FF3300"/>
                </a:solidFill>
              </a:rPr>
              <a:t>定义</a:t>
            </a:r>
            <a:r>
              <a:rPr lang="zh-CN" altLang="en-US" sz="2400" dirty="0"/>
              <a:t>的有名字的位地址</a:t>
            </a:r>
            <a:endParaRPr lang="zh-CN" altLang="en-US" sz="2400" dirty="0"/>
          </a:p>
          <a:p>
            <a:pPr eaLnBrk="1" hangingPunct="1">
              <a:lnSpc>
                <a:spcPct val="130000"/>
              </a:lnSpc>
              <a:buNone/>
            </a:pPr>
            <a:r>
              <a:rPr lang="en-US" altLang="zh-CN" sz="2400" dirty="0"/>
              <a:t>				</a:t>
            </a:r>
            <a:r>
              <a:rPr lang="en-US" altLang="zh-CN" sz="2400" dirty="0">
                <a:solidFill>
                  <a:srgbClr val="FF0000"/>
                </a:solidFill>
              </a:rPr>
              <a:t>SUB.REG</a:t>
            </a:r>
            <a:r>
              <a:rPr lang="en-US" altLang="zh-CN" sz="2400" dirty="0"/>
              <a:t>   bit   RS1</a:t>
            </a:r>
            <a:endParaRPr lang="en-US" altLang="zh-CN" sz="2400" dirty="0"/>
          </a:p>
        </p:txBody>
      </p:sp>
      <p:sp>
        <p:nvSpPr>
          <p:cNvPr id="87042" name="Rectangle 2"/>
          <p:cNvSpPr>
            <a:spLocks noChangeArrowheads="1"/>
          </p:cNvSpPr>
          <p:nvPr/>
        </p:nvSpPr>
        <p:spPr bwMode="auto">
          <a:xfrm>
            <a:off x="214313" y="214313"/>
            <a:ext cx="8763000" cy="609600"/>
          </a:xfrm>
          <a:prstGeom prst="rect">
            <a:avLst/>
          </a:prstGeom>
          <a:noFill/>
          <a:ln>
            <a:noFill/>
          </a:ln>
        </p:spPr>
        <p:txBody>
          <a:bodyPr anchor="ctr"/>
          <a:lstStyle>
            <a:lvl1pPr>
              <a:defRPr sz="3600">
                <a:solidFill>
                  <a:schemeClr val="tx2"/>
                </a:solidFill>
                <a:latin typeface="Times New Roman" panose="02020503050405090304" pitchFamily="18" charset="0"/>
                <a:ea typeface="宋体" pitchFamily="2" charset="-122"/>
              </a:defRPr>
            </a:lvl1pPr>
            <a:lvl2pPr>
              <a:defRPr sz="3600">
                <a:solidFill>
                  <a:schemeClr val="tx2"/>
                </a:solidFill>
                <a:latin typeface="Times New Roman" panose="02020503050405090304" pitchFamily="18" charset="0"/>
                <a:ea typeface="宋体" pitchFamily="2" charset="-122"/>
              </a:defRPr>
            </a:lvl2pPr>
            <a:lvl3pPr>
              <a:defRPr sz="3600">
                <a:solidFill>
                  <a:schemeClr val="tx2"/>
                </a:solidFill>
                <a:latin typeface="Times New Roman" panose="02020503050405090304" pitchFamily="18" charset="0"/>
                <a:ea typeface="宋体" pitchFamily="2" charset="-122"/>
              </a:defRPr>
            </a:lvl3pPr>
            <a:lvl4pPr>
              <a:defRPr sz="3600">
                <a:solidFill>
                  <a:schemeClr val="tx2"/>
                </a:solidFill>
                <a:latin typeface="Times New Roman" panose="02020503050405090304" pitchFamily="18" charset="0"/>
                <a:ea typeface="宋体" pitchFamily="2" charset="-122"/>
              </a:defRPr>
            </a:lvl4pPr>
            <a:lvl5pPr>
              <a:defRPr sz="3600">
                <a:solidFill>
                  <a:schemeClr val="tx2"/>
                </a:solidFill>
                <a:latin typeface="Times New Roman" panose="02020503050405090304" pitchFamily="18" charset="0"/>
                <a:ea typeface="宋体" pitchFamily="2" charset="-122"/>
              </a:defRPr>
            </a:lvl5pPr>
            <a:lvl6pPr marL="45720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fontAlgn="base">
              <a:spcBef>
                <a:spcPct val="0"/>
              </a:spcBef>
              <a:spcAft>
                <a:spcPct val="0"/>
              </a:spcAft>
              <a:defRPr sz="3600">
                <a:solidFill>
                  <a:schemeClr val="tx2"/>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第三章</a:t>
            </a:r>
            <a:r>
              <a:rPr kumimoji="0" lang="zh-CN" altLang="en-US" sz="28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zh-CN" altLang="en-US" sz="24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en-US" altLang="zh-CN"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MCS-51</a:t>
            </a: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指令系统</a:t>
            </a:r>
            <a:endParaRPr kumimoji="0" lang="zh-CN" altLang="en-US" sz="3600" b="0"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Times New Roman" panose="02020503050405090304" pitchFamily="18" charset="0"/>
              <a:ea typeface="宋体" pitchFamily="2" charset="-122"/>
              <a:cs typeface="+mn-cs"/>
            </a:endParaRPr>
          </a:p>
        </p:txBody>
      </p:sp>
      <p:sp>
        <p:nvSpPr>
          <p:cNvPr id="151555" name="Rectangle 7"/>
          <p:cNvSpPr/>
          <p:nvPr/>
        </p:nvSpPr>
        <p:spPr>
          <a:xfrm>
            <a:off x="1403350" y="908050"/>
            <a:ext cx="4824413" cy="644525"/>
          </a:xfrm>
          <a:prstGeom prst="rect">
            <a:avLst/>
          </a:prstGeom>
          <a:noFill/>
          <a:ln w="9525">
            <a:noFill/>
          </a:ln>
        </p:spPr>
        <p:txBody>
          <a:bodyPr lIns="360000" rIns="180000" anchor="t" anchorCtr="0">
            <a:spAutoFit/>
          </a:bodyPr>
          <a:p>
            <a:pPr indent="-342900" defTabSz="425450" eaLnBrk="0" hangingPunct="0"/>
            <a:r>
              <a:rPr lang="zh-CN" altLang="en-US" sz="3600" dirty="0">
                <a:solidFill>
                  <a:srgbClr val="FF0000"/>
                </a:solidFill>
                <a:latin typeface="黑体" panose="02010609060101010101" pitchFamily="49" charset="-122"/>
                <a:ea typeface="黑体" panose="02010609060101010101" pitchFamily="49" charset="-122"/>
              </a:rPr>
              <a:t>  3-</a:t>
            </a:r>
            <a:r>
              <a:rPr lang="en-US" altLang="zh-CN" sz="3600" dirty="0">
                <a:solidFill>
                  <a:srgbClr val="FF0000"/>
                </a:solidFill>
                <a:latin typeface="黑体" panose="02010609060101010101" pitchFamily="49" charset="-122"/>
                <a:ea typeface="黑体" panose="02010609060101010101" pitchFamily="49" charset="-122"/>
              </a:rPr>
              <a:t>7</a:t>
            </a:r>
            <a:r>
              <a:rPr lang="zh-CN" altLang="en-US" sz="3600" dirty="0">
                <a:solidFill>
                  <a:srgbClr val="FF0000"/>
                </a:solidFill>
                <a:latin typeface="黑体" panose="02010609060101010101" pitchFamily="49" charset="-122"/>
                <a:ea typeface="黑体" panose="02010609060101010101" pitchFamily="49" charset="-122"/>
              </a:rPr>
              <a:t> 位操作指令</a:t>
            </a:r>
            <a:endParaRPr lang="zh-CN" altLang="en-US" sz="3600" dirty="0">
              <a:solidFill>
                <a:schemeClr val="accent1"/>
              </a:solidFill>
              <a:latin typeface="黑体" panose="02010609060101010101" pitchFamily="49" charset="-122"/>
              <a:ea typeface="黑体" panose="02010609060101010101" pitchFamily="49" charset="-122"/>
            </a:endParaRPr>
          </a:p>
        </p:txBody>
      </p:sp>
      <p:sp>
        <p:nvSpPr>
          <p:cNvPr id="2" name="矩形 1"/>
          <p:cNvSpPr/>
          <p:nvPr/>
        </p:nvSpPr>
        <p:spPr>
          <a:xfrm>
            <a:off x="323850" y="5805170"/>
            <a:ext cx="1407160" cy="829945"/>
          </a:xfrm>
          <a:prstGeom prst="rect">
            <a:avLst/>
          </a:prstGeom>
          <a:noFill/>
          <a:ln>
            <a:noFill/>
          </a:ln>
        </p:spPr>
        <p:txBody>
          <a:bodyPr wrap="none" rtlCol="0" anchor="t">
            <a:spAutoFit/>
          </a:bodyPr>
          <a:p>
            <a:pPr algn="ctr"/>
            <a:r>
              <a:rPr lang="zh-CN" altLang="en-US" sz="4800">
                <a:ln w="22225">
                  <a:solidFill>
                    <a:schemeClr val="accent2"/>
                  </a:solidFill>
                  <a:prstDash val="solid"/>
                </a:ln>
                <a:solidFill>
                  <a:schemeClr val="accent2">
                    <a:lumMod val="40000"/>
                    <a:lumOff val="60000"/>
                    <a:lumMod val="40000"/>
                    <a:lumOff val="60000"/>
                  </a:schemeClr>
                </a:solidFill>
                <a:effectLst/>
                <a:hlinkClick r:id="rId1" action="ppaction://hlinkfile"/>
              </a:rPr>
              <a:t>示例</a:t>
            </a:r>
            <a:endParaRPr lang="zh-CN" altLang="en-US" sz="4800">
              <a:ln w="22225">
                <a:solidFill>
                  <a:schemeClr val="accent2"/>
                </a:solidFill>
                <a:prstDash val="solid"/>
              </a:ln>
              <a:solidFill>
                <a:schemeClr val="accent2">
                  <a:lumMod val="40000"/>
                  <a:lumOff val="60000"/>
                  <a:lumMod val="40000"/>
                  <a:lumOff val="60000"/>
                </a:schemeClr>
              </a:solidFill>
              <a:effectLst/>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29" name="Rectangle 3"/>
          <p:cNvSpPr>
            <a:spLocks noGrp="1"/>
          </p:cNvSpPr>
          <p:nvPr>
            <p:ph idx="1"/>
          </p:nvPr>
        </p:nvSpPr>
        <p:spPr/>
        <p:txBody>
          <a:bodyPr vert="horz" wrap="square" lIns="91440" tIns="45720" rIns="91440" bIns="45720" anchor="t" anchorCtr="0"/>
          <a:p>
            <a:pPr eaLnBrk="1" hangingPunct="1">
              <a:buNone/>
            </a:pPr>
            <a:r>
              <a:rPr lang="zh-CN" altLang="en-US" sz="2400" b="1" dirty="0">
                <a:latin typeface="黑体" panose="02010609060101010101" pitchFamily="49" charset="-122"/>
                <a:ea typeface="黑体" panose="02010609060101010101" pitchFamily="49" charset="-122"/>
              </a:rPr>
              <a:t>（</a:t>
            </a:r>
            <a:r>
              <a:rPr lang="en-US" altLang="zh-CN" sz="2400" b="1" dirty="0">
                <a:solidFill>
                  <a:schemeClr val="tx2"/>
                </a:solidFill>
                <a:latin typeface="黑体" panose="02010609060101010101" pitchFamily="49" charset="-122"/>
                <a:ea typeface="黑体" panose="02010609060101010101" pitchFamily="49" charset="-122"/>
              </a:rPr>
              <a:t>1</a:t>
            </a:r>
            <a:r>
              <a:rPr lang="zh-CN" altLang="en-US" sz="2400" b="1" dirty="0">
                <a:solidFill>
                  <a:schemeClr val="tx2"/>
                </a:solidFill>
                <a:latin typeface="黑体" panose="02010609060101010101" pitchFamily="49" charset="-122"/>
                <a:ea typeface="黑体" panose="02010609060101010101" pitchFamily="49" charset="-122"/>
              </a:rPr>
              <a:t>）位数据传送指令</a:t>
            </a:r>
            <a:r>
              <a:rPr lang="zh-CN" altLang="en-US" sz="2400" b="1" dirty="0">
                <a:latin typeface="黑体" panose="02010609060101010101" pitchFamily="49" charset="-122"/>
                <a:ea typeface="黑体" panose="02010609060101010101" pitchFamily="49" charset="-122"/>
              </a:rPr>
              <a:t>（</a:t>
            </a:r>
            <a:r>
              <a:rPr lang="en-US" altLang="zh-CN" sz="2400" b="1" dirty="0">
                <a:latin typeface="黑体" panose="02010609060101010101" pitchFamily="49" charset="-122"/>
                <a:ea typeface="黑体" panose="02010609060101010101" pitchFamily="49" charset="-122"/>
              </a:rPr>
              <a:t>2</a:t>
            </a:r>
            <a:r>
              <a:rPr lang="zh-CN" altLang="en-US" sz="2400" b="1" dirty="0">
                <a:latin typeface="黑体" panose="02010609060101010101" pitchFamily="49" charset="-122"/>
                <a:ea typeface="黑体" panose="02010609060101010101" pitchFamily="49" charset="-122"/>
              </a:rPr>
              <a:t>条）</a:t>
            </a:r>
            <a:endParaRPr lang="zh-CN" altLang="en-US" sz="2400" b="1" dirty="0">
              <a:latin typeface="黑体" panose="02010609060101010101" pitchFamily="49" charset="-122"/>
              <a:ea typeface="黑体" panose="02010609060101010101" pitchFamily="49" charset="-122"/>
            </a:endParaRPr>
          </a:p>
          <a:p>
            <a:pPr eaLnBrk="1" hangingPunct="1">
              <a:buNone/>
            </a:pPr>
            <a:r>
              <a:rPr lang="zh-CN" altLang="en-US" sz="2400" b="1" dirty="0"/>
              <a:t>		</a:t>
            </a:r>
            <a:r>
              <a:rPr lang="en-US" altLang="zh-CN" sz="2400" b="1" dirty="0"/>
              <a:t>MOV    C</a:t>
            </a:r>
            <a:r>
              <a:rPr lang="zh-CN" altLang="en-US" sz="2400" b="1" dirty="0"/>
              <a:t>，</a:t>
            </a:r>
            <a:r>
              <a:rPr lang="en-US" altLang="zh-CN" sz="2400" b="1" dirty="0"/>
              <a:t>bit</a:t>
            </a:r>
            <a:r>
              <a:rPr lang="en-US" altLang="zh-CN" sz="2400" dirty="0"/>
              <a:t>        ;</a:t>
            </a:r>
            <a:r>
              <a:rPr lang="zh-CN" altLang="en-US" sz="2400" dirty="0"/>
              <a:t>（</a:t>
            </a:r>
            <a:r>
              <a:rPr lang="en-US" altLang="zh-CN" sz="2400" dirty="0"/>
              <a:t>bit</a:t>
            </a:r>
            <a:r>
              <a:rPr lang="zh-CN" altLang="en-US" sz="2400" dirty="0"/>
              <a:t>）</a:t>
            </a:r>
            <a:r>
              <a:rPr lang="zh-CN" altLang="en-US" sz="2400" dirty="0">
                <a:sym typeface="Symbol" pitchFamily="18" charset="2"/>
              </a:rPr>
              <a:t></a:t>
            </a:r>
            <a:r>
              <a:rPr lang="en-US" altLang="zh-CN" sz="2400" dirty="0">
                <a:sym typeface="Wingdings" panose="05000000000000000000" pitchFamily="2" charset="2"/>
              </a:rPr>
              <a:t>C</a:t>
            </a:r>
            <a:endParaRPr lang="en-US" altLang="zh-CN" sz="2400" dirty="0">
              <a:sym typeface="Wingdings" panose="05000000000000000000" pitchFamily="2" charset="2"/>
            </a:endParaRPr>
          </a:p>
          <a:p>
            <a:pPr eaLnBrk="1" hangingPunct="1">
              <a:buNone/>
            </a:pPr>
            <a:r>
              <a:rPr lang="en-US" altLang="zh-CN" sz="2400" b="1" dirty="0"/>
              <a:t>		MOV    bit</a:t>
            </a:r>
            <a:r>
              <a:rPr lang="zh-CN" altLang="en-US" sz="2400" b="1" dirty="0"/>
              <a:t>，</a:t>
            </a:r>
            <a:r>
              <a:rPr lang="en-US" altLang="zh-CN" sz="2400" b="1" dirty="0"/>
              <a:t>C</a:t>
            </a:r>
            <a:r>
              <a:rPr lang="en-US" altLang="zh-CN" sz="2400" dirty="0"/>
              <a:t>        ;</a:t>
            </a:r>
            <a:r>
              <a:rPr lang="zh-CN" altLang="en-US" sz="2400" dirty="0"/>
              <a:t>（</a:t>
            </a:r>
            <a:r>
              <a:rPr lang="en-US" altLang="zh-CN" sz="2400" dirty="0">
                <a:sym typeface="Wingdings" panose="05000000000000000000" pitchFamily="2" charset="2"/>
              </a:rPr>
              <a:t>C</a:t>
            </a:r>
            <a:r>
              <a:rPr lang="zh-CN" altLang="en-US" sz="2400" dirty="0"/>
              <a:t>） </a:t>
            </a:r>
            <a:r>
              <a:rPr lang="zh-CN" altLang="en-US" sz="2400" dirty="0">
                <a:sym typeface="Symbol" pitchFamily="18" charset="2"/>
              </a:rPr>
              <a:t></a:t>
            </a:r>
            <a:r>
              <a:rPr lang="zh-CN" altLang="en-US" sz="2400" dirty="0">
                <a:sym typeface="Wingdings" panose="05000000000000000000" pitchFamily="2" charset="2"/>
              </a:rPr>
              <a:t> </a:t>
            </a:r>
            <a:r>
              <a:rPr lang="en-US" altLang="zh-CN" sz="2400" dirty="0"/>
              <a:t>bit</a:t>
            </a:r>
            <a:endParaRPr lang="en-US" altLang="zh-CN" sz="2400" dirty="0">
              <a:sym typeface="Wingdings" panose="05000000000000000000" pitchFamily="2" charset="2"/>
            </a:endParaRPr>
          </a:p>
          <a:p>
            <a:pPr eaLnBrk="1" hangingPunct="1">
              <a:buNone/>
            </a:pPr>
            <a:endParaRPr lang="en-US" altLang="zh-CN" sz="2400" dirty="0">
              <a:sym typeface="Wingdings" panose="05000000000000000000" pitchFamily="2" charset="2"/>
            </a:endParaRPr>
          </a:p>
          <a:p>
            <a:pPr eaLnBrk="1" hangingPunct="1">
              <a:buNone/>
            </a:pPr>
            <a:r>
              <a:rPr lang="en-US" altLang="zh-CN" sz="2400" dirty="0">
                <a:sym typeface="Wingdings" panose="05000000000000000000" pitchFamily="2" charset="2"/>
              </a:rPr>
              <a:t>		</a:t>
            </a:r>
            <a:r>
              <a:rPr lang="zh-CN" altLang="en-US" sz="2400" b="1" dirty="0">
                <a:ea typeface="黑体" panose="02010609060101010101" pitchFamily="49" charset="-122"/>
                <a:sym typeface="Wingdings" panose="05000000000000000000" pitchFamily="2" charset="2"/>
              </a:rPr>
              <a:t>说明：</a:t>
            </a:r>
            <a:endParaRPr lang="zh-CN" altLang="en-US" sz="2400" b="1" dirty="0">
              <a:ea typeface="黑体" panose="02010609060101010101" pitchFamily="49" charset="-122"/>
              <a:sym typeface="Wingdings" panose="05000000000000000000" pitchFamily="2" charset="2"/>
            </a:endParaRPr>
          </a:p>
          <a:p>
            <a:pPr eaLnBrk="1" hangingPunct="1">
              <a:buNone/>
            </a:pPr>
            <a:r>
              <a:rPr lang="zh-CN" altLang="en-US" sz="2400" dirty="0">
                <a:sym typeface="Wingdings" panose="05000000000000000000" pitchFamily="2" charset="2"/>
              </a:rPr>
              <a:t>		位与位之间的状态传送</a:t>
            </a:r>
            <a:r>
              <a:rPr lang="zh-CN" altLang="en-US" sz="2400" b="1" dirty="0">
                <a:solidFill>
                  <a:srgbClr val="FF3300"/>
                </a:solidFill>
                <a:latin typeface="黑体" panose="02010609060101010101" pitchFamily="49" charset="-122"/>
                <a:ea typeface="黑体" panose="02010609060101010101" pitchFamily="49" charset="-122"/>
                <a:sym typeface="Wingdings" panose="05000000000000000000" pitchFamily="2" charset="2"/>
              </a:rPr>
              <a:t>必须通过</a:t>
            </a:r>
            <a:r>
              <a:rPr lang="en-US" altLang="zh-CN" sz="2400" b="1" dirty="0">
                <a:solidFill>
                  <a:srgbClr val="FF3300"/>
                </a:solidFill>
                <a:latin typeface="黑体" panose="02010609060101010101" pitchFamily="49" charset="-122"/>
                <a:ea typeface="黑体" panose="02010609060101010101" pitchFamily="49" charset="-122"/>
                <a:sym typeface="Wingdings" panose="05000000000000000000" pitchFamily="2" charset="2"/>
              </a:rPr>
              <a:t>C</a:t>
            </a:r>
            <a:r>
              <a:rPr lang="zh-CN" altLang="en-US" sz="2400" b="1" dirty="0">
                <a:solidFill>
                  <a:srgbClr val="FF3300"/>
                </a:solidFill>
                <a:latin typeface="黑体" panose="02010609060101010101" pitchFamily="49" charset="-122"/>
                <a:ea typeface="黑体" panose="02010609060101010101" pitchFamily="49" charset="-122"/>
                <a:sym typeface="Wingdings" panose="05000000000000000000" pitchFamily="2" charset="2"/>
              </a:rPr>
              <a:t>来进行</a:t>
            </a:r>
            <a:r>
              <a:rPr lang="zh-CN" altLang="en-US" sz="2400" dirty="0">
                <a:sym typeface="Wingdings" panose="05000000000000000000" pitchFamily="2" charset="2"/>
              </a:rPr>
              <a:t>，</a:t>
            </a:r>
            <a:r>
              <a:rPr lang="en-US" altLang="zh-CN" sz="2400" dirty="0">
                <a:solidFill>
                  <a:schemeClr val="tx2"/>
                </a:solidFill>
                <a:sym typeface="Wingdings" panose="05000000000000000000" pitchFamily="2" charset="2"/>
              </a:rPr>
              <a:t>2</a:t>
            </a:r>
            <a:r>
              <a:rPr lang="zh-CN" altLang="en-US" sz="2400" dirty="0">
                <a:solidFill>
                  <a:schemeClr val="tx2"/>
                </a:solidFill>
                <a:sym typeface="Wingdings" panose="05000000000000000000" pitchFamily="2" charset="2"/>
              </a:rPr>
              <a:t>个位地址的位</a:t>
            </a:r>
            <a:r>
              <a:rPr lang="zh-CN" altLang="en-US" sz="2400" b="1" dirty="0">
                <a:solidFill>
                  <a:srgbClr val="FF3300"/>
                </a:solidFill>
                <a:ea typeface="黑体" panose="02010609060101010101" pitchFamily="49" charset="-122"/>
                <a:sym typeface="Wingdings" panose="05000000000000000000" pitchFamily="2" charset="2"/>
              </a:rPr>
              <a:t>不能</a:t>
            </a:r>
            <a:r>
              <a:rPr lang="zh-CN" altLang="en-US" sz="2400" dirty="0">
                <a:solidFill>
                  <a:schemeClr val="tx2"/>
                </a:solidFill>
                <a:sym typeface="Wingdings" panose="05000000000000000000" pitchFamily="2" charset="2"/>
              </a:rPr>
              <a:t>直接传送。</a:t>
            </a:r>
            <a:endParaRPr lang="zh-CN" altLang="en-US" sz="2400" dirty="0">
              <a:solidFill>
                <a:schemeClr val="tx2"/>
              </a:solidFill>
              <a:sym typeface="Wingdings" panose="05000000000000000000" pitchFamily="2" charset="2"/>
            </a:endParaRPr>
          </a:p>
          <a:p>
            <a:pPr eaLnBrk="1" hangingPunct="1">
              <a:buNone/>
            </a:pPr>
            <a:r>
              <a:rPr lang="zh-CN" altLang="en-US" sz="2400" dirty="0">
                <a:sym typeface="Wingdings" panose="05000000000000000000" pitchFamily="2" charset="2"/>
              </a:rPr>
              <a:t>           </a:t>
            </a:r>
            <a:endParaRPr lang="zh-CN" altLang="en-US" sz="2400" dirty="0">
              <a:sym typeface="Wingdings" panose="05000000000000000000" pitchFamily="2" charset="2"/>
            </a:endParaRPr>
          </a:p>
          <a:p>
            <a:pPr eaLnBrk="1" hangingPunct="1">
              <a:buNone/>
            </a:pPr>
            <a:r>
              <a:rPr lang="zh-CN" altLang="en-US" sz="2400" dirty="0">
                <a:sym typeface="Wingdings" panose="05000000000000000000" pitchFamily="2" charset="2"/>
              </a:rPr>
              <a:t>          例：</a:t>
            </a:r>
            <a:r>
              <a:rPr lang="en-US" altLang="zh-CN" sz="2400" dirty="0">
                <a:sym typeface="Wingdings" panose="05000000000000000000" pitchFamily="2" charset="2"/>
              </a:rPr>
              <a:t>MOV    C</a:t>
            </a:r>
            <a:r>
              <a:rPr lang="zh-CN" altLang="en-US" sz="2400" dirty="0">
                <a:sym typeface="Wingdings" panose="05000000000000000000" pitchFamily="2" charset="2"/>
              </a:rPr>
              <a:t>，</a:t>
            </a:r>
            <a:r>
              <a:rPr lang="en-US" altLang="zh-CN" sz="2400" dirty="0">
                <a:sym typeface="Wingdings" panose="05000000000000000000" pitchFamily="2" charset="2"/>
              </a:rPr>
              <a:t>TR0</a:t>
            </a:r>
            <a:endParaRPr lang="en-US" altLang="zh-CN" sz="2400" dirty="0">
              <a:sym typeface="Wingdings" panose="05000000000000000000" pitchFamily="2" charset="2"/>
            </a:endParaRPr>
          </a:p>
          <a:p>
            <a:pPr eaLnBrk="1" hangingPunct="1">
              <a:buNone/>
            </a:pPr>
            <a:r>
              <a:rPr lang="en-US" altLang="zh-CN" sz="2400" dirty="0">
                <a:sym typeface="Wingdings" panose="05000000000000000000" pitchFamily="2" charset="2"/>
              </a:rPr>
              <a:t>                  MOV    08H</a:t>
            </a:r>
            <a:r>
              <a:rPr lang="zh-CN" altLang="en-US" sz="2400" dirty="0">
                <a:sym typeface="Wingdings" panose="05000000000000000000" pitchFamily="2" charset="2"/>
              </a:rPr>
              <a:t>，</a:t>
            </a:r>
            <a:r>
              <a:rPr lang="en-US" altLang="zh-CN" sz="2400" dirty="0">
                <a:sym typeface="Wingdings" panose="05000000000000000000" pitchFamily="2" charset="2"/>
              </a:rPr>
              <a:t>C;</a:t>
            </a:r>
            <a:r>
              <a:rPr lang="zh-CN" altLang="en-US" sz="2400" dirty="0"/>
              <a:t>（</a:t>
            </a:r>
            <a:r>
              <a:rPr lang="en-US" altLang="zh-CN" sz="2400" dirty="0"/>
              <a:t>21H</a:t>
            </a:r>
            <a:r>
              <a:rPr lang="zh-CN" altLang="en-US" sz="2400" dirty="0"/>
              <a:t>）</a:t>
            </a:r>
            <a:r>
              <a:rPr lang="en-US" altLang="zh-CN" sz="2400" dirty="0"/>
              <a:t>.0</a:t>
            </a:r>
            <a:r>
              <a:rPr lang="zh-CN" altLang="en-US" sz="2400" dirty="0">
                <a:sym typeface="Symbol" pitchFamily="18" charset="2"/>
              </a:rPr>
              <a:t></a:t>
            </a:r>
            <a:r>
              <a:rPr lang="en-US" altLang="zh-CN" sz="2400" dirty="0">
                <a:sym typeface="Wingdings" panose="05000000000000000000" pitchFamily="2" charset="2"/>
              </a:rPr>
              <a:t>C</a:t>
            </a:r>
            <a:endParaRPr lang="en-US" altLang="zh-CN" sz="2400" dirty="0">
              <a:sym typeface="Wingdings" panose="05000000000000000000" pitchFamily="2" charset="2"/>
            </a:endParaRPr>
          </a:p>
        </p:txBody>
      </p:sp>
      <p:sp>
        <p:nvSpPr>
          <p:cNvPr id="87042" name="Rectangle 2"/>
          <p:cNvSpPr>
            <a:spLocks noChangeArrowheads="1"/>
          </p:cNvSpPr>
          <p:nvPr/>
        </p:nvSpPr>
        <p:spPr bwMode="auto">
          <a:xfrm>
            <a:off x="214313" y="214313"/>
            <a:ext cx="8763000" cy="609600"/>
          </a:xfrm>
          <a:prstGeom prst="rect">
            <a:avLst/>
          </a:prstGeom>
          <a:noFill/>
          <a:ln>
            <a:noFill/>
          </a:ln>
        </p:spPr>
        <p:txBody>
          <a:bodyPr anchor="ctr"/>
          <a:lstStyle>
            <a:lvl1pPr>
              <a:defRPr sz="3600">
                <a:solidFill>
                  <a:schemeClr val="tx2"/>
                </a:solidFill>
                <a:latin typeface="Times New Roman" panose="02020503050405090304" pitchFamily="18" charset="0"/>
                <a:ea typeface="宋体" pitchFamily="2" charset="-122"/>
              </a:defRPr>
            </a:lvl1pPr>
            <a:lvl2pPr>
              <a:defRPr sz="3600">
                <a:solidFill>
                  <a:schemeClr val="tx2"/>
                </a:solidFill>
                <a:latin typeface="Times New Roman" panose="02020503050405090304" pitchFamily="18" charset="0"/>
                <a:ea typeface="宋体" pitchFamily="2" charset="-122"/>
              </a:defRPr>
            </a:lvl2pPr>
            <a:lvl3pPr>
              <a:defRPr sz="3600">
                <a:solidFill>
                  <a:schemeClr val="tx2"/>
                </a:solidFill>
                <a:latin typeface="Times New Roman" panose="02020503050405090304" pitchFamily="18" charset="0"/>
                <a:ea typeface="宋体" pitchFamily="2" charset="-122"/>
              </a:defRPr>
            </a:lvl3pPr>
            <a:lvl4pPr>
              <a:defRPr sz="3600">
                <a:solidFill>
                  <a:schemeClr val="tx2"/>
                </a:solidFill>
                <a:latin typeface="Times New Roman" panose="02020503050405090304" pitchFamily="18" charset="0"/>
                <a:ea typeface="宋体" pitchFamily="2" charset="-122"/>
              </a:defRPr>
            </a:lvl4pPr>
            <a:lvl5pPr>
              <a:defRPr sz="3600">
                <a:solidFill>
                  <a:schemeClr val="tx2"/>
                </a:solidFill>
                <a:latin typeface="Times New Roman" panose="02020503050405090304" pitchFamily="18" charset="0"/>
                <a:ea typeface="宋体" pitchFamily="2" charset="-122"/>
              </a:defRPr>
            </a:lvl5pPr>
            <a:lvl6pPr marL="45720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fontAlgn="base">
              <a:spcBef>
                <a:spcPct val="0"/>
              </a:spcBef>
              <a:spcAft>
                <a:spcPct val="0"/>
              </a:spcAft>
              <a:defRPr sz="3600">
                <a:solidFill>
                  <a:schemeClr val="tx2"/>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第三章</a:t>
            </a:r>
            <a:r>
              <a:rPr kumimoji="0" lang="zh-CN" altLang="en-US" sz="28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zh-CN" altLang="en-US" sz="24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en-US" altLang="zh-CN"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MCS-51</a:t>
            </a: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指令系统</a:t>
            </a:r>
            <a:endParaRPr kumimoji="0" lang="zh-CN" altLang="en-US" sz="3600" b="0"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Times New Roman" panose="02020503050405090304" pitchFamily="18" charset="0"/>
              <a:ea typeface="宋体"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0529">
                                            <p:txEl>
                                              <p:charRg st="159" end="200"/>
                                            </p:txEl>
                                          </p:spTgt>
                                        </p:tgtEl>
                                        <p:attrNameLst>
                                          <p:attrName>style.visibility</p:attrName>
                                        </p:attrNameLst>
                                      </p:cBhvr>
                                      <p:to>
                                        <p:strVal val="visible"/>
                                      </p:to>
                                    </p:set>
                                    <p:anim calcmode="lin" valueType="num">
                                      <p:cBhvr additive="base">
                                        <p:cTn id="7" dur="500" fill="hold"/>
                                        <p:tgtEl>
                                          <p:spTgt spid="150529">
                                            <p:txEl>
                                              <p:charRg st="159" end="20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0529">
                                            <p:txEl>
                                              <p:charRg st="159" end="20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1" name="Rectangle 3"/>
          <p:cNvSpPr>
            <a:spLocks noGrp="1"/>
          </p:cNvSpPr>
          <p:nvPr>
            <p:ph idx="1"/>
          </p:nvPr>
        </p:nvSpPr>
        <p:spPr>
          <a:xfrm>
            <a:off x="476250" y="1373188"/>
            <a:ext cx="7696200" cy="1839912"/>
          </a:xfrm>
        </p:spPr>
        <p:txBody>
          <a:bodyPr vert="horz" wrap="square" lIns="91440" tIns="45720" rIns="91440" bIns="45720" anchor="t" anchorCtr="0"/>
          <a:p>
            <a:pPr eaLnBrk="1" hangingPunct="1">
              <a:lnSpc>
                <a:spcPct val="90000"/>
              </a:lnSpc>
              <a:buNone/>
            </a:pPr>
            <a:r>
              <a:rPr lang="zh-CN" altLang="en-US" b="1" dirty="0">
                <a:latin typeface="黑体" panose="02010609060101010101" pitchFamily="49" charset="-122"/>
                <a:ea typeface="黑体" panose="02010609060101010101" pitchFamily="49" charset="-122"/>
              </a:rPr>
              <a:t>	</a:t>
            </a:r>
            <a:r>
              <a:rPr lang="en-US" altLang="zh-CN" b="1" dirty="0">
                <a:solidFill>
                  <a:schemeClr val="tx2"/>
                </a:solidFill>
                <a:latin typeface="黑体" panose="02010609060101010101" pitchFamily="49" charset="-122"/>
                <a:ea typeface="黑体" panose="02010609060101010101" pitchFamily="49" charset="-122"/>
              </a:rPr>
              <a:t>2</a:t>
            </a:r>
            <a:r>
              <a:rPr lang="zh-CN" altLang="en-US" b="1" dirty="0">
                <a:solidFill>
                  <a:schemeClr val="tx2"/>
                </a:solidFill>
                <a:latin typeface="黑体" panose="02010609060101010101" pitchFamily="49" charset="-122"/>
                <a:ea typeface="黑体" panose="02010609060101010101" pitchFamily="49" charset="-122"/>
              </a:rPr>
              <a:t>、位修正指令</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6</a:t>
            </a:r>
            <a:r>
              <a:rPr lang="zh-CN" altLang="en-US" b="1" dirty="0">
                <a:latin typeface="黑体" panose="02010609060101010101" pitchFamily="49" charset="-122"/>
                <a:ea typeface="黑体" panose="02010609060101010101" pitchFamily="49" charset="-122"/>
              </a:rPr>
              <a:t>条</a:t>
            </a:r>
            <a:r>
              <a:rPr lang="zh-CN" altLang="en-US" sz="2400" dirty="0"/>
              <a:t>）</a:t>
            </a:r>
            <a:endParaRPr lang="zh-CN" altLang="en-US" sz="2400" dirty="0"/>
          </a:p>
          <a:p>
            <a:pPr eaLnBrk="1" hangingPunct="1">
              <a:lnSpc>
                <a:spcPct val="90000"/>
              </a:lnSpc>
              <a:buNone/>
            </a:pPr>
            <a:r>
              <a:rPr lang="zh-CN" altLang="en-US" sz="2400" dirty="0"/>
              <a:t>       </a:t>
            </a:r>
            <a:r>
              <a:rPr lang="zh-CN" altLang="en-US" sz="2400" b="1" dirty="0">
                <a:solidFill>
                  <a:srgbClr val="FF3300"/>
                </a:solidFill>
              </a:rPr>
              <a:t>（ </a:t>
            </a:r>
            <a:r>
              <a:rPr lang="en-US" altLang="zh-CN" sz="2400" b="1" dirty="0">
                <a:solidFill>
                  <a:srgbClr val="FF3300"/>
                </a:solidFill>
              </a:rPr>
              <a:t>1</a:t>
            </a:r>
            <a:r>
              <a:rPr lang="zh-CN" altLang="en-US" sz="2400" b="1" dirty="0">
                <a:solidFill>
                  <a:srgbClr val="FF3300"/>
                </a:solidFill>
              </a:rPr>
              <a:t>）位清</a:t>
            </a:r>
            <a:r>
              <a:rPr lang="en-US" altLang="zh-CN" sz="2400" b="1" dirty="0">
                <a:solidFill>
                  <a:srgbClr val="FF3300"/>
                </a:solidFill>
              </a:rPr>
              <a:t>0</a:t>
            </a:r>
            <a:endParaRPr lang="en-US" altLang="zh-CN" sz="2400" b="1" dirty="0">
              <a:solidFill>
                <a:srgbClr val="FF3300"/>
              </a:solidFill>
            </a:endParaRPr>
          </a:p>
          <a:p>
            <a:pPr eaLnBrk="1" hangingPunct="1">
              <a:lnSpc>
                <a:spcPct val="90000"/>
              </a:lnSpc>
              <a:buNone/>
            </a:pPr>
            <a:r>
              <a:rPr lang="en-US" altLang="zh-CN" sz="2400" dirty="0"/>
              <a:t>		CLR    C                  ; 0 </a:t>
            </a:r>
            <a:r>
              <a:rPr lang="en-US" altLang="zh-CN" sz="2400" dirty="0">
                <a:sym typeface="Symbol" pitchFamily="18" charset="2"/>
              </a:rPr>
              <a:t></a:t>
            </a:r>
            <a:r>
              <a:rPr lang="en-US" altLang="zh-CN" sz="2400" dirty="0">
                <a:sym typeface="Wingdings" panose="05000000000000000000" pitchFamily="2" charset="2"/>
              </a:rPr>
              <a:t>C</a:t>
            </a:r>
            <a:endParaRPr lang="en-US" altLang="zh-CN" sz="2400" dirty="0">
              <a:sym typeface="Wingdings" panose="05000000000000000000" pitchFamily="2" charset="2"/>
            </a:endParaRPr>
          </a:p>
          <a:p>
            <a:pPr eaLnBrk="1" hangingPunct="1">
              <a:lnSpc>
                <a:spcPct val="90000"/>
              </a:lnSpc>
              <a:buNone/>
            </a:pPr>
            <a:r>
              <a:rPr lang="en-US" altLang="zh-CN" sz="2400" dirty="0"/>
              <a:t>		CLR    bit                ; 0 </a:t>
            </a:r>
            <a:r>
              <a:rPr lang="en-US" altLang="zh-CN" sz="2400" dirty="0">
                <a:sym typeface="Symbol" pitchFamily="18" charset="2"/>
              </a:rPr>
              <a:t></a:t>
            </a:r>
            <a:r>
              <a:rPr lang="en-US" altLang="zh-CN" sz="2400" dirty="0">
                <a:sym typeface="Wingdings" panose="05000000000000000000" pitchFamily="2" charset="2"/>
              </a:rPr>
              <a:t> </a:t>
            </a:r>
            <a:r>
              <a:rPr lang="en-US" altLang="zh-CN" sz="2400" dirty="0"/>
              <a:t>bit</a:t>
            </a:r>
            <a:endParaRPr lang="en-US" altLang="zh-CN" sz="2400" dirty="0"/>
          </a:p>
        </p:txBody>
      </p:sp>
      <p:sp>
        <p:nvSpPr>
          <p:cNvPr id="153602" name="Rectangle 4"/>
          <p:cNvSpPr/>
          <p:nvPr/>
        </p:nvSpPr>
        <p:spPr>
          <a:xfrm>
            <a:off x="685800" y="3200400"/>
            <a:ext cx="7772400" cy="1447800"/>
          </a:xfrm>
          <a:prstGeom prst="rect">
            <a:avLst/>
          </a:prstGeom>
          <a:noFill/>
          <a:ln w="9525">
            <a:noFill/>
          </a:ln>
        </p:spPr>
        <p:txBody>
          <a:bodyPr anchor="t" anchorCtr="0"/>
          <a:p>
            <a:pPr marL="342900" indent="-342900">
              <a:lnSpc>
                <a:spcPct val="90000"/>
              </a:lnSpc>
              <a:spcBef>
                <a:spcPct val="20000"/>
              </a:spcBef>
              <a:buClr>
                <a:schemeClr val="accent2"/>
              </a:buClr>
              <a:buSzPct val="80000"/>
            </a:pPr>
            <a:r>
              <a:rPr lang="zh-CN" altLang="en-US" b="0" dirty="0">
                <a:solidFill>
                  <a:schemeClr val="folHlink"/>
                </a:solidFill>
                <a:latin typeface="Times New Roman" panose="02020503050405090304" pitchFamily="18" charset="0"/>
                <a:ea typeface="黑体" panose="02010609060101010101" pitchFamily="49" charset="-122"/>
              </a:rPr>
              <a:t>	</a:t>
            </a:r>
            <a:r>
              <a:rPr lang="zh-CN" altLang="en-US" dirty="0">
                <a:solidFill>
                  <a:srgbClr val="FF3300"/>
                </a:solidFill>
                <a:latin typeface="Times New Roman" panose="02020503050405090304" pitchFamily="18" charset="0"/>
                <a:ea typeface="黑体" panose="02010609060101010101" pitchFamily="49" charset="-122"/>
              </a:rPr>
              <a:t>（ </a:t>
            </a:r>
            <a:r>
              <a:rPr lang="en-US" altLang="zh-CN" dirty="0">
                <a:solidFill>
                  <a:srgbClr val="FF3300"/>
                </a:solidFill>
                <a:latin typeface="Times New Roman" panose="02020503050405090304" pitchFamily="18" charset="0"/>
                <a:ea typeface="黑体" panose="02010609060101010101" pitchFamily="49" charset="-122"/>
              </a:rPr>
              <a:t>2</a:t>
            </a:r>
            <a:r>
              <a:rPr lang="zh-CN" altLang="en-US" dirty="0">
                <a:solidFill>
                  <a:srgbClr val="FF3300"/>
                </a:solidFill>
                <a:latin typeface="Times New Roman" panose="02020503050405090304" pitchFamily="18" charset="0"/>
                <a:ea typeface="黑体" panose="02010609060101010101" pitchFamily="49" charset="-122"/>
              </a:rPr>
              <a:t>）</a:t>
            </a:r>
            <a:r>
              <a:rPr lang="zh-CN" altLang="en-US" dirty="0">
                <a:solidFill>
                  <a:srgbClr val="FF3300"/>
                </a:solidFill>
                <a:latin typeface="黑体" panose="02010609060101010101" pitchFamily="49" charset="-122"/>
                <a:ea typeface="黑体" panose="02010609060101010101" pitchFamily="49" charset="-122"/>
              </a:rPr>
              <a:t>位置</a:t>
            </a:r>
            <a:r>
              <a:rPr lang="en-US" altLang="zh-CN" dirty="0">
                <a:solidFill>
                  <a:srgbClr val="FF3300"/>
                </a:solidFill>
                <a:latin typeface="黑体" panose="02010609060101010101" pitchFamily="49" charset="-122"/>
                <a:ea typeface="黑体" panose="02010609060101010101" pitchFamily="49" charset="-122"/>
              </a:rPr>
              <a:t>1</a:t>
            </a:r>
            <a:endParaRPr lang="en-US" altLang="zh-CN" dirty="0">
              <a:solidFill>
                <a:srgbClr val="FF3300"/>
              </a:solidFill>
              <a:latin typeface="黑体" panose="02010609060101010101" pitchFamily="49" charset="-122"/>
              <a:ea typeface="黑体" panose="02010609060101010101" pitchFamily="49" charset="-122"/>
            </a:endParaRPr>
          </a:p>
          <a:p>
            <a:pPr marL="342900" indent="-342900">
              <a:lnSpc>
                <a:spcPct val="90000"/>
              </a:lnSpc>
              <a:spcBef>
                <a:spcPct val="20000"/>
              </a:spcBef>
              <a:buClr>
                <a:schemeClr val="accent2"/>
              </a:buClr>
              <a:buSzPct val="80000"/>
            </a:pPr>
            <a:r>
              <a:rPr lang="en-US" altLang="zh-CN" b="0" dirty="0">
                <a:solidFill>
                  <a:schemeClr val="folHlink"/>
                </a:solidFill>
                <a:latin typeface="Times New Roman" panose="02020503050405090304" pitchFamily="18" charset="0"/>
                <a:ea typeface="黑体" panose="02010609060101010101" pitchFamily="49" charset="-122"/>
              </a:rPr>
              <a:t>		SETB    C                  ; 1 </a:t>
            </a:r>
            <a:r>
              <a:rPr lang="en-US" altLang="zh-CN" b="0" dirty="0">
                <a:solidFill>
                  <a:schemeClr val="folHlink"/>
                </a:solidFill>
                <a:latin typeface="Times New Roman" panose="02020503050405090304" pitchFamily="18" charset="0"/>
                <a:ea typeface="黑体" panose="02010609060101010101" pitchFamily="49" charset="-122"/>
                <a:sym typeface="Symbol" pitchFamily="18" charset="2"/>
              </a:rPr>
              <a:t></a:t>
            </a:r>
            <a:r>
              <a:rPr lang="en-US" altLang="zh-CN" b="0" dirty="0">
                <a:solidFill>
                  <a:schemeClr val="folHlink"/>
                </a:solidFill>
                <a:latin typeface="Times New Roman" panose="02020503050405090304" pitchFamily="18" charset="0"/>
                <a:ea typeface="黑体" panose="02010609060101010101" pitchFamily="49" charset="-122"/>
                <a:sym typeface="Wingdings" panose="05000000000000000000" pitchFamily="2" charset="2"/>
              </a:rPr>
              <a:t>C</a:t>
            </a:r>
            <a:endParaRPr lang="en-US" altLang="zh-CN" b="0" dirty="0">
              <a:solidFill>
                <a:schemeClr val="folHlink"/>
              </a:solidFill>
              <a:latin typeface="Times New Roman" panose="02020503050405090304" pitchFamily="18" charset="0"/>
              <a:ea typeface="黑体" panose="02010609060101010101" pitchFamily="49" charset="-122"/>
              <a:sym typeface="Wingdings" panose="05000000000000000000" pitchFamily="2" charset="2"/>
            </a:endParaRPr>
          </a:p>
          <a:p>
            <a:pPr marL="342900" indent="-342900">
              <a:lnSpc>
                <a:spcPct val="90000"/>
              </a:lnSpc>
              <a:spcBef>
                <a:spcPct val="20000"/>
              </a:spcBef>
              <a:buClr>
                <a:schemeClr val="accent2"/>
              </a:buClr>
              <a:buSzPct val="80000"/>
            </a:pPr>
            <a:r>
              <a:rPr lang="en-US" altLang="zh-CN" b="0" dirty="0">
                <a:solidFill>
                  <a:schemeClr val="folHlink"/>
                </a:solidFill>
                <a:latin typeface="Times New Roman" panose="02020503050405090304" pitchFamily="18" charset="0"/>
                <a:ea typeface="黑体" panose="02010609060101010101" pitchFamily="49" charset="-122"/>
              </a:rPr>
              <a:t>	       SETB    bit                 ; 1 </a:t>
            </a:r>
            <a:r>
              <a:rPr lang="en-US" altLang="zh-CN" b="0" dirty="0">
                <a:solidFill>
                  <a:schemeClr val="folHlink"/>
                </a:solidFill>
                <a:latin typeface="Times New Roman" panose="02020503050405090304" pitchFamily="18" charset="0"/>
                <a:ea typeface="黑体" panose="02010609060101010101" pitchFamily="49" charset="-122"/>
                <a:sym typeface="Symbol" pitchFamily="18" charset="2"/>
              </a:rPr>
              <a:t></a:t>
            </a:r>
            <a:r>
              <a:rPr lang="en-US" altLang="zh-CN" b="0" dirty="0">
                <a:solidFill>
                  <a:schemeClr val="folHlink"/>
                </a:solidFill>
                <a:latin typeface="Times New Roman" panose="02020503050405090304" pitchFamily="18" charset="0"/>
                <a:ea typeface="黑体" panose="02010609060101010101" pitchFamily="49" charset="-122"/>
                <a:sym typeface="Wingdings" panose="05000000000000000000" pitchFamily="2" charset="2"/>
              </a:rPr>
              <a:t> </a:t>
            </a:r>
            <a:r>
              <a:rPr lang="en-US" altLang="zh-CN" b="0" dirty="0">
                <a:solidFill>
                  <a:schemeClr val="folHlink"/>
                </a:solidFill>
                <a:latin typeface="Times New Roman" panose="02020503050405090304" pitchFamily="18" charset="0"/>
                <a:ea typeface="黑体" panose="02010609060101010101" pitchFamily="49" charset="-122"/>
              </a:rPr>
              <a:t>bit</a:t>
            </a:r>
            <a:endParaRPr lang="en-US" altLang="zh-CN" b="0" dirty="0">
              <a:solidFill>
                <a:schemeClr val="folHlink"/>
              </a:solidFill>
              <a:latin typeface="Times New Roman" panose="02020503050405090304" pitchFamily="18" charset="0"/>
              <a:ea typeface="黑体" panose="02010609060101010101" pitchFamily="49" charset="-122"/>
            </a:endParaRPr>
          </a:p>
        </p:txBody>
      </p:sp>
      <p:sp>
        <p:nvSpPr>
          <p:cNvPr id="153603" name="Rectangle 5"/>
          <p:cNvSpPr/>
          <p:nvPr/>
        </p:nvSpPr>
        <p:spPr>
          <a:xfrm>
            <a:off x="685800" y="4648200"/>
            <a:ext cx="7772400" cy="1447800"/>
          </a:xfrm>
          <a:prstGeom prst="rect">
            <a:avLst/>
          </a:prstGeom>
          <a:noFill/>
          <a:ln w="9525">
            <a:noFill/>
          </a:ln>
        </p:spPr>
        <p:txBody>
          <a:bodyPr anchor="t" anchorCtr="0"/>
          <a:p>
            <a:pPr marL="342900" indent="-342900">
              <a:lnSpc>
                <a:spcPct val="90000"/>
              </a:lnSpc>
              <a:spcBef>
                <a:spcPct val="20000"/>
              </a:spcBef>
              <a:buClr>
                <a:schemeClr val="accent2"/>
              </a:buClr>
              <a:buSzPct val="80000"/>
            </a:pPr>
            <a:r>
              <a:rPr lang="zh-CN" altLang="en-US" b="0" dirty="0">
                <a:solidFill>
                  <a:schemeClr val="folHlink"/>
                </a:solidFill>
                <a:latin typeface="Times New Roman" panose="02020503050405090304" pitchFamily="18" charset="0"/>
                <a:ea typeface="黑体" panose="02010609060101010101" pitchFamily="49" charset="-122"/>
              </a:rPr>
              <a:t>	</a:t>
            </a:r>
            <a:r>
              <a:rPr lang="zh-CN" altLang="en-US" dirty="0">
                <a:solidFill>
                  <a:srgbClr val="FF3300"/>
                </a:solidFill>
                <a:latin typeface="Times New Roman" panose="02020503050405090304" pitchFamily="18" charset="0"/>
                <a:ea typeface="黑体" panose="02010609060101010101" pitchFamily="49" charset="-122"/>
              </a:rPr>
              <a:t>（ </a:t>
            </a:r>
            <a:r>
              <a:rPr lang="en-US" altLang="zh-CN" dirty="0">
                <a:solidFill>
                  <a:srgbClr val="FF3300"/>
                </a:solidFill>
                <a:latin typeface="Times New Roman" panose="02020503050405090304" pitchFamily="18" charset="0"/>
                <a:ea typeface="黑体" panose="02010609060101010101" pitchFamily="49" charset="-122"/>
              </a:rPr>
              <a:t>3</a:t>
            </a:r>
            <a:r>
              <a:rPr lang="zh-CN" altLang="en-US" dirty="0">
                <a:solidFill>
                  <a:srgbClr val="FF3300"/>
                </a:solidFill>
                <a:latin typeface="Times New Roman" panose="02020503050405090304" pitchFamily="18" charset="0"/>
                <a:ea typeface="黑体" panose="02010609060101010101" pitchFamily="49" charset="-122"/>
              </a:rPr>
              <a:t>）</a:t>
            </a:r>
            <a:r>
              <a:rPr lang="zh-CN" altLang="en-US" dirty="0">
                <a:solidFill>
                  <a:srgbClr val="FF3300"/>
                </a:solidFill>
                <a:latin typeface="黑体" panose="02010609060101010101" pitchFamily="49" charset="-122"/>
                <a:ea typeface="黑体" panose="02010609060101010101" pitchFamily="49" charset="-122"/>
              </a:rPr>
              <a:t>位取反</a:t>
            </a:r>
            <a:endParaRPr lang="zh-CN" altLang="en-US" dirty="0">
              <a:solidFill>
                <a:srgbClr val="FF3300"/>
              </a:solidFill>
              <a:latin typeface="黑体" panose="02010609060101010101" pitchFamily="49" charset="-122"/>
              <a:ea typeface="黑体" panose="02010609060101010101" pitchFamily="49" charset="-122"/>
            </a:endParaRPr>
          </a:p>
          <a:p>
            <a:pPr marL="342900" indent="-342900">
              <a:lnSpc>
                <a:spcPct val="90000"/>
              </a:lnSpc>
              <a:spcBef>
                <a:spcPct val="20000"/>
              </a:spcBef>
              <a:buClr>
                <a:schemeClr val="accent2"/>
              </a:buClr>
              <a:buSzPct val="80000"/>
            </a:pPr>
            <a:r>
              <a:rPr lang="zh-CN" altLang="en-US" b="0" dirty="0">
                <a:solidFill>
                  <a:schemeClr val="folHlink"/>
                </a:solidFill>
                <a:latin typeface="Times New Roman" panose="02020503050405090304" pitchFamily="18" charset="0"/>
                <a:ea typeface="黑体" panose="02010609060101010101" pitchFamily="49" charset="-122"/>
              </a:rPr>
              <a:t>		</a:t>
            </a:r>
            <a:r>
              <a:rPr lang="en-US" altLang="zh-CN" b="0" dirty="0">
                <a:solidFill>
                  <a:schemeClr val="folHlink"/>
                </a:solidFill>
                <a:latin typeface="Times New Roman" panose="02020503050405090304" pitchFamily="18" charset="0"/>
                <a:ea typeface="黑体" panose="02010609060101010101" pitchFamily="49" charset="-122"/>
              </a:rPr>
              <a:t>CPL    C                  ; </a:t>
            </a:r>
            <a:r>
              <a:rPr lang="en-US" altLang="zh-CN" b="0" dirty="0">
                <a:solidFill>
                  <a:schemeClr val="folHlink"/>
                </a:solidFill>
                <a:latin typeface="Times New Roman" panose="02020503050405090304" pitchFamily="18" charset="0"/>
                <a:ea typeface="黑体" panose="02010609060101010101" pitchFamily="49" charset="-122"/>
                <a:sym typeface="Wingdings" panose="05000000000000000000" pitchFamily="2" charset="2"/>
              </a:rPr>
              <a:t>(/C)</a:t>
            </a:r>
            <a:r>
              <a:rPr lang="en-US" altLang="zh-CN" b="0" dirty="0">
                <a:solidFill>
                  <a:schemeClr val="folHlink"/>
                </a:solidFill>
                <a:latin typeface="Times New Roman" panose="02020503050405090304" pitchFamily="18" charset="0"/>
                <a:ea typeface="黑体" panose="02010609060101010101" pitchFamily="49" charset="-122"/>
              </a:rPr>
              <a:t> </a:t>
            </a:r>
            <a:r>
              <a:rPr lang="en-US" altLang="zh-CN" b="0" dirty="0">
                <a:solidFill>
                  <a:schemeClr val="folHlink"/>
                </a:solidFill>
                <a:latin typeface="Times New Roman" panose="02020503050405090304" pitchFamily="18" charset="0"/>
                <a:ea typeface="黑体" panose="02010609060101010101" pitchFamily="49" charset="-122"/>
                <a:sym typeface="Symbol" pitchFamily="18" charset="2"/>
              </a:rPr>
              <a:t></a:t>
            </a:r>
            <a:r>
              <a:rPr lang="en-US" altLang="zh-CN" b="0" dirty="0">
                <a:solidFill>
                  <a:schemeClr val="folHlink"/>
                </a:solidFill>
                <a:latin typeface="Times New Roman" panose="02020503050405090304" pitchFamily="18" charset="0"/>
                <a:ea typeface="黑体" panose="02010609060101010101" pitchFamily="49" charset="-122"/>
                <a:sym typeface="Wingdings" panose="05000000000000000000" pitchFamily="2" charset="2"/>
              </a:rPr>
              <a:t>C</a:t>
            </a:r>
            <a:endParaRPr lang="en-US" altLang="zh-CN" b="0" dirty="0">
              <a:solidFill>
                <a:schemeClr val="folHlink"/>
              </a:solidFill>
              <a:latin typeface="Times New Roman" panose="02020503050405090304" pitchFamily="18" charset="0"/>
              <a:ea typeface="黑体" panose="02010609060101010101" pitchFamily="49" charset="-122"/>
              <a:sym typeface="Wingdings" panose="05000000000000000000" pitchFamily="2" charset="2"/>
            </a:endParaRPr>
          </a:p>
          <a:p>
            <a:pPr marL="342900" indent="-342900">
              <a:lnSpc>
                <a:spcPct val="90000"/>
              </a:lnSpc>
              <a:spcBef>
                <a:spcPct val="20000"/>
              </a:spcBef>
              <a:buClr>
                <a:schemeClr val="accent2"/>
              </a:buClr>
              <a:buSzPct val="80000"/>
            </a:pPr>
            <a:r>
              <a:rPr lang="en-US" altLang="zh-CN" b="0" dirty="0">
                <a:solidFill>
                  <a:schemeClr val="folHlink"/>
                </a:solidFill>
                <a:latin typeface="Times New Roman" panose="02020503050405090304" pitchFamily="18" charset="0"/>
                <a:ea typeface="黑体" panose="02010609060101010101" pitchFamily="49" charset="-122"/>
              </a:rPr>
              <a:t>	        CPL    bit                ; </a:t>
            </a:r>
            <a:r>
              <a:rPr lang="en-US" altLang="zh-CN" b="0" dirty="0">
                <a:solidFill>
                  <a:schemeClr val="folHlink"/>
                </a:solidFill>
                <a:latin typeface="Times New Roman" panose="02020503050405090304" pitchFamily="18" charset="0"/>
                <a:ea typeface="黑体" panose="02010609060101010101" pitchFamily="49" charset="-122"/>
                <a:sym typeface="Wingdings" panose="05000000000000000000" pitchFamily="2" charset="2"/>
              </a:rPr>
              <a:t>(/</a:t>
            </a:r>
            <a:r>
              <a:rPr lang="en-US" altLang="zh-CN" b="0" dirty="0">
                <a:solidFill>
                  <a:schemeClr val="folHlink"/>
                </a:solidFill>
                <a:latin typeface="Times New Roman" panose="02020503050405090304" pitchFamily="18" charset="0"/>
                <a:ea typeface="黑体" panose="02010609060101010101" pitchFamily="49" charset="-122"/>
              </a:rPr>
              <a:t>bit) </a:t>
            </a:r>
            <a:r>
              <a:rPr lang="en-US" altLang="zh-CN" b="0" dirty="0">
                <a:solidFill>
                  <a:schemeClr val="folHlink"/>
                </a:solidFill>
                <a:latin typeface="Times New Roman" panose="02020503050405090304" pitchFamily="18" charset="0"/>
                <a:ea typeface="黑体" panose="02010609060101010101" pitchFamily="49" charset="-122"/>
                <a:sym typeface="Symbol" pitchFamily="18" charset="2"/>
              </a:rPr>
              <a:t></a:t>
            </a:r>
            <a:r>
              <a:rPr lang="en-US" altLang="zh-CN" b="0" dirty="0">
                <a:solidFill>
                  <a:schemeClr val="folHlink"/>
                </a:solidFill>
                <a:latin typeface="Times New Roman" panose="02020503050405090304" pitchFamily="18" charset="0"/>
                <a:ea typeface="黑体" panose="02010609060101010101" pitchFamily="49" charset="-122"/>
                <a:sym typeface="Wingdings" panose="05000000000000000000" pitchFamily="2" charset="2"/>
              </a:rPr>
              <a:t> </a:t>
            </a:r>
            <a:r>
              <a:rPr lang="en-US" altLang="zh-CN" b="0" dirty="0">
                <a:solidFill>
                  <a:schemeClr val="folHlink"/>
                </a:solidFill>
                <a:latin typeface="Times New Roman" panose="02020503050405090304" pitchFamily="18" charset="0"/>
                <a:ea typeface="黑体" panose="02010609060101010101" pitchFamily="49" charset="-122"/>
              </a:rPr>
              <a:t>bit</a:t>
            </a:r>
            <a:endParaRPr lang="en-US" altLang="zh-CN" b="0" dirty="0">
              <a:solidFill>
                <a:schemeClr val="folHlink"/>
              </a:solidFill>
              <a:latin typeface="Times New Roman" panose="02020503050405090304" pitchFamily="18" charset="0"/>
              <a:ea typeface="黑体" panose="02010609060101010101" pitchFamily="49" charset="-122"/>
            </a:endParaRPr>
          </a:p>
        </p:txBody>
      </p:sp>
      <p:grpSp>
        <p:nvGrpSpPr>
          <p:cNvPr id="153604" name="Group 6"/>
          <p:cNvGrpSpPr/>
          <p:nvPr/>
        </p:nvGrpSpPr>
        <p:grpSpPr>
          <a:xfrm>
            <a:off x="6208713" y="5181600"/>
            <a:ext cx="2435225" cy="533400"/>
            <a:chOff x="3744" y="3288"/>
            <a:chExt cx="1534" cy="336"/>
          </a:xfrm>
        </p:grpSpPr>
        <p:sp>
          <p:nvSpPr>
            <p:cNvPr id="153605" name="AutoShape 7"/>
            <p:cNvSpPr/>
            <p:nvPr/>
          </p:nvSpPr>
          <p:spPr>
            <a:xfrm rot="5400000">
              <a:off x="4320" y="3312"/>
              <a:ext cx="336" cy="288"/>
            </a:xfrm>
            <a:prstGeom prst="flowChartExtra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53606" name="AutoShape 8"/>
            <p:cNvSpPr/>
            <p:nvPr/>
          </p:nvSpPr>
          <p:spPr>
            <a:xfrm>
              <a:off x="4631" y="3432"/>
              <a:ext cx="47" cy="48"/>
            </a:xfrm>
            <a:prstGeom prst="flowChartConnector">
              <a:avLst/>
            </a:prstGeom>
            <a:noFill/>
            <a:ln w="952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53607" name="Line 9"/>
            <p:cNvSpPr/>
            <p:nvPr/>
          </p:nvSpPr>
          <p:spPr>
            <a:xfrm flipH="1">
              <a:off x="3744" y="3456"/>
              <a:ext cx="600" cy="0"/>
            </a:xfrm>
            <a:prstGeom prst="line">
              <a:avLst/>
            </a:prstGeom>
            <a:ln w="9525" cap="flat" cmpd="sng">
              <a:solidFill>
                <a:schemeClr val="tx1"/>
              </a:solidFill>
              <a:prstDash val="solid"/>
              <a:round/>
              <a:headEnd type="none" w="med" len="med"/>
              <a:tailEnd type="none" w="med" len="med"/>
            </a:ln>
          </p:spPr>
        </p:sp>
        <p:sp>
          <p:nvSpPr>
            <p:cNvPr id="153608" name="Line 10"/>
            <p:cNvSpPr/>
            <p:nvPr/>
          </p:nvSpPr>
          <p:spPr>
            <a:xfrm flipH="1">
              <a:off x="4678" y="3456"/>
              <a:ext cx="600" cy="0"/>
            </a:xfrm>
            <a:prstGeom prst="line">
              <a:avLst/>
            </a:prstGeom>
            <a:ln w="9525" cap="flat" cmpd="sng">
              <a:solidFill>
                <a:schemeClr val="tx1"/>
              </a:solidFill>
              <a:prstDash val="solid"/>
              <a:round/>
              <a:headEnd type="none" w="med" len="med"/>
              <a:tailEnd type="none" w="med" len="med"/>
            </a:ln>
          </p:spPr>
        </p:sp>
      </p:grpSp>
      <p:sp>
        <p:nvSpPr>
          <p:cNvPr id="153609" name="Rectangle 11"/>
          <p:cNvSpPr/>
          <p:nvPr/>
        </p:nvSpPr>
        <p:spPr>
          <a:xfrm>
            <a:off x="6242050" y="5033963"/>
            <a:ext cx="522288" cy="366712"/>
          </a:xfrm>
          <a:prstGeom prst="rect">
            <a:avLst/>
          </a:prstGeom>
          <a:noFill/>
          <a:ln w="9525">
            <a:noFill/>
          </a:ln>
        </p:spPr>
        <p:txBody>
          <a:bodyPr wrap="none" anchor="t" anchorCtr="0">
            <a:spAutoFit/>
          </a:bodyPr>
          <a:p>
            <a:pPr algn="ctr">
              <a:lnSpc>
                <a:spcPct val="90000"/>
              </a:lnSpc>
              <a:spcBef>
                <a:spcPct val="20000"/>
              </a:spcBef>
              <a:buClr>
                <a:schemeClr val="accent2"/>
              </a:buClr>
              <a:buSzPct val="80000"/>
            </a:pPr>
            <a:r>
              <a:rPr lang="en-US" altLang="zh-CN" sz="2000" b="0" dirty="0">
                <a:latin typeface="Times New Roman" panose="02020503050405090304" pitchFamily="18" charset="0"/>
                <a:ea typeface="黑体" panose="02010609060101010101" pitchFamily="49" charset="-122"/>
                <a:sym typeface="Wingdings" panose="05000000000000000000" pitchFamily="2" charset="2"/>
              </a:rPr>
              <a:t>(C)</a:t>
            </a:r>
            <a:endParaRPr lang="en-US" altLang="zh-CN" sz="2000" b="0" dirty="0">
              <a:latin typeface="Times New Roman" panose="02020503050405090304" pitchFamily="18" charset="0"/>
              <a:ea typeface="黑体" panose="02010609060101010101" pitchFamily="49" charset="-122"/>
              <a:sym typeface="Wingdings" panose="05000000000000000000" pitchFamily="2" charset="2"/>
            </a:endParaRPr>
          </a:p>
        </p:txBody>
      </p:sp>
      <p:sp>
        <p:nvSpPr>
          <p:cNvPr id="153610" name="Rectangle 12"/>
          <p:cNvSpPr/>
          <p:nvPr/>
        </p:nvSpPr>
        <p:spPr>
          <a:xfrm>
            <a:off x="7900988" y="5002213"/>
            <a:ext cx="522287" cy="396875"/>
          </a:xfrm>
          <a:prstGeom prst="rect">
            <a:avLst/>
          </a:prstGeom>
          <a:noFill/>
          <a:ln w="9525">
            <a:noFill/>
          </a:ln>
        </p:spPr>
        <p:txBody>
          <a:bodyPr wrap="none" anchor="t" anchorCtr="0">
            <a:spAutoFit/>
          </a:bodyPr>
          <a:p>
            <a:pPr algn="ctr">
              <a:buClrTx/>
              <a:buFontTx/>
            </a:pPr>
            <a:r>
              <a:rPr lang="en-US" altLang="zh-CN" sz="2000" b="0" dirty="0">
                <a:latin typeface="Times New Roman" panose="02020503050405090304" pitchFamily="18" charset="0"/>
                <a:ea typeface="黑体" panose="02010609060101010101" pitchFamily="49" charset="-122"/>
                <a:sym typeface="Wingdings" panose="05000000000000000000" pitchFamily="2" charset="2"/>
              </a:rPr>
              <a:t>(C)</a:t>
            </a:r>
            <a:endParaRPr lang="en-US" altLang="zh-CN" sz="2000" b="0" dirty="0">
              <a:latin typeface="Times New Roman" panose="02020503050405090304" pitchFamily="18" charset="0"/>
              <a:ea typeface="黑体" panose="02010609060101010101" pitchFamily="49" charset="-122"/>
              <a:sym typeface="Wingdings" panose="05000000000000000000" pitchFamily="2" charset="2"/>
            </a:endParaRPr>
          </a:p>
        </p:txBody>
      </p:sp>
      <p:graphicFrame>
        <p:nvGraphicFramePr>
          <p:cNvPr id="153611" name="Object 13"/>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3096" name="" r:id="rId1" imgW="114300" imgH="215900" progId="Equation.3">
                  <p:embed/>
                </p:oleObj>
              </mc:Choice>
              <mc:Fallback>
                <p:oleObj name="" r:id="rId1" imgW="114300" imgH="215900" progId="Equation.3">
                  <p:embed/>
                  <p:pic>
                    <p:nvPicPr>
                      <p:cNvPr id="0" name="Picture 3095"/>
                      <p:cNvPicPr/>
                      <p:nvPr/>
                    </p:nvPicPr>
                    <p:blipFill>
                      <a:blip r:embed="rId2"/>
                      <a:stretch>
                        <a:fillRect/>
                      </a:stretch>
                    </p:blipFill>
                    <p:spPr>
                      <a:xfrm>
                        <a:off x="4514850" y="3321050"/>
                        <a:ext cx="114300" cy="215900"/>
                      </a:xfrm>
                      <a:prstGeom prst="rect">
                        <a:avLst/>
                      </a:prstGeom>
                      <a:noFill/>
                      <a:ln w="38100">
                        <a:noFill/>
                        <a:miter/>
                      </a:ln>
                    </p:spPr>
                  </p:pic>
                </p:oleObj>
              </mc:Fallback>
            </mc:AlternateContent>
          </a:graphicData>
        </a:graphic>
      </p:graphicFrame>
      <p:sp>
        <p:nvSpPr>
          <p:cNvPr id="87042" name="Rectangle 2"/>
          <p:cNvSpPr>
            <a:spLocks noChangeArrowheads="1"/>
          </p:cNvSpPr>
          <p:nvPr/>
        </p:nvSpPr>
        <p:spPr bwMode="auto">
          <a:xfrm>
            <a:off x="214313" y="214313"/>
            <a:ext cx="8763000" cy="609600"/>
          </a:xfrm>
          <a:prstGeom prst="rect">
            <a:avLst/>
          </a:prstGeom>
          <a:noFill/>
          <a:ln>
            <a:noFill/>
          </a:ln>
        </p:spPr>
        <p:txBody>
          <a:bodyPr anchor="ctr"/>
          <a:lstStyle>
            <a:lvl1pPr>
              <a:defRPr sz="3600">
                <a:solidFill>
                  <a:schemeClr val="tx2"/>
                </a:solidFill>
                <a:latin typeface="Times New Roman" panose="02020503050405090304" pitchFamily="18" charset="0"/>
                <a:ea typeface="宋体" pitchFamily="2" charset="-122"/>
              </a:defRPr>
            </a:lvl1pPr>
            <a:lvl2pPr>
              <a:defRPr sz="3600">
                <a:solidFill>
                  <a:schemeClr val="tx2"/>
                </a:solidFill>
                <a:latin typeface="Times New Roman" panose="02020503050405090304" pitchFamily="18" charset="0"/>
                <a:ea typeface="宋体" pitchFamily="2" charset="-122"/>
              </a:defRPr>
            </a:lvl2pPr>
            <a:lvl3pPr>
              <a:defRPr sz="3600">
                <a:solidFill>
                  <a:schemeClr val="tx2"/>
                </a:solidFill>
                <a:latin typeface="Times New Roman" panose="02020503050405090304" pitchFamily="18" charset="0"/>
                <a:ea typeface="宋体" pitchFamily="2" charset="-122"/>
              </a:defRPr>
            </a:lvl3pPr>
            <a:lvl4pPr>
              <a:defRPr sz="3600">
                <a:solidFill>
                  <a:schemeClr val="tx2"/>
                </a:solidFill>
                <a:latin typeface="Times New Roman" panose="02020503050405090304" pitchFamily="18" charset="0"/>
                <a:ea typeface="宋体" pitchFamily="2" charset="-122"/>
              </a:defRPr>
            </a:lvl4pPr>
            <a:lvl5pPr>
              <a:defRPr sz="3600">
                <a:solidFill>
                  <a:schemeClr val="tx2"/>
                </a:solidFill>
                <a:latin typeface="Times New Roman" panose="02020503050405090304" pitchFamily="18" charset="0"/>
                <a:ea typeface="宋体" pitchFamily="2" charset="-122"/>
              </a:defRPr>
            </a:lvl5pPr>
            <a:lvl6pPr marL="45720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fontAlgn="base">
              <a:spcBef>
                <a:spcPct val="0"/>
              </a:spcBef>
              <a:spcAft>
                <a:spcPct val="0"/>
              </a:spcAft>
              <a:defRPr sz="3600">
                <a:solidFill>
                  <a:schemeClr val="tx2"/>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第三章</a:t>
            </a:r>
            <a:r>
              <a:rPr kumimoji="0" lang="zh-CN" altLang="en-US" sz="28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zh-CN" altLang="en-US" sz="24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en-US" altLang="zh-CN"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MCS-51</a:t>
            </a: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指令系统</a:t>
            </a:r>
            <a:endParaRPr kumimoji="0" lang="zh-CN" altLang="en-US" sz="3600" b="0"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Times New Roman" panose="02020503050405090304" pitchFamily="18" charset="0"/>
              <a:ea typeface="宋体" pitchFamily="2" charset="-122"/>
              <a:cs typeface="+mn-cs"/>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5" name="Rectangle 3"/>
          <p:cNvSpPr>
            <a:spLocks noGrp="1"/>
          </p:cNvSpPr>
          <p:nvPr>
            <p:ph idx="1"/>
          </p:nvPr>
        </p:nvSpPr>
        <p:spPr>
          <a:xfrm>
            <a:off x="609600" y="1125538"/>
            <a:ext cx="7772400" cy="1422400"/>
          </a:xfrm>
        </p:spPr>
        <p:txBody>
          <a:bodyPr vert="horz" wrap="square" lIns="91440" tIns="45720" rIns="91440" bIns="45720" anchor="t" anchorCtr="0"/>
          <a:p>
            <a:pPr eaLnBrk="1" hangingPunct="1">
              <a:buNone/>
            </a:pPr>
            <a:r>
              <a:rPr lang="zh-CN" altLang="en-US" b="1" dirty="0">
                <a:solidFill>
                  <a:schemeClr val="tx2"/>
                </a:solidFill>
                <a:latin typeface="黑体" panose="02010609060101010101" pitchFamily="49" charset="-122"/>
                <a:ea typeface="黑体" panose="02010609060101010101" pitchFamily="49" charset="-122"/>
              </a:rPr>
              <a:t> </a:t>
            </a:r>
            <a:r>
              <a:rPr lang="en-US" altLang="zh-CN" b="1" dirty="0">
                <a:solidFill>
                  <a:schemeClr val="tx2"/>
                </a:solidFill>
                <a:latin typeface="黑体" panose="02010609060101010101" pitchFamily="49" charset="-122"/>
                <a:ea typeface="黑体" panose="02010609060101010101" pitchFamily="49" charset="-122"/>
              </a:rPr>
              <a:t>3</a:t>
            </a:r>
            <a:r>
              <a:rPr lang="zh-CN" altLang="en-US" b="1" dirty="0">
                <a:solidFill>
                  <a:schemeClr val="tx2"/>
                </a:solidFill>
                <a:latin typeface="黑体" panose="02010609060101010101" pitchFamily="49" charset="-122"/>
                <a:ea typeface="黑体" panose="02010609060101010101" pitchFamily="49" charset="-122"/>
              </a:rPr>
              <a:t>、位逻辑运算指令</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4</a:t>
            </a:r>
            <a:r>
              <a:rPr lang="zh-CN" altLang="en-US" b="1" dirty="0">
                <a:latin typeface="黑体" panose="02010609060101010101" pitchFamily="49" charset="-122"/>
                <a:ea typeface="黑体" panose="02010609060101010101" pitchFamily="49" charset="-122"/>
              </a:rPr>
              <a:t>条）</a:t>
            </a:r>
            <a:endParaRPr lang="zh-CN" altLang="en-US" b="1" dirty="0">
              <a:latin typeface="黑体" panose="02010609060101010101" pitchFamily="49" charset="-122"/>
              <a:ea typeface="黑体" panose="02010609060101010101" pitchFamily="49" charset="-122"/>
            </a:endParaRPr>
          </a:p>
          <a:p>
            <a:pPr eaLnBrk="1" hangingPunct="1">
              <a:buNone/>
            </a:pPr>
            <a:r>
              <a:rPr lang="zh-CN" altLang="en-US" sz="2400" b="1" dirty="0"/>
              <a:t>        </a:t>
            </a:r>
            <a:r>
              <a:rPr lang="zh-CN" altLang="en-US" sz="2400" b="1" dirty="0">
                <a:solidFill>
                  <a:srgbClr val="FF3300"/>
                </a:solidFill>
              </a:rPr>
              <a:t>（</a:t>
            </a:r>
            <a:r>
              <a:rPr lang="en-US" altLang="zh-CN" sz="2400" b="1" dirty="0">
                <a:solidFill>
                  <a:srgbClr val="FF3300"/>
                </a:solidFill>
              </a:rPr>
              <a:t>1</a:t>
            </a:r>
            <a:r>
              <a:rPr lang="zh-CN" altLang="en-US" sz="2400" b="1" dirty="0">
                <a:solidFill>
                  <a:srgbClr val="FF3300"/>
                </a:solidFill>
              </a:rPr>
              <a:t>） 位逻辑与运算指令</a:t>
            </a:r>
            <a:endParaRPr lang="zh-CN" altLang="en-US" sz="2400" b="1" dirty="0">
              <a:solidFill>
                <a:srgbClr val="FF3300"/>
              </a:solidFill>
            </a:endParaRPr>
          </a:p>
          <a:p>
            <a:pPr eaLnBrk="1" hangingPunct="1">
              <a:buNone/>
            </a:pPr>
            <a:r>
              <a:rPr lang="zh-CN" altLang="en-US" sz="2400" b="1" dirty="0"/>
              <a:t>		</a:t>
            </a:r>
            <a:r>
              <a:rPr lang="en-US" altLang="zh-CN" sz="2400" b="1" dirty="0"/>
              <a:t>ANL    C</a:t>
            </a:r>
            <a:r>
              <a:rPr lang="zh-CN" altLang="en-US" sz="2400" b="1" dirty="0"/>
              <a:t>，</a:t>
            </a:r>
            <a:r>
              <a:rPr lang="en-US" altLang="zh-CN" sz="2400" b="1" dirty="0"/>
              <a:t>bit          </a:t>
            </a:r>
            <a:r>
              <a:rPr lang="en-US" altLang="zh-CN" sz="2400" dirty="0"/>
              <a:t>        ; </a:t>
            </a:r>
            <a:r>
              <a:rPr lang="en-US" altLang="zh-CN" sz="2400" dirty="0">
                <a:sym typeface="Symbol" pitchFamily="18" charset="2"/>
              </a:rPr>
              <a:t>(</a:t>
            </a:r>
            <a:r>
              <a:rPr lang="en-US" altLang="zh-CN" sz="2400" dirty="0">
                <a:sym typeface="Wingdings" panose="05000000000000000000" pitchFamily="2" charset="2"/>
              </a:rPr>
              <a:t>C)</a:t>
            </a:r>
            <a:r>
              <a:rPr lang="en-US" altLang="zh-CN" sz="2400" dirty="0"/>
              <a:t> ∧</a:t>
            </a:r>
            <a:r>
              <a:rPr lang="en-US" altLang="zh-CN" sz="2400" dirty="0">
                <a:sym typeface="Wingdings" panose="05000000000000000000" pitchFamily="2" charset="2"/>
              </a:rPr>
              <a:t>(</a:t>
            </a:r>
            <a:r>
              <a:rPr lang="en-US" altLang="zh-CN" sz="2400" dirty="0"/>
              <a:t>bit)</a:t>
            </a:r>
            <a:r>
              <a:rPr lang="en-US" altLang="zh-CN" sz="2400" dirty="0">
                <a:sym typeface="Symbol" pitchFamily="18" charset="2"/>
              </a:rPr>
              <a:t></a:t>
            </a:r>
            <a:r>
              <a:rPr lang="en-US" altLang="zh-CN" sz="2400" dirty="0">
                <a:sym typeface="Wingdings" panose="05000000000000000000" pitchFamily="2" charset="2"/>
              </a:rPr>
              <a:t>C</a:t>
            </a:r>
            <a:r>
              <a:rPr lang="en-US" altLang="zh-CN" sz="2400" b="1" dirty="0"/>
              <a:t>		</a:t>
            </a:r>
            <a:endParaRPr lang="en-US" altLang="zh-CN" sz="2400" b="1" dirty="0"/>
          </a:p>
        </p:txBody>
      </p:sp>
      <p:sp>
        <p:nvSpPr>
          <p:cNvPr id="154626" name="Rectangle 4"/>
          <p:cNvSpPr/>
          <p:nvPr/>
        </p:nvSpPr>
        <p:spPr>
          <a:xfrm>
            <a:off x="609600" y="3886200"/>
            <a:ext cx="7772400" cy="457200"/>
          </a:xfrm>
          <a:prstGeom prst="rect">
            <a:avLst/>
          </a:prstGeom>
          <a:noFill/>
          <a:ln w="9525">
            <a:noFill/>
          </a:ln>
        </p:spPr>
        <p:txBody>
          <a:bodyPr anchor="t" anchorCtr="0"/>
          <a:p>
            <a:pPr marL="342900" indent="-342900">
              <a:spcBef>
                <a:spcPct val="20000"/>
              </a:spcBef>
              <a:buClr>
                <a:schemeClr val="accent2"/>
              </a:buClr>
              <a:buSzPct val="80000"/>
            </a:pPr>
            <a:r>
              <a:rPr lang="zh-CN" altLang="en-US" dirty="0">
                <a:solidFill>
                  <a:schemeClr val="folHlink"/>
                </a:solidFill>
                <a:latin typeface="Times New Roman" panose="02020503050405090304" pitchFamily="18" charset="0"/>
                <a:ea typeface="黑体" panose="02010609060101010101" pitchFamily="49" charset="-122"/>
              </a:rPr>
              <a:t>		</a:t>
            </a:r>
            <a:r>
              <a:rPr lang="en-US" altLang="zh-CN" dirty="0">
                <a:solidFill>
                  <a:schemeClr val="folHlink"/>
                </a:solidFill>
                <a:latin typeface="Times New Roman" panose="02020503050405090304" pitchFamily="18" charset="0"/>
                <a:ea typeface="黑体" panose="02010609060101010101" pitchFamily="49" charset="-122"/>
              </a:rPr>
              <a:t>ANL    C</a:t>
            </a:r>
            <a:r>
              <a:rPr lang="zh-CN" altLang="en-US" dirty="0">
                <a:solidFill>
                  <a:schemeClr val="folHlink"/>
                </a:solidFill>
                <a:latin typeface="Times New Roman" panose="02020503050405090304" pitchFamily="18" charset="0"/>
                <a:ea typeface="黑体" panose="02010609060101010101" pitchFamily="49" charset="-122"/>
              </a:rPr>
              <a:t>，</a:t>
            </a:r>
            <a:r>
              <a:rPr lang="en-US" altLang="zh-CN" dirty="0">
                <a:solidFill>
                  <a:schemeClr val="folHlink"/>
                </a:solidFill>
                <a:latin typeface="Times New Roman" panose="02020503050405090304" pitchFamily="18" charset="0"/>
                <a:ea typeface="黑体" panose="02010609060101010101" pitchFamily="49" charset="-122"/>
              </a:rPr>
              <a:t>/bit          </a:t>
            </a:r>
            <a:r>
              <a:rPr lang="en-US" altLang="zh-CN" b="0" dirty="0">
                <a:solidFill>
                  <a:schemeClr val="folHlink"/>
                </a:solidFill>
                <a:latin typeface="Times New Roman" panose="02020503050405090304" pitchFamily="18" charset="0"/>
                <a:ea typeface="黑体" panose="02010609060101010101" pitchFamily="49" charset="-122"/>
              </a:rPr>
              <a:t>        ; </a:t>
            </a:r>
            <a:r>
              <a:rPr lang="zh-CN" altLang="en-US" b="0" dirty="0">
                <a:solidFill>
                  <a:schemeClr val="folHlink"/>
                </a:solidFill>
                <a:latin typeface="Times New Roman" panose="02020503050405090304" pitchFamily="18" charset="0"/>
                <a:ea typeface="黑体" panose="02010609060101010101" pitchFamily="49" charset="-122"/>
              </a:rPr>
              <a:t>（</a:t>
            </a:r>
            <a:r>
              <a:rPr lang="en-US" altLang="zh-CN" b="0" dirty="0">
                <a:solidFill>
                  <a:schemeClr val="folHlink"/>
                </a:solidFill>
                <a:latin typeface="Times New Roman" panose="02020503050405090304" pitchFamily="18" charset="0"/>
                <a:ea typeface="黑体" panose="02010609060101010101" pitchFamily="49" charset="-122"/>
              </a:rPr>
              <a:t>C</a:t>
            </a:r>
            <a:r>
              <a:rPr lang="zh-CN" altLang="en-US" b="0" dirty="0">
                <a:solidFill>
                  <a:schemeClr val="folHlink"/>
                </a:solidFill>
                <a:latin typeface="Times New Roman" panose="02020503050405090304" pitchFamily="18" charset="0"/>
                <a:ea typeface="黑体" panose="02010609060101010101" pitchFamily="49" charset="-122"/>
              </a:rPr>
              <a:t>）</a:t>
            </a:r>
            <a:r>
              <a:rPr lang="zh-CN" altLang="en-US" b="0" dirty="0">
                <a:solidFill>
                  <a:schemeClr val="folHlink"/>
                </a:solidFill>
                <a:latin typeface="Times New Roman" panose="02020503050405090304" pitchFamily="18" charset="0"/>
                <a:ea typeface="宋体" pitchFamily="2" charset="-122"/>
              </a:rPr>
              <a:t>∧</a:t>
            </a:r>
            <a:r>
              <a:rPr lang="zh-CN" altLang="en-US" b="0" dirty="0">
                <a:solidFill>
                  <a:schemeClr val="folHlink"/>
                </a:solidFill>
                <a:latin typeface="Times New Roman" panose="02020503050405090304" pitchFamily="18" charset="0"/>
                <a:ea typeface="黑体" panose="02010609060101010101" pitchFamily="49" charset="-122"/>
                <a:sym typeface="Wingdings" panose="05000000000000000000" pitchFamily="2" charset="2"/>
              </a:rPr>
              <a:t>（ </a:t>
            </a:r>
            <a:r>
              <a:rPr lang="en-US" altLang="zh-CN" b="0" dirty="0">
                <a:solidFill>
                  <a:schemeClr val="folHlink"/>
                </a:solidFill>
                <a:latin typeface="Times New Roman" panose="02020503050405090304" pitchFamily="18" charset="0"/>
                <a:ea typeface="宋体" pitchFamily="2" charset="-122"/>
              </a:rPr>
              <a:t>/</a:t>
            </a:r>
            <a:r>
              <a:rPr lang="en-US" altLang="zh-CN" b="0" dirty="0">
                <a:solidFill>
                  <a:schemeClr val="folHlink"/>
                </a:solidFill>
                <a:latin typeface="Times New Roman" panose="02020503050405090304" pitchFamily="18" charset="0"/>
                <a:ea typeface="黑体" panose="02010609060101010101" pitchFamily="49" charset="-122"/>
                <a:sym typeface="Wingdings" panose="05000000000000000000" pitchFamily="2" charset="2"/>
              </a:rPr>
              <a:t> </a:t>
            </a:r>
            <a:r>
              <a:rPr lang="en-US" altLang="zh-CN" b="0" dirty="0">
                <a:solidFill>
                  <a:schemeClr val="folHlink"/>
                </a:solidFill>
                <a:latin typeface="Times New Roman" panose="02020503050405090304" pitchFamily="18" charset="0"/>
                <a:ea typeface="黑体" panose="02010609060101010101" pitchFamily="49" charset="-122"/>
              </a:rPr>
              <a:t>bit</a:t>
            </a:r>
            <a:r>
              <a:rPr lang="zh-CN" altLang="en-US" b="0" dirty="0">
                <a:solidFill>
                  <a:schemeClr val="folHlink"/>
                </a:solidFill>
                <a:latin typeface="Times New Roman" panose="02020503050405090304" pitchFamily="18" charset="0"/>
                <a:ea typeface="黑体" panose="02010609060101010101" pitchFamily="49" charset="-122"/>
              </a:rPr>
              <a:t>） </a:t>
            </a:r>
            <a:r>
              <a:rPr lang="zh-CN" altLang="en-US" b="0" dirty="0">
                <a:solidFill>
                  <a:schemeClr val="folHlink"/>
                </a:solidFill>
                <a:latin typeface="Times New Roman" panose="02020503050405090304" pitchFamily="18" charset="0"/>
                <a:ea typeface="黑体" panose="02010609060101010101" pitchFamily="49" charset="-122"/>
                <a:sym typeface="Symbol" pitchFamily="18" charset="2"/>
              </a:rPr>
              <a:t></a:t>
            </a:r>
            <a:r>
              <a:rPr lang="zh-CN" altLang="en-US" b="0" dirty="0">
                <a:solidFill>
                  <a:schemeClr val="folHlink"/>
                </a:solidFill>
                <a:latin typeface="Times New Roman" panose="02020503050405090304" pitchFamily="18" charset="0"/>
                <a:ea typeface="黑体" panose="02010609060101010101" pitchFamily="49" charset="-122"/>
                <a:sym typeface="Wingdings" panose="05000000000000000000" pitchFamily="2" charset="2"/>
              </a:rPr>
              <a:t> </a:t>
            </a:r>
            <a:r>
              <a:rPr lang="en-US" altLang="zh-CN" b="0" dirty="0">
                <a:solidFill>
                  <a:schemeClr val="folHlink"/>
                </a:solidFill>
                <a:latin typeface="Times New Roman" panose="02020503050405090304" pitchFamily="18" charset="0"/>
                <a:ea typeface="黑体" panose="02010609060101010101" pitchFamily="49" charset="-122"/>
                <a:sym typeface="Wingdings" panose="05000000000000000000" pitchFamily="2" charset="2"/>
              </a:rPr>
              <a:t>C</a:t>
            </a:r>
            <a:r>
              <a:rPr lang="en-US" altLang="zh-CN" dirty="0">
                <a:solidFill>
                  <a:schemeClr val="folHlink"/>
                </a:solidFill>
                <a:latin typeface="Times New Roman" panose="02020503050405090304" pitchFamily="18" charset="0"/>
                <a:ea typeface="黑体" panose="02010609060101010101" pitchFamily="49" charset="-122"/>
              </a:rPr>
              <a:t>	</a:t>
            </a:r>
            <a:endParaRPr lang="en-US" altLang="zh-CN" dirty="0">
              <a:solidFill>
                <a:schemeClr val="folHlink"/>
              </a:solidFill>
              <a:latin typeface="Times New Roman" panose="02020503050405090304" pitchFamily="18" charset="0"/>
              <a:ea typeface="黑体" panose="02010609060101010101" pitchFamily="49" charset="-122"/>
            </a:endParaRPr>
          </a:p>
        </p:txBody>
      </p:sp>
      <p:grpSp>
        <p:nvGrpSpPr>
          <p:cNvPr id="154627" name="Group 5"/>
          <p:cNvGrpSpPr/>
          <p:nvPr/>
        </p:nvGrpSpPr>
        <p:grpSpPr>
          <a:xfrm>
            <a:off x="2689225" y="2743200"/>
            <a:ext cx="2938463" cy="777875"/>
            <a:chOff x="1742" y="1728"/>
            <a:chExt cx="1851" cy="490"/>
          </a:xfrm>
        </p:grpSpPr>
        <p:sp>
          <p:nvSpPr>
            <p:cNvPr id="154628" name="Rectangle 6"/>
            <p:cNvSpPr/>
            <p:nvPr/>
          </p:nvSpPr>
          <p:spPr>
            <a:xfrm>
              <a:off x="2592" y="1824"/>
              <a:ext cx="192" cy="336"/>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zh-CN" altLang="en-US" sz="2000" b="0" dirty="0">
                  <a:latin typeface="Times New Roman" panose="02020503050405090304" pitchFamily="18" charset="0"/>
                  <a:ea typeface="宋体" pitchFamily="2" charset="-122"/>
                  <a:sym typeface="Symbol" pitchFamily="18" charset="2"/>
                </a:rPr>
                <a:t></a:t>
              </a:r>
              <a:endParaRPr lang="zh-CN" altLang="en-US" sz="2000" b="0" dirty="0">
                <a:latin typeface="Times New Roman" panose="02020503050405090304" pitchFamily="18" charset="0"/>
                <a:ea typeface="宋体" pitchFamily="2" charset="-122"/>
              </a:endParaRPr>
            </a:p>
          </p:txBody>
        </p:sp>
        <p:sp>
          <p:nvSpPr>
            <p:cNvPr id="154629" name="Line 7"/>
            <p:cNvSpPr/>
            <p:nvPr/>
          </p:nvSpPr>
          <p:spPr>
            <a:xfrm>
              <a:off x="2112" y="1872"/>
              <a:ext cx="480" cy="0"/>
            </a:xfrm>
            <a:prstGeom prst="line">
              <a:avLst/>
            </a:prstGeom>
            <a:ln w="9525" cap="flat" cmpd="sng">
              <a:solidFill>
                <a:schemeClr val="tx1"/>
              </a:solidFill>
              <a:prstDash val="solid"/>
              <a:round/>
              <a:headEnd type="none" w="med" len="med"/>
              <a:tailEnd type="none" w="med" len="med"/>
            </a:ln>
          </p:spPr>
        </p:sp>
        <p:sp>
          <p:nvSpPr>
            <p:cNvPr id="154630" name="Line 8"/>
            <p:cNvSpPr/>
            <p:nvPr/>
          </p:nvSpPr>
          <p:spPr>
            <a:xfrm>
              <a:off x="2112" y="2112"/>
              <a:ext cx="480" cy="0"/>
            </a:xfrm>
            <a:prstGeom prst="line">
              <a:avLst/>
            </a:prstGeom>
            <a:ln w="9525" cap="flat" cmpd="sng">
              <a:solidFill>
                <a:schemeClr val="tx1"/>
              </a:solidFill>
              <a:prstDash val="solid"/>
              <a:round/>
              <a:headEnd type="none" w="med" len="med"/>
              <a:tailEnd type="none" w="med" len="med"/>
            </a:ln>
          </p:spPr>
        </p:sp>
        <p:sp>
          <p:nvSpPr>
            <p:cNvPr id="154631" name="Line 9"/>
            <p:cNvSpPr/>
            <p:nvPr/>
          </p:nvSpPr>
          <p:spPr>
            <a:xfrm>
              <a:off x="2784" y="1968"/>
              <a:ext cx="480" cy="0"/>
            </a:xfrm>
            <a:prstGeom prst="line">
              <a:avLst/>
            </a:prstGeom>
            <a:ln w="9525" cap="flat" cmpd="sng">
              <a:solidFill>
                <a:schemeClr val="tx1"/>
              </a:solidFill>
              <a:prstDash val="solid"/>
              <a:round/>
              <a:headEnd type="none" w="med" len="med"/>
              <a:tailEnd type="none" w="med" len="med"/>
            </a:ln>
          </p:spPr>
        </p:sp>
        <p:sp>
          <p:nvSpPr>
            <p:cNvPr id="154632" name="Rectangle 10"/>
            <p:cNvSpPr/>
            <p:nvPr/>
          </p:nvSpPr>
          <p:spPr>
            <a:xfrm>
              <a:off x="1783" y="1728"/>
              <a:ext cx="329" cy="250"/>
            </a:xfrm>
            <a:prstGeom prst="rect">
              <a:avLst/>
            </a:prstGeom>
            <a:noFill/>
            <a:ln w="9525">
              <a:noFill/>
            </a:ln>
          </p:spPr>
          <p:txBody>
            <a:bodyPr anchor="t" anchorCtr="0">
              <a:spAutoFit/>
            </a:bodyPr>
            <a:p>
              <a:pPr algn="ctr">
                <a:buClrTx/>
                <a:buFontTx/>
              </a:pPr>
              <a:r>
                <a:rPr lang="en-US" altLang="zh-CN" sz="2000" b="0" dirty="0">
                  <a:latin typeface="Times New Roman" panose="02020503050405090304" pitchFamily="18" charset="0"/>
                  <a:ea typeface="黑体" panose="02010609060101010101" pitchFamily="49" charset="-122"/>
                  <a:sym typeface="Symbol" pitchFamily="18" charset="2"/>
                </a:rPr>
                <a:t>(</a:t>
              </a:r>
              <a:r>
                <a:rPr lang="en-US" altLang="zh-CN" sz="2000" b="0" dirty="0">
                  <a:latin typeface="Times New Roman" panose="02020503050405090304" pitchFamily="18" charset="0"/>
                  <a:ea typeface="黑体" panose="02010609060101010101" pitchFamily="49" charset="-122"/>
                  <a:sym typeface="Wingdings" panose="05000000000000000000" pitchFamily="2" charset="2"/>
                </a:rPr>
                <a:t>C)</a:t>
              </a:r>
              <a:endParaRPr lang="en-US" altLang="zh-CN" sz="2000" b="0" dirty="0">
                <a:latin typeface="Times New Roman" panose="02020503050405090304" pitchFamily="18" charset="0"/>
                <a:ea typeface="黑体" panose="02010609060101010101" pitchFamily="49" charset="-122"/>
                <a:sym typeface="Wingdings" panose="05000000000000000000" pitchFamily="2" charset="2"/>
              </a:endParaRPr>
            </a:p>
          </p:txBody>
        </p:sp>
        <p:sp>
          <p:nvSpPr>
            <p:cNvPr id="154633" name="Rectangle 11"/>
            <p:cNvSpPr/>
            <p:nvPr/>
          </p:nvSpPr>
          <p:spPr>
            <a:xfrm>
              <a:off x="1742" y="1968"/>
              <a:ext cx="390" cy="250"/>
            </a:xfrm>
            <a:prstGeom prst="rect">
              <a:avLst/>
            </a:prstGeom>
            <a:noFill/>
            <a:ln w="9525">
              <a:noFill/>
            </a:ln>
          </p:spPr>
          <p:txBody>
            <a:bodyPr wrap="none" anchor="t" anchorCtr="0">
              <a:spAutoFit/>
            </a:bodyPr>
            <a:p>
              <a:pPr algn="ctr">
                <a:buClrTx/>
                <a:buFontTx/>
              </a:pPr>
              <a:r>
                <a:rPr lang="en-US" altLang="zh-CN" sz="2000" b="0" dirty="0">
                  <a:latin typeface="Times New Roman" panose="02020503050405090304" pitchFamily="18" charset="0"/>
                  <a:ea typeface="黑体" panose="02010609060101010101" pitchFamily="49" charset="-122"/>
                  <a:sym typeface="Wingdings" panose="05000000000000000000" pitchFamily="2" charset="2"/>
                </a:rPr>
                <a:t>(</a:t>
              </a:r>
              <a:r>
                <a:rPr lang="en-US" altLang="zh-CN" sz="2000" b="0" dirty="0">
                  <a:latin typeface="Times New Roman" panose="02020503050405090304" pitchFamily="18" charset="0"/>
                  <a:ea typeface="黑体" panose="02010609060101010101" pitchFamily="49" charset="-122"/>
                </a:rPr>
                <a:t>bit)</a:t>
              </a:r>
              <a:endParaRPr lang="en-US" altLang="zh-CN" sz="2000" b="0" dirty="0">
                <a:latin typeface="Times New Roman" panose="02020503050405090304" pitchFamily="18" charset="0"/>
                <a:ea typeface="黑体" panose="02010609060101010101" pitchFamily="49" charset="-122"/>
              </a:endParaRPr>
            </a:p>
          </p:txBody>
        </p:sp>
        <p:sp>
          <p:nvSpPr>
            <p:cNvPr id="154634" name="Rectangle 12"/>
            <p:cNvSpPr/>
            <p:nvPr/>
          </p:nvSpPr>
          <p:spPr>
            <a:xfrm>
              <a:off x="3264" y="1843"/>
              <a:ext cx="329" cy="250"/>
            </a:xfrm>
            <a:prstGeom prst="rect">
              <a:avLst/>
            </a:prstGeom>
            <a:noFill/>
            <a:ln w="9525">
              <a:noFill/>
            </a:ln>
          </p:spPr>
          <p:txBody>
            <a:bodyPr anchor="t" anchorCtr="0">
              <a:spAutoFit/>
            </a:bodyPr>
            <a:p>
              <a:pPr algn="ctr">
                <a:buClrTx/>
                <a:buFontTx/>
              </a:pPr>
              <a:r>
                <a:rPr lang="en-US" altLang="zh-CN" sz="2000" b="0" dirty="0">
                  <a:latin typeface="Times New Roman" panose="02020503050405090304" pitchFamily="18" charset="0"/>
                  <a:ea typeface="黑体" panose="02010609060101010101" pitchFamily="49" charset="-122"/>
                  <a:sym typeface="Symbol" pitchFamily="18" charset="2"/>
                </a:rPr>
                <a:t>(</a:t>
              </a:r>
              <a:r>
                <a:rPr lang="en-US" altLang="zh-CN" sz="2000" b="0" dirty="0">
                  <a:latin typeface="Times New Roman" panose="02020503050405090304" pitchFamily="18" charset="0"/>
                  <a:ea typeface="黑体" panose="02010609060101010101" pitchFamily="49" charset="-122"/>
                  <a:sym typeface="Wingdings" panose="05000000000000000000" pitchFamily="2" charset="2"/>
                </a:rPr>
                <a:t>C)</a:t>
              </a:r>
              <a:endParaRPr lang="en-US" altLang="zh-CN" sz="2000" b="0" dirty="0">
                <a:latin typeface="Times New Roman" panose="02020503050405090304" pitchFamily="18" charset="0"/>
                <a:ea typeface="黑体" panose="02010609060101010101" pitchFamily="49" charset="-122"/>
                <a:sym typeface="Wingdings" panose="05000000000000000000" pitchFamily="2" charset="2"/>
              </a:endParaRPr>
            </a:p>
          </p:txBody>
        </p:sp>
      </p:grpSp>
      <p:grpSp>
        <p:nvGrpSpPr>
          <p:cNvPr id="154635" name="Group 13"/>
          <p:cNvGrpSpPr/>
          <p:nvPr/>
        </p:nvGrpSpPr>
        <p:grpSpPr>
          <a:xfrm>
            <a:off x="2265363" y="4556125"/>
            <a:ext cx="3394075" cy="930275"/>
            <a:chOff x="1475" y="2870"/>
            <a:chExt cx="2138" cy="586"/>
          </a:xfrm>
        </p:grpSpPr>
        <p:sp>
          <p:nvSpPr>
            <p:cNvPr id="154636" name="Rectangle 14"/>
            <p:cNvSpPr/>
            <p:nvPr/>
          </p:nvSpPr>
          <p:spPr>
            <a:xfrm>
              <a:off x="2612" y="2976"/>
              <a:ext cx="192" cy="336"/>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zh-CN" altLang="en-US" sz="2000" b="0" dirty="0">
                  <a:latin typeface="Times New Roman" panose="02020503050405090304" pitchFamily="18" charset="0"/>
                  <a:ea typeface="宋体" pitchFamily="2" charset="-122"/>
                  <a:sym typeface="Symbol" pitchFamily="18" charset="2"/>
                </a:rPr>
                <a:t></a:t>
              </a:r>
              <a:endParaRPr lang="zh-CN" altLang="en-US" sz="2000" b="0" dirty="0">
                <a:latin typeface="Times New Roman" panose="02020503050405090304" pitchFamily="18" charset="0"/>
                <a:ea typeface="宋体" pitchFamily="2" charset="-122"/>
              </a:endParaRPr>
            </a:p>
          </p:txBody>
        </p:sp>
        <p:sp>
          <p:nvSpPr>
            <p:cNvPr id="154637" name="Line 15"/>
            <p:cNvSpPr/>
            <p:nvPr/>
          </p:nvSpPr>
          <p:spPr>
            <a:xfrm>
              <a:off x="1892" y="3024"/>
              <a:ext cx="720" cy="0"/>
            </a:xfrm>
            <a:prstGeom prst="line">
              <a:avLst/>
            </a:prstGeom>
            <a:ln w="9525" cap="flat" cmpd="sng">
              <a:solidFill>
                <a:schemeClr val="tx1"/>
              </a:solidFill>
              <a:prstDash val="solid"/>
              <a:round/>
              <a:headEnd type="none" w="med" len="med"/>
              <a:tailEnd type="none" w="med" len="med"/>
            </a:ln>
          </p:spPr>
        </p:sp>
        <p:sp>
          <p:nvSpPr>
            <p:cNvPr id="154638" name="Line 16"/>
            <p:cNvSpPr/>
            <p:nvPr/>
          </p:nvSpPr>
          <p:spPr>
            <a:xfrm>
              <a:off x="1892" y="3245"/>
              <a:ext cx="240" cy="0"/>
            </a:xfrm>
            <a:prstGeom prst="line">
              <a:avLst/>
            </a:prstGeom>
            <a:ln w="9525" cap="flat" cmpd="sng">
              <a:solidFill>
                <a:schemeClr val="tx1"/>
              </a:solidFill>
              <a:prstDash val="solid"/>
              <a:round/>
              <a:headEnd type="none" w="med" len="med"/>
              <a:tailEnd type="none" w="med" len="med"/>
            </a:ln>
          </p:spPr>
        </p:sp>
        <p:sp>
          <p:nvSpPr>
            <p:cNvPr id="154639" name="Line 17"/>
            <p:cNvSpPr/>
            <p:nvPr/>
          </p:nvSpPr>
          <p:spPr>
            <a:xfrm>
              <a:off x="2804" y="3120"/>
              <a:ext cx="480" cy="0"/>
            </a:xfrm>
            <a:prstGeom prst="line">
              <a:avLst/>
            </a:prstGeom>
            <a:ln w="9525" cap="flat" cmpd="sng">
              <a:solidFill>
                <a:schemeClr val="tx1"/>
              </a:solidFill>
              <a:prstDash val="solid"/>
              <a:round/>
              <a:headEnd type="none" w="med" len="med"/>
              <a:tailEnd type="none" w="med" len="med"/>
            </a:ln>
          </p:spPr>
        </p:sp>
        <p:sp>
          <p:nvSpPr>
            <p:cNvPr id="154640" name="Rectangle 18"/>
            <p:cNvSpPr/>
            <p:nvPr/>
          </p:nvSpPr>
          <p:spPr>
            <a:xfrm>
              <a:off x="1536" y="2870"/>
              <a:ext cx="329" cy="250"/>
            </a:xfrm>
            <a:prstGeom prst="rect">
              <a:avLst/>
            </a:prstGeom>
            <a:noFill/>
            <a:ln w="9525">
              <a:noFill/>
            </a:ln>
          </p:spPr>
          <p:txBody>
            <a:bodyPr anchor="t" anchorCtr="0">
              <a:spAutoFit/>
            </a:bodyPr>
            <a:p>
              <a:pPr algn="ctr">
                <a:buClrTx/>
                <a:buFontTx/>
              </a:pPr>
              <a:r>
                <a:rPr lang="en-US" altLang="zh-CN" sz="2000" b="0" dirty="0">
                  <a:latin typeface="Times New Roman" panose="02020503050405090304" pitchFamily="18" charset="0"/>
                  <a:ea typeface="黑体" panose="02010609060101010101" pitchFamily="49" charset="-122"/>
                  <a:sym typeface="Symbol" pitchFamily="18" charset="2"/>
                </a:rPr>
                <a:t>(</a:t>
              </a:r>
              <a:r>
                <a:rPr lang="en-US" altLang="zh-CN" sz="2000" b="0" dirty="0">
                  <a:latin typeface="Times New Roman" panose="02020503050405090304" pitchFamily="18" charset="0"/>
                  <a:ea typeface="黑体" panose="02010609060101010101" pitchFamily="49" charset="-122"/>
                  <a:sym typeface="Wingdings" panose="05000000000000000000" pitchFamily="2" charset="2"/>
                </a:rPr>
                <a:t>C)</a:t>
              </a:r>
              <a:endParaRPr lang="en-US" altLang="zh-CN" sz="2000" b="0" dirty="0">
                <a:latin typeface="Times New Roman" panose="02020503050405090304" pitchFamily="18" charset="0"/>
                <a:ea typeface="黑体" panose="02010609060101010101" pitchFamily="49" charset="-122"/>
                <a:sym typeface="Wingdings" panose="05000000000000000000" pitchFamily="2" charset="2"/>
              </a:endParaRPr>
            </a:p>
          </p:txBody>
        </p:sp>
        <p:sp>
          <p:nvSpPr>
            <p:cNvPr id="154641" name="Rectangle 19"/>
            <p:cNvSpPr/>
            <p:nvPr/>
          </p:nvSpPr>
          <p:spPr>
            <a:xfrm>
              <a:off x="1475" y="3120"/>
              <a:ext cx="390" cy="250"/>
            </a:xfrm>
            <a:prstGeom prst="rect">
              <a:avLst/>
            </a:prstGeom>
            <a:noFill/>
            <a:ln w="9525">
              <a:noFill/>
            </a:ln>
          </p:spPr>
          <p:txBody>
            <a:bodyPr wrap="none" anchor="t" anchorCtr="0">
              <a:spAutoFit/>
            </a:bodyPr>
            <a:p>
              <a:pPr algn="ctr">
                <a:buClrTx/>
                <a:buFontTx/>
              </a:pPr>
              <a:r>
                <a:rPr lang="en-US" altLang="zh-CN" sz="2000" b="0" dirty="0">
                  <a:latin typeface="Times New Roman" panose="02020503050405090304" pitchFamily="18" charset="0"/>
                  <a:ea typeface="黑体" panose="02010609060101010101" pitchFamily="49" charset="-122"/>
                  <a:sym typeface="Wingdings" panose="05000000000000000000" pitchFamily="2" charset="2"/>
                </a:rPr>
                <a:t>(</a:t>
              </a:r>
              <a:r>
                <a:rPr lang="en-US" altLang="zh-CN" sz="2000" b="0" dirty="0">
                  <a:latin typeface="Times New Roman" panose="02020503050405090304" pitchFamily="18" charset="0"/>
                  <a:ea typeface="黑体" panose="02010609060101010101" pitchFamily="49" charset="-122"/>
                </a:rPr>
                <a:t>bit)</a:t>
              </a:r>
              <a:endParaRPr lang="en-US" altLang="zh-CN" sz="2000" b="0" dirty="0">
                <a:latin typeface="Times New Roman" panose="02020503050405090304" pitchFamily="18" charset="0"/>
                <a:ea typeface="黑体" panose="02010609060101010101" pitchFamily="49" charset="-122"/>
              </a:endParaRPr>
            </a:p>
          </p:txBody>
        </p:sp>
        <p:sp>
          <p:nvSpPr>
            <p:cNvPr id="154642" name="Rectangle 20"/>
            <p:cNvSpPr/>
            <p:nvPr/>
          </p:nvSpPr>
          <p:spPr>
            <a:xfrm>
              <a:off x="3284" y="2995"/>
              <a:ext cx="329" cy="250"/>
            </a:xfrm>
            <a:prstGeom prst="rect">
              <a:avLst/>
            </a:prstGeom>
            <a:noFill/>
            <a:ln w="9525">
              <a:noFill/>
            </a:ln>
          </p:spPr>
          <p:txBody>
            <a:bodyPr anchor="t" anchorCtr="0">
              <a:spAutoFit/>
            </a:bodyPr>
            <a:p>
              <a:pPr algn="ctr">
                <a:buClrTx/>
                <a:buFontTx/>
              </a:pPr>
              <a:r>
                <a:rPr lang="en-US" altLang="zh-CN" sz="2000" b="0" dirty="0">
                  <a:latin typeface="Times New Roman" panose="02020503050405090304" pitchFamily="18" charset="0"/>
                  <a:ea typeface="黑体" panose="02010609060101010101" pitchFamily="49" charset="-122"/>
                  <a:sym typeface="Symbol" pitchFamily="18" charset="2"/>
                </a:rPr>
                <a:t>(</a:t>
              </a:r>
              <a:r>
                <a:rPr lang="en-US" altLang="zh-CN" sz="2000" b="0" dirty="0">
                  <a:latin typeface="Times New Roman" panose="02020503050405090304" pitchFamily="18" charset="0"/>
                  <a:ea typeface="黑体" panose="02010609060101010101" pitchFamily="49" charset="-122"/>
                  <a:sym typeface="Wingdings" panose="05000000000000000000" pitchFamily="2" charset="2"/>
                </a:rPr>
                <a:t>C)</a:t>
              </a:r>
              <a:endParaRPr lang="en-US" altLang="zh-CN" sz="2000" b="0" dirty="0">
                <a:latin typeface="Times New Roman" panose="02020503050405090304" pitchFamily="18" charset="0"/>
                <a:ea typeface="黑体" panose="02010609060101010101" pitchFamily="49" charset="-122"/>
                <a:sym typeface="Wingdings" panose="05000000000000000000" pitchFamily="2" charset="2"/>
              </a:endParaRPr>
            </a:p>
          </p:txBody>
        </p:sp>
        <p:grpSp>
          <p:nvGrpSpPr>
            <p:cNvPr id="154643" name="Group 21"/>
            <p:cNvGrpSpPr/>
            <p:nvPr/>
          </p:nvGrpSpPr>
          <p:grpSpPr>
            <a:xfrm>
              <a:off x="2132" y="3149"/>
              <a:ext cx="263" cy="192"/>
              <a:chOff x="2016" y="3456"/>
              <a:chExt cx="263" cy="192"/>
            </a:xfrm>
          </p:grpSpPr>
          <p:sp>
            <p:nvSpPr>
              <p:cNvPr id="154644" name="AutoShape 22"/>
              <p:cNvSpPr/>
              <p:nvPr/>
            </p:nvSpPr>
            <p:spPr>
              <a:xfrm rot="5400000">
                <a:off x="2015" y="3430"/>
                <a:ext cx="192" cy="217"/>
              </a:xfrm>
              <a:prstGeom prst="flowChartExtra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54645" name="AutoShape 23"/>
              <p:cNvSpPr/>
              <p:nvPr/>
            </p:nvSpPr>
            <p:spPr>
              <a:xfrm>
                <a:off x="2232" y="3528"/>
                <a:ext cx="47" cy="48"/>
              </a:xfrm>
              <a:prstGeom prst="flowChartConnector">
                <a:avLst/>
              </a:prstGeom>
              <a:noFill/>
              <a:ln w="952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grpSp>
        <p:sp>
          <p:nvSpPr>
            <p:cNvPr id="154646" name="Line 24"/>
            <p:cNvSpPr/>
            <p:nvPr/>
          </p:nvSpPr>
          <p:spPr>
            <a:xfrm>
              <a:off x="2395" y="3245"/>
              <a:ext cx="217" cy="0"/>
            </a:xfrm>
            <a:prstGeom prst="line">
              <a:avLst/>
            </a:prstGeom>
            <a:ln w="9525" cap="flat" cmpd="sng">
              <a:solidFill>
                <a:schemeClr val="tx1"/>
              </a:solidFill>
              <a:prstDash val="solid"/>
              <a:round/>
              <a:headEnd type="none" w="med" len="med"/>
              <a:tailEnd type="none" w="med" len="med"/>
            </a:ln>
          </p:spPr>
        </p:sp>
        <p:sp>
          <p:nvSpPr>
            <p:cNvPr id="154647" name="Rectangle 25"/>
            <p:cNvSpPr/>
            <p:nvPr/>
          </p:nvSpPr>
          <p:spPr>
            <a:xfrm>
              <a:off x="1968" y="2870"/>
              <a:ext cx="1200" cy="586"/>
            </a:xfrm>
            <a:prstGeom prst="rect">
              <a:avLst/>
            </a:prstGeom>
            <a:noFill/>
            <a:ln w="9525" cap="flat" cmpd="sng">
              <a:solidFill>
                <a:schemeClr val="accent1"/>
              </a:solidFill>
              <a:prstDash val="dash"/>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grpSp>
      <p:sp>
        <p:nvSpPr>
          <p:cNvPr id="87042" name="Rectangle 2"/>
          <p:cNvSpPr>
            <a:spLocks noChangeArrowheads="1"/>
          </p:cNvSpPr>
          <p:nvPr/>
        </p:nvSpPr>
        <p:spPr bwMode="auto">
          <a:xfrm>
            <a:off x="214313" y="214313"/>
            <a:ext cx="8763000" cy="609600"/>
          </a:xfrm>
          <a:prstGeom prst="rect">
            <a:avLst/>
          </a:prstGeom>
          <a:noFill/>
          <a:ln>
            <a:noFill/>
          </a:ln>
        </p:spPr>
        <p:txBody>
          <a:bodyPr anchor="ctr"/>
          <a:lstStyle>
            <a:lvl1pPr>
              <a:defRPr sz="3600">
                <a:solidFill>
                  <a:schemeClr val="tx2"/>
                </a:solidFill>
                <a:latin typeface="Times New Roman" panose="02020503050405090304" pitchFamily="18" charset="0"/>
                <a:ea typeface="宋体" pitchFamily="2" charset="-122"/>
              </a:defRPr>
            </a:lvl1pPr>
            <a:lvl2pPr>
              <a:defRPr sz="3600">
                <a:solidFill>
                  <a:schemeClr val="tx2"/>
                </a:solidFill>
                <a:latin typeface="Times New Roman" panose="02020503050405090304" pitchFamily="18" charset="0"/>
                <a:ea typeface="宋体" pitchFamily="2" charset="-122"/>
              </a:defRPr>
            </a:lvl2pPr>
            <a:lvl3pPr>
              <a:defRPr sz="3600">
                <a:solidFill>
                  <a:schemeClr val="tx2"/>
                </a:solidFill>
                <a:latin typeface="Times New Roman" panose="02020503050405090304" pitchFamily="18" charset="0"/>
                <a:ea typeface="宋体" pitchFamily="2" charset="-122"/>
              </a:defRPr>
            </a:lvl3pPr>
            <a:lvl4pPr>
              <a:defRPr sz="3600">
                <a:solidFill>
                  <a:schemeClr val="tx2"/>
                </a:solidFill>
                <a:latin typeface="Times New Roman" panose="02020503050405090304" pitchFamily="18" charset="0"/>
                <a:ea typeface="宋体" pitchFamily="2" charset="-122"/>
              </a:defRPr>
            </a:lvl4pPr>
            <a:lvl5pPr>
              <a:defRPr sz="3600">
                <a:solidFill>
                  <a:schemeClr val="tx2"/>
                </a:solidFill>
                <a:latin typeface="Times New Roman" panose="02020503050405090304" pitchFamily="18" charset="0"/>
                <a:ea typeface="宋体" pitchFamily="2" charset="-122"/>
              </a:defRPr>
            </a:lvl5pPr>
            <a:lvl6pPr marL="45720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fontAlgn="base">
              <a:spcBef>
                <a:spcPct val="0"/>
              </a:spcBef>
              <a:spcAft>
                <a:spcPct val="0"/>
              </a:spcAft>
              <a:defRPr sz="3600">
                <a:solidFill>
                  <a:schemeClr val="tx2"/>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第三章</a:t>
            </a:r>
            <a:r>
              <a:rPr kumimoji="0" lang="zh-CN" altLang="en-US" sz="28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zh-CN" altLang="en-US" sz="24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en-US" altLang="zh-CN"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MCS-51</a:t>
            </a: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指令系统</a:t>
            </a:r>
            <a:endParaRPr kumimoji="0" lang="zh-CN" altLang="en-US" sz="3600" b="0"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Times New Roman" panose="02020503050405090304" pitchFamily="18" charset="0"/>
              <a:ea typeface="宋体" pitchFamily="2" charset="-122"/>
              <a:cs typeface="+mn-cs"/>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49" name="Rectangle 3"/>
          <p:cNvSpPr>
            <a:spLocks noGrp="1"/>
          </p:cNvSpPr>
          <p:nvPr>
            <p:ph idx="1"/>
          </p:nvPr>
        </p:nvSpPr>
        <p:spPr>
          <a:xfrm>
            <a:off x="836613" y="1042988"/>
            <a:ext cx="7696200" cy="1028700"/>
          </a:xfrm>
        </p:spPr>
        <p:txBody>
          <a:bodyPr vert="horz" wrap="square" lIns="91440" tIns="45720" rIns="91440" bIns="45720" anchor="t" anchorCtr="0"/>
          <a:p>
            <a:pPr eaLnBrk="1" hangingPunct="1">
              <a:buNone/>
            </a:pPr>
            <a:r>
              <a:rPr lang="zh-CN" altLang="en-US" sz="2200" b="1" dirty="0"/>
              <a:t>        </a:t>
            </a:r>
            <a:r>
              <a:rPr lang="zh-CN" altLang="en-US" b="1" dirty="0">
                <a:solidFill>
                  <a:srgbClr val="FF3300"/>
                </a:solidFill>
              </a:rPr>
              <a:t>（</a:t>
            </a:r>
            <a:r>
              <a:rPr lang="en-US" altLang="zh-CN" b="1" dirty="0">
                <a:solidFill>
                  <a:srgbClr val="FF3300"/>
                </a:solidFill>
              </a:rPr>
              <a:t>2</a:t>
            </a:r>
            <a:r>
              <a:rPr lang="zh-CN" altLang="en-US" b="1" dirty="0">
                <a:solidFill>
                  <a:srgbClr val="FF3300"/>
                </a:solidFill>
              </a:rPr>
              <a:t>） 位逻辑或运算指令</a:t>
            </a:r>
            <a:endParaRPr lang="zh-CN" altLang="en-US" b="1" dirty="0">
              <a:solidFill>
                <a:srgbClr val="FF3300"/>
              </a:solidFill>
            </a:endParaRPr>
          </a:p>
          <a:p>
            <a:pPr eaLnBrk="1" hangingPunct="1">
              <a:buNone/>
            </a:pPr>
            <a:r>
              <a:rPr lang="zh-CN" altLang="en-US" b="1" dirty="0"/>
              <a:t>		</a:t>
            </a:r>
            <a:r>
              <a:rPr lang="en-US" altLang="zh-CN" b="1" dirty="0"/>
              <a:t>ORL    C</a:t>
            </a:r>
            <a:r>
              <a:rPr lang="zh-CN" altLang="en-US" b="1" dirty="0"/>
              <a:t>，</a:t>
            </a:r>
            <a:r>
              <a:rPr lang="en-US" altLang="zh-CN" b="1" dirty="0"/>
              <a:t>bit          </a:t>
            </a:r>
            <a:r>
              <a:rPr lang="en-US" altLang="zh-CN" dirty="0"/>
              <a:t>        ; </a:t>
            </a:r>
            <a:r>
              <a:rPr lang="en-US" altLang="zh-CN" dirty="0">
                <a:sym typeface="Symbol" pitchFamily="18" charset="2"/>
              </a:rPr>
              <a:t>(</a:t>
            </a:r>
            <a:r>
              <a:rPr lang="en-US" altLang="zh-CN" dirty="0">
                <a:sym typeface="Wingdings" panose="05000000000000000000" pitchFamily="2" charset="2"/>
              </a:rPr>
              <a:t>C)</a:t>
            </a:r>
            <a:r>
              <a:rPr lang="en-US" altLang="zh-CN" dirty="0"/>
              <a:t> </a:t>
            </a:r>
            <a:r>
              <a:rPr lang="en-US" altLang="zh-CN" sz="2200" dirty="0"/>
              <a:t>∨</a:t>
            </a:r>
            <a:r>
              <a:rPr lang="en-US" altLang="zh-CN" dirty="0">
                <a:sym typeface="Symbol" pitchFamily="18" charset="2"/>
              </a:rPr>
              <a:t> </a:t>
            </a:r>
            <a:r>
              <a:rPr lang="en-US" altLang="zh-CN" dirty="0">
                <a:sym typeface="Wingdings" panose="05000000000000000000" pitchFamily="2" charset="2"/>
              </a:rPr>
              <a:t>(</a:t>
            </a:r>
            <a:r>
              <a:rPr lang="en-US" altLang="zh-CN" dirty="0"/>
              <a:t>bit)</a:t>
            </a:r>
            <a:r>
              <a:rPr lang="en-US" altLang="zh-CN" dirty="0">
                <a:sym typeface="Symbol" pitchFamily="18" charset="2"/>
              </a:rPr>
              <a:t></a:t>
            </a:r>
            <a:r>
              <a:rPr lang="en-US" altLang="zh-CN" dirty="0">
                <a:sym typeface="Wingdings" panose="05000000000000000000" pitchFamily="2" charset="2"/>
              </a:rPr>
              <a:t>C</a:t>
            </a:r>
            <a:r>
              <a:rPr lang="en-US" altLang="zh-CN" sz="2200" b="1" dirty="0"/>
              <a:t>		</a:t>
            </a:r>
            <a:endParaRPr lang="en-US" altLang="zh-CN" sz="2200" b="1" dirty="0"/>
          </a:p>
        </p:txBody>
      </p:sp>
      <p:sp>
        <p:nvSpPr>
          <p:cNvPr id="155650" name="Rectangle 4"/>
          <p:cNvSpPr/>
          <p:nvPr/>
        </p:nvSpPr>
        <p:spPr>
          <a:xfrm>
            <a:off x="685800" y="3886200"/>
            <a:ext cx="7772400" cy="457200"/>
          </a:xfrm>
          <a:prstGeom prst="rect">
            <a:avLst/>
          </a:prstGeom>
          <a:noFill/>
          <a:ln w="9525">
            <a:noFill/>
          </a:ln>
        </p:spPr>
        <p:txBody>
          <a:bodyPr anchor="t" anchorCtr="0"/>
          <a:p>
            <a:pPr marL="342900" indent="-342900">
              <a:spcBef>
                <a:spcPct val="20000"/>
              </a:spcBef>
              <a:buClr>
                <a:schemeClr val="accent2"/>
              </a:buClr>
              <a:buSzPct val="80000"/>
            </a:pPr>
            <a:r>
              <a:rPr lang="zh-CN" altLang="en-US" dirty="0">
                <a:latin typeface="Times New Roman" panose="02020503050405090304" pitchFamily="18" charset="0"/>
                <a:ea typeface="黑体" panose="02010609060101010101" pitchFamily="49" charset="-122"/>
              </a:rPr>
              <a:t>		</a:t>
            </a:r>
            <a:r>
              <a:rPr lang="en-US" altLang="zh-CN" dirty="0">
                <a:latin typeface="Times New Roman" panose="02020503050405090304" pitchFamily="18" charset="0"/>
                <a:ea typeface="黑体" panose="02010609060101010101" pitchFamily="49" charset="-122"/>
              </a:rPr>
              <a:t>ORL    C</a:t>
            </a:r>
            <a:r>
              <a:rPr lang="zh-CN" altLang="en-US" dirty="0">
                <a:latin typeface="Times New Roman" panose="02020503050405090304" pitchFamily="18" charset="0"/>
                <a:ea typeface="黑体" panose="02010609060101010101" pitchFamily="49" charset="-122"/>
              </a:rPr>
              <a:t>，</a:t>
            </a:r>
            <a:r>
              <a:rPr lang="en-US" altLang="zh-CN" dirty="0">
                <a:latin typeface="Times New Roman" panose="02020503050405090304" pitchFamily="18" charset="0"/>
                <a:ea typeface="黑体" panose="02010609060101010101" pitchFamily="49" charset="-122"/>
              </a:rPr>
              <a:t>/bit          </a:t>
            </a:r>
            <a:r>
              <a:rPr lang="en-US" altLang="zh-CN" b="0" dirty="0">
                <a:latin typeface="Times New Roman" panose="02020503050405090304" pitchFamily="18" charset="0"/>
                <a:ea typeface="黑体" panose="02010609060101010101" pitchFamily="49" charset="-122"/>
              </a:rPr>
              <a:t>        ; </a:t>
            </a:r>
            <a:r>
              <a:rPr lang="zh-CN" altLang="en-US" b="0" dirty="0">
                <a:latin typeface="Times New Roman" panose="02020503050405090304" pitchFamily="18" charset="0"/>
                <a:ea typeface="黑体" panose="02010609060101010101" pitchFamily="49" charset="-122"/>
              </a:rPr>
              <a:t>（</a:t>
            </a:r>
            <a:r>
              <a:rPr lang="en-US" altLang="zh-CN" b="0" dirty="0">
                <a:latin typeface="Times New Roman" panose="02020503050405090304" pitchFamily="18" charset="0"/>
                <a:ea typeface="黑体" panose="02010609060101010101" pitchFamily="49" charset="-122"/>
              </a:rPr>
              <a:t>C</a:t>
            </a:r>
            <a:r>
              <a:rPr lang="zh-CN" altLang="en-US" b="0" dirty="0">
                <a:latin typeface="Times New Roman" panose="02020503050405090304" pitchFamily="18" charset="0"/>
                <a:ea typeface="黑体" panose="02010609060101010101" pitchFamily="49" charset="-122"/>
              </a:rPr>
              <a:t>） </a:t>
            </a:r>
            <a:r>
              <a:rPr lang="zh-CN" altLang="en-US" sz="2000" b="0" dirty="0">
                <a:latin typeface="Times New Roman" panose="02020503050405090304" pitchFamily="18" charset="0"/>
                <a:ea typeface="宋体" pitchFamily="2" charset="-122"/>
              </a:rPr>
              <a:t>∨</a:t>
            </a:r>
            <a:r>
              <a:rPr lang="zh-CN" altLang="en-US" b="0" dirty="0">
                <a:latin typeface="Times New Roman" panose="02020503050405090304" pitchFamily="18" charset="0"/>
                <a:ea typeface="宋体" pitchFamily="2" charset="-122"/>
              </a:rPr>
              <a:t> </a:t>
            </a:r>
            <a:r>
              <a:rPr lang="zh-CN" altLang="en-US" b="0" dirty="0">
                <a:latin typeface="Times New Roman" panose="02020503050405090304" pitchFamily="18" charset="0"/>
                <a:ea typeface="黑体" panose="02010609060101010101" pitchFamily="49" charset="-122"/>
                <a:sym typeface="Wingdings" panose="05000000000000000000" pitchFamily="2" charset="2"/>
              </a:rPr>
              <a:t>（ </a:t>
            </a:r>
            <a:r>
              <a:rPr lang="en-US" altLang="zh-CN" b="0" dirty="0">
                <a:latin typeface="Times New Roman" panose="02020503050405090304" pitchFamily="18" charset="0"/>
                <a:ea typeface="宋体" pitchFamily="2" charset="-122"/>
              </a:rPr>
              <a:t>/</a:t>
            </a:r>
            <a:r>
              <a:rPr lang="en-US" altLang="zh-CN" b="0" dirty="0">
                <a:latin typeface="Times New Roman" panose="02020503050405090304" pitchFamily="18" charset="0"/>
                <a:ea typeface="黑体" panose="02010609060101010101" pitchFamily="49" charset="-122"/>
                <a:sym typeface="Wingdings" panose="05000000000000000000" pitchFamily="2" charset="2"/>
              </a:rPr>
              <a:t> </a:t>
            </a:r>
            <a:r>
              <a:rPr lang="en-US" altLang="zh-CN" b="0" dirty="0">
                <a:latin typeface="Times New Roman" panose="02020503050405090304" pitchFamily="18" charset="0"/>
                <a:ea typeface="黑体" panose="02010609060101010101" pitchFamily="49" charset="-122"/>
              </a:rPr>
              <a:t>bit</a:t>
            </a:r>
            <a:r>
              <a:rPr lang="zh-CN" altLang="en-US" b="0" dirty="0">
                <a:latin typeface="Times New Roman" panose="02020503050405090304" pitchFamily="18" charset="0"/>
                <a:ea typeface="黑体" panose="02010609060101010101" pitchFamily="49" charset="-122"/>
              </a:rPr>
              <a:t>） </a:t>
            </a:r>
            <a:r>
              <a:rPr lang="zh-CN" altLang="en-US" b="0" dirty="0">
                <a:latin typeface="Times New Roman" panose="02020503050405090304" pitchFamily="18" charset="0"/>
                <a:ea typeface="黑体" panose="02010609060101010101" pitchFamily="49" charset="-122"/>
                <a:sym typeface="Symbol" pitchFamily="18" charset="2"/>
              </a:rPr>
              <a:t></a:t>
            </a:r>
            <a:r>
              <a:rPr lang="zh-CN" altLang="en-US" b="0" dirty="0">
                <a:latin typeface="Times New Roman" panose="02020503050405090304" pitchFamily="18" charset="0"/>
                <a:ea typeface="黑体" panose="02010609060101010101" pitchFamily="49" charset="-122"/>
                <a:sym typeface="Wingdings" panose="05000000000000000000" pitchFamily="2" charset="2"/>
              </a:rPr>
              <a:t> </a:t>
            </a:r>
            <a:r>
              <a:rPr lang="en-US" altLang="zh-CN" b="0" dirty="0">
                <a:latin typeface="Times New Roman" panose="02020503050405090304" pitchFamily="18" charset="0"/>
                <a:ea typeface="黑体" panose="02010609060101010101" pitchFamily="49" charset="-122"/>
                <a:sym typeface="Wingdings" panose="05000000000000000000" pitchFamily="2" charset="2"/>
              </a:rPr>
              <a:t>C</a:t>
            </a:r>
            <a:endParaRPr lang="en-US" altLang="zh-CN" b="0" dirty="0">
              <a:latin typeface="Times New Roman" panose="02020503050405090304" pitchFamily="18" charset="0"/>
              <a:ea typeface="黑体" panose="02010609060101010101" pitchFamily="49" charset="-122"/>
              <a:sym typeface="Wingdings" panose="05000000000000000000" pitchFamily="2" charset="2"/>
            </a:endParaRPr>
          </a:p>
        </p:txBody>
      </p:sp>
      <p:grpSp>
        <p:nvGrpSpPr>
          <p:cNvPr id="155651" name="Group 5"/>
          <p:cNvGrpSpPr/>
          <p:nvPr/>
        </p:nvGrpSpPr>
        <p:grpSpPr>
          <a:xfrm>
            <a:off x="2949575" y="2506663"/>
            <a:ext cx="2938463" cy="777875"/>
            <a:chOff x="1742" y="1728"/>
            <a:chExt cx="1851" cy="490"/>
          </a:xfrm>
        </p:grpSpPr>
        <p:sp>
          <p:nvSpPr>
            <p:cNvPr id="155652" name="Rectangle 6"/>
            <p:cNvSpPr/>
            <p:nvPr/>
          </p:nvSpPr>
          <p:spPr>
            <a:xfrm>
              <a:off x="2592" y="1824"/>
              <a:ext cx="192" cy="336"/>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zh-CN" altLang="en-US" sz="2000" b="0" dirty="0">
                  <a:latin typeface="Times New Roman" panose="02020503050405090304" pitchFamily="18" charset="0"/>
                  <a:ea typeface="宋体" pitchFamily="2" charset="-122"/>
                  <a:sym typeface="Symbol" pitchFamily="18" charset="2"/>
                </a:rPr>
                <a:t>＋</a:t>
              </a:r>
              <a:endParaRPr lang="zh-CN" altLang="en-US" sz="2000" b="0" dirty="0">
                <a:latin typeface="Times New Roman" panose="02020503050405090304" pitchFamily="18" charset="0"/>
                <a:ea typeface="宋体" pitchFamily="2" charset="-122"/>
              </a:endParaRPr>
            </a:p>
          </p:txBody>
        </p:sp>
        <p:sp>
          <p:nvSpPr>
            <p:cNvPr id="155653" name="Line 7"/>
            <p:cNvSpPr/>
            <p:nvPr/>
          </p:nvSpPr>
          <p:spPr>
            <a:xfrm>
              <a:off x="2112" y="1872"/>
              <a:ext cx="480" cy="0"/>
            </a:xfrm>
            <a:prstGeom prst="line">
              <a:avLst/>
            </a:prstGeom>
            <a:ln w="9525" cap="flat" cmpd="sng">
              <a:solidFill>
                <a:schemeClr val="tx1"/>
              </a:solidFill>
              <a:prstDash val="solid"/>
              <a:round/>
              <a:headEnd type="none" w="med" len="med"/>
              <a:tailEnd type="none" w="med" len="med"/>
            </a:ln>
          </p:spPr>
        </p:sp>
        <p:sp>
          <p:nvSpPr>
            <p:cNvPr id="155654" name="Line 8"/>
            <p:cNvSpPr/>
            <p:nvPr/>
          </p:nvSpPr>
          <p:spPr>
            <a:xfrm>
              <a:off x="2112" y="2112"/>
              <a:ext cx="480" cy="0"/>
            </a:xfrm>
            <a:prstGeom prst="line">
              <a:avLst/>
            </a:prstGeom>
            <a:ln w="9525" cap="flat" cmpd="sng">
              <a:solidFill>
                <a:schemeClr val="tx1"/>
              </a:solidFill>
              <a:prstDash val="solid"/>
              <a:round/>
              <a:headEnd type="none" w="med" len="med"/>
              <a:tailEnd type="none" w="med" len="med"/>
            </a:ln>
          </p:spPr>
        </p:sp>
        <p:sp>
          <p:nvSpPr>
            <p:cNvPr id="155655" name="Line 9"/>
            <p:cNvSpPr/>
            <p:nvPr/>
          </p:nvSpPr>
          <p:spPr>
            <a:xfrm>
              <a:off x="2784" y="1968"/>
              <a:ext cx="480" cy="0"/>
            </a:xfrm>
            <a:prstGeom prst="line">
              <a:avLst/>
            </a:prstGeom>
            <a:ln w="9525" cap="flat" cmpd="sng">
              <a:solidFill>
                <a:schemeClr val="tx1"/>
              </a:solidFill>
              <a:prstDash val="solid"/>
              <a:round/>
              <a:headEnd type="none" w="med" len="med"/>
              <a:tailEnd type="none" w="med" len="med"/>
            </a:ln>
          </p:spPr>
        </p:sp>
        <p:sp>
          <p:nvSpPr>
            <p:cNvPr id="155656" name="Rectangle 10"/>
            <p:cNvSpPr/>
            <p:nvPr/>
          </p:nvSpPr>
          <p:spPr>
            <a:xfrm>
              <a:off x="1783" y="1728"/>
              <a:ext cx="329" cy="250"/>
            </a:xfrm>
            <a:prstGeom prst="rect">
              <a:avLst/>
            </a:prstGeom>
            <a:noFill/>
            <a:ln w="9525">
              <a:noFill/>
            </a:ln>
          </p:spPr>
          <p:txBody>
            <a:bodyPr anchor="t" anchorCtr="0">
              <a:spAutoFit/>
            </a:bodyPr>
            <a:p>
              <a:pPr algn="ctr">
                <a:buClrTx/>
                <a:buFontTx/>
              </a:pPr>
              <a:r>
                <a:rPr lang="en-US" altLang="zh-CN" sz="2000" b="0" dirty="0">
                  <a:latin typeface="Times New Roman" panose="02020503050405090304" pitchFamily="18" charset="0"/>
                  <a:ea typeface="黑体" panose="02010609060101010101" pitchFamily="49" charset="-122"/>
                  <a:sym typeface="Symbol" pitchFamily="18" charset="2"/>
                </a:rPr>
                <a:t>(</a:t>
              </a:r>
              <a:r>
                <a:rPr lang="en-US" altLang="zh-CN" sz="2000" b="0" dirty="0">
                  <a:latin typeface="Times New Roman" panose="02020503050405090304" pitchFamily="18" charset="0"/>
                  <a:ea typeface="黑体" panose="02010609060101010101" pitchFamily="49" charset="-122"/>
                  <a:sym typeface="Wingdings" panose="05000000000000000000" pitchFamily="2" charset="2"/>
                </a:rPr>
                <a:t>C)</a:t>
              </a:r>
              <a:endParaRPr lang="en-US" altLang="zh-CN" sz="2000" b="0" dirty="0">
                <a:latin typeface="Times New Roman" panose="02020503050405090304" pitchFamily="18" charset="0"/>
                <a:ea typeface="黑体" panose="02010609060101010101" pitchFamily="49" charset="-122"/>
                <a:sym typeface="Wingdings" panose="05000000000000000000" pitchFamily="2" charset="2"/>
              </a:endParaRPr>
            </a:p>
          </p:txBody>
        </p:sp>
        <p:sp>
          <p:nvSpPr>
            <p:cNvPr id="155657" name="Rectangle 11"/>
            <p:cNvSpPr/>
            <p:nvPr/>
          </p:nvSpPr>
          <p:spPr>
            <a:xfrm>
              <a:off x="1742" y="1968"/>
              <a:ext cx="390" cy="250"/>
            </a:xfrm>
            <a:prstGeom prst="rect">
              <a:avLst/>
            </a:prstGeom>
            <a:noFill/>
            <a:ln w="9525">
              <a:noFill/>
            </a:ln>
          </p:spPr>
          <p:txBody>
            <a:bodyPr wrap="none" anchor="t" anchorCtr="0">
              <a:spAutoFit/>
            </a:bodyPr>
            <a:p>
              <a:pPr algn="ctr">
                <a:buClrTx/>
                <a:buFontTx/>
              </a:pPr>
              <a:r>
                <a:rPr lang="en-US" altLang="zh-CN" sz="2000" b="0" dirty="0">
                  <a:latin typeface="Times New Roman" panose="02020503050405090304" pitchFamily="18" charset="0"/>
                  <a:ea typeface="黑体" panose="02010609060101010101" pitchFamily="49" charset="-122"/>
                  <a:sym typeface="Wingdings" panose="05000000000000000000" pitchFamily="2" charset="2"/>
                </a:rPr>
                <a:t>(</a:t>
              </a:r>
              <a:r>
                <a:rPr lang="en-US" altLang="zh-CN" sz="2000" b="0" dirty="0">
                  <a:latin typeface="Times New Roman" panose="02020503050405090304" pitchFamily="18" charset="0"/>
                  <a:ea typeface="黑体" panose="02010609060101010101" pitchFamily="49" charset="-122"/>
                </a:rPr>
                <a:t>bit)</a:t>
              </a:r>
              <a:endParaRPr lang="en-US" altLang="zh-CN" sz="2000" b="0" dirty="0">
                <a:latin typeface="Times New Roman" panose="02020503050405090304" pitchFamily="18" charset="0"/>
                <a:ea typeface="黑体" panose="02010609060101010101" pitchFamily="49" charset="-122"/>
              </a:endParaRPr>
            </a:p>
          </p:txBody>
        </p:sp>
        <p:sp>
          <p:nvSpPr>
            <p:cNvPr id="155658" name="Rectangle 12"/>
            <p:cNvSpPr/>
            <p:nvPr/>
          </p:nvSpPr>
          <p:spPr>
            <a:xfrm>
              <a:off x="3264" y="1843"/>
              <a:ext cx="329" cy="250"/>
            </a:xfrm>
            <a:prstGeom prst="rect">
              <a:avLst/>
            </a:prstGeom>
            <a:noFill/>
            <a:ln w="9525">
              <a:noFill/>
            </a:ln>
          </p:spPr>
          <p:txBody>
            <a:bodyPr anchor="t" anchorCtr="0">
              <a:spAutoFit/>
            </a:bodyPr>
            <a:p>
              <a:pPr algn="ctr">
                <a:buClrTx/>
                <a:buFontTx/>
              </a:pPr>
              <a:r>
                <a:rPr lang="en-US" altLang="zh-CN" sz="2000" b="0" dirty="0">
                  <a:latin typeface="Times New Roman" panose="02020503050405090304" pitchFamily="18" charset="0"/>
                  <a:ea typeface="黑体" panose="02010609060101010101" pitchFamily="49" charset="-122"/>
                  <a:sym typeface="Symbol" pitchFamily="18" charset="2"/>
                </a:rPr>
                <a:t>(</a:t>
              </a:r>
              <a:r>
                <a:rPr lang="en-US" altLang="zh-CN" sz="2000" b="0" dirty="0">
                  <a:latin typeface="Times New Roman" panose="02020503050405090304" pitchFamily="18" charset="0"/>
                  <a:ea typeface="黑体" panose="02010609060101010101" pitchFamily="49" charset="-122"/>
                  <a:sym typeface="Wingdings" panose="05000000000000000000" pitchFamily="2" charset="2"/>
                </a:rPr>
                <a:t>C)</a:t>
              </a:r>
              <a:endParaRPr lang="en-US" altLang="zh-CN" sz="2000" b="0" dirty="0">
                <a:latin typeface="Times New Roman" panose="02020503050405090304" pitchFamily="18" charset="0"/>
                <a:ea typeface="黑体" panose="02010609060101010101" pitchFamily="49" charset="-122"/>
                <a:sym typeface="Wingdings" panose="05000000000000000000" pitchFamily="2" charset="2"/>
              </a:endParaRPr>
            </a:p>
          </p:txBody>
        </p:sp>
      </p:grpSp>
      <p:grpSp>
        <p:nvGrpSpPr>
          <p:cNvPr id="155659" name="Group 13"/>
          <p:cNvGrpSpPr/>
          <p:nvPr/>
        </p:nvGrpSpPr>
        <p:grpSpPr>
          <a:xfrm>
            <a:off x="2341563" y="4556125"/>
            <a:ext cx="3394075" cy="930275"/>
            <a:chOff x="1475" y="2870"/>
            <a:chExt cx="2138" cy="586"/>
          </a:xfrm>
        </p:grpSpPr>
        <p:sp>
          <p:nvSpPr>
            <p:cNvPr id="155660" name="Rectangle 14"/>
            <p:cNvSpPr/>
            <p:nvPr/>
          </p:nvSpPr>
          <p:spPr>
            <a:xfrm>
              <a:off x="2612" y="2976"/>
              <a:ext cx="192" cy="336"/>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zh-CN" altLang="en-US" sz="2000" b="0" dirty="0">
                  <a:latin typeface="Times New Roman" panose="02020503050405090304" pitchFamily="18" charset="0"/>
                  <a:ea typeface="宋体" pitchFamily="2" charset="-122"/>
                  <a:sym typeface="Symbol" pitchFamily="18" charset="2"/>
                </a:rPr>
                <a:t>＋</a:t>
              </a:r>
              <a:endParaRPr lang="zh-CN" altLang="en-US" sz="2000" b="0" dirty="0">
                <a:latin typeface="Times New Roman" panose="02020503050405090304" pitchFamily="18" charset="0"/>
                <a:ea typeface="宋体" pitchFamily="2" charset="-122"/>
              </a:endParaRPr>
            </a:p>
          </p:txBody>
        </p:sp>
        <p:sp>
          <p:nvSpPr>
            <p:cNvPr id="155661" name="Line 15"/>
            <p:cNvSpPr/>
            <p:nvPr/>
          </p:nvSpPr>
          <p:spPr>
            <a:xfrm>
              <a:off x="1892" y="3024"/>
              <a:ext cx="720" cy="0"/>
            </a:xfrm>
            <a:prstGeom prst="line">
              <a:avLst/>
            </a:prstGeom>
            <a:ln w="9525" cap="flat" cmpd="sng">
              <a:solidFill>
                <a:schemeClr val="tx1"/>
              </a:solidFill>
              <a:prstDash val="solid"/>
              <a:round/>
              <a:headEnd type="none" w="med" len="med"/>
              <a:tailEnd type="none" w="med" len="med"/>
            </a:ln>
          </p:spPr>
        </p:sp>
        <p:sp>
          <p:nvSpPr>
            <p:cNvPr id="155662" name="Line 16"/>
            <p:cNvSpPr/>
            <p:nvPr/>
          </p:nvSpPr>
          <p:spPr>
            <a:xfrm>
              <a:off x="1892" y="3245"/>
              <a:ext cx="240" cy="0"/>
            </a:xfrm>
            <a:prstGeom prst="line">
              <a:avLst/>
            </a:prstGeom>
            <a:ln w="9525" cap="flat" cmpd="sng">
              <a:solidFill>
                <a:schemeClr val="tx1"/>
              </a:solidFill>
              <a:prstDash val="solid"/>
              <a:round/>
              <a:headEnd type="none" w="med" len="med"/>
              <a:tailEnd type="none" w="med" len="med"/>
            </a:ln>
          </p:spPr>
        </p:sp>
        <p:sp>
          <p:nvSpPr>
            <p:cNvPr id="155663" name="Line 17"/>
            <p:cNvSpPr/>
            <p:nvPr/>
          </p:nvSpPr>
          <p:spPr>
            <a:xfrm>
              <a:off x="2804" y="3120"/>
              <a:ext cx="480" cy="0"/>
            </a:xfrm>
            <a:prstGeom prst="line">
              <a:avLst/>
            </a:prstGeom>
            <a:ln w="9525" cap="flat" cmpd="sng">
              <a:solidFill>
                <a:schemeClr val="tx1"/>
              </a:solidFill>
              <a:prstDash val="solid"/>
              <a:round/>
              <a:headEnd type="none" w="med" len="med"/>
              <a:tailEnd type="none" w="med" len="med"/>
            </a:ln>
          </p:spPr>
        </p:sp>
        <p:sp>
          <p:nvSpPr>
            <p:cNvPr id="155664" name="Rectangle 18"/>
            <p:cNvSpPr/>
            <p:nvPr/>
          </p:nvSpPr>
          <p:spPr>
            <a:xfrm>
              <a:off x="1536" y="2870"/>
              <a:ext cx="329" cy="250"/>
            </a:xfrm>
            <a:prstGeom prst="rect">
              <a:avLst/>
            </a:prstGeom>
            <a:noFill/>
            <a:ln w="9525">
              <a:noFill/>
            </a:ln>
          </p:spPr>
          <p:txBody>
            <a:bodyPr anchor="t" anchorCtr="0">
              <a:spAutoFit/>
            </a:bodyPr>
            <a:p>
              <a:pPr algn="ctr">
                <a:buClrTx/>
                <a:buFontTx/>
              </a:pPr>
              <a:r>
                <a:rPr lang="en-US" altLang="zh-CN" sz="2000" b="0" dirty="0">
                  <a:latin typeface="Times New Roman" panose="02020503050405090304" pitchFamily="18" charset="0"/>
                  <a:ea typeface="黑体" panose="02010609060101010101" pitchFamily="49" charset="-122"/>
                  <a:sym typeface="Symbol" pitchFamily="18" charset="2"/>
                </a:rPr>
                <a:t>(</a:t>
              </a:r>
              <a:r>
                <a:rPr lang="en-US" altLang="zh-CN" sz="2000" b="0" dirty="0">
                  <a:latin typeface="Times New Roman" panose="02020503050405090304" pitchFamily="18" charset="0"/>
                  <a:ea typeface="黑体" panose="02010609060101010101" pitchFamily="49" charset="-122"/>
                  <a:sym typeface="Wingdings" panose="05000000000000000000" pitchFamily="2" charset="2"/>
                </a:rPr>
                <a:t>C)</a:t>
              </a:r>
              <a:endParaRPr lang="en-US" altLang="zh-CN" sz="2000" b="0" dirty="0">
                <a:latin typeface="Times New Roman" panose="02020503050405090304" pitchFamily="18" charset="0"/>
                <a:ea typeface="黑体" panose="02010609060101010101" pitchFamily="49" charset="-122"/>
                <a:sym typeface="Wingdings" panose="05000000000000000000" pitchFamily="2" charset="2"/>
              </a:endParaRPr>
            </a:p>
          </p:txBody>
        </p:sp>
        <p:sp>
          <p:nvSpPr>
            <p:cNvPr id="155665" name="Rectangle 19"/>
            <p:cNvSpPr/>
            <p:nvPr/>
          </p:nvSpPr>
          <p:spPr>
            <a:xfrm>
              <a:off x="1475" y="3120"/>
              <a:ext cx="390" cy="250"/>
            </a:xfrm>
            <a:prstGeom prst="rect">
              <a:avLst/>
            </a:prstGeom>
            <a:noFill/>
            <a:ln w="9525">
              <a:noFill/>
            </a:ln>
          </p:spPr>
          <p:txBody>
            <a:bodyPr wrap="none" anchor="t" anchorCtr="0">
              <a:spAutoFit/>
            </a:bodyPr>
            <a:p>
              <a:pPr algn="ctr">
                <a:buClrTx/>
                <a:buFontTx/>
              </a:pPr>
              <a:r>
                <a:rPr lang="en-US" altLang="zh-CN" sz="2000" b="0" dirty="0">
                  <a:latin typeface="Times New Roman" panose="02020503050405090304" pitchFamily="18" charset="0"/>
                  <a:ea typeface="黑体" panose="02010609060101010101" pitchFamily="49" charset="-122"/>
                  <a:sym typeface="Wingdings" panose="05000000000000000000" pitchFamily="2" charset="2"/>
                </a:rPr>
                <a:t>(</a:t>
              </a:r>
              <a:r>
                <a:rPr lang="en-US" altLang="zh-CN" sz="2000" b="0" dirty="0">
                  <a:latin typeface="Times New Roman" panose="02020503050405090304" pitchFamily="18" charset="0"/>
                  <a:ea typeface="黑体" panose="02010609060101010101" pitchFamily="49" charset="-122"/>
                </a:rPr>
                <a:t>bit)</a:t>
              </a:r>
              <a:endParaRPr lang="en-US" altLang="zh-CN" sz="2000" b="0" dirty="0">
                <a:latin typeface="Times New Roman" panose="02020503050405090304" pitchFamily="18" charset="0"/>
                <a:ea typeface="黑体" panose="02010609060101010101" pitchFamily="49" charset="-122"/>
              </a:endParaRPr>
            </a:p>
          </p:txBody>
        </p:sp>
        <p:sp>
          <p:nvSpPr>
            <p:cNvPr id="155666" name="Rectangle 20"/>
            <p:cNvSpPr/>
            <p:nvPr/>
          </p:nvSpPr>
          <p:spPr>
            <a:xfrm>
              <a:off x="3284" y="2995"/>
              <a:ext cx="329" cy="250"/>
            </a:xfrm>
            <a:prstGeom prst="rect">
              <a:avLst/>
            </a:prstGeom>
            <a:noFill/>
            <a:ln w="9525">
              <a:noFill/>
            </a:ln>
          </p:spPr>
          <p:txBody>
            <a:bodyPr anchor="t" anchorCtr="0">
              <a:spAutoFit/>
            </a:bodyPr>
            <a:p>
              <a:pPr algn="ctr">
                <a:buClrTx/>
                <a:buFontTx/>
              </a:pPr>
              <a:r>
                <a:rPr lang="en-US" altLang="zh-CN" sz="2000" b="0" dirty="0">
                  <a:latin typeface="Times New Roman" panose="02020503050405090304" pitchFamily="18" charset="0"/>
                  <a:ea typeface="黑体" panose="02010609060101010101" pitchFamily="49" charset="-122"/>
                  <a:sym typeface="Symbol" pitchFamily="18" charset="2"/>
                </a:rPr>
                <a:t>(</a:t>
              </a:r>
              <a:r>
                <a:rPr lang="en-US" altLang="zh-CN" sz="2000" b="0" dirty="0">
                  <a:latin typeface="Times New Roman" panose="02020503050405090304" pitchFamily="18" charset="0"/>
                  <a:ea typeface="黑体" panose="02010609060101010101" pitchFamily="49" charset="-122"/>
                  <a:sym typeface="Wingdings" panose="05000000000000000000" pitchFamily="2" charset="2"/>
                </a:rPr>
                <a:t>C)</a:t>
              </a:r>
              <a:endParaRPr lang="en-US" altLang="zh-CN" sz="2000" b="0" dirty="0">
                <a:latin typeface="Times New Roman" panose="02020503050405090304" pitchFamily="18" charset="0"/>
                <a:ea typeface="黑体" panose="02010609060101010101" pitchFamily="49" charset="-122"/>
                <a:sym typeface="Wingdings" panose="05000000000000000000" pitchFamily="2" charset="2"/>
              </a:endParaRPr>
            </a:p>
          </p:txBody>
        </p:sp>
        <p:grpSp>
          <p:nvGrpSpPr>
            <p:cNvPr id="155667" name="Group 21"/>
            <p:cNvGrpSpPr/>
            <p:nvPr/>
          </p:nvGrpSpPr>
          <p:grpSpPr>
            <a:xfrm>
              <a:off x="2132" y="3149"/>
              <a:ext cx="263" cy="192"/>
              <a:chOff x="2016" y="3456"/>
              <a:chExt cx="263" cy="192"/>
            </a:xfrm>
          </p:grpSpPr>
          <p:sp>
            <p:nvSpPr>
              <p:cNvPr id="155668" name="AutoShape 22"/>
              <p:cNvSpPr/>
              <p:nvPr/>
            </p:nvSpPr>
            <p:spPr>
              <a:xfrm rot="5400000">
                <a:off x="2015" y="3430"/>
                <a:ext cx="192" cy="217"/>
              </a:xfrm>
              <a:prstGeom prst="flowChartExtract">
                <a:avLst/>
              </a:prstGeom>
              <a:no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sp>
            <p:nvSpPr>
              <p:cNvPr id="155669" name="AutoShape 23"/>
              <p:cNvSpPr/>
              <p:nvPr/>
            </p:nvSpPr>
            <p:spPr>
              <a:xfrm>
                <a:off x="2232" y="3528"/>
                <a:ext cx="47" cy="48"/>
              </a:xfrm>
              <a:prstGeom prst="flowChartConnector">
                <a:avLst/>
              </a:prstGeom>
              <a:noFill/>
              <a:ln w="952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grpSp>
        <p:sp>
          <p:nvSpPr>
            <p:cNvPr id="155670" name="Line 24"/>
            <p:cNvSpPr/>
            <p:nvPr/>
          </p:nvSpPr>
          <p:spPr>
            <a:xfrm>
              <a:off x="2395" y="3245"/>
              <a:ext cx="217" cy="0"/>
            </a:xfrm>
            <a:prstGeom prst="line">
              <a:avLst/>
            </a:prstGeom>
            <a:ln w="9525" cap="flat" cmpd="sng">
              <a:solidFill>
                <a:schemeClr val="tx1"/>
              </a:solidFill>
              <a:prstDash val="solid"/>
              <a:round/>
              <a:headEnd type="none" w="med" len="med"/>
              <a:tailEnd type="none" w="med" len="med"/>
            </a:ln>
          </p:spPr>
        </p:sp>
        <p:sp>
          <p:nvSpPr>
            <p:cNvPr id="155671" name="Rectangle 25"/>
            <p:cNvSpPr/>
            <p:nvPr/>
          </p:nvSpPr>
          <p:spPr>
            <a:xfrm>
              <a:off x="1968" y="2870"/>
              <a:ext cx="1200" cy="586"/>
            </a:xfrm>
            <a:prstGeom prst="rect">
              <a:avLst/>
            </a:prstGeom>
            <a:noFill/>
            <a:ln w="9525" cap="flat" cmpd="sng">
              <a:solidFill>
                <a:schemeClr val="accent1"/>
              </a:solidFill>
              <a:prstDash val="dash"/>
              <a:miter/>
              <a:headEnd type="none" w="med" len="med"/>
              <a:tailEnd type="none" w="med" len="med"/>
            </a:ln>
          </p:spPr>
          <p:txBody>
            <a:bodyPr wrap="none" anchor="ctr" anchorCtr="0"/>
            <a:p>
              <a:pPr eaLnBrk="0" hangingPunct="0"/>
              <a:endParaRPr lang="zh-CN" altLang="en-US" dirty="0">
                <a:latin typeface="Times New Roman" panose="02020503050405090304" pitchFamily="18" charset="0"/>
                <a:ea typeface="仿宋_GB2312" pitchFamily="49" charset="-122"/>
              </a:endParaRPr>
            </a:p>
          </p:txBody>
        </p:sp>
      </p:grpSp>
      <p:sp>
        <p:nvSpPr>
          <p:cNvPr id="87042" name="Rectangle 2"/>
          <p:cNvSpPr>
            <a:spLocks noChangeArrowheads="1"/>
          </p:cNvSpPr>
          <p:nvPr/>
        </p:nvSpPr>
        <p:spPr bwMode="auto">
          <a:xfrm>
            <a:off x="214313" y="214313"/>
            <a:ext cx="8763000" cy="609600"/>
          </a:xfrm>
          <a:prstGeom prst="rect">
            <a:avLst/>
          </a:prstGeom>
          <a:noFill/>
          <a:ln>
            <a:noFill/>
          </a:ln>
        </p:spPr>
        <p:txBody>
          <a:bodyPr anchor="ctr"/>
          <a:lstStyle>
            <a:lvl1pPr>
              <a:defRPr sz="3600">
                <a:solidFill>
                  <a:schemeClr val="tx2"/>
                </a:solidFill>
                <a:latin typeface="Times New Roman" panose="02020503050405090304" pitchFamily="18" charset="0"/>
                <a:ea typeface="宋体" pitchFamily="2" charset="-122"/>
              </a:defRPr>
            </a:lvl1pPr>
            <a:lvl2pPr>
              <a:defRPr sz="3600">
                <a:solidFill>
                  <a:schemeClr val="tx2"/>
                </a:solidFill>
                <a:latin typeface="Times New Roman" panose="02020503050405090304" pitchFamily="18" charset="0"/>
                <a:ea typeface="宋体" pitchFamily="2" charset="-122"/>
              </a:defRPr>
            </a:lvl2pPr>
            <a:lvl3pPr>
              <a:defRPr sz="3600">
                <a:solidFill>
                  <a:schemeClr val="tx2"/>
                </a:solidFill>
                <a:latin typeface="Times New Roman" panose="02020503050405090304" pitchFamily="18" charset="0"/>
                <a:ea typeface="宋体" pitchFamily="2" charset="-122"/>
              </a:defRPr>
            </a:lvl3pPr>
            <a:lvl4pPr>
              <a:defRPr sz="3600">
                <a:solidFill>
                  <a:schemeClr val="tx2"/>
                </a:solidFill>
                <a:latin typeface="Times New Roman" panose="02020503050405090304" pitchFamily="18" charset="0"/>
                <a:ea typeface="宋体" pitchFamily="2" charset="-122"/>
              </a:defRPr>
            </a:lvl4pPr>
            <a:lvl5pPr>
              <a:defRPr sz="3600">
                <a:solidFill>
                  <a:schemeClr val="tx2"/>
                </a:solidFill>
                <a:latin typeface="Times New Roman" panose="02020503050405090304" pitchFamily="18" charset="0"/>
                <a:ea typeface="宋体" pitchFamily="2" charset="-122"/>
              </a:defRPr>
            </a:lvl5pPr>
            <a:lvl6pPr marL="45720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fontAlgn="base">
              <a:spcBef>
                <a:spcPct val="0"/>
              </a:spcBef>
              <a:spcAft>
                <a:spcPct val="0"/>
              </a:spcAft>
              <a:defRPr sz="3600">
                <a:solidFill>
                  <a:schemeClr val="tx2"/>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第三章</a:t>
            </a:r>
            <a:r>
              <a:rPr kumimoji="0" lang="zh-CN" altLang="en-US" sz="28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zh-CN" altLang="en-US" sz="24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en-US" altLang="zh-CN"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MCS-51</a:t>
            </a: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指令系统</a:t>
            </a:r>
            <a:endParaRPr kumimoji="0" lang="zh-CN" altLang="en-US" sz="3600" b="0"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Times New Roman" panose="02020503050405090304" pitchFamily="18" charset="0"/>
              <a:ea typeface="宋体" pitchFamily="2" charset="-122"/>
              <a:cs typeface="+mn-cs"/>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ChangeArrowheads="1"/>
          </p:cNvSpPr>
          <p:nvPr/>
        </p:nvSpPr>
        <p:spPr bwMode="auto">
          <a:xfrm>
            <a:off x="214313" y="214313"/>
            <a:ext cx="8763000" cy="609600"/>
          </a:xfrm>
          <a:prstGeom prst="rect">
            <a:avLst/>
          </a:prstGeom>
          <a:noFill/>
          <a:ln>
            <a:noFill/>
          </a:ln>
        </p:spPr>
        <p:txBody>
          <a:bodyPr anchor="ctr"/>
          <a:lstStyle>
            <a:lvl1pPr>
              <a:defRPr sz="3600">
                <a:solidFill>
                  <a:schemeClr val="tx2"/>
                </a:solidFill>
                <a:latin typeface="Times New Roman" panose="02020503050405090304" pitchFamily="18" charset="0"/>
                <a:ea typeface="宋体" pitchFamily="2" charset="-122"/>
              </a:defRPr>
            </a:lvl1pPr>
            <a:lvl2pPr>
              <a:defRPr sz="3600">
                <a:solidFill>
                  <a:schemeClr val="tx2"/>
                </a:solidFill>
                <a:latin typeface="Times New Roman" panose="02020503050405090304" pitchFamily="18" charset="0"/>
                <a:ea typeface="宋体" pitchFamily="2" charset="-122"/>
              </a:defRPr>
            </a:lvl2pPr>
            <a:lvl3pPr>
              <a:defRPr sz="3600">
                <a:solidFill>
                  <a:schemeClr val="tx2"/>
                </a:solidFill>
                <a:latin typeface="Times New Roman" panose="02020503050405090304" pitchFamily="18" charset="0"/>
                <a:ea typeface="宋体" pitchFamily="2" charset="-122"/>
              </a:defRPr>
            </a:lvl3pPr>
            <a:lvl4pPr>
              <a:defRPr sz="3600">
                <a:solidFill>
                  <a:schemeClr val="tx2"/>
                </a:solidFill>
                <a:latin typeface="Times New Roman" panose="02020503050405090304" pitchFamily="18" charset="0"/>
                <a:ea typeface="宋体" pitchFamily="2" charset="-122"/>
              </a:defRPr>
            </a:lvl4pPr>
            <a:lvl5pPr>
              <a:defRPr sz="3600">
                <a:solidFill>
                  <a:schemeClr val="tx2"/>
                </a:solidFill>
                <a:latin typeface="Times New Roman" panose="02020503050405090304" pitchFamily="18" charset="0"/>
                <a:ea typeface="宋体" pitchFamily="2" charset="-122"/>
              </a:defRPr>
            </a:lvl5pPr>
            <a:lvl6pPr marL="457200" fontAlgn="base">
              <a:spcBef>
                <a:spcPct val="0"/>
              </a:spcBef>
              <a:spcAft>
                <a:spcPct val="0"/>
              </a:spcAft>
              <a:defRPr sz="3600">
                <a:solidFill>
                  <a:schemeClr val="tx2"/>
                </a:solidFill>
                <a:latin typeface="Times New Roman" panose="02020503050405090304" pitchFamily="18" charset="0"/>
                <a:ea typeface="宋体" pitchFamily="2" charset="-122"/>
              </a:defRPr>
            </a:lvl6pPr>
            <a:lvl7pPr marL="914400" fontAlgn="base">
              <a:spcBef>
                <a:spcPct val="0"/>
              </a:spcBef>
              <a:spcAft>
                <a:spcPct val="0"/>
              </a:spcAft>
              <a:defRPr sz="3600">
                <a:solidFill>
                  <a:schemeClr val="tx2"/>
                </a:solidFill>
                <a:latin typeface="Times New Roman" panose="02020503050405090304" pitchFamily="18" charset="0"/>
                <a:ea typeface="宋体" pitchFamily="2" charset="-122"/>
              </a:defRPr>
            </a:lvl7pPr>
            <a:lvl8pPr marL="1371600" fontAlgn="base">
              <a:spcBef>
                <a:spcPct val="0"/>
              </a:spcBef>
              <a:spcAft>
                <a:spcPct val="0"/>
              </a:spcAft>
              <a:defRPr sz="3600">
                <a:solidFill>
                  <a:schemeClr val="tx2"/>
                </a:solidFill>
                <a:latin typeface="Times New Roman" panose="02020503050405090304" pitchFamily="18" charset="0"/>
                <a:ea typeface="宋体" pitchFamily="2" charset="-122"/>
              </a:defRPr>
            </a:lvl8pPr>
            <a:lvl9pPr marL="1828800" fontAlgn="base">
              <a:spcBef>
                <a:spcPct val="0"/>
              </a:spcBef>
              <a:spcAft>
                <a:spcPct val="0"/>
              </a:spcAft>
              <a:defRPr sz="3600">
                <a:solidFill>
                  <a:schemeClr val="tx2"/>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第三章</a:t>
            </a:r>
            <a:r>
              <a:rPr kumimoji="0" lang="zh-CN" altLang="en-US" sz="28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zh-CN" altLang="en-US" sz="24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   </a:t>
            </a:r>
            <a:r>
              <a:rPr kumimoji="0" lang="en-US" altLang="zh-CN"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MCS-51</a:t>
            </a:r>
            <a:r>
              <a:rPr kumimoji="0" lang="zh-CN" altLang="en-US" sz="3200" b="0" i="0" u="none" strike="noStrike" kern="1200" cap="none" spc="0" normalizeH="0" baseline="0" noProof="0" smtClean="0">
                <a:ln>
                  <a:noFill/>
                </a:ln>
                <a:solidFill>
                  <a:srgbClr val="A50021"/>
                </a:solidFill>
                <a:effectLst>
                  <a:outerShdw blurRad="38100" dist="38100" dir="2700000" algn="tl">
                    <a:srgbClr val="C0C0C0"/>
                  </a:outerShdw>
                </a:effectLst>
                <a:uLnTx/>
                <a:uFillTx/>
                <a:latin typeface="Times New Roman" panose="02020503050405090304" pitchFamily="18" charset="0"/>
                <a:ea typeface="宋体" pitchFamily="2" charset="-122"/>
                <a:cs typeface="+mn-cs"/>
              </a:rPr>
              <a:t>指令系统</a:t>
            </a:r>
            <a:endParaRPr kumimoji="0" lang="zh-CN" altLang="en-US" sz="3600" b="0"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Times New Roman" panose="02020503050405090304" pitchFamily="18" charset="0"/>
              <a:ea typeface="宋体" pitchFamily="2" charset="-122"/>
              <a:cs typeface="+mn-cs"/>
            </a:endParaRPr>
          </a:p>
        </p:txBody>
      </p:sp>
      <p:pic>
        <p:nvPicPr>
          <p:cNvPr id="156674" name="图片 1"/>
          <p:cNvPicPr>
            <a:picLocks noChangeAspect="1"/>
          </p:cNvPicPr>
          <p:nvPr/>
        </p:nvPicPr>
        <p:blipFill>
          <a:blip r:embed="rId1"/>
          <a:srcRect t="11296"/>
          <a:stretch>
            <a:fillRect/>
          </a:stretch>
        </p:blipFill>
        <p:spPr>
          <a:xfrm>
            <a:off x="214313" y="1871663"/>
            <a:ext cx="8434387" cy="3954462"/>
          </a:xfrm>
          <a:prstGeom prst="rect">
            <a:avLst/>
          </a:prstGeom>
          <a:noFill/>
          <a:ln w="9525">
            <a:noFill/>
          </a:ln>
        </p:spPr>
      </p:pic>
      <p:sp>
        <p:nvSpPr>
          <p:cNvPr id="156675" name="Rectangle 3"/>
          <p:cNvSpPr>
            <a:spLocks noGrp="1"/>
          </p:cNvSpPr>
          <p:nvPr>
            <p:ph idx="1"/>
          </p:nvPr>
        </p:nvSpPr>
        <p:spPr>
          <a:xfrm>
            <a:off x="609600" y="1125538"/>
            <a:ext cx="7772400" cy="677862"/>
          </a:xfrm>
        </p:spPr>
        <p:txBody>
          <a:bodyPr vert="horz" wrap="square" lIns="91440" tIns="45720" rIns="91440" bIns="45720" anchor="t" anchorCtr="0"/>
          <a:p>
            <a:pPr eaLnBrk="1" hangingPunct="1">
              <a:buNone/>
            </a:pPr>
            <a:r>
              <a:rPr lang="zh-CN" altLang="en-US" b="1" dirty="0">
                <a:solidFill>
                  <a:schemeClr val="tx2"/>
                </a:solidFill>
                <a:latin typeface="黑体" panose="02010609060101010101" pitchFamily="49" charset="-122"/>
                <a:ea typeface="黑体" panose="02010609060101010101" pitchFamily="49" charset="-122"/>
              </a:rPr>
              <a:t> </a:t>
            </a:r>
            <a:r>
              <a:rPr lang="en-US" altLang="zh-CN" b="1" dirty="0">
                <a:solidFill>
                  <a:schemeClr val="tx2"/>
                </a:solidFill>
                <a:latin typeface="黑体" panose="02010609060101010101" pitchFamily="49" charset="-122"/>
                <a:ea typeface="黑体" panose="02010609060101010101" pitchFamily="49" charset="-122"/>
              </a:rPr>
              <a:t>3</a:t>
            </a:r>
            <a:r>
              <a:rPr lang="zh-CN" altLang="en-US" b="1" dirty="0">
                <a:solidFill>
                  <a:schemeClr val="tx2"/>
                </a:solidFill>
                <a:latin typeface="黑体" panose="02010609060101010101" pitchFamily="49" charset="-122"/>
                <a:ea typeface="黑体" panose="02010609060101010101" pitchFamily="49" charset="-122"/>
              </a:rPr>
              <a:t>、位条件转移指令</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5</a:t>
            </a:r>
            <a:r>
              <a:rPr lang="zh-CN" altLang="en-US" b="1" dirty="0">
                <a:latin typeface="黑体" panose="02010609060101010101" pitchFamily="49" charset="-122"/>
                <a:ea typeface="黑体" panose="02010609060101010101" pitchFamily="49" charset="-122"/>
              </a:rPr>
              <a:t>条）</a:t>
            </a:r>
            <a:r>
              <a:rPr lang="en-US" altLang="zh-CN" sz="2400" b="1" dirty="0"/>
              <a:t>	</a:t>
            </a:r>
            <a:endParaRPr lang="en-US" altLang="zh-CN" sz="2400" b="1"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ChangeArrowheads="1"/>
          </p:cNvSpPr>
          <p:nvPr>
            <p:ph type="title"/>
          </p:nvPr>
        </p:nvSpPr>
        <p:spPr>
          <a:xfrm>
            <a:off x="214313" y="2143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0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28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116739" name="Rectangle 3"/>
          <p:cNvSpPr>
            <a:spLocks noGrp="1"/>
          </p:cNvSpPr>
          <p:nvPr>
            <p:ph type="body" idx="4294967295"/>
          </p:nvPr>
        </p:nvSpPr>
        <p:spPr>
          <a:xfrm>
            <a:off x="571500" y="928688"/>
            <a:ext cx="8896350" cy="5572125"/>
          </a:xfrm>
        </p:spPr>
        <p:txBody>
          <a:bodyPr vert="horz" wrap="square" lIns="91440" tIns="45720" rIns="91440" bIns="45720" anchor="t" anchorCtr="0"/>
          <a:p>
            <a:pPr marL="0" algn="ctr">
              <a:lnSpc>
                <a:spcPct val="85000"/>
              </a:lnSpc>
              <a:spcBef>
                <a:spcPct val="0"/>
              </a:spcBef>
              <a:buNone/>
            </a:pPr>
            <a:r>
              <a:rPr lang="zh-CN" altLang="en-US" dirty="0">
                <a:solidFill>
                  <a:schemeClr val="tx2"/>
                </a:solidFill>
              </a:rPr>
              <a:t>指令系统总结</a:t>
            </a:r>
            <a:endParaRPr lang="zh-CN" altLang="en-US" dirty="0">
              <a:solidFill>
                <a:schemeClr val="tx2"/>
              </a:solidFill>
            </a:endParaRPr>
          </a:p>
          <a:p>
            <a:pPr marL="0">
              <a:lnSpc>
                <a:spcPct val="110000"/>
              </a:lnSpc>
              <a:spcBef>
                <a:spcPct val="0"/>
              </a:spcBef>
              <a:buNone/>
            </a:pPr>
            <a:r>
              <a:rPr lang="zh-CN" altLang="en-US" sz="2400" dirty="0">
                <a:solidFill>
                  <a:schemeClr val="tx2"/>
                </a:solidFill>
                <a:latin typeface="Times New Roman" panose="02020503050405090304" pitchFamily="18" charset="0"/>
              </a:rPr>
              <a:t>1、“</a:t>
            </a:r>
            <a:r>
              <a:rPr lang="en-US" altLang="zh-CN" sz="2400" dirty="0">
                <a:solidFill>
                  <a:schemeClr val="tx2"/>
                </a:solidFill>
                <a:latin typeface="Times New Roman" panose="02020503050405090304" pitchFamily="18" charset="0"/>
              </a:rPr>
              <a:t>MOV”</a:t>
            </a:r>
            <a:r>
              <a:rPr lang="en-US" altLang="zh-CN" sz="2400" dirty="0">
                <a:latin typeface="Times New Roman" panose="02020503050405090304" pitchFamily="18" charset="0"/>
              </a:rPr>
              <a:t>:</a:t>
            </a:r>
            <a:r>
              <a:rPr lang="zh-CN" altLang="en-US" sz="2400" dirty="0">
                <a:latin typeface="Times New Roman" panose="02020503050405090304" pitchFamily="18" charset="0"/>
              </a:rPr>
              <a:t>源操作数和目的操作数都在片内</a:t>
            </a:r>
            <a:r>
              <a:rPr lang="en-US" altLang="zh-CN" sz="2400" dirty="0">
                <a:latin typeface="Times New Roman" panose="02020503050405090304" pitchFamily="18" charset="0"/>
              </a:rPr>
              <a:t>RAM</a:t>
            </a:r>
            <a:r>
              <a:rPr lang="zh-CN" altLang="en-US" sz="2400" dirty="0">
                <a:latin typeface="Times New Roman" panose="02020503050405090304" pitchFamily="18" charset="0"/>
              </a:rPr>
              <a:t>中；</a:t>
            </a:r>
            <a:endParaRPr lang="zh-CN" altLang="en-US" sz="2400" dirty="0">
              <a:latin typeface="Times New Roman" panose="02020503050405090304" pitchFamily="18" charset="0"/>
            </a:endParaRPr>
          </a:p>
          <a:p>
            <a:pPr marL="0">
              <a:lnSpc>
                <a:spcPct val="110000"/>
              </a:lnSpc>
              <a:spcBef>
                <a:spcPct val="0"/>
              </a:spcBef>
              <a:buNone/>
            </a:pPr>
            <a:r>
              <a:rPr lang="zh-CN" altLang="en-US" sz="2400" dirty="0">
                <a:latin typeface="Times New Roman" panose="02020503050405090304" pitchFamily="18" charset="0"/>
              </a:rPr>
              <a:t>      </a:t>
            </a:r>
            <a:r>
              <a:rPr lang="zh-CN" altLang="en-US" sz="2400" dirty="0">
                <a:solidFill>
                  <a:schemeClr val="tx2"/>
                </a:solidFill>
                <a:latin typeface="Times New Roman" panose="02020503050405090304" pitchFamily="18" charset="0"/>
              </a:rPr>
              <a:t>“</a:t>
            </a:r>
            <a:r>
              <a:rPr lang="en-US" altLang="zh-CN" sz="2400" dirty="0">
                <a:solidFill>
                  <a:schemeClr val="tx2"/>
                </a:solidFill>
                <a:latin typeface="Times New Roman" panose="02020503050405090304" pitchFamily="18" charset="0"/>
              </a:rPr>
              <a:t>MOVX”</a:t>
            </a:r>
            <a:r>
              <a:rPr lang="en-US" altLang="zh-CN" sz="2400" dirty="0">
                <a:latin typeface="Times New Roman" panose="02020503050405090304" pitchFamily="18" charset="0"/>
              </a:rPr>
              <a:t>:</a:t>
            </a:r>
            <a:r>
              <a:rPr lang="zh-CN" altLang="en-US" sz="2400" dirty="0">
                <a:latin typeface="Times New Roman" panose="02020503050405090304" pitchFamily="18" charset="0"/>
              </a:rPr>
              <a:t>实现外部</a:t>
            </a:r>
            <a:r>
              <a:rPr lang="en-US" altLang="zh-CN" sz="2400" dirty="0">
                <a:latin typeface="Times New Roman" panose="02020503050405090304" pitchFamily="18" charset="0"/>
              </a:rPr>
              <a:t>RAM</a:t>
            </a:r>
            <a:r>
              <a:rPr lang="zh-CN" altLang="en-US" sz="2400" dirty="0">
                <a:latin typeface="Times New Roman" panose="02020503050405090304" pitchFamily="18" charset="0"/>
              </a:rPr>
              <a:t>与内部累加器</a:t>
            </a:r>
            <a:r>
              <a:rPr lang="en-US" altLang="zh-CN" sz="2400" dirty="0">
                <a:latin typeface="Times New Roman" panose="02020503050405090304" pitchFamily="18" charset="0"/>
              </a:rPr>
              <a:t>A</a:t>
            </a:r>
            <a:r>
              <a:rPr lang="zh-CN" altLang="en-US" sz="2400" dirty="0">
                <a:latin typeface="Times New Roman" panose="02020503050405090304" pitchFamily="18" charset="0"/>
              </a:rPr>
              <a:t>的数据传送；</a:t>
            </a:r>
            <a:endParaRPr lang="zh-CN" altLang="en-US" sz="2400" dirty="0">
              <a:latin typeface="Times New Roman" panose="02020503050405090304" pitchFamily="18" charset="0"/>
            </a:endParaRPr>
          </a:p>
          <a:p>
            <a:pPr marL="0">
              <a:lnSpc>
                <a:spcPct val="110000"/>
              </a:lnSpc>
              <a:spcBef>
                <a:spcPct val="0"/>
              </a:spcBef>
              <a:buNone/>
            </a:pPr>
            <a:r>
              <a:rPr lang="zh-CN" altLang="en-US" sz="2400" dirty="0">
                <a:latin typeface="Times New Roman" panose="02020503050405090304" pitchFamily="18" charset="0"/>
              </a:rPr>
              <a:t>      </a:t>
            </a:r>
            <a:r>
              <a:rPr lang="zh-CN" altLang="en-US" sz="2400" dirty="0">
                <a:solidFill>
                  <a:schemeClr val="tx2"/>
                </a:solidFill>
                <a:latin typeface="Times New Roman" panose="02020503050405090304" pitchFamily="18" charset="0"/>
              </a:rPr>
              <a:t>“</a:t>
            </a:r>
            <a:r>
              <a:rPr lang="en-US" altLang="zh-CN" sz="2400" dirty="0">
                <a:solidFill>
                  <a:schemeClr val="tx2"/>
                </a:solidFill>
                <a:latin typeface="Times New Roman" panose="02020503050405090304" pitchFamily="18" charset="0"/>
              </a:rPr>
              <a:t>MOVC”</a:t>
            </a:r>
            <a:r>
              <a:rPr lang="en-US" altLang="zh-CN" sz="2400" dirty="0">
                <a:latin typeface="Times New Roman" panose="02020503050405090304" pitchFamily="18" charset="0"/>
              </a:rPr>
              <a:t>:</a:t>
            </a:r>
            <a:r>
              <a:rPr lang="zh-CN" altLang="en-US" sz="2400" dirty="0">
                <a:latin typeface="Times New Roman" panose="02020503050405090304" pitchFamily="18" charset="0"/>
              </a:rPr>
              <a:t>两条专用查表指令，外部</a:t>
            </a:r>
            <a:r>
              <a:rPr lang="en-US" altLang="zh-CN" sz="2400" dirty="0">
                <a:latin typeface="Times New Roman" panose="02020503050405090304" pitchFamily="18" charset="0"/>
              </a:rPr>
              <a:t>ROM</a:t>
            </a:r>
            <a:r>
              <a:rPr lang="zh-CN" altLang="en-US" sz="2400" dirty="0">
                <a:latin typeface="Times New Roman" panose="02020503050405090304" pitchFamily="18" charset="0"/>
              </a:rPr>
              <a:t>与</a:t>
            </a:r>
            <a:r>
              <a:rPr lang="en-US" altLang="zh-CN" sz="2400" dirty="0">
                <a:latin typeface="Times New Roman" panose="02020503050405090304" pitchFamily="18" charset="0"/>
              </a:rPr>
              <a:t>A</a:t>
            </a:r>
            <a:r>
              <a:rPr lang="zh-CN" altLang="en-US" sz="2400" dirty="0">
                <a:latin typeface="Times New Roman" panose="02020503050405090304" pitchFamily="18" charset="0"/>
              </a:rPr>
              <a:t>之间的数据传送。</a:t>
            </a:r>
            <a:endParaRPr lang="zh-CN" altLang="en-US" sz="2400" dirty="0">
              <a:latin typeface="Times New Roman" panose="02020503050405090304" pitchFamily="18" charset="0"/>
            </a:endParaRPr>
          </a:p>
          <a:p>
            <a:pPr marL="0">
              <a:lnSpc>
                <a:spcPct val="110000"/>
              </a:lnSpc>
              <a:spcBef>
                <a:spcPct val="0"/>
              </a:spcBef>
              <a:buNone/>
            </a:pPr>
            <a:r>
              <a:rPr lang="zh-CN" altLang="en-US" sz="2400" dirty="0">
                <a:latin typeface="Times New Roman" panose="02020503050405090304" pitchFamily="18" charset="0"/>
              </a:rPr>
              <a:t>                     </a:t>
            </a:r>
            <a:endParaRPr lang="zh-CN" altLang="en-US" sz="2400" dirty="0">
              <a:latin typeface="Times New Roman" panose="02020503050405090304" pitchFamily="18" charset="0"/>
            </a:endParaRPr>
          </a:p>
          <a:p>
            <a:pPr marL="0">
              <a:lnSpc>
                <a:spcPct val="110000"/>
              </a:lnSpc>
              <a:spcBef>
                <a:spcPct val="0"/>
              </a:spcBef>
              <a:buNone/>
            </a:pPr>
            <a:r>
              <a:rPr lang="zh-CN" altLang="en-US" sz="2400" dirty="0">
                <a:solidFill>
                  <a:schemeClr val="tx2"/>
                </a:solidFill>
                <a:latin typeface="Times New Roman" panose="02020503050405090304" pitchFamily="18" charset="0"/>
              </a:rPr>
              <a:t>2、</a:t>
            </a:r>
            <a:r>
              <a:rPr lang="zh-CN" altLang="en-US" sz="2400" dirty="0">
                <a:latin typeface="Times New Roman" panose="02020503050405090304" pitchFamily="18" charset="0"/>
              </a:rPr>
              <a:t>@</a:t>
            </a:r>
            <a:r>
              <a:rPr lang="en-US" altLang="zh-CN" sz="2400" dirty="0">
                <a:latin typeface="Times New Roman" panose="02020503050405090304" pitchFamily="18" charset="0"/>
              </a:rPr>
              <a:t>Ri</a:t>
            </a:r>
            <a:r>
              <a:rPr lang="zh-CN" altLang="en-US" sz="2400" dirty="0">
                <a:latin typeface="Times New Roman" panose="02020503050405090304" pitchFamily="18" charset="0"/>
              </a:rPr>
              <a:t>中</a:t>
            </a:r>
            <a:r>
              <a:rPr lang="en-US" altLang="zh-CN" sz="2400" dirty="0">
                <a:latin typeface="Times New Roman" panose="02020503050405090304" pitchFamily="18" charset="0"/>
              </a:rPr>
              <a:t>i</a:t>
            </a:r>
            <a:r>
              <a:rPr lang="zh-CN" altLang="en-US" sz="2400" dirty="0">
                <a:latin typeface="Times New Roman" panose="02020503050405090304" pitchFamily="18" charset="0"/>
              </a:rPr>
              <a:t>的范围是0和1。</a:t>
            </a:r>
            <a:endParaRPr lang="zh-CN" altLang="en-US" sz="2400" dirty="0">
              <a:latin typeface="Times New Roman" panose="02020503050405090304" pitchFamily="18" charset="0"/>
            </a:endParaRPr>
          </a:p>
          <a:p>
            <a:pPr marL="0">
              <a:lnSpc>
                <a:spcPct val="110000"/>
              </a:lnSpc>
              <a:spcBef>
                <a:spcPct val="0"/>
              </a:spcBef>
              <a:buNone/>
            </a:pPr>
            <a:r>
              <a:rPr lang="zh-CN" altLang="en-US" sz="2400" dirty="0">
                <a:latin typeface="Times New Roman" panose="02020503050405090304" pitchFamily="18" charset="0"/>
              </a:rPr>
              <a:t>      </a:t>
            </a:r>
            <a:r>
              <a:rPr lang="en-US" altLang="zh-CN" sz="2400" dirty="0">
                <a:latin typeface="Times New Roman" panose="02020503050405090304" pitchFamily="18" charset="0"/>
              </a:rPr>
              <a:t>Rn</a:t>
            </a:r>
            <a:r>
              <a:rPr lang="zh-CN" altLang="en-US" sz="2400" dirty="0">
                <a:latin typeface="Times New Roman" panose="02020503050405090304" pitchFamily="18" charset="0"/>
              </a:rPr>
              <a:t>中的</a:t>
            </a:r>
            <a:r>
              <a:rPr lang="en-US" altLang="zh-CN" sz="2400" dirty="0">
                <a:latin typeface="Times New Roman" panose="02020503050405090304" pitchFamily="18" charset="0"/>
              </a:rPr>
              <a:t>n</a:t>
            </a:r>
            <a:r>
              <a:rPr lang="zh-CN" altLang="en-US" sz="2400" dirty="0">
                <a:latin typeface="Times New Roman" panose="02020503050405090304" pitchFamily="18" charset="0"/>
              </a:rPr>
              <a:t>的范围是0～7。</a:t>
            </a:r>
            <a:endParaRPr lang="zh-CN" altLang="en-US" sz="2400" dirty="0">
              <a:latin typeface="Times New Roman" panose="02020503050405090304" pitchFamily="18" charset="0"/>
            </a:endParaRPr>
          </a:p>
          <a:p>
            <a:pPr marL="0">
              <a:lnSpc>
                <a:spcPct val="110000"/>
              </a:lnSpc>
              <a:spcBef>
                <a:spcPct val="0"/>
              </a:spcBef>
              <a:buNone/>
            </a:pPr>
            <a:r>
              <a:rPr lang="zh-CN" altLang="en-US" sz="2400" dirty="0">
                <a:latin typeface="Times New Roman" panose="02020503050405090304" pitchFamily="18" charset="0"/>
              </a:rPr>
              <a:t>     </a:t>
            </a:r>
            <a:r>
              <a:rPr lang="zh-CN" altLang="en-US" sz="2400" dirty="0">
                <a:solidFill>
                  <a:schemeClr val="tx2"/>
                </a:solidFill>
                <a:latin typeface="Times New Roman" panose="02020503050405090304" pitchFamily="18" charset="0"/>
              </a:rPr>
              <a:t>每条指令中只能有1个</a:t>
            </a:r>
            <a:r>
              <a:rPr lang="en-US" altLang="zh-CN" sz="2400" dirty="0">
                <a:solidFill>
                  <a:schemeClr val="tx2"/>
                </a:solidFill>
                <a:latin typeface="Times New Roman" panose="02020503050405090304" pitchFamily="18" charset="0"/>
              </a:rPr>
              <a:t>Rn</a:t>
            </a:r>
            <a:r>
              <a:rPr lang="zh-CN" altLang="en-US" sz="2400" dirty="0">
                <a:solidFill>
                  <a:schemeClr val="tx2"/>
                </a:solidFill>
                <a:latin typeface="Times New Roman" panose="02020503050405090304" pitchFamily="18" charset="0"/>
              </a:rPr>
              <a:t>或@</a:t>
            </a:r>
            <a:r>
              <a:rPr lang="en-US" altLang="zh-CN" sz="2400" dirty="0">
                <a:solidFill>
                  <a:schemeClr val="tx2"/>
                </a:solidFill>
                <a:latin typeface="Times New Roman" panose="02020503050405090304" pitchFamily="18" charset="0"/>
              </a:rPr>
              <a:t>Ri。</a:t>
            </a:r>
            <a:endParaRPr lang="en-US" altLang="zh-CN" sz="2400" dirty="0">
              <a:solidFill>
                <a:schemeClr val="tx2"/>
              </a:solidFill>
              <a:latin typeface="Times New Roman" panose="02020503050405090304" pitchFamily="18" charset="0"/>
            </a:endParaRPr>
          </a:p>
          <a:p>
            <a:pPr marL="0">
              <a:lnSpc>
                <a:spcPct val="110000"/>
              </a:lnSpc>
              <a:spcBef>
                <a:spcPct val="0"/>
              </a:spcBef>
              <a:buNone/>
            </a:pPr>
            <a:r>
              <a:rPr lang="zh-CN" altLang="en-US" sz="2400" dirty="0">
                <a:latin typeface="Times New Roman" panose="02020503050405090304" pitchFamily="18" charset="0"/>
              </a:rPr>
              <a:t>     </a:t>
            </a:r>
            <a:r>
              <a:rPr lang="zh-CN" altLang="en-US" sz="2400" dirty="0">
                <a:solidFill>
                  <a:schemeClr val="tx2"/>
                </a:solidFill>
                <a:latin typeface="Times New Roman" panose="02020503050405090304" pitchFamily="18" charset="0"/>
              </a:rPr>
              <a:t>如：</a:t>
            </a:r>
            <a:r>
              <a:rPr lang="zh-CN" altLang="en-US" sz="2400" dirty="0">
                <a:latin typeface="Times New Roman" panose="02020503050405090304" pitchFamily="18" charset="0"/>
              </a:rPr>
              <a:t> </a:t>
            </a:r>
            <a:r>
              <a:rPr lang="en-US" altLang="zh-CN" sz="2400" dirty="0">
                <a:latin typeface="Times New Roman" panose="02020503050405090304" pitchFamily="18" charset="0"/>
              </a:rPr>
              <a:t>MOV R1,@R0     ×</a:t>
            </a:r>
            <a:endParaRPr lang="en-US" altLang="zh-CN" sz="2400" dirty="0">
              <a:latin typeface="Times New Roman" panose="02020503050405090304" pitchFamily="18" charset="0"/>
            </a:endParaRPr>
          </a:p>
          <a:p>
            <a:pPr marL="0">
              <a:lnSpc>
                <a:spcPct val="110000"/>
              </a:lnSpc>
              <a:spcBef>
                <a:spcPct val="0"/>
              </a:spcBef>
              <a:buNone/>
            </a:pPr>
            <a:r>
              <a:rPr lang="en-US" altLang="zh-CN" sz="2400" dirty="0">
                <a:latin typeface="Times New Roman" panose="02020503050405090304" pitchFamily="18" charset="0"/>
              </a:rPr>
              <a:t>              MOV A, @R2      ×</a:t>
            </a:r>
            <a:endParaRPr lang="en-US" altLang="zh-CN" sz="2400" dirty="0">
              <a:latin typeface="Times New Roman" panose="02020503050405090304" pitchFamily="18" charset="0"/>
            </a:endParaRPr>
          </a:p>
          <a:p>
            <a:pPr marL="0">
              <a:lnSpc>
                <a:spcPct val="110000"/>
              </a:lnSpc>
              <a:spcBef>
                <a:spcPct val="0"/>
              </a:spcBef>
              <a:buNone/>
            </a:pPr>
            <a:endParaRPr lang="en-US" altLang="zh-CN" sz="2400" dirty="0">
              <a:latin typeface="Times New Roman" panose="02020503050405090304" pitchFamily="18" charset="0"/>
            </a:endParaRPr>
          </a:p>
          <a:p>
            <a:pPr marL="0">
              <a:lnSpc>
                <a:spcPct val="110000"/>
              </a:lnSpc>
              <a:spcBef>
                <a:spcPct val="0"/>
              </a:spcBef>
              <a:buNone/>
            </a:pPr>
            <a:r>
              <a:rPr lang="en-US" altLang="zh-CN" sz="2400" dirty="0">
                <a:solidFill>
                  <a:schemeClr val="tx2"/>
                </a:solidFill>
                <a:latin typeface="Times New Roman" panose="02020503050405090304" pitchFamily="18" charset="0"/>
              </a:rPr>
              <a:t>3、</a:t>
            </a:r>
            <a:r>
              <a:rPr lang="zh-CN" altLang="en-US" sz="2400" dirty="0">
                <a:latin typeface="Times New Roman" panose="02020503050405090304" pitchFamily="18" charset="0"/>
              </a:rPr>
              <a:t>以累加器</a:t>
            </a:r>
            <a:r>
              <a:rPr lang="en-US" altLang="zh-CN" sz="2400" dirty="0">
                <a:latin typeface="Times New Roman" panose="02020503050405090304" pitchFamily="18" charset="0"/>
              </a:rPr>
              <a:t>A</a:t>
            </a:r>
            <a:r>
              <a:rPr lang="zh-CN" altLang="en-US" sz="2400" dirty="0">
                <a:latin typeface="Times New Roman" panose="02020503050405090304" pitchFamily="18" charset="0"/>
              </a:rPr>
              <a:t>为目的寄存器的传送指令会影响</a:t>
            </a:r>
            <a:r>
              <a:rPr lang="en-US" altLang="zh-CN" sz="2400" dirty="0">
                <a:latin typeface="Times New Roman" panose="02020503050405090304" pitchFamily="18" charset="0"/>
              </a:rPr>
              <a:t>PSW</a:t>
            </a:r>
            <a:r>
              <a:rPr lang="zh-CN" altLang="en-US" sz="2400" dirty="0">
                <a:latin typeface="Times New Roman" panose="02020503050405090304" pitchFamily="18" charset="0"/>
              </a:rPr>
              <a:t>中的奇偶</a:t>
            </a:r>
            <a:endParaRPr lang="zh-CN" altLang="en-US" sz="2400" dirty="0">
              <a:latin typeface="Times New Roman" panose="02020503050405090304" pitchFamily="18" charset="0"/>
            </a:endParaRPr>
          </a:p>
          <a:p>
            <a:pPr marL="0">
              <a:lnSpc>
                <a:spcPct val="110000"/>
              </a:lnSpc>
              <a:spcBef>
                <a:spcPct val="0"/>
              </a:spcBef>
              <a:buNone/>
            </a:pPr>
            <a:r>
              <a:rPr lang="zh-CN" altLang="en-US" sz="2400" dirty="0">
                <a:latin typeface="Times New Roman" panose="02020503050405090304" pitchFamily="18" charset="0"/>
              </a:rPr>
              <a:t>     标志位，其余传送指令对所有标志位均无影响。</a:t>
            </a:r>
            <a:endParaRPr lang="zh-CN" altLang="en-US" sz="2400" dirty="0">
              <a:latin typeface="Times New Roman" panose="02020503050405090304" pitchFamily="18" charset="0"/>
            </a:endParaRPr>
          </a:p>
          <a:p>
            <a:pPr marL="0" algn="just">
              <a:lnSpc>
                <a:spcPct val="85000"/>
              </a:lnSpc>
              <a:spcBef>
                <a:spcPct val="0"/>
              </a:spcBef>
              <a:buNone/>
            </a:pPr>
            <a:endParaRPr lang="zh-CN" altLang="zh-CN" dirty="0">
              <a:solidFill>
                <a:srgbClr val="FFC000"/>
              </a:solidFill>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6739">
                                            <p:txEl>
                                              <p:charRg st="0" end="7"/>
                                            </p:txEl>
                                          </p:spTgt>
                                        </p:tgtEl>
                                        <p:attrNameLst>
                                          <p:attrName>style.visibility</p:attrName>
                                        </p:attrNameLst>
                                      </p:cBhvr>
                                      <p:to>
                                        <p:strVal val="visible"/>
                                      </p:to>
                                    </p:set>
                                    <p:animEffect transition="in" filter="blinds(horizontal)">
                                      <p:cBhvr>
                                        <p:cTn id="7" dur="500"/>
                                        <p:tgtEl>
                                          <p:spTgt spid="116739">
                                            <p:txEl>
                                              <p:charRg st="0"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6739">
                                            <p:txEl>
                                              <p:charRg st="7" end="35"/>
                                            </p:txEl>
                                          </p:spTgt>
                                        </p:tgtEl>
                                        <p:attrNameLst>
                                          <p:attrName>style.visibility</p:attrName>
                                        </p:attrNameLst>
                                      </p:cBhvr>
                                      <p:to>
                                        <p:strVal val="visible"/>
                                      </p:to>
                                    </p:set>
                                    <p:animEffect transition="in" filter="blinds(horizontal)">
                                      <p:cBhvr>
                                        <p:cTn id="12" dur="500"/>
                                        <p:tgtEl>
                                          <p:spTgt spid="116739">
                                            <p:txEl>
                                              <p:charRg st="7" end="3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6739">
                                            <p:txEl>
                                              <p:charRg st="35" end="69"/>
                                            </p:txEl>
                                          </p:spTgt>
                                        </p:tgtEl>
                                        <p:attrNameLst>
                                          <p:attrName>style.visibility</p:attrName>
                                        </p:attrNameLst>
                                      </p:cBhvr>
                                      <p:to>
                                        <p:strVal val="visible"/>
                                      </p:to>
                                    </p:set>
                                    <p:animEffect transition="in" filter="blinds(horizontal)">
                                      <p:cBhvr>
                                        <p:cTn id="17" dur="500"/>
                                        <p:tgtEl>
                                          <p:spTgt spid="116739">
                                            <p:txEl>
                                              <p:charRg st="35" end="6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6739">
                                            <p:txEl>
                                              <p:charRg st="69" end="107"/>
                                            </p:txEl>
                                          </p:spTgt>
                                        </p:tgtEl>
                                        <p:attrNameLst>
                                          <p:attrName>style.visibility</p:attrName>
                                        </p:attrNameLst>
                                      </p:cBhvr>
                                      <p:to>
                                        <p:strVal val="visible"/>
                                      </p:to>
                                    </p:set>
                                    <p:animEffect transition="in" filter="blinds(horizontal)">
                                      <p:cBhvr>
                                        <p:cTn id="22" dur="500"/>
                                        <p:tgtEl>
                                          <p:spTgt spid="116739">
                                            <p:txEl>
                                              <p:charRg st="69" end="10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6739">
                                            <p:txEl>
                                              <p:charRg st="107" end="129"/>
                                            </p:txEl>
                                          </p:spTgt>
                                        </p:tgtEl>
                                        <p:attrNameLst>
                                          <p:attrName>style.visibility</p:attrName>
                                        </p:attrNameLst>
                                      </p:cBhvr>
                                      <p:to>
                                        <p:strVal val="visible"/>
                                      </p:to>
                                    </p:set>
                                    <p:animEffect transition="in" filter="blinds(horizontal)">
                                      <p:cBhvr>
                                        <p:cTn id="27" dur="500"/>
                                        <p:tgtEl>
                                          <p:spTgt spid="116739">
                                            <p:txEl>
                                              <p:charRg st="107" end="12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16739">
                                            <p:txEl>
                                              <p:charRg st="129" end="145"/>
                                            </p:txEl>
                                          </p:spTgt>
                                        </p:tgtEl>
                                        <p:attrNameLst>
                                          <p:attrName>style.visibility</p:attrName>
                                        </p:attrNameLst>
                                      </p:cBhvr>
                                      <p:to>
                                        <p:strVal val="visible"/>
                                      </p:to>
                                    </p:set>
                                    <p:animEffect transition="in" filter="blinds(horizontal)">
                                      <p:cBhvr>
                                        <p:cTn id="32" dur="500"/>
                                        <p:tgtEl>
                                          <p:spTgt spid="116739">
                                            <p:txEl>
                                              <p:charRg st="129" end="14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16739">
                                            <p:txEl>
                                              <p:charRg st="145" end="165"/>
                                            </p:txEl>
                                          </p:spTgt>
                                        </p:tgtEl>
                                        <p:attrNameLst>
                                          <p:attrName>style.visibility</p:attrName>
                                        </p:attrNameLst>
                                      </p:cBhvr>
                                      <p:to>
                                        <p:strVal val="visible"/>
                                      </p:to>
                                    </p:set>
                                    <p:animEffect transition="in" filter="blinds(horizontal)">
                                      <p:cBhvr>
                                        <p:cTn id="37" dur="500"/>
                                        <p:tgtEl>
                                          <p:spTgt spid="116739">
                                            <p:txEl>
                                              <p:charRg st="145" end="16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16739">
                                            <p:txEl>
                                              <p:charRg st="165" end="188"/>
                                            </p:txEl>
                                          </p:spTgt>
                                        </p:tgtEl>
                                        <p:attrNameLst>
                                          <p:attrName>style.visibility</p:attrName>
                                        </p:attrNameLst>
                                      </p:cBhvr>
                                      <p:to>
                                        <p:strVal val="visible"/>
                                      </p:to>
                                    </p:set>
                                    <p:animEffect transition="in" filter="blinds(horizontal)">
                                      <p:cBhvr>
                                        <p:cTn id="42" dur="500"/>
                                        <p:tgtEl>
                                          <p:spTgt spid="116739">
                                            <p:txEl>
                                              <p:charRg st="165" end="18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16739">
                                            <p:txEl>
                                              <p:charRg st="188" end="213"/>
                                            </p:txEl>
                                          </p:spTgt>
                                        </p:tgtEl>
                                        <p:attrNameLst>
                                          <p:attrName>style.visibility</p:attrName>
                                        </p:attrNameLst>
                                      </p:cBhvr>
                                      <p:to>
                                        <p:strVal val="visible"/>
                                      </p:to>
                                    </p:set>
                                    <p:animEffect transition="in" filter="blinds(horizontal)">
                                      <p:cBhvr>
                                        <p:cTn id="47" dur="500"/>
                                        <p:tgtEl>
                                          <p:spTgt spid="116739">
                                            <p:txEl>
                                              <p:charRg st="188" end="21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16739">
                                            <p:txEl>
                                              <p:charRg st="213" end="245"/>
                                            </p:txEl>
                                          </p:spTgt>
                                        </p:tgtEl>
                                        <p:attrNameLst>
                                          <p:attrName>style.visibility</p:attrName>
                                        </p:attrNameLst>
                                      </p:cBhvr>
                                      <p:to>
                                        <p:strVal val="visible"/>
                                      </p:to>
                                    </p:set>
                                    <p:animEffect transition="in" filter="blinds(horizontal)">
                                      <p:cBhvr>
                                        <p:cTn id="52" dur="500"/>
                                        <p:tgtEl>
                                          <p:spTgt spid="116739">
                                            <p:txEl>
                                              <p:charRg st="213" end="245"/>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16739">
                                            <p:txEl>
                                              <p:charRg st="246" end="275"/>
                                            </p:txEl>
                                          </p:spTgt>
                                        </p:tgtEl>
                                        <p:attrNameLst>
                                          <p:attrName>style.visibility</p:attrName>
                                        </p:attrNameLst>
                                      </p:cBhvr>
                                      <p:to>
                                        <p:strVal val="visible"/>
                                      </p:to>
                                    </p:set>
                                    <p:animEffect transition="in" filter="blinds(horizontal)">
                                      <p:cBhvr>
                                        <p:cTn id="57" dur="500"/>
                                        <p:tgtEl>
                                          <p:spTgt spid="116739">
                                            <p:txEl>
                                              <p:charRg st="246" end="275"/>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16739">
                                            <p:txEl>
                                              <p:charRg st="275" end="302"/>
                                            </p:txEl>
                                          </p:spTgt>
                                        </p:tgtEl>
                                        <p:attrNameLst>
                                          <p:attrName>style.visibility</p:attrName>
                                        </p:attrNameLst>
                                      </p:cBhvr>
                                      <p:to>
                                        <p:strVal val="visible"/>
                                      </p:to>
                                    </p:set>
                                    <p:animEffect transition="in" filter="blinds(horizontal)">
                                      <p:cBhvr>
                                        <p:cTn id="62" dur="500"/>
                                        <p:tgtEl>
                                          <p:spTgt spid="116739">
                                            <p:txEl>
                                              <p:charRg st="275" end="30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9" grpId="0" build="p"/>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例题</a:t>
            </a:r>
            <a:endParaRPr kumimoji="1"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158722" name="矩形 3"/>
          <p:cNvSpPr/>
          <p:nvPr/>
        </p:nvSpPr>
        <p:spPr>
          <a:xfrm>
            <a:off x="539750" y="1125538"/>
            <a:ext cx="8424863" cy="4892675"/>
          </a:xfrm>
          <a:prstGeom prst="rect">
            <a:avLst/>
          </a:prstGeom>
          <a:noFill/>
          <a:ln w="9525">
            <a:noFill/>
          </a:ln>
        </p:spPr>
        <p:txBody>
          <a:bodyPr anchor="t" anchorCtr="0">
            <a:spAutoFit/>
          </a:bodyPr>
          <a:p>
            <a:pPr eaLnBrk="0" hangingPunct="0"/>
            <a:r>
              <a:rPr lang="zh-CN" altLang="zh-CN" dirty="0">
                <a:latin typeface="Times New Roman" panose="02020503050405090304" pitchFamily="18" charset="0"/>
                <a:ea typeface="仿宋_GB2312" pitchFamily="49" charset="-122"/>
              </a:rPr>
              <a:t>设</a:t>
            </a:r>
            <a:r>
              <a:rPr lang="en-US" altLang="zh-CN" dirty="0">
                <a:latin typeface="Times New Roman" panose="02020503050405090304" pitchFamily="18" charset="0"/>
                <a:ea typeface="仿宋_GB2312" pitchFamily="49" charset="-122"/>
              </a:rPr>
              <a:t> (30H)</a:t>
            </a:r>
            <a:r>
              <a:rPr lang="zh-CN" altLang="zh-CN"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00H</a:t>
            </a:r>
            <a:r>
              <a:rPr lang="zh-CN" altLang="zh-CN" dirty="0">
                <a:latin typeface="Times New Roman" panose="02020503050405090304" pitchFamily="18" charset="0"/>
                <a:ea typeface="仿宋_GB2312" pitchFamily="49" charset="-122"/>
              </a:rPr>
              <a:t>，试在后面的空格中填入程序执行后的结果。</a:t>
            </a:r>
            <a:endParaRPr lang="zh-CN" altLang="zh-CN" dirty="0">
              <a:latin typeface="Times New Roman" panose="02020503050405090304" pitchFamily="18" charset="0"/>
              <a:ea typeface="仿宋_GB2312" pitchFamily="49" charset="-122"/>
            </a:endParaRPr>
          </a:p>
          <a:p>
            <a:pPr eaLnBrk="0" hangingPunct="0"/>
            <a:r>
              <a:rPr lang="en-US" altLang="zh-CN" dirty="0">
                <a:latin typeface="Times New Roman" panose="02020503050405090304" pitchFamily="18" charset="0"/>
                <a:ea typeface="仿宋_GB2312" pitchFamily="49" charset="-122"/>
              </a:rPr>
              <a:t>ORG	        1000H</a:t>
            </a:r>
            <a:endParaRPr lang="zh-CN" altLang="zh-CN" dirty="0">
              <a:latin typeface="Times New Roman" panose="02020503050405090304" pitchFamily="18" charset="0"/>
              <a:ea typeface="仿宋_GB2312" pitchFamily="49" charset="-122"/>
            </a:endParaRPr>
          </a:p>
          <a:p>
            <a:pPr eaLnBrk="0" hangingPunct="0"/>
            <a:r>
              <a:rPr lang="en-US" altLang="zh-CN" dirty="0">
                <a:latin typeface="Times New Roman" panose="02020503050405090304" pitchFamily="18" charset="0"/>
                <a:ea typeface="仿宋_GB2312" pitchFamily="49" charset="-122"/>
              </a:rPr>
              <a:t>START</a:t>
            </a:r>
            <a:r>
              <a:rPr lang="zh-CN" altLang="zh-CN"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 MOV  A</a:t>
            </a:r>
            <a:r>
              <a:rPr lang="zh-CN" altLang="zh-CN"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30H	                    </a:t>
            </a:r>
            <a:endParaRPr lang="zh-CN" altLang="zh-CN" dirty="0">
              <a:latin typeface="Times New Roman" panose="02020503050405090304" pitchFamily="18" charset="0"/>
              <a:ea typeface="仿宋_GB2312" pitchFamily="49" charset="-122"/>
            </a:endParaRPr>
          </a:p>
          <a:p>
            <a:pPr eaLnBrk="0" hangingPunct="0"/>
            <a:r>
              <a:rPr lang="en-US" altLang="zh-CN" dirty="0">
                <a:latin typeface="Times New Roman" panose="02020503050405090304" pitchFamily="18" charset="0"/>
                <a:ea typeface="仿宋_GB2312" pitchFamily="49" charset="-122"/>
              </a:rPr>
              <a:t>  JNB	  ACC.7</a:t>
            </a:r>
            <a:r>
              <a:rPr lang="zh-CN" altLang="zh-CN"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YES                     </a:t>
            </a:r>
            <a:endParaRPr lang="zh-CN" altLang="zh-CN" dirty="0">
              <a:latin typeface="Times New Roman" panose="02020503050405090304" pitchFamily="18" charset="0"/>
              <a:ea typeface="仿宋_GB2312" pitchFamily="49" charset="-122"/>
            </a:endParaRPr>
          </a:p>
          <a:p>
            <a:pPr eaLnBrk="0" hangingPunct="0"/>
            <a:r>
              <a:rPr lang="en-US" altLang="zh-CN" dirty="0">
                <a:latin typeface="Times New Roman" panose="02020503050405090304" pitchFamily="18" charset="0"/>
                <a:ea typeface="仿宋_GB2312" pitchFamily="49" charset="-122"/>
              </a:rPr>
              <a:t>MOV	    31H</a:t>
            </a:r>
            <a:r>
              <a:rPr lang="zh-CN" altLang="zh-CN"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#0		                        </a:t>
            </a:r>
            <a:endParaRPr lang="zh-CN" altLang="zh-CN" dirty="0">
              <a:latin typeface="Times New Roman" panose="02020503050405090304" pitchFamily="18" charset="0"/>
              <a:ea typeface="仿宋_GB2312" pitchFamily="49" charset="-122"/>
            </a:endParaRPr>
          </a:p>
          <a:p>
            <a:pPr eaLnBrk="0" hangingPunct="0"/>
            <a:r>
              <a:rPr lang="en-US" altLang="zh-CN" dirty="0">
                <a:latin typeface="Times New Roman" panose="02020503050405090304" pitchFamily="18" charset="0"/>
                <a:ea typeface="仿宋_GB2312" pitchFamily="49" charset="-122"/>
              </a:rPr>
              <a:t> SJMP	   FINISH</a:t>
            </a:r>
            <a:endParaRPr lang="zh-CN" altLang="zh-CN" dirty="0">
              <a:latin typeface="Times New Roman" panose="02020503050405090304" pitchFamily="18" charset="0"/>
              <a:ea typeface="仿宋_GB2312" pitchFamily="49" charset="-122"/>
            </a:endParaRPr>
          </a:p>
          <a:p>
            <a:pPr eaLnBrk="0" hangingPunct="0"/>
            <a:r>
              <a:rPr lang="en-US" altLang="zh-CN" dirty="0">
                <a:latin typeface="Times New Roman" panose="02020503050405090304" pitchFamily="18" charset="0"/>
                <a:ea typeface="仿宋_GB2312" pitchFamily="49" charset="-122"/>
              </a:rPr>
              <a:t>YES</a:t>
            </a:r>
            <a:r>
              <a:rPr lang="zh-CN" altLang="zh-CN"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  JNZ	TOW		        </a:t>
            </a:r>
            <a:endParaRPr lang="zh-CN" altLang="zh-CN" dirty="0">
              <a:latin typeface="Times New Roman" panose="02020503050405090304" pitchFamily="18" charset="0"/>
              <a:ea typeface="仿宋_GB2312" pitchFamily="49" charset="-122"/>
            </a:endParaRPr>
          </a:p>
          <a:p>
            <a:pPr eaLnBrk="0" hangingPunct="0"/>
            <a:r>
              <a:rPr lang="en-US" altLang="zh-CN" dirty="0">
                <a:latin typeface="Times New Roman" panose="02020503050405090304" pitchFamily="18" charset="0"/>
                <a:ea typeface="仿宋_GB2312" pitchFamily="49" charset="-122"/>
              </a:rPr>
              <a:t> MOV	  31H</a:t>
            </a:r>
            <a:r>
              <a:rPr lang="zh-CN" altLang="zh-CN"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#1	                               </a:t>
            </a:r>
            <a:endParaRPr lang="zh-CN" altLang="zh-CN" dirty="0">
              <a:latin typeface="Times New Roman" panose="02020503050405090304" pitchFamily="18" charset="0"/>
              <a:ea typeface="仿宋_GB2312" pitchFamily="49" charset="-122"/>
            </a:endParaRPr>
          </a:p>
          <a:p>
            <a:pPr eaLnBrk="0" hangingPunct="0"/>
            <a:r>
              <a:rPr lang="en-US" altLang="zh-CN" dirty="0">
                <a:latin typeface="Times New Roman" panose="02020503050405090304" pitchFamily="18" charset="0"/>
                <a:ea typeface="仿宋_GB2312" pitchFamily="49" charset="-122"/>
              </a:rPr>
              <a:t> SJMP	   FINISH</a:t>
            </a:r>
            <a:endParaRPr lang="zh-CN" altLang="zh-CN" dirty="0">
              <a:latin typeface="Times New Roman" panose="02020503050405090304" pitchFamily="18" charset="0"/>
              <a:ea typeface="仿宋_GB2312" pitchFamily="49" charset="-122"/>
            </a:endParaRPr>
          </a:p>
          <a:p>
            <a:pPr eaLnBrk="0" hangingPunct="0"/>
            <a:r>
              <a:rPr lang="en-US" altLang="zh-CN" dirty="0">
                <a:latin typeface="Times New Roman" panose="02020503050405090304" pitchFamily="18" charset="0"/>
                <a:ea typeface="仿宋_GB2312" pitchFamily="49" charset="-122"/>
              </a:rPr>
              <a:t>TOW</a:t>
            </a:r>
            <a:r>
              <a:rPr lang="zh-CN" altLang="zh-CN"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 MOV	31H,  #2		    </a:t>
            </a:r>
            <a:endParaRPr lang="zh-CN" altLang="zh-CN" dirty="0">
              <a:latin typeface="Times New Roman" panose="02020503050405090304" pitchFamily="18" charset="0"/>
              <a:ea typeface="仿宋_GB2312" pitchFamily="49" charset="-122"/>
            </a:endParaRPr>
          </a:p>
          <a:p>
            <a:pPr eaLnBrk="0" hangingPunct="0"/>
            <a:r>
              <a:rPr lang="en-US" altLang="zh-CN" dirty="0">
                <a:latin typeface="Times New Roman" panose="02020503050405090304" pitchFamily="18" charset="0"/>
                <a:ea typeface="仿宋_GB2312" pitchFamily="49" charset="-122"/>
              </a:rPr>
              <a:t>FINISH</a:t>
            </a:r>
            <a:r>
              <a:rPr lang="zh-CN" altLang="zh-CN"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SJMP   $</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执行后结果：</a:t>
            </a:r>
            <a:r>
              <a:rPr lang="pt-BR" altLang="zh-CN" dirty="0">
                <a:latin typeface="Times New Roman" panose="02020503050405090304" pitchFamily="18" charset="0"/>
                <a:ea typeface="仿宋_GB2312" pitchFamily="49" charset="-122"/>
              </a:rPr>
              <a:t>(A)</a:t>
            </a:r>
            <a:r>
              <a:rPr lang="zh-CN" altLang="zh-CN" dirty="0">
                <a:latin typeface="Times New Roman" panose="02020503050405090304" pitchFamily="18" charset="0"/>
                <a:ea typeface="仿宋_GB2312" pitchFamily="49" charset="-122"/>
              </a:rPr>
              <a:t>＝</a:t>
            </a:r>
            <a:r>
              <a:rPr lang="zh-CN" altLang="zh-CN" u="sng" dirty="0">
                <a:latin typeface="Times New Roman" panose="02020503050405090304" pitchFamily="18" charset="0"/>
                <a:ea typeface="仿宋_GB2312" pitchFamily="49" charset="-122"/>
              </a:rPr>
              <a:t> </a:t>
            </a:r>
            <a:r>
              <a:rPr lang="pt-BR" altLang="zh-CN" u="sng" dirty="0">
                <a:latin typeface="Times New Roman" panose="02020503050405090304" pitchFamily="18" charset="0"/>
                <a:ea typeface="仿宋_GB2312" pitchFamily="49" charset="-122"/>
              </a:rPr>
              <a:t>        </a:t>
            </a:r>
            <a:r>
              <a:rPr lang="pt-BR" altLang="zh-CN" dirty="0">
                <a:latin typeface="Times New Roman" panose="02020503050405090304" pitchFamily="18" charset="0"/>
                <a:ea typeface="仿宋_GB2312" pitchFamily="49" charset="-122"/>
              </a:rPr>
              <a:t> </a:t>
            </a:r>
            <a:r>
              <a:rPr lang="zh-CN" altLang="zh-CN" dirty="0">
                <a:latin typeface="Times New Roman" panose="02020503050405090304" pitchFamily="18" charset="0"/>
                <a:ea typeface="仿宋_GB2312" pitchFamily="49" charset="-122"/>
              </a:rPr>
              <a:t>，</a:t>
            </a:r>
            <a:r>
              <a:rPr lang="pt-BR" altLang="zh-CN" dirty="0">
                <a:latin typeface="Times New Roman" panose="02020503050405090304" pitchFamily="18" charset="0"/>
                <a:ea typeface="仿宋_GB2312" pitchFamily="49" charset="-122"/>
              </a:rPr>
              <a:t>(31H)</a:t>
            </a:r>
            <a:r>
              <a:rPr lang="zh-CN" altLang="zh-CN" dirty="0">
                <a:latin typeface="Times New Roman" panose="02020503050405090304" pitchFamily="18" charset="0"/>
                <a:ea typeface="仿宋_GB2312" pitchFamily="49" charset="-122"/>
              </a:rPr>
              <a:t>＝</a:t>
            </a:r>
            <a:r>
              <a:rPr lang="zh-CN" altLang="zh-CN" u="sng" dirty="0">
                <a:latin typeface="Times New Roman" panose="02020503050405090304" pitchFamily="18" charset="0"/>
                <a:ea typeface="仿宋_GB2312" pitchFamily="49" charset="-122"/>
              </a:rPr>
              <a:t> </a:t>
            </a:r>
            <a:r>
              <a:rPr lang="pt-BR" altLang="zh-CN" u="sng" dirty="0">
                <a:latin typeface="Times New Roman" panose="02020503050405090304" pitchFamily="18" charset="0"/>
                <a:ea typeface="仿宋_GB2312" pitchFamily="49" charset="-122"/>
              </a:rPr>
              <a:t>     </a:t>
            </a:r>
            <a:r>
              <a:rPr lang="pt-BR" altLang="zh-CN" dirty="0">
                <a:latin typeface="Times New Roman" panose="02020503050405090304" pitchFamily="18" charset="0"/>
                <a:ea typeface="仿宋_GB2312" pitchFamily="49" charset="-122"/>
              </a:rPr>
              <a:t> </a:t>
            </a:r>
            <a:r>
              <a:rPr lang="zh-CN" altLang="zh-CN" dirty="0">
                <a:latin typeface="Times New Roman" panose="02020503050405090304" pitchFamily="18" charset="0"/>
                <a:ea typeface="仿宋_GB2312" pitchFamily="49" charset="-122"/>
              </a:rPr>
              <a:t>，</a:t>
            </a:r>
            <a:r>
              <a:rPr lang="pt-BR" altLang="zh-CN"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ACC.7</a:t>
            </a:r>
            <a:r>
              <a:rPr lang="pt-BR" altLang="zh-CN" dirty="0">
                <a:latin typeface="Times New Roman" panose="02020503050405090304" pitchFamily="18" charset="0"/>
                <a:ea typeface="仿宋_GB2312" pitchFamily="49" charset="-122"/>
              </a:rPr>
              <a:t>)</a:t>
            </a:r>
            <a:r>
              <a:rPr lang="zh-CN" altLang="zh-CN"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  </a:t>
            </a:r>
            <a:r>
              <a:rPr lang="zh-CN" altLang="zh-CN" u="sng" dirty="0">
                <a:latin typeface="Times New Roman" panose="02020503050405090304" pitchFamily="18" charset="0"/>
                <a:ea typeface="仿宋_GB2312" pitchFamily="49" charset="-122"/>
              </a:rPr>
              <a:t> </a:t>
            </a:r>
            <a:r>
              <a:rPr lang="en-US" altLang="zh-CN" u="sng" dirty="0">
                <a:latin typeface="Times New Roman" panose="02020503050405090304" pitchFamily="18" charset="0"/>
                <a:ea typeface="仿宋_GB2312" pitchFamily="49" charset="-122"/>
              </a:rPr>
              <a:t>      </a:t>
            </a:r>
            <a:r>
              <a:rPr lang="pt-BR" altLang="zh-CN" dirty="0">
                <a:latin typeface="Times New Roman" panose="02020503050405090304" pitchFamily="18" charset="0"/>
                <a:ea typeface="仿宋_GB2312" pitchFamily="49" charset="-122"/>
              </a:rPr>
              <a:t> </a:t>
            </a:r>
            <a:r>
              <a:rPr lang="zh-CN" altLang="zh-CN" dirty="0">
                <a:latin typeface="Times New Roman" panose="02020503050405090304" pitchFamily="18" charset="0"/>
                <a:ea typeface="仿宋_GB2312" pitchFamily="49" charset="-122"/>
              </a:rPr>
              <a:t>，</a:t>
            </a:r>
            <a:r>
              <a:rPr lang="en-US" altLang="zh-CN" u="sng" dirty="0">
                <a:latin typeface="Times New Roman" panose="02020503050405090304" pitchFamily="18" charset="0"/>
                <a:ea typeface="仿宋_GB2312" pitchFamily="49" charset="-122"/>
              </a:rPr>
              <a:t> </a:t>
            </a:r>
            <a:r>
              <a:rPr lang="pt-BR" altLang="zh-CN" u="sng" dirty="0">
                <a:latin typeface="Times New Roman" panose="02020503050405090304" pitchFamily="18" charset="0"/>
                <a:ea typeface="仿宋_GB2312" pitchFamily="49" charset="-122"/>
              </a:rPr>
              <a:t>      </a:t>
            </a:r>
            <a:r>
              <a:rPr lang="pt-BR" altLang="zh-CN" dirty="0">
                <a:latin typeface="Times New Roman" panose="02020503050405090304" pitchFamily="18" charset="0"/>
                <a:ea typeface="仿宋_GB2312" pitchFamily="49" charset="-122"/>
              </a:rPr>
              <a:t> (30H)</a:t>
            </a:r>
            <a:r>
              <a:rPr lang="zh-CN" altLang="zh-CN" dirty="0">
                <a:latin typeface="Times New Roman" panose="02020503050405090304" pitchFamily="18" charset="0"/>
                <a:ea typeface="仿宋_GB2312" pitchFamily="49" charset="-122"/>
              </a:rPr>
              <a:t>＝</a:t>
            </a:r>
            <a:r>
              <a:rPr lang="pt-BR" altLang="zh-CN" u="sng" dirty="0">
                <a:latin typeface="Times New Roman" panose="02020503050405090304" pitchFamily="18" charset="0"/>
                <a:ea typeface="仿宋_GB2312" pitchFamily="49" charset="-122"/>
              </a:rPr>
              <a:t> </a:t>
            </a:r>
            <a:r>
              <a:rPr lang="pt-BR" altLang="zh-CN" dirty="0">
                <a:latin typeface="Times New Roman" panose="02020503050405090304" pitchFamily="18" charset="0"/>
                <a:ea typeface="仿宋_GB2312" pitchFamily="49" charset="-122"/>
              </a:rPr>
              <a:t> </a:t>
            </a:r>
            <a:r>
              <a:rPr lang="zh-CN" altLang="zh-CN" u="sng" dirty="0">
                <a:latin typeface="Times New Roman" panose="02020503050405090304" pitchFamily="18" charset="0"/>
                <a:ea typeface="仿宋_GB2312" pitchFamily="49" charset="-122"/>
              </a:rPr>
              <a:t> </a:t>
            </a:r>
            <a:r>
              <a:rPr lang="pt-BR" altLang="zh-CN" u="sng" dirty="0">
                <a:latin typeface="Times New Roman" panose="02020503050405090304" pitchFamily="18" charset="0"/>
                <a:ea typeface="仿宋_GB2312" pitchFamily="49" charset="-122"/>
              </a:rPr>
              <a:t>                 </a:t>
            </a:r>
            <a:endParaRPr lang="zh-CN" altLang="zh-CN" dirty="0">
              <a:latin typeface="Times New Roman" panose="02020503050405090304" pitchFamily="18" charset="0"/>
              <a:ea typeface="仿宋_GB2312" pitchFamily="49" charset="-122"/>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例题</a:t>
            </a:r>
            <a:endParaRPr kumimoji="1"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159746" name="矩形 3"/>
          <p:cNvSpPr/>
          <p:nvPr/>
        </p:nvSpPr>
        <p:spPr>
          <a:xfrm>
            <a:off x="539750" y="1125538"/>
            <a:ext cx="7416800" cy="5262562"/>
          </a:xfrm>
          <a:prstGeom prst="rect">
            <a:avLst/>
          </a:prstGeom>
          <a:noFill/>
          <a:ln w="9525">
            <a:noFill/>
          </a:ln>
        </p:spPr>
        <p:txBody>
          <a:bodyPr anchor="t" anchorCtr="0">
            <a:spAutoFit/>
          </a:bodyPr>
          <a:p>
            <a:pPr eaLnBrk="0" hangingPunct="0"/>
            <a:r>
              <a:rPr lang="zh-CN" altLang="zh-CN" dirty="0">
                <a:latin typeface="Times New Roman" panose="02020503050405090304" pitchFamily="18" charset="0"/>
                <a:ea typeface="仿宋_GB2312" pitchFamily="49" charset="-122"/>
              </a:rPr>
              <a:t>设</a:t>
            </a:r>
            <a:r>
              <a:rPr lang="en-US" altLang="zh-CN" dirty="0">
                <a:latin typeface="Times New Roman" panose="02020503050405090304" pitchFamily="18" charset="0"/>
                <a:ea typeface="仿宋_GB2312" pitchFamily="49" charset="-122"/>
              </a:rPr>
              <a:t> (30H)</a:t>
            </a:r>
            <a:r>
              <a:rPr lang="zh-CN" altLang="zh-CN"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00H</a:t>
            </a:r>
            <a:r>
              <a:rPr lang="zh-CN" altLang="zh-CN" dirty="0">
                <a:latin typeface="Times New Roman" panose="02020503050405090304" pitchFamily="18" charset="0"/>
                <a:ea typeface="仿宋_GB2312" pitchFamily="49" charset="-122"/>
              </a:rPr>
              <a:t>，试在后面的空格中填入程序执行后的结果。</a:t>
            </a:r>
            <a:endParaRPr lang="zh-CN" altLang="zh-CN" dirty="0">
              <a:latin typeface="Times New Roman" panose="02020503050405090304" pitchFamily="18" charset="0"/>
              <a:ea typeface="仿宋_GB2312" pitchFamily="49" charset="-122"/>
            </a:endParaRPr>
          </a:p>
          <a:p>
            <a:pPr eaLnBrk="0" hangingPunct="0"/>
            <a:r>
              <a:rPr lang="en-US" altLang="zh-CN" dirty="0">
                <a:latin typeface="Times New Roman" panose="02020503050405090304" pitchFamily="18" charset="0"/>
                <a:ea typeface="仿宋_GB2312" pitchFamily="49" charset="-122"/>
              </a:rPr>
              <a:t>ORG	        1000H</a:t>
            </a:r>
            <a:endParaRPr lang="zh-CN" altLang="zh-CN" dirty="0">
              <a:latin typeface="Times New Roman" panose="02020503050405090304" pitchFamily="18" charset="0"/>
              <a:ea typeface="仿宋_GB2312" pitchFamily="49" charset="-122"/>
            </a:endParaRPr>
          </a:p>
          <a:p>
            <a:pPr eaLnBrk="0" hangingPunct="0"/>
            <a:r>
              <a:rPr lang="en-US" altLang="zh-CN" dirty="0">
                <a:latin typeface="Times New Roman" panose="02020503050405090304" pitchFamily="18" charset="0"/>
                <a:ea typeface="仿宋_GB2312" pitchFamily="49" charset="-122"/>
              </a:rPr>
              <a:t>START</a:t>
            </a:r>
            <a:r>
              <a:rPr lang="zh-CN" altLang="zh-CN"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 MOV  A</a:t>
            </a:r>
            <a:r>
              <a:rPr lang="zh-CN" altLang="zh-CN"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30H	                    </a:t>
            </a:r>
            <a:endParaRPr lang="zh-CN" altLang="zh-CN" dirty="0">
              <a:latin typeface="Times New Roman" panose="02020503050405090304" pitchFamily="18" charset="0"/>
              <a:ea typeface="仿宋_GB2312" pitchFamily="49" charset="-122"/>
            </a:endParaRPr>
          </a:p>
          <a:p>
            <a:pPr eaLnBrk="0" hangingPunct="0"/>
            <a:r>
              <a:rPr lang="en-US" altLang="zh-CN" dirty="0">
                <a:latin typeface="Times New Roman" panose="02020503050405090304" pitchFamily="18" charset="0"/>
                <a:ea typeface="仿宋_GB2312" pitchFamily="49" charset="-122"/>
              </a:rPr>
              <a:t>  JNB	  ACC.7</a:t>
            </a:r>
            <a:r>
              <a:rPr lang="zh-CN" altLang="zh-CN"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YES                     </a:t>
            </a:r>
            <a:endParaRPr lang="zh-CN" altLang="zh-CN" dirty="0">
              <a:latin typeface="Times New Roman" panose="02020503050405090304" pitchFamily="18" charset="0"/>
              <a:ea typeface="仿宋_GB2312" pitchFamily="49" charset="-122"/>
            </a:endParaRPr>
          </a:p>
          <a:p>
            <a:pPr eaLnBrk="0" hangingPunct="0"/>
            <a:r>
              <a:rPr lang="en-US" altLang="zh-CN" dirty="0">
                <a:latin typeface="Times New Roman" panose="02020503050405090304" pitchFamily="18" charset="0"/>
                <a:ea typeface="仿宋_GB2312" pitchFamily="49" charset="-122"/>
              </a:rPr>
              <a:t>MOV	    31H</a:t>
            </a:r>
            <a:r>
              <a:rPr lang="zh-CN" altLang="zh-CN"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#0		                        </a:t>
            </a:r>
            <a:endParaRPr lang="zh-CN" altLang="zh-CN" dirty="0">
              <a:latin typeface="Times New Roman" panose="02020503050405090304" pitchFamily="18" charset="0"/>
              <a:ea typeface="仿宋_GB2312" pitchFamily="49" charset="-122"/>
            </a:endParaRPr>
          </a:p>
          <a:p>
            <a:pPr eaLnBrk="0" hangingPunct="0"/>
            <a:r>
              <a:rPr lang="en-US" altLang="zh-CN" dirty="0">
                <a:latin typeface="Times New Roman" panose="02020503050405090304" pitchFamily="18" charset="0"/>
                <a:ea typeface="仿宋_GB2312" pitchFamily="49" charset="-122"/>
              </a:rPr>
              <a:t> SJMP	   FINISH</a:t>
            </a:r>
            <a:endParaRPr lang="zh-CN" altLang="zh-CN" dirty="0">
              <a:latin typeface="Times New Roman" panose="02020503050405090304" pitchFamily="18" charset="0"/>
              <a:ea typeface="仿宋_GB2312" pitchFamily="49" charset="-122"/>
            </a:endParaRPr>
          </a:p>
          <a:p>
            <a:pPr eaLnBrk="0" hangingPunct="0"/>
            <a:r>
              <a:rPr lang="en-US" altLang="zh-CN" dirty="0">
                <a:latin typeface="Times New Roman" panose="02020503050405090304" pitchFamily="18" charset="0"/>
                <a:ea typeface="仿宋_GB2312" pitchFamily="49" charset="-122"/>
              </a:rPr>
              <a:t>YES</a:t>
            </a:r>
            <a:r>
              <a:rPr lang="zh-CN" altLang="zh-CN"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  JNZ	TOW		        </a:t>
            </a:r>
            <a:endParaRPr lang="zh-CN" altLang="zh-CN" dirty="0">
              <a:latin typeface="Times New Roman" panose="02020503050405090304" pitchFamily="18" charset="0"/>
              <a:ea typeface="仿宋_GB2312" pitchFamily="49" charset="-122"/>
            </a:endParaRPr>
          </a:p>
          <a:p>
            <a:pPr eaLnBrk="0" hangingPunct="0"/>
            <a:r>
              <a:rPr lang="en-US" altLang="zh-CN" dirty="0">
                <a:latin typeface="Times New Roman" panose="02020503050405090304" pitchFamily="18" charset="0"/>
                <a:ea typeface="仿宋_GB2312" pitchFamily="49" charset="-122"/>
              </a:rPr>
              <a:t> MOV	  31H</a:t>
            </a:r>
            <a:r>
              <a:rPr lang="zh-CN" altLang="zh-CN"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#1	                               </a:t>
            </a:r>
            <a:endParaRPr lang="zh-CN" altLang="zh-CN" dirty="0">
              <a:latin typeface="Times New Roman" panose="02020503050405090304" pitchFamily="18" charset="0"/>
              <a:ea typeface="仿宋_GB2312" pitchFamily="49" charset="-122"/>
            </a:endParaRPr>
          </a:p>
          <a:p>
            <a:pPr eaLnBrk="0" hangingPunct="0"/>
            <a:r>
              <a:rPr lang="en-US" altLang="zh-CN" dirty="0">
                <a:latin typeface="Times New Roman" panose="02020503050405090304" pitchFamily="18" charset="0"/>
                <a:ea typeface="仿宋_GB2312" pitchFamily="49" charset="-122"/>
              </a:rPr>
              <a:t> SJMP	   FINISH</a:t>
            </a:r>
            <a:endParaRPr lang="zh-CN" altLang="zh-CN" dirty="0">
              <a:latin typeface="Times New Roman" panose="02020503050405090304" pitchFamily="18" charset="0"/>
              <a:ea typeface="仿宋_GB2312" pitchFamily="49" charset="-122"/>
            </a:endParaRPr>
          </a:p>
          <a:p>
            <a:pPr eaLnBrk="0" hangingPunct="0"/>
            <a:r>
              <a:rPr lang="en-US" altLang="zh-CN" dirty="0">
                <a:latin typeface="Times New Roman" panose="02020503050405090304" pitchFamily="18" charset="0"/>
                <a:ea typeface="仿宋_GB2312" pitchFamily="49" charset="-122"/>
              </a:rPr>
              <a:t>TOW</a:t>
            </a:r>
            <a:r>
              <a:rPr lang="zh-CN" altLang="zh-CN"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 MOV	31H,  #2		    </a:t>
            </a:r>
            <a:endParaRPr lang="zh-CN" altLang="zh-CN" dirty="0">
              <a:latin typeface="Times New Roman" panose="02020503050405090304" pitchFamily="18" charset="0"/>
              <a:ea typeface="仿宋_GB2312" pitchFamily="49" charset="-122"/>
            </a:endParaRPr>
          </a:p>
          <a:p>
            <a:pPr eaLnBrk="0" hangingPunct="0"/>
            <a:r>
              <a:rPr lang="en-US" altLang="zh-CN" dirty="0">
                <a:latin typeface="Times New Roman" panose="02020503050405090304" pitchFamily="18" charset="0"/>
                <a:ea typeface="仿宋_GB2312" pitchFamily="49" charset="-122"/>
              </a:rPr>
              <a:t>FINISH</a:t>
            </a:r>
            <a:r>
              <a:rPr lang="zh-CN" altLang="zh-CN"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SJMP   $</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执行后结果：</a:t>
            </a:r>
            <a:r>
              <a:rPr lang="pt-BR" altLang="zh-CN" dirty="0">
                <a:latin typeface="Times New Roman" panose="02020503050405090304" pitchFamily="18" charset="0"/>
                <a:ea typeface="仿宋_GB2312" pitchFamily="49" charset="-122"/>
              </a:rPr>
              <a:t>(A)</a:t>
            </a:r>
            <a:r>
              <a:rPr lang="zh-CN" altLang="zh-CN" dirty="0">
                <a:latin typeface="Times New Roman" panose="02020503050405090304" pitchFamily="18" charset="0"/>
                <a:ea typeface="仿宋_GB2312" pitchFamily="49" charset="-122"/>
              </a:rPr>
              <a:t>＝</a:t>
            </a:r>
            <a:r>
              <a:rPr lang="zh-CN" altLang="zh-CN" u="sng" dirty="0">
                <a:latin typeface="Times New Roman" panose="02020503050405090304" pitchFamily="18" charset="0"/>
                <a:ea typeface="仿宋_GB2312" pitchFamily="49" charset="-122"/>
              </a:rPr>
              <a:t> </a:t>
            </a:r>
            <a:r>
              <a:rPr lang="pt-BR" altLang="zh-CN" u="sng" dirty="0">
                <a:latin typeface="Times New Roman" panose="02020503050405090304" pitchFamily="18" charset="0"/>
                <a:ea typeface="仿宋_GB2312" pitchFamily="49" charset="-122"/>
              </a:rPr>
              <a:t>00H </a:t>
            </a:r>
            <a:r>
              <a:rPr lang="pt-BR" altLang="zh-CN" dirty="0">
                <a:latin typeface="Times New Roman" panose="02020503050405090304" pitchFamily="18" charset="0"/>
                <a:ea typeface="仿宋_GB2312" pitchFamily="49" charset="-122"/>
              </a:rPr>
              <a:t> </a:t>
            </a:r>
            <a:r>
              <a:rPr lang="zh-CN" altLang="zh-CN" dirty="0">
                <a:latin typeface="Times New Roman" panose="02020503050405090304" pitchFamily="18" charset="0"/>
                <a:ea typeface="仿宋_GB2312" pitchFamily="49" charset="-122"/>
              </a:rPr>
              <a:t>，</a:t>
            </a:r>
            <a:r>
              <a:rPr lang="pt-BR" altLang="zh-CN" dirty="0">
                <a:latin typeface="Times New Roman" panose="02020503050405090304" pitchFamily="18" charset="0"/>
                <a:ea typeface="仿宋_GB2312" pitchFamily="49" charset="-122"/>
              </a:rPr>
              <a:t>(31H)</a:t>
            </a:r>
            <a:r>
              <a:rPr lang="zh-CN" altLang="zh-CN" dirty="0">
                <a:latin typeface="Times New Roman" panose="02020503050405090304" pitchFamily="18" charset="0"/>
                <a:ea typeface="仿宋_GB2312" pitchFamily="49" charset="-122"/>
              </a:rPr>
              <a:t>＝</a:t>
            </a:r>
            <a:r>
              <a:rPr lang="zh-CN" altLang="zh-CN" u="sng" dirty="0">
                <a:latin typeface="Times New Roman" panose="02020503050405090304" pitchFamily="18" charset="0"/>
                <a:ea typeface="仿宋_GB2312" pitchFamily="49" charset="-122"/>
              </a:rPr>
              <a:t> </a:t>
            </a:r>
            <a:r>
              <a:rPr lang="pt-BR" altLang="zh-CN" u="sng" dirty="0">
                <a:latin typeface="Times New Roman" panose="02020503050405090304" pitchFamily="18" charset="0"/>
                <a:ea typeface="仿宋_GB2312" pitchFamily="49" charset="-122"/>
              </a:rPr>
              <a:t> 1 </a:t>
            </a:r>
            <a:r>
              <a:rPr lang="pt-BR" altLang="zh-CN" dirty="0">
                <a:latin typeface="Times New Roman" panose="02020503050405090304" pitchFamily="18" charset="0"/>
                <a:ea typeface="仿宋_GB2312" pitchFamily="49" charset="-122"/>
              </a:rPr>
              <a:t> </a:t>
            </a:r>
            <a:r>
              <a:rPr lang="zh-CN" altLang="zh-CN" dirty="0">
                <a:latin typeface="Times New Roman" panose="02020503050405090304" pitchFamily="18" charset="0"/>
                <a:ea typeface="仿宋_GB2312" pitchFamily="49" charset="-122"/>
              </a:rPr>
              <a:t>，</a:t>
            </a:r>
            <a:r>
              <a:rPr lang="pt-BR" altLang="zh-CN"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ACC.7</a:t>
            </a:r>
            <a:r>
              <a:rPr lang="pt-BR" altLang="zh-CN" dirty="0">
                <a:latin typeface="Times New Roman" panose="02020503050405090304" pitchFamily="18" charset="0"/>
                <a:ea typeface="仿宋_GB2312" pitchFamily="49" charset="-122"/>
              </a:rPr>
              <a:t>)</a:t>
            </a:r>
            <a:r>
              <a:rPr lang="zh-CN" altLang="zh-CN" dirty="0">
                <a:latin typeface="Times New Roman" panose="02020503050405090304" pitchFamily="18" charset="0"/>
                <a:ea typeface="仿宋_GB2312" pitchFamily="49" charset="-122"/>
              </a:rPr>
              <a:t>＝</a:t>
            </a:r>
            <a:r>
              <a:rPr lang="zh-CN" altLang="zh-CN" u="sng" dirty="0">
                <a:latin typeface="Times New Roman" panose="02020503050405090304" pitchFamily="18" charset="0"/>
                <a:ea typeface="仿宋_GB2312" pitchFamily="49" charset="-122"/>
              </a:rPr>
              <a:t> </a:t>
            </a:r>
            <a:r>
              <a:rPr lang="pt-BR" altLang="zh-CN" u="sng" dirty="0">
                <a:latin typeface="Times New Roman" panose="02020503050405090304" pitchFamily="18" charset="0"/>
                <a:ea typeface="仿宋_GB2312" pitchFamily="49" charset="-122"/>
              </a:rPr>
              <a:t> 0 </a:t>
            </a:r>
            <a:r>
              <a:rPr lang="pt-BR" altLang="zh-CN" dirty="0">
                <a:latin typeface="Times New Roman" panose="02020503050405090304" pitchFamily="18" charset="0"/>
                <a:ea typeface="仿宋_GB2312" pitchFamily="49" charset="-122"/>
              </a:rPr>
              <a:t> </a:t>
            </a:r>
            <a:r>
              <a:rPr lang="zh-CN" altLang="zh-CN" dirty="0">
                <a:latin typeface="Times New Roman" panose="02020503050405090304" pitchFamily="18" charset="0"/>
                <a:ea typeface="仿宋_GB2312" pitchFamily="49" charset="-122"/>
              </a:rPr>
              <a:t>，</a:t>
            </a:r>
            <a:r>
              <a:rPr lang="pt-BR" altLang="zh-CN" dirty="0">
                <a:latin typeface="Times New Roman" panose="02020503050405090304" pitchFamily="18" charset="0"/>
                <a:ea typeface="仿宋_GB2312" pitchFamily="49" charset="-122"/>
              </a:rPr>
              <a:t>(30H)</a:t>
            </a:r>
            <a:r>
              <a:rPr lang="zh-CN" altLang="zh-CN" dirty="0">
                <a:latin typeface="Times New Roman" panose="02020503050405090304" pitchFamily="18" charset="0"/>
                <a:ea typeface="仿宋_GB2312" pitchFamily="49" charset="-122"/>
              </a:rPr>
              <a:t>＝</a:t>
            </a:r>
            <a:r>
              <a:rPr lang="zh-CN" altLang="zh-CN" u="sng" dirty="0">
                <a:latin typeface="Times New Roman" panose="02020503050405090304" pitchFamily="18" charset="0"/>
                <a:ea typeface="仿宋_GB2312" pitchFamily="49" charset="-122"/>
              </a:rPr>
              <a:t> </a:t>
            </a:r>
            <a:r>
              <a:rPr lang="pt-BR" altLang="zh-CN" u="sng" dirty="0">
                <a:latin typeface="Times New Roman" panose="02020503050405090304" pitchFamily="18" charset="0"/>
                <a:ea typeface="仿宋_GB2312" pitchFamily="49" charset="-122"/>
              </a:rPr>
              <a:t> 01H   </a:t>
            </a:r>
            <a:endParaRPr lang="zh-CN" altLang="zh-CN" dirty="0">
              <a:latin typeface="Times New Roman" panose="02020503050405090304" pitchFamily="18" charset="0"/>
              <a:ea typeface="仿宋_GB2312" pitchFamily="49" charset="-122"/>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例题</a:t>
            </a:r>
            <a:endParaRPr kumimoji="1"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160770" name="矩形 3"/>
          <p:cNvSpPr/>
          <p:nvPr/>
        </p:nvSpPr>
        <p:spPr>
          <a:xfrm>
            <a:off x="539750" y="852488"/>
            <a:ext cx="7416800" cy="4892675"/>
          </a:xfrm>
          <a:prstGeom prst="rect">
            <a:avLst/>
          </a:prstGeom>
          <a:noFill/>
          <a:ln w="9525">
            <a:noFill/>
          </a:ln>
        </p:spPr>
        <p:txBody>
          <a:bodyPr anchor="t" anchorCtr="0">
            <a:spAutoFit/>
          </a:bodyPr>
          <a:p>
            <a:pPr eaLnBrk="0" hangingPunct="0"/>
            <a:r>
              <a:rPr lang="zh-CN" altLang="zh-CN" dirty="0">
                <a:latin typeface="Times New Roman" panose="02020503050405090304" pitchFamily="18" charset="0"/>
                <a:ea typeface="仿宋_GB2312" pitchFamily="49" charset="-122"/>
              </a:rPr>
              <a:t>1．判断以下指令的正误：</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（1）MOV 28H，@R2 </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（2）DEC DPTR </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（3）INC DPTR </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（4）CLR R0</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（5）CPL R5 </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（6）MOV R0，R1 </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（7）PHSH DPTR </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（8）MOV F0，C </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（9）MOV F0，Acc.3 </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（10）MOVX A，@R1 </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（11）MOV C，30H </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（12）RLC R0</a:t>
            </a:r>
            <a:endParaRPr lang="zh-CN" altLang="zh-CN" dirty="0">
              <a:latin typeface="Times New Roman" panose="02020503050405090304" pitchFamily="18" charset="0"/>
              <a:ea typeface="仿宋_GB2312" pitchFamily="49" charset="-122"/>
            </a:endParaRPr>
          </a:p>
        </p:txBody>
      </p:sp>
      <p:sp>
        <p:nvSpPr>
          <p:cNvPr id="3" name="矩形 3"/>
          <p:cNvSpPr/>
          <p:nvPr/>
        </p:nvSpPr>
        <p:spPr>
          <a:xfrm>
            <a:off x="466725" y="5618163"/>
            <a:ext cx="7416800" cy="830262"/>
          </a:xfrm>
          <a:prstGeom prst="rect">
            <a:avLst/>
          </a:prstGeom>
          <a:noFill/>
          <a:ln w="9525">
            <a:noFill/>
          </a:ln>
        </p:spPr>
        <p:txBody>
          <a:bodyPr anchor="t" anchorCtr="0">
            <a:spAutoFit/>
          </a:bodyPr>
          <a:p>
            <a:pPr eaLnBrk="0" hangingPunct="0"/>
            <a:r>
              <a:rPr lang="zh-CN" altLang="zh-CN" dirty="0">
                <a:latin typeface="Times New Roman" panose="02020503050405090304" pitchFamily="18" charset="0"/>
                <a:ea typeface="仿宋_GB2312" pitchFamily="49" charset="-122"/>
              </a:rPr>
              <a:t>答：（1）× （2）× （3）√（4）×（5）× （6）× （7）× （8）√（9）×（10）√ （11）√ （12）×</a:t>
            </a:r>
            <a:endParaRPr lang="zh-CN" altLang="zh-CN" dirty="0">
              <a:latin typeface="Times New Roman" panose="02020503050405090304" pitchFamily="18" charset="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例题</a:t>
            </a:r>
            <a:endParaRPr kumimoji="1"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154626" name="矩形 3"/>
          <p:cNvSpPr/>
          <p:nvPr/>
        </p:nvSpPr>
        <p:spPr>
          <a:xfrm>
            <a:off x="228600" y="838200"/>
            <a:ext cx="8947150" cy="5262563"/>
          </a:xfrm>
          <a:prstGeom prst="rect">
            <a:avLst/>
          </a:prstGeom>
          <a:noFill/>
          <a:ln w="9525">
            <a:noFill/>
          </a:ln>
        </p:spPr>
        <p:txBody>
          <a:bodyPr wrap="square" anchor="t" anchorCtr="0">
            <a:spAutoFit/>
          </a:bodyPr>
          <a:p>
            <a:pPr eaLnBrk="0" hangingPunct="0"/>
            <a:r>
              <a:rPr lang="zh-CN" altLang="zh-CN" dirty="0">
                <a:latin typeface="Times New Roman" panose="02020503050405090304" pitchFamily="18" charset="0"/>
                <a:ea typeface="仿宋_GB2312" pitchFamily="49" charset="-122"/>
              </a:rPr>
              <a:t>2．判断下列说法是否正确。</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（A）立即寻址方式是被操作的数据本身在指令中，而不是它的地址在指令中。</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（B）指令周期是执行一条指令的时间。</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（C）指令中直接给出的操作数称为直接寻址。</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答：（A）√ （B）√ （C）×</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3．在基址加变址寻址方式中，以（ ）作变址寄存器，以（ ）或（ ）作基址寄存器。</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答：A，DPTR或PC </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4．MCS-51共有哪几种寻址方式？各有什么特点？</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答：共有7种寻址方式，分别是直接寻址、寄存器寻址、寄存器间接寻址、立即寻址、基址加变址、位寻址、相对寻址</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5．MCS-51指令按功能可以分为哪几类？</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数据传送类、算术操作类、逻辑运算类、控制转移类、位操作类</a:t>
            </a:r>
            <a:endParaRPr lang="zh-CN" altLang="zh-CN" dirty="0">
              <a:latin typeface="Times New Roman" panose="02020503050405090304" pitchFamily="18" charset="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4626">
                                            <p:txEl>
                                              <p:charRg st="91" end="10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4626">
                                            <p:txEl>
                                              <p:charRg st="149" end="16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4626">
                                            <p:txEl>
                                              <p:charRg st="188" end="24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4626">
                                            <p:txEl>
                                              <p:charRg st="263" end="29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例题</a:t>
            </a:r>
            <a:endParaRPr kumimoji="1"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154626" name="矩形 3"/>
          <p:cNvSpPr/>
          <p:nvPr/>
        </p:nvSpPr>
        <p:spPr>
          <a:xfrm>
            <a:off x="228600" y="838200"/>
            <a:ext cx="8947150" cy="6738938"/>
          </a:xfrm>
          <a:prstGeom prst="rect">
            <a:avLst/>
          </a:prstGeom>
          <a:noFill/>
          <a:ln w="9525">
            <a:noFill/>
          </a:ln>
        </p:spPr>
        <p:txBody>
          <a:bodyPr wrap="square" anchor="t" anchorCtr="0">
            <a:spAutoFit/>
          </a:bodyPr>
          <a:p>
            <a:pPr eaLnBrk="0" hangingPunct="0"/>
            <a:r>
              <a:rPr lang="zh-CN" altLang="zh-CN" dirty="0">
                <a:latin typeface="Times New Roman" panose="02020503050405090304" pitchFamily="18" charset="0"/>
                <a:ea typeface="仿宋_GB2312" pitchFamily="49" charset="-122"/>
              </a:rPr>
              <a:t>7．指令格式是由（ ）和（ ）所组成，也可能仅由（ ）组成。</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答：操作码，操作数，操作码</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8. 假定累加器A中的内容为30H，执行指令：</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1000H：MOVC A，@A+PC</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后，把程序存储器（ ）单元的内容送入累加器A中。</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答：1031H</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9．在MCS-51中，PC和DPTR都用于提供地址，但PC是为访问（ ）存储器提供地址，而DPTR是为访问（ ）存储器提供地址。</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答：程序存储器，数据存储器</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10．在寄存器间接寻址方式中，其“间接”体现在指令中寄存器的内容不是操作数，而是操作数的（ ）。</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答：地址</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11．下列程序段的功能是什么？</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PUSH Acc</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PUSH B</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POP Acc</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POP B</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答：A和B内容互换</a:t>
            </a:r>
            <a:endParaRPr lang="zh-CN" altLang="zh-CN" dirty="0">
              <a:latin typeface="Times New Roman" panose="02020503050405090304" pitchFamily="18" charset="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4626">
                                            <p:txEl>
                                              <p:charRg st="31" end="4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4626">
                                            <p:txEl>
                                              <p:charRg st="113" end="12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4626">
                                            <p:txEl>
                                              <p:charRg st="186" end="20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4626">
                                            <p:txEl>
                                              <p:charRg st="249" end="25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例题</a:t>
            </a:r>
            <a:endParaRPr kumimoji="1"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154626" name="矩形 3"/>
          <p:cNvSpPr/>
          <p:nvPr/>
        </p:nvSpPr>
        <p:spPr>
          <a:xfrm>
            <a:off x="228600" y="838200"/>
            <a:ext cx="8947150" cy="5630863"/>
          </a:xfrm>
          <a:prstGeom prst="rect">
            <a:avLst/>
          </a:prstGeom>
          <a:noFill/>
          <a:ln w="9525">
            <a:noFill/>
          </a:ln>
        </p:spPr>
        <p:txBody>
          <a:bodyPr wrap="square" anchor="t" anchorCtr="0">
            <a:spAutoFit/>
          </a:bodyPr>
          <a:p>
            <a:pPr eaLnBrk="0" hangingPunct="0"/>
            <a:r>
              <a:rPr lang="zh-CN" altLang="zh-CN" dirty="0">
                <a:latin typeface="Times New Roman" panose="02020503050405090304" pitchFamily="18" charset="0"/>
                <a:ea typeface="仿宋_GB2312" pitchFamily="49" charset="-122"/>
              </a:rPr>
              <a:t>11．下列程序段的功能是什么？</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PUSH Acc</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PUSH B</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POP Acc</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POP B</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答：A和B内容互换</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12．写出完成如下要求的指令，但是不能改变未涉及位的内容。</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（A）把ACC.3， ACC.4，ACC.5和 ACC.6清“0”。 （B）把累加器A的中间4位清“0”。 （C）使ACC.2和 ACC.3置“1”。</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答： （A）ANL A,#87H</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（B）ANL A,#C3H</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（C）ORL A,#0CH</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13．假设A=55H，R3=0AAH，在执行指令ANL A,R5后，A=（ ），R3=（ ）。</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答： A=（00H），R3=（0AAH）。</a:t>
            </a:r>
            <a:endParaRPr lang="zh-CN" altLang="zh-CN" dirty="0">
              <a:latin typeface="Times New Roman" panose="02020503050405090304" pitchFamily="18" charset="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4626">
                                            <p:txEl>
                                              <p:charRg st="46" end="5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4626">
                                            <p:txEl>
                                              <p:charRg st="162" end="17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4626">
                                            <p:txEl>
                                              <p:charRg st="179" end="19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4626">
                                            <p:txEl>
                                              <p:charRg st="193" end="20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4626">
                                            <p:txEl>
                                              <p:charRg st="255" end="27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例题</a:t>
            </a:r>
            <a:endParaRPr kumimoji="1"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154626" name="矩形 3"/>
          <p:cNvSpPr/>
          <p:nvPr/>
        </p:nvSpPr>
        <p:spPr>
          <a:xfrm>
            <a:off x="228600" y="838200"/>
            <a:ext cx="8947150" cy="4892675"/>
          </a:xfrm>
          <a:prstGeom prst="rect">
            <a:avLst/>
          </a:prstGeom>
          <a:noFill/>
          <a:ln w="9525">
            <a:noFill/>
          </a:ln>
        </p:spPr>
        <p:txBody>
          <a:bodyPr wrap="square" anchor="t" anchorCtr="0">
            <a:spAutoFit/>
          </a:bodyPr>
          <a:p>
            <a:pPr eaLnBrk="0" hangingPunct="0"/>
            <a:r>
              <a:rPr lang="zh-CN" altLang="zh-CN" dirty="0">
                <a:latin typeface="Times New Roman" panose="02020503050405090304" pitchFamily="18" charset="0"/>
                <a:ea typeface="仿宋_GB2312" pitchFamily="49" charset="-122"/>
              </a:rPr>
              <a:t>14．如果DPTR=507BH，SP=32H，（30H）=50H，（31H）=5FH，（32H）=3CH，则执行下列指令后：</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POP DPH</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POP DPL</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则：DPH=（ ），DPL=（ ）</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答：DPH=（3CH），DPL=（5FH）</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15．假定，SP=60H，A=30H，B=70H，执行下列指令：</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PUSH Acc</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PUSH B</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后，SP的内容为（ ），61H单元的内容为（ ），62H单元的内容为（ ）。</a:t>
            </a:r>
            <a:endParaRPr lang="zh-CN" altLang="zh-CN" dirty="0">
              <a:latin typeface="Times New Roman" panose="02020503050405090304" pitchFamily="18" charset="0"/>
              <a:ea typeface="仿宋_GB2312" pitchFamily="49" charset="-122"/>
            </a:endParaRPr>
          </a:p>
          <a:p>
            <a:pPr eaLnBrk="0" hangingPunct="0"/>
            <a:r>
              <a:rPr lang="zh-CN" altLang="zh-CN" dirty="0">
                <a:latin typeface="Times New Roman" panose="02020503050405090304" pitchFamily="18" charset="0"/>
                <a:ea typeface="仿宋_GB2312" pitchFamily="49" charset="-122"/>
              </a:rPr>
              <a:t>答： SP的内容为（62H），61H单元的内容为（30H），62H单元的内容为（70H）。</a:t>
            </a:r>
            <a:endParaRPr lang="zh-CN" altLang="zh-CN" dirty="0">
              <a:latin typeface="Times New Roman" panose="02020503050405090304" pitchFamily="18" charset="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4626">
                                            <p:txEl>
                                              <p:charRg st="97" end="11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4626">
                                            <p:txEl>
                                              <p:charRg st="207" end="25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5889" name="矩形 3"/>
          <p:cNvSpPr/>
          <p:nvPr/>
        </p:nvSpPr>
        <p:spPr>
          <a:xfrm>
            <a:off x="611188" y="1054100"/>
            <a:ext cx="3721100" cy="461963"/>
          </a:xfrm>
          <a:prstGeom prst="rect">
            <a:avLst/>
          </a:prstGeom>
          <a:noFill/>
          <a:ln w="9525">
            <a:noFill/>
          </a:ln>
        </p:spPr>
        <p:txBody>
          <a:bodyPr wrap="none" anchor="t" anchorCtr="0">
            <a:spAutoFit/>
          </a:bodyPr>
          <a:p>
            <a:pPr eaLnBrk="0" hangingPunct="0"/>
            <a:r>
              <a:rPr lang="en-US" altLang="zh-CN" dirty="0">
                <a:latin typeface="Times New Roman" panose="02020503050405090304" pitchFamily="18" charset="0"/>
                <a:ea typeface="仿宋_GB2312" pitchFamily="49" charset="-122"/>
              </a:rPr>
              <a:t>1</a:t>
            </a:r>
            <a:r>
              <a:rPr lang="zh-CN" altLang="zh-CN" dirty="0">
                <a:latin typeface="Times New Roman" panose="02020503050405090304" pitchFamily="18" charset="0"/>
                <a:ea typeface="仿宋_GB2312" pitchFamily="49" charset="-122"/>
              </a:rPr>
              <a:t>、</a:t>
            </a:r>
            <a:r>
              <a:rPr lang="en-US" altLang="zh-CN" dirty="0">
                <a:latin typeface="Times New Roman" panose="02020503050405090304" pitchFamily="18" charset="0"/>
                <a:ea typeface="仿宋_GB2312" pitchFamily="49" charset="-122"/>
              </a:rPr>
              <a:t>R4</a:t>
            </a:r>
            <a:r>
              <a:rPr lang="zh-CN" altLang="zh-CN" dirty="0">
                <a:latin typeface="Times New Roman" panose="02020503050405090304" pitchFamily="18" charset="0"/>
                <a:ea typeface="仿宋_GB2312" pitchFamily="49" charset="-122"/>
              </a:rPr>
              <a:t>的内容送到</a:t>
            </a:r>
            <a:r>
              <a:rPr lang="en-US" altLang="zh-CN" dirty="0">
                <a:latin typeface="Times New Roman" panose="02020503050405090304" pitchFamily="18" charset="0"/>
                <a:ea typeface="仿宋_GB2312" pitchFamily="49" charset="-122"/>
              </a:rPr>
              <a:t>R7</a:t>
            </a:r>
            <a:r>
              <a:rPr lang="zh-CN" altLang="zh-CN" dirty="0">
                <a:latin typeface="Times New Roman" panose="02020503050405090304" pitchFamily="18" charset="0"/>
                <a:ea typeface="仿宋_GB2312" pitchFamily="49" charset="-122"/>
              </a:rPr>
              <a:t>中。</a:t>
            </a:r>
            <a:r>
              <a:rPr lang="en-US" altLang="zh-CN" dirty="0">
                <a:latin typeface="Times New Roman" panose="02020503050405090304" pitchFamily="18" charset="0"/>
                <a:ea typeface="仿宋_GB2312" pitchFamily="49" charset="-122"/>
              </a:rPr>
              <a:t>  </a:t>
            </a:r>
            <a:endParaRPr lang="zh-CN" altLang="zh-CN" dirty="0">
              <a:latin typeface="Times New Roman" panose="02020503050405090304" pitchFamily="18" charset="0"/>
              <a:ea typeface="仿宋_GB2312" pitchFamily="49" charset="-122"/>
            </a:endParaRPr>
          </a:p>
        </p:txBody>
      </p:sp>
      <p:sp>
        <p:nvSpPr>
          <p:cNvPr id="165890" name="矩形 4"/>
          <p:cNvSpPr/>
          <p:nvPr/>
        </p:nvSpPr>
        <p:spPr>
          <a:xfrm>
            <a:off x="639763" y="2168525"/>
            <a:ext cx="7632700" cy="460375"/>
          </a:xfrm>
          <a:prstGeom prst="rect">
            <a:avLst/>
          </a:prstGeom>
          <a:noFill/>
          <a:ln w="9525">
            <a:noFill/>
          </a:ln>
        </p:spPr>
        <p:txBody>
          <a:bodyPr anchor="t" anchorCtr="0">
            <a:spAutoFit/>
          </a:bodyPr>
          <a:p>
            <a:pPr eaLnBrk="0" hangingPunct="0"/>
            <a:r>
              <a:rPr lang="en-US" altLang="zh-CN" dirty="0">
                <a:latin typeface="Times New Roman" panose="02020503050405090304" pitchFamily="18" charset="0"/>
                <a:ea typeface="仿宋_GB2312" pitchFamily="49" charset="-122"/>
              </a:rPr>
              <a:t>2</a:t>
            </a:r>
            <a:r>
              <a:rPr lang="zh-CN" altLang="zh-CN" dirty="0">
                <a:latin typeface="Times New Roman" panose="02020503050405090304" pitchFamily="18" charset="0"/>
                <a:ea typeface="仿宋_GB2312" pitchFamily="49" charset="-122"/>
              </a:rPr>
              <a:t>、将片内</a:t>
            </a:r>
            <a:r>
              <a:rPr lang="en-US" altLang="zh-CN" dirty="0">
                <a:latin typeface="Times New Roman" panose="02020503050405090304" pitchFamily="18" charset="0"/>
                <a:ea typeface="仿宋_GB2312" pitchFamily="49" charset="-122"/>
              </a:rPr>
              <a:t>RAM</a:t>
            </a:r>
            <a:r>
              <a:rPr lang="zh-CN" altLang="zh-CN" dirty="0">
                <a:latin typeface="Times New Roman" panose="02020503050405090304" pitchFamily="18" charset="0"/>
                <a:ea typeface="仿宋_GB2312" pitchFamily="49" charset="-122"/>
              </a:rPr>
              <a:t>单元</a:t>
            </a:r>
            <a:r>
              <a:rPr lang="en-US" altLang="zh-CN" dirty="0">
                <a:latin typeface="Times New Roman" panose="02020503050405090304" pitchFamily="18" charset="0"/>
                <a:ea typeface="仿宋_GB2312" pitchFamily="49" charset="-122"/>
              </a:rPr>
              <a:t>20H</a:t>
            </a:r>
            <a:r>
              <a:rPr lang="zh-CN" altLang="zh-CN" dirty="0">
                <a:latin typeface="Times New Roman" panose="02020503050405090304" pitchFamily="18" charset="0"/>
                <a:ea typeface="仿宋_GB2312" pitchFamily="49" charset="-122"/>
              </a:rPr>
              <a:t>的内容送给片外</a:t>
            </a:r>
            <a:r>
              <a:rPr lang="en-US" altLang="zh-CN" dirty="0">
                <a:latin typeface="Times New Roman" panose="02020503050405090304" pitchFamily="18" charset="0"/>
                <a:ea typeface="仿宋_GB2312" pitchFamily="49" charset="-122"/>
              </a:rPr>
              <a:t>3001H</a:t>
            </a:r>
            <a:r>
              <a:rPr lang="zh-CN" altLang="zh-CN" dirty="0">
                <a:latin typeface="Times New Roman" panose="02020503050405090304" pitchFamily="18" charset="0"/>
                <a:ea typeface="仿宋_GB2312" pitchFamily="49" charset="-122"/>
              </a:rPr>
              <a:t>单元。</a:t>
            </a:r>
            <a:endParaRPr lang="zh-CN" altLang="zh-CN" dirty="0">
              <a:latin typeface="Times New Roman" panose="02020503050405090304" pitchFamily="18" charset="0"/>
              <a:ea typeface="仿宋_GB2312" pitchFamily="49" charset="-122"/>
            </a:endParaRPr>
          </a:p>
        </p:txBody>
      </p:sp>
      <p:sp>
        <p:nvSpPr>
          <p:cNvPr id="165891" name="矩形 5"/>
          <p:cNvSpPr/>
          <p:nvPr/>
        </p:nvSpPr>
        <p:spPr>
          <a:xfrm>
            <a:off x="668338" y="3716338"/>
            <a:ext cx="7432675" cy="831850"/>
          </a:xfrm>
          <a:prstGeom prst="rect">
            <a:avLst/>
          </a:prstGeom>
          <a:noFill/>
          <a:ln w="9525">
            <a:noFill/>
          </a:ln>
        </p:spPr>
        <p:txBody>
          <a:bodyPr anchor="t" anchorCtr="0">
            <a:spAutoFit/>
          </a:bodyPr>
          <a:p>
            <a:pPr eaLnBrk="0" hangingPunct="0"/>
            <a:r>
              <a:rPr lang="en-US" altLang="zh-CN" dirty="0">
                <a:latin typeface="Times New Roman" panose="02020503050405090304" pitchFamily="18" charset="0"/>
                <a:ea typeface="仿宋_GB2312" pitchFamily="49" charset="-122"/>
              </a:rPr>
              <a:t>3</a:t>
            </a:r>
            <a:r>
              <a:rPr lang="zh-CN" altLang="zh-CN" dirty="0">
                <a:latin typeface="Times New Roman" panose="02020503050405090304" pitchFamily="18" charset="0"/>
                <a:ea typeface="仿宋_GB2312" pitchFamily="49" charset="-122"/>
              </a:rPr>
              <a:t>、将单元</a:t>
            </a:r>
            <a:r>
              <a:rPr lang="en-US" altLang="zh-CN" dirty="0">
                <a:latin typeface="Times New Roman" panose="02020503050405090304" pitchFamily="18" charset="0"/>
                <a:ea typeface="仿宋_GB2312" pitchFamily="49" charset="-122"/>
              </a:rPr>
              <a:t>40H</a:t>
            </a:r>
            <a:r>
              <a:rPr lang="zh-CN" altLang="zh-CN" dirty="0">
                <a:latin typeface="Times New Roman" panose="02020503050405090304" pitchFamily="18" charset="0"/>
                <a:ea typeface="仿宋_GB2312" pitchFamily="49" charset="-122"/>
              </a:rPr>
              <a:t>的高</a:t>
            </a:r>
            <a:r>
              <a:rPr lang="en-US" altLang="zh-CN" dirty="0">
                <a:latin typeface="Times New Roman" panose="02020503050405090304" pitchFamily="18" charset="0"/>
                <a:ea typeface="仿宋_GB2312" pitchFamily="49" charset="-122"/>
              </a:rPr>
              <a:t>4</a:t>
            </a:r>
            <a:r>
              <a:rPr lang="zh-CN" altLang="zh-CN" dirty="0">
                <a:latin typeface="Times New Roman" panose="02020503050405090304" pitchFamily="18" charset="0"/>
                <a:ea typeface="仿宋_GB2312" pitchFamily="49" charset="-122"/>
              </a:rPr>
              <a:t>位与</a:t>
            </a:r>
            <a:r>
              <a:rPr lang="en-US" altLang="zh-CN" dirty="0">
                <a:latin typeface="Times New Roman" panose="02020503050405090304" pitchFamily="18" charset="0"/>
                <a:ea typeface="仿宋_GB2312" pitchFamily="49" charset="-122"/>
              </a:rPr>
              <a:t>41H</a:t>
            </a:r>
            <a:r>
              <a:rPr lang="zh-CN" altLang="zh-CN" dirty="0">
                <a:latin typeface="Times New Roman" panose="02020503050405090304" pitchFamily="18" charset="0"/>
                <a:ea typeface="仿宋_GB2312" pitchFamily="49" charset="-122"/>
              </a:rPr>
              <a:t>单元的低</a:t>
            </a:r>
            <a:r>
              <a:rPr lang="en-US" altLang="zh-CN" dirty="0">
                <a:latin typeface="Times New Roman" panose="02020503050405090304" pitchFamily="18" charset="0"/>
                <a:ea typeface="仿宋_GB2312" pitchFamily="49" charset="-122"/>
              </a:rPr>
              <a:t>4</a:t>
            </a:r>
            <a:r>
              <a:rPr lang="zh-CN" altLang="zh-CN" dirty="0">
                <a:latin typeface="Times New Roman" panose="02020503050405090304" pitchFamily="18" charset="0"/>
                <a:ea typeface="仿宋_GB2312" pitchFamily="49" charset="-122"/>
              </a:rPr>
              <a:t>位组合放在</a:t>
            </a:r>
            <a:r>
              <a:rPr lang="en-US" altLang="zh-CN" dirty="0">
                <a:latin typeface="Times New Roman" panose="02020503050405090304" pitchFamily="18" charset="0"/>
                <a:ea typeface="仿宋_GB2312" pitchFamily="49" charset="-122"/>
              </a:rPr>
              <a:t>42H</a:t>
            </a:r>
            <a:r>
              <a:rPr lang="zh-CN" altLang="zh-CN" dirty="0">
                <a:latin typeface="Times New Roman" panose="02020503050405090304" pitchFamily="18" charset="0"/>
                <a:ea typeface="仿宋_GB2312" pitchFamily="49" charset="-122"/>
              </a:rPr>
              <a:t>单元里。</a:t>
            </a:r>
            <a:endParaRPr lang="zh-CN" altLang="zh-CN" dirty="0">
              <a:latin typeface="Times New Roman" panose="02020503050405090304" pitchFamily="18" charset="0"/>
              <a:ea typeface="仿宋_GB2312" pitchFamily="49" charset="-122"/>
            </a:endParaRPr>
          </a:p>
        </p:txBody>
      </p:sp>
      <p:sp>
        <p:nvSpPr>
          <p:cNvPr id="7" name="标题 1"/>
          <p:cNvSpPr>
            <a:spLocks noGrp="1"/>
          </p:cNvSpPr>
          <p:nvPr>
            <p:ph type="title"/>
          </p:nvPr>
        </p:nvSpPr>
        <p:spPr>
          <a:xfrm>
            <a:off x="369888" y="188913"/>
            <a:ext cx="8763000"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例题</a:t>
            </a:r>
            <a:endParaRPr kumimoji="1"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2" name="文本框 1"/>
          <p:cNvSpPr txBox="1"/>
          <p:nvPr/>
        </p:nvSpPr>
        <p:spPr>
          <a:xfrm>
            <a:off x="1233488" y="1400175"/>
            <a:ext cx="4186237" cy="768350"/>
          </a:xfrm>
          <a:prstGeom prst="rect">
            <a:avLst/>
          </a:prstGeom>
          <a:noFill/>
          <a:ln w="9525">
            <a:noFill/>
          </a:ln>
        </p:spPr>
        <p:txBody>
          <a:bodyPr wrap="square" anchor="t" anchorCtr="0">
            <a:spAutoFit/>
          </a:bodyPr>
          <a:p>
            <a:r>
              <a:rPr lang="zh-CN" altLang="en-US">
                <a:latin typeface="Times New Roman" panose="02020503050405090304" pitchFamily="18" charset="0"/>
                <a:ea typeface="仿宋_GB2312" pitchFamily="49" charset="-122"/>
              </a:rPr>
              <a:t>        </a:t>
            </a:r>
            <a:r>
              <a:rPr lang="zh-CN" altLang="en-US" sz="2000">
                <a:latin typeface="Times New Roman" panose="02020503050405090304" pitchFamily="18" charset="0"/>
                <a:ea typeface="仿宋_GB2312" pitchFamily="49" charset="-122"/>
              </a:rPr>
              <a:t>MOV  A，R4</a:t>
            </a:r>
            <a:endParaRPr lang="zh-CN" altLang="en-US" sz="2000">
              <a:latin typeface="Times New Roman" panose="02020503050405090304" pitchFamily="18" charset="0"/>
              <a:ea typeface="仿宋_GB2312" pitchFamily="49" charset="-122"/>
            </a:endParaRPr>
          </a:p>
          <a:p>
            <a:r>
              <a:rPr lang="zh-CN" altLang="en-US" sz="2000">
                <a:latin typeface="Times New Roman" panose="02020503050405090304" pitchFamily="18" charset="0"/>
                <a:ea typeface="仿宋_GB2312" pitchFamily="49" charset="-122"/>
              </a:rPr>
              <a:t>          MOV  R7，A</a:t>
            </a:r>
            <a:endParaRPr lang="zh-CN" altLang="en-US" sz="2000">
              <a:latin typeface="Times New Roman" panose="02020503050405090304" pitchFamily="18" charset="0"/>
              <a:ea typeface="仿宋_GB2312" pitchFamily="49" charset="-122"/>
            </a:endParaRPr>
          </a:p>
        </p:txBody>
      </p:sp>
      <p:sp>
        <p:nvSpPr>
          <p:cNvPr id="3" name="文本框 2"/>
          <p:cNvSpPr txBox="1"/>
          <p:nvPr/>
        </p:nvSpPr>
        <p:spPr>
          <a:xfrm>
            <a:off x="709613" y="2628900"/>
            <a:ext cx="4186237" cy="1076325"/>
          </a:xfrm>
          <a:prstGeom prst="rect">
            <a:avLst/>
          </a:prstGeom>
          <a:noFill/>
          <a:ln w="9525">
            <a:noFill/>
          </a:ln>
        </p:spPr>
        <p:txBody>
          <a:bodyPr wrap="square" anchor="t" anchorCtr="0">
            <a:spAutoFit/>
          </a:bodyPr>
          <a:p>
            <a:r>
              <a:rPr lang="zh-CN" altLang="en-US">
                <a:latin typeface="Times New Roman" panose="02020503050405090304" pitchFamily="18" charset="0"/>
                <a:ea typeface="仿宋_GB2312" pitchFamily="49" charset="-122"/>
              </a:rPr>
              <a:t>              </a:t>
            </a:r>
            <a:r>
              <a:rPr lang="zh-CN" altLang="en-US" sz="2000">
                <a:latin typeface="Times New Roman" panose="02020503050405090304" pitchFamily="18" charset="0"/>
                <a:ea typeface="仿宋_GB2312" pitchFamily="49" charset="-122"/>
              </a:rPr>
              <a:t>MOV   DPTR，#3001H</a:t>
            </a:r>
            <a:endParaRPr lang="zh-CN" altLang="en-US" sz="2000">
              <a:latin typeface="Times New Roman" panose="02020503050405090304" pitchFamily="18" charset="0"/>
              <a:ea typeface="仿宋_GB2312" pitchFamily="49" charset="-122"/>
            </a:endParaRPr>
          </a:p>
          <a:p>
            <a:r>
              <a:rPr lang="zh-CN" altLang="en-US" sz="2000">
                <a:latin typeface="Times New Roman" panose="02020503050405090304" pitchFamily="18" charset="0"/>
                <a:ea typeface="仿宋_GB2312" pitchFamily="49" charset="-122"/>
              </a:rPr>
              <a:t>                 MOV   A，20H</a:t>
            </a:r>
            <a:endParaRPr lang="zh-CN" altLang="en-US" sz="2000">
              <a:latin typeface="Times New Roman" panose="02020503050405090304" pitchFamily="18" charset="0"/>
              <a:ea typeface="仿宋_GB2312" pitchFamily="49" charset="-122"/>
            </a:endParaRPr>
          </a:p>
          <a:p>
            <a:r>
              <a:rPr lang="zh-CN" altLang="en-US" sz="2000">
                <a:latin typeface="Times New Roman" panose="02020503050405090304" pitchFamily="18" charset="0"/>
                <a:ea typeface="仿宋_GB2312" pitchFamily="49" charset="-122"/>
              </a:rPr>
              <a:t>                 MOVX  @DPTR，A</a:t>
            </a:r>
            <a:endParaRPr lang="zh-CN" altLang="en-US" sz="2000">
              <a:latin typeface="Times New Roman" panose="02020503050405090304" pitchFamily="18" charset="0"/>
              <a:ea typeface="仿宋_GB2312" pitchFamily="49" charset="-122"/>
            </a:endParaRPr>
          </a:p>
        </p:txBody>
      </p:sp>
      <p:sp>
        <p:nvSpPr>
          <p:cNvPr id="5" name="文本框 4"/>
          <p:cNvSpPr txBox="1"/>
          <p:nvPr/>
        </p:nvSpPr>
        <p:spPr>
          <a:xfrm>
            <a:off x="1700213" y="4489450"/>
            <a:ext cx="4186237" cy="1938338"/>
          </a:xfrm>
          <a:prstGeom prst="rect">
            <a:avLst/>
          </a:prstGeom>
          <a:noFill/>
          <a:ln w="9525">
            <a:noFill/>
          </a:ln>
        </p:spPr>
        <p:txBody>
          <a:bodyPr wrap="square" anchor="t" anchorCtr="0">
            <a:spAutoFit/>
          </a:bodyPr>
          <a:p>
            <a:r>
              <a:rPr lang="zh-CN" altLang="en-US">
                <a:latin typeface="Times New Roman" panose="02020503050405090304" pitchFamily="18" charset="0"/>
                <a:ea typeface="仿宋_GB2312" pitchFamily="49" charset="-122"/>
              </a:rPr>
              <a:t>ANL    40H,  #0F0H;</a:t>
            </a:r>
            <a:endParaRPr lang="zh-CN" altLang="en-US">
              <a:latin typeface="Times New Roman" panose="02020503050405090304" pitchFamily="18" charset="0"/>
              <a:ea typeface="仿宋_GB2312" pitchFamily="49" charset="-122"/>
            </a:endParaRPr>
          </a:p>
          <a:p>
            <a:r>
              <a:rPr lang="zh-CN" altLang="en-US">
                <a:latin typeface="Times New Roman" panose="02020503050405090304" pitchFamily="18" charset="0"/>
                <a:ea typeface="仿宋_GB2312" pitchFamily="49" charset="-122"/>
              </a:rPr>
              <a:t>ANL    41H,  #0FH;</a:t>
            </a:r>
            <a:endParaRPr lang="zh-CN" altLang="en-US">
              <a:latin typeface="Times New Roman" panose="02020503050405090304" pitchFamily="18" charset="0"/>
              <a:ea typeface="仿宋_GB2312" pitchFamily="49" charset="-122"/>
            </a:endParaRPr>
          </a:p>
          <a:p>
            <a:r>
              <a:rPr lang="zh-CN" altLang="en-US">
                <a:latin typeface="Times New Roman" panose="02020503050405090304" pitchFamily="18" charset="0"/>
                <a:ea typeface="仿宋_GB2312" pitchFamily="49" charset="-122"/>
              </a:rPr>
              <a:t>MOV    A,    40H;</a:t>
            </a:r>
            <a:endParaRPr lang="zh-CN" altLang="en-US">
              <a:latin typeface="Times New Roman" panose="02020503050405090304" pitchFamily="18" charset="0"/>
              <a:ea typeface="仿宋_GB2312" pitchFamily="49" charset="-122"/>
            </a:endParaRPr>
          </a:p>
          <a:p>
            <a:r>
              <a:rPr lang="zh-CN" altLang="en-US">
                <a:latin typeface="Times New Roman" panose="02020503050405090304" pitchFamily="18" charset="0"/>
                <a:ea typeface="仿宋_GB2312" pitchFamily="49" charset="-122"/>
              </a:rPr>
              <a:t>ADD    A,    41H;</a:t>
            </a:r>
            <a:endParaRPr lang="zh-CN" altLang="en-US">
              <a:latin typeface="Times New Roman" panose="02020503050405090304" pitchFamily="18" charset="0"/>
              <a:ea typeface="仿宋_GB2312" pitchFamily="49" charset="-122"/>
            </a:endParaRPr>
          </a:p>
          <a:p>
            <a:r>
              <a:rPr lang="zh-CN" altLang="en-US">
                <a:latin typeface="Times New Roman" panose="02020503050405090304" pitchFamily="18" charset="0"/>
                <a:ea typeface="仿宋_GB2312" pitchFamily="49" charset="-122"/>
              </a:rPr>
              <a:t>MOV   42H,   A;</a:t>
            </a:r>
            <a:endParaRPr lang="zh-CN" altLang="en-US">
              <a:latin typeface="Times New Roman" panose="02020503050405090304" pitchFamily="18" charset="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P spid="5" grpId="0"/>
      <p:bldP spid="5" grpId="1"/>
    </p:bldLst>
  </p:timing>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0053" name="Rectangle 5"/>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8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4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130054" name="TextBox 130053"/>
          <p:cNvSpPr txBox="1"/>
          <p:nvPr/>
        </p:nvSpPr>
        <p:spPr>
          <a:xfrm>
            <a:off x="179388" y="900000"/>
            <a:ext cx="8700000" cy="520000"/>
          </a:xfrm>
          <a:prstGeom prst="rect">
            <a:avLst/>
          </a:prstGeom>
          <a:noFill/>
        </p:spPr>
        <p:txBody>
          <a:bodyPr wrap="square" lIns="45720" rIns="45720" tIns="18288" bIns="18288">
            <a:spAutoFit/>
          </a:bodyPr>
          <a:lstStyle/>
          <a:p>
            <a:r>
              <a:rPr lang="zh-CN" altLang="en-US" sz="2800" b="1">
                <a:latin typeface="Times New Roman"/>
                <a:ea typeface="宋体"/>
                <a:cs typeface="Times New Roman"/>
              </a:rPr>
              <a:t>六、</a:t>
            </a:r>
            <a:r>
              <a:rPr lang="zh-CN" altLang="en-US" sz="2800" b="1">
                <a:solidFill>
                  <a:srgbClr val="FF0000"/>
                </a:solidFill>
                <a:latin typeface="Times New Roman"/>
                <a:ea typeface="宋体"/>
                <a:cs typeface="Times New Roman"/>
              </a:rPr>
              <a:t>相对寻址方式（续）——往回跳怎么算</a:t>
            </a:r>
          </a:p>
        </p:txBody>
      </p:sp>
      <p:sp>
        <p:nvSpPr>
          <p:cNvPr id="130055" name="TextBox 130054"/>
          <p:cNvSpPr txBox="1"/>
          <p:nvPr/>
        </p:nvSpPr>
        <p:spPr>
          <a:xfrm>
            <a:off x="323850" y="1430000"/>
            <a:ext cx="8600000" cy="1750000"/>
          </a:xfrm>
          <a:prstGeom prst="rect">
            <a:avLst/>
          </a:prstGeom>
          <a:noFill/>
        </p:spPr>
        <p:txBody>
          <a:bodyPr wrap="square" lIns="45720" rIns="45720" tIns="18288" bIns="18288">
            <a:spAutoFit/>
          </a:bodyPr>
          <a:lstStyle/>
          <a:p>
            <a:r>
              <a:rPr lang="zh-CN" altLang="en-US" sz="2200" b="0">
                <a:latin typeface="Times New Roman"/>
                <a:ea typeface="仿宋_GB2312"/>
                <a:cs typeface="Times New Roman"/>
              </a:rPr>
              <a:t>【例】SJMP rel 存于 1000H，rel = 0F6H（2 字节指令）</a:t>
            </a:r>
          </a:p>
          <a:p>
            <a:pPr>
              <a:spcBef>
                <a:spcPts val="400"/>
              </a:spcBef>
            </a:pPr>
            <a:r>
              <a:rPr lang="zh-CN" altLang="en-US" sz="2200" b="0">
                <a:latin typeface="Times New Roman"/>
                <a:ea typeface="仿宋_GB2312"/>
                <a:cs typeface="Times New Roman"/>
              </a:rPr>
              <a:t>① 取完 2 字节：PC = 1000H + 2 = 1002H </a:t>
            </a:r>
            <a:r>
              <a:rPr lang="zh-CN" altLang="en-US" sz="2200" b="1">
                <a:solidFill>
                  <a:srgbClr val="CC0000"/>
                </a:solidFill>
                <a:latin typeface="Times New Roman"/>
                <a:ea typeface="仿宋_GB2312"/>
                <a:cs typeface="Times New Roman"/>
              </a:rPr>
              <a:t>← 基准是下一条指令的地址</a:t>
            </a:r>
          </a:p>
          <a:p>
            <a:pPr>
              <a:spcBef>
                <a:spcPts val="400"/>
              </a:spcBef>
            </a:pPr>
            <a:r>
              <a:rPr lang="zh-CN" altLang="en-US" sz="2200" b="0">
                <a:latin typeface="Times New Roman"/>
                <a:ea typeface="仿宋_GB2312"/>
                <a:cs typeface="Times New Roman"/>
              </a:rPr>
              <a:t>② 0F6H 最高位为 1 → 负数：取反 09H，加一 0AH，即 −10</a:t>
            </a:r>
          </a:p>
          <a:p>
            <a:pPr>
              <a:spcBef>
                <a:spcPts val="400"/>
              </a:spcBef>
            </a:pPr>
            <a:r>
              <a:rPr lang="zh-CN" altLang="en-US" sz="2200" b="0">
                <a:latin typeface="Times New Roman"/>
                <a:ea typeface="仿宋_GB2312"/>
                <a:cs typeface="Times New Roman"/>
              </a:rPr>
              <a:t>③ 目标 = 1002H − 0AH = </a:t>
            </a:r>
            <a:r>
              <a:rPr lang="zh-CN" altLang="en-US" sz="2200" b="1">
                <a:solidFill>
                  <a:srgbClr val="0A10F8"/>
                </a:solidFill>
                <a:latin typeface="Times New Roman"/>
                <a:ea typeface="仿宋_GB2312"/>
                <a:cs typeface="Times New Roman"/>
              </a:rPr>
              <a:t>0FF8H</a:t>
            </a:r>
            <a:r>
              <a:rPr lang="zh-CN" altLang="en-US" sz="2200" b="0">
                <a:latin typeface="Times New Roman"/>
                <a:ea typeface="仿宋_GB2312"/>
                <a:cs typeface="Times New Roman"/>
              </a:rPr>
              <a:t>（往回跳 10 个单元）</a:t>
            </a:r>
          </a:p>
        </p:txBody>
      </p:sp>
      <p:sp>
        <p:nvSpPr>
          <p:cNvPr id="130056" name="Rectangle 130055"/>
          <p:cNvSpPr/>
          <p:nvPr/>
        </p:nvSpPr>
        <p:spPr>
          <a:xfrm>
            <a:off x="722000" y="3870000"/>
            <a:ext cx="700000" cy="430000"/>
          </a:xfrm>
          <a:prstGeom prst="rect">
            <a:avLst/>
          </a:prstGeom>
          <a:solidFill>
            <a:srgbClr val="E2F0D9"/>
          </a:solidFill>
          <a:ln w="12700">
            <a:solidFill>
              <a:srgbClr val="404040"/>
            </a:solidFill>
          </a:ln>
        </p:spPr>
        <p:txBody>
          <a:bodyPr rtlCol="0" anchor="ctr" wrap="square" lIns="45720" rIns="45720" tIns="18288" bIns="18288"/>
          <a:lstStyle/>
          <a:p>
            <a:pPr algn="ctr"/>
            <a:r>
              <a:rPr lang="zh-CN" altLang="en-US" sz="1400" b="1">
                <a:solidFill>
                  <a:srgbClr val="000000"/>
                </a:solidFill>
                <a:latin typeface="Times New Roman"/>
                <a:ea typeface="黑体"/>
                <a:cs typeface="Times New Roman"/>
              </a:rPr>
              <a:t>0FF8H</a:t>
            </a:r>
          </a:p>
        </p:txBody>
      </p:sp>
      <p:sp>
        <p:nvSpPr>
          <p:cNvPr id="130057" name="Rectangle 130056"/>
          <p:cNvSpPr/>
          <p:nvPr/>
        </p:nvSpPr>
        <p:spPr>
          <a:xfrm>
            <a:off x="1422000" y="3870000"/>
            <a:ext cx="700000" cy="430000"/>
          </a:xfrm>
          <a:prstGeom prst="rect">
            <a:avLst/>
          </a:prstGeom>
          <a:solidFill>
            <a:srgbClr val="FFFFFF"/>
          </a:solidFill>
          <a:ln w="12700">
            <a:solidFill>
              <a:srgbClr val="404040"/>
            </a:solidFill>
          </a:ln>
        </p:spPr>
        <p:txBody>
          <a:bodyPr rtlCol="0" anchor="ctr" wrap="square" lIns="45720" rIns="45720" tIns="18288" bIns="18288"/>
          <a:lstStyle/>
          <a:p>
            <a:pPr algn="ctr"/>
            <a:r>
              <a:rPr lang="zh-CN" altLang="en-US" sz="1400" b="0">
                <a:solidFill>
                  <a:srgbClr val="000000"/>
                </a:solidFill>
                <a:latin typeface="Times New Roman"/>
                <a:ea typeface="黑体"/>
                <a:cs typeface="Times New Roman"/>
              </a:rPr>
              <a:t>0FF9H</a:t>
            </a:r>
          </a:p>
        </p:txBody>
      </p:sp>
      <p:sp>
        <p:nvSpPr>
          <p:cNvPr id="130058" name="Rectangle 130057"/>
          <p:cNvSpPr/>
          <p:nvPr/>
        </p:nvSpPr>
        <p:spPr>
          <a:xfrm>
            <a:off x="2122000" y="3870000"/>
            <a:ext cx="700000" cy="430000"/>
          </a:xfrm>
          <a:prstGeom prst="rect">
            <a:avLst/>
          </a:prstGeom>
          <a:solidFill>
            <a:srgbClr val="FFFFFF"/>
          </a:solidFill>
          <a:ln w="12700">
            <a:solidFill>
              <a:srgbClr val="404040"/>
            </a:solidFill>
          </a:ln>
        </p:spPr>
        <p:txBody>
          <a:bodyPr rtlCol="0" anchor="ctr" wrap="square" lIns="45720" rIns="45720" tIns="18288" bIns="18288"/>
          <a:lstStyle/>
          <a:p>
            <a:pPr algn="ctr"/>
            <a:r>
              <a:rPr lang="zh-CN" altLang="en-US" sz="1400" b="0">
                <a:solidFill>
                  <a:srgbClr val="000000"/>
                </a:solidFill>
                <a:latin typeface="Times New Roman"/>
                <a:ea typeface="黑体"/>
                <a:cs typeface="Times New Roman"/>
              </a:rPr>
              <a:t>0FFAH</a:t>
            </a:r>
          </a:p>
        </p:txBody>
      </p:sp>
      <p:sp>
        <p:nvSpPr>
          <p:cNvPr id="130059" name="Rectangle 130058"/>
          <p:cNvSpPr/>
          <p:nvPr/>
        </p:nvSpPr>
        <p:spPr>
          <a:xfrm>
            <a:off x="2822000" y="3870000"/>
            <a:ext cx="700000" cy="430000"/>
          </a:xfrm>
          <a:prstGeom prst="rect">
            <a:avLst/>
          </a:prstGeom>
          <a:solidFill>
            <a:srgbClr val="FFFFFF"/>
          </a:solidFill>
          <a:ln w="12700">
            <a:solidFill>
              <a:srgbClr val="404040"/>
            </a:solidFill>
          </a:ln>
        </p:spPr>
        <p:txBody>
          <a:bodyPr rtlCol="0" anchor="ctr" wrap="square" lIns="45720" rIns="45720" tIns="18288" bIns="18288"/>
          <a:lstStyle/>
          <a:p>
            <a:pPr algn="ctr"/>
            <a:r>
              <a:rPr lang="zh-CN" altLang="en-US" sz="1400" b="0">
                <a:solidFill>
                  <a:srgbClr val="000000"/>
                </a:solidFill>
                <a:latin typeface="Times New Roman"/>
                <a:ea typeface="黑体"/>
                <a:cs typeface="Times New Roman"/>
              </a:rPr>
              <a:t>0FFBH</a:t>
            </a:r>
          </a:p>
        </p:txBody>
      </p:sp>
      <p:sp>
        <p:nvSpPr>
          <p:cNvPr id="130060" name="Rectangle 130059"/>
          <p:cNvSpPr/>
          <p:nvPr/>
        </p:nvSpPr>
        <p:spPr>
          <a:xfrm>
            <a:off x="3522000" y="3870000"/>
            <a:ext cx="700000" cy="430000"/>
          </a:xfrm>
          <a:prstGeom prst="rect">
            <a:avLst/>
          </a:prstGeom>
          <a:solidFill>
            <a:srgbClr val="FFFFFF"/>
          </a:solidFill>
          <a:ln w="12700">
            <a:solidFill>
              <a:srgbClr val="404040"/>
            </a:solidFill>
          </a:ln>
        </p:spPr>
        <p:txBody>
          <a:bodyPr rtlCol="0" anchor="ctr" wrap="square" lIns="45720" rIns="45720" tIns="18288" bIns="18288"/>
          <a:lstStyle/>
          <a:p>
            <a:pPr algn="ctr"/>
            <a:r>
              <a:rPr lang="zh-CN" altLang="en-US" sz="1400" b="0">
                <a:solidFill>
                  <a:srgbClr val="000000"/>
                </a:solidFill>
                <a:latin typeface="Times New Roman"/>
                <a:ea typeface="黑体"/>
                <a:cs typeface="Times New Roman"/>
              </a:rPr>
              <a:t>0FFCH</a:t>
            </a:r>
          </a:p>
        </p:txBody>
      </p:sp>
      <p:sp>
        <p:nvSpPr>
          <p:cNvPr id="130061" name="Rectangle 130060"/>
          <p:cNvSpPr/>
          <p:nvPr/>
        </p:nvSpPr>
        <p:spPr>
          <a:xfrm>
            <a:off x="4222000" y="3870000"/>
            <a:ext cx="700000" cy="430000"/>
          </a:xfrm>
          <a:prstGeom prst="rect">
            <a:avLst/>
          </a:prstGeom>
          <a:solidFill>
            <a:srgbClr val="FFFFFF"/>
          </a:solidFill>
          <a:ln w="12700">
            <a:solidFill>
              <a:srgbClr val="404040"/>
            </a:solidFill>
          </a:ln>
        </p:spPr>
        <p:txBody>
          <a:bodyPr rtlCol="0" anchor="ctr" wrap="square" lIns="45720" rIns="45720" tIns="18288" bIns="18288"/>
          <a:lstStyle/>
          <a:p>
            <a:pPr algn="ctr"/>
            <a:r>
              <a:rPr lang="zh-CN" altLang="en-US" sz="1400" b="0">
                <a:solidFill>
                  <a:srgbClr val="000000"/>
                </a:solidFill>
                <a:latin typeface="Times New Roman"/>
                <a:ea typeface="黑体"/>
                <a:cs typeface="Times New Roman"/>
              </a:rPr>
              <a:t>0FFDH</a:t>
            </a:r>
          </a:p>
        </p:txBody>
      </p:sp>
      <p:sp>
        <p:nvSpPr>
          <p:cNvPr id="130062" name="Rectangle 130061"/>
          <p:cNvSpPr/>
          <p:nvPr/>
        </p:nvSpPr>
        <p:spPr>
          <a:xfrm>
            <a:off x="4922000" y="3870000"/>
            <a:ext cx="700000" cy="430000"/>
          </a:xfrm>
          <a:prstGeom prst="rect">
            <a:avLst/>
          </a:prstGeom>
          <a:solidFill>
            <a:srgbClr val="FFFFFF"/>
          </a:solidFill>
          <a:ln w="12700">
            <a:solidFill>
              <a:srgbClr val="404040"/>
            </a:solidFill>
          </a:ln>
        </p:spPr>
        <p:txBody>
          <a:bodyPr rtlCol="0" anchor="ctr" wrap="square" lIns="45720" rIns="45720" tIns="18288" bIns="18288"/>
          <a:lstStyle/>
          <a:p>
            <a:pPr algn="ctr"/>
            <a:r>
              <a:rPr lang="zh-CN" altLang="en-US" sz="1400" b="0">
                <a:solidFill>
                  <a:srgbClr val="000000"/>
                </a:solidFill>
                <a:latin typeface="Times New Roman"/>
                <a:ea typeface="黑体"/>
                <a:cs typeface="Times New Roman"/>
              </a:rPr>
              <a:t>0FFEH</a:t>
            </a:r>
          </a:p>
        </p:txBody>
      </p:sp>
      <p:sp>
        <p:nvSpPr>
          <p:cNvPr id="130063" name="Rectangle 130062"/>
          <p:cNvSpPr/>
          <p:nvPr/>
        </p:nvSpPr>
        <p:spPr>
          <a:xfrm>
            <a:off x="5622000" y="3870000"/>
            <a:ext cx="700000" cy="430000"/>
          </a:xfrm>
          <a:prstGeom prst="rect">
            <a:avLst/>
          </a:prstGeom>
          <a:solidFill>
            <a:srgbClr val="FFFFFF"/>
          </a:solidFill>
          <a:ln w="12700">
            <a:solidFill>
              <a:srgbClr val="404040"/>
            </a:solidFill>
          </a:ln>
        </p:spPr>
        <p:txBody>
          <a:bodyPr rtlCol="0" anchor="ctr" wrap="square" lIns="45720" rIns="45720" tIns="18288" bIns="18288"/>
          <a:lstStyle/>
          <a:p>
            <a:pPr algn="ctr"/>
            <a:r>
              <a:rPr lang="zh-CN" altLang="en-US" sz="1400" b="0">
                <a:solidFill>
                  <a:srgbClr val="000000"/>
                </a:solidFill>
                <a:latin typeface="Times New Roman"/>
                <a:ea typeface="黑体"/>
                <a:cs typeface="Times New Roman"/>
              </a:rPr>
              <a:t>0FFFH</a:t>
            </a:r>
          </a:p>
        </p:txBody>
      </p:sp>
      <p:sp>
        <p:nvSpPr>
          <p:cNvPr id="130064" name="Rectangle 130063"/>
          <p:cNvSpPr/>
          <p:nvPr/>
        </p:nvSpPr>
        <p:spPr>
          <a:xfrm>
            <a:off x="6322000" y="3870000"/>
            <a:ext cx="700000" cy="430000"/>
          </a:xfrm>
          <a:prstGeom prst="rect">
            <a:avLst/>
          </a:prstGeom>
          <a:solidFill>
            <a:srgbClr val="FFF2CC"/>
          </a:solidFill>
          <a:ln w="12700">
            <a:solidFill>
              <a:srgbClr val="404040"/>
            </a:solidFill>
          </a:ln>
        </p:spPr>
        <p:txBody>
          <a:bodyPr rtlCol="0" anchor="ctr" wrap="square" lIns="45720" rIns="45720" tIns="18288" bIns="18288"/>
          <a:lstStyle/>
          <a:p>
            <a:pPr algn="ctr"/>
            <a:r>
              <a:rPr lang="zh-CN" altLang="en-US" sz="1400" b="1">
                <a:solidFill>
                  <a:srgbClr val="000000"/>
                </a:solidFill>
                <a:latin typeface="Times New Roman"/>
                <a:ea typeface="黑体"/>
                <a:cs typeface="Times New Roman"/>
              </a:rPr>
              <a:t>1000H</a:t>
            </a:r>
          </a:p>
        </p:txBody>
      </p:sp>
      <p:sp>
        <p:nvSpPr>
          <p:cNvPr id="130065" name="Rectangle 130064"/>
          <p:cNvSpPr/>
          <p:nvPr/>
        </p:nvSpPr>
        <p:spPr>
          <a:xfrm>
            <a:off x="7022000" y="3870000"/>
            <a:ext cx="700000" cy="430000"/>
          </a:xfrm>
          <a:prstGeom prst="rect">
            <a:avLst/>
          </a:prstGeom>
          <a:solidFill>
            <a:srgbClr val="FFF2CC"/>
          </a:solidFill>
          <a:ln w="12700">
            <a:solidFill>
              <a:srgbClr val="404040"/>
            </a:solidFill>
          </a:ln>
        </p:spPr>
        <p:txBody>
          <a:bodyPr rtlCol="0" anchor="ctr" wrap="square" lIns="45720" rIns="45720" tIns="18288" bIns="18288"/>
          <a:lstStyle/>
          <a:p>
            <a:pPr algn="ctr"/>
            <a:r>
              <a:rPr lang="zh-CN" altLang="en-US" sz="1400" b="1">
                <a:solidFill>
                  <a:srgbClr val="000000"/>
                </a:solidFill>
                <a:latin typeface="Times New Roman"/>
                <a:ea typeface="黑体"/>
                <a:cs typeface="Times New Roman"/>
              </a:rPr>
              <a:t>1001H</a:t>
            </a:r>
          </a:p>
        </p:txBody>
      </p:sp>
      <p:sp>
        <p:nvSpPr>
          <p:cNvPr id="130066" name="Rectangle 130065"/>
          <p:cNvSpPr/>
          <p:nvPr/>
        </p:nvSpPr>
        <p:spPr>
          <a:xfrm>
            <a:off x="7722000" y="3870000"/>
            <a:ext cx="700000" cy="430000"/>
          </a:xfrm>
          <a:prstGeom prst="rect">
            <a:avLst/>
          </a:prstGeom>
          <a:solidFill>
            <a:srgbClr val="DDEBF7"/>
          </a:solidFill>
          <a:ln w="12700">
            <a:solidFill>
              <a:srgbClr val="404040"/>
            </a:solidFill>
          </a:ln>
        </p:spPr>
        <p:txBody>
          <a:bodyPr rtlCol="0" anchor="ctr" wrap="square" lIns="45720" rIns="45720" tIns="18288" bIns="18288"/>
          <a:lstStyle/>
          <a:p>
            <a:pPr algn="ctr"/>
            <a:r>
              <a:rPr lang="zh-CN" altLang="en-US" sz="1400" b="1">
                <a:solidFill>
                  <a:srgbClr val="000000"/>
                </a:solidFill>
                <a:latin typeface="Times New Roman"/>
                <a:ea typeface="黑体"/>
                <a:cs typeface="Times New Roman"/>
              </a:rPr>
              <a:t>1002H</a:t>
            </a:r>
          </a:p>
        </p:txBody>
      </p:sp>
      <p:sp>
        <p:nvSpPr>
          <p:cNvPr id="130067" name="TextBox 130066"/>
          <p:cNvSpPr txBox="1"/>
          <p:nvPr/>
        </p:nvSpPr>
        <p:spPr>
          <a:xfrm>
            <a:off x="722000" y="3600000"/>
            <a:ext cx="700000" cy="250000"/>
          </a:xfrm>
          <a:prstGeom prst="rect">
            <a:avLst/>
          </a:prstGeom>
          <a:noFill/>
        </p:spPr>
        <p:txBody>
          <a:bodyPr wrap="square" lIns="45720" rIns="45720" tIns="18288" bIns="18288">
            <a:spAutoFit/>
          </a:bodyPr>
          <a:lstStyle/>
          <a:p>
            <a:pPr algn="ctr"/>
            <a:r>
              <a:rPr lang="zh-CN" altLang="en-US" sz="1200" b="0">
                <a:solidFill>
                  <a:srgbClr val="7F7F7F"/>
                </a:solidFill>
                <a:latin typeface="Times New Roman"/>
                <a:ea typeface="黑体"/>
                <a:cs typeface="Times New Roman"/>
              </a:rPr>
              <a:t>−10</a:t>
            </a:r>
          </a:p>
        </p:txBody>
      </p:sp>
      <p:sp>
        <p:nvSpPr>
          <p:cNvPr id="130068" name="TextBox 130067"/>
          <p:cNvSpPr txBox="1"/>
          <p:nvPr/>
        </p:nvSpPr>
        <p:spPr>
          <a:xfrm>
            <a:off x="1422000" y="3600000"/>
            <a:ext cx="700000" cy="250000"/>
          </a:xfrm>
          <a:prstGeom prst="rect">
            <a:avLst/>
          </a:prstGeom>
          <a:noFill/>
        </p:spPr>
        <p:txBody>
          <a:bodyPr wrap="square" lIns="45720" rIns="45720" tIns="18288" bIns="18288">
            <a:spAutoFit/>
          </a:bodyPr>
          <a:lstStyle/>
          <a:p>
            <a:pPr algn="ctr"/>
            <a:r>
              <a:rPr lang="zh-CN" altLang="en-US" sz="1200" b="0">
                <a:solidFill>
                  <a:srgbClr val="7F7F7F"/>
                </a:solidFill>
                <a:latin typeface="Times New Roman"/>
                <a:ea typeface="黑体"/>
                <a:cs typeface="Times New Roman"/>
              </a:rPr>
              <a:t>−9</a:t>
            </a:r>
          </a:p>
        </p:txBody>
      </p:sp>
      <p:sp>
        <p:nvSpPr>
          <p:cNvPr id="130069" name="TextBox 130068"/>
          <p:cNvSpPr txBox="1"/>
          <p:nvPr/>
        </p:nvSpPr>
        <p:spPr>
          <a:xfrm>
            <a:off x="2122000" y="3600000"/>
            <a:ext cx="700000" cy="250000"/>
          </a:xfrm>
          <a:prstGeom prst="rect">
            <a:avLst/>
          </a:prstGeom>
          <a:noFill/>
        </p:spPr>
        <p:txBody>
          <a:bodyPr wrap="square" lIns="45720" rIns="45720" tIns="18288" bIns="18288">
            <a:spAutoFit/>
          </a:bodyPr>
          <a:lstStyle/>
          <a:p>
            <a:pPr algn="ctr"/>
            <a:r>
              <a:rPr lang="zh-CN" altLang="en-US" sz="1200" b="0">
                <a:solidFill>
                  <a:srgbClr val="7F7F7F"/>
                </a:solidFill>
                <a:latin typeface="Times New Roman"/>
                <a:ea typeface="黑体"/>
                <a:cs typeface="Times New Roman"/>
              </a:rPr>
              <a:t>−8</a:t>
            </a:r>
          </a:p>
        </p:txBody>
      </p:sp>
      <p:sp>
        <p:nvSpPr>
          <p:cNvPr id="130070" name="TextBox 130069"/>
          <p:cNvSpPr txBox="1"/>
          <p:nvPr/>
        </p:nvSpPr>
        <p:spPr>
          <a:xfrm>
            <a:off x="2822000" y="3600000"/>
            <a:ext cx="700000" cy="250000"/>
          </a:xfrm>
          <a:prstGeom prst="rect">
            <a:avLst/>
          </a:prstGeom>
          <a:noFill/>
        </p:spPr>
        <p:txBody>
          <a:bodyPr wrap="square" lIns="45720" rIns="45720" tIns="18288" bIns="18288">
            <a:spAutoFit/>
          </a:bodyPr>
          <a:lstStyle/>
          <a:p>
            <a:pPr algn="ctr"/>
            <a:r>
              <a:rPr lang="zh-CN" altLang="en-US" sz="1200" b="0">
                <a:solidFill>
                  <a:srgbClr val="7F7F7F"/>
                </a:solidFill>
                <a:latin typeface="Times New Roman"/>
                <a:ea typeface="黑体"/>
                <a:cs typeface="Times New Roman"/>
              </a:rPr>
              <a:t>−7</a:t>
            </a:r>
          </a:p>
        </p:txBody>
      </p:sp>
      <p:sp>
        <p:nvSpPr>
          <p:cNvPr id="130071" name="TextBox 130070"/>
          <p:cNvSpPr txBox="1"/>
          <p:nvPr/>
        </p:nvSpPr>
        <p:spPr>
          <a:xfrm>
            <a:off x="3522000" y="3600000"/>
            <a:ext cx="700000" cy="250000"/>
          </a:xfrm>
          <a:prstGeom prst="rect">
            <a:avLst/>
          </a:prstGeom>
          <a:noFill/>
        </p:spPr>
        <p:txBody>
          <a:bodyPr wrap="square" lIns="45720" rIns="45720" tIns="18288" bIns="18288">
            <a:spAutoFit/>
          </a:bodyPr>
          <a:lstStyle/>
          <a:p>
            <a:pPr algn="ctr"/>
            <a:r>
              <a:rPr lang="zh-CN" altLang="en-US" sz="1200" b="0">
                <a:solidFill>
                  <a:srgbClr val="7F7F7F"/>
                </a:solidFill>
                <a:latin typeface="Times New Roman"/>
                <a:ea typeface="黑体"/>
                <a:cs typeface="Times New Roman"/>
              </a:rPr>
              <a:t>−6</a:t>
            </a:r>
          </a:p>
        </p:txBody>
      </p:sp>
      <p:sp>
        <p:nvSpPr>
          <p:cNvPr id="130072" name="TextBox 130071"/>
          <p:cNvSpPr txBox="1"/>
          <p:nvPr/>
        </p:nvSpPr>
        <p:spPr>
          <a:xfrm>
            <a:off x="4222000" y="3600000"/>
            <a:ext cx="700000" cy="250000"/>
          </a:xfrm>
          <a:prstGeom prst="rect">
            <a:avLst/>
          </a:prstGeom>
          <a:noFill/>
        </p:spPr>
        <p:txBody>
          <a:bodyPr wrap="square" lIns="45720" rIns="45720" tIns="18288" bIns="18288">
            <a:spAutoFit/>
          </a:bodyPr>
          <a:lstStyle/>
          <a:p>
            <a:pPr algn="ctr"/>
            <a:r>
              <a:rPr lang="zh-CN" altLang="en-US" sz="1200" b="0">
                <a:solidFill>
                  <a:srgbClr val="7F7F7F"/>
                </a:solidFill>
                <a:latin typeface="Times New Roman"/>
                <a:ea typeface="黑体"/>
                <a:cs typeface="Times New Roman"/>
              </a:rPr>
              <a:t>−5</a:t>
            </a:r>
          </a:p>
        </p:txBody>
      </p:sp>
      <p:sp>
        <p:nvSpPr>
          <p:cNvPr id="130073" name="TextBox 130072"/>
          <p:cNvSpPr txBox="1"/>
          <p:nvPr/>
        </p:nvSpPr>
        <p:spPr>
          <a:xfrm>
            <a:off x="4922000" y="3600000"/>
            <a:ext cx="700000" cy="250000"/>
          </a:xfrm>
          <a:prstGeom prst="rect">
            <a:avLst/>
          </a:prstGeom>
          <a:noFill/>
        </p:spPr>
        <p:txBody>
          <a:bodyPr wrap="square" lIns="45720" rIns="45720" tIns="18288" bIns="18288">
            <a:spAutoFit/>
          </a:bodyPr>
          <a:lstStyle/>
          <a:p>
            <a:pPr algn="ctr"/>
            <a:r>
              <a:rPr lang="zh-CN" altLang="en-US" sz="1200" b="0">
                <a:solidFill>
                  <a:srgbClr val="7F7F7F"/>
                </a:solidFill>
                <a:latin typeface="Times New Roman"/>
                <a:ea typeface="黑体"/>
                <a:cs typeface="Times New Roman"/>
              </a:rPr>
              <a:t>−4</a:t>
            </a:r>
          </a:p>
        </p:txBody>
      </p:sp>
      <p:sp>
        <p:nvSpPr>
          <p:cNvPr id="130074" name="TextBox 130073"/>
          <p:cNvSpPr txBox="1"/>
          <p:nvPr/>
        </p:nvSpPr>
        <p:spPr>
          <a:xfrm>
            <a:off x="5622000" y="3600000"/>
            <a:ext cx="700000" cy="250000"/>
          </a:xfrm>
          <a:prstGeom prst="rect">
            <a:avLst/>
          </a:prstGeom>
          <a:noFill/>
        </p:spPr>
        <p:txBody>
          <a:bodyPr wrap="square" lIns="45720" rIns="45720" tIns="18288" bIns="18288">
            <a:spAutoFit/>
          </a:bodyPr>
          <a:lstStyle/>
          <a:p>
            <a:pPr algn="ctr"/>
            <a:r>
              <a:rPr lang="zh-CN" altLang="en-US" sz="1200" b="0">
                <a:solidFill>
                  <a:srgbClr val="7F7F7F"/>
                </a:solidFill>
                <a:latin typeface="Times New Roman"/>
                <a:ea typeface="黑体"/>
                <a:cs typeface="Times New Roman"/>
              </a:rPr>
              <a:t>−3</a:t>
            </a:r>
          </a:p>
        </p:txBody>
      </p:sp>
      <p:sp>
        <p:nvSpPr>
          <p:cNvPr id="130075" name="TextBox 130074"/>
          <p:cNvSpPr txBox="1"/>
          <p:nvPr/>
        </p:nvSpPr>
        <p:spPr>
          <a:xfrm>
            <a:off x="6322000" y="3600000"/>
            <a:ext cx="700000" cy="250000"/>
          </a:xfrm>
          <a:prstGeom prst="rect">
            <a:avLst/>
          </a:prstGeom>
          <a:noFill/>
        </p:spPr>
        <p:txBody>
          <a:bodyPr wrap="square" lIns="45720" rIns="45720" tIns="18288" bIns="18288">
            <a:spAutoFit/>
          </a:bodyPr>
          <a:lstStyle/>
          <a:p>
            <a:pPr algn="ctr"/>
            <a:r>
              <a:rPr lang="zh-CN" altLang="en-US" sz="1200" b="0">
                <a:solidFill>
                  <a:srgbClr val="7F7F7F"/>
                </a:solidFill>
                <a:latin typeface="Times New Roman"/>
                <a:ea typeface="黑体"/>
                <a:cs typeface="Times New Roman"/>
              </a:rPr>
              <a:t>−2</a:t>
            </a:r>
          </a:p>
        </p:txBody>
      </p:sp>
      <p:sp>
        <p:nvSpPr>
          <p:cNvPr id="130076" name="TextBox 130075"/>
          <p:cNvSpPr txBox="1"/>
          <p:nvPr/>
        </p:nvSpPr>
        <p:spPr>
          <a:xfrm>
            <a:off x="7022000" y="3600000"/>
            <a:ext cx="700000" cy="250000"/>
          </a:xfrm>
          <a:prstGeom prst="rect">
            <a:avLst/>
          </a:prstGeom>
          <a:noFill/>
        </p:spPr>
        <p:txBody>
          <a:bodyPr wrap="square" lIns="45720" rIns="45720" tIns="18288" bIns="18288">
            <a:spAutoFit/>
          </a:bodyPr>
          <a:lstStyle/>
          <a:p>
            <a:pPr algn="ctr"/>
            <a:r>
              <a:rPr lang="zh-CN" altLang="en-US" sz="1200" b="0">
                <a:solidFill>
                  <a:srgbClr val="7F7F7F"/>
                </a:solidFill>
                <a:latin typeface="Times New Roman"/>
                <a:ea typeface="黑体"/>
                <a:cs typeface="Times New Roman"/>
              </a:rPr>
              <a:t>−1</a:t>
            </a:r>
          </a:p>
        </p:txBody>
      </p:sp>
      <p:sp>
        <p:nvSpPr>
          <p:cNvPr id="130077" name="TextBox 130076"/>
          <p:cNvSpPr txBox="1"/>
          <p:nvPr/>
        </p:nvSpPr>
        <p:spPr>
          <a:xfrm>
            <a:off x="7622000" y="3600000"/>
            <a:ext cx="900000" cy="250000"/>
          </a:xfrm>
          <a:prstGeom prst="rect">
            <a:avLst/>
          </a:prstGeom>
          <a:noFill/>
        </p:spPr>
        <p:txBody>
          <a:bodyPr wrap="square" lIns="45720" rIns="45720" tIns="18288" bIns="18288">
            <a:spAutoFit/>
          </a:bodyPr>
          <a:lstStyle/>
          <a:p>
            <a:pPr algn="ctr"/>
            <a:r>
              <a:rPr lang="zh-CN" altLang="en-US" sz="1200" b="1">
                <a:solidFill>
                  <a:srgbClr val="1F3864"/>
                </a:solidFill>
                <a:latin typeface="Times New Roman"/>
                <a:ea typeface="黑体"/>
                <a:cs typeface="Times New Roman"/>
              </a:rPr>
              <a:t>基准 0</a:t>
            </a:r>
          </a:p>
        </p:txBody>
      </p:sp>
      <p:sp>
        <p:nvSpPr>
          <p:cNvPr id="130078" name="Left Arrow 130077"/>
          <p:cNvSpPr/>
          <p:nvPr/>
        </p:nvSpPr>
        <p:spPr>
          <a:xfrm>
            <a:off x="1072000" y="3250000"/>
            <a:ext cx="7000000" cy="320000"/>
          </a:xfrm>
          <a:prstGeom prst="leftArrow">
            <a:avLst/>
          </a:prstGeom>
          <a:solidFill>
            <a:srgbClr val="F8CBAD"/>
          </a:solidFill>
          <a:ln w="9525">
            <a:solidFill>
              <a:srgbClr val="C00000"/>
            </a:solidFill>
          </a:ln>
        </p:spPr>
        <p:txBody>
          <a:bodyPr rtlCol="0" anchor="ctr" wrap="square" lIns="45720" rIns="45720" tIns="18288" bIns="18288"/>
          <a:lstStyle/>
          <a:p>
            <a:pPr algn="ctr"/>
            <a:r>
              <a:rPr lang="zh-CN" altLang="en-US" sz="1400" b="1">
                <a:solidFill>
                  <a:srgbClr val="C00000"/>
                </a:solidFill>
                <a:latin typeface="Times New Roman"/>
                <a:ea typeface="黑体"/>
                <a:cs typeface="Times New Roman"/>
              </a:rPr>
              <a:t>从 1002H 往回数 10 格 → 0FF8H</a:t>
            </a:r>
          </a:p>
        </p:txBody>
      </p:sp>
      <p:sp>
        <p:nvSpPr>
          <p:cNvPr id="130079" name="TextBox 130078"/>
          <p:cNvSpPr txBox="1"/>
          <p:nvPr/>
        </p:nvSpPr>
        <p:spPr>
          <a:xfrm>
            <a:off x="472000" y="4320000"/>
            <a:ext cx="1200000" cy="300000"/>
          </a:xfrm>
          <a:prstGeom prst="rect">
            <a:avLst/>
          </a:prstGeom>
          <a:noFill/>
        </p:spPr>
        <p:txBody>
          <a:bodyPr wrap="square" lIns="45720" rIns="45720" tIns="18288" bIns="18288">
            <a:spAutoFit/>
          </a:bodyPr>
          <a:lstStyle/>
          <a:p>
            <a:pPr algn="ctr"/>
            <a:r>
              <a:rPr lang="zh-CN" altLang="en-US" sz="1400" b="1">
                <a:solidFill>
                  <a:srgbClr val="548235"/>
                </a:solidFill>
                <a:latin typeface="Times New Roman"/>
                <a:ea typeface="黑体"/>
                <a:cs typeface="Times New Roman"/>
              </a:rPr>
              <a:t>目标</a:t>
            </a:r>
          </a:p>
        </p:txBody>
      </p:sp>
      <p:sp>
        <p:nvSpPr>
          <p:cNvPr id="130080" name="TextBox 130079"/>
          <p:cNvSpPr txBox="1"/>
          <p:nvPr/>
        </p:nvSpPr>
        <p:spPr>
          <a:xfrm>
            <a:off x="2822000" y="4320000"/>
            <a:ext cx="4840000" cy="300000"/>
          </a:xfrm>
          <a:prstGeom prst="rect">
            <a:avLst/>
          </a:prstGeom>
          <a:noFill/>
        </p:spPr>
        <p:txBody>
          <a:bodyPr wrap="square" lIns="45720" rIns="45720" tIns="18288" bIns="18288">
            <a:spAutoFit/>
          </a:bodyPr>
          <a:lstStyle/>
          <a:p>
            <a:pPr algn="r"/>
            <a:r>
              <a:rPr lang="zh-CN" altLang="en-US" sz="1400" b="1">
                <a:solidFill>
                  <a:srgbClr val="7F6000"/>
                </a:solidFill>
                <a:latin typeface="Times New Roman"/>
                <a:ea typeface="黑体"/>
                <a:cs typeface="Times New Roman"/>
              </a:rPr>
              <a:t>SJMP rel 的 2 个字节：80H F6H </a:t>
            </a:r>
          </a:p>
        </p:txBody>
      </p:sp>
      <p:sp>
        <p:nvSpPr>
          <p:cNvPr id="130081" name="TextBox 130080"/>
          <p:cNvSpPr txBox="1"/>
          <p:nvPr/>
        </p:nvSpPr>
        <p:spPr>
          <a:xfrm>
            <a:off x="7662000" y="4320000"/>
            <a:ext cx="1050000" cy="300000"/>
          </a:xfrm>
          <a:prstGeom prst="rect">
            <a:avLst/>
          </a:prstGeom>
          <a:noFill/>
        </p:spPr>
        <p:txBody>
          <a:bodyPr wrap="square" lIns="45720" rIns="45720" tIns="18288" bIns="18288">
            <a:spAutoFit/>
          </a:bodyPr>
          <a:lstStyle/>
          <a:p>
            <a:pPr algn="l"/>
            <a:r>
              <a:rPr lang="zh-CN" altLang="en-US" sz="1400" b="1">
                <a:solidFill>
                  <a:srgbClr val="1F3864"/>
                </a:solidFill>
                <a:latin typeface="Times New Roman"/>
                <a:ea typeface="黑体"/>
                <a:cs typeface="Times New Roman"/>
              </a:rPr>
              <a:t>PC（基准）</a:t>
            </a:r>
          </a:p>
        </p:txBody>
      </p:sp>
      <p:sp>
        <p:nvSpPr>
          <p:cNvPr id="130082" name="TextBox 130081"/>
          <p:cNvSpPr txBox="1"/>
          <p:nvPr/>
        </p:nvSpPr>
        <p:spPr>
          <a:xfrm>
            <a:off x="323850" y="4760000"/>
            <a:ext cx="8600000" cy="900000"/>
          </a:xfrm>
          <a:prstGeom prst="rect">
            <a:avLst/>
          </a:prstGeom>
          <a:noFill/>
        </p:spPr>
        <p:txBody>
          <a:bodyPr wrap="square" lIns="45720" rIns="45720" tIns="18288" bIns="18288">
            <a:spAutoFit/>
          </a:bodyPr>
          <a:lstStyle/>
          <a:p>
            <a:r>
              <a:rPr lang="zh-CN" altLang="en-US" sz="2200" b="0">
                <a:latin typeface="Times New Roman"/>
                <a:ea typeface="仿宋_GB2312"/>
                <a:cs typeface="Times New Roman"/>
              </a:rPr>
              <a:t>【再例】SJMP $ 的机器码是 80H FEH：FEH = −2</a:t>
            </a:r>
          </a:p>
          <a:p>
            <a:pPr>
              <a:spcBef>
                <a:spcPts val="400"/>
              </a:spcBef>
            </a:pPr>
            <a:r>
              <a:rPr lang="zh-CN" altLang="en-US" sz="2200" b="0">
                <a:latin typeface="Times New Roman"/>
                <a:ea typeface="仿宋_GB2312"/>
                <a:cs typeface="Times New Roman"/>
              </a:rPr>
              <a:t>　　　　1002H − 2 = 1000H，正好跳回自己 → 原地等待（死循环）</a:t>
            </a:r>
          </a:p>
        </p:txBody>
      </p:sp>
      <p:sp>
        <p:nvSpPr>
          <p:cNvPr id="130083" name="TextBox 130082"/>
          <p:cNvSpPr txBox="1"/>
          <p:nvPr/>
        </p:nvSpPr>
        <p:spPr>
          <a:xfrm>
            <a:off x="323850" y="5680000"/>
            <a:ext cx="8600000" cy="480000"/>
          </a:xfrm>
          <a:prstGeom prst="rect">
            <a:avLst/>
          </a:prstGeom>
          <a:noFill/>
        </p:spPr>
        <p:txBody>
          <a:bodyPr wrap="square" lIns="45720" rIns="45720" tIns="18288" bIns="18288">
            <a:spAutoFit/>
          </a:bodyPr>
          <a:lstStyle/>
          <a:p>
            <a:r>
              <a:rPr lang="zh-CN" altLang="en-US" sz="2000" b="1">
                <a:solidFill>
                  <a:srgbClr val="0A10F8"/>
                </a:solidFill>
                <a:latin typeface="Times New Roman"/>
                <a:ea typeface="仿宋_GB2312"/>
                <a:cs typeface="Times New Roman"/>
              </a:rPr>
              <a:t>口诀：先取完指令定基准，再看 rel 正负——负数就往回数格子。</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0053" name="Rectangle 5"/>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第三章</a:t>
            </a:r>
            <a:r>
              <a:rPr kumimoji="1" lang="zh-CN" altLang="en-US" sz="28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  </a:t>
            </a:r>
            <a:r>
              <a:rPr kumimoji="1" lang="zh-CN" altLang="en-US" sz="24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   </a:t>
            </a:r>
            <a:r>
              <a:rPr kumimoji="1" lang="en-US" altLang="zh-CN"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MCS-51</a:t>
            </a:r>
            <a:r>
              <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指令系统</a:t>
            </a:r>
            <a:endParaRPr kumimoji="1"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130054" name="TextBox 130053"/>
          <p:cNvSpPr txBox="1"/>
          <p:nvPr/>
        </p:nvSpPr>
        <p:spPr>
          <a:xfrm>
            <a:off x="179388" y="900000"/>
            <a:ext cx="8700000" cy="480000"/>
          </a:xfrm>
          <a:prstGeom prst="rect">
            <a:avLst/>
          </a:prstGeom>
          <a:noFill/>
        </p:spPr>
        <p:txBody>
          <a:bodyPr wrap="square" lIns="45720" rIns="45720" tIns="18288" bIns="18288">
            <a:spAutoFit/>
          </a:bodyPr>
          <a:lstStyle/>
          <a:p>
            <a:r>
              <a:rPr lang="zh-CN" altLang="en-US" sz="2400" b="1">
                <a:solidFill>
                  <a:srgbClr val="0025C0"/>
                </a:solidFill>
                <a:latin typeface="宋体"/>
                <a:ea typeface="仿宋_GB2312"/>
                <a:cs typeface="宋体"/>
              </a:rPr>
              <a:t>看符号定寻址（判题口诀）</a:t>
            </a:r>
            <a:r>
              <a:rPr lang="zh-CN" altLang="en-US" sz="1800" b="0">
                <a:solidFill>
                  <a:srgbClr val="404040"/>
                </a:solidFill>
                <a:latin typeface="Times New Roman"/>
                <a:ea typeface="黑体"/>
                <a:cs typeface="Times New Roman"/>
              </a:rPr>
              <a:t>　七步从上往下过；一条指令源、目的各判一次</a:t>
            </a:r>
          </a:p>
        </p:txBody>
      </p:sp>
      <p:sp>
        <p:nvSpPr>
          <p:cNvPr id="130055" name="Oval 130054"/>
          <p:cNvSpPr/>
          <p:nvPr/>
        </p:nvSpPr>
        <p:spPr>
          <a:xfrm>
            <a:off x="230000" y="1550000"/>
            <a:ext cx="380000" cy="380000"/>
          </a:xfrm>
          <a:prstGeom prst="ellipse">
            <a:avLst/>
          </a:prstGeom>
          <a:solidFill>
            <a:srgbClr val="C00000"/>
          </a:solidFill>
          <a:ln>
            <a:noFill/>
          </a:ln>
        </p:spPr>
        <p:txBody>
          <a:bodyPr rtlCol="0" anchor="ctr" wrap="square" lIns="45720" rIns="45720" tIns="18288" bIns="18288"/>
          <a:lstStyle/>
          <a:p>
            <a:pPr algn="ctr"/>
            <a:r>
              <a:rPr lang="zh-CN" altLang="en-US" sz="1600" b="1">
                <a:solidFill>
                  <a:srgbClr val="FFFFFF"/>
                </a:solidFill>
                <a:latin typeface="Times New Roman"/>
                <a:ea typeface="黑体"/>
                <a:cs typeface="Times New Roman"/>
              </a:rPr>
              <a:t>1</a:t>
            </a:r>
          </a:p>
        </p:txBody>
      </p:sp>
      <p:sp>
        <p:nvSpPr>
          <p:cNvPr id="130056" name="Rounded Rectangle 130055"/>
          <p:cNvSpPr/>
          <p:nvPr/>
        </p:nvSpPr>
        <p:spPr>
          <a:xfrm>
            <a:off x="670000" y="1460000"/>
            <a:ext cx="2500000" cy="560000"/>
          </a:xfrm>
          <a:prstGeom prst="roundRect">
            <a:avLst/>
          </a:prstGeom>
          <a:solidFill>
            <a:srgbClr val="FFF2CC"/>
          </a:solidFill>
          <a:ln w="12700">
            <a:solidFill>
              <a:srgbClr val="BF9000"/>
            </a:solidFill>
          </a:ln>
        </p:spPr>
        <p:txBody>
          <a:bodyPr rtlCol="0" anchor="ctr" wrap="square" lIns="45720" rIns="45720" tIns="18288" bIns="18288"/>
          <a:lstStyle/>
          <a:p>
            <a:pPr algn="l"/>
            <a:r>
              <a:rPr lang="zh-CN" altLang="en-US" sz="1800" b="1">
                <a:solidFill>
                  <a:srgbClr val="000000"/>
                </a:solidFill>
                <a:latin typeface="Times New Roman"/>
                <a:ea typeface="黑体"/>
                <a:cs typeface="Times New Roman"/>
              </a:rPr>
              <a:t>#</a:t>
            </a:r>
          </a:p>
          <a:p>
            <a:pPr algn="l"/>
            <a:r>
              <a:rPr lang="zh-CN" altLang="en-US" sz="1200" b="0">
                <a:solidFill>
                  <a:srgbClr val="7F6000"/>
                </a:solidFill>
                <a:latin typeface="Times New Roman"/>
                <a:ea typeface="黑体"/>
                <a:cs typeface="Times New Roman"/>
              </a:rPr>
              <a:t>#data</a:t>
            </a:r>
          </a:p>
        </p:txBody>
      </p:sp>
      <p:sp>
        <p:nvSpPr>
          <p:cNvPr id="130057" name="TextBox 130056"/>
          <p:cNvSpPr txBox="1"/>
          <p:nvPr/>
        </p:nvSpPr>
        <p:spPr>
          <a:xfrm>
            <a:off x="3200000" y="1460000"/>
            <a:ext cx="300000" cy="560000"/>
          </a:xfrm>
          <a:prstGeom prst="rect">
            <a:avLst/>
          </a:prstGeom>
          <a:noFill/>
        </p:spPr>
        <p:txBody>
          <a:bodyPr wrap="square" lIns="45720" rIns="45720" tIns="18288" bIns="18288" anchor="ctr">
            <a:spAutoFit/>
          </a:bodyPr>
          <a:lstStyle/>
          <a:p>
            <a:pPr algn="ctr"/>
            <a:r>
              <a:rPr lang="zh-CN" altLang="en-US" sz="2000" b="1">
                <a:solidFill>
                  <a:srgbClr val="C00000"/>
                </a:solidFill>
                <a:latin typeface="Times New Roman"/>
                <a:ea typeface="黑体"/>
                <a:cs typeface="Times New Roman"/>
              </a:rPr>
              <a:t>→</a:t>
            </a:r>
          </a:p>
        </p:txBody>
      </p:sp>
      <p:sp>
        <p:nvSpPr>
          <p:cNvPr id="130058" name="Rounded Rectangle 130057"/>
          <p:cNvSpPr/>
          <p:nvPr/>
        </p:nvSpPr>
        <p:spPr>
          <a:xfrm>
            <a:off x="3520000" y="1460000"/>
            <a:ext cx="1650000" cy="560000"/>
          </a:xfrm>
          <a:prstGeom prst="roundRect">
            <a:avLst/>
          </a:prstGeom>
          <a:solidFill>
            <a:srgbClr val="DDEBF7"/>
          </a:solidFill>
          <a:ln w="12700">
            <a:solidFill>
              <a:srgbClr val="2F5597"/>
            </a:solidFill>
          </a:ln>
        </p:spPr>
        <p:txBody>
          <a:bodyPr rtlCol="0" anchor="ctr" wrap="square" lIns="45720" rIns="45720" tIns="18288" bIns="18288"/>
          <a:lstStyle/>
          <a:p>
            <a:pPr algn="ctr"/>
            <a:r>
              <a:rPr lang="zh-CN" altLang="en-US" sz="1800" b="1">
                <a:solidFill>
                  <a:srgbClr val="1F3864"/>
                </a:solidFill>
                <a:latin typeface="Times New Roman"/>
                <a:ea typeface="黑体"/>
                <a:cs typeface="Times New Roman"/>
              </a:rPr>
              <a:t>立即寻址</a:t>
            </a:r>
          </a:p>
        </p:txBody>
      </p:sp>
      <p:sp>
        <p:nvSpPr>
          <p:cNvPr id="130059" name="Oval 130058"/>
          <p:cNvSpPr/>
          <p:nvPr/>
        </p:nvSpPr>
        <p:spPr>
          <a:xfrm>
            <a:off x="230000" y="2190000"/>
            <a:ext cx="380000" cy="380000"/>
          </a:xfrm>
          <a:prstGeom prst="ellipse">
            <a:avLst/>
          </a:prstGeom>
          <a:solidFill>
            <a:srgbClr val="C00000"/>
          </a:solidFill>
          <a:ln>
            <a:noFill/>
          </a:ln>
        </p:spPr>
        <p:txBody>
          <a:bodyPr rtlCol="0" anchor="ctr" wrap="square" lIns="45720" rIns="45720" tIns="18288" bIns="18288"/>
          <a:lstStyle/>
          <a:p>
            <a:pPr algn="ctr"/>
            <a:r>
              <a:rPr lang="zh-CN" altLang="en-US" sz="1600" b="1">
                <a:solidFill>
                  <a:srgbClr val="FFFFFF"/>
                </a:solidFill>
                <a:latin typeface="Times New Roman"/>
                <a:ea typeface="黑体"/>
                <a:cs typeface="Times New Roman"/>
              </a:rPr>
              <a:t>2</a:t>
            </a:r>
          </a:p>
        </p:txBody>
      </p:sp>
      <p:sp>
        <p:nvSpPr>
          <p:cNvPr id="130060" name="Rounded Rectangle 130059"/>
          <p:cNvSpPr/>
          <p:nvPr/>
        </p:nvSpPr>
        <p:spPr>
          <a:xfrm>
            <a:off x="670000" y="2100000"/>
            <a:ext cx="2500000" cy="560000"/>
          </a:xfrm>
          <a:prstGeom prst="roundRect">
            <a:avLst/>
          </a:prstGeom>
          <a:solidFill>
            <a:srgbClr val="FFF2CC"/>
          </a:solidFill>
          <a:ln w="12700">
            <a:solidFill>
              <a:srgbClr val="BF9000"/>
            </a:solidFill>
          </a:ln>
        </p:spPr>
        <p:txBody>
          <a:bodyPr rtlCol="0" anchor="ctr" wrap="square" lIns="45720" rIns="45720" tIns="18288" bIns="18288"/>
          <a:lstStyle/>
          <a:p>
            <a:pPr algn="l"/>
            <a:r>
              <a:rPr lang="zh-CN" altLang="en-US" sz="1800" b="1">
                <a:solidFill>
                  <a:srgbClr val="000000"/>
                </a:solidFill>
                <a:latin typeface="Times New Roman"/>
                <a:ea typeface="黑体"/>
                <a:cs typeface="Times New Roman"/>
              </a:rPr>
              <a:t>@A+</a:t>
            </a:r>
          </a:p>
          <a:p>
            <a:pPr algn="l"/>
            <a:r>
              <a:rPr lang="zh-CN" altLang="en-US" sz="1200" b="0">
                <a:solidFill>
                  <a:srgbClr val="7F6000"/>
                </a:solidFill>
                <a:latin typeface="Times New Roman"/>
                <a:ea typeface="黑体"/>
                <a:cs typeface="Times New Roman"/>
              </a:rPr>
              <a:t>@A+DPTR、@A+PC</a:t>
            </a:r>
          </a:p>
        </p:txBody>
      </p:sp>
      <p:sp>
        <p:nvSpPr>
          <p:cNvPr id="130061" name="TextBox 130060"/>
          <p:cNvSpPr txBox="1"/>
          <p:nvPr/>
        </p:nvSpPr>
        <p:spPr>
          <a:xfrm>
            <a:off x="3200000" y="2100000"/>
            <a:ext cx="300000" cy="560000"/>
          </a:xfrm>
          <a:prstGeom prst="rect">
            <a:avLst/>
          </a:prstGeom>
          <a:noFill/>
        </p:spPr>
        <p:txBody>
          <a:bodyPr wrap="square" lIns="45720" rIns="45720" tIns="18288" bIns="18288" anchor="ctr">
            <a:spAutoFit/>
          </a:bodyPr>
          <a:lstStyle/>
          <a:p>
            <a:pPr algn="ctr"/>
            <a:r>
              <a:rPr lang="zh-CN" altLang="en-US" sz="2000" b="1">
                <a:solidFill>
                  <a:srgbClr val="C00000"/>
                </a:solidFill>
                <a:latin typeface="Times New Roman"/>
                <a:ea typeface="黑体"/>
                <a:cs typeface="Times New Roman"/>
              </a:rPr>
              <a:t>→</a:t>
            </a:r>
          </a:p>
        </p:txBody>
      </p:sp>
      <p:sp>
        <p:nvSpPr>
          <p:cNvPr id="130062" name="Rounded Rectangle 130061"/>
          <p:cNvSpPr/>
          <p:nvPr/>
        </p:nvSpPr>
        <p:spPr>
          <a:xfrm>
            <a:off x="3520000" y="2100000"/>
            <a:ext cx="1650000" cy="560000"/>
          </a:xfrm>
          <a:prstGeom prst="roundRect">
            <a:avLst/>
          </a:prstGeom>
          <a:solidFill>
            <a:srgbClr val="DDEBF7"/>
          </a:solidFill>
          <a:ln w="12700">
            <a:solidFill>
              <a:srgbClr val="2F5597"/>
            </a:solidFill>
          </a:ln>
        </p:spPr>
        <p:txBody>
          <a:bodyPr rtlCol="0" anchor="ctr" wrap="square" lIns="45720" rIns="45720" tIns="18288" bIns="18288"/>
          <a:lstStyle/>
          <a:p>
            <a:pPr algn="ctr"/>
            <a:r>
              <a:rPr lang="zh-CN" altLang="en-US" sz="1800" b="1">
                <a:solidFill>
                  <a:srgbClr val="1F3864"/>
                </a:solidFill>
                <a:latin typeface="Times New Roman"/>
                <a:ea typeface="黑体"/>
                <a:cs typeface="Times New Roman"/>
              </a:rPr>
              <a:t>基址加变址</a:t>
            </a:r>
          </a:p>
        </p:txBody>
      </p:sp>
      <p:sp>
        <p:nvSpPr>
          <p:cNvPr id="130063" name="Oval 130062"/>
          <p:cNvSpPr/>
          <p:nvPr/>
        </p:nvSpPr>
        <p:spPr>
          <a:xfrm>
            <a:off x="230000" y="2830000"/>
            <a:ext cx="380000" cy="380000"/>
          </a:xfrm>
          <a:prstGeom prst="ellipse">
            <a:avLst/>
          </a:prstGeom>
          <a:solidFill>
            <a:srgbClr val="C00000"/>
          </a:solidFill>
          <a:ln>
            <a:noFill/>
          </a:ln>
        </p:spPr>
        <p:txBody>
          <a:bodyPr rtlCol="0" anchor="ctr" wrap="square" lIns="45720" rIns="45720" tIns="18288" bIns="18288"/>
          <a:lstStyle/>
          <a:p>
            <a:pPr algn="ctr"/>
            <a:r>
              <a:rPr lang="zh-CN" altLang="en-US" sz="1600" b="1">
                <a:solidFill>
                  <a:srgbClr val="FFFFFF"/>
                </a:solidFill>
                <a:latin typeface="Times New Roman"/>
                <a:ea typeface="黑体"/>
                <a:cs typeface="Times New Roman"/>
              </a:rPr>
              <a:t>3</a:t>
            </a:r>
          </a:p>
        </p:txBody>
      </p:sp>
      <p:sp>
        <p:nvSpPr>
          <p:cNvPr id="130064" name="Rounded Rectangle 130063"/>
          <p:cNvSpPr/>
          <p:nvPr/>
        </p:nvSpPr>
        <p:spPr>
          <a:xfrm>
            <a:off x="670000" y="2740000"/>
            <a:ext cx="2500000" cy="560000"/>
          </a:xfrm>
          <a:prstGeom prst="roundRect">
            <a:avLst/>
          </a:prstGeom>
          <a:solidFill>
            <a:srgbClr val="FFF2CC"/>
          </a:solidFill>
          <a:ln w="12700">
            <a:solidFill>
              <a:srgbClr val="BF9000"/>
            </a:solidFill>
          </a:ln>
        </p:spPr>
        <p:txBody>
          <a:bodyPr rtlCol="0" anchor="ctr" wrap="square" lIns="45720" rIns="45720" tIns="18288" bIns="18288"/>
          <a:lstStyle/>
          <a:p>
            <a:pPr algn="l"/>
            <a:r>
              <a:rPr lang="zh-CN" altLang="en-US" sz="1800" b="1">
                <a:solidFill>
                  <a:srgbClr val="000000"/>
                </a:solidFill>
                <a:latin typeface="Times New Roman"/>
                <a:ea typeface="黑体"/>
                <a:cs typeface="Times New Roman"/>
              </a:rPr>
              <a:t>@Ri / @DPTR</a:t>
            </a:r>
          </a:p>
          <a:p>
            <a:pPr algn="l"/>
            <a:r>
              <a:rPr lang="zh-CN" altLang="en-US" sz="1200" b="0">
                <a:solidFill>
                  <a:srgbClr val="7F6000"/>
                </a:solidFill>
                <a:latin typeface="Times New Roman"/>
                <a:ea typeface="黑体"/>
                <a:cs typeface="Times New Roman"/>
              </a:rPr>
              <a:t>@R0、@R1、@DPTR</a:t>
            </a:r>
          </a:p>
        </p:txBody>
      </p:sp>
      <p:sp>
        <p:nvSpPr>
          <p:cNvPr id="130065" name="TextBox 130064"/>
          <p:cNvSpPr txBox="1"/>
          <p:nvPr/>
        </p:nvSpPr>
        <p:spPr>
          <a:xfrm>
            <a:off x="3200000" y="2740000"/>
            <a:ext cx="300000" cy="560000"/>
          </a:xfrm>
          <a:prstGeom prst="rect">
            <a:avLst/>
          </a:prstGeom>
          <a:noFill/>
        </p:spPr>
        <p:txBody>
          <a:bodyPr wrap="square" lIns="45720" rIns="45720" tIns="18288" bIns="18288" anchor="ctr">
            <a:spAutoFit/>
          </a:bodyPr>
          <a:lstStyle/>
          <a:p>
            <a:pPr algn="ctr"/>
            <a:r>
              <a:rPr lang="zh-CN" altLang="en-US" sz="2000" b="1">
                <a:solidFill>
                  <a:srgbClr val="C00000"/>
                </a:solidFill>
                <a:latin typeface="Times New Roman"/>
                <a:ea typeface="黑体"/>
                <a:cs typeface="Times New Roman"/>
              </a:rPr>
              <a:t>→</a:t>
            </a:r>
          </a:p>
        </p:txBody>
      </p:sp>
      <p:sp>
        <p:nvSpPr>
          <p:cNvPr id="130066" name="Rounded Rectangle 130065"/>
          <p:cNvSpPr/>
          <p:nvPr/>
        </p:nvSpPr>
        <p:spPr>
          <a:xfrm>
            <a:off x="3520000" y="2740000"/>
            <a:ext cx="1650000" cy="560000"/>
          </a:xfrm>
          <a:prstGeom prst="roundRect">
            <a:avLst/>
          </a:prstGeom>
          <a:solidFill>
            <a:srgbClr val="DDEBF7"/>
          </a:solidFill>
          <a:ln w="12700">
            <a:solidFill>
              <a:srgbClr val="2F5597"/>
            </a:solidFill>
          </a:ln>
        </p:spPr>
        <p:txBody>
          <a:bodyPr rtlCol="0" anchor="ctr" wrap="square" lIns="45720" rIns="45720" tIns="18288" bIns="18288"/>
          <a:lstStyle/>
          <a:p>
            <a:pPr algn="ctr"/>
            <a:r>
              <a:rPr lang="zh-CN" altLang="en-US" sz="1800" b="1">
                <a:solidFill>
                  <a:srgbClr val="1F3864"/>
                </a:solidFill>
                <a:latin typeface="Times New Roman"/>
                <a:ea typeface="黑体"/>
                <a:cs typeface="Times New Roman"/>
              </a:rPr>
              <a:t>寄存器间接</a:t>
            </a:r>
          </a:p>
        </p:txBody>
      </p:sp>
      <p:sp>
        <p:nvSpPr>
          <p:cNvPr id="130067" name="Oval 130066"/>
          <p:cNvSpPr/>
          <p:nvPr/>
        </p:nvSpPr>
        <p:spPr>
          <a:xfrm>
            <a:off x="230000" y="3470000"/>
            <a:ext cx="380000" cy="380000"/>
          </a:xfrm>
          <a:prstGeom prst="ellipse">
            <a:avLst/>
          </a:prstGeom>
          <a:solidFill>
            <a:srgbClr val="C00000"/>
          </a:solidFill>
          <a:ln>
            <a:noFill/>
          </a:ln>
        </p:spPr>
        <p:txBody>
          <a:bodyPr rtlCol="0" anchor="ctr" wrap="square" lIns="45720" rIns="45720" tIns="18288" bIns="18288"/>
          <a:lstStyle/>
          <a:p>
            <a:pPr algn="ctr"/>
            <a:r>
              <a:rPr lang="zh-CN" altLang="en-US" sz="1600" b="1">
                <a:solidFill>
                  <a:srgbClr val="FFFFFF"/>
                </a:solidFill>
                <a:latin typeface="Times New Roman"/>
                <a:ea typeface="黑体"/>
                <a:cs typeface="Times New Roman"/>
              </a:rPr>
              <a:t>4</a:t>
            </a:r>
          </a:p>
        </p:txBody>
      </p:sp>
      <p:sp>
        <p:nvSpPr>
          <p:cNvPr id="130068" name="Rounded Rectangle 130067"/>
          <p:cNvSpPr/>
          <p:nvPr/>
        </p:nvSpPr>
        <p:spPr>
          <a:xfrm>
            <a:off x="670000" y="3380000"/>
            <a:ext cx="2500000" cy="560000"/>
          </a:xfrm>
          <a:prstGeom prst="roundRect">
            <a:avLst/>
          </a:prstGeom>
          <a:solidFill>
            <a:srgbClr val="FFF2CC"/>
          </a:solidFill>
          <a:ln w="12700">
            <a:solidFill>
              <a:srgbClr val="BF9000"/>
            </a:solidFill>
          </a:ln>
        </p:spPr>
        <p:txBody>
          <a:bodyPr rtlCol="0" anchor="ctr" wrap="square" lIns="45720" rIns="45720" tIns="18288" bIns="18288"/>
          <a:lstStyle/>
          <a:p>
            <a:pPr algn="l"/>
            <a:r>
              <a:rPr lang="zh-CN" altLang="en-US" sz="1800" b="1">
                <a:solidFill>
                  <a:srgbClr val="000000"/>
                </a:solidFill>
                <a:latin typeface="Times New Roman"/>
                <a:ea typeface="黑体"/>
                <a:cs typeface="Times New Roman"/>
              </a:rPr>
              <a:t>Rn / A / DPTR</a:t>
            </a:r>
          </a:p>
          <a:p>
            <a:pPr algn="l"/>
            <a:r>
              <a:rPr lang="zh-CN" altLang="en-US" sz="1200" b="0">
                <a:solidFill>
                  <a:srgbClr val="7F6000"/>
                </a:solidFill>
                <a:latin typeface="Times New Roman"/>
                <a:ea typeface="黑体"/>
                <a:cs typeface="Times New Roman"/>
              </a:rPr>
              <a:t>R0~R7、A、B、DPTR</a:t>
            </a:r>
          </a:p>
        </p:txBody>
      </p:sp>
      <p:sp>
        <p:nvSpPr>
          <p:cNvPr id="130069" name="TextBox 130068"/>
          <p:cNvSpPr txBox="1"/>
          <p:nvPr/>
        </p:nvSpPr>
        <p:spPr>
          <a:xfrm>
            <a:off x="3200000" y="3380000"/>
            <a:ext cx="300000" cy="560000"/>
          </a:xfrm>
          <a:prstGeom prst="rect">
            <a:avLst/>
          </a:prstGeom>
          <a:noFill/>
        </p:spPr>
        <p:txBody>
          <a:bodyPr wrap="square" lIns="45720" rIns="45720" tIns="18288" bIns="18288" anchor="ctr">
            <a:spAutoFit/>
          </a:bodyPr>
          <a:lstStyle/>
          <a:p>
            <a:pPr algn="ctr"/>
            <a:r>
              <a:rPr lang="zh-CN" altLang="en-US" sz="2000" b="1">
                <a:solidFill>
                  <a:srgbClr val="C00000"/>
                </a:solidFill>
                <a:latin typeface="Times New Roman"/>
                <a:ea typeface="黑体"/>
                <a:cs typeface="Times New Roman"/>
              </a:rPr>
              <a:t>→</a:t>
            </a:r>
          </a:p>
        </p:txBody>
      </p:sp>
      <p:sp>
        <p:nvSpPr>
          <p:cNvPr id="130070" name="Rounded Rectangle 130069"/>
          <p:cNvSpPr/>
          <p:nvPr/>
        </p:nvSpPr>
        <p:spPr>
          <a:xfrm>
            <a:off x="3520000" y="3380000"/>
            <a:ext cx="1650000" cy="560000"/>
          </a:xfrm>
          <a:prstGeom prst="roundRect">
            <a:avLst/>
          </a:prstGeom>
          <a:solidFill>
            <a:srgbClr val="DDEBF7"/>
          </a:solidFill>
          <a:ln w="12700">
            <a:solidFill>
              <a:srgbClr val="2F5597"/>
            </a:solidFill>
          </a:ln>
        </p:spPr>
        <p:txBody>
          <a:bodyPr rtlCol="0" anchor="ctr" wrap="square" lIns="45720" rIns="45720" tIns="18288" bIns="18288"/>
          <a:lstStyle/>
          <a:p>
            <a:pPr algn="ctr"/>
            <a:r>
              <a:rPr lang="zh-CN" altLang="en-US" sz="1800" b="1">
                <a:solidFill>
                  <a:srgbClr val="1F3864"/>
                </a:solidFill>
                <a:latin typeface="Times New Roman"/>
                <a:ea typeface="黑体"/>
                <a:cs typeface="Times New Roman"/>
              </a:rPr>
              <a:t>寄存器寻址</a:t>
            </a:r>
          </a:p>
        </p:txBody>
      </p:sp>
      <p:sp>
        <p:nvSpPr>
          <p:cNvPr id="130071" name="Oval 130070"/>
          <p:cNvSpPr/>
          <p:nvPr/>
        </p:nvSpPr>
        <p:spPr>
          <a:xfrm>
            <a:off x="230000" y="4110000"/>
            <a:ext cx="380000" cy="380000"/>
          </a:xfrm>
          <a:prstGeom prst="ellipse">
            <a:avLst/>
          </a:prstGeom>
          <a:solidFill>
            <a:srgbClr val="C00000"/>
          </a:solidFill>
          <a:ln>
            <a:noFill/>
          </a:ln>
        </p:spPr>
        <p:txBody>
          <a:bodyPr rtlCol="0" anchor="ctr" wrap="square" lIns="45720" rIns="45720" tIns="18288" bIns="18288"/>
          <a:lstStyle/>
          <a:p>
            <a:pPr algn="ctr"/>
            <a:r>
              <a:rPr lang="zh-CN" altLang="en-US" sz="1600" b="1">
                <a:solidFill>
                  <a:srgbClr val="FFFFFF"/>
                </a:solidFill>
                <a:latin typeface="Times New Roman"/>
                <a:ea typeface="黑体"/>
                <a:cs typeface="Times New Roman"/>
              </a:rPr>
              <a:t>5</a:t>
            </a:r>
          </a:p>
        </p:txBody>
      </p:sp>
      <p:sp>
        <p:nvSpPr>
          <p:cNvPr id="130072" name="Rounded Rectangle 130071"/>
          <p:cNvSpPr/>
          <p:nvPr/>
        </p:nvSpPr>
        <p:spPr>
          <a:xfrm>
            <a:off x="670000" y="4020000"/>
            <a:ext cx="2500000" cy="560000"/>
          </a:xfrm>
          <a:prstGeom prst="roundRect">
            <a:avLst/>
          </a:prstGeom>
          <a:solidFill>
            <a:srgbClr val="FFF2CC"/>
          </a:solidFill>
          <a:ln w="12700">
            <a:solidFill>
              <a:srgbClr val="BF9000"/>
            </a:solidFill>
          </a:ln>
        </p:spPr>
        <p:txBody>
          <a:bodyPr rtlCol="0" anchor="ctr" wrap="square" lIns="45720" rIns="45720" tIns="18288" bIns="18288"/>
          <a:lstStyle/>
          <a:p>
            <a:pPr algn="l"/>
            <a:r>
              <a:rPr lang="zh-CN" altLang="en-US" sz="1800" b="1">
                <a:solidFill>
                  <a:srgbClr val="000000"/>
                </a:solidFill>
                <a:latin typeface="Times New Roman"/>
                <a:ea typeface="黑体"/>
                <a:cs typeface="Times New Roman"/>
              </a:rPr>
              <a:t>标号 / rel（转移指令里）</a:t>
            </a:r>
          </a:p>
          <a:p>
            <a:pPr algn="l"/>
            <a:r>
              <a:rPr lang="zh-CN" altLang="en-US" sz="1200" b="0">
                <a:solidFill>
                  <a:srgbClr val="7F6000"/>
                </a:solidFill>
                <a:latin typeface="Times New Roman"/>
                <a:ea typeface="黑体"/>
                <a:cs typeface="Times New Roman"/>
              </a:rPr>
              <a:t>SJMP、JC、JZ、DJNZ…</a:t>
            </a:r>
          </a:p>
        </p:txBody>
      </p:sp>
      <p:sp>
        <p:nvSpPr>
          <p:cNvPr id="130073" name="TextBox 130072"/>
          <p:cNvSpPr txBox="1"/>
          <p:nvPr/>
        </p:nvSpPr>
        <p:spPr>
          <a:xfrm>
            <a:off x="3200000" y="4020000"/>
            <a:ext cx="300000" cy="560000"/>
          </a:xfrm>
          <a:prstGeom prst="rect">
            <a:avLst/>
          </a:prstGeom>
          <a:noFill/>
        </p:spPr>
        <p:txBody>
          <a:bodyPr wrap="square" lIns="45720" rIns="45720" tIns="18288" bIns="18288" anchor="ctr">
            <a:spAutoFit/>
          </a:bodyPr>
          <a:lstStyle/>
          <a:p>
            <a:pPr algn="ctr"/>
            <a:r>
              <a:rPr lang="zh-CN" altLang="en-US" sz="2000" b="1">
                <a:solidFill>
                  <a:srgbClr val="C00000"/>
                </a:solidFill>
                <a:latin typeface="Times New Roman"/>
                <a:ea typeface="黑体"/>
                <a:cs typeface="Times New Roman"/>
              </a:rPr>
              <a:t>→</a:t>
            </a:r>
          </a:p>
        </p:txBody>
      </p:sp>
      <p:sp>
        <p:nvSpPr>
          <p:cNvPr id="130074" name="Rounded Rectangle 130073"/>
          <p:cNvSpPr/>
          <p:nvPr/>
        </p:nvSpPr>
        <p:spPr>
          <a:xfrm>
            <a:off x="3520000" y="4020000"/>
            <a:ext cx="1650000" cy="560000"/>
          </a:xfrm>
          <a:prstGeom prst="roundRect">
            <a:avLst/>
          </a:prstGeom>
          <a:solidFill>
            <a:srgbClr val="DDEBF7"/>
          </a:solidFill>
          <a:ln w="12700">
            <a:solidFill>
              <a:srgbClr val="2F5597"/>
            </a:solidFill>
          </a:ln>
        </p:spPr>
        <p:txBody>
          <a:bodyPr rtlCol="0" anchor="ctr" wrap="square" lIns="45720" rIns="45720" tIns="18288" bIns="18288"/>
          <a:lstStyle/>
          <a:p>
            <a:pPr algn="ctr"/>
            <a:r>
              <a:rPr lang="zh-CN" altLang="en-US" sz="1800" b="1">
                <a:solidFill>
                  <a:srgbClr val="1F3864"/>
                </a:solidFill>
                <a:latin typeface="Times New Roman"/>
                <a:ea typeface="黑体"/>
                <a:cs typeface="Times New Roman"/>
              </a:rPr>
              <a:t>相对寻址</a:t>
            </a:r>
          </a:p>
        </p:txBody>
      </p:sp>
      <p:sp>
        <p:nvSpPr>
          <p:cNvPr id="130075" name="Oval 130074"/>
          <p:cNvSpPr/>
          <p:nvPr/>
        </p:nvSpPr>
        <p:spPr>
          <a:xfrm>
            <a:off x="230000" y="4750000"/>
            <a:ext cx="380000" cy="380000"/>
          </a:xfrm>
          <a:prstGeom prst="ellipse">
            <a:avLst/>
          </a:prstGeom>
          <a:solidFill>
            <a:srgbClr val="C00000"/>
          </a:solidFill>
          <a:ln>
            <a:noFill/>
          </a:ln>
        </p:spPr>
        <p:txBody>
          <a:bodyPr rtlCol="0" anchor="ctr" wrap="square" lIns="45720" rIns="45720" tIns="18288" bIns="18288"/>
          <a:lstStyle/>
          <a:p>
            <a:pPr algn="ctr"/>
            <a:r>
              <a:rPr lang="zh-CN" altLang="en-US" sz="1600" b="1">
                <a:solidFill>
                  <a:srgbClr val="FFFFFF"/>
                </a:solidFill>
                <a:latin typeface="Times New Roman"/>
                <a:ea typeface="黑体"/>
                <a:cs typeface="Times New Roman"/>
              </a:rPr>
              <a:t>6</a:t>
            </a:r>
          </a:p>
        </p:txBody>
      </p:sp>
      <p:sp>
        <p:nvSpPr>
          <p:cNvPr id="130076" name="Rounded Rectangle 130075"/>
          <p:cNvSpPr/>
          <p:nvPr/>
        </p:nvSpPr>
        <p:spPr>
          <a:xfrm>
            <a:off x="670000" y="4660000"/>
            <a:ext cx="2500000" cy="560000"/>
          </a:xfrm>
          <a:prstGeom prst="roundRect">
            <a:avLst/>
          </a:prstGeom>
          <a:solidFill>
            <a:srgbClr val="FFF2CC"/>
          </a:solidFill>
          <a:ln w="12700">
            <a:solidFill>
              <a:srgbClr val="BF9000"/>
            </a:solidFill>
          </a:ln>
        </p:spPr>
        <p:txBody>
          <a:bodyPr rtlCol="0" anchor="ctr" wrap="square" lIns="45720" rIns="45720" tIns="18288" bIns="18288"/>
          <a:lstStyle/>
          <a:p>
            <a:pPr algn="l"/>
            <a:r>
              <a:rPr lang="zh-CN" altLang="en-US" sz="1800" b="1">
                <a:solidFill>
                  <a:srgbClr val="000000"/>
                </a:solidFill>
                <a:latin typeface="Times New Roman"/>
                <a:ea typeface="黑体"/>
                <a:cs typeface="Times New Roman"/>
              </a:rPr>
              <a:t>bit / 名.位</a:t>
            </a:r>
          </a:p>
          <a:p>
            <a:pPr algn="l"/>
            <a:r>
              <a:rPr lang="zh-CN" altLang="en-US" sz="1200" b="0">
                <a:solidFill>
                  <a:srgbClr val="7F6000"/>
                </a:solidFill>
                <a:latin typeface="Times New Roman"/>
                <a:ea typeface="黑体"/>
                <a:cs typeface="Times New Roman"/>
              </a:rPr>
              <a:t>C、P1.0、ACC.7、00H</a:t>
            </a:r>
          </a:p>
        </p:txBody>
      </p:sp>
      <p:sp>
        <p:nvSpPr>
          <p:cNvPr id="130077" name="TextBox 130076"/>
          <p:cNvSpPr txBox="1"/>
          <p:nvPr/>
        </p:nvSpPr>
        <p:spPr>
          <a:xfrm>
            <a:off x="3200000" y="4660000"/>
            <a:ext cx="300000" cy="560000"/>
          </a:xfrm>
          <a:prstGeom prst="rect">
            <a:avLst/>
          </a:prstGeom>
          <a:noFill/>
        </p:spPr>
        <p:txBody>
          <a:bodyPr wrap="square" lIns="45720" rIns="45720" tIns="18288" bIns="18288" anchor="ctr">
            <a:spAutoFit/>
          </a:bodyPr>
          <a:lstStyle/>
          <a:p>
            <a:pPr algn="ctr"/>
            <a:r>
              <a:rPr lang="zh-CN" altLang="en-US" sz="2000" b="1">
                <a:solidFill>
                  <a:srgbClr val="C00000"/>
                </a:solidFill>
                <a:latin typeface="Times New Roman"/>
                <a:ea typeface="黑体"/>
                <a:cs typeface="Times New Roman"/>
              </a:rPr>
              <a:t>→</a:t>
            </a:r>
          </a:p>
        </p:txBody>
      </p:sp>
      <p:sp>
        <p:nvSpPr>
          <p:cNvPr id="130078" name="Rounded Rectangle 130077"/>
          <p:cNvSpPr/>
          <p:nvPr/>
        </p:nvSpPr>
        <p:spPr>
          <a:xfrm>
            <a:off x="3520000" y="4660000"/>
            <a:ext cx="1650000" cy="560000"/>
          </a:xfrm>
          <a:prstGeom prst="roundRect">
            <a:avLst/>
          </a:prstGeom>
          <a:solidFill>
            <a:srgbClr val="DDEBF7"/>
          </a:solidFill>
          <a:ln w="12700">
            <a:solidFill>
              <a:srgbClr val="2F5597"/>
            </a:solidFill>
          </a:ln>
        </p:spPr>
        <p:txBody>
          <a:bodyPr rtlCol="0" anchor="ctr" wrap="square" lIns="45720" rIns="45720" tIns="18288" bIns="18288"/>
          <a:lstStyle/>
          <a:p>
            <a:pPr algn="ctr"/>
            <a:r>
              <a:rPr lang="zh-CN" altLang="en-US" sz="1800" b="1">
                <a:solidFill>
                  <a:srgbClr val="1F3864"/>
                </a:solidFill>
                <a:latin typeface="Times New Roman"/>
                <a:ea typeface="黑体"/>
                <a:cs typeface="Times New Roman"/>
              </a:rPr>
              <a:t>位寻址</a:t>
            </a:r>
          </a:p>
        </p:txBody>
      </p:sp>
      <p:sp>
        <p:nvSpPr>
          <p:cNvPr id="130079" name="Oval 130078"/>
          <p:cNvSpPr/>
          <p:nvPr/>
        </p:nvSpPr>
        <p:spPr>
          <a:xfrm>
            <a:off x="230000" y="5390000"/>
            <a:ext cx="380000" cy="380000"/>
          </a:xfrm>
          <a:prstGeom prst="ellipse">
            <a:avLst/>
          </a:prstGeom>
          <a:solidFill>
            <a:srgbClr val="C00000"/>
          </a:solidFill>
          <a:ln>
            <a:noFill/>
          </a:ln>
        </p:spPr>
        <p:txBody>
          <a:bodyPr rtlCol="0" anchor="ctr" wrap="square" lIns="45720" rIns="45720" tIns="18288" bIns="18288"/>
          <a:lstStyle/>
          <a:p>
            <a:pPr algn="ctr"/>
            <a:r>
              <a:rPr lang="zh-CN" altLang="en-US" sz="1600" b="1">
                <a:solidFill>
                  <a:srgbClr val="FFFFFF"/>
                </a:solidFill>
                <a:latin typeface="Times New Roman"/>
                <a:ea typeface="黑体"/>
                <a:cs typeface="Times New Roman"/>
              </a:rPr>
              <a:t>7</a:t>
            </a:r>
          </a:p>
        </p:txBody>
      </p:sp>
      <p:sp>
        <p:nvSpPr>
          <p:cNvPr id="130080" name="Rounded Rectangle 130079"/>
          <p:cNvSpPr/>
          <p:nvPr/>
        </p:nvSpPr>
        <p:spPr>
          <a:xfrm>
            <a:off x="670000" y="5300000"/>
            <a:ext cx="2500000" cy="560000"/>
          </a:xfrm>
          <a:prstGeom prst="roundRect">
            <a:avLst/>
          </a:prstGeom>
          <a:solidFill>
            <a:srgbClr val="FFF2CC"/>
          </a:solidFill>
          <a:ln w="12700">
            <a:solidFill>
              <a:srgbClr val="BF9000"/>
            </a:solidFill>
          </a:ln>
        </p:spPr>
        <p:txBody>
          <a:bodyPr rtlCol="0" anchor="ctr" wrap="square" lIns="45720" rIns="45720" tIns="18288" bIns="18288"/>
          <a:lstStyle/>
          <a:p>
            <a:pPr algn="l"/>
            <a:r>
              <a:rPr lang="zh-CN" altLang="en-US" sz="1800" b="1">
                <a:solidFill>
                  <a:srgbClr val="000000"/>
                </a:solidFill>
                <a:latin typeface="Times New Roman"/>
                <a:ea typeface="黑体"/>
                <a:cs typeface="Times New Roman"/>
              </a:rPr>
              <a:t>剩下的 8 位地址</a:t>
            </a:r>
          </a:p>
          <a:p>
            <a:pPr algn="l"/>
            <a:r>
              <a:rPr lang="zh-CN" altLang="en-US" sz="1200" b="0">
                <a:solidFill>
                  <a:srgbClr val="7F6000"/>
                </a:solidFill>
                <a:latin typeface="Times New Roman"/>
                <a:ea typeface="黑体"/>
                <a:cs typeface="Times New Roman"/>
              </a:rPr>
              <a:t>30H、P0、TL0</a:t>
            </a:r>
          </a:p>
        </p:txBody>
      </p:sp>
      <p:sp>
        <p:nvSpPr>
          <p:cNvPr id="130081" name="TextBox 130080"/>
          <p:cNvSpPr txBox="1"/>
          <p:nvPr/>
        </p:nvSpPr>
        <p:spPr>
          <a:xfrm>
            <a:off x="3200000" y="5300000"/>
            <a:ext cx="300000" cy="560000"/>
          </a:xfrm>
          <a:prstGeom prst="rect">
            <a:avLst/>
          </a:prstGeom>
          <a:noFill/>
        </p:spPr>
        <p:txBody>
          <a:bodyPr wrap="square" lIns="45720" rIns="45720" tIns="18288" bIns="18288" anchor="ctr">
            <a:spAutoFit/>
          </a:bodyPr>
          <a:lstStyle/>
          <a:p>
            <a:pPr algn="ctr"/>
            <a:r>
              <a:rPr lang="zh-CN" altLang="en-US" sz="2000" b="1">
                <a:solidFill>
                  <a:srgbClr val="C00000"/>
                </a:solidFill>
                <a:latin typeface="Times New Roman"/>
                <a:ea typeface="黑体"/>
                <a:cs typeface="Times New Roman"/>
              </a:rPr>
              <a:t>→</a:t>
            </a:r>
          </a:p>
        </p:txBody>
      </p:sp>
      <p:sp>
        <p:nvSpPr>
          <p:cNvPr id="130082" name="Rounded Rectangle 130081"/>
          <p:cNvSpPr/>
          <p:nvPr/>
        </p:nvSpPr>
        <p:spPr>
          <a:xfrm>
            <a:off x="3520000" y="5300000"/>
            <a:ext cx="1650000" cy="560000"/>
          </a:xfrm>
          <a:prstGeom prst="roundRect">
            <a:avLst/>
          </a:prstGeom>
          <a:solidFill>
            <a:srgbClr val="DDEBF7"/>
          </a:solidFill>
          <a:ln w="12700">
            <a:solidFill>
              <a:srgbClr val="2F5597"/>
            </a:solidFill>
          </a:ln>
        </p:spPr>
        <p:txBody>
          <a:bodyPr rtlCol="0" anchor="ctr" wrap="square" lIns="45720" rIns="45720" tIns="18288" bIns="18288"/>
          <a:lstStyle/>
          <a:p>
            <a:pPr algn="ctr"/>
            <a:r>
              <a:rPr lang="zh-CN" altLang="en-US" sz="1800" b="1">
                <a:solidFill>
                  <a:srgbClr val="1F3864"/>
                </a:solidFill>
                <a:latin typeface="Times New Roman"/>
                <a:ea typeface="黑体"/>
                <a:cs typeface="Times New Roman"/>
              </a:rPr>
              <a:t>直接寻址</a:t>
            </a:r>
          </a:p>
        </p:txBody>
      </p:sp>
      <p:sp>
        <p:nvSpPr>
          <p:cNvPr id="130083" name="TextBox 130082"/>
          <p:cNvSpPr txBox="1"/>
          <p:nvPr/>
        </p:nvSpPr>
        <p:spPr>
          <a:xfrm>
            <a:off x="5400000" y="1460000"/>
            <a:ext cx="3550000" cy="400000"/>
          </a:xfrm>
          <a:prstGeom prst="rect">
            <a:avLst/>
          </a:prstGeom>
          <a:noFill/>
        </p:spPr>
        <p:txBody>
          <a:bodyPr wrap="square" lIns="45720" rIns="45720" tIns="18288" bIns="18288">
            <a:spAutoFit/>
          </a:bodyPr>
          <a:lstStyle/>
          <a:p>
            <a:r>
              <a:rPr lang="zh-CN" altLang="en-US" sz="1800" b="1">
                <a:solidFill>
                  <a:srgbClr val="0025C0"/>
                </a:solidFill>
                <a:latin typeface="Times New Roman"/>
                <a:ea typeface="黑体"/>
                <a:cs typeface="Times New Roman"/>
              </a:rPr>
              <a:t>热身两条（照口诀从上往下过）</a:t>
            </a:r>
          </a:p>
        </p:txBody>
      </p:sp>
      <p:sp>
        <p:nvSpPr>
          <p:cNvPr id="130084" name="Rounded Rectangle 130083"/>
          <p:cNvSpPr/>
          <p:nvPr/>
        </p:nvSpPr>
        <p:spPr>
          <a:xfrm>
            <a:off x="5400000" y="1900000"/>
            <a:ext cx="3550000" cy="1330000"/>
          </a:xfrm>
          <a:prstGeom prst="roundRect">
            <a:avLst/>
          </a:prstGeom>
          <a:solidFill>
            <a:srgbClr val="FFFFFF"/>
          </a:solidFill>
          <a:ln w="12700">
            <a:solidFill>
              <a:srgbClr val="404040"/>
            </a:solidFill>
          </a:ln>
        </p:spPr>
        <p:txBody>
          <a:bodyPr rtlCol="0" anchor="t" wrap="square" tIns="64008" bIns="18288"/>
          <a:lstStyle/>
          <a:p>
            <a:pPr algn="l"/>
            <a:r>
              <a:rPr lang="zh-CN" altLang="en-US" sz="2000" b="1">
                <a:solidFill>
                  <a:srgbClr val="000000"/>
                </a:solidFill>
                <a:latin typeface="Times New Roman"/>
                <a:ea typeface="黑体"/>
                <a:cs typeface="Times New Roman"/>
              </a:rPr>
              <a:t>MOV  30H, @R1</a:t>
            </a:r>
          </a:p>
          <a:p>
            <a:pPr algn="l">
              <a:spcBef>
                <a:spcPts val="600"/>
              </a:spcBef>
            </a:pPr>
            <a:r>
              <a:rPr lang="zh-CN" altLang="en-US" sz="1600" b="0">
                <a:solidFill>
                  <a:srgbClr val="1F3864"/>
                </a:solidFill>
                <a:latin typeface="Times New Roman"/>
                <a:ea typeface="黑体"/>
                <a:cs typeface="Times New Roman"/>
              </a:rPr>
              <a:t>源  @R1 → 第 3 步 → 寄存器间接</a:t>
            </a:r>
          </a:p>
          <a:p>
            <a:pPr algn="l">
              <a:spcBef>
                <a:spcPts val="600"/>
              </a:spcBef>
            </a:pPr>
            <a:r>
              <a:rPr lang="zh-CN" altLang="en-US" sz="1600" b="0">
                <a:solidFill>
                  <a:srgbClr val="1F3864"/>
                </a:solidFill>
                <a:latin typeface="Times New Roman"/>
                <a:ea typeface="黑体"/>
                <a:cs typeface="Times New Roman"/>
              </a:rPr>
              <a:t>目的 30H → 第 7 步 → 直接寻址</a:t>
            </a:r>
          </a:p>
        </p:txBody>
      </p:sp>
      <p:sp>
        <p:nvSpPr>
          <p:cNvPr id="130085" name="Rounded Rectangle 130084"/>
          <p:cNvSpPr/>
          <p:nvPr/>
        </p:nvSpPr>
        <p:spPr>
          <a:xfrm>
            <a:off x="5400000" y="3350000"/>
            <a:ext cx="3550000" cy="1330000"/>
          </a:xfrm>
          <a:prstGeom prst="roundRect">
            <a:avLst/>
          </a:prstGeom>
          <a:solidFill>
            <a:srgbClr val="FFFFFF"/>
          </a:solidFill>
          <a:ln w="12700">
            <a:solidFill>
              <a:srgbClr val="404040"/>
            </a:solidFill>
          </a:ln>
        </p:spPr>
        <p:txBody>
          <a:bodyPr rtlCol="0" anchor="t" wrap="square" tIns="64008" bIns="18288"/>
          <a:lstStyle/>
          <a:p>
            <a:pPr algn="l"/>
            <a:r>
              <a:rPr lang="zh-CN" altLang="en-US" sz="2000" b="1">
                <a:solidFill>
                  <a:srgbClr val="000000"/>
                </a:solidFill>
                <a:latin typeface="Times New Roman"/>
                <a:ea typeface="黑体"/>
                <a:cs typeface="Times New Roman"/>
              </a:rPr>
              <a:t>JB  ACC.7, NEXT</a:t>
            </a:r>
          </a:p>
          <a:p>
            <a:pPr algn="l">
              <a:spcBef>
                <a:spcPts val="600"/>
              </a:spcBef>
            </a:pPr>
            <a:r>
              <a:rPr lang="zh-CN" altLang="en-US" sz="1600" b="0">
                <a:solidFill>
                  <a:srgbClr val="1F3864"/>
                </a:solidFill>
                <a:latin typeface="Times New Roman"/>
                <a:ea typeface="黑体"/>
                <a:cs typeface="Times New Roman"/>
              </a:rPr>
              <a:t>ACC.7 → 第 6 步 → 位寻址</a:t>
            </a:r>
          </a:p>
          <a:p>
            <a:pPr algn="l">
              <a:spcBef>
                <a:spcPts val="600"/>
              </a:spcBef>
            </a:pPr>
            <a:r>
              <a:rPr lang="zh-CN" altLang="en-US" sz="1600" b="0">
                <a:solidFill>
                  <a:srgbClr val="1F3864"/>
                </a:solidFill>
                <a:latin typeface="Times New Roman"/>
                <a:ea typeface="黑体"/>
                <a:cs typeface="Times New Roman"/>
              </a:rPr>
              <a:t>NEXT → 第 5 步 → 相对寻址</a:t>
            </a:r>
          </a:p>
        </p:txBody>
      </p:sp>
      <p:sp>
        <p:nvSpPr>
          <p:cNvPr id="130086" name="Rounded Rectangle 130085"/>
          <p:cNvSpPr/>
          <p:nvPr/>
        </p:nvSpPr>
        <p:spPr>
          <a:xfrm>
            <a:off x="5400000" y="4800000"/>
            <a:ext cx="3550000" cy="1060000"/>
          </a:xfrm>
          <a:prstGeom prst="roundRect">
            <a:avLst/>
          </a:prstGeom>
          <a:solidFill>
            <a:srgbClr val="FFF2CC"/>
          </a:solidFill>
          <a:ln w="12700">
            <a:solidFill>
              <a:srgbClr val="BF9000"/>
            </a:solidFill>
          </a:ln>
        </p:spPr>
        <p:txBody>
          <a:bodyPr rtlCol="0" anchor="ctr" wrap="square" tIns="18288" bIns="18288"/>
          <a:lstStyle/>
          <a:p>
            <a:pPr algn="l"/>
            <a:r>
              <a:rPr lang="zh-CN" altLang="en-US" sz="1500" b="0">
                <a:solidFill>
                  <a:srgbClr val="000000"/>
                </a:solidFill>
                <a:latin typeface="Times New Roman"/>
                <a:ea typeface="黑体"/>
                <a:cs typeface="Times New Roman"/>
              </a:rPr>
              <a:t>判题顺序：先找 #，再找 @（后面带不带 A+），再看 Rn/A/DPTR；转移指令找标号；位看小数点；剩下的 8 位地址都是直接。</a:t>
            </a:r>
          </a:p>
        </p:txBody>
      </p:sp>
    </p:spTree>
  </p:cSld>
  <p:clrMapOvr>
    <a:masterClrMapping/>
  </p:clrMapOvr>
</p:sld>
</file>

<file path=ppt/tags/tag1.xml><?xml version="1.0" encoding="utf-8"?>
<p:tagLst xmlns:p="http://schemas.openxmlformats.org/presentationml/2006/main">
  <p:tag name="commondata" val="eyJoZGlkIjoiODgwZWNmNmEzNGU2M2UyODVhN2EyYmI2MGY0NDU3MWIifQ=="/>
</p:tagLst>
</file>

<file path=ppt/theme/theme1.xml><?xml version="1.0" encoding="utf-8"?>
<a:theme xmlns:a="http://schemas.openxmlformats.org/drawingml/2006/main" name="计原摸版">
  <a:themeElements>
    <a:clrScheme name="">
      <a:dk1>
        <a:srgbClr val="000000"/>
      </a:dk1>
      <a:lt1>
        <a:srgbClr val="FFFFFF"/>
      </a:lt1>
      <a:dk2>
        <a:srgbClr val="A50021"/>
      </a:dk2>
      <a:lt2>
        <a:srgbClr val="808080"/>
      </a:lt2>
      <a:accent1>
        <a:srgbClr val="FFCC99"/>
      </a:accent1>
      <a:accent2>
        <a:srgbClr val="0000FF"/>
      </a:accent2>
      <a:accent3>
        <a:srgbClr val="FFFFFF"/>
      </a:accent3>
      <a:accent4>
        <a:srgbClr val="000000"/>
      </a:accent4>
      <a:accent5>
        <a:srgbClr val="FFE2CA"/>
      </a:accent5>
      <a:accent6>
        <a:srgbClr val="0000E7"/>
      </a:accent6>
      <a:hlink>
        <a:srgbClr val="CC00CC"/>
      </a:hlink>
      <a:folHlink>
        <a:srgbClr val="FF6600"/>
      </a:folHlink>
    </a:clrScheme>
    <a:fontScheme name="计原摸版">
      <a:majorFont>
        <a:latin typeface="Times New Roman"/>
        <a:ea typeface="楷体_GB2312"/>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1" lang="zh-CN" altLang="en-US" sz="800" b="1" i="0" u="none" strike="noStrike" cap="none" normalizeH="0" baseline="0" smtClean="0">
            <a:ln>
              <a:noFill/>
            </a:ln>
            <a:solidFill>
              <a:schemeClr val="tx1"/>
            </a:solidFill>
            <a:effectLst/>
            <a:latin typeface="Times New Roman" panose="02020503050405090304" pitchFamily="18" charset="0"/>
            <a:ea typeface="仿宋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1" lang="zh-CN" altLang="en-US" sz="800" b="1" i="0" u="none" strike="noStrike" cap="none" normalizeH="0" baseline="0" smtClean="0">
            <a:ln>
              <a:noFill/>
            </a:ln>
            <a:solidFill>
              <a:schemeClr val="tx1"/>
            </a:solidFill>
            <a:effectLst/>
            <a:latin typeface="Times New Roman" panose="02020503050405090304" pitchFamily="18" charset="0"/>
            <a:ea typeface="仿宋_GB2312" pitchFamily="49" charset="-122"/>
          </a:defRPr>
        </a:defPPr>
      </a:lstStyle>
    </a:lnDef>
  </a:objectDefaults>
  <a:extraClrSchemeLst>
    <a:extraClrScheme>
      <a:clrScheme name="计原摸版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计原摸版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计原摸版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计原摸版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计原摸版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计原摸版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计原摸版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计原摸版">
  <a:themeElements>
    <a:clrScheme name="">
      <a:dk1>
        <a:srgbClr val="000000"/>
      </a:dk1>
      <a:lt1>
        <a:srgbClr val="FFFFFF"/>
      </a:lt1>
      <a:dk2>
        <a:srgbClr val="A50021"/>
      </a:dk2>
      <a:lt2>
        <a:srgbClr val="808080"/>
      </a:lt2>
      <a:accent1>
        <a:srgbClr val="FFCC99"/>
      </a:accent1>
      <a:accent2>
        <a:srgbClr val="0000FF"/>
      </a:accent2>
      <a:accent3>
        <a:srgbClr val="FFFFFF"/>
      </a:accent3>
      <a:accent4>
        <a:srgbClr val="000000"/>
      </a:accent4>
      <a:accent5>
        <a:srgbClr val="FFE2CA"/>
      </a:accent5>
      <a:accent6>
        <a:srgbClr val="0000E7"/>
      </a:accent6>
      <a:hlink>
        <a:srgbClr val="CC00CC"/>
      </a:hlink>
      <a:folHlink>
        <a:srgbClr val="FF6600"/>
      </a:folHlink>
    </a:clrScheme>
    <a:fontScheme name="计原摸版">
      <a:majorFont>
        <a:latin typeface="Times New Roman"/>
        <a:ea typeface="楷体_GB2312"/>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1" lang="zh-CN" altLang="en-US" sz="800" b="1" i="0" u="none" strike="noStrike" cap="none" normalizeH="0" baseline="0" smtClean="0">
            <a:ln>
              <a:noFill/>
            </a:ln>
            <a:solidFill>
              <a:schemeClr val="tx1"/>
            </a:solidFill>
            <a:effectLst/>
            <a:latin typeface="Times New Roman" panose="02020503050405090304" pitchFamily="18" charset="0"/>
            <a:ea typeface="仿宋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1" lang="zh-CN" altLang="en-US" sz="800" b="1" i="0" u="none" strike="noStrike" cap="none" normalizeH="0" baseline="0" smtClean="0">
            <a:ln>
              <a:noFill/>
            </a:ln>
            <a:solidFill>
              <a:schemeClr val="tx1"/>
            </a:solidFill>
            <a:effectLst/>
            <a:latin typeface="Times New Roman" panose="02020503050405090304" pitchFamily="18" charset="0"/>
            <a:ea typeface="仿宋_GB2312" pitchFamily="49" charset="-122"/>
          </a:defRPr>
        </a:defPPr>
      </a:lstStyle>
    </a:lnDef>
  </a:objectDefaults>
  <a:extraClrSchemeLst>
    <a:extraClrScheme>
      <a:clrScheme name="计原摸版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计原摸版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计原摸版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计原摸版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计原摸版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计原摸版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计原摸版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_计原摸版">
  <a:themeElements>
    <a:clrScheme name="">
      <a:dk1>
        <a:srgbClr val="000000"/>
      </a:dk1>
      <a:lt1>
        <a:srgbClr val="FFFFFF"/>
      </a:lt1>
      <a:dk2>
        <a:srgbClr val="A50021"/>
      </a:dk2>
      <a:lt2>
        <a:srgbClr val="808080"/>
      </a:lt2>
      <a:accent1>
        <a:srgbClr val="FFCC99"/>
      </a:accent1>
      <a:accent2>
        <a:srgbClr val="0000FF"/>
      </a:accent2>
      <a:accent3>
        <a:srgbClr val="FFFFFF"/>
      </a:accent3>
      <a:accent4>
        <a:srgbClr val="000000"/>
      </a:accent4>
      <a:accent5>
        <a:srgbClr val="FFE2CA"/>
      </a:accent5>
      <a:accent6>
        <a:srgbClr val="0000E7"/>
      </a:accent6>
      <a:hlink>
        <a:srgbClr val="CC00CC"/>
      </a:hlink>
      <a:folHlink>
        <a:srgbClr val="FF6600"/>
      </a:folHlink>
    </a:clrScheme>
    <a:fontScheme name="计原摸版">
      <a:majorFont>
        <a:latin typeface="Times New Roman"/>
        <a:ea typeface="楷体_GB2312"/>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1" lang="zh-CN" altLang="en-US" sz="800" b="1" i="0" u="none" strike="noStrike" cap="none" normalizeH="0" baseline="0" smtClean="0">
            <a:ln>
              <a:noFill/>
            </a:ln>
            <a:solidFill>
              <a:schemeClr val="tx1"/>
            </a:solidFill>
            <a:effectLst/>
            <a:latin typeface="Times New Roman" panose="02020503050405090304" pitchFamily="18" charset="0"/>
            <a:ea typeface="仿宋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1" lang="zh-CN" altLang="en-US" sz="800" b="1" i="0" u="none" strike="noStrike" cap="none" normalizeH="0" baseline="0" smtClean="0">
            <a:ln>
              <a:noFill/>
            </a:ln>
            <a:solidFill>
              <a:schemeClr val="tx1"/>
            </a:solidFill>
            <a:effectLst/>
            <a:latin typeface="Times New Roman" panose="02020503050405090304" pitchFamily="18" charset="0"/>
            <a:ea typeface="仿宋_GB2312" pitchFamily="49" charset="-122"/>
          </a:defRPr>
        </a:defPPr>
      </a:lstStyle>
    </a:lnDef>
  </a:objectDefaults>
  <a:extraClrSchemeLst>
    <a:extraClrScheme>
      <a:clrScheme name="计原摸版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计原摸版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计原摸版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计原摸版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计原摸版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计原摸版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计原摸版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3_计原摸版">
  <a:themeElements>
    <a:clrScheme name="">
      <a:dk1>
        <a:srgbClr val="000000"/>
      </a:dk1>
      <a:lt1>
        <a:srgbClr val="FFFFFF"/>
      </a:lt1>
      <a:dk2>
        <a:srgbClr val="A50021"/>
      </a:dk2>
      <a:lt2>
        <a:srgbClr val="808080"/>
      </a:lt2>
      <a:accent1>
        <a:srgbClr val="FFCC99"/>
      </a:accent1>
      <a:accent2>
        <a:srgbClr val="0000FF"/>
      </a:accent2>
      <a:accent3>
        <a:srgbClr val="FFFFFF"/>
      </a:accent3>
      <a:accent4>
        <a:srgbClr val="000000"/>
      </a:accent4>
      <a:accent5>
        <a:srgbClr val="FFE2CA"/>
      </a:accent5>
      <a:accent6>
        <a:srgbClr val="0000E7"/>
      </a:accent6>
      <a:hlink>
        <a:srgbClr val="CC00CC"/>
      </a:hlink>
      <a:folHlink>
        <a:srgbClr val="FF6600"/>
      </a:folHlink>
    </a:clrScheme>
    <a:fontScheme name="计原摸版">
      <a:majorFont>
        <a:latin typeface="Times New Roman"/>
        <a:ea typeface="楷体_GB2312"/>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1" lang="zh-CN" altLang="en-US" sz="800" b="1" i="0" u="none" strike="noStrike" cap="none" normalizeH="0" baseline="0" smtClean="0">
            <a:ln>
              <a:noFill/>
            </a:ln>
            <a:solidFill>
              <a:schemeClr val="tx1"/>
            </a:solidFill>
            <a:effectLst/>
            <a:latin typeface="Times New Roman" panose="02020503050405090304" pitchFamily="18" charset="0"/>
            <a:ea typeface="仿宋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1" lang="zh-CN" altLang="en-US" sz="800" b="1" i="0" u="none" strike="noStrike" cap="none" normalizeH="0" baseline="0" smtClean="0">
            <a:ln>
              <a:noFill/>
            </a:ln>
            <a:solidFill>
              <a:schemeClr val="tx1"/>
            </a:solidFill>
            <a:effectLst/>
            <a:latin typeface="Times New Roman" panose="02020503050405090304" pitchFamily="18" charset="0"/>
            <a:ea typeface="仿宋_GB2312" pitchFamily="49" charset="-122"/>
          </a:defRPr>
        </a:defPPr>
      </a:lstStyle>
    </a:lnDef>
  </a:objectDefaults>
  <a:extraClrSchemeLst>
    <a:extraClrScheme>
      <a:clrScheme name="计原摸版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计原摸版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计原摸版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计原摸版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计原摸版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计原摸版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计原摸版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4_计原摸版">
  <a:themeElements>
    <a:clrScheme name="">
      <a:dk1>
        <a:srgbClr val="000000"/>
      </a:dk1>
      <a:lt1>
        <a:srgbClr val="FFFFFF"/>
      </a:lt1>
      <a:dk2>
        <a:srgbClr val="A50021"/>
      </a:dk2>
      <a:lt2>
        <a:srgbClr val="808080"/>
      </a:lt2>
      <a:accent1>
        <a:srgbClr val="FFCC99"/>
      </a:accent1>
      <a:accent2>
        <a:srgbClr val="0000FF"/>
      </a:accent2>
      <a:accent3>
        <a:srgbClr val="FFFFFF"/>
      </a:accent3>
      <a:accent4>
        <a:srgbClr val="000000"/>
      </a:accent4>
      <a:accent5>
        <a:srgbClr val="FFE2CA"/>
      </a:accent5>
      <a:accent6>
        <a:srgbClr val="0000E7"/>
      </a:accent6>
      <a:hlink>
        <a:srgbClr val="CC00CC"/>
      </a:hlink>
      <a:folHlink>
        <a:srgbClr val="FF6600"/>
      </a:folHlink>
    </a:clrScheme>
    <a:fontScheme name="计原摸版">
      <a:majorFont>
        <a:latin typeface="Times New Roman"/>
        <a:ea typeface="楷体_GB2312"/>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1" lang="zh-CN" altLang="en-US" sz="800" b="1" i="0" u="none" strike="noStrike" cap="none" normalizeH="0" baseline="0" smtClean="0">
            <a:ln>
              <a:noFill/>
            </a:ln>
            <a:solidFill>
              <a:schemeClr val="tx1"/>
            </a:solidFill>
            <a:effectLst/>
            <a:latin typeface="Times New Roman" panose="02020503050405090304" pitchFamily="18" charset="0"/>
            <a:ea typeface="仿宋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1" lang="zh-CN" altLang="en-US" sz="800" b="1" i="0" u="none" strike="noStrike" cap="none" normalizeH="0" baseline="0" smtClean="0">
            <a:ln>
              <a:noFill/>
            </a:ln>
            <a:solidFill>
              <a:schemeClr val="tx1"/>
            </a:solidFill>
            <a:effectLst/>
            <a:latin typeface="Times New Roman" panose="02020503050405090304" pitchFamily="18" charset="0"/>
            <a:ea typeface="仿宋_GB2312" pitchFamily="49" charset="-122"/>
          </a:defRPr>
        </a:defPPr>
      </a:lstStyle>
    </a:lnDef>
  </a:objectDefaults>
  <a:extraClrSchemeLst>
    <a:extraClrScheme>
      <a:clrScheme name="计原摸版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计原摸版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计原摸版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计原摸版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计原摸版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计原摸版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计原摸版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2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5_计原摸版">
  <a:themeElements>
    <a:clrScheme name="">
      <a:dk1>
        <a:srgbClr val="000000"/>
      </a:dk1>
      <a:lt1>
        <a:srgbClr val="FFFFFF"/>
      </a:lt1>
      <a:dk2>
        <a:srgbClr val="A50021"/>
      </a:dk2>
      <a:lt2>
        <a:srgbClr val="808080"/>
      </a:lt2>
      <a:accent1>
        <a:srgbClr val="FFCC99"/>
      </a:accent1>
      <a:accent2>
        <a:srgbClr val="0000FF"/>
      </a:accent2>
      <a:accent3>
        <a:srgbClr val="FFFFFF"/>
      </a:accent3>
      <a:accent4>
        <a:srgbClr val="000000"/>
      </a:accent4>
      <a:accent5>
        <a:srgbClr val="FFE2CA"/>
      </a:accent5>
      <a:accent6>
        <a:srgbClr val="0000E7"/>
      </a:accent6>
      <a:hlink>
        <a:srgbClr val="CC00CC"/>
      </a:hlink>
      <a:folHlink>
        <a:srgbClr val="FF6600"/>
      </a:folHlink>
    </a:clrScheme>
    <a:fontScheme name="计原摸版">
      <a:majorFont>
        <a:latin typeface="Times New Roman"/>
        <a:ea typeface="楷体_GB2312"/>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1" lang="zh-CN" altLang="en-US" sz="800" b="1" i="0" u="none" strike="noStrike" cap="none" normalizeH="0" baseline="0" smtClean="0">
            <a:ln>
              <a:noFill/>
            </a:ln>
            <a:solidFill>
              <a:schemeClr val="tx1"/>
            </a:solidFill>
            <a:effectLst/>
            <a:latin typeface="Times New Roman" panose="02020503050405090304" pitchFamily="18" charset="0"/>
            <a:ea typeface="仿宋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1" lang="zh-CN" altLang="en-US" sz="800" b="1" i="0" u="none" strike="noStrike" cap="none" normalizeH="0" baseline="0" smtClean="0">
            <a:ln>
              <a:noFill/>
            </a:ln>
            <a:solidFill>
              <a:schemeClr val="tx1"/>
            </a:solidFill>
            <a:effectLst/>
            <a:latin typeface="Times New Roman" panose="02020503050405090304" pitchFamily="18" charset="0"/>
            <a:ea typeface="仿宋_GB2312" pitchFamily="49" charset="-122"/>
          </a:defRPr>
        </a:defPPr>
      </a:lstStyle>
    </a:lnDef>
  </a:objectDefaults>
  <a:extraClrSchemeLst>
    <a:extraClrScheme>
      <a:clrScheme name="计原摸版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计原摸版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计原摸版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计原摸版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计原摸版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计原摸版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计原摸版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6_计原摸版">
  <a:themeElements>
    <a:clrScheme name="">
      <a:dk1>
        <a:srgbClr val="000000"/>
      </a:dk1>
      <a:lt1>
        <a:srgbClr val="FFFFFF"/>
      </a:lt1>
      <a:dk2>
        <a:srgbClr val="A50021"/>
      </a:dk2>
      <a:lt2>
        <a:srgbClr val="808080"/>
      </a:lt2>
      <a:accent1>
        <a:srgbClr val="FFCC99"/>
      </a:accent1>
      <a:accent2>
        <a:srgbClr val="0000FF"/>
      </a:accent2>
      <a:accent3>
        <a:srgbClr val="FFFFFF"/>
      </a:accent3>
      <a:accent4>
        <a:srgbClr val="000000"/>
      </a:accent4>
      <a:accent5>
        <a:srgbClr val="FFE2CA"/>
      </a:accent5>
      <a:accent6>
        <a:srgbClr val="0000E7"/>
      </a:accent6>
      <a:hlink>
        <a:srgbClr val="CC00CC"/>
      </a:hlink>
      <a:folHlink>
        <a:srgbClr val="FF6600"/>
      </a:folHlink>
    </a:clrScheme>
    <a:fontScheme name="计原摸版">
      <a:majorFont>
        <a:latin typeface="Times New Roman"/>
        <a:ea typeface="楷体_GB2312"/>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1" lang="zh-CN" altLang="en-US" sz="800" b="1" i="0" u="none" strike="noStrike" cap="none" normalizeH="0" baseline="0" smtClean="0">
            <a:ln>
              <a:noFill/>
            </a:ln>
            <a:solidFill>
              <a:schemeClr val="tx1"/>
            </a:solidFill>
            <a:effectLst/>
            <a:latin typeface="Times New Roman" panose="02020503050405090304" pitchFamily="18" charset="0"/>
            <a:ea typeface="仿宋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1" lang="zh-CN" altLang="en-US" sz="800" b="1" i="0" u="none" strike="noStrike" cap="none" normalizeH="0" baseline="0" smtClean="0">
            <a:ln>
              <a:noFill/>
            </a:ln>
            <a:solidFill>
              <a:schemeClr val="tx1"/>
            </a:solidFill>
            <a:effectLst/>
            <a:latin typeface="Times New Roman" panose="02020503050405090304" pitchFamily="18" charset="0"/>
            <a:ea typeface="仿宋_GB2312" pitchFamily="49" charset="-122"/>
          </a:defRPr>
        </a:defPPr>
      </a:lstStyle>
    </a:lnDef>
  </a:objectDefaults>
  <a:extraClrSchemeLst>
    <a:extraClrScheme>
      <a:clrScheme name="计原摸版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计原摸版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计原摸版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计原摸版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计原摸版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计原摸版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计原摸版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7_计原摸版">
  <a:themeElements>
    <a:clrScheme name="">
      <a:dk1>
        <a:srgbClr val="000000"/>
      </a:dk1>
      <a:lt1>
        <a:srgbClr val="FFFFFF"/>
      </a:lt1>
      <a:dk2>
        <a:srgbClr val="A50021"/>
      </a:dk2>
      <a:lt2>
        <a:srgbClr val="808080"/>
      </a:lt2>
      <a:accent1>
        <a:srgbClr val="FFCC99"/>
      </a:accent1>
      <a:accent2>
        <a:srgbClr val="0000FF"/>
      </a:accent2>
      <a:accent3>
        <a:srgbClr val="FFFFFF"/>
      </a:accent3>
      <a:accent4>
        <a:srgbClr val="000000"/>
      </a:accent4>
      <a:accent5>
        <a:srgbClr val="FFE2CA"/>
      </a:accent5>
      <a:accent6>
        <a:srgbClr val="0000E7"/>
      </a:accent6>
      <a:hlink>
        <a:srgbClr val="CC00CC"/>
      </a:hlink>
      <a:folHlink>
        <a:srgbClr val="FF6600"/>
      </a:folHlink>
    </a:clrScheme>
    <a:fontScheme name="计原摸版">
      <a:majorFont>
        <a:latin typeface="Times New Roman"/>
        <a:ea typeface="楷体_GB2312"/>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1" lang="zh-CN" altLang="en-US" sz="800" b="1" i="0" u="none" strike="noStrike" cap="none" normalizeH="0" baseline="0" smtClean="0">
            <a:ln>
              <a:noFill/>
            </a:ln>
            <a:solidFill>
              <a:schemeClr val="tx1"/>
            </a:solidFill>
            <a:effectLst/>
            <a:latin typeface="Times New Roman" panose="02020503050405090304" pitchFamily="18" charset="0"/>
            <a:ea typeface="仿宋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1" lang="zh-CN" altLang="en-US" sz="800" b="1" i="0" u="none" strike="noStrike" cap="none" normalizeH="0" baseline="0" smtClean="0">
            <a:ln>
              <a:noFill/>
            </a:ln>
            <a:solidFill>
              <a:schemeClr val="tx1"/>
            </a:solidFill>
            <a:effectLst/>
            <a:latin typeface="Times New Roman" panose="02020503050405090304" pitchFamily="18" charset="0"/>
            <a:ea typeface="仿宋_GB2312" pitchFamily="49" charset="-122"/>
          </a:defRPr>
        </a:defPPr>
      </a:lstStyle>
    </a:lnDef>
  </a:objectDefaults>
  <a:extraClrSchemeLst>
    <a:extraClrScheme>
      <a:clrScheme name="计原摸版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计原摸版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计原摸版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计原摸版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计原摸版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计原摸版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计原摸版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3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D:\ARM\教案\ARM课件\embbed2005\计原摸版.pot</Template>
  <TotalTime>0</TotalTime>
  <Words>31409</Words>
  <Application>WPS 文字</Application>
  <PresentationFormat>全屏显示(4:3)</PresentationFormat>
  <Paragraphs>2751</Paragraphs>
  <Slides>132</Slides>
  <Notes>0</Notes>
  <HiddenSlides>0</HiddenSlides>
  <MMClips>0</MMClips>
  <ScaleCrop>false</ScaleCrop>
  <HeadingPairs>
    <vt:vector size="8" baseType="variant">
      <vt:variant>
        <vt:lpstr>已用的字体</vt:lpstr>
      </vt:variant>
      <vt:variant>
        <vt:i4>49</vt:i4>
      </vt:variant>
      <vt:variant>
        <vt:lpstr>主题</vt:lpstr>
      </vt:variant>
      <vt:variant>
        <vt:i4>14</vt:i4>
      </vt:variant>
      <vt:variant>
        <vt:lpstr>嵌入 OLE 服务器</vt:lpstr>
      </vt:variant>
      <vt:variant>
        <vt:i4>21</vt:i4>
      </vt:variant>
      <vt:variant>
        <vt:lpstr>幻灯片标题</vt:lpstr>
      </vt:variant>
      <vt:variant>
        <vt:i4>132</vt:i4>
      </vt:variant>
    </vt:vector>
  </HeadingPairs>
  <TitlesOfParts>
    <vt:vector size="216" baseType="lpstr">
      <vt:lpstr>Arial</vt:lpstr>
      <vt:lpstr>宋体</vt:lpstr>
      <vt:lpstr>Wingdings</vt:lpstr>
      <vt:lpstr>Times New Roman</vt:lpstr>
      <vt:lpstr>仿宋_GB2312</vt:lpstr>
      <vt:lpstr>方正仿宋_GBK</vt:lpstr>
      <vt:lpstr>楷体_GB2312</vt:lpstr>
      <vt:lpstr>汉仪楷体简</vt:lpstr>
      <vt:lpstr>Calibri</vt:lpstr>
      <vt:lpstr>汉仪书宋二KW</vt:lpstr>
      <vt:lpstr>Tahoma</vt:lpstr>
      <vt:lpstr>华文新魏</vt:lpstr>
      <vt:lpstr>苹方-简</vt:lpstr>
      <vt:lpstr>微软雅黑</vt:lpstr>
      <vt:lpstr>汉仪旗黑</vt:lpstr>
      <vt:lpstr>黑体</vt:lpstr>
      <vt:lpstr>汉仪中黑KW</vt:lpstr>
      <vt:lpstr>Symbol</vt:lpstr>
      <vt:lpstr>宋体</vt:lpstr>
      <vt:lpstr>Arial Unicode MS</vt:lpstr>
      <vt:lpstr>Wingdings</vt:lpstr>
      <vt:lpstr>Arial Narrow</vt:lpstr>
      <vt:lpstr>；</vt:lpstr>
      <vt:lpstr>Times New Roman</vt:lpstr>
      <vt:lpstr>Arial Black</vt:lpstr>
      <vt:lpstr>Kingsoft Sign</vt:lpstr>
      <vt:lpstr>MingLiU</vt:lpstr>
      <vt:lpstr>华文细黑</vt:lpstr>
      <vt:lpstr>方正舒体</vt:lpstr>
      <vt:lpstr>Verdana</vt:lpstr>
      <vt:lpstr>隶书</vt:lpstr>
      <vt:lpstr>创艺简黑体</vt:lpstr>
      <vt:lpstr>Thonburi</vt:lpstr>
      <vt:lpstr>宋体-繁</vt:lpstr>
      <vt:lpstr>黑体-简</vt:lpstr>
      <vt:lpstr>报隶-简</vt:lpstr>
      <vt:lpstr>MingLiU</vt:lpstr>
      <vt:lpstr>Symbol</vt:lpstr>
      <vt:lpstr>仿宋_GB2312</vt:lpstr>
      <vt:lpstr>创艺简黑体</vt:lpstr>
      <vt:lpstr>华文新魏</vt:lpstr>
      <vt:lpstr>华文细黑</vt:lpstr>
      <vt:lpstr>微软雅黑</vt:lpstr>
      <vt:lpstr>方正舒体</vt:lpstr>
      <vt:lpstr>楷体_GB2312</vt:lpstr>
      <vt:lpstr>隶书</vt:lpstr>
      <vt:lpstr>黑体</vt:lpstr>
      <vt:lpstr>；</vt:lpstr>
      <vt:lpstr>宋体-简</vt:lpstr>
      <vt:lpstr>计原摸版</vt:lpstr>
      <vt:lpstr>1_自定义设计方案</vt:lpstr>
      <vt:lpstr>自定义设计方案</vt:lpstr>
      <vt:lpstr>Blends</vt:lpstr>
      <vt:lpstr>1_计原摸版</vt:lpstr>
      <vt:lpstr>2_计原摸版</vt:lpstr>
      <vt:lpstr>3_计原摸版</vt:lpstr>
      <vt:lpstr>1_Blends</vt:lpstr>
      <vt:lpstr>4_计原摸版</vt:lpstr>
      <vt:lpstr>2_Blends</vt:lpstr>
      <vt:lpstr>5_计原摸版</vt:lpstr>
      <vt:lpstr>6_计原摸版</vt:lpstr>
      <vt:lpstr>7_计原摸版</vt:lpstr>
      <vt:lpstr>3_Blends</vt:lpstr>
      <vt:lpstr>Visio.Drawing.11</vt:lpstr>
      <vt:lpstr>Visio.Drawing.11</vt:lpstr>
      <vt:lpstr>Visio.Drawing.11</vt:lpstr>
      <vt:lpstr>Word.Document.8</vt:lpstr>
      <vt:lpstr>Word.Document.8</vt:lpstr>
      <vt:lpstr>Equation.3</vt:lpstr>
      <vt:lpstr>Word.Document.8</vt:lpstr>
      <vt:lpstr>Equation.3</vt:lpstr>
      <vt:lpstr>Equation.3</vt:lpstr>
      <vt:lpstr>Word.Document.8</vt:lpstr>
      <vt:lpstr>Equation.DSMT4</vt:lpstr>
      <vt:lpstr>Visio.Drawing.11</vt:lpstr>
      <vt:lpstr>Equation.DSMT4</vt:lpstr>
      <vt:lpstr>Equation.3</vt:lpstr>
      <vt:lpstr>Visio.Drawing.11</vt:lpstr>
      <vt:lpstr>Visio.Drawing.11</vt:lpstr>
      <vt:lpstr>Visio.Drawing.11</vt:lpstr>
      <vt:lpstr>Visio.Drawing.11</vt:lpstr>
      <vt:lpstr>Visio.Drawing.11</vt:lpstr>
      <vt:lpstr>Word.Document.8</vt:lpstr>
      <vt:lpstr>Visio.Drawing.11</vt:lpstr>
      <vt:lpstr>PowerPoint 演示文稿</vt:lpstr>
      <vt:lpstr>第三章     MCS-51指令系统</vt:lpstr>
      <vt:lpstr>第三章     MCS-51指令系统</vt:lpstr>
      <vt:lpstr>第三章     MCS-51指令系统</vt:lpstr>
      <vt:lpstr>第三章     MCS-51指令系统</vt:lpstr>
      <vt:lpstr>第三章     MCS-51指令系统</vt:lpstr>
      <vt:lpstr>第三章     MCS-51指令系统</vt:lpstr>
      <vt:lpstr>PowerPoint 演示文稿</vt:lpstr>
      <vt:lpstr>第三章     MCS-51指令系统</vt:lpstr>
      <vt:lpstr>第三章     MCS-51指令系统</vt:lpstr>
      <vt:lpstr>第三章     MCS-51指令系统</vt:lpstr>
      <vt:lpstr>第三章     MCS-51指令系统</vt:lpstr>
      <vt:lpstr>第三章     MCS-51指令系统</vt:lpstr>
      <vt:lpstr>第三章     MCS-51指令系统</vt:lpstr>
      <vt:lpstr>第三章     MCS-51指令系统</vt:lpstr>
      <vt:lpstr>第三章     MCS-51指令系统</vt:lpstr>
      <vt:lpstr>第三章     MCS-51指令系统</vt:lpstr>
      <vt:lpstr>第三章     MCS-51指令系统</vt:lpstr>
      <vt:lpstr>第三章     MCS-51指令系统</vt:lpstr>
      <vt:lpstr>第三章     MCS-51指令系统</vt:lpstr>
      <vt:lpstr>第三章     MCS-51指令系统</vt:lpstr>
      <vt:lpstr>第三章     MCS-51指令系统</vt:lpstr>
      <vt:lpstr>第三章     MCS-51指令系统</vt:lpstr>
      <vt:lpstr>第三章     MCS-51指令系统</vt:lpstr>
      <vt:lpstr>第三章     MCS-51指令系统</vt:lpstr>
      <vt:lpstr>第三章     MCS-51指令系统</vt:lpstr>
      <vt:lpstr>第三章     MCS-51指令系统</vt:lpstr>
      <vt:lpstr>第三章     MCS-51指令系统</vt:lpstr>
      <vt:lpstr>第三章     MCS-51指令系统</vt:lpstr>
      <vt:lpstr>第三章     MCS-51指令系统</vt:lpstr>
      <vt:lpstr>第三章     MCS-51指令系统</vt:lpstr>
      <vt:lpstr>第三章     MCS-51指令系统----7种寻址方式总结</vt:lpstr>
      <vt:lpstr>第三章     MCS-51指令系统</vt:lpstr>
      <vt:lpstr>第三章     MCS-51指令系统</vt:lpstr>
      <vt:lpstr>第三章     MCS-51指令系统</vt:lpstr>
      <vt:lpstr>第三章     MCS-51指令系统</vt:lpstr>
      <vt:lpstr>第三章     MCS-51指令系统</vt:lpstr>
      <vt:lpstr>第三章     MCS-51指令系统</vt:lpstr>
      <vt:lpstr>PowerPoint 演示文稿</vt:lpstr>
      <vt:lpstr>PowerPoint 演示文稿</vt:lpstr>
      <vt:lpstr>PowerPoint 演示文稿</vt:lpstr>
      <vt:lpstr>PowerPoint 演示文稿</vt:lpstr>
      <vt:lpstr>PowerPoint 演示文稿</vt:lpstr>
      <vt:lpstr>PowerPoint 演示文稿</vt:lpstr>
      <vt:lpstr>第三章     MCS-51指令系统</vt:lpstr>
      <vt:lpstr>PowerPoint 演示文稿</vt:lpstr>
      <vt:lpstr>PowerPoint 演示文稿</vt:lpstr>
      <vt:lpstr>PowerPoint 演示文稿</vt:lpstr>
      <vt:lpstr>第三章     MCS-51指令系统</vt:lpstr>
      <vt:lpstr>第三章     MCS-51指令系统</vt:lpstr>
      <vt:lpstr>第三章     MCS-51指令系统</vt:lpstr>
      <vt:lpstr>第三章     MCS-51指令系统</vt:lpstr>
      <vt:lpstr>第三章     MCS-51指令系统</vt:lpstr>
      <vt:lpstr>第三章     MCS-51指令系统</vt:lpstr>
      <vt:lpstr>第三章     MCS-51指令系统</vt:lpstr>
      <vt:lpstr>第三章     MCS-51指令系统</vt:lpstr>
      <vt:lpstr>第三章     MCS-51指令系统</vt:lpstr>
      <vt:lpstr>第三章     MCS-51指令系统</vt:lpstr>
      <vt:lpstr>PowerPoint 演示文稿</vt:lpstr>
      <vt:lpstr>PowerPoint 演示文稿</vt:lpstr>
      <vt:lpstr>PowerPoint 演示文稿</vt:lpstr>
      <vt:lpstr>第三章     MCS-51指令系统</vt:lpstr>
      <vt:lpstr>第三章     MCS-51指令系统</vt:lpstr>
      <vt:lpstr>第三章     MCS-51指令系统</vt:lpstr>
      <vt:lpstr>PowerPoint 演示文稿</vt:lpstr>
      <vt:lpstr>PowerPoint 演示文稿</vt:lpstr>
      <vt:lpstr>PowerPoint 演示文稿</vt:lpstr>
      <vt:lpstr>PowerPoint 演示文稿</vt:lpstr>
      <vt:lpstr>PowerPoint 演示文稿</vt:lpstr>
      <vt:lpstr>PowerPoint 演示文稿</vt:lpstr>
      <vt:lpstr>第三章     MCS-51指令系统</vt:lpstr>
      <vt:lpstr>第三章     MCS-51指令系统</vt:lpstr>
      <vt:lpstr>第三章     MCS-51指令系统</vt:lpstr>
      <vt:lpstr>第三章     MCS-51指令系统</vt:lpstr>
      <vt:lpstr>第三章     MCS-51指令系统</vt:lpstr>
      <vt:lpstr>第三章     MCS-51指令系统</vt:lpstr>
      <vt:lpstr>第三章     MCS-51指令系统</vt:lpstr>
      <vt:lpstr>第三章     MCS-51指令系统</vt:lpstr>
      <vt:lpstr>第三章     MCS-51指令系统</vt:lpstr>
      <vt:lpstr>第三章     MCS-51指令系统</vt:lpstr>
      <vt:lpstr>第三章     MCS-51指令系统</vt:lpstr>
      <vt:lpstr>第三章     MCS-51指令系统</vt:lpstr>
      <vt:lpstr>第三章     MCS-51指令系统</vt:lpstr>
      <vt:lpstr>第三章     MCS-51指令系统</vt:lpstr>
      <vt:lpstr>PowerPoint 演示文稿</vt:lpstr>
      <vt:lpstr>PowerPoint 演示文稿</vt:lpstr>
      <vt:lpstr>PowerPoint 演示文稿</vt:lpstr>
      <vt:lpstr>算术运算指令——总结</vt:lpstr>
      <vt:lpstr>第三章     MCS-51指令系统</vt:lpstr>
      <vt:lpstr>PowerPoint 演示文稿</vt:lpstr>
      <vt:lpstr>3.3.4 逻辑运算指令——逻辑操作指令 </vt:lpstr>
      <vt:lpstr>3.3.4 逻辑运算指令——逻辑操作指令 </vt:lpstr>
      <vt:lpstr>3.3.4 逻辑运算指令——逻辑操作指令 </vt:lpstr>
      <vt:lpstr>第三章     MCS-51指令系统</vt:lpstr>
      <vt:lpstr>第三章     MCS-51指令系统</vt:lpstr>
      <vt:lpstr>PowerPoint 演示文稿</vt:lpstr>
      <vt:lpstr>PowerPoint 演示文稿</vt:lpstr>
      <vt:lpstr>PowerPoint 演示文稿</vt:lpstr>
      <vt:lpstr>PowerPoint 演示文稿</vt:lpstr>
      <vt:lpstr>PowerPoint 演示文稿</vt:lpstr>
      <vt:lpstr>PowerPoint 演示文稿</vt:lpstr>
      <vt:lpstr>第三章     MCS-51指令系统</vt:lpstr>
      <vt:lpstr>第三章     MCS-51指令系统</vt:lpstr>
      <vt:lpstr>第三章     MCS-51指令系统</vt:lpstr>
      <vt:lpstr>第三章     MCS-51指令系统</vt:lpstr>
      <vt:lpstr>第三章     MCS-51指令系统</vt:lpstr>
      <vt:lpstr>第三章     MCS-51指令系统</vt:lpstr>
      <vt:lpstr>第三章     MCS-51指令系统</vt:lpstr>
      <vt:lpstr>第三章     MCS-51指令系统</vt:lpstr>
      <vt:lpstr>第三章     MCS-51指令系统</vt:lpstr>
      <vt:lpstr>第三章     MCS-51指令系统</vt:lpstr>
      <vt:lpstr>第三章     MCS-51指令系统</vt:lpstr>
      <vt:lpstr>PowerPoint 演示文稿</vt:lpstr>
      <vt:lpstr>第三章     MCS-51指令系统</vt:lpstr>
      <vt:lpstr>第三章     MCS-51指令系统</vt:lpstr>
      <vt:lpstr>第三章     MCS-51指令系统</vt:lpstr>
      <vt:lpstr>第三章     MCS-51指令系统</vt:lpstr>
      <vt:lpstr>PowerPoint 演示文稿</vt:lpstr>
      <vt:lpstr>PowerPoint 演示文稿</vt:lpstr>
      <vt:lpstr>PowerPoint 演示文稿</vt:lpstr>
      <vt:lpstr>PowerPoint 演示文稿</vt:lpstr>
      <vt:lpstr>PowerPoint 演示文稿</vt:lpstr>
      <vt:lpstr>PowerPoint 演示文稿</vt:lpstr>
      <vt:lpstr>第三章     MCS-51指令系统</vt:lpstr>
      <vt:lpstr>例题</vt:lpstr>
      <vt:lpstr>例题</vt:lpstr>
      <vt:lpstr>例题</vt:lpstr>
      <vt:lpstr>例题</vt:lpstr>
      <vt:lpstr>例题</vt:lpstr>
      <vt:lpstr>例题</vt:lpstr>
      <vt:lpstr>例题</vt:lpstr>
      <vt:lpstr>例题</vt:lpstr>
    </vt:vector>
  </TitlesOfParts>
  <Company>jsjjsj</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baokejin</dc:creator>
  <cp:lastModifiedBy>孙延才</cp:lastModifiedBy>
  <cp:revision>917</cp:revision>
  <dcterms:created xsi:type="dcterms:W3CDTF">2025-04-03T10:27:16Z</dcterms:created>
  <dcterms:modified xsi:type="dcterms:W3CDTF">2025-04-03T10:27:16Z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2052-7.2.2.8955</vt:lpwstr>
  </property>
  <property fmtid="{D5CDD505-2E9C-101B-9397-08002B2CF9AE}" pid="3" name="ICV">
    <vt:lpwstr>B1A13D56BAD403BC30EBDB6792422CCD_43</vt:lpwstr>
  </property>
</Properties>
</file>